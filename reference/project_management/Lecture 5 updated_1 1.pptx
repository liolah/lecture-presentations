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79" r:id="rId4"/>
    <p:sldId id="281" r:id="rId5"/>
    <p:sldId id="258" r:id="rId6"/>
    <p:sldId id="259" r:id="rId7"/>
    <p:sldId id="260" r:id="rId8"/>
    <p:sldId id="261" r:id="rId9"/>
    <p:sldId id="262" r:id="rId10"/>
    <p:sldId id="284" r:id="rId11"/>
    <p:sldId id="265" r:id="rId12"/>
    <p:sldId id="266" r:id="rId13"/>
    <p:sldId id="267" r:id="rId14"/>
    <p:sldId id="285" r:id="rId15"/>
    <p:sldId id="268" r:id="rId16"/>
    <p:sldId id="269" r:id="rId17"/>
    <p:sldId id="270" r:id="rId18"/>
    <p:sldId id="283" r:id="rId19"/>
    <p:sldId id="271" r:id="rId20"/>
    <p:sldId id="272" r:id="rId21"/>
    <p:sldId id="273" r:id="rId22"/>
    <p:sldId id="274" r:id="rId23"/>
    <p:sldId id="275" r:id="rId24"/>
    <p:sldId id="276" r:id="rId25"/>
    <p:sldId id="277" r:id="rId2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826" autoAdjust="0"/>
  </p:normalViewPr>
  <p:slideViewPr>
    <p:cSldViewPr>
      <p:cViewPr>
        <p:scale>
          <a:sx n="50" d="100"/>
          <a:sy n="50" d="100"/>
        </p:scale>
        <p:origin x="30" y="33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96CCC7F2-3E2E-4572-9570-BF58D2C544E1}" type="datetimeFigureOut">
              <a:rPr lang="en-US" smtClean="0"/>
              <a:t>10/27/2025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B5DC213C-6C48-4055-A2EB-5C8643B59044}" type="slidenum">
              <a:rPr lang="en-US" smtClean="0"/>
              <a:t>‹#›</a:t>
            </a:fld>
            <a:endParaRPr lang="en-US"/>
          </a:p>
        </p:txBody>
      </p:sp>
    </p:spTree>
    <p:extLst>
      <p:ext uri="{BB962C8B-B14F-4D97-AF65-F5344CB8AC3E}">
        <p14:creationId xmlns:p14="http://schemas.microsoft.com/office/powerpoint/2010/main" val="335226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toggl.com/blog/project-time-estimation"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toggl.com/blog/work-breakdown-structure" TargetMode="External"/><Relationship Id="rId2" Type="http://schemas.openxmlformats.org/officeDocument/2006/relationships/slide" Target="../slides/slide14.xml"/><Relationship Id="rId1" Type="http://schemas.openxmlformats.org/officeDocument/2006/relationships/notesMaster" Target="../notesMasters/notesMaster1.xml"/><Relationship Id="rId5" Type="http://schemas.openxmlformats.org/officeDocument/2006/relationships/hyperlink" Target="https://docs.google.com/spreadsheets/d/1W74wHfInGzyKBkA23IkeTk_SEP-5XOdfbVWnD0w-GTA/edit#gid=0" TargetMode="External"/><Relationship Id="rId4" Type="http://schemas.openxmlformats.org/officeDocument/2006/relationships/hyperlink" Target="https://toggl.com/track/features/#reporting:~:text=opt%20out%20anytime.-,REPORTING,-Get%20actionable%20insights"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أحيانًا يُقلل المدراء من الجهد المبذول لمتابعة تقدير وقت وتكلفة المشروع، أو يتجنبونه. هذا الموقف خطأ فادح ومكلف.</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هناك أسباب مهمة لبذل الجهد وتحمل تكلفة تقدير تكلفة مشروعك:</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لدعم القرارات السليمة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لجدولة العمل</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لتحديد المدة التي يجب أن يستغرقها المشروع وتكلفته</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لتحديد جدوى المشروع</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لتحديد احتياجات التدفق النقدي</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لتحديد مدى تقدم المشروع</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من الشائع في هذا المجال الرغبة في "الالتزام بتقديرات الوقت والتكلفة بنسبة 95%". تُعد الخبرة السابقة نقطة انطلاق جيدة لوضع تقديرات الوقت والتكلفة.</a:t>
            </a:r>
          </a:p>
          <a:p>
            <a:endParaRPr lang="en-US" dirty="0"/>
          </a:p>
        </p:txBody>
      </p:sp>
      <p:sp>
        <p:nvSpPr>
          <p:cNvPr id="4" name="Slide Number Placeholder 3"/>
          <p:cNvSpPr>
            <a:spLocks noGrp="1"/>
          </p:cNvSpPr>
          <p:nvPr>
            <p:ph type="sldNum" sz="quarter" idx="5"/>
          </p:nvPr>
        </p:nvSpPr>
        <p:spPr/>
        <p:txBody>
          <a:bodyPr/>
          <a:lstStyle/>
          <a:p>
            <a:fld id="{B5DC213C-6C48-4055-A2EB-5C8643B59044}" type="slidenum">
              <a:rPr lang="en-US" smtClean="0"/>
              <a:t>2</a:t>
            </a:fld>
            <a:endParaRPr lang="en-US"/>
          </a:p>
        </p:txBody>
      </p:sp>
    </p:spTree>
    <p:extLst>
      <p:ext uri="{BB962C8B-B14F-4D97-AF65-F5344CB8AC3E}">
        <p14:creationId xmlns:p14="http://schemas.microsoft.com/office/powerpoint/2010/main" val="31285155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تعريف تقدير المشروع:</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عملية التنبؤ أو تقدير وقت وتكلفة إنجاز مخرجات المشروع.</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هي مفاضلة بين فوائد تحسين الدقة وتكاليف زيادة الدقة.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أنواع التقديرات:</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تقديرات كلية من الأسفل إلى الأعلى: توافق جماعي، علاقات رياضية، أو تشبيه (مقارنة).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تقديرات جزئية من الأسفل إلى الأعلى: تستند إلى تقديرات عناصر هيكل تقسيم العمل (</a:t>
            </a:r>
            <a:r>
              <a:rPr lang="en-US" sz="1200" b="0" i="0" kern="1200" dirty="0">
                <a:solidFill>
                  <a:schemeClr val="tx1"/>
                </a:solidFill>
                <a:effectLst/>
                <a:latin typeface="+mn-lt"/>
                <a:ea typeface="+mn-ea"/>
                <a:cs typeface="+mn-cs"/>
              </a:rPr>
              <a:t>WBS).</a:t>
            </a:r>
          </a:p>
          <a:p>
            <a:endParaRPr lang="en-US" dirty="0"/>
          </a:p>
        </p:txBody>
      </p:sp>
      <p:sp>
        <p:nvSpPr>
          <p:cNvPr id="4" name="Slide Number Placeholder 3"/>
          <p:cNvSpPr>
            <a:spLocks noGrp="1"/>
          </p:cNvSpPr>
          <p:nvPr>
            <p:ph type="sldNum" sz="quarter" idx="5"/>
          </p:nvPr>
        </p:nvSpPr>
        <p:spPr/>
        <p:txBody>
          <a:bodyPr/>
          <a:lstStyle/>
          <a:p>
            <a:fld id="{B5DC213C-6C48-4055-A2EB-5C8643B59044}" type="slidenum">
              <a:rPr lang="en-US" smtClean="0"/>
              <a:t>3</a:t>
            </a:fld>
            <a:endParaRPr lang="en-US"/>
          </a:p>
        </p:txBody>
      </p:sp>
    </p:spTree>
    <p:extLst>
      <p:ext uri="{BB962C8B-B14F-4D97-AF65-F5344CB8AC3E}">
        <p14:creationId xmlns:p14="http://schemas.microsoft.com/office/powerpoint/2010/main" val="49906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النطاق: عدد النتائج المحتملة التي يُتوقع حدوثها.</a:t>
            </a:r>
          </a:p>
          <a:p>
            <a:pPr rtl="1"/>
            <a:r>
              <a:rPr lang="ar-EG" sz="1200" b="0" i="0" kern="1200" dirty="0">
                <a:solidFill>
                  <a:schemeClr val="tx1"/>
                </a:solidFill>
                <a:effectLst/>
                <a:latin typeface="+mn-lt"/>
                <a:ea typeface="+mn-ea"/>
                <a:cs typeface="+mn-cs"/>
              </a:rPr>
              <a:t>الدقة: صحة التقدير.</a:t>
            </a:r>
          </a:p>
          <a:p>
            <a:pPr rtl="1"/>
            <a:r>
              <a:rPr lang="ar-EG" sz="1200" b="0" i="0" kern="1200" dirty="0">
                <a:solidFill>
                  <a:schemeClr val="tx1"/>
                </a:solidFill>
                <a:effectLst/>
                <a:latin typeface="+mn-lt"/>
                <a:ea typeface="+mn-ea"/>
                <a:cs typeface="+mn-cs"/>
              </a:rPr>
              <a:t>الدقة: مدى دقة التقدير.</a:t>
            </a:r>
          </a:p>
          <a:p>
            <a:pPr rtl="1"/>
            <a:r>
              <a:rPr lang="ar-EG" sz="1200" b="0" i="0" kern="1200" dirty="0">
                <a:solidFill>
                  <a:schemeClr val="tx1"/>
                </a:solidFill>
                <a:effectLst/>
                <a:latin typeface="+mn-lt"/>
                <a:ea typeface="+mn-ea"/>
                <a:cs typeface="+mn-cs"/>
              </a:rPr>
              <a:t>الثقة: مدى ثقة الشخص في التقدير.</a:t>
            </a:r>
          </a:p>
          <a:p>
            <a:endParaRPr lang="en-US" dirty="0"/>
          </a:p>
        </p:txBody>
      </p:sp>
      <p:sp>
        <p:nvSpPr>
          <p:cNvPr id="4" name="Slide Number Placeholder 3"/>
          <p:cNvSpPr>
            <a:spLocks noGrp="1"/>
          </p:cNvSpPr>
          <p:nvPr>
            <p:ph type="sldNum" sz="quarter" idx="5"/>
          </p:nvPr>
        </p:nvSpPr>
        <p:spPr/>
        <p:txBody>
          <a:bodyPr/>
          <a:lstStyle/>
          <a:p>
            <a:fld id="{B5DC213C-6C48-4055-A2EB-5C8643B59044}" type="slidenum">
              <a:rPr lang="en-US" smtClean="0"/>
              <a:t>4</a:t>
            </a:fld>
            <a:endParaRPr lang="en-US"/>
          </a:p>
        </p:txBody>
      </p:sp>
    </p:spTree>
    <p:extLst>
      <p:ext uri="{BB962C8B-B14F-4D97-AF65-F5344CB8AC3E}">
        <p14:creationId xmlns:p14="http://schemas.microsoft.com/office/powerpoint/2010/main" val="726349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أفق التخطيط: تقترب دقة تقديرات الأحداث الجارية من 100%، ولكنها تنخفض في الأحداث الأبعد. من المتوقع أن تتحسن دقة تقديرات الوقت والتكلفة مع الانتقال من المرحلة المفاهيمية إلى مرحلة تحديد حزم العمل الفردية. تزيد المشاريع طويلة الأجل من عدم اليقين في التقديرات.</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تعقيد المشروع: يتسع نطاق تطبيق التكنولوجيا الجديدة بشكل متزايد وغير خطي. في بعض الأحيان، تؤدي مواصفات نطاق التكنولوجيا الجديدة المكتوبة بشكل سيء إلى أخطاء في تقدير الأوقات والتكاليف.</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الموظفون: يمكن أن يؤثر عامل الموظفين على جودة تقديرات الوقت والتكلفة. على سبيل المثال، تعتمد دقة التقديرات على مهارات الأشخاص الذين يُعدّونها.</a:t>
            </a:r>
          </a:p>
          <a:p>
            <a:endParaRPr lang="en-US" dirty="0"/>
          </a:p>
        </p:txBody>
      </p:sp>
      <p:sp>
        <p:nvSpPr>
          <p:cNvPr id="4" name="Slide Number Placeholder 3"/>
          <p:cNvSpPr>
            <a:spLocks noGrp="1"/>
          </p:cNvSpPr>
          <p:nvPr>
            <p:ph type="sldNum" sz="quarter" idx="5"/>
          </p:nvPr>
        </p:nvSpPr>
        <p:spPr/>
        <p:txBody>
          <a:bodyPr/>
          <a:lstStyle/>
          <a:p>
            <a:fld id="{B5DC213C-6C48-4055-A2EB-5C8643B59044}" type="slidenum">
              <a:rPr lang="en-US" smtClean="0"/>
              <a:t>5</a:t>
            </a:fld>
            <a:endParaRPr lang="en-US"/>
          </a:p>
        </p:txBody>
      </p:sp>
    </p:spTree>
    <p:extLst>
      <p:ext uri="{BB962C8B-B14F-4D97-AF65-F5344CB8AC3E}">
        <p14:creationId xmlns:p14="http://schemas.microsoft.com/office/powerpoint/2010/main" val="3751861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هيكل المشروع وتنظيمه: يؤثر هيكل المشروع المُختار لإدارة المشروع على تقديرات الوقت والتكلفة.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زيادة التقديرات: في بعض الحالات، يميل البعض إلى زيادة التقديرات (زيادة احتمالية التأخير وتقليله). تدفع هذه الظاهرة بعض المديرين أو المالكين إلى المطالبة بتخفيض الوقت و/أو التكلفة للمشروع بنسبة تتراوح بين 10% و15%. وبطبيعة الحال، في المرة التالية التي تُجرى فيها العملية، سيقوم الشخص الذي يُقدّر التكلفة و/أو الوقت بزيادة التقدير إلى 20% أو أكثر.</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ثقافة المؤسسة: تختلف المؤسسات في الأهمية التي تُوليها للتقديرات. تُشكّل ثقافتها جميع أبعاد إدارة المشاريع؛ والتقدير ليس بمنأى عن هذا التأثير. عوامل أخرى: أخيرًا، يمكن أن تؤثر العوامل غير المتعلقة بالمشروع على تقديرات الوقت والتكلفة. على سبيل المثال، يمكن أن يُغيّر تعطل المعدات تقديرات الوقت. يمكن أن تؤثر العطلات الرسمية والإجازات والقيود القانونية على تقديرات المشروع. يمكن أن تؤثر أولوية المشروع على تخصيص الموارد وتؤثر على الوقت والتكلفة.</a:t>
            </a:r>
          </a:p>
          <a:p>
            <a:endParaRPr lang="en-US" dirty="0"/>
          </a:p>
        </p:txBody>
      </p:sp>
      <p:sp>
        <p:nvSpPr>
          <p:cNvPr id="4" name="Slide Number Placeholder 3"/>
          <p:cNvSpPr>
            <a:spLocks noGrp="1"/>
          </p:cNvSpPr>
          <p:nvPr>
            <p:ph type="sldNum" sz="quarter" idx="5"/>
          </p:nvPr>
        </p:nvSpPr>
        <p:spPr/>
        <p:txBody>
          <a:bodyPr/>
          <a:lstStyle/>
          <a:p>
            <a:fld id="{B5DC213C-6C48-4055-A2EB-5C8643B59044}" type="slidenum">
              <a:rPr lang="en-US" smtClean="0"/>
              <a:t>6</a:t>
            </a:fld>
            <a:endParaRPr lang="en-US"/>
          </a:p>
        </p:txBody>
      </p:sp>
    </p:spTree>
    <p:extLst>
      <p:ext uri="{BB962C8B-B14F-4D97-AF65-F5344CB8AC3E}">
        <p14:creationId xmlns:p14="http://schemas.microsoft.com/office/powerpoint/2010/main" val="6583425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يمكن للمدير اتباع (7) إرشادات لوضع تقديرات مفيدة لحزمة العمل:</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المسؤولية: على مستوى حزمة العمل، يجب أن يقوم الشخص (أو الأشخاص) الأكثر دراية بالمهمة بوضع التقديرات.</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استعانة بعدة أشخاص للتقدير: من المعروف أن تقدير التكلفة أو الوقت عادةً ما يكون أكثر منطقية وواقعية عند الاستعانة بعدة أشخاص ذوي خبرة و/أو معرفة ذات صلة بالمهمة (يُطلق عليه أحيانًا "التعهيد الجماعي").</a:t>
            </a:r>
          </a:p>
          <a:p>
            <a:endParaRPr lang="en-US" dirty="0"/>
          </a:p>
        </p:txBody>
      </p:sp>
      <p:sp>
        <p:nvSpPr>
          <p:cNvPr id="4" name="Slide Number Placeholder 3"/>
          <p:cNvSpPr>
            <a:spLocks noGrp="1"/>
          </p:cNvSpPr>
          <p:nvPr>
            <p:ph type="sldNum" sz="quarter" idx="5"/>
          </p:nvPr>
        </p:nvSpPr>
        <p:spPr/>
        <p:txBody>
          <a:bodyPr/>
          <a:lstStyle/>
          <a:p>
            <a:fld id="{B5DC213C-6C48-4055-A2EB-5C8643B59044}" type="slidenum">
              <a:rPr lang="en-US" smtClean="0"/>
              <a:t>7</a:t>
            </a:fld>
            <a:endParaRPr lang="en-US"/>
          </a:p>
        </p:txBody>
      </p:sp>
    </p:spTree>
    <p:extLst>
      <p:ext uri="{BB962C8B-B14F-4D97-AF65-F5344CB8AC3E}">
        <p14:creationId xmlns:p14="http://schemas.microsoft.com/office/powerpoint/2010/main" val="26261563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الظروف العادية: عند تحديد تقديرات وقت المهمة وتكلفتها ومواردها، ينبغي أن تستند إلى الظروف العادية، والأساليب الفعالة، ومستوى الموارد العادي.</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وحدات الوقت: ينبغي اختيار وحدات زمنية محددة للاستخدام في مرحلة مبكرة من تطوير شبكة المشروع. تتطلب جميع تقديرات وقت المهمة وحدات زمنية متسقة. يجب أن تأخذ تقديرات الوقت في الاعتبار ما إذا كان الوقت العادي مُمثلاً بالأيام التقويمية، أو أيام العمل، أو أسابيع العمل، أو أيام العمل الفردية، أو الوردية الواحدة، أو الساعات، أو الدقائق، إلخ. عمليًا، يُعد استخدام أيام العمل الخيار السائد للتعبير عن مدة المهمة.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الاستقلالية: يجب على المُقدّرين التعامل مع كل مهمة على أنها مستقلة عن المهام الأخرى التي قد يتم دمجها في هيكل تقسيم العمل.</a:t>
            </a:r>
          </a:p>
          <a:p>
            <a:endParaRPr lang="en-US" dirty="0"/>
          </a:p>
        </p:txBody>
      </p:sp>
      <p:sp>
        <p:nvSpPr>
          <p:cNvPr id="4" name="Slide Number Placeholder 3"/>
          <p:cNvSpPr>
            <a:spLocks noGrp="1"/>
          </p:cNvSpPr>
          <p:nvPr>
            <p:ph type="sldNum" sz="quarter" idx="5"/>
          </p:nvPr>
        </p:nvSpPr>
        <p:spPr/>
        <p:txBody>
          <a:bodyPr/>
          <a:lstStyle/>
          <a:p>
            <a:fld id="{B5DC213C-6C48-4055-A2EB-5C8643B59044}" type="slidenum">
              <a:rPr lang="en-US" smtClean="0"/>
              <a:t>8</a:t>
            </a:fld>
            <a:endParaRPr lang="en-US"/>
          </a:p>
        </p:txBody>
      </p:sp>
    </p:spTree>
    <p:extLst>
      <p:ext uri="{BB962C8B-B14F-4D97-AF65-F5344CB8AC3E}">
        <p14:creationId xmlns:p14="http://schemas.microsoft.com/office/powerpoint/2010/main" val="1524330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الطوارئ: ينبغي ألا تتضمن تقديرات حزمة العمل مخصصات للطوارئ. ينبغي أن يفترض التقدير ظروفًا طبيعية أو متوسطة حتى لو لم تتحقق جميع حزم العمل كما هو مخطط لها. لهذا السبب، تحتاج الإدارة العليا إلى إنشاء صندوق إضافي للطوارئ يُستخدم لتغطية الأحداث غير المتوقعة.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تساعد إضافة تقييم المخاطر إلى التقدير على تجنب المفاجآت لأصحاب المصلحة: فبعض المهام تنطوي على مخاطر زمنية وتكلفة أعلى من غيرها. على سبيل المثال، عادةً ما تنطوي التقنية الجديدة على مخاطر زمنية وتكلفة أعلى من عملية مجربة. إن تحديد درجة المخاطر ببساطة يتيح لأصحاب المصلحة النظر في طرق بديلة وتعديل قرارات العملية. يمكن أن يوفر تقسيم بسيط إلى متفائل، وأكثر احتمالاً، ومتشائمًا لوقت المهمة معلومات قيّمة حول الوقت والتكلفة.</a:t>
            </a:r>
          </a:p>
          <a:p>
            <a:endParaRPr lang="en-US" dirty="0"/>
          </a:p>
        </p:txBody>
      </p:sp>
      <p:sp>
        <p:nvSpPr>
          <p:cNvPr id="4" name="Slide Number Placeholder 3"/>
          <p:cNvSpPr>
            <a:spLocks noGrp="1"/>
          </p:cNvSpPr>
          <p:nvPr>
            <p:ph type="sldNum" sz="quarter" idx="5"/>
          </p:nvPr>
        </p:nvSpPr>
        <p:spPr/>
        <p:txBody>
          <a:bodyPr/>
          <a:lstStyle/>
          <a:p>
            <a:fld id="{B5DC213C-6C48-4055-A2EB-5C8643B59044}" type="slidenum">
              <a:rPr lang="en-US" smtClean="0"/>
              <a:t>9</a:t>
            </a:fld>
            <a:endParaRPr lang="en-US"/>
          </a:p>
        </p:txBody>
      </p:sp>
    </p:spTree>
    <p:extLst>
      <p:ext uri="{BB962C8B-B14F-4D97-AF65-F5344CB8AC3E}">
        <p14:creationId xmlns:p14="http://schemas.microsoft.com/office/powerpoint/2010/main" val="27724562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err="1">
                <a:solidFill>
                  <a:schemeClr val="tx1"/>
                </a:solidFill>
                <a:effectLst/>
                <a:latin typeface="+mn-lt"/>
                <a:ea typeface="+mn-ea"/>
                <a:cs typeface="+mn-cs"/>
              </a:rPr>
              <a:t>tep</a:t>
            </a:r>
            <a:r>
              <a:rPr lang="en-US" sz="1200" b="1" i="0" kern="1200" dirty="0">
                <a:solidFill>
                  <a:schemeClr val="tx1"/>
                </a:solidFill>
                <a:effectLst/>
                <a:latin typeface="+mn-lt"/>
                <a:ea typeface="+mn-ea"/>
                <a:cs typeface="+mn-cs"/>
              </a:rPr>
              <a:t> #1: Define the project’s scope</a:t>
            </a:r>
          </a:p>
          <a:p>
            <a:r>
              <a:rPr lang="en-US" sz="1200" b="0" i="0" kern="1200" dirty="0">
                <a:solidFill>
                  <a:schemeClr val="tx1"/>
                </a:solidFill>
                <a:effectLst/>
                <a:latin typeface="+mn-lt"/>
                <a:ea typeface="+mn-ea"/>
                <a:cs typeface="+mn-cs"/>
              </a:rPr>
              <a:t>What are the overall goals of the project? </a:t>
            </a:r>
          </a:p>
          <a:p>
            <a:r>
              <a:rPr lang="en-US" sz="1200" b="0" i="0" kern="1200" dirty="0">
                <a:solidFill>
                  <a:schemeClr val="tx1"/>
                </a:solidFill>
                <a:effectLst/>
                <a:latin typeface="+mn-lt"/>
                <a:ea typeface="+mn-ea"/>
                <a:cs typeface="+mn-cs"/>
              </a:rPr>
              <a:t>Thinking of deliverables and key objectives will help you define the broad parameters of your project. With this information, you can get an idea of the general costs of the project. </a:t>
            </a:r>
          </a:p>
          <a:p>
            <a:r>
              <a:rPr lang="en-US" sz="1200" b="1" i="0" kern="1200" dirty="0">
                <a:solidFill>
                  <a:schemeClr val="tx1"/>
                </a:solidFill>
                <a:effectLst/>
                <a:latin typeface="+mn-lt"/>
                <a:ea typeface="+mn-ea"/>
                <a:cs typeface="+mn-cs"/>
              </a:rPr>
              <a:t>Step #2: Gather expert knowledge</a:t>
            </a:r>
          </a:p>
          <a:p>
            <a:r>
              <a:rPr lang="en-US" sz="1200" b="0" i="0" kern="1200" dirty="0">
                <a:solidFill>
                  <a:schemeClr val="tx1"/>
                </a:solidFill>
                <a:effectLst/>
                <a:latin typeface="+mn-lt"/>
                <a:ea typeface="+mn-ea"/>
                <a:cs typeface="+mn-cs"/>
              </a:rPr>
              <a:t>Talk to experienced team members who have worked on similar projects to get more precise with your estimates. </a:t>
            </a:r>
          </a:p>
          <a:p>
            <a:r>
              <a:rPr lang="en-US" sz="1200" b="0" i="0" kern="1200" dirty="0">
                <a:solidFill>
                  <a:schemeClr val="tx1"/>
                </a:solidFill>
                <a:effectLst/>
                <a:latin typeface="+mn-lt"/>
                <a:ea typeface="+mn-ea"/>
                <a:cs typeface="+mn-cs"/>
              </a:rPr>
              <a:t>Their input will get you closer to the project’s actual costs, including any potential risks or expenses you might have overlooked. </a:t>
            </a:r>
          </a:p>
          <a:p>
            <a:r>
              <a:rPr lang="en-US" sz="1200" b="1" i="0" kern="1200" dirty="0">
                <a:solidFill>
                  <a:schemeClr val="tx1"/>
                </a:solidFill>
                <a:effectLst/>
                <a:latin typeface="+mn-lt"/>
                <a:ea typeface="+mn-ea"/>
                <a:cs typeface="+mn-cs"/>
              </a:rPr>
              <a:t>Step #3: Review similar past projects</a:t>
            </a:r>
          </a:p>
          <a:p>
            <a:r>
              <a:rPr lang="en-US" sz="1200" b="0" i="0" kern="1200" dirty="0">
                <a:solidFill>
                  <a:schemeClr val="tx1"/>
                </a:solidFill>
                <a:effectLst/>
                <a:latin typeface="+mn-lt"/>
                <a:ea typeface="+mn-ea"/>
                <a:cs typeface="+mn-cs"/>
              </a:rPr>
              <a:t>Analyzing information from similar projects can help you create quick, data-based cost estimates.</a:t>
            </a:r>
          </a:p>
          <a:p>
            <a:r>
              <a:rPr lang="en-US" sz="1200" b="0" i="0" kern="1200" dirty="0">
                <a:solidFill>
                  <a:schemeClr val="tx1"/>
                </a:solidFill>
                <a:effectLst/>
                <a:latin typeface="+mn-lt"/>
                <a:ea typeface="+mn-ea"/>
                <a:cs typeface="+mn-cs"/>
              </a:rPr>
              <a:t>With a feature like Toggl Track’s Project Dashboard, that’s super easy. </a:t>
            </a:r>
          </a:p>
          <a:p>
            <a:r>
              <a:rPr lang="en-US" sz="1200" b="0" i="0" kern="1200" dirty="0">
                <a:solidFill>
                  <a:schemeClr val="tx1"/>
                </a:solidFill>
                <a:effectLst/>
                <a:latin typeface="+mn-lt"/>
                <a:ea typeface="+mn-ea"/>
                <a:cs typeface="+mn-cs"/>
              </a:rPr>
              <a:t>To access the Project Dashboard, log in to your Toggl Track account and go to Projects on the left sidebar.</a:t>
            </a:r>
          </a:p>
          <a:p>
            <a:r>
              <a:rPr lang="en-US" sz="1200" b="0" i="0" kern="1200" dirty="0">
                <a:solidFill>
                  <a:schemeClr val="tx1"/>
                </a:solidFill>
                <a:effectLst/>
                <a:latin typeface="+mn-lt"/>
                <a:ea typeface="+mn-ea"/>
                <a:cs typeface="+mn-cs"/>
              </a:rPr>
              <a:t>There, you’ll see your </a:t>
            </a:r>
            <a:r>
              <a:rPr lang="en-US" sz="1200" b="0" i="0" kern="1200" dirty="0">
                <a:solidFill>
                  <a:schemeClr val="tx1"/>
                </a:solidFill>
                <a:effectLst/>
                <a:latin typeface="+mn-lt"/>
                <a:ea typeface="+mn-ea"/>
                <a:cs typeface="+mn-cs"/>
                <a:hlinkClick r:id="rId3"/>
              </a:rPr>
              <a:t>project’s time</a:t>
            </a:r>
            <a:r>
              <a:rPr lang="en-US" sz="1200" b="0" i="0" kern="1200" dirty="0">
                <a:solidFill>
                  <a:schemeClr val="tx1"/>
                </a:solidFill>
                <a:effectLst/>
                <a:latin typeface="+mn-lt"/>
                <a:ea typeface="+mn-ea"/>
                <a:cs typeface="+mn-cs"/>
              </a:rPr>
              <a:t>, costs, and an automated forecast to get a clear picture of the project’s performance. </a:t>
            </a:r>
          </a:p>
          <a:p>
            <a:r>
              <a:rPr lang="en-US" sz="1200" b="0" i="0" kern="1200" dirty="0">
                <a:solidFill>
                  <a:schemeClr val="tx1"/>
                </a:solidFill>
                <a:effectLst/>
                <a:latin typeface="+mn-lt"/>
                <a:ea typeface="+mn-ea"/>
                <a:cs typeface="+mn-cs"/>
              </a:rPr>
              <a:t>With these insights, you get even closer to nailing your top-down estimate. </a:t>
            </a:r>
          </a:p>
          <a:p>
            <a:r>
              <a:rPr lang="en-US" sz="1200" b="1" i="0" kern="1200" dirty="0">
                <a:solidFill>
                  <a:schemeClr val="tx1"/>
                </a:solidFill>
                <a:effectLst/>
                <a:latin typeface="+mn-lt"/>
                <a:ea typeface="+mn-ea"/>
                <a:cs typeface="+mn-cs"/>
              </a:rPr>
              <a:t>Step #4: Estimate the project’s major costs</a:t>
            </a:r>
          </a:p>
          <a:p>
            <a:r>
              <a:rPr lang="en-US" sz="1200" b="0" i="0" kern="1200" dirty="0">
                <a:solidFill>
                  <a:schemeClr val="tx1"/>
                </a:solidFill>
                <a:effectLst/>
                <a:latin typeface="+mn-lt"/>
                <a:ea typeface="+mn-ea"/>
                <a:cs typeface="+mn-cs"/>
              </a:rPr>
              <a:t>Using all this knowledge you’ve gained, it’s time to make general cost estimates. </a:t>
            </a:r>
          </a:p>
          <a:p>
            <a:r>
              <a:rPr lang="en-US" sz="1200" b="0" i="0" kern="1200" dirty="0">
                <a:solidFill>
                  <a:schemeClr val="tx1"/>
                </a:solidFill>
                <a:effectLst/>
                <a:latin typeface="+mn-lt"/>
                <a:ea typeface="+mn-ea"/>
                <a:cs typeface="+mn-cs"/>
              </a:rPr>
              <a:t>What are the major expenses of your project? </a:t>
            </a:r>
          </a:p>
          <a:p>
            <a:r>
              <a:rPr lang="en-US" sz="1200" b="0" i="0" kern="1200" dirty="0">
                <a:solidFill>
                  <a:schemeClr val="tx1"/>
                </a:solidFill>
                <a:effectLst/>
                <a:latin typeface="+mn-lt"/>
                <a:ea typeface="+mn-ea"/>
                <a:cs typeface="+mn-cs"/>
              </a:rPr>
              <a:t>Labor, materials, equipment, etc. Put a price on them without focusing too much on precision, as this is just a rough estimate. </a:t>
            </a:r>
          </a:p>
          <a:p>
            <a:r>
              <a:rPr lang="en-US" sz="1200" b="1" i="0" kern="1200" dirty="0">
                <a:solidFill>
                  <a:schemeClr val="tx1"/>
                </a:solidFill>
                <a:effectLst/>
                <a:latin typeface="+mn-lt"/>
                <a:ea typeface="+mn-ea"/>
                <a:cs typeface="+mn-cs"/>
              </a:rPr>
              <a:t>Step #5: Summarize your estimates</a:t>
            </a:r>
          </a:p>
          <a:p>
            <a:r>
              <a:rPr lang="en-US" sz="1200" b="0" i="0" kern="1200" dirty="0">
                <a:solidFill>
                  <a:schemeClr val="tx1"/>
                </a:solidFill>
                <a:effectLst/>
                <a:latin typeface="+mn-lt"/>
                <a:ea typeface="+mn-ea"/>
                <a:cs typeface="+mn-cs"/>
              </a:rPr>
              <a:t>Once you’ve estimated your major costs, put them all together so you get your estimation of the total cost of your project. </a:t>
            </a:r>
          </a:p>
          <a:p>
            <a:r>
              <a:rPr lang="en-US" sz="1200" b="1" i="0" kern="1200" dirty="0">
                <a:solidFill>
                  <a:schemeClr val="tx1"/>
                </a:solidFill>
                <a:effectLst/>
                <a:latin typeface="+mn-lt"/>
                <a:ea typeface="+mn-ea"/>
                <a:cs typeface="+mn-cs"/>
              </a:rPr>
              <a:t>Step #6: Evaluate the project’s feasibility</a:t>
            </a:r>
          </a:p>
          <a:p>
            <a:r>
              <a:rPr lang="en-US" sz="1200" b="0" i="0" kern="1200" dirty="0">
                <a:solidFill>
                  <a:schemeClr val="tx1"/>
                </a:solidFill>
                <a:effectLst/>
                <a:latin typeface="+mn-lt"/>
                <a:ea typeface="+mn-ea"/>
                <a:cs typeface="+mn-cs"/>
              </a:rPr>
              <a:t>The last step is to decide if your project is feasible. </a:t>
            </a:r>
          </a:p>
          <a:p>
            <a:r>
              <a:rPr lang="en-US" sz="1200" b="0" i="0" kern="1200" dirty="0">
                <a:solidFill>
                  <a:schemeClr val="tx1"/>
                </a:solidFill>
                <a:effectLst/>
                <a:latin typeface="+mn-lt"/>
                <a:ea typeface="+mn-ea"/>
                <a:cs typeface="+mn-cs"/>
              </a:rPr>
              <a:t>Does your top-down estimate align with the available budget? Does the project look profitable? </a:t>
            </a:r>
          </a:p>
          <a:p>
            <a:r>
              <a:rPr lang="en-US" sz="1200" b="0" i="0" kern="1200" dirty="0">
                <a:solidFill>
                  <a:schemeClr val="tx1"/>
                </a:solidFill>
                <a:effectLst/>
                <a:latin typeface="+mn-lt"/>
                <a:ea typeface="+mn-ea"/>
                <a:cs typeface="+mn-cs"/>
              </a:rPr>
              <a:t>If yes, you should continue with a more detailed cost estimate and start working on your project. </a:t>
            </a:r>
          </a:p>
          <a:p>
            <a:endParaRPr lang="en-US" dirty="0"/>
          </a:p>
        </p:txBody>
      </p:sp>
      <p:sp>
        <p:nvSpPr>
          <p:cNvPr id="4" name="Slide Number Placeholder 3"/>
          <p:cNvSpPr>
            <a:spLocks noGrp="1"/>
          </p:cNvSpPr>
          <p:nvPr>
            <p:ph type="sldNum" sz="quarter" idx="5"/>
          </p:nvPr>
        </p:nvSpPr>
        <p:spPr/>
        <p:txBody>
          <a:bodyPr/>
          <a:lstStyle/>
          <a:p>
            <a:fld id="{B5DC213C-6C48-4055-A2EB-5C8643B59044}" type="slidenum">
              <a:rPr lang="en-US" smtClean="0"/>
              <a:t>10</a:t>
            </a:fld>
            <a:endParaRPr lang="en-US"/>
          </a:p>
        </p:txBody>
      </p:sp>
    </p:spTree>
    <p:extLst>
      <p:ext uri="{BB962C8B-B14F-4D97-AF65-F5344CB8AC3E}">
        <p14:creationId xmlns:p14="http://schemas.microsoft.com/office/powerpoint/2010/main" val="16346603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طرق الإجماع: تتضمن عادةً اجتماعًا يناقش فيه الخبراء ويتجادلون، ويتوصلون في النهاية إلى قرار بشأن أفضل تقدير. للحصول على نتائج أكثر دقة، تُستخدم طريقة دلفي؛ حيث يجيب مجموعة من الخبراء على استبيانات التقدير دون الكشف عن هويتهم، ويُزودون بملخص لآرائهم. بعد ذلك، يُشجعون على إعادة النظر، وإذا لزم الأمر، تغيير تقديراتهم السابقة في ضوء ردود خبراء آخرين. بعد جولتين أو ثلاث، يُعتقد أن المجموعة ستتقارب نحو أفضل القرارات.</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طرق النسبة: (وتسمى أحيانًا البارامترية) تستخدم عادةً النسب، وهي وحدة من معلمات معينة (التكلفة والوقت على سبيل المثال)، لتقدير أوقات أو تكاليف المشروع. تُستخدم في مرحلة المفهوم أو "الحاجة" للمشروع للحصول على تقدير أولي للمدة والتكلفة للمشروع.</a:t>
            </a:r>
          </a:p>
          <a:p>
            <a:endParaRPr lang="en-US" dirty="0"/>
          </a:p>
        </p:txBody>
      </p:sp>
      <p:sp>
        <p:nvSpPr>
          <p:cNvPr id="4" name="Slide Number Placeholder 3"/>
          <p:cNvSpPr>
            <a:spLocks noGrp="1"/>
          </p:cNvSpPr>
          <p:nvPr>
            <p:ph type="sldNum" sz="quarter" idx="5"/>
          </p:nvPr>
        </p:nvSpPr>
        <p:spPr/>
        <p:txBody>
          <a:bodyPr/>
          <a:lstStyle/>
          <a:p>
            <a:fld id="{B5DC213C-6C48-4055-A2EB-5C8643B59044}" type="slidenum">
              <a:rPr lang="en-US" smtClean="0"/>
              <a:t>11</a:t>
            </a:fld>
            <a:endParaRPr lang="en-US"/>
          </a:p>
        </p:txBody>
      </p:sp>
    </p:spTree>
    <p:extLst>
      <p:ext uri="{BB962C8B-B14F-4D97-AF65-F5344CB8AC3E}">
        <p14:creationId xmlns:p14="http://schemas.microsoft.com/office/powerpoint/2010/main" val="17766019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ar-EG" sz="1200" b="0" i="0" kern="1200" dirty="0">
                <a:solidFill>
                  <a:schemeClr val="tx1"/>
                </a:solidFill>
                <a:effectLst/>
                <a:latin typeface="+mn-lt"/>
                <a:ea typeface="+mn-ea"/>
                <a:cs typeface="+mn-cs"/>
              </a:rPr>
              <a:t>طرق التوزيع: تُعدّ هذه الطريقة امتدادًا لطريقة النسبة. تُستخدم هذه الطريقة عندما تكون المشاريع قريبة من المشاريع السابقة من حيث الميزات والتكاليف. في حال توفر بيانات تاريخية جيدة، يُمكن إجراء التقديرات بسرعة وبجهد بسيط ودقة معقولة. تُعد هذه الطريقة شائعة جدًا في المشاريع القياسية نسبيًا، ولكنها تتضمن بعض التغييرات أو التخصيصات الطفيفة.</a:t>
            </a:r>
          </a:p>
          <a:p>
            <a:endParaRPr lang="en-US" dirty="0"/>
          </a:p>
        </p:txBody>
      </p:sp>
      <p:sp>
        <p:nvSpPr>
          <p:cNvPr id="4" name="Slide Number Placeholder 3"/>
          <p:cNvSpPr>
            <a:spLocks noGrp="1"/>
          </p:cNvSpPr>
          <p:nvPr>
            <p:ph type="sldNum" sz="quarter" idx="5"/>
          </p:nvPr>
        </p:nvSpPr>
        <p:spPr/>
        <p:txBody>
          <a:bodyPr/>
          <a:lstStyle/>
          <a:p>
            <a:fld id="{B5DC213C-6C48-4055-A2EB-5C8643B59044}" type="slidenum">
              <a:rPr lang="en-US" smtClean="0"/>
              <a:t>12</a:t>
            </a:fld>
            <a:endParaRPr lang="en-US"/>
          </a:p>
        </p:txBody>
      </p:sp>
    </p:spTree>
    <p:extLst>
      <p:ext uri="{BB962C8B-B14F-4D97-AF65-F5344CB8AC3E}">
        <p14:creationId xmlns:p14="http://schemas.microsoft.com/office/powerpoint/2010/main" val="1716720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منحنيات التعلم: تتطلب بعض المشاريع تكرار نفس المهمة أو مجموعة المهام عدة مرات. يدرك المدراء بديهيًا أن وقت إنجاز المهمة يتحسن مع التكرار. وتنطبق هذه الظاهرة بشكل خاص على المهام كثيفة العمالة. واستنادًا إلى الأدلة التجريبية في جميع القطاعات، تم قياس نمط هذا التحسن كميًا في منحنى التعلم؛ والذي يُوصف بالعلاقة التالية: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في كل مرة تتضاعف فيها كمية الإنتاج، تنخفض ساعات العمل بمعدل ثابت.</a:t>
            </a:r>
          </a:p>
          <a:p>
            <a:endParaRPr lang="en-US" dirty="0"/>
          </a:p>
        </p:txBody>
      </p:sp>
      <p:sp>
        <p:nvSpPr>
          <p:cNvPr id="4" name="Slide Number Placeholder 3"/>
          <p:cNvSpPr>
            <a:spLocks noGrp="1"/>
          </p:cNvSpPr>
          <p:nvPr>
            <p:ph type="sldNum" sz="quarter" idx="5"/>
          </p:nvPr>
        </p:nvSpPr>
        <p:spPr/>
        <p:txBody>
          <a:bodyPr/>
          <a:lstStyle/>
          <a:p>
            <a:fld id="{B5DC213C-6C48-4055-A2EB-5C8643B59044}" type="slidenum">
              <a:rPr lang="en-US" smtClean="0"/>
              <a:t>13</a:t>
            </a:fld>
            <a:endParaRPr lang="en-US"/>
          </a:p>
        </p:txBody>
      </p:sp>
    </p:spTree>
    <p:extLst>
      <p:ext uri="{BB962C8B-B14F-4D97-AF65-F5344CB8AC3E}">
        <p14:creationId xmlns:p14="http://schemas.microsoft.com/office/powerpoint/2010/main" val="3766677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Step #1: Define your work breakdown structure (WBS)</a:t>
            </a:r>
          </a:p>
          <a:p>
            <a:r>
              <a:rPr lang="en-US" sz="1200" b="0" i="0" kern="1200" dirty="0">
                <a:solidFill>
                  <a:schemeClr val="tx1"/>
                </a:solidFill>
                <a:effectLst/>
                <a:latin typeface="+mn-lt"/>
                <a:ea typeface="+mn-ea"/>
                <a:cs typeface="+mn-cs"/>
              </a:rPr>
              <a:t>A work breakdown structure outlines the project’s tasks organized in hierarchical order. </a:t>
            </a:r>
          </a:p>
          <a:p>
            <a:r>
              <a:rPr lang="en-US" sz="1200" b="0" i="0" kern="1200" dirty="0">
                <a:solidFill>
                  <a:schemeClr val="tx1"/>
                </a:solidFill>
                <a:effectLst/>
                <a:latin typeface="+mn-lt"/>
                <a:ea typeface="+mn-ea"/>
                <a:cs typeface="+mn-cs"/>
              </a:rPr>
              <a:t>There are two main types of WBS:</a:t>
            </a:r>
          </a:p>
          <a:p>
            <a:r>
              <a:rPr lang="en-US" sz="1200" b="0" i="0" kern="1200" dirty="0">
                <a:solidFill>
                  <a:schemeClr val="tx1"/>
                </a:solidFill>
                <a:effectLst/>
                <a:latin typeface="+mn-lt"/>
                <a:ea typeface="+mn-ea"/>
                <a:cs typeface="+mn-cs"/>
              </a:rPr>
              <a:t>Deliverable-based, which outlines the relationship between project deliverables and project scope.</a:t>
            </a:r>
          </a:p>
          <a:p>
            <a:r>
              <a:rPr lang="en-US" sz="1200" b="0" i="0" kern="1200" dirty="0">
                <a:solidFill>
                  <a:schemeClr val="tx1"/>
                </a:solidFill>
                <a:effectLst/>
                <a:latin typeface="+mn-lt"/>
                <a:ea typeface="+mn-ea"/>
                <a:cs typeface="+mn-cs"/>
              </a:rPr>
              <a:t>Phase-based, which outlines your project’s typical phases.</a:t>
            </a:r>
          </a:p>
          <a:p>
            <a:r>
              <a:rPr lang="en-US" sz="1200" b="0" i="0" kern="1200" dirty="0">
                <a:solidFill>
                  <a:schemeClr val="tx1"/>
                </a:solidFill>
                <a:effectLst/>
                <a:latin typeface="+mn-lt"/>
                <a:ea typeface="+mn-ea"/>
                <a:cs typeface="+mn-cs"/>
              </a:rPr>
              <a:t>The goal of a WBS is to make the project easier to manage by breaking it down into smaller tasks. </a:t>
            </a:r>
          </a:p>
          <a:p>
            <a:r>
              <a:rPr lang="en-US" sz="1200" b="0" i="0" kern="1200" dirty="0">
                <a:solidFill>
                  <a:schemeClr val="tx1"/>
                </a:solidFill>
                <a:effectLst/>
                <a:latin typeface="+mn-lt"/>
                <a:ea typeface="+mn-ea"/>
                <a:cs typeface="+mn-cs"/>
              </a:rPr>
              <a:t>For example, let’s say you want to </a:t>
            </a:r>
            <a:r>
              <a:rPr lang="en-US" sz="1200" b="0" i="0" kern="1200" dirty="0">
                <a:solidFill>
                  <a:schemeClr val="tx1"/>
                </a:solidFill>
                <a:effectLst/>
                <a:latin typeface="+mn-lt"/>
                <a:ea typeface="+mn-ea"/>
                <a:cs typeface="+mn-cs"/>
                <a:hlinkClick r:id="rId3"/>
              </a:rPr>
              <a:t>create a WBS</a:t>
            </a:r>
            <a:r>
              <a:rPr lang="en-US" sz="1200" b="0" i="0" kern="1200" dirty="0">
                <a:solidFill>
                  <a:schemeClr val="tx1"/>
                </a:solidFill>
                <a:effectLst/>
                <a:latin typeface="+mn-lt"/>
                <a:ea typeface="+mn-ea"/>
                <a:cs typeface="+mn-cs"/>
              </a:rPr>
              <a:t>. This is your big project, and you break it down into the following smaller tasks:</a:t>
            </a:r>
          </a:p>
          <a:p>
            <a:r>
              <a:rPr lang="en-US" sz="1200" b="0" i="0" kern="1200" dirty="0">
                <a:solidFill>
                  <a:schemeClr val="tx1"/>
                </a:solidFill>
                <a:effectLst/>
                <a:latin typeface="+mn-lt"/>
                <a:ea typeface="+mn-ea"/>
                <a:cs typeface="+mn-cs"/>
              </a:rPr>
              <a:t>Define the project’s scope, deliverables, and timeframe</a:t>
            </a:r>
          </a:p>
          <a:p>
            <a:r>
              <a:rPr lang="en-US" sz="1200" b="0" i="0" kern="1200" dirty="0">
                <a:solidFill>
                  <a:schemeClr val="tx1"/>
                </a:solidFill>
                <a:effectLst/>
                <a:latin typeface="+mn-lt"/>
                <a:ea typeface="+mn-ea"/>
                <a:cs typeface="+mn-cs"/>
              </a:rPr>
              <a:t>List all major deliverables</a:t>
            </a:r>
          </a:p>
          <a:p>
            <a:r>
              <a:rPr lang="en-US" sz="1200" b="0" i="0" kern="1200" dirty="0">
                <a:solidFill>
                  <a:schemeClr val="tx1"/>
                </a:solidFill>
                <a:effectLst/>
                <a:latin typeface="+mn-lt"/>
                <a:ea typeface="+mn-ea"/>
                <a:cs typeface="+mn-cs"/>
              </a:rPr>
              <a:t>Break down each major deliverable into smaller work packages</a:t>
            </a:r>
          </a:p>
          <a:p>
            <a:r>
              <a:rPr lang="en-US" sz="1200" b="0" i="0" kern="1200" dirty="0">
                <a:solidFill>
                  <a:schemeClr val="tx1"/>
                </a:solidFill>
                <a:effectLst/>
                <a:latin typeface="+mn-lt"/>
                <a:ea typeface="+mn-ea"/>
                <a:cs typeface="+mn-cs"/>
              </a:rPr>
              <a:t>Add timeframes for each work package and organize them in hierarchical order</a:t>
            </a:r>
          </a:p>
          <a:p>
            <a:r>
              <a:rPr lang="en-US" sz="1200" b="0" i="0" kern="1200" dirty="0">
                <a:solidFill>
                  <a:schemeClr val="tx1"/>
                </a:solidFill>
                <a:effectLst/>
                <a:latin typeface="+mn-lt"/>
                <a:ea typeface="+mn-ea"/>
                <a:cs typeface="+mn-cs"/>
              </a:rPr>
              <a:t>Assign WBS codes to each work package to identify them more easily</a:t>
            </a:r>
          </a:p>
          <a:p>
            <a:r>
              <a:rPr lang="en-US" sz="1200" b="0" i="0" kern="1200" dirty="0">
                <a:solidFill>
                  <a:schemeClr val="tx1"/>
                </a:solidFill>
                <a:effectLst/>
                <a:latin typeface="+mn-lt"/>
                <a:ea typeface="+mn-ea"/>
                <a:cs typeface="+mn-cs"/>
              </a:rPr>
              <a:t>Review your WBS with your project team and make changes if necessary</a:t>
            </a:r>
          </a:p>
          <a:p>
            <a:r>
              <a:rPr lang="en-US" sz="1200" b="0" i="0" kern="1200" dirty="0">
                <a:solidFill>
                  <a:schemeClr val="tx1"/>
                </a:solidFill>
                <a:effectLst/>
                <a:latin typeface="+mn-lt"/>
                <a:ea typeface="+mn-ea"/>
                <a:cs typeface="+mn-cs"/>
              </a:rPr>
              <a:t>That’s how you break down your project into small tasks so it’s easier to estimate. </a:t>
            </a:r>
          </a:p>
          <a:p>
            <a:r>
              <a:rPr lang="en-US" sz="1200" b="1" i="0" kern="1200" dirty="0">
                <a:solidFill>
                  <a:schemeClr val="tx1"/>
                </a:solidFill>
                <a:effectLst/>
                <a:latin typeface="+mn-lt"/>
                <a:ea typeface="+mn-ea"/>
                <a:cs typeface="+mn-cs"/>
              </a:rPr>
              <a:t>Step #2: Identify which tasks need to be completed</a:t>
            </a:r>
          </a:p>
          <a:p>
            <a:r>
              <a:rPr lang="en-US" sz="1200" b="0" i="0" kern="1200" dirty="0">
                <a:solidFill>
                  <a:schemeClr val="tx1"/>
                </a:solidFill>
                <a:effectLst/>
                <a:latin typeface="+mn-lt"/>
                <a:ea typeface="+mn-ea"/>
                <a:cs typeface="+mn-cs"/>
              </a:rPr>
              <a:t>To get even more precise in your estimates, break down each work package into detailed tasks. </a:t>
            </a:r>
          </a:p>
          <a:p>
            <a:r>
              <a:rPr lang="en-US" sz="1200" b="0" i="0" kern="1200" dirty="0">
                <a:solidFill>
                  <a:schemeClr val="tx1"/>
                </a:solidFill>
                <a:effectLst/>
                <a:latin typeface="+mn-lt"/>
                <a:ea typeface="+mn-ea"/>
                <a:cs typeface="+mn-cs"/>
              </a:rPr>
              <a:t>Estimating a task is simpler as it involves fewer dependencies and usually needs a single resource.</a:t>
            </a:r>
          </a:p>
          <a:p>
            <a:r>
              <a:rPr lang="en-US" sz="1200" b="0" i="0" kern="1200" dirty="0">
                <a:solidFill>
                  <a:schemeClr val="tx1"/>
                </a:solidFill>
                <a:effectLst/>
                <a:latin typeface="+mn-lt"/>
                <a:ea typeface="+mn-ea"/>
                <a:cs typeface="+mn-cs"/>
              </a:rPr>
              <a:t>At this point, you want to get in as much detail as possible. The more specific you are about each task, your estimates will be more accurate. </a:t>
            </a:r>
          </a:p>
          <a:p>
            <a:r>
              <a:rPr lang="en-US" sz="1200" b="1" i="0" kern="1200" dirty="0">
                <a:solidFill>
                  <a:schemeClr val="tx1"/>
                </a:solidFill>
                <a:effectLst/>
                <a:latin typeface="+mn-lt"/>
                <a:ea typeface="+mn-ea"/>
                <a:cs typeface="+mn-cs"/>
              </a:rPr>
              <a:t>Step #3: Estimate each task</a:t>
            </a:r>
          </a:p>
          <a:p>
            <a:r>
              <a:rPr lang="en-US" sz="1200" b="0" i="0" kern="1200" dirty="0">
                <a:solidFill>
                  <a:schemeClr val="tx1"/>
                </a:solidFill>
                <a:effectLst/>
                <a:latin typeface="+mn-lt"/>
                <a:ea typeface="+mn-ea"/>
                <a:cs typeface="+mn-cs"/>
              </a:rPr>
              <a:t>Now that you have your detailed tasks, it’s time to estimate them. </a:t>
            </a:r>
          </a:p>
          <a:p>
            <a:r>
              <a:rPr lang="en-US" sz="1200" b="0" i="0" kern="1200" dirty="0">
                <a:solidFill>
                  <a:schemeClr val="tx1"/>
                </a:solidFill>
                <a:effectLst/>
                <a:latin typeface="+mn-lt"/>
                <a:ea typeface="+mn-ea"/>
                <a:cs typeface="+mn-cs"/>
              </a:rPr>
              <a:t>Toggl Track can help you with this. </a:t>
            </a:r>
          </a:p>
          <a:p>
            <a:r>
              <a:rPr lang="en-US" sz="1200" b="0" i="0" kern="1200" dirty="0">
                <a:solidFill>
                  <a:schemeClr val="tx1"/>
                </a:solidFill>
                <a:effectLst/>
                <a:latin typeface="+mn-lt"/>
                <a:ea typeface="+mn-ea"/>
                <a:cs typeface="+mn-cs"/>
              </a:rPr>
              <a:t>It’s a time-tracking tool that helps track your team’s time. By reviewing similar past projects and tasks you can easily come up with estimates for a new project’s tasks.</a:t>
            </a:r>
          </a:p>
          <a:p>
            <a:r>
              <a:rPr lang="en-US" sz="1200" b="0" i="0" kern="1200" dirty="0">
                <a:solidFill>
                  <a:schemeClr val="tx1"/>
                </a:solidFill>
                <a:effectLst/>
                <a:latin typeface="+mn-lt"/>
                <a:ea typeface="+mn-ea"/>
                <a:cs typeface="+mn-cs"/>
              </a:rPr>
              <a:t>By using the </a:t>
            </a:r>
            <a:r>
              <a:rPr lang="en-US" sz="1200" b="0" i="0" kern="1200" dirty="0">
                <a:solidFill>
                  <a:schemeClr val="tx1"/>
                </a:solidFill>
                <a:effectLst/>
                <a:latin typeface="+mn-lt"/>
                <a:ea typeface="+mn-ea"/>
                <a:cs typeface="+mn-cs"/>
                <a:hlinkClick r:id="rId4"/>
              </a:rPr>
              <a:t>Reporting</a:t>
            </a:r>
            <a:r>
              <a:rPr lang="en-US" sz="1200" b="0" i="0" kern="1200" dirty="0">
                <a:solidFill>
                  <a:schemeClr val="tx1"/>
                </a:solidFill>
                <a:effectLst/>
                <a:latin typeface="+mn-lt"/>
                <a:ea typeface="+mn-ea"/>
                <a:cs typeface="+mn-cs"/>
              </a:rPr>
              <a:t> feature, you get clear and insightful data about the time and cost of your past tasks. </a:t>
            </a:r>
          </a:p>
          <a:p>
            <a:r>
              <a:rPr lang="en-US" sz="1200" b="0" i="0" kern="1200" dirty="0">
                <a:solidFill>
                  <a:schemeClr val="tx1"/>
                </a:solidFill>
                <a:effectLst/>
                <a:latin typeface="+mn-lt"/>
                <a:ea typeface="+mn-ea"/>
                <a:cs typeface="+mn-cs"/>
              </a:rPr>
              <a:t>You can do this in two ways:</a:t>
            </a:r>
          </a:p>
          <a:p>
            <a:r>
              <a:rPr lang="en-US" sz="1200" b="0" i="0" kern="1200" dirty="0">
                <a:solidFill>
                  <a:schemeClr val="tx1"/>
                </a:solidFill>
                <a:effectLst/>
                <a:latin typeface="+mn-lt"/>
                <a:ea typeface="+mn-ea"/>
                <a:cs typeface="+mn-cs"/>
              </a:rPr>
              <a:t>Go to Reports and then Summary Report. </a:t>
            </a:r>
          </a:p>
          <a:p>
            <a:r>
              <a:rPr lang="en-US" sz="1200" b="0" i="0" kern="1200" dirty="0">
                <a:solidFill>
                  <a:schemeClr val="tx1"/>
                </a:solidFill>
                <a:effectLst/>
                <a:latin typeface="+mn-lt"/>
                <a:ea typeface="+mn-ea"/>
                <a:cs typeface="+mn-cs"/>
              </a:rPr>
              <a:t>Then, use the Project filter to choose a similar past project and see the task breakdown. </a:t>
            </a:r>
          </a:p>
          <a:p>
            <a:r>
              <a:rPr lang="en-US" sz="1200" b="0" i="0" kern="1200" dirty="0">
                <a:solidFill>
                  <a:schemeClr val="tx1"/>
                </a:solidFill>
                <a:effectLst/>
                <a:latin typeface="+mn-lt"/>
                <a:ea typeface="+mn-ea"/>
                <a:cs typeface="+mn-cs"/>
              </a:rPr>
              <a:t>Go to Projects. </a:t>
            </a:r>
          </a:p>
          <a:p>
            <a:r>
              <a:rPr lang="en-US" sz="1200" b="0" i="0" kern="1200" dirty="0">
                <a:solidFill>
                  <a:schemeClr val="tx1"/>
                </a:solidFill>
                <a:effectLst/>
                <a:latin typeface="+mn-lt"/>
                <a:ea typeface="+mn-ea"/>
                <a:cs typeface="+mn-cs"/>
              </a:rPr>
              <a:t>Select the project you want to view, and there’s the task breakdown that you can use to create your estimates. </a:t>
            </a:r>
          </a:p>
          <a:p>
            <a:r>
              <a:rPr lang="en-US" sz="1200" b="1" i="0" kern="1200" dirty="0">
                <a:solidFill>
                  <a:schemeClr val="tx1"/>
                </a:solidFill>
                <a:effectLst/>
                <a:latin typeface="+mn-lt"/>
                <a:ea typeface="+mn-ea"/>
                <a:cs typeface="+mn-cs"/>
              </a:rPr>
              <a:t>Step #4: Aggregate your estimates</a:t>
            </a:r>
          </a:p>
          <a:p>
            <a:r>
              <a:rPr lang="en-US" sz="1200" b="0" i="0" kern="1200" dirty="0">
                <a:solidFill>
                  <a:schemeClr val="tx1"/>
                </a:solidFill>
                <a:effectLst/>
                <a:latin typeface="+mn-lt"/>
                <a:ea typeface="+mn-ea"/>
                <a:cs typeface="+mn-cs"/>
              </a:rPr>
              <a:t>After you’ve estimated each task based on Toggl Track’s detailed reports, you can add them up to get the overall project estimate. </a:t>
            </a:r>
          </a:p>
          <a:p>
            <a:r>
              <a:rPr lang="en-US" sz="1200" b="0" i="0" kern="1200" dirty="0">
                <a:solidFill>
                  <a:schemeClr val="tx1"/>
                </a:solidFill>
                <a:effectLst/>
                <a:latin typeface="+mn-lt"/>
                <a:ea typeface="+mn-ea"/>
                <a:cs typeface="+mn-cs"/>
              </a:rPr>
              <a:t>This sum of individual task estimates is as accurate as possible when estimating your project.</a:t>
            </a:r>
          </a:p>
          <a:p>
            <a:r>
              <a:rPr lang="en-US" sz="1200" b="0" i="0" kern="1200" dirty="0">
                <a:solidFill>
                  <a:schemeClr val="tx1"/>
                </a:solidFill>
                <a:effectLst/>
                <a:latin typeface="+mn-lt"/>
                <a:ea typeface="+mn-ea"/>
                <a:cs typeface="+mn-cs"/>
              </a:rPr>
              <a:t>To help you create estimates faster, we made this free </a:t>
            </a:r>
            <a:r>
              <a:rPr lang="en-US" sz="1200" b="0" i="0" kern="1200" dirty="0">
                <a:solidFill>
                  <a:schemeClr val="tx1"/>
                </a:solidFill>
                <a:effectLst/>
                <a:latin typeface="+mn-lt"/>
                <a:ea typeface="+mn-ea"/>
                <a:cs typeface="+mn-cs"/>
                <a:hlinkClick r:id="rId5"/>
              </a:rPr>
              <a:t>Project Estimate Template</a:t>
            </a:r>
            <a:r>
              <a:rPr lang="en-US" sz="1200" b="0" i="0" kern="1200" dirty="0">
                <a:solidFill>
                  <a:schemeClr val="tx1"/>
                </a:solidFill>
                <a:effectLst/>
                <a:latin typeface="+mn-lt"/>
                <a:ea typeface="+mn-ea"/>
                <a:cs typeface="+mn-cs"/>
              </a:rPr>
              <a:t> which breaks down project tasks in detail. </a:t>
            </a:r>
          </a:p>
          <a:p>
            <a:r>
              <a:rPr lang="en-US" sz="1200" b="1" i="0" kern="1200" dirty="0">
                <a:solidFill>
                  <a:schemeClr val="tx1"/>
                </a:solidFill>
                <a:effectLst/>
                <a:latin typeface="+mn-lt"/>
                <a:ea typeface="+mn-ea"/>
                <a:cs typeface="+mn-cs"/>
              </a:rPr>
              <a:t>Step #5: Validate and refine</a:t>
            </a:r>
          </a:p>
          <a:p>
            <a:r>
              <a:rPr lang="en-US" sz="1200" b="0" i="0" kern="1200" dirty="0">
                <a:solidFill>
                  <a:schemeClr val="tx1"/>
                </a:solidFill>
                <a:effectLst/>
                <a:latin typeface="+mn-lt"/>
                <a:ea typeface="+mn-ea"/>
                <a:cs typeface="+mn-cs"/>
              </a:rPr>
              <a:t>All that’s left to do now is to review your estimates. </a:t>
            </a:r>
          </a:p>
          <a:p>
            <a:r>
              <a:rPr lang="en-US" sz="1200" b="0" i="0" kern="1200" dirty="0">
                <a:solidFill>
                  <a:schemeClr val="tx1"/>
                </a:solidFill>
                <a:effectLst/>
                <a:latin typeface="+mn-lt"/>
                <a:ea typeface="+mn-ea"/>
                <a:cs typeface="+mn-cs"/>
              </a:rPr>
              <a:t>It’s a good idea to have other pairs of eyes look over them to make sure you haven’t missed anything. </a:t>
            </a:r>
          </a:p>
          <a:p>
            <a:r>
              <a:rPr lang="en-US" sz="1200" b="0" i="0" kern="1200" dirty="0">
                <a:solidFill>
                  <a:schemeClr val="tx1"/>
                </a:solidFill>
                <a:effectLst/>
                <a:latin typeface="+mn-lt"/>
                <a:ea typeface="+mn-ea"/>
                <a:cs typeface="+mn-cs"/>
              </a:rPr>
              <a:t>Share your project estimates with team members, gather their feedback, and refine where necessary. </a:t>
            </a:r>
          </a:p>
          <a:p>
            <a:r>
              <a:rPr lang="en-US" sz="1200" b="0" i="0" kern="1200" dirty="0">
                <a:solidFill>
                  <a:schemeClr val="tx1"/>
                </a:solidFill>
                <a:effectLst/>
                <a:latin typeface="+mn-lt"/>
                <a:ea typeface="+mn-ea"/>
                <a:cs typeface="+mn-cs"/>
              </a:rPr>
              <a:t>And that’s it! Your bottom-up estimates are ready, and you’re on your way to another successful project.</a:t>
            </a:r>
          </a:p>
          <a:p>
            <a:endParaRPr lang="en-US" dirty="0"/>
          </a:p>
        </p:txBody>
      </p:sp>
      <p:sp>
        <p:nvSpPr>
          <p:cNvPr id="4" name="Slide Number Placeholder 3"/>
          <p:cNvSpPr>
            <a:spLocks noGrp="1"/>
          </p:cNvSpPr>
          <p:nvPr>
            <p:ph type="sldNum" sz="quarter" idx="5"/>
          </p:nvPr>
        </p:nvSpPr>
        <p:spPr/>
        <p:txBody>
          <a:bodyPr/>
          <a:lstStyle/>
          <a:p>
            <a:fld id="{B5DC213C-6C48-4055-A2EB-5C8643B59044}" type="slidenum">
              <a:rPr lang="en-US" smtClean="0"/>
              <a:t>14</a:t>
            </a:fld>
            <a:endParaRPr lang="en-US"/>
          </a:p>
        </p:txBody>
      </p:sp>
    </p:spTree>
    <p:extLst>
      <p:ext uri="{BB962C8B-B14F-4D97-AF65-F5344CB8AC3E}">
        <p14:creationId xmlns:p14="http://schemas.microsoft.com/office/powerpoint/2010/main" val="3403389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أساليب النماذج: إذا كان المشروع مشابهًا لمشاريع سابقة، يُمكن استخدام تكاليف المشاريع السابقة كنقطة انطلاق للمشروع الجديد. يُمكن ملاحظة الاختلافات في المشروع الجديد وتعديل الأوقات والتكاليف السابقة لتعكس هذه الاختلافات. يُمكن لتطوير هذه النماذج في قاعدة بيانات أن يُقلل بسرعة من أخطاء التقدير.</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الإجراءات البارامترية المُطبقة على مهام مُحددة: كما يُمكن أن تكون الأساليب البارامترية، مثل تكلفة القدم المربع، مصدرًا للتقديرات التنازلية، يُمكن تطبيق نفس الأسلوب على مهام مُحددة.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تقدير النطاق: يُحقق هذا الأسلوب أفضل النتائج عندما تكون حزم العمل مُحاطة بعدم يقين كبير مُرتبط بوقت أو تكلفة الإنجاز، ومن الحكمة طلب (3) تقديرات زمنية (منخفضة، ومتوسطة، وعالية). للقيام بذلك، فإن تحديد هذه الأوقات (أو التكلفة) من قِبل مجموعة يُعطي أفضل النتائج. يُساعد رأي الآخرين في المجموعة على التخفيف من المخاطر المُتصورة الشديدة المُرتبطة بتقدير الوقت أو التكلفة. إن إشراك الآخرين في وضع تقديرات الأنشطة يُعزز مصداقية التقدير. تُعتبر هذه الطريقة شائعة في مشاريع البرمجيات والمنتجات الجديدة حيث تكون المتطلبات المُسبقة غامضة وغير معروفة جيدًا.</a:t>
            </a:r>
          </a:p>
          <a:p>
            <a:br>
              <a:rPr lang="ar-EG" sz="1200" b="0" i="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B5DC213C-6C48-4055-A2EB-5C8643B59044}" type="slidenum">
              <a:rPr lang="en-US" smtClean="0"/>
              <a:t>15</a:t>
            </a:fld>
            <a:endParaRPr lang="en-US"/>
          </a:p>
        </p:txBody>
      </p:sp>
    </p:spTree>
    <p:extLst>
      <p:ext uri="{BB962C8B-B14F-4D97-AF65-F5344CB8AC3E}">
        <p14:creationId xmlns:p14="http://schemas.microsoft.com/office/powerpoint/2010/main" val="26009823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التكاليف المباشرة: تُضاف إلى حزمة عمل محددة. تُمثل هذه التكاليف تدفقات نقدية خارجية حقيقية، ويجب دفعها مع تقدم المشروع؛ لذلك، عادةً ما تُفصل التكاليف المباشرة عن التكاليف العامة.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التكاليف العامة المباشرة للمشروع: تُحدد معدلات التكاليف العامة المباشرة بدقة موارد المؤسسة المُستخدمة في المشروع (مثل تكلفة الإضاءة، وتدفئة مكان العمل، إلخ). ويمكن ربطها بمخرجات المشروع أو حزم العمل. على الرغم من أن التكاليف العامة ليست مصروفًا مباشرًا مباشرًا، إلا أنها حقيقية ويجب تغطيتها على المدى الطويل لضمان استمرارية الشركة.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التكاليف العامة والإدارية: تُمثل هذه التكاليف تكاليف المؤسسة غير المرتبطة مباشرةً بمشروع مُحدد. تُحمل هذه التكاليف طوال مدة المشروع. يختلف تخصيص تكاليف التكاليف العامة والإدارية من مؤسسة لأخرى. ومع ذلك، عادةً ما تُخصص تكاليف التكاليف العامة والإدارية كنسبة مئوية من إجمالي التكلفة المباشرة، أو كنسبة مئوية من إجمالي تكلفة مباشرة مُحددة مثل العمالة أو المواد أو المعدات.</a:t>
            </a:r>
          </a:p>
          <a:p>
            <a:endParaRPr lang="en-US" dirty="0"/>
          </a:p>
        </p:txBody>
      </p:sp>
      <p:sp>
        <p:nvSpPr>
          <p:cNvPr id="4" name="Slide Number Placeholder 3"/>
          <p:cNvSpPr>
            <a:spLocks noGrp="1"/>
          </p:cNvSpPr>
          <p:nvPr>
            <p:ph type="sldNum" sz="quarter" idx="5"/>
          </p:nvPr>
        </p:nvSpPr>
        <p:spPr/>
        <p:txBody>
          <a:bodyPr/>
          <a:lstStyle/>
          <a:p>
            <a:fld id="{B5DC213C-6C48-4055-A2EB-5C8643B59044}" type="slidenum">
              <a:rPr lang="en-US" smtClean="0"/>
              <a:t>20</a:t>
            </a:fld>
            <a:endParaRPr lang="en-US"/>
          </a:p>
        </p:txBody>
      </p:sp>
    </p:spTree>
    <p:extLst>
      <p:ext uri="{BB962C8B-B14F-4D97-AF65-F5344CB8AC3E}">
        <p14:creationId xmlns:p14="http://schemas.microsoft.com/office/powerpoint/2010/main" val="29340262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i="0" kern="1200" dirty="0">
                <a:solidFill>
                  <a:schemeClr val="tx1"/>
                </a:solidFill>
                <a:effectLst/>
                <a:latin typeface="+mn-lt"/>
                <a:ea typeface="+mn-ea"/>
                <a:cs typeface="+mn-cs"/>
              </a:rPr>
              <a:t>للتعويض عن مشكلة تجاوز التكلفة الفعلية والجدول الزمني للتقديرات، يُعدّل بعض مديري المشاريع إجمالي التكاليف بمضاعف معين (مثل: ٢٠٪). قد ترجع الحاجة إلى تعديل التقديرات الأصلية بنسبة ٢٠٪ أو حتى ١٠٠٪، رغم استثمار الكثير من الوقت والجهد في تقديرات تفصيلية، إلى الأسباب التالية: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إخفاء تكاليف التفاعل في التقديرات</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عدم تطبيق الظروف العادية</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سوء سير العمل في المشاريع</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تغييرات في نطاق المشروع وخططه</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التفاؤل المفرط</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التضليل الاستراتيجي</a:t>
            </a:r>
          </a:p>
          <a:p>
            <a:pPr rtl="1"/>
            <a:endParaRPr lang="ar-EG" sz="1200" b="0" i="0" kern="1200" dirty="0">
              <a:solidFill>
                <a:schemeClr val="tx1"/>
              </a:solidFill>
              <a:effectLst/>
              <a:latin typeface="+mn-lt"/>
              <a:ea typeface="+mn-ea"/>
              <a:cs typeface="+mn-cs"/>
            </a:endParaRPr>
          </a:p>
          <a:p>
            <a:pPr rtl="1"/>
            <a:r>
              <a:rPr lang="ar-EG" sz="1200" b="0" i="0" kern="1200" dirty="0">
                <a:solidFill>
                  <a:schemeClr val="tx1"/>
                </a:solidFill>
                <a:effectLst/>
                <a:latin typeface="+mn-lt"/>
                <a:ea typeface="+mn-ea"/>
                <a:cs typeface="+mn-cs"/>
              </a:rPr>
              <a:t>تُعدّل المنظمات الفعّالة تقديرات مهام محددة بمجرد تحديد المخاطر والموارد وتفاصيل الموقف بشكل أوضح.</a:t>
            </a:r>
          </a:p>
          <a:p>
            <a:endParaRPr lang="en-US" dirty="0"/>
          </a:p>
        </p:txBody>
      </p:sp>
      <p:sp>
        <p:nvSpPr>
          <p:cNvPr id="4" name="Slide Number Placeholder 3"/>
          <p:cNvSpPr>
            <a:spLocks noGrp="1"/>
          </p:cNvSpPr>
          <p:nvPr>
            <p:ph type="sldNum" sz="quarter" idx="5"/>
          </p:nvPr>
        </p:nvSpPr>
        <p:spPr/>
        <p:txBody>
          <a:bodyPr/>
          <a:lstStyle/>
          <a:p>
            <a:fld id="{B5DC213C-6C48-4055-A2EB-5C8643B59044}" type="slidenum">
              <a:rPr lang="en-US" smtClean="0"/>
              <a:t>21</a:t>
            </a:fld>
            <a:endParaRPr lang="en-US"/>
          </a:p>
        </p:txBody>
      </p:sp>
    </p:spTree>
    <p:extLst>
      <p:ext uri="{BB962C8B-B14F-4D97-AF65-F5344CB8AC3E}">
        <p14:creationId xmlns:p14="http://schemas.microsoft.com/office/powerpoint/2010/main" val="2991461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3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10/27/2025</a:t>
            </a:fld>
            <a:endParaRPr lang="en-US"/>
          </a:p>
        </p:txBody>
      </p:sp>
      <p:sp>
        <p:nvSpPr>
          <p:cNvPr id="6" name="Holder 6"/>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10/27/2025</a:t>
            </a:fld>
            <a:endParaRPr lang="en-US"/>
          </a:p>
        </p:txBody>
      </p:sp>
      <p:sp>
        <p:nvSpPr>
          <p:cNvPr id="6" name="Holder 6"/>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10/27/2025</a:t>
            </a:fld>
            <a:endParaRPr lang="en-US"/>
          </a:p>
        </p:txBody>
      </p:sp>
      <p:sp>
        <p:nvSpPr>
          <p:cNvPr id="7" name="Holder 7"/>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10/27/2025</a:t>
            </a:fld>
            <a:endParaRPr lang="en-US"/>
          </a:p>
        </p:txBody>
      </p:sp>
      <p:sp>
        <p:nvSpPr>
          <p:cNvPr id="5" name="Holder 5"/>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10/27/2025</a:t>
            </a:fld>
            <a:endParaRPr lang="en-US"/>
          </a:p>
        </p:txBody>
      </p:sp>
      <p:sp>
        <p:nvSpPr>
          <p:cNvPr id="4" name="Holder 4"/>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533377"/>
            <a:ext cx="9959975" cy="0"/>
          </a:xfrm>
          <a:custGeom>
            <a:avLst/>
            <a:gdLst/>
            <a:ahLst/>
            <a:cxnLst/>
            <a:rect l="l" t="t" r="r" b="b"/>
            <a:pathLst>
              <a:path w="9959975">
                <a:moveTo>
                  <a:pt x="0" y="0"/>
                </a:moveTo>
                <a:lnTo>
                  <a:pt x="9959926" y="1"/>
                </a:lnTo>
              </a:path>
            </a:pathLst>
          </a:custGeom>
          <a:ln w="57150">
            <a:solidFill>
              <a:srgbClr val="4472C4"/>
            </a:solidFill>
          </a:ln>
        </p:spPr>
        <p:txBody>
          <a:bodyPr wrap="square" lIns="0" tIns="0" rIns="0" bIns="0" rtlCol="0"/>
          <a:lstStyle/>
          <a:p>
            <a:endParaRPr/>
          </a:p>
        </p:txBody>
      </p:sp>
      <p:pic>
        <p:nvPicPr>
          <p:cNvPr id="17" name="bg object 17"/>
          <p:cNvPicPr/>
          <p:nvPr/>
        </p:nvPicPr>
        <p:blipFill>
          <a:blip r:embed="rId7" cstate="print"/>
          <a:stretch>
            <a:fillRect/>
          </a:stretch>
        </p:blipFill>
        <p:spPr>
          <a:xfrm>
            <a:off x="10631358" y="58331"/>
            <a:ext cx="1491574" cy="534930"/>
          </a:xfrm>
          <a:prstGeom prst="rect">
            <a:avLst/>
          </a:prstGeom>
        </p:spPr>
      </p:pic>
      <p:sp>
        <p:nvSpPr>
          <p:cNvPr id="2" name="Holder 2"/>
          <p:cNvSpPr>
            <a:spLocks noGrp="1"/>
          </p:cNvSpPr>
          <p:nvPr>
            <p:ph type="title"/>
          </p:nvPr>
        </p:nvSpPr>
        <p:spPr>
          <a:xfrm>
            <a:off x="916938" y="618843"/>
            <a:ext cx="10812780" cy="683260"/>
          </a:xfrm>
          <a:prstGeom prst="rect">
            <a:avLst/>
          </a:prstGeom>
        </p:spPr>
        <p:txBody>
          <a:bodyPr wrap="square" lIns="0" tIns="0" rIns="0" bIns="0">
            <a:spAutoFit/>
          </a:bodyPr>
          <a:lstStyle>
            <a:lvl1pPr>
              <a:defRPr sz="43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916938" y="1576323"/>
            <a:ext cx="10357485" cy="454279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10/27/2025</a:t>
            </a:fld>
            <a:endParaRPr lang="en-US"/>
          </a:p>
        </p:txBody>
      </p:sp>
      <p:sp>
        <p:nvSpPr>
          <p:cNvPr id="6" name="Holder 6"/>
          <p:cNvSpPr>
            <a:spLocks noGrp="1"/>
          </p:cNvSpPr>
          <p:nvPr>
            <p:ph type="sldNum" sz="quarter" idx="7"/>
          </p:nvPr>
        </p:nvSpPr>
        <p:spPr>
          <a:xfrm>
            <a:off x="11713804" y="6428920"/>
            <a:ext cx="244475" cy="211454"/>
          </a:xfrm>
          <a:prstGeom prst="rect">
            <a:avLst/>
          </a:prstGeom>
        </p:spPr>
        <p:txBody>
          <a:bodyPr wrap="square" lIns="0" tIns="0" rIns="0" bIns="0">
            <a:spAutoFit/>
          </a:bodyPr>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5.png"/><Relationship Id="rId7" Type="http://schemas.openxmlformats.org/officeDocument/2006/relationships/image" Target="../media/image19.jpg"/><Relationship Id="rId2" Type="http://schemas.openxmlformats.org/officeDocument/2006/relationships/image" Target="../media/image14.jpg"/><Relationship Id="rId1" Type="http://schemas.openxmlformats.org/officeDocument/2006/relationships/slideLayout" Target="../slideLayouts/slideLayout2.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70651" y="1133228"/>
            <a:ext cx="8305165" cy="1570355"/>
          </a:xfrm>
          <a:prstGeom prst="rect">
            <a:avLst/>
          </a:prstGeom>
        </p:spPr>
        <p:txBody>
          <a:bodyPr vert="horz" wrap="square" lIns="0" tIns="93980" rIns="0" bIns="0" rtlCol="0">
            <a:spAutoFit/>
          </a:bodyPr>
          <a:lstStyle/>
          <a:p>
            <a:pPr marL="3387725" marR="5080" indent="-3375660">
              <a:lnSpc>
                <a:spcPts val="5810"/>
              </a:lnSpc>
              <a:spcBef>
                <a:spcPts val="740"/>
              </a:spcBef>
            </a:pPr>
            <a:r>
              <a:rPr sz="5300" spc="110" dirty="0">
                <a:solidFill>
                  <a:srgbClr val="C00000"/>
                </a:solidFill>
              </a:rPr>
              <a:t>Estimating</a:t>
            </a:r>
            <a:r>
              <a:rPr sz="5300" spc="150" dirty="0">
                <a:solidFill>
                  <a:srgbClr val="C00000"/>
                </a:solidFill>
              </a:rPr>
              <a:t> </a:t>
            </a:r>
            <a:r>
              <a:rPr sz="5300" spc="95" dirty="0">
                <a:solidFill>
                  <a:srgbClr val="C00000"/>
                </a:solidFill>
              </a:rPr>
              <a:t>Project</a:t>
            </a:r>
            <a:r>
              <a:rPr sz="5300" spc="165" dirty="0">
                <a:solidFill>
                  <a:srgbClr val="C00000"/>
                </a:solidFill>
              </a:rPr>
              <a:t> </a:t>
            </a:r>
            <a:r>
              <a:rPr sz="5300" spc="114" dirty="0">
                <a:solidFill>
                  <a:srgbClr val="C00000"/>
                </a:solidFill>
              </a:rPr>
              <a:t>Times</a:t>
            </a:r>
            <a:r>
              <a:rPr sz="5300" spc="160" dirty="0">
                <a:solidFill>
                  <a:srgbClr val="C00000"/>
                </a:solidFill>
              </a:rPr>
              <a:t> </a:t>
            </a:r>
            <a:r>
              <a:rPr sz="5300" spc="90" dirty="0">
                <a:solidFill>
                  <a:srgbClr val="C00000"/>
                </a:solidFill>
              </a:rPr>
              <a:t>and </a:t>
            </a:r>
            <a:r>
              <a:rPr sz="5300" spc="95" dirty="0">
                <a:solidFill>
                  <a:srgbClr val="C00000"/>
                </a:solidFill>
              </a:rPr>
              <a:t>Costs</a:t>
            </a:r>
            <a:endParaRPr sz="5300"/>
          </a:p>
        </p:txBody>
      </p:sp>
      <p:sp>
        <p:nvSpPr>
          <p:cNvPr id="3" name="object 3"/>
          <p:cNvSpPr txBox="1"/>
          <p:nvPr/>
        </p:nvSpPr>
        <p:spPr>
          <a:xfrm>
            <a:off x="4425886" y="2526822"/>
            <a:ext cx="3340735" cy="2046073"/>
          </a:xfrm>
          <a:prstGeom prst="rect">
            <a:avLst/>
          </a:prstGeom>
        </p:spPr>
        <p:txBody>
          <a:bodyPr vert="horz" wrap="square" lIns="0" tIns="167005" rIns="0" bIns="0" rtlCol="0">
            <a:spAutoFit/>
          </a:bodyPr>
          <a:lstStyle/>
          <a:p>
            <a:pPr marL="19685" algn="ctr">
              <a:lnSpc>
                <a:spcPct val="100000"/>
              </a:lnSpc>
              <a:spcBef>
                <a:spcPts val="1315"/>
              </a:spcBef>
            </a:pPr>
            <a:r>
              <a:rPr lang="en-US" sz="2000" spc="50" dirty="0">
                <a:latin typeface="Calibri Light"/>
                <a:cs typeface="Calibri Light"/>
              </a:rPr>
              <a:t>(25CPE4602)</a:t>
            </a:r>
            <a:endParaRPr lang="en-US" sz="2000" dirty="0">
              <a:latin typeface="Calibri Light"/>
              <a:cs typeface="Calibri Light"/>
            </a:endParaRPr>
          </a:p>
          <a:p>
            <a:pPr marL="67310" algn="ctr">
              <a:lnSpc>
                <a:spcPct val="100000"/>
              </a:lnSpc>
              <a:spcBef>
                <a:spcPts val="2065"/>
              </a:spcBef>
            </a:pPr>
            <a:r>
              <a:rPr sz="4000" b="1" dirty="0">
                <a:solidFill>
                  <a:srgbClr val="2F5597"/>
                </a:solidFill>
                <a:latin typeface="Calibri"/>
                <a:cs typeface="Calibri"/>
              </a:rPr>
              <a:t>Lecture</a:t>
            </a:r>
            <a:r>
              <a:rPr sz="4000" b="1" spc="-135" dirty="0">
                <a:solidFill>
                  <a:srgbClr val="2F5597"/>
                </a:solidFill>
                <a:latin typeface="Calibri"/>
                <a:cs typeface="Calibri"/>
              </a:rPr>
              <a:t> </a:t>
            </a:r>
            <a:r>
              <a:rPr sz="4000" b="1" spc="-50" dirty="0">
                <a:solidFill>
                  <a:srgbClr val="2F5597"/>
                </a:solidFill>
                <a:latin typeface="Calibri"/>
                <a:cs typeface="Calibri"/>
              </a:rPr>
              <a:t>5</a:t>
            </a:r>
            <a:endParaRPr sz="4000" dirty="0">
              <a:latin typeface="Calibri"/>
              <a:cs typeface="Calibri"/>
            </a:endParaRPr>
          </a:p>
          <a:p>
            <a:pPr algn="ctr">
              <a:lnSpc>
                <a:spcPct val="100000"/>
              </a:lnSpc>
              <a:spcBef>
                <a:spcPts val="1485"/>
              </a:spcBef>
            </a:pPr>
            <a:r>
              <a:rPr sz="2800" spc="150" dirty="0">
                <a:latin typeface="Georgia"/>
                <a:cs typeface="Georgia"/>
              </a:rPr>
              <a:t>Dr.</a:t>
            </a:r>
            <a:r>
              <a:rPr sz="2800" spc="254" dirty="0">
                <a:latin typeface="Georgia"/>
                <a:cs typeface="Georgia"/>
              </a:rPr>
              <a:t> </a:t>
            </a:r>
            <a:r>
              <a:rPr lang="en-US" sz="2800" spc="210" dirty="0">
                <a:latin typeface="Georgia"/>
                <a:cs typeface="Georgia"/>
              </a:rPr>
              <a:t>Zahraa Ismail</a:t>
            </a:r>
            <a:endParaRPr sz="2800" dirty="0">
              <a:latin typeface="Georgia"/>
              <a:cs typeface="Georgia"/>
            </a:endParaRPr>
          </a:p>
        </p:txBody>
      </p:sp>
      <p:pic>
        <p:nvPicPr>
          <p:cNvPr id="4" name="object 4"/>
          <p:cNvPicPr/>
          <p:nvPr/>
        </p:nvPicPr>
        <p:blipFill>
          <a:blip r:embed="rId2" cstate="print"/>
          <a:stretch>
            <a:fillRect/>
          </a:stretch>
        </p:blipFill>
        <p:spPr>
          <a:xfrm>
            <a:off x="3708164" y="4723403"/>
            <a:ext cx="4545091" cy="2134595"/>
          </a:xfrm>
          <a:prstGeom prst="rect">
            <a:avLst/>
          </a:prstGeom>
        </p:spPr>
      </p:pic>
      <p:pic>
        <p:nvPicPr>
          <p:cNvPr id="6" name="Picture 5">
            <a:extLst>
              <a:ext uri="{FF2B5EF4-FFF2-40B4-BE49-F238E27FC236}">
                <a16:creationId xmlns:a16="http://schemas.microsoft.com/office/drawing/2014/main" id="{67457C8F-79CC-7776-C7B8-6578FB83BA2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65026" y="138841"/>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95" dirty="0">
                <a:solidFill>
                  <a:srgbClr val="FF0000"/>
                </a:solidFill>
              </a:rPr>
              <a:t>Introduction</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2</a:t>
            </a:fld>
            <a:endParaRPr spc="-50" dirty="0"/>
          </a:p>
        </p:txBody>
      </p:sp>
      <p:sp>
        <p:nvSpPr>
          <p:cNvPr id="3" name="object 3"/>
          <p:cNvSpPr txBox="1"/>
          <p:nvPr/>
        </p:nvSpPr>
        <p:spPr>
          <a:xfrm>
            <a:off x="916939" y="1633220"/>
            <a:ext cx="10358120" cy="4646295"/>
          </a:xfrm>
          <a:prstGeom prst="rect">
            <a:avLst/>
          </a:prstGeom>
        </p:spPr>
        <p:txBody>
          <a:bodyPr vert="horz" wrap="square" lIns="0" tIns="53975" rIns="0" bIns="0" rtlCol="0">
            <a:spAutoFit/>
          </a:bodyPr>
          <a:lstStyle/>
          <a:p>
            <a:pPr marL="240029" marR="6350" indent="-227329">
              <a:lnSpc>
                <a:spcPts val="2590"/>
              </a:lnSpc>
              <a:spcBef>
                <a:spcPts val="425"/>
              </a:spcBef>
              <a:buFont typeface="Arial MT"/>
              <a:buChar char="•"/>
              <a:tabLst>
                <a:tab pos="241300" algn="l"/>
                <a:tab pos="1668780" algn="l"/>
                <a:tab pos="3229610" algn="l"/>
                <a:tab pos="4554220" algn="l"/>
                <a:tab pos="5022850" algn="l"/>
                <a:tab pos="5891530" algn="l"/>
                <a:tab pos="6508115" algn="l"/>
                <a:tab pos="7406640" algn="l"/>
                <a:tab pos="7867650" algn="l"/>
                <a:tab pos="8833485" algn="l"/>
                <a:tab pos="10022840" algn="l"/>
              </a:tabLst>
            </a:pPr>
            <a:r>
              <a:rPr sz="2400" spc="-10" dirty="0">
                <a:latin typeface="Calibri"/>
                <a:cs typeface="Calibri"/>
              </a:rPr>
              <a:t>Managers</a:t>
            </a:r>
            <a:r>
              <a:rPr sz="2400" dirty="0">
                <a:latin typeface="Calibri"/>
                <a:cs typeface="Calibri"/>
              </a:rPr>
              <a:t>	</a:t>
            </a:r>
            <a:r>
              <a:rPr sz="2400" spc="-10" dirty="0">
                <a:latin typeface="Calibri"/>
                <a:cs typeface="Calibri"/>
              </a:rPr>
              <a:t>sometimes</a:t>
            </a:r>
            <a:r>
              <a:rPr sz="2400" dirty="0">
                <a:latin typeface="Calibri"/>
                <a:cs typeface="Calibri"/>
              </a:rPr>
              <a:t>	</a:t>
            </a:r>
            <a:r>
              <a:rPr sz="2400" spc="-10" dirty="0">
                <a:latin typeface="Calibri"/>
                <a:cs typeface="Calibri"/>
              </a:rPr>
              <a:t>minimize</a:t>
            </a:r>
            <a:r>
              <a:rPr sz="2400" dirty="0">
                <a:latin typeface="Calibri"/>
                <a:cs typeface="Calibri"/>
              </a:rPr>
              <a:t>	</a:t>
            </a:r>
            <a:r>
              <a:rPr sz="2400" spc="-25" dirty="0">
                <a:latin typeface="Calibri"/>
                <a:cs typeface="Calibri"/>
              </a:rPr>
              <a:t>or</a:t>
            </a:r>
            <a:r>
              <a:rPr sz="2400" dirty="0">
                <a:latin typeface="Calibri"/>
                <a:cs typeface="Calibri"/>
              </a:rPr>
              <a:t>	</a:t>
            </a:r>
            <a:r>
              <a:rPr sz="2400" spc="-10" dirty="0">
                <a:latin typeface="Calibri"/>
                <a:cs typeface="Calibri"/>
              </a:rPr>
              <a:t>avoid</a:t>
            </a:r>
            <a:r>
              <a:rPr sz="2400" dirty="0">
                <a:latin typeface="Calibri"/>
                <a:cs typeface="Calibri"/>
              </a:rPr>
              <a:t>	</a:t>
            </a:r>
            <a:r>
              <a:rPr sz="2400" spc="-25" dirty="0">
                <a:latin typeface="Calibri"/>
                <a:cs typeface="Calibri"/>
              </a:rPr>
              <a:t>the</a:t>
            </a:r>
            <a:r>
              <a:rPr sz="2400" dirty="0">
                <a:latin typeface="Calibri"/>
                <a:cs typeface="Calibri"/>
              </a:rPr>
              <a:t>	</a:t>
            </a:r>
            <a:r>
              <a:rPr sz="2400" spc="-10" dirty="0">
                <a:latin typeface="Calibri"/>
                <a:cs typeface="Calibri"/>
              </a:rPr>
              <a:t>effort</a:t>
            </a:r>
            <a:r>
              <a:rPr sz="2400" dirty="0">
                <a:latin typeface="Calibri"/>
                <a:cs typeface="Calibri"/>
              </a:rPr>
              <a:t>	</a:t>
            </a:r>
            <a:r>
              <a:rPr sz="2400" spc="-25" dirty="0">
                <a:latin typeface="Calibri"/>
                <a:cs typeface="Calibri"/>
              </a:rPr>
              <a:t>to</a:t>
            </a:r>
            <a:r>
              <a:rPr sz="2400" dirty="0">
                <a:latin typeface="Calibri"/>
                <a:cs typeface="Calibri"/>
              </a:rPr>
              <a:t>	</a:t>
            </a:r>
            <a:r>
              <a:rPr sz="2400" spc="-10" dirty="0">
                <a:latin typeface="Calibri"/>
                <a:cs typeface="Calibri"/>
              </a:rPr>
              <a:t>follow</a:t>
            </a:r>
            <a:r>
              <a:rPr sz="2400" dirty="0">
                <a:latin typeface="Calibri"/>
                <a:cs typeface="Calibri"/>
              </a:rPr>
              <a:t>	</a:t>
            </a:r>
            <a:r>
              <a:rPr sz="2400" spc="-10" dirty="0">
                <a:latin typeface="Calibri"/>
                <a:cs typeface="Calibri"/>
              </a:rPr>
              <a:t>through</a:t>
            </a:r>
            <a:r>
              <a:rPr sz="2400" dirty="0">
                <a:latin typeface="Calibri"/>
                <a:cs typeface="Calibri"/>
              </a:rPr>
              <a:t>	</a:t>
            </a:r>
            <a:r>
              <a:rPr sz="2400" spc="-25" dirty="0">
                <a:latin typeface="Calibri"/>
                <a:cs typeface="Calibri"/>
              </a:rPr>
              <a:t>on 	</a:t>
            </a:r>
            <a:r>
              <a:rPr sz="2400" spc="-10" dirty="0">
                <a:latin typeface="Calibri"/>
                <a:cs typeface="Calibri"/>
              </a:rPr>
              <a:t>estimating</a:t>
            </a:r>
            <a:r>
              <a:rPr sz="2400" spc="-65" dirty="0">
                <a:latin typeface="Calibri"/>
                <a:cs typeface="Calibri"/>
              </a:rPr>
              <a:t> </a:t>
            </a:r>
            <a:r>
              <a:rPr sz="2400" dirty="0">
                <a:latin typeface="Calibri"/>
                <a:cs typeface="Calibri"/>
              </a:rPr>
              <a:t>project</a:t>
            </a:r>
            <a:r>
              <a:rPr sz="2400" spc="-65" dirty="0">
                <a:latin typeface="Calibri"/>
                <a:cs typeface="Calibri"/>
              </a:rPr>
              <a:t> </a:t>
            </a:r>
            <a:r>
              <a:rPr sz="2400" dirty="0">
                <a:latin typeface="Calibri"/>
                <a:cs typeface="Calibri"/>
              </a:rPr>
              <a:t>time</a:t>
            </a:r>
            <a:r>
              <a:rPr sz="2400" spc="-55" dirty="0">
                <a:latin typeface="Calibri"/>
                <a:cs typeface="Calibri"/>
              </a:rPr>
              <a:t> </a:t>
            </a:r>
            <a:r>
              <a:rPr sz="2400" dirty="0">
                <a:latin typeface="Calibri"/>
                <a:cs typeface="Calibri"/>
              </a:rPr>
              <a:t>and</a:t>
            </a:r>
            <a:r>
              <a:rPr sz="2400" spc="-60" dirty="0">
                <a:latin typeface="Calibri"/>
                <a:cs typeface="Calibri"/>
              </a:rPr>
              <a:t> </a:t>
            </a:r>
            <a:r>
              <a:rPr sz="2400" dirty="0">
                <a:latin typeface="Calibri"/>
                <a:cs typeface="Calibri"/>
              </a:rPr>
              <a:t>cost.</a:t>
            </a:r>
            <a:r>
              <a:rPr sz="2400" spc="-65" dirty="0">
                <a:latin typeface="Calibri"/>
                <a:cs typeface="Calibri"/>
              </a:rPr>
              <a:t> </a:t>
            </a:r>
            <a:r>
              <a:rPr sz="2400" dirty="0">
                <a:latin typeface="Calibri"/>
                <a:cs typeface="Calibri"/>
              </a:rPr>
              <a:t>This</a:t>
            </a:r>
            <a:r>
              <a:rPr sz="2400" spc="-60" dirty="0">
                <a:latin typeface="Calibri"/>
                <a:cs typeface="Calibri"/>
              </a:rPr>
              <a:t> </a:t>
            </a:r>
            <a:r>
              <a:rPr sz="2400" dirty="0">
                <a:latin typeface="Calibri"/>
                <a:cs typeface="Calibri"/>
              </a:rPr>
              <a:t>attitude</a:t>
            </a:r>
            <a:r>
              <a:rPr sz="2400" spc="-50" dirty="0">
                <a:latin typeface="Calibri"/>
                <a:cs typeface="Calibri"/>
              </a:rPr>
              <a:t> </a:t>
            </a:r>
            <a:r>
              <a:rPr sz="2400" dirty="0">
                <a:latin typeface="Calibri"/>
                <a:cs typeface="Calibri"/>
              </a:rPr>
              <a:t>is</a:t>
            </a:r>
            <a:r>
              <a:rPr sz="2400" spc="-65" dirty="0">
                <a:latin typeface="Calibri"/>
                <a:cs typeface="Calibri"/>
              </a:rPr>
              <a:t> </a:t>
            </a:r>
            <a:r>
              <a:rPr sz="2400" dirty="0">
                <a:latin typeface="Calibri"/>
                <a:cs typeface="Calibri"/>
              </a:rPr>
              <a:t>a</a:t>
            </a:r>
            <a:r>
              <a:rPr sz="2400" spc="-55" dirty="0">
                <a:latin typeface="Calibri"/>
                <a:cs typeface="Calibri"/>
              </a:rPr>
              <a:t> </a:t>
            </a:r>
            <a:r>
              <a:rPr sz="2400" dirty="0">
                <a:latin typeface="Calibri"/>
                <a:cs typeface="Calibri"/>
              </a:rPr>
              <a:t>huge</a:t>
            </a:r>
            <a:r>
              <a:rPr sz="2400" spc="-60" dirty="0">
                <a:latin typeface="Calibri"/>
                <a:cs typeface="Calibri"/>
              </a:rPr>
              <a:t> </a:t>
            </a:r>
            <a:r>
              <a:rPr sz="2400" spc="-10" dirty="0">
                <a:latin typeface="Calibri"/>
                <a:cs typeface="Calibri"/>
              </a:rPr>
              <a:t>mistake</a:t>
            </a:r>
            <a:r>
              <a:rPr sz="2400" spc="-50" dirty="0">
                <a:latin typeface="Calibri"/>
                <a:cs typeface="Calibri"/>
              </a:rPr>
              <a:t> </a:t>
            </a:r>
            <a:r>
              <a:rPr sz="2400" dirty="0">
                <a:latin typeface="Calibri"/>
                <a:cs typeface="Calibri"/>
              </a:rPr>
              <a:t>and</a:t>
            </a:r>
            <a:r>
              <a:rPr sz="2400" spc="-60" dirty="0">
                <a:latin typeface="Calibri"/>
                <a:cs typeface="Calibri"/>
              </a:rPr>
              <a:t> </a:t>
            </a:r>
            <a:r>
              <a:rPr sz="2400" spc="-10" dirty="0">
                <a:latin typeface="Calibri"/>
                <a:cs typeface="Calibri"/>
              </a:rPr>
              <a:t>costly.</a:t>
            </a:r>
            <a:endParaRPr sz="2400" dirty="0">
              <a:latin typeface="Calibri"/>
              <a:cs typeface="Calibri"/>
            </a:endParaRPr>
          </a:p>
          <a:p>
            <a:pPr marL="240029" marR="5715" indent="-227329">
              <a:lnSpc>
                <a:spcPts val="2620"/>
              </a:lnSpc>
              <a:spcBef>
                <a:spcPts val="895"/>
              </a:spcBef>
              <a:buFont typeface="Arial MT"/>
              <a:buChar char="•"/>
              <a:tabLst>
                <a:tab pos="241300" algn="l"/>
              </a:tabLst>
            </a:pPr>
            <a:r>
              <a:rPr sz="2400" dirty="0">
                <a:latin typeface="Calibri"/>
                <a:cs typeface="Calibri"/>
              </a:rPr>
              <a:t>There</a:t>
            </a:r>
            <a:r>
              <a:rPr sz="2400" spc="150" dirty="0">
                <a:latin typeface="Calibri"/>
                <a:cs typeface="Calibri"/>
              </a:rPr>
              <a:t> </a:t>
            </a:r>
            <a:r>
              <a:rPr sz="2400" dirty="0">
                <a:latin typeface="Calibri"/>
                <a:cs typeface="Calibri"/>
              </a:rPr>
              <a:t>are</a:t>
            </a:r>
            <a:r>
              <a:rPr sz="2400" spc="145" dirty="0">
                <a:latin typeface="Calibri"/>
                <a:cs typeface="Calibri"/>
              </a:rPr>
              <a:t> </a:t>
            </a:r>
            <a:r>
              <a:rPr sz="2400" dirty="0">
                <a:latin typeface="Calibri"/>
                <a:cs typeface="Calibri"/>
              </a:rPr>
              <a:t>important</a:t>
            </a:r>
            <a:r>
              <a:rPr sz="2400" spc="145" dirty="0">
                <a:latin typeface="Calibri"/>
                <a:cs typeface="Calibri"/>
              </a:rPr>
              <a:t> </a:t>
            </a:r>
            <a:r>
              <a:rPr sz="2400" dirty="0">
                <a:latin typeface="Calibri"/>
                <a:cs typeface="Calibri"/>
              </a:rPr>
              <a:t>reasons</a:t>
            </a:r>
            <a:r>
              <a:rPr sz="2400" spc="145" dirty="0">
                <a:latin typeface="Calibri"/>
                <a:cs typeface="Calibri"/>
              </a:rPr>
              <a:t> </a:t>
            </a:r>
            <a:r>
              <a:rPr sz="2400" dirty="0">
                <a:latin typeface="Calibri"/>
                <a:cs typeface="Calibri"/>
              </a:rPr>
              <a:t>to</a:t>
            </a:r>
            <a:r>
              <a:rPr sz="2400" spc="140" dirty="0">
                <a:latin typeface="Calibri"/>
                <a:cs typeface="Calibri"/>
              </a:rPr>
              <a:t> </a:t>
            </a:r>
            <a:r>
              <a:rPr sz="2400" dirty="0">
                <a:latin typeface="Calibri"/>
                <a:cs typeface="Calibri"/>
              </a:rPr>
              <a:t>make</a:t>
            </a:r>
            <a:r>
              <a:rPr sz="2400" spc="155" dirty="0">
                <a:latin typeface="Calibri"/>
                <a:cs typeface="Calibri"/>
              </a:rPr>
              <a:t> </a:t>
            </a:r>
            <a:r>
              <a:rPr sz="2400" dirty="0">
                <a:latin typeface="Calibri"/>
                <a:cs typeface="Calibri"/>
              </a:rPr>
              <a:t>the</a:t>
            </a:r>
            <a:r>
              <a:rPr sz="2400" spc="145" dirty="0">
                <a:latin typeface="Calibri"/>
                <a:cs typeface="Calibri"/>
              </a:rPr>
              <a:t> </a:t>
            </a:r>
            <a:r>
              <a:rPr sz="2400" dirty="0">
                <a:latin typeface="Calibri"/>
                <a:cs typeface="Calibri"/>
              </a:rPr>
              <a:t>effort</a:t>
            </a:r>
            <a:r>
              <a:rPr sz="2400" spc="145" dirty="0">
                <a:latin typeface="Calibri"/>
                <a:cs typeface="Calibri"/>
              </a:rPr>
              <a:t> </a:t>
            </a:r>
            <a:r>
              <a:rPr sz="2400" dirty="0">
                <a:latin typeface="Calibri"/>
                <a:cs typeface="Calibri"/>
              </a:rPr>
              <a:t>and</a:t>
            </a:r>
            <a:r>
              <a:rPr sz="2400" spc="145" dirty="0">
                <a:latin typeface="Calibri"/>
                <a:cs typeface="Calibri"/>
              </a:rPr>
              <a:t> </a:t>
            </a:r>
            <a:r>
              <a:rPr sz="2400" dirty="0">
                <a:latin typeface="Calibri"/>
                <a:cs typeface="Calibri"/>
              </a:rPr>
              <a:t>bear</a:t>
            </a:r>
            <a:r>
              <a:rPr sz="2400" spc="145" dirty="0">
                <a:latin typeface="Calibri"/>
                <a:cs typeface="Calibri"/>
              </a:rPr>
              <a:t> </a:t>
            </a:r>
            <a:r>
              <a:rPr sz="2400" dirty="0">
                <a:latin typeface="Calibri"/>
                <a:cs typeface="Calibri"/>
              </a:rPr>
              <a:t>the</a:t>
            </a:r>
            <a:r>
              <a:rPr sz="2400" spc="150" dirty="0">
                <a:latin typeface="Calibri"/>
                <a:cs typeface="Calibri"/>
              </a:rPr>
              <a:t> </a:t>
            </a:r>
            <a:r>
              <a:rPr sz="2400" dirty="0">
                <a:latin typeface="Calibri"/>
                <a:cs typeface="Calibri"/>
              </a:rPr>
              <a:t>cost</a:t>
            </a:r>
            <a:r>
              <a:rPr sz="2400" spc="135" dirty="0">
                <a:latin typeface="Calibri"/>
                <a:cs typeface="Calibri"/>
              </a:rPr>
              <a:t> </a:t>
            </a:r>
            <a:r>
              <a:rPr sz="2400" dirty="0">
                <a:latin typeface="Calibri"/>
                <a:cs typeface="Calibri"/>
              </a:rPr>
              <a:t>of</a:t>
            </a:r>
            <a:r>
              <a:rPr sz="2400" spc="150" dirty="0">
                <a:latin typeface="Calibri"/>
                <a:cs typeface="Calibri"/>
              </a:rPr>
              <a:t> </a:t>
            </a:r>
            <a:r>
              <a:rPr sz="2400" spc="-10" dirty="0">
                <a:latin typeface="Calibri"/>
                <a:cs typeface="Calibri"/>
              </a:rPr>
              <a:t>estimating 	</a:t>
            </a:r>
            <a:r>
              <a:rPr sz="2400" dirty="0">
                <a:latin typeface="Calibri"/>
                <a:cs typeface="Calibri"/>
              </a:rPr>
              <a:t>for</a:t>
            </a:r>
            <a:r>
              <a:rPr sz="2400" spc="-75" dirty="0">
                <a:latin typeface="Calibri"/>
                <a:cs typeface="Calibri"/>
              </a:rPr>
              <a:t> </a:t>
            </a:r>
            <a:r>
              <a:rPr sz="2400" dirty="0">
                <a:latin typeface="Calibri"/>
                <a:cs typeface="Calibri"/>
              </a:rPr>
              <a:t>your</a:t>
            </a:r>
            <a:r>
              <a:rPr sz="2400" spc="-75" dirty="0">
                <a:latin typeface="Calibri"/>
                <a:cs typeface="Calibri"/>
              </a:rPr>
              <a:t> </a:t>
            </a:r>
            <a:r>
              <a:rPr sz="2400" spc="-10" dirty="0">
                <a:latin typeface="Calibri"/>
                <a:cs typeface="Calibri"/>
              </a:rPr>
              <a:t>project:</a:t>
            </a:r>
            <a:endParaRPr sz="2400" dirty="0">
              <a:latin typeface="Calibri"/>
              <a:cs typeface="Calibri"/>
            </a:endParaRPr>
          </a:p>
          <a:p>
            <a:pPr marL="697865" lvl="1" indent="-227965">
              <a:lnSpc>
                <a:spcPct val="100000"/>
              </a:lnSpc>
              <a:spcBef>
                <a:spcPts val="254"/>
              </a:spcBef>
              <a:buFont typeface="Arial MT"/>
              <a:buChar char="•"/>
              <a:tabLst>
                <a:tab pos="697865" algn="l"/>
              </a:tabLst>
            </a:pPr>
            <a:r>
              <a:rPr sz="2000" spc="-85" dirty="0">
                <a:latin typeface="Calibri"/>
                <a:cs typeface="Calibri"/>
              </a:rPr>
              <a:t>To</a:t>
            </a:r>
            <a:r>
              <a:rPr sz="2000" spc="-30" dirty="0">
                <a:latin typeface="Calibri"/>
                <a:cs typeface="Calibri"/>
              </a:rPr>
              <a:t> </a:t>
            </a:r>
            <a:r>
              <a:rPr sz="2000" dirty="0">
                <a:latin typeface="Calibri"/>
                <a:cs typeface="Calibri"/>
              </a:rPr>
              <a:t>support</a:t>
            </a:r>
            <a:r>
              <a:rPr sz="2000" spc="-35" dirty="0">
                <a:latin typeface="Calibri"/>
                <a:cs typeface="Calibri"/>
              </a:rPr>
              <a:t> </a:t>
            </a:r>
            <a:r>
              <a:rPr sz="2000" dirty="0">
                <a:latin typeface="Calibri"/>
                <a:cs typeface="Calibri"/>
              </a:rPr>
              <a:t>good</a:t>
            </a:r>
            <a:r>
              <a:rPr sz="2000" spc="-30" dirty="0">
                <a:latin typeface="Calibri"/>
                <a:cs typeface="Calibri"/>
              </a:rPr>
              <a:t> </a:t>
            </a:r>
            <a:r>
              <a:rPr sz="2000" spc="-10" dirty="0">
                <a:latin typeface="Calibri"/>
                <a:cs typeface="Calibri"/>
              </a:rPr>
              <a:t>decisions</a:t>
            </a:r>
            <a:endParaRPr sz="2000" dirty="0">
              <a:latin typeface="Calibri"/>
              <a:cs typeface="Calibri"/>
            </a:endParaRPr>
          </a:p>
          <a:p>
            <a:pPr marL="697865" lvl="1" indent="-227965">
              <a:lnSpc>
                <a:spcPct val="100000"/>
              </a:lnSpc>
              <a:spcBef>
                <a:spcPts val="310"/>
              </a:spcBef>
              <a:buFont typeface="Arial MT"/>
              <a:buChar char="•"/>
              <a:tabLst>
                <a:tab pos="697865" algn="l"/>
              </a:tabLst>
            </a:pPr>
            <a:r>
              <a:rPr sz="2000" spc="-85" dirty="0">
                <a:solidFill>
                  <a:srgbClr val="C00000"/>
                </a:solidFill>
                <a:latin typeface="Calibri"/>
                <a:cs typeface="Calibri"/>
              </a:rPr>
              <a:t>To</a:t>
            </a:r>
            <a:r>
              <a:rPr sz="2000" spc="-30" dirty="0">
                <a:solidFill>
                  <a:srgbClr val="C00000"/>
                </a:solidFill>
                <a:latin typeface="Calibri"/>
                <a:cs typeface="Calibri"/>
              </a:rPr>
              <a:t> </a:t>
            </a:r>
            <a:r>
              <a:rPr sz="2000" dirty="0">
                <a:solidFill>
                  <a:srgbClr val="C00000"/>
                </a:solidFill>
                <a:latin typeface="Calibri"/>
                <a:cs typeface="Calibri"/>
              </a:rPr>
              <a:t>schedule</a:t>
            </a:r>
            <a:r>
              <a:rPr sz="2000" spc="-70" dirty="0">
                <a:solidFill>
                  <a:srgbClr val="C00000"/>
                </a:solidFill>
                <a:latin typeface="Calibri"/>
                <a:cs typeface="Calibri"/>
              </a:rPr>
              <a:t> </a:t>
            </a:r>
            <a:r>
              <a:rPr sz="2000" spc="-20" dirty="0">
                <a:solidFill>
                  <a:srgbClr val="C00000"/>
                </a:solidFill>
                <a:latin typeface="Calibri"/>
                <a:cs typeface="Calibri"/>
              </a:rPr>
              <a:t>work</a:t>
            </a:r>
            <a:endParaRPr sz="2000" dirty="0">
              <a:latin typeface="Calibri"/>
              <a:cs typeface="Calibri"/>
            </a:endParaRPr>
          </a:p>
          <a:p>
            <a:pPr marL="697865" lvl="1" indent="-227965">
              <a:lnSpc>
                <a:spcPct val="100000"/>
              </a:lnSpc>
              <a:spcBef>
                <a:spcPts val="195"/>
              </a:spcBef>
              <a:buFont typeface="Arial MT"/>
              <a:buChar char="•"/>
              <a:tabLst>
                <a:tab pos="697865" algn="l"/>
              </a:tabLst>
            </a:pPr>
            <a:r>
              <a:rPr sz="2000" spc="-85" dirty="0">
                <a:latin typeface="Calibri"/>
                <a:cs typeface="Calibri"/>
              </a:rPr>
              <a:t>To</a:t>
            </a:r>
            <a:r>
              <a:rPr sz="2000" spc="-30" dirty="0">
                <a:latin typeface="Calibri"/>
                <a:cs typeface="Calibri"/>
              </a:rPr>
              <a:t> </a:t>
            </a:r>
            <a:r>
              <a:rPr sz="2000" spc="-10" dirty="0">
                <a:latin typeface="Calibri"/>
                <a:cs typeface="Calibri"/>
              </a:rPr>
              <a:t>determine</a:t>
            </a:r>
            <a:r>
              <a:rPr sz="2000" spc="-50" dirty="0">
                <a:latin typeface="Calibri"/>
                <a:cs typeface="Calibri"/>
              </a:rPr>
              <a:t> </a:t>
            </a:r>
            <a:r>
              <a:rPr sz="2000" dirty="0">
                <a:latin typeface="Calibri"/>
                <a:cs typeface="Calibri"/>
              </a:rPr>
              <a:t>how</a:t>
            </a:r>
            <a:r>
              <a:rPr sz="2000" spc="-40" dirty="0">
                <a:latin typeface="Calibri"/>
                <a:cs typeface="Calibri"/>
              </a:rPr>
              <a:t> </a:t>
            </a:r>
            <a:r>
              <a:rPr sz="2000" dirty="0">
                <a:latin typeface="Calibri"/>
                <a:cs typeface="Calibri"/>
              </a:rPr>
              <a:t>long</a:t>
            </a:r>
            <a:r>
              <a:rPr sz="2000" spc="-45" dirty="0">
                <a:latin typeface="Calibri"/>
                <a:cs typeface="Calibri"/>
              </a:rPr>
              <a:t> </a:t>
            </a:r>
            <a:r>
              <a:rPr sz="2000" dirty="0">
                <a:latin typeface="Calibri"/>
                <a:cs typeface="Calibri"/>
              </a:rPr>
              <a:t>the</a:t>
            </a:r>
            <a:r>
              <a:rPr sz="2000" spc="-30" dirty="0">
                <a:latin typeface="Calibri"/>
                <a:cs typeface="Calibri"/>
              </a:rPr>
              <a:t> </a:t>
            </a:r>
            <a:r>
              <a:rPr sz="2000" dirty="0">
                <a:latin typeface="Calibri"/>
                <a:cs typeface="Calibri"/>
              </a:rPr>
              <a:t>project</a:t>
            </a:r>
            <a:r>
              <a:rPr sz="2000" spc="-30" dirty="0">
                <a:latin typeface="Calibri"/>
                <a:cs typeface="Calibri"/>
              </a:rPr>
              <a:t> </a:t>
            </a:r>
            <a:r>
              <a:rPr sz="2000" dirty="0">
                <a:latin typeface="Calibri"/>
                <a:cs typeface="Calibri"/>
              </a:rPr>
              <a:t>should</a:t>
            </a:r>
            <a:r>
              <a:rPr sz="2000" spc="-40" dirty="0">
                <a:latin typeface="Calibri"/>
                <a:cs typeface="Calibri"/>
              </a:rPr>
              <a:t> </a:t>
            </a:r>
            <a:r>
              <a:rPr sz="2000" spc="-10" dirty="0">
                <a:latin typeface="Calibri"/>
                <a:cs typeface="Calibri"/>
              </a:rPr>
              <a:t>take</a:t>
            </a:r>
            <a:r>
              <a:rPr sz="2000" spc="-30" dirty="0">
                <a:latin typeface="Calibri"/>
                <a:cs typeface="Calibri"/>
              </a:rPr>
              <a:t> </a:t>
            </a:r>
            <a:r>
              <a:rPr sz="2000" dirty="0">
                <a:latin typeface="Calibri"/>
                <a:cs typeface="Calibri"/>
              </a:rPr>
              <a:t>and</a:t>
            </a:r>
            <a:r>
              <a:rPr sz="2000" spc="-40" dirty="0">
                <a:latin typeface="Calibri"/>
                <a:cs typeface="Calibri"/>
              </a:rPr>
              <a:t> </a:t>
            </a:r>
            <a:r>
              <a:rPr sz="2000" dirty="0">
                <a:latin typeface="Calibri"/>
                <a:cs typeface="Calibri"/>
              </a:rPr>
              <a:t>its</a:t>
            </a:r>
            <a:r>
              <a:rPr sz="2000" spc="-30" dirty="0">
                <a:latin typeface="Calibri"/>
                <a:cs typeface="Calibri"/>
              </a:rPr>
              <a:t> </a:t>
            </a:r>
            <a:r>
              <a:rPr sz="2000" spc="-20" dirty="0">
                <a:latin typeface="Calibri"/>
                <a:cs typeface="Calibri"/>
              </a:rPr>
              <a:t>cost</a:t>
            </a:r>
            <a:endParaRPr sz="2000" dirty="0">
              <a:latin typeface="Calibri"/>
              <a:cs typeface="Calibri"/>
            </a:endParaRPr>
          </a:p>
          <a:p>
            <a:pPr marL="697865" lvl="1" indent="-227965">
              <a:lnSpc>
                <a:spcPct val="100000"/>
              </a:lnSpc>
              <a:spcBef>
                <a:spcPts val="310"/>
              </a:spcBef>
              <a:buFont typeface="Arial MT"/>
              <a:buChar char="•"/>
              <a:tabLst>
                <a:tab pos="697865" algn="l"/>
              </a:tabLst>
            </a:pPr>
            <a:r>
              <a:rPr sz="2000" spc="-85" dirty="0">
                <a:solidFill>
                  <a:srgbClr val="C00000"/>
                </a:solidFill>
                <a:latin typeface="Calibri"/>
                <a:cs typeface="Calibri"/>
              </a:rPr>
              <a:t>To</a:t>
            </a:r>
            <a:r>
              <a:rPr sz="2000" spc="-30" dirty="0">
                <a:solidFill>
                  <a:srgbClr val="C00000"/>
                </a:solidFill>
                <a:latin typeface="Calibri"/>
                <a:cs typeface="Calibri"/>
              </a:rPr>
              <a:t> </a:t>
            </a:r>
            <a:r>
              <a:rPr sz="2000" spc="-10" dirty="0">
                <a:solidFill>
                  <a:srgbClr val="C00000"/>
                </a:solidFill>
                <a:latin typeface="Calibri"/>
                <a:cs typeface="Calibri"/>
              </a:rPr>
              <a:t>determine</a:t>
            </a:r>
            <a:r>
              <a:rPr sz="2000" spc="-60" dirty="0">
                <a:solidFill>
                  <a:srgbClr val="C00000"/>
                </a:solidFill>
                <a:latin typeface="Calibri"/>
                <a:cs typeface="Calibri"/>
              </a:rPr>
              <a:t> </a:t>
            </a:r>
            <a:r>
              <a:rPr sz="2000" dirty="0">
                <a:solidFill>
                  <a:srgbClr val="C00000"/>
                </a:solidFill>
                <a:latin typeface="Calibri"/>
                <a:cs typeface="Calibri"/>
              </a:rPr>
              <a:t>whether</a:t>
            </a:r>
            <a:r>
              <a:rPr sz="2000" spc="-45" dirty="0">
                <a:solidFill>
                  <a:srgbClr val="C00000"/>
                </a:solidFill>
                <a:latin typeface="Calibri"/>
                <a:cs typeface="Calibri"/>
              </a:rPr>
              <a:t> </a:t>
            </a:r>
            <a:r>
              <a:rPr sz="2000" dirty="0">
                <a:solidFill>
                  <a:srgbClr val="C00000"/>
                </a:solidFill>
                <a:latin typeface="Calibri"/>
                <a:cs typeface="Calibri"/>
              </a:rPr>
              <a:t>the</a:t>
            </a:r>
            <a:r>
              <a:rPr sz="2000" spc="-35" dirty="0">
                <a:solidFill>
                  <a:srgbClr val="C00000"/>
                </a:solidFill>
                <a:latin typeface="Calibri"/>
                <a:cs typeface="Calibri"/>
              </a:rPr>
              <a:t> </a:t>
            </a:r>
            <a:r>
              <a:rPr sz="2000" dirty="0">
                <a:solidFill>
                  <a:srgbClr val="C00000"/>
                </a:solidFill>
                <a:latin typeface="Calibri"/>
                <a:cs typeface="Calibri"/>
              </a:rPr>
              <a:t>project</a:t>
            </a:r>
            <a:r>
              <a:rPr sz="2000" spc="-40" dirty="0">
                <a:solidFill>
                  <a:srgbClr val="C00000"/>
                </a:solidFill>
                <a:latin typeface="Calibri"/>
                <a:cs typeface="Calibri"/>
              </a:rPr>
              <a:t> </a:t>
            </a:r>
            <a:r>
              <a:rPr sz="2000" dirty="0">
                <a:solidFill>
                  <a:srgbClr val="C00000"/>
                </a:solidFill>
                <a:latin typeface="Calibri"/>
                <a:cs typeface="Calibri"/>
              </a:rPr>
              <a:t>is</a:t>
            </a:r>
            <a:r>
              <a:rPr sz="2000" spc="-35" dirty="0">
                <a:solidFill>
                  <a:srgbClr val="C00000"/>
                </a:solidFill>
                <a:latin typeface="Calibri"/>
                <a:cs typeface="Calibri"/>
              </a:rPr>
              <a:t> </a:t>
            </a:r>
            <a:r>
              <a:rPr sz="2000" dirty="0">
                <a:solidFill>
                  <a:srgbClr val="C00000"/>
                </a:solidFill>
                <a:latin typeface="Calibri"/>
                <a:cs typeface="Calibri"/>
              </a:rPr>
              <a:t>worth</a:t>
            </a:r>
            <a:r>
              <a:rPr sz="2000" spc="-45" dirty="0">
                <a:solidFill>
                  <a:srgbClr val="C00000"/>
                </a:solidFill>
                <a:latin typeface="Calibri"/>
                <a:cs typeface="Calibri"/>
              </a:rPr>
              <a:t> </a:t>
            </a:r>
            <a:r>
              <a:rPr sz="2000" spc="-10" dirty="0">
                <a:solidFill>
                  <a:srgbClr val="C00000"/>
                </a:solidFill>
                <a:latin typeface="Calibri"/>
                <a:cs typeface="Calibri"/>
              </a:rPr>
              <a:t>doing</a:t>
            </a:r>
            <a:endParaRPr sz="2000" dirty="0">
              <a:latin typeface="Calibri"/>
              <a:cs typeface="Calibri"/>
            </a:endParaRPr>
          </a:p>
          <a:p>
            <a:pPr marL="697865" lvl="1" indent="-227965">
              <a:lnSpc>
                <a:spcPct val="100000"/>
              </a:lnSpc>
              <a:spcBef>
                <a:spcPts val="190"/>
              </a:spcBef>
              <a:buFont typeface="Arial MT"/>
              <a:buChar char="•"/>
              <a:tabLst>
                <a:tab pos="697865" algn="l"/>
              </a:tabLst>
            </a:pPr>
            <a:r>
              <a:rPr sz="2000" spc="-85" dirty="0">
                <a:latin typeface="Calibri"/>
                <a:cs typeface="Calibri"/>
              </a:rPr>
              <a:t>To</a:t>
            </a:r>
            <a:r>
              <a:rPr sz="2000" spc="-30" dirty="0">
                <a:latin typeface="Calibri"/>
                <a:cs typeface="Calibri"/>
              </a:rPr>
              <a:t> </a:t>
            </a:r>
            <a:r>
              <a:rPr sz="2000" dirty="0">
                <a:latin typeface="Calibri"/>
                <a:cs typeface="Calibri"/>
              </a:rPr>
              <a:t>develop</a:t>
            </a:r>
            <a:r>
              <a:rPr sz="2000" spc="-60" dirty="0">
                <a:latin typeface="Calibri"/>
                <a:cs typeface="Calibri"/>
              </a:rPr>
              <a:t> </a:t>
            </a:r>
            <a:r>
              <a:rPr sz="2000" dirty="0">
                <a:latin typeface="Calibri"/>
                <a:cs typeface="Calibri"/>
              </a:rPr>
              <a:t>cash</a:t>
            </a:r>
            <a:r>
              <a:rPr sz="2000" spc="-40" dirty="0">
                <a:latin typeface="Calibri"/>
                <a:cs typeface="Calibri"/>
              </a:rPr>
              <a:t> </a:t>
            </a:r>
            <a:r>
              <a:rPr sz="2000" dirty="0">
                <a:latin typeface="Calibri"/>
                <a:cs typeface="Calibri"/>
              </a:rPr>
              <a:t>flow</a:t>
            </a:r>
            <a:r>
              <a:rPr sz="2000" spc="-45" dirty="0">
                <a:latin typeface="Calibri"/>
                <a:cs typeface="Calibri"/>
              </a:rPr>
              <a:t> </a:t>
            </a:r>
            <a:r>
              <a:rPr sz="2000" spc="-20" dirty="0">
                <a:latin typeface="Calibri"/>
                <a:cs typeface="Calibri"/>
              </a:rPr>
              <a:t>needs</a:t>
            </a:r>
            <a:endParaRPr sz="2000" dirty="0">
              <a:latin typeface="Calibri"/>
              <a:cs typeface="Calibri"/>
            </a:endParaRPr>
          </a:p>
          <a:p>
            <a:pPr marL="697865" lvl="1" indent="-227965">
              <a:lnSpc>
                <a:spcPct val="100000"/>
              </a:lnSpc>
              <a:spcBef>
                <a:spcPts val="290"/>
              </a:spcBef>
              <a:buFont typeface="Arial MT"/>
              <a:buChar char="•"/>
              <a:tabLst>
                <a:tab pos="697865" algn="l"/>
              </a:tabLst>
            </a:pPr>
            <a:r>
              <a:rPr sz="2000" spc="-85" dirty="0">
                <a:solidFill>
                  <a:srgbClr val="C00000"/>
                </a:solidFill>
                <a:latin typeface="Calibri"/>
                <a:cs typeface="Calibri"/>
              </a:rPr>
              <a:t>To</a:t>
            </a:r>
            <a:r>
              <a:rPr sz="2000" spc="-30" dirty="0">
                <a:solidFill>
                  <a:srgbClr val="C00000"/>
                </a:solidFill>
                <a:latin typeface="Calibri"/>
                <a:cs typeface="Calibri"/>
              </a:rPr>
              <a:t> </a:t>
            </a:r>
            <a:r>
              <a:rPr sz="2000" spc="-10" dirty="0">
                <a:solidFill>
                  <a:srgbClr val="C00000"/>
                </a:solidFill>
                <a:latin typeface="Calibri"/>
                <a:cs typeface="Calibri"/>
              </a:rPr>
              <a:t>determine</a:t>
            </a:r>
            <a:r>
              <a:rPr sz="2000" spc="-45" dirty="0">
                <a:solidFill>
                  <a:srgbClr val="C00000"/>
                </a:solidFill>
                <a:latin typeface="Calibri"/>
                <a:cs typeface="Calibri"/>
              </a:rPr>
              <a:t> </a:t>
            </a:r>
            <a:r>
              <a:rPr sz="2000" dirty="0">
                <a:solidFill>
                  <a:srgbClr val="C00000"/>
                </a:solidFill>
                <a:latin typeface="Calibri"/>
                <a:cs typeface="Calibri"/>
              </a:rPr>
              <a:t>how</a:t>
            </a:r>
            <a:r>
              <a:rPr sz="2000" spc="-40" dirty="0">
                <a:solidFill>
                  <a:srgbClr val="C00000"/>
                </a:solidFill>
                <a:latin typeface="Calibri"/>
                <a:cs typeface="Calibri"/>
              </a:rPr>
              <a:t> </a:t>
            </a:r>
            <a:r>
              <a:rPr sz="2000" dirty="0">
                <a:solidFill>
                  <a:srgbClr val="C00000"/>
                </a:solidFill>
                <a:latin typeface="Calibri"/>
                <a:cs typeface="Calibri"/>
              </a:rPr>
              <a:t>well</a:t>
            </a:r>
            <a:r>
              <a:rPr sz="2000" spc="-30" dirty="0">
                <a:solidFill>
                  <a:srgbClr val="C00000"/>
                </a:solidFill>
                <a:latin typeface="Calibri"/>
                <a:cs typeface="Calibri"/>
              </a:rPr>
              <a:t> </a:t>
            </a:r>
            <a:r>
              <a:rPr sz="2000" dirty="0">
                <a:solidFill>
                  <a:srgbClr val="C00000"/>
                </a:solidFill>
                <a:latin typeface="Calibri"/>
                <a:cs typeface="Calibri"/>
              </a:rPr>
              <a:t>the</a:t>
            </a:r>
            <a:r>
              <a:rPr sz="2000" spc="-30" dirty="0">
                <a:solidFill>
                  <a:srgbClr val="C00000"/>
                </a:solidFill>
                <a:latin typeface="Calibri"/>
                <a:cs typeface="Calibri"/>
              </a:rPr>
              <a:t> </a:t>
            </a:r>
            <a:r>
              <a:rPr sz="2000" dirty="0">
                <a:solidFill>
                  <a:srgbClr val="C00000"/>
                </a:solidFill>
                <a:latin typeface="Calibri"/>
                <a:cs typeface="Calibri"/>
              </a:rPr>
              <a:t>project</a:t>
            </a:r>
            <a:r>
              <a:rPr sz="2000" spc="-30" dirty="0">
                <a:solidFill>
                  <a:srgbClr val="C00000"/>
                </a:solidFill>
                <a:latin typeface="Calibri"/>
                <a:cs typeface="Calibri"/>
              </a:rPr>
              <a:t> </a:t>
            </a:r>
            <a:r>
              <a:rPr sz="2000" dirty="0">
                <a:solidFill>
                  <a:srgbClr val="C00000"/>
                </a:solidFill>
                <a:latin typeface="Calibri"/>
                <a:cs typeface="Calibri"/>
              </a:rPr>
              <a:t>is</a:t>
            </a:r>
            <a:r>
              <a:rPr sz="2000" spc="-30" dirty="0">
                <a:solidFill>
                  <a:srgbClr val="C00000"/>
                </a:solidFill>
                <a:latin typeface="Calibri"/>
                <a:cs typeface="Calibri"/>
              </a:rPr>
              <a:t> </a:t>
            </a:r>
            <a:r>
              <a:rPr sz="2000" spc="-10" dirty="0">
                <a:solidFill>
                  <a:srgbClr val="C00000"/>
                </a:solidFill>
                <a:latin typeface="Calibri"/>
                <a:cs typeface="Calibri"/>
              </a:rPr>
              <a:t>progressing</a:t>
            </a:r>
            <a:endParaRPr sz="2000" dirty="0">
              <a:latin typeface="Calibri"/>
              <a:cs typeface="Calibri"/>
            </a:endParaRPr>
          </a:p>
          <a:p>
            <a:pPr marL="240029" marR="5080" indent="-227329" algn="just">
              <a:lnSpc>
                <a:spcPct val="90400"/>
              </a:lnSpc>
              <a:spcBef>
                <a:spcPts val="980"/>
              </a:spcBef>
              <a:buFont typeface="Arial MT"/>
              <a:buChar char="•"/>
              <a:tabLst>
                <a:tab pos="241300" algn="l"/>
              </a:tabLst>
            </a:pPr>
            <a:r>
              <a:rPr sz="2400" dirty="0">
                <a:latin typeface="Calibri"/>
                <a:cs typeface="Calibri"/>
              </a:rPr>
              <a:t>Typical</a:t>
            </a:r>
            <a:r>
              <a:rPr sz="2400" spc="55" dirty="0">
                <a:latin typeface="Calibri"/>
                <a:cs typeface="Calibri"/>
              </a:rPr>
              <a:t> </a:t>
            </a:r>
            <a:r>
              <a:rPr sz="2400" dirty="0">
                <a:latin typeface="Calibri"/>
                <a:cs typeface="Calibri"/>
              </a:rPr>
              <a:t>statement</a:t>
            </a:r>
            <a:r>
              <a:rPr sz="2400" spc="50" dirty="0">
                <a:latin typeface="Calibri"/>
                <a:cs typeface="Calibri"/>
              </a:rPr>
              <a:t> </a:t>
            </a:r>
            <a:r>
              <a:rPr sz="2400" dirty="0">
                <a:latin typeface="Calibri"/>
                <a:cs typeface="Calibri"/>
              </a:rPr>
              <a:t>in</a:t>
            </a:r>
            <a:r>
              <a:rPr sz="2400" spc="60" dirty="0">
                <a:latin typeface="Calibri"/>
                <a:cs typeface="Calibri"/>
              </a:rPr>
              <a:t> </a:t>
            </a:r>
            <a:r>
              <a:rPr sz="2400" dirty="0">
                <a:latin typeface="Calibri"/>
                <a:cs typeface="Calibri"/>
              </a:rPr>
              <a:t>the</a:t>
            </a:r>
            <a:r>
              <a:rPr sz="2400" spc="65" dirty="0">
                <a:latin typeface="Calibri"/>
                <a:cs typeface="Calibri"/>
              </a:rPr>
              <a:t> </a:t>
            </a:r>
            <a:r>
              <a:rPr sz="2400" dirty="0">
                <a:latin typeface="Calibri"/>
                <a:cs typeface="Calibri"/>
              </a:rPr>
              <a:t>field</a:t>
            </a:r>
            <a:r>
              <a:rPr sz="2400" spc="60" dirty="0">
                <a:latin typeface="Calibri"/>
                <a:cs typeface="Calibri"/>
              </a:rPr>
              <a:t> </a:t>
            </a:r>
            <a:r>
              <a:rPr sz="2400" dirty="0">
                <a:latin typeface="Calibri"/>
                <a:cs typeface="Calibri"/>
              </a:rPr>
              <a:t>is</a:t>
            </a:r>
            <a:r>
              <a:rPr sz="2400" spc="55" dirty="0">
                <a:latin typeface="Calibri"/>
                <a:cs typeface="Calibri"/>
              </a:rPr>
              <a:t> </a:t>
            </a:r>
            <a:r>
              <a:rPr sz="2400" dirty="0">
                <a:latin typeface="Calibri"/>
                <a:cs typeface="Calibri"/>
              </a:rPr>
              <a:t>the</a:t>
            </a:r>
            <a:r>
              <a:rPr sz="2400" spc="65" dirty="0">
                <a:latin typeface="Calibri"/>
                <a:cs typeface="Calibri"/>
              </a:rPr>
              <a:t> </a:t>
            </a:r>
            <a:r>
              <a:rPr sz="2400" dirty="0">
                <a:latin typeface="Calibri"/>
                <a:cs typeface="Calibri"/>
              </a:rPr>
              <a:t>desire</a:t>
            </a:r>
            <a:r>
              <a:rPr sz="2400" spc="60" dirty="0">
                <a:latin typeface="Calibri"/>
                <a:cs typeface="Calibri"/>
              </a:rPr>
              <a:t> </a:t>
            </a:r>
            <a:r>
              <a:rPr sz="2400" dirty="0">
                <a:latin typeface="Calibri"/>
                <a:cs typeface="Calibri"/>
              </a:rPr>
              <a:t>to</a:t>
            </a:r>
            <a:r>
              <a:rPr sz="2400" spc="55" dirty="0">
                <a:latin typeface="Calibri"/>
                <a:cs typeface="Calibri"/>
              </a:rPr>
              <a:t> </a:t>
            </a:r>
            <a:r>
              <a:rPr sz="2400" dirty="0">
                <a:latin typeface="Calibri"/>
                <a:cs typeface="Calibri"/>
              </a:rPr>
              <a:t>“</a:t>
            </a:r>
            <a:r>
              <a:rPr sz="2400" dirty="0">
                <a:solidFill>
                  <a:srgbClr val="262EA4"/>
                </a:solidFill>
                <a:latin typeface="Calibri"/>
                <a:cs typeface="Calibri"/>
              </a:rPr>
              <a:t>have</a:t>
            </a:r>
            <a:r>
              <a:rPr sz="2400" spc="65" dirty="0">
                <a:solidFill>
                  <a:srgbClr val="262EA4"/>
                </a:solidFill>
                <a:latin typeface="Calibri"/>
                <a:cs typeface="Calibri"/>
              </a:rPr>
              <a:t> </a:t>
            </a:r>
            <a:r>
              <a:rPr sz="2400" dirty="0">
                <a:solidFill>
                  <a:srgbClr val="262EA4"/>
                </a:solidFill>
                <a:latin typeface="Calibri"/>
                <a:cs typeface="Calibri"/>
              </a:rPr>
              <a:t>a</a:t>
            </a:r>
            <a:r>
              <a:rPr sz="2400" spc="55" dirty="0">
                <a:solidFill>
                  <a:srgbClr val="262EA4"/>
                </a:solidFill>
                <a:latin typeface="Calibri"/>
                <a:cs typeface="Calibri"/>
              </a:rPr>
              <a:t> </a:t>
            </a:r>
            <a:r>
              <a:rPr sz="2400" dirty="0">
                <a:solidFill>
                  <a:srgbClr val="262EA4"/>
                </a:solidFill>
                <a:latin typeface="Calibri"/>
                <a:cs typeface="Calibri"/>
              </a:rPr>
              <a:t>95%</a:t>
            </a:r>
            <a:r>
              <a:rPr sz="2400" spc="55" dirty="0">
                <a:solidFill>
                  <a:srgbClr val="262EA4"/>
                </a:solidFill>
                <a:latin typeface="Calibri"/>
                <a:cs typeface="Calibri"/>
              </a:rPr>
              <a:t> </a:t>
            </a:r>
            <a:r>
              <a:rPr sz="2400" dirty="0">
                <a:solidFill>
                  <a:srgbClr val="262EA4"/>
                </a:solidFill>
                <a:latin typeface="Calibri"/>
                <a:cs typeface="Calibri"/>
              </a:rPr>
              <a:t>probability</a:t>
            </a:r>
            <a:r>
              <a:rPr sz="2400" spc="60" dirty="0">
                <a:solidFill>
                  <a:srgbClr val="262EA4"/>
                </a:solidFill>
                <a:latin typeface="Calibri"/>
                <a:cs typeface="Calibri"/>
              </a:rPr>
              <a:t> </a:t>
            </a:r>
            <a:r>
              <a:rPr sz="2400" dirty="0">
                <a:solidFill>
                  <a:srgbClr val="262EA4"/>
                </a:solidFill>
                <a:latin typeface="Calibri"/>
                <a:cs typeface="Calibri"/>
              </a:rPr>
              <a:t>of</a:t>
            </a:r>
            <a:r>
              <a:rPr sz="2400" spc="60" dirty="0">
                <a:solidFill>
                  <a:srgbClr val="262EA4"/>
                </a:solidFill>
                <a:latin typeface="Calibri"/>
                <a:cs typeface="Calibri"/>
              </a:rPr>
              <a:t> </a:t>
            </a:r>
            <a:r>
              <a:rPr sz="2400" spc="-10" dirty="0">
                <a:solidFill>
                  <a:srgbClr val="262EA4"/>
                </a:solidFill>
                <a:latin typeface="Calibri"/>
                <a:cs typeface="Calibri"/>
              </a:rPr>
              <a:t>meeting 	</a:t>
            </a:r>
            <a:r>
              <a:rPr sz="2400" dirty="0">
                <a:solidFill>
                  <a:srgbClr val="262EA4"/>
                </a:solidFill>
                <a:latin typeface="Calibri"/>
                <a:cs typeface="Calibri"/>
              </a:rPr>
              <a:t>time</a:t>
            </a:r>
            <a:r>
              <a:rPr sz="2400" spc="60" dirty="0">
                <a:solidFill>
                  <a:srgbClr val="262EA4"/>
                </a:solidFill>
                <a:latin typeface="Calibri"/>
                <a:cs typeface="Calibri"/>
              </a:rPr>
              <a:t> </a:t>
            </a:r>
            <a:r>
              <a:rPr sz="2400" dirty="0">
                <a:solidFill>
                  <a:srgbClr val="262EA4"/>
                </a:solidFill>
                <a:latin typeface="Calibri"/>
                <a:cs typeface="Calibri"/>
              </a:rPr>
              <a:t>and</a:t>
            </a:r>
            <a:r>
              <a:rPr sz="2400" spc="55" dirty="0">
                <a:solidFill>
                  <a:srgbClr val="262EA4"/>
                </a:solidFill>
                <a:latin typeface="Calibri"/>
                <a:cs typeface="Calibri"/>
              </a:rPr>
              <a:t> </a:t>
            </a:r>
            <a:r>
              <a:rPr sz="2400" dirty="0">
                <a:solidFill>
                  <a:srgbClr val="262EA4"/>
                </a:solidFill>
                <a:latin typeface="Calibri"/>
                <a:cs typeface="Calibri"/>
              </a:rPr>
              <a:t>cost</a:t>
            </a:r>
            <a:r>
              <a:rPr sz="2400" spc="55" dirty="0">
                <a:solidFill>
                  <a:srgbClr val="262EA4"/>
                </a:solidFill>
                <a:latin typeface="Calibri"/>
                <a:cs typeface="Calibri"/>
              </a:rPr>
              <a:t> </a:t>
            </a:r>
            <a:r>
              <a:rPr sz="2400" spc="-35" dirty="0">
                <a:solidFill>
                  <a:srgbClr val="262EA4"/>
                </a:solidFill>
                <a:latin typeface="Calibri"/>
                <a:cs typeface="Calibri"/>
              </a:rPr>
              <a:t>estimates</a:t>
            </a:r>
            <a:r>
              <a:rPr sz="2400" spc="-35" dirty="0">
                <a:latin typeface="Calibri"/>
                <a:cs typeface="Calibri"/>
              </a:rPr>
              <a:t>.”.</a:t>
            </a:r>
            <a:r>
              <a:rPr sz="2400" spc="55" dirty="0">
                <a:latin typeface="Calibri"/>
                <a:cs typeface="Calibri"/>
              </a:rPr>
              <a:t> </a:t>
            </a:r>
            <a:r>
              <a:rPr sz="2400" i="1" u="heavy" dirty="0">
                <a:uFill>
                  <a:solidFill>
                    <a:srgbClr val="000000"/>
                  </a:solidFill>
                </a:uFill>
                <a:latin typeface="Calibri"/>
                <a:cs typeface="Calibri"/>
              </a:rPr>
              <a:t>Past</a:t>
            </a:r>
            <a:r>
              <a:rPr sz="2400" i="1" u="heavy" spc="55" dirty="0">
                <a:uFill>
                  <a:solidFill>
                    <a:srgbClr val="000000"/>
                  </a:solidFill>
                </a:uFill>
                <a:latin typeface="Calibri"/>
                <a:cs typeface="Calibri"/>
              </a:rPr>
              <a:t> </a:t>
            </a:r>
            <a:r>
              <a:rPr sz="2400" i="1" u="heavy" dirty="0">
                <a:uFill>
                  <a:solidFill>
                    <a:srgbClr val="000000"/>
                  </a:solidFill>
                </a:uFill>
                <a:latin typeface="Calibri"/>
                <a:cs typeface="Calibri"/>
              </a:rPr>
              <a:t>experience</a:t>
            </a:r>
            <a:r>
              <a:rPr sz="2400" i="1" spc="60" dirty="0">
                <a:latin typeface="Calibri"/>
                <a:cs typeface="Calibri"/>
              </a:rPr>
              <a:t> </a:t>
            </a:r>
            <a:r>
              <a:rPr sz="2400" dirty="0">
                <a:latin typeface="Calibri"/>
                <a:cs typeface="Calibri"/>
              </a:rPr>
              <a:t>is</a:t>
            </a:r>
            <a:r>
              <a:rPr sz="2400" spc="55" dirty="0">
                <a:latin typeface="Calibri"/>
                <a:cs typeface="Calibri"/>
              </a:rPr>
              <a:t> </a:t>
            </a:r>
            <a:r>
              <a:rPr sz="2400" dirty="0">
                <a:latin typeface="Calibri"/>
                <a:cs typeface="Calibri"/>
              </a:rPr>
              <a:t>a</a:t>
            </a:r>
            <a:r>
              <a:rPr sz="2400" spc="55" dirty="0">
                <a:latin typeface="Calibri"/>
                <a:cs typeface="Calibri"/>
              </a:rPr>
              <a:t> </a:t>
            </a:r>
            <a:r>
              <a:rPr sz="2400" dirty="0">
                <a:latin typeface="Calibri"/>
                <a:cs typeface="Calibri"/>
              </a:rPr>
              <a:t>good</a:t>
            </a:r>
            <a:r>
              <a:rPr sz="2400" spc="65" dirty="0">
                <a:latin typeface="Calibri"/>
                <a:cs typeface="Calibri"/>
              </a:rPr>
              <a:t> </a:t>
            </a:r>
            <a:r>
              <a:rPr sz="2400" dirty="0">
                <a:latin typeface="Calibri"/>
                <a:cs typeface="Calibri"/>
              </a:rPr>
              <a:t>starting</a:t>
            </a:r>
            <a:r>
              <a:rPr sz="2400" spc="50" dirty="0">
                <a:latin typeface="Calibri"/>
                <a:cs typeface="Calibri"/>
              </a:rPr>
              <a:t> </a:t>
            </a:r>
            <a:r>
              <a:rPr sz="2400" dirty="0">
                <a:latin typeface="Calibri"/>
                <a:cs typeface="Calibri"/>
              </a:rPr>
              <a:t>point</a:t>
            </a:r>
            <a:r>
              <a:rPr sz="2400" spc="55" dirty="0">
                <a:latin typeface="Calibri"/>
                <a:cs typeface="Calibri"/>
              </a:rPr>
              <a:t> </a:t>
            </a:r>
            <a:r>
              <a:rPr sz="2400" dirty="0">
                <a:latin typeface="Calibri"/>
                <a:cs typeface="Calibri"/>
              </a:rPr>
              <a:t>for</a:t>
            </a:r>
            <a:r>
              <a:rPr sz="2400" spc="60" dirty="0">
                <a:latin typeface="Calibri"/>
                <a:cs typeface="Calibri"/>
              </a:rPr>
              <a:t> </a:t>
            </a:r>
            <a:r>
              <a:rPr sz="2400" spc="-10" dirty="0">
                <a:latin typeface="Calibri"/>
                <a:cs typeface="Calibri"/>
              </a:rPr>
              <a:t>developing 	</a:t>
            </a:r>
            <a:r>
              <a:rPr sz="2400" dirty="0">
                <a:latin typeface="Calibri"/>
                <a:cs typeface="Calibri"/>
              </a:rPr>
              <a:t>time</a:t>
            </a:r>
            <a:r>
              <a:rPr sz="2400" spc="-55" dirty="0">
                <a:latin typeface="Calibri"/>
                <a:cs typeface="Calibri"/>
              </a:rPr>
              <a:t> </a:t>
            </a:r>
            <a:r>
              <a:rPr sz="2400" dirty="0">
                <a:latin typeface="Calibri"/>
                <a:cs typeface="Calibri"/>
              </a:rPr>
              <a:t>and</a:t>
            </a:r>
            <a:r>
              <a:rPr sz="2400" spc="-55" dirty="0">
                <a:latin typeface="Calibri"/>
                <a:cs typeface="Calibri"/>
              </a:rPr>
              <a:t> </a:t>
            </a:r>
            <a:r>
              <a:rPr sz="2400" dirty="0">
                <a:latin typeface="Calibri"/>
                <a:cs typeface="Calibri"/>
              </a:rPr>
              <a:t>cost</a:t>
            </a:r>
            <a:r>
              <a:rPr sz="2400" spc="-60" dirty="0">
                <a:latin typeface="Calibri"/>
                <a:cs typeface="Calibri"/>
              </a:rPr>
              <a:t> </a:t>
            </a:r>
            <a:r>
              <a:rPr sz="2400" spc="-10" dirty="0">
                <a:latin typeface="Calibri"/>
                <a:cs typeface="Calibri"/>
              </a:rPr>
              <a:t>estimates</a:t>
            </a:r>
            <a:endParaRPr sz="2400" dirty="0">
              <a:latin typeface="Calibri"/>
              <a:cs typeface="Calibri"/>
            </a:endParaRPr>
          </a:p>
        </p:txBody>
      </p:sp>
      <p:pic>
        <p:nvPicPr>
          <p:cNvPr id="5" name="Picture 4">
            <a:extLst>
              <a:ext uri="{FF2B5EF4-FFF2-40B4-BE49-F238E27FC236}">
                <a16:creationId xmlns:a16="http://schemas.microsoft.com/office/drawing/2014/main" id="{BC054CAF-C41D-32D2-3224-FB9A1004136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573254" y="5729996"/>
            <a:ext cx="6723501" cy="283642"/>
          </a:xfrm>
          <a:prstGeom prst="rect">
            <a:avLst/>
          </a:prstGeom>
        </p:spPr>
      </p:pic>
      <p:pic>
        <p:nvPicPr>
          <p:cNvPr id="3" name="object 3"/>
          <p:cNvPicPr/>
          <p:nvPr/>
        </p:nvPicPr>
        <p:blipFill>
          <a:blip r:embed="rId4" cstate="print"/>
          <a:stretch>
            <a:fillRect/>
          </a:stretch>
        </p:blipFill>
        <p:spPr>
          <a:xfrm>
            <a:off x="1573254" y="4890643"/>
            <a:ext cx="2584625" cy="283642"/>
          </a:xfrm>
          <a:prstGeom prst="rect">
            <a:avLst/>
          </a:prstGeom>
        </p:spPr>
      </p:pic>
      <p:pic>
        <p:nvPicPr>
          <p:cNvPr id="4" name="object 4"/>
          <p:cNvPicPr/>
          <p:nvPr/>
        </p:nvPicPr>
        <p:blipFill>
          <a:blip r:embed="rId5" cstate="print"/>
          <a:stretch>
            <a:fillRect/>
          </a:stretch>
        </p:blipFill>
        <p:spPr>
          <a:xfrm>
            <a:off x="1295400" y="4355194"/>
            <a:ext cx="3169278" cy="327058"/>
          </a:xfrm>
          <a:prstGeom prst="rect">
            <a:avLst/>
          </a:prstGeom>
        </p:spPr>
      </p:pic>
      <p:pic>
        <p:nvPicPr>
          <p:cNvPr id="5" name="object 5"/>
          <p:cNvPicPr/>
          <p:nvPr/>
        </p:nvPicPr>
        <p:blipFill>
          <a:blip r:embed="rId6" cstate="print"/>
          <a:stretch>
            <a:fillRect/>
          </a:stretch>
        </p:blipFill>
        <p:spPr>
          <a:xfrm>
            <a:off x="1295400" y="2213398"/>
            <a:ext cx="4410941" cy="72357"/>
          </a:xfrm>
          <a:prstGeom prst="rect">
            <a:avLst/>
          </a:prstGeom>
        </p:spPr>
      </p:pic>
      <p:sp>
        <p:nvSpPr>
          <p:cNvPr id="6" name="object 6"/>
          <p:cNvSpPr txBox="1">
            <a:spLocks noGrp="1"/>
          </p:cNvSpPr>
          <p:nvPr>
            <p:ph type="title"/>
          </p:nvPr>
        </p:nvSpPr>
        <p:spPr>
          <a:xfrm>
            <a:off x="799701" y="632894"/>
            <a:ext cx="9813279" cy="672777"/>
          </a:xfrm>
          <a:prstGeom prst="rect">
            <a:avLst/>
          </a:prstGeom>
        </p:spPr>
        <p:txBody>
          <a:bodyPr vert="horz" wrap="square" lIns="0" tIns="10950" rIns="0" bIns="0" rtlCol="0">
            <a:spAutoFit/>
          </a:bodyPr>
          <a:lstStyle/>
          <a:p>
            <a:pPr marL="10950">
              <a:spcBef>
                <a:spcPts val="86"/>
              </a:spcBef>
            </a:pPr>
            <a:r>
              <a:rPr b="1" u="sng" spc="95" dirty="0">
                <a:solidFill>
                  <a:srgbClr val="FF0000"/>
                </a:solidFill>
              </a:rPr>
              <a:t>Project Estimation</a:t>
            </a:r>
          </a:p>
        </p:txBody>
      </p:sp>
      <p:sp>
        <p:nvSpPr>
          <p:cNvPr id="10" name="object 10"/>
          <p:cNvSpPr txBox="1">
            <a:spLocks noGrp="1"/>
          </p:cNvSpPr>
          <p:nvPr>
            <p:ph type="sldNum" sz="quarter" idx="7"/>
          </p:nvPr>
        </p:nvSpPr>
        <p:spPr>
          <a:xfrm>
            <a:off x="13118081" y="5834651"/>
            <a:ext cx="221876" cy="117517"/>
          </a:xfrm>
          <a:prstGeom prst="rect">
            <a:avLst/>
          </a:prstGeom>
        </p:spPr>
        <p:txBody>
          <a:bodyPr vert="horz" wrap="square" lIns="0" tIns="5763" rIns="0" bIns="0" rtlCol="0">
            <a:spAutoFit/>
          </a:bodyPr>
          <a:lstStyle/>
          <a:p>
            <a:pPr marL="11527">
              <a:spcBef>
                <a:spcPts val="45"/>
              </a:spcBef>
            </a:pPr>
            <a:fld id="{81D60167-4931-47E6-BA6A-407CBD079E47}" type="slidenum">
              <a:rPr sz="726" spc="-23" dirty="0"/>
              <a:pPr marL="11527">
                <a:spcBef>
                  <a:spcPts val="45"/>
                </a:spcBef>
              </a:pPr>
              <a:t>3</a:t>
            </a:fld>
            <a:endParaRPr sz="726"/>
          </a:p>
        </p:txBody>
      </p:sp>
      <p:sp>
        <p:nvSpPr>
          <p:cNvPr id="7" name="object 7"/>
          <p:cNvSpPr txBox="1"/>
          <p:nvPr/>
        </p:nvSpPr>
        <p:spPr>
          <a:xfrm>
            <a:off x="1295400" y="1716279"/>
            <a:ext cx="9493239" cy="4684521"/>
          </a:xfrm>
          <a:prstGeom prst="rect">
            <a:avLst/>
          </a:prstGeom>
        </p:spPr>
        <p:txBody>
          <a:bodyPr vert="horz" wrap="square" lIns="0" tIns="179230" rIns="0" bIns="0" rtlCol="0">
            <a:spAutoFit/>
          </a:bodyPr>
          <a:lstStyle/>
          <a:p>
            <a:pPr marL="24782">
              <a:spcBef>
                <a:spcPts val="1411"/>
              </a:spcBef>
            </a:pPr>
            <a:r>
              <a:rPr sz="2723" spc="54" dirty="0">
                <a:solidFill>
                  <a:srgbClr val="FD0100"/>
                </a:solidFill>
                <a:latin typeface="Arial MT"/>
                <a:cs typeface="Arial MT"/>
              </a:rPr>
              <a:t>Proiect</a:t>
            </a:r>
            <a:r>
              <a:rPr sz="2723" spc="113" dirty="0">
                <a:solidFill>
                  <a:srgbClr val="FD0100"/>
                </a:solidFill>
                <a:latin typeface="Arial MT"/>
                <a:cs typeface="Arial MT"/>
              </a:rPr>
              <a:t> </a:t>
            </a:r>
            <a:r>
              <a:rPr sz="2723" spc="68" dirty="0">
                <a:solidFill>
                  <a:srgbClr val="FD0100"/>
                </a:solidFill>
                <a:latin typeface="Arial MT"/>
                <a:cs typeface="Arial MT"/>
              </a:rPr>
              <a:t>Estimation</a:t>
            </a:r>
            <a:r>
              <a:rPr sz="2723" spc="150" dirty="0">
                <a:solidFill>
                  <a:srgbClr val="FD0100"/>
                </a:solidFill>
                <a:latin typeface="Arial MT"/>
                <a:cs typeface="Arial MT"/>
              </a:rPr>
              <a:t> </a:t>
            </a:r>
            <a:r>
              <a:rPr sz="2723" spc="-9" dirty="0">
                <a:solidFill>
                  <a:srgbClr val="F70300"/>
                </a:solidFill>
                <a:latin typeface="Arial MT"/>
                <a:cs typeface="Arial MT"/>
              </a:rPr>
              <a:t>Defined:</a:t>
            </a:r>
            <a:endParaRPr sz="2723" dirty="0">
              <a:latin typeface="Arial MT"/>
              <a:cs typeface="Arial MT"/>
            </a:endParaRPr>
          </a:p>
          <a:p>
            <a:pPr marL="303724" marR="75499" indent="-279518">
              <a:lnSpc>
                <a:spcPct val="100400"/>
              </a:lnSpc>
              <a:spcBef>
                <a:spcPts val="1121"/>
              </a:spcBef>
              <a:buChar char="•"/>
              <a:tabLst>
                <a:tab pos="303724" algn="l"/>
              </a:tabLst>
            </a:pPr>
            <a:r>
              <a:rPr sz="2269" dirty="0">
                <a:latin typeface="Arial MT"/>
                <a:cs typeface="Arial MT"/>
              </a:rPr>
              <a:t>Process</a:t>
            </a:r>
            <a:r>
              <a:rPr sz="2269" spc="86" dirty="0">
                <a:latin typeface="Arial MT"/>
                <a:cs typeface="Arial MT"/>
              </a:rPr>
              <a:t> </a:t>
            </a:r>
            <a:r>
              <a:rPr sz="2269" dirty="0">
                <a:latin typeface="Arial MT"/>
                <a:cs typeface="Arial MT"/>
              </a:rPr>
              <a:t>of</a:t>
            </a:r>
            <a:r>
              <a:rPr sz="2269" spc="14" dirty="0">
                <a:latin typeface="Arial MT"/>
                <a:cs typeface="Arial MT"/>
              </a:rPr>
              <a:t> </a:t>
            </a:r>
            <a:r>
              <a:rPr sz="2269" u="heavy" spc="73" dirty="0">
                <a:solidFill>
                  <a:srgbClr val="00B34D"/>
                </a:solidFill>
                <a:uFill>
                  <a:solidFill>
                    <a:srgbClr val="03803B"/>
                  </a:solidFill>
                </a:uFill>
                <a:latin typeface="Arial MT"/>
                <a:cs typeface="Arial MT"/>
              </a:rPr>
              <a:t>forecastinq</a:t>
            </a:r>
            <a:r>
              <a:rPr sz="2269" spc="141" dirty="0">
                <a:solidFill>
                  <a:srgbClr val="00B34D"/>
                </a:solidFill>
                <a:latin typeface="Arial MT"/>
                <a:cs typeface="Arial MT"/>
              </a:rPr>
              <a:t> </a:t>
            </a:r>
            <a:r>
              <a:rPr sz="2269" dirty="0">
                <a:latin typeface="Arial MT"/>
                <a:cs typeface="Arial MT"/>
              </a:rPr>
              <a:t>or</a:t>
            </a:r>
            <a:r>
              <a:rPr sz="2269" spc="14" dirty="0">
                <a:latin typeface="Arial MT"/>
                <a:cs typeface="Arial MT"/>
              </a:rPr>
              <a:t> </a:t>
            </a:r>
            <a:r>
              <a:rPr sz="2269" spc="-9" dirty="0">
                <a:latin typeface="Arial MT"/>
                <a:cs typeface="Arial MT"/>
              </a:rPr>
              <a:t>approximating</a:t>
            </a:r>
            <a:r>
              <a:rPr sz="2269" spc="218" dirty="0">
                <a:latin typeface="Arial MT"/>
                <a:cs typeface="Arial MT"/>
              </a:rPr>
              <a:t> </a:t>
            </a:r>
            <a:r>
              <a:rPr sz="2269" spc="82" dirty="0">
                <a:solidFill>
                  <a:srgbClr val="0101C1"/>
                </a:solidFill>
                <a:latin typeface="Arial MT"/>
                <a:cs typeface="Arial MT"/>
              </a:rPr>
              <a:t>time</a:t>
            </a:r>
            <a:r>
              <a:rPr sz="2269" spc="-5" dirty="0">
                <a:solidFill>
                  <a:srgbClr val="0101C1"/>
                </a:solidFill>
                <a:latin typeface="Arial MT"/>
                <a:cs typeface="Arial MT"/>
              </a:rPr>
              <a:t> </a:t>
            </a:r>
            <a:r>
              <a:rPr sz="2269" u="heavy" spc="68" dirty="0">
                <a:uFill>
                  <a:solidFill>
                    <a:srgbClr val="03803B"/>
                  </a:solidFill>
                </a:uFill>
                <a:latin typeface="Arial MT"/>
                <a:cs typeface="Arial MT"/>
              </a:rPr>
              <a:t>and</a:t>
            </a:r>
            <a:r>
              <a:rPr sz="2269" spc="-50" dirty="0">
                <a:latin typeface="Arial MT"/>
                <a:cs typeface="Arial MT"/>
              </a:rPr>
              <a:t> </a:t>
            </a:r>
            <a:r>
              <a:rPr sz="2269" spc="100" dirty="0">
                <a:solidFill>
                  <a:srgbClr val="0101C6"/>
                </a:solidFill>
                <a:latin typeface="Arial MT"/>
                <a:cs typeface="Arial MT"/>
              </a:rPr>
              <a:t>cost</a:t>
            </a:r>
            <a:r>
              <a:rPr sz="2269" spc="41" dirty="0">
                <a:solidFill>
                  <a:srgbClr val="0101C6"/>
                </a:solidFill>
                <a:latin typeface="Arial MT"/>
                <a:cs typeface="Arial MT"/>
              </a:rPr>
              <a:t> </a:t>
            </a:r>
            <a:r>
              <a:rPr sz="2269" spc="-23" dirty="0">
                <a:latin typeface="Arial MT"/>
                <a:cs typeface="Arial MT"/>
              </a:rPr>
              <a:t>of </a:t>
            </a:r>
            <a:r>
              <a:rPr sz="2269" u="heavy" spc="82" dirty="0">
                <a:solidFill>
                  <a:srgbClr val="01AF4F"/>
                </a:solidFill>
                <a:uFill>
                  <a:solidFill>
                    <a:srgbClr val="08A84F"/>
                  </a:solidFill>
                </a:uFill>
                <a:latin typeface="Arial MT"/>
                <a:cs typeface="Arial MT"/>
              </a:rPr>
              <a:t>completing</a:t>
            </a:r>
            <a:r>
              <a:rPr sz="2269" spc="231" dirty="0">
                <a:solidFill>
                  <a:srgbClr val="01AF4F"/>
                </a:solidFill>
                <a:latin typeface="Arial MT"/>
                <a:cs typeface="Arial MT"/>
              </a:rPr>
              <a:t> </a:t>
            </a:r>
            <a:r>
              <a:rPr sz="2269" spc="82" dirty="0">
                <a:solidFill>
                  <a:srgbClr val="0005C3"/>
                </a:solidFill>
                <a:latin typeface="Arial MT"/>
                <a:cs typeface="Arial MT"/>
              </a:rPr>
              <a:t>project</a:t>
            </a:r>
            <a:r>
              <a:rPr sz="2269" spc="159" dirty="0">
                <a:solidFill>
                  <a:srgbClr val="0005C3"/>
                </a:solidFill>
                <a:latin typeface="Arial MT"/>
                <a:cs typeface="Arial MT"/>
              </a:rPr>
              <a:t> </a:t>
            </a:r>
            <a:r>
              <a:rPr sz="2269" spc="41" dirty="0">
                <a:latin typeface="Arial MT"/>
                <a:cs typeface="Arial MT"/>
              </a:rPr>
              <a:t>deliverables.</a:t>
            </a:r>
            <a:endParaRPr sz="2269" dirty="0">
              <a:latin typeface="Arial MT"/>
              <a:cs typeface="Arial MT"/>
            </a:endParaRPr>
          </a:p>
          <a:p>
            <a:pPr marL="301995" marR="4611" indent="-291045">
              <a:lnSpc>
                <a:spcPts val="2732"/>
              </a:lnSpc>
              <a:spcBef>
                <a:spcPts val="1257"/>
              </a:spcBef>
              <a:buChar char="•"/>
              <a:tabLst>
                <a:tab pos="301995" algn="l"/>
                <a:tab pos="303724" algn="l"/>
                <a:tab pos="605142" algn="l"/>
                <a:tab pos="848928" algn="l"/>
              </a:tabLst>
            </a:pPr>
            <a:r>
              <a:rPr sz="2405" dirty="0">
                <a:latin typeface="Calibri"/>
                <a:cs typeface="Calibri"/>
              </a:rPr>
              <a:t>	</a:t>
            </a:r>
            <a:r>
              <a:rPr sz="2405" spc="-23" dirty="0">
                <a:latin typeface="Calibri"/>
                <a:cs typeface="Calibri"/>
              </a:rPr>
              <a:t>Is</a:t>
            </a:r>
            <a:r>
              <a:rPr sz="2405" dirty="0">
                <a:latin typeface="Calibri"/>
                <a:cs typeface="Calibri"/>
              </a:rPr>
              <a:t>	</a:t>
            </a:r>
            <a:r>
              <a:rPr sz="2405" spc="-349" dirty="0">
                <a:latin typeface="Calibri"/>
                <a:cs typeface="Calibri"/>
              </a:rPr>
              <a:t>a</a:t>
            </a:r>
            <a:r>
              <a:rPr sz="2405" dirty="0">
                <a:latin typeface="Calibri"/>
                <a:cs typeface="Calibri"/>
              </a:rPr>
              <a:t>	</a:t>
            </a:r>
            <a:r>
              <a:rPr sz="2405" spc="-54" dirty="0">
                <a:latin typeface="Calibri"/>
                <a:cs typeface="Calibri"/>
              </a:rPr>
              <a:t>trade-</a:t>
            </a:r>
            <a:r>
              <a:rPr sz="2405" dirty="0">
                <a:latin typeface="Calibri"/>
                <a:cs typeface="Calibri"/>
              </a:rPr>
              <a:t>off</a:t>
            </a:r>
            <a:r>
              <a:rPr sz="2405" spc="154" dirty="0">
                <a:latin typeface="Calibri"/>
                <a:cs typeface="Calibri"/>
              </a:rPr>
              <a:t> </a:t>
            </a:r>
            <a:r>
              <a:rPr sz="2405" u="heavy" spc="45" dirty="0">
                <a:solidFill>
                  <a:srgbClr val="00B14D"/>
                </a:solidFill>
                <a:uFill>
                  <a:solidFill>
                    <a:srgbClr val="037C70"/>
                  </a:solidFill>
                </a:uFill>
                <a:latin typeface="Calibri"/>
                <a:cs typeface="Calibri"/>
              </a:rPr>
              <a:t>between</a:t>
            </a:r>
            <a:r>
              <a:rPr sz="2405" spc="150" dirty="0">
                <a:solidFill>
                  <a:srgbClr val="00B14D"/>
                </a:solidFill>
                <a:latin typeface="Calibri"/>
                <a:cs typeface="Calibri"/>
              </a:rPr>
              <a:t> </a:t>
            </a:r>
            <a:r>
              <a:rPr sz="2405" dirty="0">
                <a:latin typeface="Calibri"/>
                <a:cs typeface="Calibri"/>
              </a:rPr>
              <a:t>benefits</a:t>
            </a:r>
            <a:r>
              <a:rPr sz="2405" spc="154" dirty="0">
                <a:latin typeface="Calibri"/>
                <a:cs typeface="Calibri"/>
              </a:rPr>
              <a:t> </a:t>
            </a:r>
            <a:r>
              <a:rPr sz="2405" dirty="0">
                <a:latin typeface="Calibri"/>
                <a:cs typeface="Calibri"/>
              </a:rPr>
              <a:t>of</a:t>
            </a:r>
            <a:r>
              <a:rPr sz="2405" spc="36" dirty="0">
                <a:latin typeface="Calibri"/>
                <a:cs typeface="Calibri"/>
              </a:rPr>
              <a:t> </a:t>
            </a:r>
            <a:r>
              <a:rPr sz="2405" u="heavy" dirty="0">
                <a:solidFill>
                  <a:srgbClr val="0001C4"/>
                </a:solidFill>
                <a:uFill>
                  <a:solidFill>
                    <a:srgbClr val="037C70"/>
                  </a:solidFill>
                </a:uFill>
                <a:latin typeface="Calibri"/>
                <a:cs typeface="Calibri"/>
              </a:rPr>
              <a:t>better</a:t>
            </a:r>
            <a:r>
              <a:rPr sz="2405" spc="103" dirty="0">
                <a:solidFill>
                  <a:srgbClr val="0001C4"/>
                </a:solidFill>
                <a:latin typeface="Calibri"/>
                <a:cs typeface="Calibri"/>
              </a:rPr>
              <a:t> </a:t>
            </a:r>
            <a:r>
              <a:rPr sz="2405" spc="132" dirty="0">
                <a:solidFill>
                  <a:srgbClr val="0000DA"/>
                </a:solidFill>
                <a:latin typeface="Calibri"/>
                <a:cs typeface="Calibri"/>
              </a:rPr>
              <a:t>accuracy</a:t>
            </a:r>
            <a:r>
              <a:rPr sz="2405" spc="272" dirty="0">
                <a:solidFill>
                  <a:srgbClr val="0000DA"/>
                </a:solidFill>
                <a:latin typeface="Calibri"/>
                <a:cs typeface="Calibri"/>
              </a:rPr>
              <a:t> </a:t>
            </a:r>
            <a:r>
              <a:rPr sz="2405" u="heavy" spc="113" dirty="0">
                <a:solidFill>
                  <a:srgbClr val="00AF4B"/>
                </a:solidFill>
                <a:uFill>
                  <a:solidFill>
                    <a:srgbClr val="037C70"/>
                  </a:solidFill>
                </a:uFill>
                <a:latin typeface="Calibri"/>
                <a:cs typeface="Calibri"/>
              </a:rPr>
              <a:t>against</a:t>
            </a:r>
            <a:r>
              <a:rPr sz="2405" spc="113" dirty="0">
                <a:solidFill>
                  <a:srgbClr val="00AF4B"/>
                </a:solidFill>
                <a:latin typeface="Calibri"/>
                <a:cs typeface="Calibri"/>
              </a:rPr>
              <a:t> </a:t>
            </a:r>
            <a:r>
              <a:rPr sz="2405" u="heavy" spc="172" dirty="0">
                <a:solidFill>
                  <a:srgbClr val="0100CD"/>
                </a:solidFill>
                <a:uFill>
                  <a:solidFill>
                    <a:srgbClr val="0000BC"/>
                  </a:solidFill>
                </a:uFill>
                <a:latin typeface="Calibri"/>
                <a:cs typeface="Calibri"/>
              </a:rPr>
              <a:t>costs</a:t>
            </a:r>
            <a:r>
              <a:rPr sz="2405" spc="91" dirty="0">
                <a:solidFill>
                  <a:srgbClr val="0100CD"/>
                </a:solidFill>
                <a:latin typeface="Calibri"/>
                <a:cs typeface="Calibri"/>
              </a:rPr>
              <a:t> </a:t>
            </a:r>
            <a:r>
              <a:rPr sz="2405" dirty="0">
                <a:latin typeface="Calibri"/>
                <a:cs typeface="Calibri"/>
              </a:rPr>
              <a:t>of</a:t>
            </a:r>
            <a:r>
              <a:rPr sz="2405" spc="73" dirty="0">
                <a:latin typeface="Calibri"/>
                <a:cs typeface="Calibri"/>
              </a:rPr>
              <a:t> </a:t>
            </a:r>
            <a:r>
              <a:rPr sz="2405" spc="109" dirty="0">
                <a:solidFill>
                  <a:srgbClr val="0001D4"/>
                </a:solidFill>
                <a:latin typeface="Calibri"/>
                <a:cs typeface="Calibri"/>
              </a:rPr>
              <a:t>increased</a:t>
            </a:r>
            <a:r>
              <a:rPr sz="2405" spc="200" dirty="0">
                <a:solidFill>
                  <a:srgbClr val="0001D4"/>
                </a:solidFill>
                <a:latin typeface="Calibri"/>
                <a:cs typeface="Calibri"/>
              </a:rPr>
              <a:t> </a:t>
            </a:r>
            <a:r>
              <a:rPr sz="2405" spc="103" dirty="0">
                <a:latin typeface="Calibri"/>
                <a:cs typeface="Calibri"/>
              </a:rPr>
              <a:t>accuracy.</a:t>
            </a:r>
            <a:endParaRPr sz="2405" dirty="0">
              <a:latin typeface="Calibri"/>
              <a:cs typeface="Calibri"/>
            </a:endParaRPr>
          </a:p>
          <a:p>
            <a:pPr marL="595345">
              <a:spcBef>
                <a:spcPts val="2296"/>
              </a:spcBef>
            </a:pPr>
            <a:r>
              <a:rPr sz="2677" dirty="0">
                <a:solidFill>
                  <a:srgbClr val="F20700"/>
                </a:solidFill>
                <a:latin typeface="Arial MT"/>
                <a:cs typeface="Arial MT"/>
              </a:rPr>
              <a:t>es</a:t>
            </a:r>
            <a:r>
              <a:rPr sz="2677" spc="163" dirty="0">
                <a:solidFill>
                  <a:srgbClr val="F20700"/>
                </a:solidFill>
                <a:latin typeface="Arial MT"/>
                <a:cs typeface="Arial MT"/>
              </a:rPr>
              <a:t> </a:t>
            </a:r>
            <a:r>
              <a:rPr sz="2677" spc="73" dirty="0">
                <a:solidFill>
                  <a:srgbClr val="FD0000"/>
                </a:solidFill>
                <a:latin typeface="Arial MT"/>
                <a:cs typeface="Arial MT"/>
              </a:rPr>
              <a:t>of</a:t>
            </a:r>
            <a:r>
              <a:rPr sz="2677" spc="100" dirty="0">
                <a:solidFill>
                  <a:srgbClr val="FD0000"/>
                </a:solidFill>
                <a:latin typeface="Arial MT"/>
                <a:cs typeface="Arial MT"/>
              </a:rPr>
              <a:t> </a:t>
            </a:r>
            <a:r>
              <a:rPr sz="2677" spc="45" dirty="0">
                <a:solidFill>
                  <a:srgbClr val="FB0300"/>
                </a:solidFill>
                <a:latin typeface="Arial MT"/>
                <a:cs typeface="Arial MT"/>
              </a:rPr>
              <a:t>Estimates:</a:t>
            </a:r>
            <a:endParaRPr sz="2677" dirty="0">
              <a:latin typeface="Arial MT"/>
              <a:cs typeface="Arial MT"/>
            </a:endParaRPr>
          </a:p>
          <a:p>
            <a:pPr marL="301995" marR="446076" indent="-277213">
              <a:lnSpc>
                <a:spcPct val="100400"/>
              </a:lnSpc>
              <a:spcBef>
                <a:spcPts val="1148"/>
              </a:spcBef>
              <a:buClr>
                <a:srgbClr val="B80301"/>
              </a:buClr>
              <a:buChar char="•"/>
              <a:tabLst>
                <a:tab pos="301995" algn="l"/>
                <a:tab pos="818383" algn="l"/>
                <a:tab pos="1832717" algn="l"/>
                <a:tab pos="2880477" algn="l"/>
              </a:tabLst>
            </a:pPr>
            <a:r>
              <a:rPr sz="2269" spc="-23" dirty="0">
                <a:solidFill>
                  <a:srgbClr val="B30307"/>
                </a:solidFill>
                <a:latin typeface="Arial MT"/>
                <a:cs typeface="Arial MT"/>
              </a:rPr>
              <a:t>To</a:t>
            </a:r>
            <a:r>
              <a:rPr sz="2269" dirty="0">
                <a:solidFill>
                  <a:srgbClr val="B30307"/>
                </a:solidFill>
                <a:latin typeface="Arial MT"/>
                <a:cs typeface="Arial MT"/>
              </a:rPr>
              <a:t>	</a:t>
            </a:r>
            <a:r>
              <a:rPr sz="2269" dirty="0">
                <a:solidFill>
                  <a:srgbClr val="C10000"/>
                </a:solidFill>
                <a:latin typeface="Arial MT"/>
                <a:cs typeface="Arial MT"/>
              </a:rPr>
              <a:t>-</a:t>
            </a:r>
            <a:r>
              <a:rPr sz="2269" spc="59" dirty="0">
                <a:solidFill>
                  <a:srgbClr val="C10000"/>
                </a:solidFill>
                <a:latin typeface="Arial MT"/>
                <a:cs typeface="Arial MT"/>
              </a:rPr>
              <a:t>down</a:t>
            </a:r>
            <a:r>
              <a:rPr sz="2269" dirty="0">
                <a:solidFill>
                  <a:srgbClr val="C10000"/>
                </a:solidFill>
                <a:latin typeface="Arial MT"/>
                <a:cs typeface="Arial MT"/>
              </a:rPr>
              <a:t>	</a:t>
            </a:r>
            <a:r>
              <a:rPr sz="2269" spc="73" dirty="0">
                <a:solidFill>
                  <a:srgbClr val="C10000"/>
                </a:solidFill>
                <a:latin typeface="Arial MT"/>
                <a:cs typeface="Arial MT"/>
              </a:rPr>
              <a:t>macro</a:t>
            </a:r>
            <a:r>
              <a:rPr sz="2269" dirty="0">
                <a:solidFill>
                  <a:srgbClr val="C10000"/>
                </a:solidFill>
                <a:latin typeface="Arial MT"/>
                <a:cs typeface="Arial MT"/>
              </a:rPr>
              <a:t>	</a:t>
            </a:r>
            <a:r>
              <a:rPr sz="2269" u="heavy" spc="68" dirty="0">
                <a:solidFill>
                  <a:srgbClr val="BC0003"/>
                </a:solidFill>
                <a:uFill>
                  <a:solidFill>
                    <a:srgbClr val="B30303"/>
                  </a:solidFill>
                </a:uFill>
                <a:latin typeface="Arial MT"/>
                <a:cs typeface="Arial MT"/>
              </a:rPr>
              <a:t>estimates:</a:t>
            </a:r>
            <a:r>
              <a:rPr sz="2269" spc="213" dirty="0">
                <a:solidFill>
                  <a:srgbClr val="BC0003"/>
                </a:solidFill>
                <a:latin typeface="Arial MT"/>
                <a:cs typeface="Arial MT"/>
              </a:rPr>
              <a:t> </a:t>
            </a:r>
            <a:r>
              <a:rPr sz="2269" spc="86" dirty="0">
                <a:solidFill>
                  <a:srgbClr val="0001CA"/>
                </a:solidFill>
                <a:latin typeface="Arial MT"/>
                <a:cs typeface="Arial MT"/>
              </a:rPr>
              <a:t>group</a:t>
            </a:r>
            <a:r>
              <a:rPr sz="2269" spc="145" dirty="0">
                <a:solidFill>
                  <a:srgbClr val="0001CA"/>
                </a:solidFill>
                <a:latin typeface="Arial MT"/>
                <a:cs typeface="Arial MT"/>
              </a:rPr>
              <a:t> </a:t>
            </a:r>
            <a:r>
              <a:rPr sz="2269" spc="64" dirty="0">
                <a:latin typeface="Arial MT"/>
                <a:cs typeface="Arial MT"/>
              </a:rPr>
              <a:t>consensus, </a:t>
            </a:r>
            <a:r>
              <a:rPr sz="2269" spc="59" dirty="0">
                <a:solidFill>
                  <a:srgbClr val="0000CD"/>
                </a:solidFill>
                <a:latin typeface="Arial MT"/>
                <a:cs typeface="Arial MT"/>
              </a:rPr>
              <a:t>mathematical</a:t>
            </a:r>
            <a:r>
              <a:rPr sz="2269" spc="213" dirty="0">
                <a:solidFill>
                  <a:srgbClr val="0000CD"/>
                </a:solidFill>
                <a:latin typeface="Arial MT"/>
                <a:cs typeface="Arial MT"/>
              </a:rPr>
              <a:t> </a:t>
            </a:r>
            <a:r>
              <a:rPr sz="2269" spc="91" dirty="0">
                <a:latin typeface="Arial MT"/>
                <a:cs typeface="Arial MT"/>
              </a:rPr>
              <a:t>relationships,</a:t>
            </a:r>
            <a:r>
              <a:rPr sz="2269" spc="14" dirty="0">
                <a:latin typeface="Arial MT"/>
                <a:cs typeface="Arial MT"/>
              </a:rPr>
              <a:t> </a:t>
            </a:r>
            <a:r>
              <a:rPr sz="2269" dirty="0">
                <a:latin typeface="Arial MT"/>
                <a:cs typeface="Arial MT"/>
              </a:rPr>
              <a:t>or</a:t>
            </a:r>
            <a:r>
              <a:rPr sz="2269" spc="73" dirty="0">
                <a:latin typeface="Arial MT"/>
                <a:cs typeface="Arial MT"/>
              </a:rPr>
              <a:t> </a:t>
            </a:r>
            <a:r>
              <a:rPr sz="2269" spc="54" dirty="0">
                <a:solidFill>
                  <a:srgbClr val="070CDA"/>
                </a:solidFill>
                <a:latin typeface="Arial MT"/>
                <a:cs typeface="Arial MT"/>
              </a:rPr>
              <a:t>analogy</a:t>
            </a:r>
            <a:r>
              <a:rPr sz="2269" spc="200" dirty="0">
                <a:solidFill>
                  <a:srgbClr val="070CDA"/>
                </a:solidFill>
                <a:latin typeface="Arial MT"/>
                <a:cs typeface="Arial MT"/>
              </a:rPr>
              <a:t> </a:t>
            </a:r>
            <a:r>
              <a:rPr sz="2269" spc="-9" dirty="0">
                <a:latin typeface="Arial MT"/>
                <a:cs typeface="Arial MT"/>
              </a:rPr>
              <a:t>(comparison).</a:t>
            </a:r>
            <a:endParaRPr sz="2269" dirty="0">
              <a:latin typeface="Arial MT"/>
              <a:cs typeface="Arial MT"/>
            </a:endParaRPr>
          </a:p>
          <a:p>
            <a:pPr marL="301995" marR="469129" indent="-277213">
              <a:lnSpc>
                <a:spcPct val="100400"/>
              </a:lnSpc>
              <a:spcBef>
                <a:spcPts val="1139"/>
              </a:spcBef>
              <a:buClr>
                <a:srgbClr val="BD0001"/>
              </a:buClr>
              <a:buChar char="•"/>
              <a:tabLst>
                <a:tab pos="301995" algn="l"/>
                <a:tab pos="1939913" algn="l"/>
                <a:tab pos="2903530" algn="l"/>
              </a:tabLst>
            </a:pPr>
            <a:r>
              <a:rPr sz="2269" spc="86" dirty="0">
                <a:solidFill>
                  <a:srgbClr val="BF0001"/>
                </a:solidFill>
                <a:latin typeface="Arial MT"/>
                <a:cs typeface="Arial MT"/>
              </a:rPr>
              <a:t>Bottom-</a:t>
            </a:r>
            <a:r>
              <a:rPr sz="2269" spc="54" dirty="0">
                <a:solidFill>
                  <a:srgbClr val="BF0001"/>
                </a:solidFill>
                <a:latin typeface="Arial MT"/>
                <a:cs typeface="Arial MT"/>
              </a:rPr>
              <a:t>u</a:t>
            </a:r>
            <a:r>
              <a:rPr sz="2269" dirty="0">
                <a:solidFill>
                  <a:srgbClr val="BF0001"/>
                </a:solidFill>
                <a:latin typeface="Arial MT"/>
                <a:cs typeface="Arial MT"/>
              </a:rPr>
              <a:t>	</a:t>
            </a:r>
            <a:r>
              <a:rPr sz="2269" spc="95" dirty="0">
                <a:solidFill>
                  <a:srgbClr val="B30300"/>
                </a:solidFill>
                <a:latin typeface="Arial MT"/>
                <a:cs typeface="Arial MT"/>
              </a:rPr>
              <a:t>micro</a:t>
            </a:r>
            <a:r>
              <a:rPr sz="2269" dirty="0">
                <a:solidFill>
                  <a:srgbClr val="B30300"/>
                </a:solidFill>
                <a:latin typeface="Arial MT"/>
                <a:cs typeface="Arial MT"/>
              </a:rPr>
              <a:t>	</a:t>
            </a:r>
            <a:r>
              <a:rPr sz="2269" spc="68" dirty="0">
                <a:solidFill>
                  <a:srgbClr val="BD0003"/>
                </a:solidFill>
                <a:latin typeface="Arial MT"/>
                <a:cs typeface="Arial MT"/>
              </a:rPr>
              <a:t>estimates:</a:t>
            </a:r>
            <a:r>
              <a:rPr sz="2269" spc="127" dirty="0">
                <a:solidFill>
                  <a:srgbClr val="BD0003"/>
                </a:solidFill>
                <a:latin typeface="Arial MT"/>
                <a:cs typeface="Arial MT"/>
              </a:rPr>
              <a:t> </a:t>
            </a:r>
            <a:r>
              <a:rPr sz="2269" dirty="0">
                <a:latin typeface="Arial MT"/>
                <a:cs typeface="Arial MT"/>
              </a:rPr>
              <a:t>based</a:t>
            </a:r>
            <a:r>
              <a:rPr sz="2269" spc="100" dirty="0">
                <a:latin typeface="Arial MT"/>
                <a:cs typeface="Arial MT"/>
              </a:rPr>
              <a:t> </a:t>
            </a:r>
            <a:r>
              <a:rPr sz="2269" dirty="0">
                <a:latin typeface="Arial MT"/>
                <a:cs typeface="Arial MT"/>
              </a:rPr>
              <a:t>on </a:t>
            </a:r>
            <a:r>
              <a:rPr sz="2269" spc="64" dirty="0">
                <a:solidFill>
                  <a:srgbClr val="0001C6"/>
                </a:solidFill>
                <a:latin typeface="Arial MT"/>
                <a:cs typeface="Arial MT"/>
              </a:rPr>
              <a:t>estimates</a:t>
            </a:r>
            <a:r>
              <a:rPr sz="2269" spc="118" dirty="0">
                <a:solidFill>
                  <a:srgbClr val="0001C6"/>
                </a:solidFill>
                <a:latin typeface="Arial MT"/>
                <a:cs typeface="Arial MT"/>
              </a:rPr>
              <a:t> </a:t>
            </a:r>
            <a:r>
              <a:rPr sz="2269" spc="-23" dirty="0">
                <a:latin typeface="Arial MT"/>
                <a:cs typeface="Arial MT"/>
              </a:rPr>
              <a:t>of </a:t>
            </a:r>
            <a:r>
              <a:rPr sz="2269" spc="54" dirty="0">
                <a:solidFill>
                  <a:srgbClr val="0300C4"/>
                </a:solidFill>
                <a:latin typeface="Arial MT"/>
                <a:cs typeface="Arial MT"/>
              </a:rPr>
              <a:t>elements</a:t>
            </a:r>
            <a:r>
              <a:rPr sz="2269" spc="150" dirty="0">
                <a:solidFill>
                  <a:srgbClr val="0300C4"/>
                </a:solidFill>
                <a:latin typeface="Arial MT"/>
                <a:cs typeface="Arial MT"/>
              </a:rPr>
              <a:t> </a:t>
            </a:r>
            <a:r>
              <a:rPr sz="2269" dirty="0">
                <a:latin typeface="Arial MT"/>
                <a:cs typeface="Arial MT"/>
              </a:rPr>
              <a:t>found</a:t>
            </a:r>
            <a:r>
              <a:rPr sz="2269" spc="109" dirty="0">
                <a:latin typeface="Arial MT"/>
                <a:cs typeface="Arial MT"/>
              </a:rPr>
              <a:t> </a:t>
            </a:r>
            <a:r>
              <a:rPr sz="2269" u="heavy" spc="-23" dirty="0">
                <a:solidFill>
                  <a:srgbClr val="00B352"/>
                </a:solidFill>
                <a:uFill>
                  <a:solidFill>
                    <a:srgbClr val="03AC4F"/>
                  </a:solidFill>
                </a:uFill>
                <a:latin typeface="Arial MT"/>
                <a:cs typeface="Arial MT"/>
              </a:rPr>
              <a:t>in</a:t>
            </a:r>
            <a:r>
              <a:rPr sz="2269" u="heavy" spc="-268" dirty="0">
                <a:solidFill>
                  <a:srgbClr val="00B352"/>
                </a:solidFill>
                <a:uFill>
                  <a:solidFill>
                    <a:srgbClr val="03AC4F"/>
                  </a:solidFill>
                </a:uFill>
                <a:latin typeface="Arial MT"/>
                <a:cs typeface="Arial MT"/>
              </a:rPr>
              <a:t> </a:t>
            </a:r>
            <a:r>
              <a:rPr sz="2269" spc="-82" dirty="0">
                <a:solidFill>
                  <a:srgbClr val="00B352"/>
                </a:solidFill>
                <a:latin typeface="Arial MT"/>
                <a:cs typeface="Arial MT"/>
              </a:rPr>
              <a:t> </a:t>
            </a:r>
            <a:r>
              <a:rPr sz="2269" spc="95" dirty="0">
                <a:solidFill>
                  <a:srgbClr val="0003C1"/>
                </a:solidFill>
                <a:latin typeface="Arial MT"/>
                <a:cs typeface="Arial MT"/>
              </a:rPr>
              <a:t>work </a:t>
            </a:r>
            <a:r>
              <a:rPr sz="2269" spc="68" dirty="0">
                <a:solidFill>
                  <a:srgbClr val="0000BD"/>
                </a:solidFill>
                <a:latin typeface="Arial MT"/>
                <a:cs typeface="Arial MT"/>
              </a:rPr>
              <a:t>breakdown</a:t>
            </a:r>
            <a:r>
              <a:rPr sz="2269" spc="191" dirty="0">
                <a:solidFill>
                  <a:srgbClr val="0000BD"/>
                </a:solidFill>
                <a:latin typeface="Arial MT"/>
                <a:cs typeface="Arial MT"/>
              </a:rPr>
              <a:t> </a:t>
            </a:r>
            <a:r>
              <a:rPr sz="2269" spc="91" dirty="0">
                <a:solidFill>
                  <a:srgbClr val="0708D1"/>
                </a:solidFill>
                <a:latin typeface="Arial MT"/>
                <a:cs typeface="Arial MT"/>
              </a:rPr>
              <a:t>structure</a:t>
            </a:r>
            <a:r>
              <a:rPr sz="2269" spc="73" dirty="0">
                <a:solidFill>
                  <a:srgbClr val="0708D1"/>
                </a:solidFill>
                <a:latin typeface="Arial MT"/>
                <a:cs typeface="Arial MT"/>
              </a:rPr>
              <a:t> </a:t>
            </a:r>
            <a:r>
              <a:rPr sz="2269" spc="-9" dirty="0">
                <a:solidFill>
                  <a:srgbClr val="0003C4"/>
                </a:solidFill>
                <a:latin typeface="Arial MT"/>
                <a:cs typeface="Arial MT"/>
              </a:rPr>
              <a:t>(WBS).</a:t>
            </a:r>
            <a:endParaRPr sz="2269" dirty="0">
              <a:latin typeface="Arial MT"/>
              <a:cs typeface="Arial MT"/>
            </a:endParaRPr>
          </a:p>
        </p:txBody>
      </p:sp>
      <p:pic>
        <p:nvPicPr>
          <p:cNvPr id="8" name="Picture 7">
            <a:extLst>
              <a:ext uri="{FF2B5EF4-FFF2-40B4-BE49-F238E27FC236}">
                <a16:creationId xmlns:a16="http://schemas.microsoft.com/office/drawing/2014/main" id="{363F4364-AF6E-7743-1117-918157D89A7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2058324" y="2101711"/>
            <a:ext cx="4494876" cy="260489"/>
          </a:xfrm>
          <a:prstGeom prst="rect">
            <a:avLst/>
          </a:prstGeom>
        </p:spPr>
      </p:pic>
      <p:sp>
        <p:nvSpPr>
          <p:cNvPr id="3" name="object 3"/>
          <p:cNvSpPr txBox="1">
            <a:spLocks noGrp="1"/>
          </p:cNvSpPr>
          <p:nvPr>
            <p:ph type="title"/>
          </p:nvPr>
        </p:nvSpPr>
        <p:spPr>
          <a:xfrm>
            <a:off x="1524000" y="685800"/>
            <a:ext cx="9813279" cy="672777"/>
          </a:xfrm>
          <a:prstGeom prst="rect">
            <a:avLst/>
          </a:prstGeom>
        </p:spPr>
        <p:txBody>
          <a:bodyPr vert="horz" wrap="square" lIns="0" tIns="10950" rIns="0" bIns="0" rtlCol="0">
            <a:spAutoFit/>
          </a:bodyPr>
          <a:lstStyle/>
          <a:p>
            <a:pPr marL="10950">
              <a:spcBef>
                <a:spcPts val="86"/>
              </a:spcBef>
            </a:pPr>
            <a:r>
              <a:rPr b="1" u="sng" spc="95" dirty="0">
                <a:solidFill>
                  <a:srgbClr val="FF0000"/>
                </a:solidFill>
              </a:rPr>
              <a:t>Project Estimation</a:t>
            </a:r>
          </a:p>
        </p:txBody>
      </p:sp>
      <p:sp>
        <p:nvSpPr>
          <p:cNvPr id="7" name="object 7"/>
          <p:cNvSpPr txBox="1">
            <a:spLocks noGrp="1"/>
          </p:cNvSpPr>
          <p:nvPr>
            <p:ph type="sldNum" sz="quarter" idx="7"/>
          </p:nvPr>
        </p:nvSpPr>
        <p:spPr>
          <a:xfrm>
            <a:off x="13118081" y="5834651"/>
            <a:ext cx="221876" cy="117517"/>
          </a:xfrm>
          <a:prstGeom prst="rect">
            <a:avLst/>
          </a:prstGeom>
        </p:spPr>
        <p:txBody>
          <a:bodyPr vert="horz" wrap="square" lIns="0" tIns="5763" rIns="0" bIns="0" rtlCol="0">
            <a:spAutoFit/>
          </a:bodyPr>
          <a:lstStyle/>
          <a:p>
            <a:pPr marL="11527">
              <a:spcBef>
                <a:spcPts val="45"/>
              </a:spcBef>
            </a:pPr>
            <a:fld id="{81D60167-4931-47E6-BA6A-407CBD079E47}" type="slidenum">
              <a:rPr sz="726" spc="-23" dirty="0"/>
              <a:pPr marL="11527">
                <a:spcBef>
                  <a:spcPts val="45"/>
                </a:spcBef>
              </a:pPr>
              <a:t>4</a:t>
            </a:fld>
            <a:endParaRPr sz="726"/>
          </a:p>
        </p:txBody>
      </p:sp>
      <p:sp>
        <p:nvSpPr>
          <p:cNvPr id="4" name="object 4"/>
          <p:cNvSpPr txBox="1"/>
          <p:nvPr/>
        </p:nvSpPr>
        <p:spPr>
          <a:xfrm>
            <a:off x="2075712" y="1744351"/>
            <a:ext cx="7903989" cy="2953893"/>
          </a:xfrm>
          <a:prstGeom prst="rect">
            <a:avLst/>
          </a:prstGeom>
        </p:spPr>
        <p:txBody>
          <a:bodyPr vert="horz" wrap="square" lIns="0" tIns="191332" rIns="0" bIns="0" rtlCol="0">
            <a:spAutoFit/>
          </a:bodyPr>
          <a:lstStyle/>
          <a:p>
            <a:pPr marL="11527">
              <a:spcBef>
                <a:spcPts val="1507"/>
              </a:spcBef>
              <a:tabLst>
                <a:tab pos="1480005" algn="l"/>
              </a:tabLst>
            </a:pPr>
            <a:r>
              <a:rPr sz="2677" spc="68" dirty="0">
                <a:solidFill>
                  <a:srgbClr val="F90101"/>
                </a:solidFill>
                <a:latin typeface="Arial MT"/>
                <a:cs typeface="Arial MT"/>
              </a:rPr>
              <a:t>Four</a:t>
            </a:r>
            <a:r>
              <a:rPr sz="2677" spc="36" dirty="0">
                <a:solidFill>
                  <a:srgbClr val="F90101"/>
                </a:solidFill>
                <a:latin typeface="Arial MT"/>
                <a:cs typeface="Arial MT"/>
              </a:rPr>
              <a:t> </a:t>
            </a:r>
            <a:r>
              <a:rPr sz="2677" spc="77" dirty="0">
                <a:solidFill>
                  <a:srgbClr val="FD0000"/>
                </a:solidFill>
                <a:latin typeface="Arial MT"/>
                <a:cs typeface="Arial MT"/>
              </a:rPr>
              <a:t>As</a:t>
            </a:r>
            <a:r>
              <a:rPr sz="2677" dirty="0">
                <a:solidFill>
                  <a:srgbClr val="FD0000"/>
                </a:solidFill>
                <a:latin typeface="Arial MT"/>
                <a:cs typeface="Arial MT"/>
              </a:rPr>
              <a:t>	</a:t>
            </a:r>
            <a:r>
              <a:rPr sz="2677" spc="73" dirty="0">
                <a:solidFill>
                  <a:srgbClr val="FD0001"/>
                </a:solidFill>
                <a:latin typeface="Arial MT"/>
                <a:cs typeface="Arial MT"/>
              </a:rPr>
              <a:t>ects</a:t>
            </a:r>
            <a:r>
              <a:rPr sz="2677" spc="123" dirty="0">
                <a:solidFill>
                  <a:srgbClr val="FD0001"/>
                </a:solidFill>
                <a:latin typeface="Arial MT"/>
                <a:cs typeface="Arial MT"/>
              </a:rPr>
              <a:t> </a:t>
            </a:r>
            <a:r>
              <a:rPr sz="2677" spc="73" dirty="0">
                <a:solidFill>
                  <a:srgbClr val="F70300"/>
                </a:solidFill>
                <a:latin typeface="Arial MT"/>
                <a:cs typeface="Arial MT"/>
              </a:rPr>
              <a:t>of </a:t>
            </a:r>
            <a:r>
              <a:rPr sz="2677" spc="82" dirty="0">
                <a:solidFill>
                  <a:srgbClr val="FD0100"/>
                </a:solidFill>
                <a:latin typeface="Arial MT"/>
                <a:cs typeface="Arial MT"/>
              </a:rPr>
              <a:t>Estimation:</a:t>
            </a:r>
            <a:endParaRPr sz="2677" dirty="0">
              <a:latin typeface="Arial MT"/>
              <a:cs typeface="Arial MT"/>
            </a:endParaRPr>
          </a:p>
          <a:p>
            <a:pPr marL="289316" marR="700236" indent="-277213">
              <a:lnSpc>
                <a:spcPct val="100400"/>
              </a:lnSpc>
              <a:spcBef>
                <a:spcPts val="1153"/>
              </a:spcBef>
              <a:buClr>
                <a:srgbClr val="C30003"/>
              </a:buClr>
              <a:buChar char="•"/>
              <a:tabLst>
                <a:tab pos="289316" algn="l"/>
              </a:tabLst>
            </a:pPr>
            <a:r>
              <a:rPr sz="2269" u="heavy" dirty="0">
                <a:solidFill>
                  <a:srgbClr val="C10000"/>
                </a:solidFill>
                <a:uFill>
                  <a:solidFill>
                    <a:srgbClr val="570064"/>
                  </a:solidFill>
                </a:uFill>
                <a:latin typeface="Arial MT"/>
                <a:cs typeface="Arial MT"/>
              </a:rPr>
              <a:t>Ranqe:</a:t>
            </a:r>
            <a:r>
              <a:rPr sz="2269" spc="159" dirty="0">
                <a:solidFill>
                  <a:srgbClr val="C10000"/>
                </a:solidFill>
                <a:latin typeface="Arial MT"/>
                <a:cs typeface="Arial MT"/>
              </a:rPr>
              <a:t> </a:t>
            </a:r>
            <a:r>
              <a:rPr sz="2269" u="heavy" spc="73" dirty="0">
                <a:solidFill>
                  <a:srgbClr val="0000CA"/>
                </a:solidFill>
                <a:uFill>
                  <a:solidFill>
                    <a:srgbClr val="570064"/>
                  </a:solidFill>
                </a:uFill>
                <a:latin typeface="Arial MT"/>
                <a:cs typeface="Arial MT"/>
              </a:rPr>
              <a:t>number</a:t>
            </a:r>
            <a:r>
              <a:rPr sz="2269" spc="150" dirty="0">
                <a:solidFill>
                  <a:srgbClr val="0000CA"/>
                </a:solidFill>
                <a:latin typeface="Arial MT"/>
                <a:cs typeface="Arial MT"/>
              </a:rPr>
              <a:t> </a:t>
            </a:r>
            <a:r>
              <a:rPr sz="2269" dirty="0">
                <a:latin typeface="Arial MT"/>
                <a:cs typeface="Arial MT"/>
              </a:rPr>
              <a:t>of</a:t>
            </a:r>
            <a:r>
              <a:rPr sz="2269" spc="64" dirty="0">
                <a:latin typeface="Arial MT"/>
                <a:cs typeface="Arial MT"/>
              </a:rPr>
              <a:t> </a:t>
            </a:r>
            <a:r>
              <a:rPr sz="2269" spc="77" dirty="0">
                <a:solidFill>
                  <a:srgbClr val="0000CF"/>
                </a:solidFill>
                <a:latin typeface="Arial MT"/>
                <a:cs typeface="Arial MT"/>
              </a:rPr>
              <a:t>potential</a:t>
            </a:r>
            <a:r>
              <a:rPr sz="2269" spc="68" dirty="0">
                <a:solidFill>
                  <a:srgbClr val="0000CF"/>
                </a:solidFill>
                <a:latin typeface="Arial MT"/>
                <a:cs typeface="Arial MT"/>
              </a:rPr>
              <a:t> </a:t>
            </a:r>
            <a:r>
              <a:rPr sz="2269" spc="82" dirty="0">
                <a:solidFill>
                  <a:srgbClr val="0001CA"/>
                </a:solidFill>
                <a:latin typeface="Arial MT"/>
                <a:cs typeface="Arial MT"/>
              </a:rPr>
              <a:t>outcomes</a:t>
            </a:r>
            <a:r>
              <a:rPr sz="2269" spc="163" dirty="0">
                <a:solidFill>
                  <a:srgbClr val="0001CA"/>
                </a:solidFill>
                <a:latin typeface="Arial MT"/>
                <a:cs typeface="Arial MT"/>
              </a:rPr>
              <a:t> </a:t>
            </a:r>
            <a:r>
              <a:rPr sz="2269" dirty="0">
                <a:latin typeface="Arial MT"/>
                <a:cs typeface="Arial MT"/>
              </a:rPr>
              <a:t>that</a:t>
            </a:r>
            <a:r>
              <a:rPr sz="2269" spc="77" dirty="0">
                <a:latin typeface="Arial MT"/>
                <a:cs typeface="Arial MT"/>
              </a:rPr>
              <a:t> </a:t>
            </a:r>
            <a:r>
              <a:rPr sz="2269" dirty="0">
                <a:latin typeface="Arial MT"/>
                <a:cs typeface="Arial MT"/>
              </a:rPr>
              <a:t>could</a:t>
            </a:r>
            <a:r>
              <a:rPr sz="2269" spc="141" dirty="0">
                <a:latin typeface="Arial MT"/>
                <a:cs typeface="Arial MT"/>
              </a:rPr>
              <a:t> </a:t>
            </a:r>
            <a:r>
              <a:rPr sz="2269" spc="-23" dirty="0">
                <a:latin typeface="Arial MT"/>
                <a:cs typeface="Arial MT"/>
              </a:rPr>
              <a:t>be </a:t>
            </a:r>
            <a:r>
              <a:rPr sz="2269" u="heavy" spc="50" dirty="0">
                <a:solidFill>
                  <a:srgbClr val="08AA52"/>
                </a:solidFill>
                <a:uFill>
                  <a:solidFill>
                    <a:srgbClr val="08A84F"/>
                  </a:solidFill>
                </a:uFill>
                <a:latin typeface="Arial MT"/>
                <a:cs typeface="Arial MT"/>
              </a:rPr>
              <a:t>ex</a:t>
            </a:r>
            <a:r>
              <a:rPr lang="en-US" sz="2269" u="heavy" spc="50" dirty="0">
                <a:solidFill>
                  <a:srgbClr val="08AA52"/>
                </a:solidFill>
                <a:uFill>
                  <a:solidFill>
                    <a:srgbClr val="08A84F"/>
                  </a:solidFill>
                </a:uFill>
                <a:latin typeface="Arial MT"/>
                <a:cs typeface="Arial MT"/>
              </a:rPr>
              <a:t>p</a:t>
            </a:r>
            <a:r>
              <a:rPr sz="2269" u="heavy" spc="50" dirty="0">
                <a:solidFill>
                  <a:srgbClr val="08AA52"/>
                </a:solidFill>
                <a:uFill>
                  <a:solidFill>
                    <a:srgbClr val="08A84F"/>
                  </a:solidFill>
                </a:uFill>
                <a:latin typeface="Arial MT"/>
                <a:cs typeface="Arial MT"/>
              </a:rPr>
              <a:t>ected</a:t>
            </a:r>
            <a:r>
              <a:rPr sz="2269" spc="163" dirty="0">
                <a:solidFill>
                  <a:srgbClr val="08AA52"/>
                </a:solidFill>
                <a:latin typeface="Arial MT"/>
                <a:cs typeface="Arial MT"/>
              </a:rPr>
              <a:t> </a:t>
            </a:r>
            <a:r>
              <a:rPr sz="2269" dirty="0">
                <a:latin typeface="Arial MT"/>
                <a:cs typeface="Arial MT"/>
              </a:rPr>
              <a:t>to</a:t>
            </a:r>
            <a:r>
              <a:rPr sz="2269" spc="36" dirty="0">
                <a:latin typeface="Arial MT"/>
                <a:cs typeface="Arial MT"/>
              </a:rPr>
              <a:t> </a:t>
            </a:r>
            <a:r>
              <a:rPr sz="2269" spc="54" dirty="0">
                <a:solidFill>
                  <a:srgbClr val="03AE4F"/>
                </a:solidFill>
                <a:latin typeface="Arial MT"/>
                <a:cs typeface="Arial MT"/>
              </a:rPr>
              <a:t>occur.</a:t>
            </a:r>
            <a:endParaRPr sz="2269" dirty="0">
              <a:latin typeface="Arial MT"/>
              <a:cs typeface="Arial MT"/>
            </a:endParaRPr>
          </a:p>
          <a:p>
            <a:pPr marL="291621" indent="-279518">
              <a:spcBef>
                <a:spcPts val="1175"/>
              </a:spcBef>
              <a:buClr>
                <a:srgbClr val="C10000"/>
              </a:buClr>
              <a:buChar char="•"/>
              <a:tabLst>
                <a:tab pos="291621" algn="l"/>
                <a:tab pos="1773355" algn="l"/>
              </a:tabLst>
            </a:pPr>
            <a:r>
              <a:rPr sz="2269" u="heavy" spc="64" dirty="0">
                <a:solidFill>
                  <a:srgbClr val="B50307"/>
                </a:solidFill>
                <a:uFill>
                  <a:solidFill>
                    <a:srgbClr val="B30303"/>
                  </a:solidFill>
                </a:uFill>
                <a:latin typeface="Arial MT"/>
                <a:cs typeface="Arial MT"/>
              </a:rPr>
              <a:t>Accuracv:</a:t>
            </a:r>
            <a:r>
              <a:rPr sz="2269" dirty="0">
                <a:solidFill>
                  <a:srgbClr val="B50307"/>
                </a:solidFill>
                <a:latin typeface="Arial MT"/>
                <a:cs typeface="Arial MT"/>
              </a:rPr>
              <a:t>	</a:t>
            </a:r>
            <a:r>
              <a:rPr sz="2269" spc="73" dirty="0">
                <a:solidFill>
                  <a:srgbClr val="0100CF"/>
                </a:solidFill>
                <a:latin typeface="Arial MT"/>
                <a:cs typeface="Arial MT"/>
              </a:rPr>
              <a:t>correctness</a:t>
            </a:r>
            <a:r>
              <a:rPr sz="2269" spc="254" dirty="0">
                <a:solidFill>
                  <a:srgbClr val="0100CF"/>
                </a:solidFill>
                <a:latin typeface="Arial MT"/>
                <a:cs typeface="Arial MT"/>
              </a:rPr>
              <a:t> </a:t>
            </a:r>
            <a:r>
              <a:rPr sz="2269" dirty="0">
                <a:latin typeface="Arial MT"/>
                <a:cs typeface="Arial MT"/>
              </a:rPr>
              <a:t>of</a:t>
            </a:r>
            <a:r>
              <a:rPr sz="2269" spc="18" dirty="0">
                <a:latin typeface="Arial MT"/>
                <a:cs typeface="Arial MT"/>
              </a:rPr>
              <a:t> </a:t>
            </a:r>
            <a:r>
              <a:rPr sz="2269" dirty="0">
                <a:latin typeface="Arial MT"/>
                <a:cs typeface="Arial MT"/>
              </a:rPr>
              <a:t>an</a:t>
            </a:r>
            <a:r>
              <a:rPr sz="2269" spc="18" dirty="0">
                <a:latin typeface="Arial MT"/>
                <a:cs typeface="Arial MT"/>
              </a:rPr>
              <a:t> </a:t>
            </a:r>
            <a:r>
              <a:rPr sz="2269" spc="45" dirty="0">
                <a:latin typeface="Arial MT"/>
                <a:cs typeface="Arial MT"/>
              </a:rPr>
              <a:t>estimate.</a:t>
            </a:r>
            <a:endParaRPr sz="2269" dirty="0">
              <a:latin typeface="Arial MT"/>
              <a:cs typeface="Arial MT"/>
            </a:endParaRPr>
          </a:p>
          <a:p>
            <a:pPr marL="288739" indent="-276636">
              <a:spcBef>
                <a:spcPts val="1148"/>
              </a:spcBef>
              <a:buClr>
                <a:srgbClr val="B80301"/>
              </a:buClr>
              <a:buChar char="•"/>
              <a:tabLst>
                <a:tab pos="288739" algn="l"/>
              </a:tabLst>
            </a:pPr>
            <a:r>
              <a:rPr sz="2269" u="heavy" spc="73" dirty="0">
                <a:solidFill>
                  <a:srgbClr val="B30503"/>
                </a:solidFill>
                <a:uFill>
                  <a:solidFill>
                    <a:srgbClr val="6B004F"/>
                  </a:solidFill>
                </a:uFill>
                <a:latin typeface="Arial MT"/>
                <a:cs typeface="Arial MT"/>
              </a:rPr>
              <a:t>Precision:</a:t>
            </a:r>
            <a:r>
              <a:rPr sz="2269" spc="208" dirty="0">
                <a:solidFill>
                  <a:srgbClr val="B30503"/>
                </a:solidFill>
                <a:latin typeface="Arial MT"/>
                <a:cs typeface="Arial MT"/>
              </a:rPr>
              <a:t> </a:t>
            </a:r>
            <a:r>
              <a:rPr sz="2269" u="heavy" dirty="0">
                <a:solidFill>
                  <a:srgbClr val="0000E4"/>
                </a:solidFill>
                <a:uFill>
                  <a:solidFill>
                    <a:srgbClr val="6B004F"/>
                  </a:solidFill>
                </a:uFill>
                <a:latin typeface="Arial MT"/>
                <a:cs typeface="Arial MT"/>
              </a:rPr>
              <a:t>deqree</a:t>
            </a:r>
            <a:r>
              <a:rPr sz="2269" spc="100" dirty="0">
                <a:solidFill>
                  <a:srgbClr val="0000E4"/>
                </a:solidFill>
                <a:latin typeface="Arial MT"/>
                <a:cs typeface="Arial MT"/>
              </a:rPr>
              <a:t> </a:t>
            </a:r>
            <a:r>
              <a:rPr sz="2269" dirty="0">
                <a:latin typeface="Arial MT"/>
                <a:cs typeface="Arial MT"/>
              </a:rPr>
              <a:t>of</a:t>
            </a:r>
            <a:r>
              <a:rPr sz="2269" spc="5" dirty="0">
                <a:latin typeface="Arial MT"/>
                <a:cs typeface="Arial MT"/>
              </a:rPr>
              <a:t> </a:t>
            </a:r>
            <a:r>
              <a:rPr sz="2269" spc="54" dirty="0">
                <a:solidFill>
                  <a:srgbClr val="0100CD"/>
                </a:solidFill>
                <a:latin typeface="Arial MT"/>
                <a:cs typeface="Arial MT"/>
              </a:rPr>
              <a:t>exactness</a:t>
            </a:r>
            <a:r>
              <a:rPr sz="2269" spc="236" dirty="0">
                <a:solidFill>
                  <a:srgbClr val="0100CD"/>
                </a:solidFill>
                <a:latin typeface="Arial MT"/>
                <a:cs typeface="Arial MT"/>
              </a:rPr>
              <a:t> </a:t>
            </a:r>
            <a:r>
              <a:rPr sz="2269" dirty="0">
                <a:latin typeface="Arial MT"/>
                <a:cs typeface="Arial MT"/>
              </a:rPr>
              <a:t>associated</a:t>
            </a:r>
            <a:r>
              <a:rPr sz="2269" spc="195" dirty="0">
                <a:latin typeface="Arial MT"/>
                <a:cs typeface="Arial MT"/>
              </a:rPr>
              <a:t> </a:t>
            </a:r>
            <a:r>
              <a:rPr sz="2269" dirty="0">
                <a:latin typeface="Arial MT"/>
                <a:cs typeface="Arial MT"/>
              </a:rPr>
              <a:t>with</a:t>
            </a:r>
            <a:r>
              <a:rPr sz="2269" spc="32" dirty="0">
                <a:latin typeface="Arial MT"/>
                <a:cs typeface="Arial MT"/>
              </a:rPr>
              <a:t> </a:t>
            </a:r>
            <a:r>
              <a:rPr sz="2269" spc="36" dirty="0">
                <a:latin typeface="Arial MT"/>
                <a:cs typeface="Arial MT"/>
              </a:rPr>
              <a:t>estimate.</a:t>
            </a:r>
            <a:endParaRPr sz="2269" dirty="0">
              <a:latin typeface="Arial MT"/>
              <a:cs typeface="Arial MT"/>
            </a:endParaRPr>
          </a:p>
          <a:p>
            <a:pPr marL="291045" indent="-278942">
              <a:spcBef>
                <a:spcPts val="1153"/>
              </a:spcBef>
              <a:buClr>
                <a:srgbClr val="C80003"/>
              </a:buClr>
              <a:buChar char="•"/>
              <a:tabLst>
                <a:tab pos="291045" algn="l"/>
              </a:tabLst>
            </a:pPr>
            <a:r>
              <a:rPr sz="2269" u="heavy" spc="59" dirty="0">
                <a:solidFill>
                  <a:srgbClr val="C40001"/>
                </a:solidFill>
                <a:uFill>
                  <a:solidFill>
                    <a:srgbClr val="740048"/>
                  </a:solidFill>
                </a:uFill>
                <a:latin typeface="Arial MT"/>
                <a:cs typeface="Arial MT"/>
              </a:rPr>
              <a:t>Confidence:</a:t>
            </a:r>
            <a:r>
              <a:rPr sz="2269" spc="259" dirty="0">
                <a:solidFill>
                  <a:srgbClr val="C40001"/>
                </a:solidFill>
                <a:latin typeface="Arial MT"/>
                <a:cs typeface="Arial MT"/>
              </a:rPr>
              <a:t> </a:t>
            </a:r>
            <a:r>
              <a:rPr sz="2269" u="heavy" dirty="0">
                <a:solidFill>
                  <a:srgbClr val="0000CA"/>
                </a:solidFill>
                <a:uFill>
                  <a:solidFill>
                    <a:srgbClr val="740048"/>
                  </a:solidFill>
                </a:uFill>
                <a:latin typeface="Arial MT"/>
                <a:cs typeface="Arial MT"/>
              </a:rPr>
              <a:t>deqree</a:t>
            </a:r>
            <a:r>
              <a:rPr sz="2269" spc="136" dirty="0">
                <a:solidFill>
                  <a:srgbClr val="0000CA"/>
                </a:solidFill>
                <a:latin typeface="Arial MT"/>
                <a:cs typeface="Arial MT"/>
              </a:rPr>
              <a:t> </a:t>
            </a:r>
            <a:r>
              <a:rPr sz="2269" dirty="0">
                <a:latin typeface="Arial MT"/>
                <a:cs typeface="Arial MT"/>
              </a:rPr>
              <a:t>of</a:t>
            </a:r>
            <a:r>
              <a:rPr sz="2269" spc="36" dirty="0">
                <a:latin typeface="Arial MT"/>
                <a:cs typeface="Arial MT"/>
              </a:rPr>
              <a:t> </a:t>
            </a:r>
            <a:r>
              <a:rPr sz="2269" spc="100" dirty="0">
                <a:solidFill>
                  <a:srgbClr val="0100CA"/>
                </a:solidFill>
                <a:latin typeface="Arial MT"/>
                <a:cs typeface="Arial MT"/>
              </a:rPr>
              <a:t>trust</a:t>
            </a:r>
            <a:r>
              <a:rPr sz="2269" spc="95" dirty="0">
                <a:solidFill>
                  <a:srgbClr val="0100CA"/>
                </a:solidFill>
                <a:latin typeface="Arial MT"/>
                <a:cs typeface="Arial MT"/>
              </a:rPr>
              <a:t> </a:t>
            </a:r>
            <a:r>
              <a:rPr sz="2269" dirty="0">
                <a:latin typeface="Arial MT"/>
                <a:cs typeface="Arial MT"/>
              </a:rPr>
              <a:t>one</a:t>
            </a:r>
            <a:r>
              <a:rPr sz="2269" spc="68" dirty="0">
                <a:latin typeface="Arial MT"/>
                <a:cs typeface="Arial MT"/>
              </a:rPr>
              <a:t> </a:t>
            </a:r>
            <a:r>
              <a:rPr sz="2269" dirty="0">
                <a:latin typeface="Arial MT"/>
                <a:cs typeface="Arial MT"/>
              </a:rPr>
              <a:t>has</a:t>
            </a:r>
            <a:r>
              <a:rPr sz="2269" spc="95" dirty="0">
                <a:latin typeface="Arial MT"/>
                <a:cs typeface="Arial MT"/>
              </a:rPr>
              <a:t> </a:t>
            </a:r>
            <a:r>
              <a:rPr sz="2269" dirty="0">
                <a:latin typeface="Arial MT"/>
                <a:cs typeface="Arial MT"/>
              </a:rPr>
              <a:t>in</a:t>
            </a:r>
            <a:r>
              <a:rPr sz="2269" spc="32" dirty="0">
                <a:latin typeface="Arial MT"/>
                <a:cs typeface="Arial MT"/>
              </a:rPr>
              <a:t> </a:t>
            </a:r>
            <a:r>
              <a:rPr sz="2269" spc="45" dirty="0">
                <a:latin typeface="Arial MT"/>
                <a:cs typeface="Arial MT"/>
              </a:rPr>
              <a:t>estimate.</a:t>
            </a:r>
            <a:endParaRPr sz="2269" dirty="0">
              <a:latin typeface="Arial MT"/>
              <a:cs typeface="Arial MT"/>
            </a:endParaRPr>
          </a:p>
        </p:txBody>
      </p:sp>
      <p:pic>
        <p:nvPicPr>
          <p:cNvPr id="5" name="Picture 4">
            <a:extLst>
              <a:ext uri="{FF2B5EF4-FFF2-40B4-BE49-F238E27FC236}">
                <a16:creationId xmlns:a16="http://schemas.microsoft.com/office/drawing/2014/main" id="{6AC86FD0-A3DA-21C4-FA20-00879AFCA88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572262"/>
            <a:ext cx="10812780" cy="683260"/>
          </a:xfrm>
          <a:prstGeom prst="rect">
            <a:avLst/>
          </a:prstGeom>
        </p:spPr>
        <p:txBody>
          <a:bodyPr vert="horz" wrap="square" lIns="0" tIns="13970" rIns="0" bIns="0" rtlCol="0">
            <a:spAutoFit/>
          </a:bodyPr>
          <a:lstStyle/>
          <a:p>
            <a:pPr marL="12700">
              <a:lnSpc>
                <a:spcPct val="100000"/>
              </a:lnSpc>
              <a:spcBef>
                <a:spcPts val="110"/>
              </a:spcBef>
            </a:pPr>
            <a:r>
              <a:rPr b="1" u="sng" spc="95" dirty="0">
                <a:solidFill>
                  <a:srgbClr val="FF0000"/>
                </a:solidFill>
              </a:rPr>
              <a:t>Factors Influencing the Quality of Estimates </a:t>
            </a:r>
            <a:r>
              <a:rPr sz="1950" spc="-10" dirty="0"/>
              <a:t>(1/2)</a:t>
            </a:r>
            <a:endParaRPr sz="1950" dirty="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5</a:t>
            </a:fld>
            <a:endParaRPr spc="-50" dirty="0"/>
          </a:p>
        </p:txBody>
      </p:sp>
      <p:sp>
        <p:nvSpPr>
          <p:cNvPr id="3" name="object 3"/>
          <p:cNvSpPr txBox="1"/>
          <p:nvPr/>
        </p:nvSpPr>
        <p:spPr>
          <a:xfrm>
            <a:off x="916939" y="1622043"/>
            <a:ext cx="10358120" cy="4920615"/>
          </a:xfrm>
          <a:prstGeom prst="rect">
            <a:avLst/>
          </a:prstGeom>
        </p:spPr>
        <p:txBody>
          <a:bodyPr vert="horz" wrap="square" lIns="0" tIns="55244" rIns="0" bIns="0" rtlCol="0">
            <a:spAutoFit/>
          </a:bodyPr>
          <a:lstStyle/>
          <a:p>
            <a:pPr marL="241300" marR="5080" indent="-228600" algn="just">
              <a:lnSpc>
                <a:spcPct val="90000"/>
              </a:lnSpc>
              <a:spcBef>
                <a:spcPts val="434"/>
              </a:spcBef>
              <a:buFont typeface="Arial MT"/>
              <a:buChar char="•"/>
              <a:tabLst>
                <a:tab pos="241300" algn="l"/>
              </a:tabLst>
            </a:pPr>
            <a:r>
              <a:rPr sz="2800" b="1" dirty="0">
                <a:solidFill>
                  <a:srgbClr val="262EA4"/>
                </a:solidFill>
                <a:latin typeface="Calibri"/>
                <a:cs typeface="Calibri"/>
              </a:rPr>
              <a:t>Planning</a:t>
            </a:r>
            <a:r>
              <a:rPr sz="2800" b="1" spc="680" dirty="0">
                <a:solidFill>
                  <a:srgbClr val="262EA4"/>
                </a:solidFill>
                <a:latin typeface="Calibri"/>
                <a:cs typeface="Calibri"/>
              </a:rPr>
              <a:t> </a:t>
            </a:r>
            <a:r>
              <a:rPr sz="2800" b="1" dirty="0">
                <a:solidFill>
                  <a:srgbClr val="262EA4"/>
                </a:solidFill>
                <a:latin typeface="Calibri"/>
                <a:cs typeface="Calibri"/>
              </a:rPr>
              <a:t>Horizon:</a:t>
            </a:r>
            <a:r>
              <a:rPr sz="2800" b="1" spc="685" dirty="0">
                <a:solidFill>
                  <a:srgbClr val="262EA4"/>
                </a:solidFill>
                <a:latin typeface="Calibri"/>
                <a:cs typeface="Calibri"/>
              </a:rPr>
              <a:t> </a:t>
            </a:r>
            <a:r>
              <a:rPr sz="2800" dirty="0">
                <a:latin typeface="Calibri"/>
                <a:cs typeface="Calibri"/>
              </a:rPr>
              <a:t>Estimates</a:t>
            </a:r>
            <a:r>
              <a:rPr sz="2800" spc="685" dirty="0">
                <a:latin typeface="Calibri"/>
                <a:cs typeface="Calibri"/>
              </a:rPr>
              <a:t> </a:t>
            </a:r>
            <a:r>
              <a:rPr sz="2800" dirty="0">
                <a:latin typeface="Calibri"/>
                <a:cs typeface="Calibri"/>
              </a:rPr>
              <a:t>of</a:t>
            </a:r>
            <a:r>
              <a:rPr sz="2800" spc="670" dirty="0">
                <a:latin typeface="Calibri"/>
                <a:cs typeface="Calibri"/>
              </a:rPr>
              <a:t> </a:t>
            </a:r>
            <a:r>
              <a:rPr sz="2800" dirty="0">
                <a:latin typeface="Calibri"/>
                <a:cs typeface="Calibri"/>
              </a:rPr>
              <a:t>current</a:t>
            </a:r>
            <a:r>
              <a:rPr sz="2800" spc="685" dirty="0">
                <a:latin typeface="Calibri"/>
                <a:cs typeface="Calibri"/>
              </a:rPr>
              <a:t> </a:t>
            </a:r>
            <a:r>
              <a:rPr sz="2800" dirty="0">
                <a:latin typeface="Calibri"/>
                <a:cs typeface="Calibri"/>
              </a:rPr>
              <a:t>events</a:t>
            </a:r>
            <a:r>
              <a:rPr sz="2800" spc="685" dirty="0">
                <a:latin typeface="Calibri"/>
                <a:cs typeface="Calibri"/>
              </a:rPr>
              <a:t> </a:t>
            </a:r>
            <a:r>
              <a:rPr sz="2800" dirty="0">
                <a:latin typeface="Calibri"/>
                <a:cs typeface="Calibri"/>
              </a:rPr>
              <a:t>are</a:t>
            </a:r>
            <a:r>
              <a:rPr sz="2800" spc="675" dirty="0">
                <a:latin typeface="Calibri"/>
                <a:cs typeface="Calibri"/>
              </a:rPr>
              <a:t> </a:t>
            </a:r>
            <a:r>
              <a:rPr sz="2800" dirty="0">
                <a:latin typeface="Calibri"/>
                <a:cs typeface="Calibri"/>
              </a:rPr>
              <a:t>close</a:t>
            </a:r>
            <a:r>
              <a:rPr sz="2800" spc="670" dirty="0">
                <a:latin typeface="Calibri"/>
                <a:cs typeface="Calibri"/>
              </a:rPr>
              <a:t> </a:t>
            </a:r>
            <a:r>
              <a:rPr sz="2800" dirty="0">
                <a:latin typeface="Calibri"/>
                <a:cs typeface="Calibri"/>
              </a:rPr>
              <a:t>to</a:t>
            </a:r>
            <a:r>
              <a:rPr sz="2800" spc="680" dirty="0">
                <a:latin typeface="Calibri"/>
                <a:cs typeface="Calibri"/>
              </a:rPr>
              <a:t> </a:t>
            </a:r>
            <a:r>
              <a:rPr sz="2800" spc="-20" dirty="0">
                <a:latin typeface="Calibri"/>
                <a:cs typeface="Calibri"/>
              </a:rPr>
              <a:t>100% </a:t>
            </a:r>
            <a:r>
              <a:rPr sz="2800" dirty="0">
                <a:latin typeface="Calibri"/>
                <a:cs typeface="Calibri"/>
              </a:rPr>
              <a:t>accurate</a:t>
            </a:r>
            <a:r>
              <a:rPr sz="2800" spc="400" dirty="0">
                <a:latin typeface="Calibri"/>
                <a:cs typeface="Calibri"/>
              </a:rPr>
              <a:t> </a:t>
            </a:r>
            <a:r>
              <a:rPr sz="2800" dirty="0">
                <a:latin typeface="Calibri"/>
                <a:cs typeface="Calibri"/>
              </a:rPr>
              <a:t>but</a:t>
            </a:r>
            <a:r>
              <a:rPr sz="2800" spc="400" dirty="0">
                <a:latin typeface="Calibri"/>
                <a:cs typeface="Calibri"/>
              </a:rPr>
              <a:t> </a:t>
            </a:r>
            <a:r>
              <a:rPr sz="2800" dirty="0">
                <a:latin typeface="Calibri"/>
                <a:cs typeface="Calibri"/>
              </a:rPr>
              <a:t>are</a:t>
            </a:r>
            <a:r>
              <a:rPr sz="2800" spc="400" dirty="0">
                <a:latin typeface="Calibri"/>
                <a:cs typeface="Calibri"/>
              </a:rPr>
              <a:t> </a:t>
            </a:r>
            <a:r>
              <a:rPr sz="2800" dirty="0">
                <a:latin typeface="Calibri"/>
                <a:cs typeface="Calibri"/>
              </a:rPr>
              <a:t>reduced</a:t>
            </a:r>
            <a:r>
              <a:rPr sz="2800" spc="405" dirty="0">
                <a:latin typeface="Calibri"/>
                <a:cs typeface="Calibri"/>
              </a:rPr>
              <a:t> </a:t>
            </a:r>
            <a:r>
              <a:rPr sz="2800" dirty="0">
                <a:latin typeface="Calibri"/>
                <a:cs typeface="Calibri"/>
              </a:rPr>
              <a:t>for</a:t>
            </a:r>
            <a:r>
              <a:rPr sz="2800" spc="409" dirty="0">
                <a:latin typeface="Calibri"/>
                <a:cs typeface="Calibri"/>
              </a:rPr>
              <a:t> </a:t>
            </a:r>
            <a:r>
              <a:rPr sz="2800" dirty="0">
                <a:latin typeface="Calibri"/>
                <a:cs typeface="Calibri"/>
              </a:rPr>
              <a:t>more</a:t>
            </a:r>
            <a:r>
              <a:rPr sz="2800" spc="395" dirty="0">
                <a:latin typeface="Calibri"/>
                <a:cs typeface="Calibri"/>
              </a:rPr>
              <a:t> </a:t>
            </a:r>
            <a:r>
              <a:rPr sz="2800" dirty="0">
                <a:latin typeface="Calibri"/>
                <a:cs typeface="Calibri"/>
              </a:rPr>
              <a:t>distant</a:t>
            </a:r>
            <a:r>
              <a:rPr sz="2800" spc="405" dirty="0">
                <a:latin typeface="Calibri"/>
                <a:cs typeface="Calibri"/>
              </a:rPr>
              <a:t> </a:t>
            </a:r>
            <a:r>
              <a:rPr sz="2800" dirty="0">
                <a:latin typeface="Calibri"/>
                <a:cs typeface="Calibri"/>
              </a:rPr>
              <a:t>events.</a:t>
            </a:r>
            <a:r>
              <a:rPr sz="2800" spc="409" dirty="0">
                <a:latin typeface="Calibri"/>
                <a:cs typeface="Calibri"/>
              </a:rPr>
              <a:t> </a:t>
            </a:r>
            <a:r>
              <a:rPr sz="2800" dirty="0">
                <a:latin typeface="Calibri"/>
                <a:cs typeface="Calibri"/>
              </a:rPr>
              <a:t>The</a:t>
            </a:r>
            <a:r>
              <a:rPr sz="2800" spc="400" dirty="0">
                <a:latin typeface="Calibri"/>
                <a:cs typeface="Calibri"/>
              </a:rPr>
              <a:t> </a:t>
            </a:r>
            <a:r>
              <a:rPr sz="2800" dirty="0">
                <a:latin typeface="Calibri"/>
                <a:cs typeface="Calibri"/>
              </a:rPr>
              <a:t>accuracy</a:t>
            </a:r>
            <a:r>
              <a:rPr sz="2800" spc="409" dirty="0">
                <a:latin typeface="Calibri"/>
                <a:cs typeface="Calibri"/>
              </a:rPr>
              <a:t> </a:t>
            </a:r>
            <a:r>
              <a:rPr sz="2800" spc="-25" dirty="0">
                <a:latin typeface="Calibri"/>
                <a:cs typeface="Calibri"/>
              </a:rPr>
              <a:t>of </a:t>
            </a:r>
            <a:r>
              <a:rPr sz="2800" dirty="0">
                <a:latin typeface="Calibri"/>
                <a:cs typeface="Calibri"/>
              </a:rPr>
              <a:t>time</a:t>
            </a:r>
            <a:r>
              <a:rPr sz="2800" spc="85" dirty="0">
                <a:latin typeface="Calibri"/>
                <a:cs typeface="Calibri"/>
              </a:rPr>
              <a:t>  </a:t>
            </a:r>
            <a:r>
              <a:rPr sz="2800" dirty="0">
                <a:latin typeface="Calibri"/>
                <a:cs typeface="Calibri"/>
              </a:rPr>
              <a:t>and</a:t>
            </a:r>
            <a:r>
              <a:rPr sz="2800" spc="95" dirty="0">
                <a:latin typeface="Calibri"/>
                <a:cs typeface="Calibri"/>
              </a:rPr>
              <a:t>  </a:t>
            </a:r>
            <a:r>
              <a:rPr sz="2800" dirty="0">
                <a:latin typeface="Calibri"/>
                <a:cs typeface="Calibri"/>
              </a:rPr>
              <a:t>cost</a:t>
            </a:r>
            <a:r>
              <a:rPr sz="2800" spc="90" dirty="0">
                <a:latin typeface="Calibri"/>
                <a:cs typeface="Calibri"/>
              </a:rPr>
              <a:t>  </a:t>
            </a:r>
            <a:r>
              <a:rPr sz="2800" dirty="0">
                <a:latin typeface="Calibri"/>
                <a:cs typeface="Calibri"/>
              </a:rPr>
              <a:t>estimates</a:t>
            </a:r>
            <a:r>
              <a:rPr sz="2800" spc="95" dirty="0">
                <a:latin typeface="Calibri"/>
                <a:cs typeface="Calibri"/>
              </a:rPr>
              <a:t>  </a:t>
            </a:r>
            <a:r>
              <a:rPr sz="2800" dirty="0">
                <a:latin typeface="Calibri"/>
                <a:cs typeface="Calibri"/>
              </a:rPr>
              <a:t>should</a:t>
            </a:r>
            <a:r>
              <a:rPr sz="2800" spc="95" dirty="0">
                <a:latin typeface="Calibri"/>
                <a:cs typeface="Calibri"/>
              </a:rPr>
              <a:t>  </a:t>
            </a:r>
            <a:r>
              <a:rPr sz="2800" dirty="0">
                <a:latin typeface="Calibri"/>
                <a:cs typeface="Calibri"/>
              </a:rPr>
              <a:t>improve</a:t>
            </a:r>
            <a:r>
              <a:rPr sz="2800" spc="85" dirty="0">
                <a:latin typeface="Calibri"/>
                <a:cs typeface="Calibri"/>
              </a:rPr>
              <a:t>  </a:t>
            </a:r>
            <a:r>
              <a:rPr sz="2800" dirty="0">
                <a:latin typeface="Calibri"/>
                <a:cs typeface="Calibri"/>
              </a:rPr>
              <a:t>as</a:t>
            </a:r>
            <a:r>
              <a:rPr sz="2800" spc="95" dirty="0">
                <a:latin typeface="Calibri"/>
                <a:cs typeface="Calibri"/>
              </a:rPr>
              <a:t>  </a:t>
            </a:r>
            <a:r>
              <a:rPr sz="2800" dirty="0">
                <a:latin typeface="Calibri"/>
                <a:cs typeface="Calibri"/>
              </a:rPr>
              <a:t>you</a:t>
            </a:r>
            <a:r>
              <a:rPr sz="2800" spc="90" dirty="0">
                <a:latin typeface="Calibri"/>
                <a:cs typeface="Calibri"/>
              </a:rPr>
              <a:t>  </a:t>
            </a:r>
            <a:r>
              <a:rPr sz="2800" dirty="0">
                <a:latin typeface="Calibri"/>
                <a:cs typeface="Calibri"/>
              </a:rPr>
              <a:t>move</a:t>
            </a:r>
            <a:r>
              <a:rPr sz="2800" spc="90" dirty="0">
                <a:latin typeface="Calibri"/>
                <a:cs typeface="Calibri"/>
              </a:rPr>
              <a:t>  </a:t>
            </a:r>
            <a:r>
              <a:rPr sz="2800" dirty="0">
                <a:latin typeface="Calibri"/>
                <a:cs typeface="Calibri"/>
              </a:rPr>
              <a:t>from</a:t>
            </a:r>
            <a:r>
              <a:rPr sz="2800" spc="90" dirty="0">
                <a:latin typeface="Calibri"/>
                <a:cs typeface="Calibri"/>
              </a:rPr>
              <a:t>  </a:t>
            </a:r>
            <a:r>
              <a:rPr sz="2800" spc="-25" dirty="0">
                <a:latin typeface="Calibri"/>
                <a:cs typeface="Calibri"/>
              </a:rPr>
              <a:t>the </a:t>
            </a:r>
            <a:r>
              <a:rPr sz="2800" dirty="0">
                <a:latin typeface="Calibri"/>
                <a:cs typeface="Calibri"/>
              </a:rPr>
              <a:t>conceptual</a:t>
            </a:r>
            <a:r>
              <a:rPr sz="2800" spc="420" dirty="0">
                <a:latin typeface="Calibri"/>
                <a:cs typeface="Calibri"/>
              </a:rPr>
              <a:t> </a:t>
            </a:r>
            <a:r>
              <a:rPr sz="2800" dirty="0">
                <a:latin typeface="Calibri"/>
                <a:cs typeface="Calibri"/>
              </a:rPr>
              <a:t>phase</a:t>
            </a:r>
            <a:r>
              <a:rPr sz="2800" spc="415" dirty="0">
                <a:latin typeface="Calibri"/>
                <a:cs typeface="Calibri"/>
              </a:rPr>
              <a:t> </a:t>
            </a:r>
            <a:r>
              <a:rPr sz="2800" dirty="0">
                <a:latin typeface="Calibri"/>
                <a:cs typeface="Calibri"/>
              </a:rPr>
              <a:t>to</a:t>
            </a:r>
            <a:r>
              <a:rPr sz="2800" spc="420" dirty="0">
                <a:latin typeface="Calibri"/>
                <a:cs typeface="Calibri"/>
              </a:rPr>
              <a:t> </a:t>
            </a:r>
            <a:r>
              <a:rPr sz="2800" dirty="0">
                <a:latin typeface="Calibri"/>
                <a:cs typeface="Calibri"/>
              </a:rPr>
              <a:t>the</a:t>
            </a:r>
            <a:r>
              <a:rPr sz="2800" spc="420" dirty="0">
                <a:latin typeface="Calibri"/>
                <a:cs typeface="Calibri"/>
              </a:rPr>
              <a:t> </a:t>
            </a:r>
            <a:r>
              <a:rPr sz="2800" dirty="0">
                <a:latin typeface="Calibri"/>
                <a:cs typeface="Calibri"/>
              </a:rPr>
              <a:t>point</a:t>
            </a:r>
            <a:r>
              <a:rPr sz="2800" spc="420" dirty="0">
                <a:latin typeface="Calibri"/>
                <a:cs typeface="Calibri"/>
              </a:rPr>
              <a:t> </a:t>
            </a:r>
            <a:r>
              <a:rPr sz="2800" dirty="0">
                <a:latin typeface="Calibri"/>
                <a:cs typeface="Calibri"/>
              </a:rPr>
              <a:t>where</a:t>
            </a:r>
            <a:r>
              <a:rPr sz="2800" spc="415" dirty="0">
                <a:latin typeface="Calibri"/>
                <a:cs typeface="Calibri"/>
              </a:rPr>
              <a:t> </a:t>
            </a:r>
            <a:r>
              <a:rPr sz="2800" dirty="0">
                <a:latin typeface="Calibri"/>
                <a:cs typeface="Calibri"/>
              </a:rPr>
              <a:t>individual</a:t>
            </a:r>
            <a:r>
              <a:rPr sz="2800" spc="420" dirty="0">
                <a:latin typeface="Calibri"/>
                <a:cs typeface="Calibri"/>
              </a:rPr>
              <a:t> </a:t>
            </a:r>
            <a:r>
              <a:rPr sz="2800" dirty="0">
                <a:latin typeface="Calibri"/>
                <a:cs typeface="Calibri"/>
              </a:rPr>
              <a:t>work</a:t>
            </a:r>
            <a:r>
              <a:rPr sz="2800" spc="425" dirty="0">
                <a:latin typeface="Calibri"/>
                <a:cs typeface="Calibri"/>
              </a:rPr>
              <a:t> </a:t>
            </a:r>
            <a:r>
              <a:rPr sz="2800" dirty="0">
                <a:latin typeface="Calibri"/>
                <a:cs typeface="Calibri"/>
              </a:rPr>
              <a:t>packages</a:t>
            </a:r>
            <a:r>
              <a:rPr sz="2800" spc="425" dirty="0">
                <a:latin typeface="Calibri"/>
                <a:cs typeface="Calibri"/>
              </a:rPr>
              <a:t> </a:t>
            </a:r>
            <a:r>
              <a:rPr sz="2800" spc="-25" dirty="0">
                <a:latin typeface="Calibri"/>
                <a:cs typeface="Calibri"/>
              </a:rPr>
              <a:t>are </a:t>
            </a:r>
            <a:r>
              <a:rPr sz="2800" dirty="0">
                <a:latin typeface="Calibri"/>
                <a:cs typeface="Calibri"/>
              </a:rPr>
              <a:t>defined.</a:t>
            </a:r>
            <a:r>
              <a:rPr sz="2800" spc="-70" dirty="0">
                <a:latin typeface="Calibri"/>
                <a:cs typeface="Calibri"/>
              </a:rPr>
              <a:t> </a:t>
            </a:r>
            <a:r>
              <a:rPr sz="2800" spc="-10" dirty="0">
                <a:latin typeface="Calibri"/>
                <a:cs typeface="Calibri"/>
              </a:rPr>
              <a:t>Long-</a:t>
            </a:r>
            <a:r>
              <a:rPr sz="2800" dirty="0">
                <a:latin typeface="Calibri"/>
                <a:cs typeface="Calibri"/>
              </a:rPr>
              <a:t>duration</a:t>
            </a:r>
            <a:r>
              <a:rPr sz="2800" spc="-80" dirty="0">
                <a:latin typeface="Calibri"/>
                <a:cs typeface="Calibri"/>
              </a:rPr>
              <a:t> </a:t>
            </a:r>
            <a:r>
              <a:rPr sz="2800" dirty="0">
                <a:latin typeface="Calibri"/>
                <a:cs typeface="Calibri"/>
              </a:rPr>
              <a:t>projects</a:t>
            </a:r>
            <a:r>
              <a:rPr sz="2800" spc="-75" dirty="0">
                <a:latin typeface="Calibri"/>
                <a:cs typeface="Calibri"/>
              </a:rPr>
              <a:t> </a:t>
            </a:r>
            <a:r>
              <a:rPr sz="2800" dirty="0">
                <a:latin typeface="Calibri"/>
                <a:cs typeface="Calibri"/>
              </a:rPr>
              <a:t>increase</a:t>
            </a:r>
            <a:r>
              <a:rPr sz="2800" spc="-75" dirty="0">
                <a:latin typeface="Calibri"/>
                <a:cs typeface="Calibri"/>
              </a:rPr>
              <a:t> </a:t>
            </a:r>
            <a:r>
              <a:rPr sz="2800" dirty="0">
                <a:latin typeface="Calibri"/>
                <a:cs typeface="Calibri"/>
              </a:rPr>
              <a:t>the</a:t>
            </a:r>
            <a:r>
              <a:rPr sz="2800" spc="-80" dirty="0">
                <a:latin typeface="Calibri"/>
                <a:cs typeface="Calibri"/>
              </a:rPr>
              <a:t> </a:t>
            </a:r>
            <a:r>
              <a:rPr sz="2800" dirty="0">
                <a:latin typeface="Calibri"/>
                <a:cs typeface="Calibri"/>
              </a:rPr>
              <a:t>uncertainty</a:t>
            </a:r>
            <a:r>
              <a:rPr sz="2800" spc="-80" dirty="0">
                <a:latin typeface="Calibri"/>
                <a:cs typeface="Calibri"/>
              </a:rPr>
              <a:t> </a:t>
            </a:r>
            <a:r>
              <a:rPr sz="2800" dirty="0">
                <a:latin typeface="Calibri"/>
                <a:cs typeface="Calibri"/>
              </a:rPr>
              <a:t>in</a:t>
            </a:r>
            <a:r>
              <a:rPr sz="2800" spc="-75" dirty="0">
                <a:latin typeface="Calibri"/>
                <a:cs typeface="Calibri"/>
              </a:rPr>
              <a:t> </a:t>
            </a:r>
            <a:r>
              <a:rPr sz="2800" spc="-10" dirty="0">
                <a:latin typeface="Calibri"/>
                <a:cs typeface="Calibri"/>
              </a:rPr>
              <a:t>estimates.</a:t>
            </a:r>
            <a:endParaRPr sz="2800" dirty="0">
              <a:latin typeface="Calibri"/>
              <a:cs typeface="Calibri"/>
            </a:endParaRPr>
          </a:p>
          <a:p>
            <a:pPr marL="241300" marR="5080" indent="-228600" algn="just">
              <a:lnSpc>
                <a:spcPct val="90500"/>
              </a:lnSpc>
              <a:spcBef>
                <a:spcPts val="945"/>
              </a:spcBef>
              <a:buFont typeface="Arial MT"/>
              <a:buChar char="•"/>
              <a:tabLst>
                <a:tab pos="241300" algn="l"/>
              </a:tabLst>
            </a:pPr>
            <a:r>
              <a:rPr sz="2800" b="1" dirty="0">
                <a:solidFill>
                  <a:srgbClr val="262EA4"/>
                </a:solidFill>
                <a:latin typeface="Calibri"/>
                <a:cs typeface="Calibri"/>
              </a:rPr>
              <a:t>Project</a:t>
            </a:r>
            <a:r>
              <a:rPr sz="2800" b="1" spc="270" dirty="0">
                <a:solidFill>
                  <a:srgbClr val="262EA4"/>
                </a:solidFill>
                <a:latin typeface="Calibri"/>
                <a:cs typeface="Calibri"/>
              </a:rPr>
              <a:t> </a:t>
            </a:r>
            <a:r>
              <a:rPr sz="2800" b="1" dirty="0">
                <a:solidFill>
                  <a:srgbClr val="262EA4"/>
                </a:solidFill>
                <a:latin typeface="Calibri"/>
                <a:cs typeface="Calibri"/>
              </a:rPr>
              <a:t>Complexity:</a:t>
            </a:r>
            <a:r>
              <a:rPr sz="2800" b="1" spc="265" dirty="0">
                <a:solidFill>
                  <a:srgbClr val="262EA4"/>
                </a:solidFill>
                <a:latin typeface="Calibri"/>
                <a:cs typeface="Calibri"/>
              </a:rPr>
              <a:t> </a:t>
            </a:r>
            <a:r>
              <a:rPr sz="2800" dirty="0">
                <a:solidFill>
                  <a:srgbClr val="C00000"/>
                </a:solidFill>
                <a:latin typeface="Calibri"/>
                <a:cs typeface="Calibri"/>
              </a:rPr>
              <a:t>Time</a:t>
            </a:r>
            <a:r>
              <a:rPr sz="2800" spc="254" dirty="0">
                <a:solidFill>
                  <a:srgbClr val="C00000"/>
                </a:solidFill>
                <a:latin typeface="Calibri"/>
                <a:cs typeface="Calibri"/>
              </a:rPr>
              <a:t> </a:t>
            </a:r>
            <a:r>
              <a:rPr sz="2800" dirty="0">
                <a:solidFill>
                  <a:srgbClr val="C00000"/>
                </a:solidFill>
                <a:latin typeface="Calibri"/>
                <a:cs typeface="Calibri"/>
              </a:rPr>
              <a:t>to</a:t>
            </a:r>
            <a:r>
              <a:rPr sz="2800" spc="270" dirty="0">
                <a:solidFill>
                  <a:srgbClr val="C00000"/>
                </a:solidFill>
                <a:latin typeface="Calibri"/>
                <a:cs typeface="Calibri"/>
              </a:rPr>
              <a:t> </a:t>
            </a:r>
            <a:r>
              <a:rPr sz="2800" dirty="0">
                <a:solidFill>
                  <a:srgbClr val="C00000"/>
                </a:solidFill>
                <a:latin typeface="Calibri"/>
                <a:cs typeface="Calibri"/>
              </a:rPr>
              <a:t>implement</a:t>
            </a:r>
            <a:r>
              <a:rPr sz="2800" spc="260" dirty="0">
                <a:solidFill>
                  <a:srgbClr val="C00000"/>
                </a:solidFill>
                <a:latin typeface="Calibri"/>
                <a:cs typeface="Calibri"/>
              </a:rPr>
              <a:t> </a:t>
            </a:r>
            <a:r>
              <a:rPr sz="2800" dirty="0">
                <a:solidFill>
                  <a:srgbClr val="C00000"/>
                </a:solidFill>
                <a:latin typeface="Calibri"/>
                <a:cs typeface="Calibri"/>
              </a:rPr>
              <a:t>new</a:t>
            </a:r>
            <a:r>
              <a:rPr sz="2800" spc="260" dirty="0">
                <a:solidFill>
                  <a:srgbClr val="C00000"/>
                </a:solidFill>
                <a:latin typeface="Calibri"/>
                <a:cs typeface="Calibri"/>
              </a:rPr>
              <a:t> </a:t>
            </a:r>
            <a:r>
              <a:rPr sz="2800" i="1" dirty="0">
                <a:solidFill>
                  <a:srgbClr val="C00000"/>
                </a:solidFill>
                <a:latin typeface="Calibri"/>
                <a:cs typeface="Calibri"/>
              </a:rPr>
              <a:t>technology</a:t>
            </a:r>
            <a:r>
              <a:rPr sz="2800" i="1" spc="265" dirty="0">
                <a:solidFill>
                  <a:srgbClr val="C00000"/>
                </a:solidFill>
                <a:latin typeface="Calibri"/>
                <a:cs typeface="Calibri"/>
              </a:rPr>
              <a:t> </a:t>
            </a:r>
            <a:r>
              <a:rPr sz="2800" dirty="0">
                <a:solidFill>
                  <a:srgbClr val="C00000"/>
                </a:solidFill>
                <a:latin typeface="Calibri"/>
                <a:cs typeface="Calibri"/>
              </a:rPr>
              <a:t>has</a:t>
            </a:r>
            <a:r>
              <a:rPr sz="2800" spc="265" dirty="0">
                <a:solidFill>
                  <a:srgbClr val="C00000"/>
                </a:solidFill>
                <a:latin typeface="Calibri"/>
                <a:cs typeface="Calibri"/>
              </a:rPr>
              <a:t> </a:t>
            </a:r>
            <a:r>
              <a:rPr sz="2800" dirty="0">
                <a:solidFill>
                  <a:srgbClr val="C00000"/>
                </a:solidFill>
                <a:latin typeface="Calibri"/>
                <a:cs typeface="Calibri"/>
              </a:rPr>
              <a:t>a</a:t>
            </a:r>
            <a:r>
              <a:rPr sz="2800" spc="260" dirty="0">
                <a:solidFill>
                  <a:srgbClr val="C00000"/>
                </a:solidFill>
                <a:latin typeface="Calibri"/>
                <a:cs typeface="Calibri"/>
              </a:rPr>
              <a:t> </a:t>
            </a:r>
            <a:r>
              <a:rPr sz="2800" spc="-10" dirty="0">
                <a:solidFill>
                  <a:srgbClr val="C00000"/>
                </a:solidFill>
                <a:latin typeface="Calibri"/>
                <a:cs typeface="Calibri"/>
              </a:rPr>
              <a:t>habit </a:t>
            </a:r>
            <a:r>
              <a:rPr sz="2800" dirty="0">
                <a:solidFill>
                  <a:srgbClr val="C00000"/>
                </a:solidFill>
                <a:latin typeface="Calibri"/>
                <a:cs typeface="Calibri"/>
              </a:rPr>
              <a:t>of</a:t>
            </a:r>
            <a:r>
              <a:rPr sz="2800" spc="355" dirty="0">
                <a:solidFill>
                  <a:srgbClr val="C00000"/>
                </a:solidFill>
                <a:latin typeface="Calibri"/>
                <a:cs typeface="Calibri"/>
              </a:rPr>
              <a:t> </a:t>
            </a:r>
            <a:r>
              <a:rPr sz="2800" dirty="0">
                <a:solidFill>
                  <a:srgbClr val="C00000"/>
                </a:solidFill>
                <a:latin typeface="Calibri"/>
                <a:cs typeface="Calibri"/>
              </a:rPr>
              <a:t>expanding</a:t>
            </a:r>
            <a:r>
              <a:rPr sz="2800" spc="355" dirty="0">
                <a:solidFill>
                  <a:srgbClr val="C00000"/>
                </a:solidFill>
                <a:latin typeface="Calibri"/>
                <a:cs typeface="Calibri"/>
              </a:rPr>
              <a:t> </a:t>
            </a:r>
            <a:r>
              <a:rPr sz="2800" dirty="0">
                <a:solidFill>
                  <a:srgbClr val="C00000"/>
                </a:solidFill>
                <a:latin typeface="Calibri"/>
                <a:cs typeface="Calibri"/>
              </a:rPr>
              <a:t>in</a:t>
            </a:r>
            <a:r>
              <a:rPr sz="2800" spc="365" dirty="0">
                <a:solidFill>
                  <a:srgbClr val="C00000"/>
                </a:solidFill>
                <a:latin typeface="Calibri"/>
                <a:cs typeface="Calibri"/>
              </a:rPr>
              <a:t> </a:t>
            </a:r>
            <a:r>
              <a:rPr sz="2800" dirty="0">
                <a:solidFill>
                  <a:srgbClr val="C00000"/>
                </a:solidFill>
                <a:latin typeface="Calibri"/>
                <a:cs typeface="Calibri"/>
              </a:rPr>
              <a:t>an</a:t>
            </a:r>
            <a:r>
              <a:rPr sz="2800" spc="365" dirty="0">
                <a:solidFill>
                  <a:srgbClr val="C00000"/>
                </a:solidFill>
                <a:latin typeface="Calibri"/>
                <a:cs typeface="Calibri"/>
              </a:rPr>
              <a:t> </a:t>
            </a:r>
            <a:r>
              <a:rPr sz="2800" dirty="0">
                <a:solidFill>
                  <a:srgbClr val="C00000"/>
                </a:solidFill>
                <a:latin typeface="Calibri"/>
                <a:cs typeface="Calibri"/>
              </a:rPr>
              <a:t>increasing,</a:t>
            </a:r>
            <a:r>
              <a:rPr sz="2800" spc="365" dirty="0">
                <a:solidFill>
                  <a:srgbClr val="C00000"/>
                </a:solidFill>
                <a:latin typeface="Calibri"/>
                <a:cs typeface="Calibri"/>
              </a:rPr>
              <a:t> </a:t>
            </a:r>
            <a:r>
              <a:rPr sz="2800" dirty="0">
                <a:solidFill>
                  <a:srgbClr val="C00000"/>
                </a:solidFill>
                <a:latin typeface="Calibri"/>
                <a:cs typeface="Calibri"/>
              </a:rPr>
              <a:t>nonlinear</a:t>
            </a:r>
            <a:r>
              <a:rPr sz="2800" spc="355" dirty="0">
                <a:solidFill>
                  <a:srgbClr val="C00000"/>
                </a:solidFill>
                <a:latin typeface="Calibri"/>
                <a:cs typeface="Calibri"/>
              </a:rPr>
              <a:t> </a:t>
            </a:r>
            <a:r>
              <a:rPr sz="2800" dirty="0">
                <a:solidFill>
                  <a:srgbClr val="C00000"/>
                </a:solidFill>
                <a:latin typeface="Calibri"/>
                <a:cs typeface="Calibri"/>
              </a:rPr>
              <a:t>fashion.</a:t>
            </a:r>
            <a:r>
              <a:rPr sz="2800" spc="365" dirty="0">
                <a:solidFill>
                  <a:srgbClr val="C00000"/>
                </a:solidFill>
                <a:latin typeface="Calibri"/>
                <a:cs typeface="Calibri"/>
              </a:rPr>
              <a:t> </a:t>
            </a:r>
            <a:r>
              <a:rPr sz="2800" dirty="0">
                <a:solidFill>
                  <a:srgbClr val="C00000"/>
                </a:solidFill>
                <a:latin typeface="Calibri"/>
                <a:cs typeface="Calibri"/>
              </a:rPr>
              <a:t>Sometimes</a:t>
            </a:r>
            <a:r>
              <a:rPr sz="2800" spc="370" dirty="0">
                <a:solidFill>
                  <a:srgbClr val="C00000"/>
                </a:solidFill>
                <a:latin typeface="Calibri"/>
                <a:cs typeface="Calibri"/>
              </a:rPr>
              <a:t> </a:t>
            </a:r>
            <a:r>
              <a:rPr sz="2800" spc="-10" dirty="0">
                <a:solidFill>
                  <a:srgbClr val="C00000"/>
                </a:solidFill>
                <a:latin typeface="Calibri"/>
                <a:cs typeface="Calibri"/>
              </a:rPr>
              <a:t>poorly </a:t>
            </a:r>
            <a:r>
              <a:rPr sz="2800" dirty="0">
                <a:solidFill>
                  <a:srgbClr val="C00000"/>
                </a:solidFill>
                <a:latin typeface="Calibri"/>
                <a:cs typeface="Calibri"/>
              </a:rPr>
              <a:t>written</a:t>
            </a:r>
            <a:r>
              <a:rPr sz="2800" spc="525" dirty="0">
                <a:solidFill>
                  <a:srgbClr val="C00000"/>
                </a:solidFill>
                <a:latin typeface="Calibri"/>
                <a:cs typeface="Calibri"/>
              </a:rPr>
              <a:t> </a:t>
            </a:r>
            <a:r>
              <a:rPr sz="2800" dirty="0">
                <a:solidFill>
                  <a:srgbClr val="C00000"/>
                </a:solidFill>
                <a:latin typeface="Calibri"/>
                <a:cs typeface="Calibri"/>
              </a:rPr>
              <a:t>scope</a:t>
            </a:r>
            <a:r>
              <a:rPr sz="2800" spc="515" dirty="0">
                <a:solidFill>
                  <a:srgbClr val="C00000"/>
                </a:solidFill>
                <a:latin typeface="Calibri"/>
                <a:cs typeface="Calibri"/>
              </a:rPr>
              <a:t> </a:t>
            </a:r>
            <a:r>
              <a:rPr sz="2800" dirty="0">
                <a:solidFill>
                  <a:srgbClr val="C00000"/>
                </a:solidFill>
                <a:latin typeface="Calibri"/>
                <a:cs typeface="Calibri"/>
              </a:rPr>
              <a:t>specifications</a:t>
            </a:r>
            <a:r>
              <a:rPr sz="2800" spc="520" dirty="0">
                <a:solidFill>
                  <a:srgbClr val="C00000"/>
                </a:solidFill>
                <a:latin typeface="Calibri"/>
                <a:cs typeface="Calibri"/>
              </a:rPr>
              <a:t> </a:t>
            </a:r>
            <a:r>
              <a:rPr sz="2800" dirty="0">
                <a:solidFill>
                  <a:srgbClr val="C00000"/>
                </a:solidFill>
                <a:latin typeface="Calibri"/>
                <a:cs typeface="Calibri"/>
              </a:rPr>
              <a:t>for</a:t>
            </a:r>
            <a:r>
              <a:rPr sz="2800" spc="520" dirty="0">
                <a:solidFill>
                  <a:srgbClr val="C00000"/>
                </a:solidFill>
                <a:latin typeface="Calibri"/>
                <a:cs typeface="Calibri"/>
              </a:rPr>
              <a:t> </a:t>
            </a:r>
            <a:r>
              <a:rPr sz="2800" dirty="0">
                <a:solidFill>
                  <a:srgbClr val="C00000"/>
                </a:solidFill>
                <a:latin typeface="Calibri"/>
                <a:cs typeface="Calibri"/>
              </a:rPr>
              <a:t>new</a:t>
            </a:r>
            <a:r>
              <a:rPr sz="2800" spc="515" dirty="0">
                <a:solidFill>
                  <a:srgbClr val="C00000"/>
                </a:solidFill>
                <a:latin typeface="Calibri"/>
                <a:cs typeface="Calibri"/>
              </a:rPr>
              <a:t> </a:t>
            </a:r>
            <a:r>
              <a:rPr sz="2800" dirty="0">
                <a:solidFill>
                  <a:srgbClr val="C00000"/>
                </a:solidFill>
                <a:latin typeface="Calibri"/>
                <a:cs typeface="Calibri"/>
              </a:rPr>
              <a:t>technology</a:t>
            </a:r>
            <a:r>
              <a:rPr sz="2800" spc="509" dirty="0">
                <a:solidFill>
                  <a:srgbClr val="C00000"/>
                </a:solidFill>
                <a:latin typeface="Calibri"/>
                <a:cs typeface="Calibri"/>
              </a:rPr>
              <a:t> </a:t>
            </a:r>
            <a:r>
              <a:rPr sz="2800" dirty="0">
                <a:solidFill>
                  <a:srgbClr val="C00000"/>
                </a:solidFill>
                <a:latin typeface="Calibri"/>
                <a:cs typeface="Calibri"/>
              </a:rPr>
              <a:t>result</a:t>
            </a:r>
            <a:r>
              <a:rPr sz="2800" spc="515" dirty="0">
                <a:solidFill>
                  <a:srgbClr val="C00000"/>
                </a:solidFill>
                <a:latin typeface="Calibri"/>
                <a:cs typeface="Calibri"/>
              </a:rPr>
              <a:t> </a:t>
            </a:r>
            <a:r>
              <a:rPr sz="2800" dirty="0">
                <a:solidFill>
                  <a:srgbClr val="C00000"/>
                </a:solidFill>
                <a:latin typeface="Calibri"/>
                <a:cs typeface="Calibri"/>
              </a:rPr>
              <a:t>in</a:t>
            </a:r>
            <a:r>
              <a:rPr sz="2800" spc="525" dirty="0">
                <a:solidFill>
                  <a:srgbClr val="C00000"/>
                </a:solidFill>
                <a:latin typeface="Calibri"/>
                <a:cs typeface="Calibri"/>
              </a:rPr>
              <a:t> </a:t>
            </a:r>
            <a:r>
              <a:rPr sz="2800" dirty="0">
                <a:solidFill>
                  <a:srgbClr val="C00000"/>
                </a:solidFill>
                <a:latin typeface="Calibri"/>
                <a:cs typeface="Calibri"/>
              </a:rPr>
              <a:t>errors</a:t>
            </a:r>
            <a:r>
              <a:rPr sz="2800" spc="530" dirty="0">
                <a:solidFill>
                  <a:srgbClr val="C00000"/>
                </a:solidFill>
                <a:latin typeface="Calibri"/>
                <a:cs typeface="Calibri"/>
              </a:rPr>
              <a:t> </a:t>
            </a:r>
            <a:r>
              <a:rPr sz="2800" spc="-25" dirty="0">
                <a:solidFill>
                  <a:srgbClr val="C00000"/>
                </a:solidFill>
                <a:latin typeface="Calibri"/>
                <a:cs typeface="Calibri"/>
              </a:rPr>
              <a:t>in </a:t>
            </a:r>
            <a:r>
              <a:rPr sz="2800" dirty="0">
                <a:solidFill>
                  <a:srgbClr val="C00000"/>
                </a:solidFill>
                <a:latin typeface="Calibri"/>
                <a:cs typeface="Calibri"/>
              </a:rPr>
              <a:t>estimating</a:t>
            </a:r>
            <a:r>
              <a:rPr sz="2800" spc="-65" dirty="0">
                <a:solidFill>
                  <a:srgbClr val="C00000"/>
                </a:solidFill>
                <a:latin typeface="Calibri"/>
                <a:cs typeface="Calibri"/>
              </a:rPr>
              <a:t> </a:t>
            </a:r>
            <a:r>
              <a:rPr sz="2800" dirty="0">
                <a:solidFill>
                  <a:srgbClr val="C00000"/>
                </a:solidFill>
                <a:latin typeface="Calibri"/>
                <a:cs typeface="Calibri"/>
              </a:rPr>
              <a:t>times</a:t>
            </a:r>
            <a:r>
              <a:rPr sz="2800" spc="-55" dirty="0">
                <a:solidFill>
                  <a:srgbClr val="C00000"/>
                </a:solidFill>
                <a:latin typeface="Calibri"/>
                <a:cs typeface="Calibri"/>
              </a:rPr>
              <a:t> </a:t>
            </a:r>
            <a:r>
              <a:rPr sz="2800" dirty="0">
                <a:solidFill>
                  <a:srgbClr val="C00000"/>
                </a:solidFill>
                <a:latin typeface="Calibri"/>
                <a:cs typeface="Calibri"/>
              </a:rPr>
              <a:t>and</a:t>
            </a:r>
            <a:r>
              <a:rPr sz="2800" spc="-55" dirty="0">
                <a:solidFill>
                  <a:srgbClr val="C00000"/>
                </a:solidFill>
                <a:latin typeface="Calibri"/>
                <a:cs typeface="Calibri"/>
              </a:rPr>
              <a:t> </a:t>
            </a:r>
            <a:r>
              <a:rPr sz="2800" spc="-10" dirty="0">
                <a:solidFill>
                  <a:srgbClr val="C00000"/>
                </a:solidFill>
                <a:latin typeface="Calibri"/>
                <a:cs typeface="Calibri"/>
              </a:rPr>
              <a:t>costs</a:t>
            </a:r>
            <a:r>
              <a:rPr sz="2800" spc="-10" dirty="0">
                <a:latin typeface="Calibri"/>
                <a:cs typeface="Calibri"/>
              </a:rPr>
              <a:t>.</a:t>
            </a:r>
            <a:endParaRPr sz="2800" dirty="0">
              <a:latin typeface="Calibri"/>
              <a:cs typeface="Calibri"/>
            </a:endParaRPr>
          </a:p>
          <a:p>
            <a:pPr marL="241300" marR="5080" indent="-228600" algn="just">
              <a:lnSpc>
                <a:spcPts val="3000"/>
              </a:lnSpc>
              <a:spcBef>
                <a:spcPts val="1019"/>
              </a:spcBef>
              <a:buFont typeface="Arial MT"/>
              <a:buChar char="•"/>
              <a:tabLst>
                <a:tab pos="241300" algn="l"/>
              </a:tabLst>
            </a:pPr>
            <a:r>
              <a:rPr sz="2800" b="1" dirty="0">
                <a:solidFill>
                  <a:srgbClr val="262EA4"/>
                </a:solidFill>
                <a:latin typeface="Calibri"/>
                <a:cs typeface="Calibri"/>
              </a:rPr>
              <a:t>People:</a:t>
            </a:r>
            <a:r>
              <a:rPr sz="2800" b="1" spc="210" dirty="0">
                <a:solidFill>
                  <a:srgbClr val="262EA4"/>
                </a:solidFill>
                <a:latin typeface="Calibri"/>
                <a:cs typeface="Calibri"/>
              </a:rPr>
              <a:t> </a:t>
            </a:r>
            <a:r>
              <a:rPr sz="2800" dirty="0">
                <a:latin typeface="Calibri"/>
                <a:cs typeface="Calibri"/>
              </a:rPr>
              <a:t>The</a:t>
            </a:r>
            <a:r>
              <a:rPr sz="2800" spc="210" dirty="0">
                <a:latin typeface="Calibri"/>
                <a:cs typeface="Calibri"/>
              </a:rPr>
              <a:t> </a:t>
            </a:r>
            <a:r>
              <a:rPr sz="2800" i="1" dirty="0">
                <a:latin typeface="Calibri"/>
                <a:cs typeface="Calibri"/>
              </a:rPr>
              <a:t>people</a:t>
            </a:r>
            <a:r>
              <a:rPr sz="2800" i="1" spc="210" dirty="0">
                <a:latin typeface="Calibri"/>
                <a:cs typeface="Calibri"/>
              </a:rPr>
              <a:t> </a:t>
            </a:r>
            <a:r>
              <a:rPr sz="2800" dirty="0">
                <a:latin typeface="Calibri"/>
                <a:cs typeface="Calibri"/>
              </a:rPr>
              <a:t>factor</a:t>
            </a:r>
            <a:r>
              <a:rPr sz="2800" spc="210" dirty="0">
                <a:latin typeface="Calibri"/>
                <a:cs typeface="Calibri"/>
              </a:rPr>
              <a:t> </a:t>
            </a:r>
            <a:r>
              <a:rPr sz="2800" dirty="0">
                <a:latin typeface="Calibri"/>
                <a:cs typeface="Calibri"/>
              </a:rPr>
              <a:t>can</a:t>
            </a:r>
            <a:r>
              <a:rPr sz="2800" spc="210" dirty="0">
                <a:latin typeface="Calibri"/>
                <a:cs typeface="Calibri"/>
              </a:rPr>
              <a:t> </a:t>
            </a:r>
            <a:r>
              <a:rPr sz="2800" dirty="0">
                <a:latin typeface="Calibri"/>
                <a:cs typeface="Calibri"/>
              </a:rPr>
              <a:t>influence</a:t>
            </a:r>
            <a:r>
              <a:rPr sz="2800" spc="210" dirty="0">
                <a:latin typeface="Calibri"/>
                <a:cs typeface="Calibri"/>
              </a:rPr>
              <a:t> </a:t>
            </a:r>
            <a:r>
              <a:rPr sz="2800" dirty="0">
                <a:latin typeface="Calibri"/>
                <a:cs typeface="Calibri"/>
              </a:rPr>
              <a:t>the</a:t>
            </a:r>
            <a:r>
              <a:rPr sz="2800" spc="204" dirty="0">
                <a:latin typeface="Calibri"/>
                <a:cs typeface="Calibri"/>
              </a:rPr>
              <a:t> </a:t>
            </a:r>
            <a:r>
              <a:rPr sz="2800" dirty="0">
                <a:latin typeface="Calibri"/>
                <a:cs typeface="Calibri"/>
              </a:rPr>
              <a:t>quality</a:t>
            </a:r>
            <a:r>
              <a:rPr sz="2800" spc="200" dirty="0">
                <a:latin typeface="Calibri"/>
                <a:cs typeface="Calibri"/>
              </a:rPr>
              <a:t> </a:t>
            </a:r>
            <a:r>
              <a:rPr sz="2800" dirty="0">
                <a:latin typeface="Calibri"/>
                <a:cs typeface="Calibri"/>
              </a:rPr>
              <a:t>of</a:t>
            </a:r>
            <a:r>
              <a:rPr sz="2800" spc="204" dirty="0">
                <a:latin typeface="Calibri"/>
                <a:cs typeface="Calibri"/>
              </a:rPr>
              <a:t> </a:t>
            </a:r>
            <a:r>
              <a:rPr sz="2800" dirty="0">
                <a:latin typeface="Calibri"/>
                <a:cs typeface="Calibri"/>
              </a:rPr>
              <a:t>time</a:t>
            </a:r>
            <a:r>
              <a:rPr sz="2800" spc="204" dirty="0">
                <a:latin typeface="Calibri"/>
                <a:cs typeface="Calibri"/>
              </a:rPr>
              <a:t> </a:t>
            </a:r>
            <a:r>
              <a:rPr sz="2800" dirty="0">
                <a:latin typeface="Calibri"/>
                <a:cs typeface="Calibri"/>
              </a:rPr>
              <a:t>and</a:t>
            </a:r>
            <a:r>
              <a:rPr sz="2800" spc="215" dirty="0">
                <a:latin typeface="Calibri"/>
                <a:cs typeface="Calibri"/>
              </a:rPr>
              <a:t> </a:t>
            </a:r>
            <a:r>
              <a:rPr sz="2800" spc="-20" dirty="0">
                <a:latin typeface="Calibri"/>
                <a:cs typeface="Calibri"/>
              </a:rPr>
              <a:t>cost </a:t>
            </a:r>
            <a:r>
              <a:rPr sz="2800" dirty="0">
                <a:latin typeface="Calibri"/>
                <a:cs typeface="Calibri"/>
              </a:rPr>
              <a:t>estimates.</a:t>
            </a:r>
            <a:r>
              <a:rPr sz="2800" spc="-65" dirty="0">
                <a:latin typeface="Calibri"/>
                <a:cs typeface="Calibri"/>
              </a:rPr>
              <a:t> </a:t>
            </a:r>
            <a:r>
              <a:rPr sz="2800" dirty="0">
                <a:latin typeface="Calibri"/>
                <a:cs typeface="Calibri"/>
              </a:rPr>
              <a:t>For</a:t>
            </a:r>
            <a:r>
              <a:rPr sz="2800" spc="-70" dirty="0">
                <a:latin typeface="Calibri"/>
                <a:cs typeface="Calibri"/>
              </a:rPr>
              <a:t> </a:t>
            </a:r>
            <a:r>
              <a:rPr sz="2800" dirty="0">
                <a:latin typeface="Calibri"/>
                <a:cs typeface="Calibri"/>
              </a:rPr>
              <a:t>example,</a:t>
            </a:r>
            <a:r>
              <a:rPr sz="2800" spc="-60" dirty="0">
                <a:latin typeface="Calibri"/>
                <a:cs typeface="Calibri"/>
              </a:rPr>
              <a:t> </a:t>
            </a:r>
            <a:r>
              <a:rPr sz="2800" dirty="0">
                <a:latin typeface="Calibri"/>
                <a:cs typeface="Calibri"/>
              </a:rPr>
              <a:t>accuracy</a:t>
            </a:r>
            <a:r>
              <a:rPr sz="2800" spc="-70" dirty="0">
                <a:latin typeface="Calibri"/>
                <a:cs typeface="Calibri"/>
              </a:rPr>
              <a:t> </a:t>
            </a:r>
            <a:r>
              <a:rPr sz="2800" dirty="0">
                <a:latin typeface="Calibri"/>
                <a:cs typeface="Calibri"/>
              </a:rPr>
              <a:t>of</a:t>
            </a:r>
            <a:r>
              <a:rPr sz="2800" spc="-75" dirty="0">
                <a:latin typeface="Calibri"/>
                <a:cs typeface="Calibri"/>
              </a:rPr>
              <a:t> </a:t>
            </a:r>
            <a:r>
              <a:rPr sz="2800" dirty="0">
                <a:latin typeface="Calibri"/>
                <a:cs typeface="Calibri"/>
              </a:rPr>
              <a:t>estimates</a:t>
            </a:r>
            <a:r>
              <a:rPr sz="2800" spc="-60" dirty="0">
                <a:latin typeface="Calibri"/>
                <a:cs typeface="Calibri"/>
              </a:rPr>
              <a:t> </a:t>
            </a:r>
            <a:r>
              <a:rPr sz="2800" dirty="0">
                <a:latin typeface="Calibri"/>
                <a:cs typeface="Calibri"/>
              </a:rPr>
              <a:t>depends</a:t>
            </a:r>
            <a:r>
              <a:rPr sz="2800" spc="-70" dirty="0">
                <a:latin typeface="Calibri"/>
                <a:cs typeface="Calibri"/>
              </a:rPr>
              <a:t> </a:t>
            </a:r>
            <a:r>
              <a:rPr sz="2800" dirty="0">
                <a:latin typeface="Calibri"/>
                <a:cs typeface="Calibri"/>
              </a:rPr>
              <a:t>on</a:t>
            </a:r>
            <a:r>
              <a:rPr sz="2800" spc="-60" dirty="0">
                <a:latin typeface="Calibri"/>
                <a:cs typeface="Calibri"/>
              </a:rPr>
              <a:t> </a:t>
            </a:r>
            <a:r>
              <a:rPr sz="2800" dirty="0">
                <a:latin typeface="Calibri"/>
                <a:cs typeface="Calibri"/>
              </a:rPr>
              <a:t>the</a:t>
            </a:r>
            <a:r>
              <a:rPr sz="2800" spc="-70" dirty="0">
                <a:latin typeface="Calibri"/>
                <a:cs typeface="Calibri"/>
              </a:rPr>
              <a:t> </a:t>
            </a:r>
            <a:r>
              <a:rPr sz="2800" dirty="0">
                <a:latin typeface="Calibri"/>
                <a:cs typeface="Calibri"/>
              </a:rPr>
              <a:t>skills</a:t>
            </a:r>
            <a:r>
              <a:rPr sz="2800" spc="-65" dirty="0">
                <a:latin typeface="Calibri"/>
                <a:cs typeface="Calibri"/>
              </a:rPr>
              <a:t> </a:t>
            </a:r>
            <a:r>
              <a:rPr sz="2800" spc="-25" dirty="0">
                <a:latin typeface="Calibri"/>
                <a:cs typeface="Calibri"/>
              </a:rPr>
              <a:t>of </a:t>
            </a:r>
            <a:r>
              <a:rPr sz="2800" dirty="0">
                <a:latin typeface="Calibri"/>
                <a:cs typeface="Calibri"/>
              </a:rPr>
              <a:t>the</a:t>
            </a:r>
            <a:r>
              <a:rPr sz="2800" spc="-25" dirty="0">
                <a:latin typeface="Calibri"/>
                <a:cs typeface="Calibri"/>
              </a:rPr>
              <a:t> </a:t>
            </a:r>
            <a:r>
              <a:rPr sz="2800" dirty="0">
                <a:latin typeface="Calibri"/>
                <a:cs typeface="Calibri"/>
              </a:rPr>
              <a:t>people</a:t>
            </a:r>
            <a:r>
              <a:rPr sz="2800" spc="-30" dirty="0">
                <a:latin typeface="Calibri"/>
                <a:cs typeface="Calibri"/>
              </a:rPr>
              <a:t> </a:t>
            </a:r>
            <a:r>
              <a:rPr sz="2800" dirty="0">
                <a:latin typeface="Calibri"/>
                <a:cs typeface="Calibri"/>
              </a:rPr>
              <a:t>making</a:t>
            </a:r>
            <a:r>
              <a:rPr sz="2800" spc="-30" dirty="0">
                <a:latin typeface="Calibri"/>
                <a:cs typeface="Calibri"/>
              </a:rPr>
              <a:t> </a:t>
            </a:r>
            <a:r>
              <a:rPr sz="2800" dirty="0">
                <a:latin typeface="Calibri"/>
                <a:cs typeface="Calibri"/>
              </a:rPr>
              <a:t>the</a:t>
            </a:r>
            <a:r>
              <a:rPr sz="2800" spc="-25" dirty="0">
                <a:latin typeface="Calibri"/>
                <a:cs typeface="Calibri"/>
              </a:rPr>
              <a:t> </a:t>
            </a:r>
            <a:r>
              <a:rPr sz="2800" spc="-10" dirty="0">
                <a:latin typeface="Calibri"/>
                <a:cs typeface="Calibri"/>
              </a:rPr>
              <a:t>estimates.</a:t>
            </a:r>
            <a:endParaRPr sz="2800" dirty="0">
              <a:latin typeface="Calibri"/>
              <a:cs typeface="Calibri"/>
            </a:endParaRPr>
          </a:p>
        </p:txBody>
      </p:sp>
      <p:pic>
        <p:nvPicPr>
          <p:cNvPr id="5" name="Picture 4">
            <a:extLst>
              <a:ext uri="{FF2B5EF4-FFF2-40B4-BE49-F238E27FC236}">
                <a16:creationId xmlns:a16="http://schemas.microsoft.com/office/drawing/2014/main" id="{5462EC9B-B49B-71BC-2B3A-52AFD8B7F74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694182"/>
            <a:ext cx="10812780" cy="683260"/>
          </a:xfrm>
          <a:prstGeom prst="rect">
            <a:avLst/>
          </a:prstGeom>
        </p:spPr>
        <p:txBody>
          <a:bodyPr vert="horz" wrap="square" lIns="0" tIns="13970" rIns="0" bIns="0" rtlCol="0">
            <a:spAutoFit/>
          </a:bodyPr>
          <a:lstStyle/>
          <a:p>
            <a:pPr marL="12700">
              <a:lnSpc>
                <a:spcPct val="100000"/>
              </a:lnSpc>
              <a:spcBef>
                <a:spcPts val="110"/>
              </a:spcBef>
            </a:pPr>
            <a:r>
              <a:rPr b="1" u="sng" spc="95" dirty="0">
                <a:solidFill>
                  <a:srgbClr val="FF0000"/>
                </a:solidFill>
              </a:rPr>
              <a:t>Factors Influencing the Quality of Estimates </a:t>
            </a:r>
            <a:r>
              <a:rPr sz="1950" spc="-10" dirty="0"/>
              <a:t>(2/2)</a:t>
            </a:r>
            <a:endParaRPr sz="1950" dirty="0"/>
          </a:p>
        </p:txBody>
      </p:sp>
      <p:sp>
        <p:nvSpPr>
          <p:cNvPr id="10" name="object 10"/>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6</a:t>
            </a:fld>
            <a:endParaRPr spc="-50" dirty="0"/>
          </a:p>
        </p:txBody>
      </p:sp>
      <p:sp>
        <p:nvSpPr>
          <p:cNvPr id="3" name="object 3"/>
          <p:cNvSpPr txBox="1"/>
          <p:nvPr/>
        </p:nvSpPr>
        <p:spPr>
          <a:xfrm>
            <a:off x="916939" y="1556003"/>
            <a:ext cx="10358120" cy="1668780"/>
          </a:xfrm>
          <a:prstGeom prst="rect">
            <a:avLst/>
          </a:prstGeom>
        </p:spPr>
        <p:txBody>
          <a:bodyPr vert="horz" wrap="square" lIns="0" tIns="128270" rIns="0" bIns="0" rtlCol="0">
            <a:spAutoFit/>
          </a:bodyPr>
          <a:lstStyle/>
          <a:p>
            <a:pPr marL="241300" marR="10160" indent="-228600">
              <a:lnSpc>
                <a:spcPct val="70800"/>
              </a:lnSpc>
              <a:spcBef>
                <a:spcPts val="1010"/>
              </a:spcBef>
              <a:buFont typeface="Arial MT"/>
              <a:buChar char="•"/>
              <a:tabLst>
                <a:tab pos="241300" algn="l"/>
              </a:tabLst>
            </a:pPr>
            <a:r>
              <a:rPr sz="2600" b="1" dirty="0">
                <a:solidFill>
                  <a:srgbClr val="262EA4"/>
                </a:solidFill>
                <a:latin typeface="Calibri"/>
                <a:cs typeface="Calibri"/>
              </a:rPr>
              <a:t>Project</a:t>
            </a:r>
            <a:r>
              <a:rPr sz="2600" b="1" spc="245" dirty="0">
                <a:solidFill>
                  <a:srgbClr val="262EA4"/>
                </a:solidFill>
                <a:latin typeface="Calibri"/>
                <a:cs typeface="Calibri"/>
              </a:rPr>
              <a:t> </a:t>
            </a:r>
            <a:r>
              <a:rPr sz="2600" b="1" dirty="0">
                <a:solidFill>
                  <a:srgbClr val="262EA4"/>
                </a:solidFill>
                <a:latin typeface="Calibri"/>
                <a:cs typeface="Calibri"/>
              </a:rPr>
              <a:t>Structure</a:t>
            </a:r>
            <a:r>
              <a:rPr sz="2600" b="1" spc="254" dirty="0">
                <a:solidFill>
                  <a:srgbClr val="262EA4"/>
                </a:solidFill>
                <a:latin typeface="Calibri"/>
                <a:cs typeface="Calibri"/>
              </a:rPr>
              <a:t> </a:t>
            </a:r>
            <a:r>
              <a:rPr sz="2600" b="1" dirty="0">
                <a:solidFill>
                  <a:srgbClr val="262EA4"/>
                </a:solidFill>
                <a:latin typeface="Calibri"/>
                <a:cs typeface="Calibri"/>
              </a:rPr>
              <a:t>and</a:t>
            </a:r>
            <a:r>
              <a:rPr sz="2600" b="1" spc="254" dirty="0">
                <a:solidFill>
                  <a:srgbClr val="262EA4"/>
                </a:solidFill>
                <a:latin typeface="Calibri"/>
                <a:cs typeface="Calibri"/>
              </a:rPr>
              <a:t> </a:t>
            </a:r>
            <a:r>
              <a:rPr sz="2600" b="1" dirty="0">
                <a:solidFill>
                  <a:srgbClr val="262EA4"/>
                </a:solidFill>
                <a:latin typeface="Calibri"/>
                <a:cs typeface="Calibri"/>
              </a:rPr>
              <a:t>Organization:</a:t>
            </a:r>
            <a:r>
              <a:rPr sz="2600" b="1" spc="245" dirty="0">
                <a:solidFill>
                  <a:srgbClr val="262EA4"/>
                </a:solidFill>
                <a:latin typeface="Calibri"/>
                <a:cs typeface="Calibri"/>
              </a:rPr>
              <a:t> </a:t>
            </a:r>
            <a:r>
              <a:rPr sz="2600" dirty="0">
                <a:latin typeface="Calibri"/>
                <a:cs typeface="Calibri"/>
              </a:rPr>
              <a:t>Which</a:t>
            </a:r>
            <a:r>
              <a:rPr sz="2600" spc="250" dirty="0">
                <a:latin typeface="Calibri"/>
                <a:cs typeface="Calibri"/>
              </a:rPr>
              <a:t> </a:t>
            </a:r>
            <a:r>
              <a:rPr sz="2600" i="1" dirty="0">
                <a:latin typeface="Calibri"/>
                <a:cs typeface="Calibri"/>
              </a:rPr>
              <a:t>project</a:t>
            </a:r>
            <a:r>
              <a:rPr sz="2600" i="1" spc="250" dirty="0">
                <a:latin typeface="Calibri"/>
                <a:cs typeface="Calibri"/>
              </a:rPr>
              <a:t> </a:t>
            </a:r>
            <a:r>
              <a:rPr sz="2600" i="1" dirty="0">
                <a:latin typeface="Calibri"/>
                <a:cs typeface="Calibri"/>
              </a:rPr>
              <a:t>structure</a:t>
            </a:r>
            <a:r>
              <a:rPr sz="2600" i="1" spc="250" dirty="0">
                <a:latin typeface="Calibri"/>
                <a:cs typeface="Calibri"/>
              </a:rPr>
              <a:t> </a:t>
            </a:r>
            <a:r>
              <a:rPr sz="2600" dirty="0">
                <a:latin typeface="Calibri"/>
                <a:cs typeface="Calibri"/>
              </a:rPr>
              <a:t>is</a:t>
            </a:r>
            <a:r>
              <a:rPr sz="2600" spc="245" dirty="0">
                <a:latin typeface="Calibri"/>
                <a:cs typeface="Calibri"/>
              </a:rPr>
              <a:t> </a:t>
            </a:r>
            <a:r>
              <a:rPr sz="2600" dirty="0">
                <a:latin typeface="Calibri"/>
                <a:cs typeface="Calibri"/>
              </a:rPr>
              <a:t>chosen</a:t>
            </a:r>
            <a:r>
              <a:rPr sz="2600" spc="250" dirty="0">
                <a:latin typeface="Calibri"/>
                <a:cs typeface="Calibri"/>
              </a:rPr>
              <a:t> </a:t>
            </a:r>
            <a:r>
              <a:rPr sz="2600" spc="-25" dirty="0">
                <a:latin typeface="Calibri"/>
                <a:cs typeface="Calibri"/>
              </a:rPr>
              <a:t>to </a:t>
            </a:r>
            <a:r>
              <a:rPr sz="2600" dirty="0">
                <a:latin typeface="Calibri"/>
                <a:cs typeface="Calibri"/>
              </a:rPr>
              <a:t>manage</a:t>
            </a:r>
            <a:r>
              <a:rPr sz="2600" spc="-75" dirty="0">
                <a:latin typeface="Calibri"/>
                <a:cs typeface="Calibri"/>
              </a:rPr>
              <a:t> </a:t>
            </a:r>
            <a:r>
              <a:rPr sz="2600" dirty="0">
                <a:latin typeface="Calibri"/>
                <a:cs typeface="Calibri"/>
              </a:rPr>
              <a:t>the</a:t>
            </a:r>
            <a:r>
              <a:rPr sz="2600" spc="-70" dirty="0">
                <a:latin typeface="Calibri"/>
                <a:cs typeface="Calibri"/>
              </a:rPr>
              <a:t> </a:t>
            </a:r>
            <a:r>
              <a:rPr sz="2600" dirty="0">
                <a:latin typeface="Calibri"/>
                <a:cs typeface="Calibri"/>
              </a:rPr>
              <a:t>project</a:t>
            </a:r>
            <a:r>
              <a:rPr sz="2600" spc="-60" dirty="0">
                <a:latin typeface="Calibri"/>
                <a:cs typeface="Calibri"/>
              </a:rPr>
              <a:t> </a:t>
            </a:r>
            <a:r>
              <a:rPr sz="2600" dirty="0">
                <a:latin typeface="Calibri"/>
                <a:cs typeface="Calibri"/>
              </a:rPr>
              <a:t>will</a:t>
            </a:r>
            <a:r>
              <a:rPr sz="2600" spc="-65" dirty="0">
                <a:latin typeface="Calibri"/>
                <a:cs typeface="Calibri"/>
              </a:rPr>
              <a:t> </a:t>
            </a:r>
            <a:r>
              <a:rPr sz="2600" dirty="0">
                <a:latin typeface="Calibri"/>
                <a:cs typeface="Calibri"/>
              </a:rPr>
              <a:t>influence</a:t>
            </a:r>
            <a:r>
              <a:rPr sz="2600" spc="-65" dirty="0">
                <a:latin typeface="Calibri"/>
                <a:cs typeface="Calibri"/>
              </a:rPr>
              <a:t> </a:t>
            </a:r>
            <a:r>
              <a:rPr sz="2600" dirty="0">
                <a:latin typeface="Calibri"/>
                <a:cs typeface="Calibri"/>
              </a:rPr>
              <a:t>time</a:t>
            </a:r>
            <a:r>
              <a:rPr sz="2600" spc="-75" dirty="0">
                <a:latin typeface="Calibri"/>
                <a:cs typeface="Calibri"/>
              </a:rPr>
              <a:t> </a:t>
            </a:r>
            <a:r>
              <a:rPr sz="2600" dirty="0">
                <a:latin typeface="Calibri"/>
                <a:cs typeface="Calibri"/>
              </a:rPr>
              <a:t>and</a:t>
            </a:r>
            <a:r>
              <a:rPr sz="2600" spc="-70" dirty="0">
                <a:latin typeface="Calibri"/>
                <a:cs typeface="Calibri"/>
              </a:rPr>
              <a:t> </a:t>
            </a:r>
            <a:r>
              <a:rPr sz="2600" dirty="0">
                <a:latin typeface="Calibri"/>
                <a:cs typeface="Calibri"/>
              </a:rPr>
              <a:t>cost</a:t>
            </a:r>
            <a:r>
              <a:rPr sz="2600" spc="-55" dirty="0">
                <a:latin typeface="Calibri"/>
                <a:cs typeface="Calibri"/>
              </a:rPr>
              <a:t> </a:t>
            </a:r>
            <a:r>
              <a:rPr sz="2600" spc="-10" dirty="0">
                <a:latin typeface="Calibri"/>
                <a:cs typeface="Calibri"/>
              </a:rPr>
              <a:t>estimates.</a:t>
            </a:r>
            <a:endParaRPr sz="2600" dirty="0">
              <a:latin typeface="Calibri"/>
              <a:cs typeface="Calibri"/>
            </a:endParaRPr>
          </a:p>
          <a:p>
            <a:pPr marL="241300" indent="-228600">
              <a:lnSpc>
                <a:spcPts val="2665"/>
              </a:lnSpc>
              <a:spcBef>
                <a:spcPts val="70"/>
              </a:spcBef>
              <a:buFont typeface="Arial MT"/>
              <a:buChar char="•"/>
              <a:tabLst>
                <a:tab pos="241300" algn="l"/>
                <a:tab pos="1476375" algn="l"/>
                <a:tab pos="3018790" algn="l"/>
                <a:tab pos="3404870" algn="l"/>
                <a:tab pos="4265930" algn="l"/>
                <a:tab pos="5195570" algn="l"/>
                <a:tab pos="6249670" algn="l"/>
                <a:tab pos="6814184" algn="l"/>
                <a:tab pos="7995920" algn="l"/>
                <a:tab pos="8409305" algn="l"/>
                <a:tab pos="9049385" algn="l"/>
              </a:tabLst>
            </a:pPr>
            <a:r>
              <a:rPr sz="2600" b="1" spc="-10" dirty="0">
                <a:solidFill>
                  <a:srgbClr val="262EA4"/>
                </a:solidFill>
                <a:latin typeface="Calibri"/>
                <a:cs typeface="Calibri"/>
              </a:rPr>
              <a:t>Padding</a:t>
            </a:r>
            <a:r>
              <a:rPr sz="2600" b="1" dirty="0">
                <a:solidFill>
                  <a:srgbClr val="262EA4"/>
                </a:solidFill>
                <a:latin typeface="Calibri"/>
                <a:cs typeface="Calibri"/>
              </a:rPr>
              <a:t>	</a:t>
            </a:r>
            <a:r>
              <a:rPr sz="2600" b="1" spc="-10" dirty="0">
                <a:solidFill>
                  <a:srgbClr val="262EA4"/>
                </a:solidFill>
                <a:latin typeface="Calibri"/>
                <a:cs typeface="Calibri"/>
              </a:rPr>
              <a:t>Estimates:</a:t>
            </a:r>
            <a:r>
              <a:rPr sz="2600" b="1" dirty="0">
                <a:solidFill>
                  <a:srgbClr val="262EA4"/>
                </a:solidFill>
                <a:latin typeface="Calibri"/>
                <a:cs typeface="Calibri"/>
              </a:rPr>
              <a:t>	</a:t>
            </a:r>
            <a:r>
              <a:rPr sz="2600" spc="-25" dirty="0">
                <a:solidFill>
                  <a:srgbClr val="C00000"/>
                </a:solidFill>
                <a:latin typeface="Calibri"/>
                <a:cs typeface="Calibri"/>
              </a:rPr>
              <a:t>In</a:t>
            </a:r>
            <a:r>
              <a:rPr sz="2600" dirty="0">
                <a:solidFill>
                  <a:srgbClr val="C00000"/>
                </a:solidFill>
                <a:latin typeface="Calibri"/>
                <a:cs typeface="Calibri"/>
              </a:rPr>
              <a:t>	</a:t>
            </a:r>
            <a:r>
              <a:rPr sz="2600" spc="-20" dirty="0">
                <a:solidFill>
                  <a:srgbClr val="C00000"/>
                </a:solidFill>
                <a:latin typeface="Calibri"/>
                <a:cs typeface="Calibri"/>
              </a:rPr>
              <a:t>some</a:t>
            </a:r>
            <a:r>
              <a:rPr sz="2600" dirty="0">
                <a:solidFill>
                  <a:srgbClr val="C00000"/>
                </a:solidFill>
                <a:latin typeface="Calibri"/>
                <a:cs typeface="Calibri"/>
              </a:rPr>
              <a:t>	</a:t>
            </a:r>
            <a:r>
              <a:rPr sz="2600" spc="-10" dirty="0">
                <a:solidFill>
                  <a:srgbClr val="C00000"/>
                </a:solidFill>
                <a:latin typeface="Calibri"/>
                <a:cs typeface="Calibri"/>
              </a:rPr>
              <a:t>cases,</a:t>
            </a:r>
            <a:r>
              <a:rPr sz="2600" dirty="0">
                <a:solidFill>
                  <a:srgbClr val="C00000"/>
                </a:solidFill>
                <a:latin typeface="Calibri"/>
                <a:cs typeface="Calibri"/>
              </a:rPr>
              <a:t>	</a:t>
            </a:r>
            <a:r>
              <a:rPr sz="2600" spc="-10" dirty="0">
                <a:solidFill>
                  <a:srgbClr val="C00000"/>
                </a:solidFill>
                <a:latin typeface="Calibri"/>
                <a:cs typeface="Calibri"/>
              </a:rPr>
              <a:t>people</a:t>
            </a:r>
            <a:r>
              <a:rPr sz="2600" dirty="0">
                <a:solidFill>
                  <a:srgbClr val="C00000"/>
                </a:solidFill>
                <a:latin typeface="Calibri"/>
                <a:cs typeface="Calibri"/>
              </a:rPr>
              <a:t>	</a:t>
            </a:r>
            <a:r>
              <a:rPr sz="2600" spc="-25" dirty="0">
                <a:solidFill>
                  <a:srgbClr val="C00000"/>
                </a:solidFill>
                <a:latin typeface="Calibri"/>
                <a:cs typeface="Calibri"/>
              </a:rPr>
              <a:t>are</a:t>
            </a:r>
            <a:r>
              <a:rPr sz="2600" dirty="0">
                <a:solidFill>
                  <a:srgbClr val="C00000"/>
                </a:solidFill>
                <a:latin typeface="Calibri"/>
                <a:cs typeface="Calibri"/>
              </a:rPr>
              <a:t>	</a:t>
            </a:r>
            <a:r>
              <a:rPr sz="2600" spc="-10" dirty="0">
                <a:solidFill>
                  <a:srgbClr val="C00000"/>
                </a:solidFill>
                <a:latin typeface="Calibri"/>
                <a:cs typeface="Calibri"/>
              </a:rPr>
              <a:t>inclined</a:t>
            </a:r>
            <a:r>
              <a:rPr sz="2600" dirty="0">
                <a:solidFill>
                  <a:srgbClr val="C00000"/>
                </a:solidFill>
                <a:latin typeface="Calibri"/>
                <a:cs typeface="Calibri"/>
              </a:rPr>
              <a:t>	</a:t>
            </a:r>
            <a:r>
              <a:rPr sz="2600" spc="-25" dirty="0">
                <a:solidFill>
                  <a:srgbClr val="C00000"/>
                </a:solidFill>
                <a:latin typeface="Calibri"/>
                <a:cs typeface="Calibri"/>
              </a:rPr>
              <a:t>to</a:t>
            </a:r>
            <a:r>
              <a:rPr sz="2600" dirty="0">
                <a:solidFill>
                  <a:srgbClr val="C00000"/>
                </a:solidFill>
                <a:latin typeface="Calibri"/>
                <a:cs typeface="Calibri"/>
              </a:rPr>
              <a:t>	</a:t>
            </a:r>
            <a:r>
              <a:rPr sz="2600" i="1" spc="-25" dirty="0">
                <a:solidFill>
                  <a:srgbClr val="C00000"/>
                </a:solidFill>
                <a:latin typeface="Calibri"/>
                <a:cs typeface="Calibri"/>
              </a:rPr>
              <a:t>pad</a:t>
            </a:r>
            <a:r>
              <a:rPr sz="2600" i="1" dirty="0">
                <a:solidFill>
                  <a:srgbClr val="C00000"/>
                </a:solidFill>
                <a:latin typeface="Calibri"/>
                <a:cs typeface="Calibri"/>
              </a:rPr>
              <a:t>	</a:t>
            </a:r>
            <a:r>
              <a:rPr sz="2600" i="1" spc="-10" dirty="0">
                <a:solidFill>
                  <a:srgbClr val="C00000"/>
                </a:solidFill>
                <a:latin typeface="Calibri"/>
                <a:cs typeface="Calibri"/>
              </a:rPr>
              <a:t>estimates</a:t>
            </a:r>
            <a:endParaRPr sz="2600" dirty="0">
              <a:latin typeface="Calibri"/>
              <a:cs typeface="Calibri"/>
            </a:endParaRPr>
          </a:p>
          <a:p>
            <a:pPr marL="241300" marR="5080">
              <a:lnSpc>
                <a:spcPct val="70800"/>
              </a:lnSpc>
              <a:spcBef>
                <a:spcPts val="455"/>
              </a:spcBef>
              <a:tabLst>
                <a:tab pos="1695450" algn="l"/>
                <a:tab pos="2383155" algn="l"/>
                <a:tab pos="4075429" algn="l"/>
                <a:tab pos="4819650" algn="l"/>
                <a:tab pos="5984240" algn="l"/>
                <a:tab pos="6671945" algn="l"/>
                <a:tab pos="7383145" algn="l"/>
                <a:tab pos="7897495" algn="l"/>
                <a:tab pos="8878570" algn="l"/>
                <a:tab pos="9805670" algn="l"/>
              </a:tabLst>
            </a:pPr>
            <a:r>
              <a:rPr sz="2600" i="1" spc="-10" dirty="0">
                <a:solidFill>
                  <a:srgbClr val="C00000"/>
                </a:solidFill>
                <a:latin typeface="Calibri"/>
                <a:cs typeface="Calibri"/>
              </a:rPr>
              <a:t>(</a:t>
            </a:r>
            <a:r>
              <a:rPr sz="2600" spc="-10" dirty="0">
                <a:solidFill>
                  <a:srgbClr val="C00000"/>
                </a:solidFill>
                <a:latin typeface="Calibri"/>
                <a:cs typeface="Calibri"/>
              </a:rPr>
              <a:t>increase</a:t>
            </a:r>
            <a:r>
              <a:rPr sz="2600" dirty="0">
                <a:solidFill>
                  <a:srgbClr val="C00000"/>
                </a:solidFill>
                <a:latin typeface="Calibri"/>
                <a:cs typeface="Calibri"/>
              </a:rPr>
              <a:t>	</a:t>
            </a:r>
            <a:r>
              <a:rPr sz="2600" spc="-25" dirty="0">
                <a:solidFill>
                  <a:srgbClr val="C00000"/>
                </a:solidFill>
                <a:latin typeface="Calibri"/>
                <a:cs typeface="Calibri"/>
              </a:rPr>
              <a:t>the</a:t>
            </a:r>
            <a:r>
              <a:rPr sz="2600" dirty="0">
                <a:solidFill>
                  <a:srgbClr val="C00000"/>
                </a:solidFill>
                <a:latin typeface="Calibri"/>
                <a:cs typeface="Calibri"/>
              </a:rPr>
              <a:t>	</a:t>
            </a:r>
            <a:r>
              <a:rPr sz="2600" spc="-10" dirty="0">
                <a:solidFill>
                  <a:srgbClr val="C00000"/>
                </a:solidFill>
                <a:latin typeface="Calibri"/>
                <a:cs typeface="Calibri"/>
              </a:rPr>
              <a:t>probability</a:t>
            </a:r>
            <a:r>
              <a:rPr sz="2600" dirty="0">
                <a:solidFill>
                  <a:srgbClr val="C00000"/>
                </a:solidFill>
                <a:latin typeface="Calibri"/>
                <a:cs typeface="Calibri"/>
              </a:rPr>
              <a:t>	</a:t>
            </a:r>
            <a:r>
              <a:rPr sz="2600" spc="-25" dirty="0">
                <a:solidFill>
                  <a:srgbClr val="C00000"/>
                </a:solidFill>
                <a:latin typeface="Calibri"/>
                <a:cs typeface="Calibri"/>
              </a:rPr>
              <a:t>and</a:t>
            </a:r>
            <a:r>
              <a:rPr sz="2600" dirty="0">
                <a:solidFill>
                  <a:srgbClr val="C00000"/>
                </a:solidFill>
                <a:latin typeface="Calibri"/>
                <a:cs typeface="Calibri"/>
              </a:rPr>
              <a:t>	</a:t>
            </a:r>
            <a:r>
              <a:rPr sz="2600" spc="-10" dirty="0">
                <a:solidFill>
                  <a:srgbClr val="C00000"/>
                </a:solidFill>
                <a:latin typeface="Calibri"/>
                <a:cs typeface="Calibri"/>
              </a:rPr>
              <a:t>reduce</a:t>
            </a:r>
            <a:r>
              <a:rPr sz="2600" dirty="0">
                <a:solidFill>
                  <a:srgbClr val="C00000"/>
                </a:solidFill>
                <a:latin typeface="Calibri"/>
                <a:cs typeface="Calibri"/>
              </a:rPr>
              <a:t>	</a:t>
            </a:r>
            <a:r>
              <a:rPr sz="2600" spc="-25" dirty="0">
                <a:solidFill>
                  <a:srgbClr val="C00000"/>
                </a:solidFill>
                <a:latin typeface="Calibri"/>
                <a:cs typeface="Calibri"/>
              </a:rPr>
              <a:t>the</a:t>
            </a:r>
            <a:r>
              <a:rPr sz="2600" dirty="0">
                <a:solidFill>
                  <a:srgbClr val="C00000"/>
                </a:solidFill>
                <a:latin typeface="Calibri"/>
                <a:cs typeface="Calibri"/>
              </a:rPr>
              <a:t>	</a:t>
            </a:r>
            <a:r>
              <a:rPr sz="2600" spc="-20" dirty="0">
                <a:solidFill>
                  <a:srgbClr val="C00000"/>
                </a:solidFill>
                <a:latin typeface="Calibri"/>
                <a:cs typeface="Calibri"/>
              </a:rPr>
              <a:t>risk</a:t>
            </a:r>
            <a:r>
              <a:rPr sz="2600" dirty="0">
                <a:solidFill>
                  <a:srgbClr val="C00000"/>
                </a:solidFill>
                <a:latin typeface="Calibri"/>
                <a:cs typeface="Calibri"/>
              </a:rPr>
              <a:t>	</a:t>
            </a:r>
            <a:r>
              <a:rPr sz="2600" spc="-25" dirty="0">
                <a:solidFill>
                  <a:srgbClr val="C00000"/>
                </a:solidFill>
                <a:latin typeface="Calibri"/>
                <a:cs typeface="Calibri"/>
              </a:rPr>
              <a:t>of</a:t>
            </a:r>
            <a:r>
              <a:rPr sz="2600" dirty="0">
                <a:solidFill>
                  <a:srgbClr val="C00000"/>
                </a:solidFill>
                <a:latin typeface="Calibri"/>
                <a:cs typeface="Calibri"/>
              </a:rPr>
              <a:t>	</a:t>
            </a:r>
            <a:r>
              <a:rPr sz="2600" spc="-10" dirty="0">
                <a:solidFill>
                  <a:srgbClr val="C00000"/>
                </a:solidFill>
                <a:latin typeface="Calibri"/>
                <a:cs typeface="Calibri"/>
              </a:rPr>
              <a:t>being</a:t>
            </a:r>
            <a:r>
              <a:rPr sz="2600" dirty="0">
                <a:solidFill>
                  <a:srgbClr val="C00000"/>
                </a:solidFill>
                <a:latin typeface="Calibri"/>
                <a:cs typeface="Calibri"/>
              </a:rPr>
              <a:t>	</a:t>
            </a:r>
            <a:r>
              <a:rPr sz="2600" spc="-10" dirty="0">
                <a:solidFill>
                  <a:srgbClr val="C00000"/>
                </a:solidFill>
                <a:latin typeface="Calibri"/>
                <a:cs typeface="Calibri"/>
              </a:rPr>
              <a:t>late)</a:t>
            </a:r>
            <a:r>
              <a:rPr sz="2600" i="1" spc="-10" dirty="0">
                <a:solidFill>
                  <a:srgbClr val="C00000"/>
                </a:solidFill>
                <a:latin typeface="Calibri"/>
                <a:cs typeface="Calibri"/>
              </a:rPr>
              <a:t>.</a:t>
            </a:r>
            <a:r>
              <a:rPr sz="2600" i="1" dirty="0">
                <a:solidFill>
                  <a:srgbClr val="C00000"/>
                </a:solidFill>
                <a:latin typeface="Calibri"/>
                <a:cs typeface="Calibri"/>
              </a:rPr>
              <a:t>	</a:t>
            </a:r>
            <a:r>
              <a:rPr sz="2600" spc="-20" dirty="0">
                <a:solidFill>
                  <a:srgbClr val="C00000"/>
                </a:solidFill>
                <a:latin typeface="Calibri"/>
                <a:cs typeface="Calibri"/>
              </a:rPr>
              <a:t>This </a:t>
            </a:r>
            <a:r>
              <a:rPr sz="2600" dirty="0">
                <a:solidFill>
                  <a:srgbClr val="C00000"/>
                </a:solidFill>
                <a:latin typeface="Calibri"/>
                <a:cs typeface="Calibri"/>
              </a:rPr>
              <a:t>phenomenon causes some</a:t>
            </a:r>
            <a:r>
              <a:rPr sz="2600" spc="5" dirty="0">
                <a:solidFill>
                  <a:srgbClr val="C00000"/>
                </a:solidFill>
                <a:latin typeface="Calibri"/>
                <a:cs typeface="Calibri"/>
              </a:rPr>
              <a:t> </a:t>
            </a:r>
            <a:r>
              <a:rPr sz="2600" dirty="0">
                <a:solidFill>
                  <a:srgbClr val="C00000"/>
                </a:solidFill>
                <a:latin typeface="Calibri"/>
                <a:cs typeface="Calibri"/>
              </a:rPr>
              <a:t>managers or</a:t>
            </a:r>
            <a:r>
              <a:rPr sz="2600" spc="15" dirty="0">
                <a:solidFill>
                  <a:srgbClr val="C00000"/>
                </a:solidFill>
                <a:latin typeface="Calibri"/>
                <a:cs typeface="Calibri"/>
              </a:rPr>
              <a:t> </a:t>
            </a:r>
            <a:r>
              <a:rPr sz="2600" dirty="0">
                <a:solidFill>
                  <a:srgbClr val="C00000"/>
                </a:solidFill>
                <a:latin typeface="Calibri"/>
                <a:cs typeface="Calibri"/>
              </a:rPr>
              <a:t>owners</a:t>
            </a:r>
            <a:r>
              <a:rPr sz="2600" spc="5" dirty="0">
                <a:solidFill>
                  <a:srgbClr val="C00000"/>
                </a:solidFill>
                <a:latin typeface="Calibri"/>
                <a:cs typeface="Calibri"/>
              </a:rPr>
              <a:t> </a:t>
            </a:r>
            <a:r>
              <a:rPr sz="2600" dirty="0">
                <a:solidFill>
                  <a:srgbClr val="C00000"/>
                </a:solidFill>
                <a:latin typeface="Calibri"/>
                <a:cs typeface="Calibri"/>
              </a:rPr>
              <a:t>to</a:t>
            </a:r>
            <a:r>
              <a:rPr sz="2600" spc="15" dirty="0">
                <a:solidFill>
                  <a:srgbClr val="C00000"/>
                </a:solidFill>
                <a:latin typeface="Calibri"/>
                <a:cs typeface="Calibri"/>
              </a:rPr>
              <a:t> </a:t>
            </a:r>
            <a:r>
              <a:rPr sz="2600" dirty="0">
                <a:solidFill>
                  <a:srgbClr val="C00000"/>
                </a:solidFill>
                <a:latin typeface="Calibri"/>
                <a:cs typeface="Calibri"/>
              </a:rPr>
              <a:t>call</a:t>
            </a:r>
            <a:r>
              <a:rPr sz="2600" spc="10" dirty="0">
                <a:solidFill>
                  <a:srgbClr val="C00000"/>
                </a:solidFill>
                <a:latin typeface="Calibri"/>
                <a:cs typeface="Calibri"/>
              </a:rPr>
              <a:t> </a:t>
            </a:r>
            <a:r>
              <a:rPr sz="2600" dirty="0">
                <a:solidFill>
                  <a:srgbClr val="C00000"/>
                </a:solidFill>
                <a:latin typeface="Calibri"/>
                <a:cs typeface="Calibri"/>
              </a:rPr>
              <a:t>for</a:t>
            </a:r>
            <a:r>
              <a:rPr sz="2600" spc="15" dirty="0">
                <a:solidFill>
                  <a:srgbClr val="C00000"/>
                </a:solidFill>
                <a:latin typeface="Calibri"/>
                <a:cs typeface="Calibri"/>
              </a:rPr>
              <a:t> </a:t>
            </a:r>
            <a:r>
              <a:rPr sz="2600" dirty="0">
                <a:solidFill>
                  <a:srgbClr val="C00000"/>
                </a:solidFill>
                <a:latin typeface="Calibri"/>
                <a:cs typeface="Calibri"/>
              </a:rPr>
              <a:t>a</a:t>
            </a:r>
            <a:r>
              <a:rPr sz="2600" spc="10" dirty="0">
                <a:solidFill>
                  <a:srgbClr val="C00000"/>
                </a:solidFill>
                <a:latin typeface="Calibri"/>
                <a:cs typeface="Calibri"/>
              </a:rPr>
              <a:t> </a:t>
            </a:r>
            <a:r>
              <a:rPr sz="2600" dirty="0">
                <a:solidFill>
                  <a:srgbClr val="C00000"/>
                </a:solidFill>
                <a:latin typeface="Calibri"/>
                <a:cs typeface="Calibri"/>
              </a:rPr>
              <a:t>10</a:t>
            </a:r>
            <a:r>
              <a:rPr sz="2600" spc="5" dirty="0">
                <a:solidFill>
                  <a:srgbClr val="C00000"/>
                </a:solidFill>
                <a:latin typeface="Calibri"/>
                <a:cs typeface="Calibri"/>
              </a:rPr>
              <a:t> </a:t>
            </a:r>
            <a:r>
              <a:rPr sz="2600" dirty="0">
                <a:solidFill>
                  <a:srgbClr val="C00000"/>
                </a:solidFill>
                <a:latin typeface="Calibri"/>
                <a:cs typeface="Calibri"/>
              </a:rPr>
              <a:t>–15%</a:t>
            </a:r>
            <a:r>
              <a:rPr sz="2600" spc="10" dirty="0">
                <a:solidFill>
                  <a:srgbClr val="C00000"/>
                </a:solidFill>
                <a:latin typeface="Calibri"/>
                <a:cs typeface="Calibri"/>
              </a:rPr>
              <a:t> </a:t>
            </a:r>
            <a:r>
              <a:rPr sz="2600" dirty="0">
                <a:solidFill>
                  <a:srgbClr val="C00000"/>
                </a:solidFill>
                <a:latin typeface="Calibri"/>
                <a:cs typeface="Calibri"/>
              </a:rPr>
              <a:t>cut</a:t>
            </a:r>
            <a:r>
              <a:rPr sz="2600" spc="15" dirty="0">
                <a:solidFill>
                  <a:srgbClr val="C00000"/>
                </a:solidFill>
                <a:latin typeface="Calibri"/>
                <a:cs typeface="Calibri"/>
              </a:rPr>
              <a:t> </a:t>
            </a:r>
            <a:r>
              <a:rPr sz="2600" spc="-25" dirty="0">
                <a:solidFill>
                  <a:srgbClr val="C00000"/>
                </a:solidFill>
                <a:latin typeface="Calibri"/>
                <a:cs typeface="Calibri"/>
              </a:rPr>
              <a:t>in</a:t>
            </a:r>
            <a:endParaRPr sz="2600" dirty="0">
              <a:latin typeface="Calibri"/>
              <a:cs typeface="Calibri"/>
            </a:endParaRPr>
          </a:p>
        </p:txBody>
      </p:sp>
      <p:sp>
        <p:nvSpPr>
          <p:cNvPr id="4" name="object 4"/>
          <p:cNvSpPr txBox="1"/>
          <p:nvPr/>
        </p:nvSpPr>
        <p:spPr>
          <a:xfrm>
            <a:off x="1145539" y="3080004"/>
            <a:ext cx="10129520" cy="421640"/>
          </a:xfrm>
          <a:prstGeom prst="rect">
            <a:avLst/>
          </a:prstGeom>
        </p:spPr>
        <p:txBody>
          <a:bodyPr vert="horz" wrap="square" lIns="0" tIns="12700" rIns="0" bIns="0" rtlCol="0">
            <a:spAutoFit/>
          </a:bodyPr>
          <a:lstStyle/>
          <a:p>
            <a:pPr marL="12700">
              <a:lnSpc>
                <a:spcPct val="100000"/>
              </a:lnSpc>
              <a:spcBef>
                <a:spcPts val="100"/>
              </a:spcBef>
              <a:tabLst>
                <a:tab pos="767715" algn="l"/>
                <a:tab pos="1824989" algn="l"/>
                <a:tab pos="2513965" algn="l"/>
                <a:tab pos="3038475" algn="l"/>
                <a:tab pos="3627120" algn="l"/>
                <a:tab pos="4803775" algn="l"/>
                <a:tab pos="5263515" algn="l"/>
                <a:tab pos="6374130" algn="l"/>
                <a:tab pos="6962775" algn="l"/>
                <a:tab pos="7690484" algn="l"/>
                <a:tab pos="8445500" algn="l"/>
                <a:tab pos="9034145" algn="l"/>
                <a:tab pos="9910445" algn="l"/>
              </a:tabLst>
            </a:pPr>
            <a:r>
              <a:rPr sz="2600" spc="-20" dirty="0">
                <a:solidFill>
                  <a:srgbClr val="C00000"/>
                </a:solidFill>
                <a:latin typeface="Calibri"/>
                <a:cs typeface="Calibri"/>
              </a:rPr>
              <a:t>time</a:t>
            </a:r>
            <a:r>
              <a:rPr sz="2600" dirty="0">
                <a:solidFill>
                  <a:srgbClr val="C00000"/>
                </a:solidFill>
                <a:latin typeface="Calibri"/>
                <a:cs typeface="Calibri"/>
              </a:rPr>
              <a:t>	</a:t>
            </a:r>
            <a:r>
              <a:rPr sz="2600" spc="-10" dirty="0">
                <a:solidFill>
                  <a:srgbClr val="C00000"/>
                </a:solidFill>
                <a:latin typeface="Calibri"/>
                <a:cs typeface="Calibri"/>
              </a:rPr>
              <a:t>and/or</a:t>
            </a:r>
            <a:r>
              <a:rPr sz="2600" dirty="0">
                <a:solidFill>
                  <a:srgbClr val="C00000"/>
                </a:solidFill>
                <a:latin typeface="Calibri"/>
                <a:cs typeface="Calibri"/>
              </a:rPr>
              <a:t>	</a:t>
            </a:r>
            <a:r>
              <a:rPr sz="2600" spc="-20" dirty="0">
                <a:solidFill>
                  <a:srgbClr val="C00000"/>
                </a:solidFill>
                <a:latin typeface="Calibri"/>
                <a:cs typeface="Calibri"/>
              </a:rPr>
              <a:t>cost</a:t>
            </a:r>
            <a:r>
              <a:rPr sz="2600" dirty="0">
                <a:solidFill>
                  <a:srgbClr val="C00000"/>
                </a:solidFill>
                <a:latin typeface="Calibri"/>
                <a:cs typeface="Calibri"/>
              </a:rPr>
              <a:t>	</a:t>
            </a:r>
            <a:r>
              <a:rPr sz="2600" spc="-25" dirty="0">
                <a:solidFill>
                  <a:srgbClr val="C00000"/>
                </a:solidFill>
                <a:latin typeface="Calibri"/>
                <a:cs typeface="Calibri"/>
              </a:rPr>
              <a:t>for</a:t>
            </a:r>
            <a:r>
              <a:rPr sz="2600" dirty="0">
                <a:solidFill>
                  <a:srgbClr val="C00000"/>
                </a:solidFill>
                <a:latin typeface="Calibri"/>
                <a:cs typeface="Calibri"/>
              </a:rPr>
              <a:t>	</a:t>
            </a:r>
            <a:r>
              <a:rPr sz="2600" spc="-25" dirty="0">
                <a:solidFill>
                  <a:srgbClr val="C00000"/>
                </a:solidFill>
                <a:latin typeface="Calibri"/>
                <a:cs typeface="Calibri"/>
              </a:rPr>
              <a:t>the</a:t>
            </a:r>
            <a:r>
              <a:rPr sz="2600" dirty="0">
                <a:solidFill>
                  <a:srgbClr val="C00000"/>
                </a:solidFill>
                <a:latin typeface="Calibri"/>
                <a:cs typeface="Calibri"/>
              </a:rPr>
              <a:t>	</a:t>
            </a:r>
            <a:r>
              <a:rPr sz="2600" spc="-10" dirty="0">
                <a:solidFill>
                  <a:srgbClr val="C00000"/>
                </a:solidFill>
                <a:latin typeface="Calibri"/>
                <a:cs typeface="Calibri"/>
              </a:rPr>
              <a:t>project.</a:t>
            </a:r>
            <a:r>
              <a:rPr sz="2600" dirty="0">
                <a:solidFill>
                  <a:srgbClr val="C00000"/>
                </a:solidFill>
                <a:latin typeface="Calibri"/>
                <a:cs typeface="Calibri"/>
              </a:rPr>
              <a:t>	</a:t>
            </a:r>
            <a:r>
              <a:rPr sz="2600" spc="-25" dirty="0">
                <a:solidFill>
                  <a:srgbClr val="C00000"/>
                </a:solidFill>
                <a:latin typeface="Calibri"/>
                <a:cs typeface="Calibri"/>
              </a:rPr>
              <a:t>Of</a:t>
            </a:r>
            <a:r>
              <a:rPr sz="2600" dirty="0">
                <a:solidFill>
                  <a:srgbClr val="C00000"/>
                </a:solidFill>
                <a:latin typeface="Calibri"/>
                <a:cs typeface="Calibri"/>
              </a:rPr>
              <a:t>	</a:t>
            </a:r>
            <a:r>
              <a:rPr sz="2600" spc="-10" dirty="0">
                <a:solidFill>
                  <a:srgbClr val="C00000"/>
                </a:solidFill>
                <a:latin typeface="Calibri"/>
                <a:cs typeface="Calibri"/>
              </a:rPr>
              <a:t>course,</a:t>
            </a:r>
            <a:r>
              <a:rPr sz="2600" dirty="0">
                <a:solidFill>
                  <a:srgbClr val="C00000"/>
                </a:solidFill>
                <a:latin typeface="Calibri"/>
                <a:cs typeface="Calibri"/>
              </a:rPr>
              <a:t>	</a:t>
            </a:r>
            <a:r>
              <a:rPr sz="2600" spc="-25" dirty="0">
                <a:solidFill>
                  <a:srgbClr val="C00000"/>
                </a:solidFill>
                <a:latin typeface="Calibri"/>
                <a:cs typeface="Calibri"/>
              </a:rPr>
              <a:t>the</a:t>
            </a:r>
            <a:r>
              <a:rPr sz="2600" dirty="0">
                <a:solidFill>
                  <a:srgbClr val="C00000"/>
                </a:solidFill>
                <a:latin typeface="Calibri"/>
                <a:cs typeface="Calibri"/>
              </a:rPr>
              <a:t>	</a:t>
            </a:r>
            <a:r>
              <a:rPr sz="2600" spc="-20" dirty="0">
                <a:solidFill>
                  <a:srgbClr val="C00000"/>
                </a:solidFill>
                <a:latin typeface="Calibri"/>
                <a:cs typeface="Calibri"/>
              </a:rPr>
              <a:t>next</a:t>
            </a:r>
            <a:r>
              <a:rPr sz="2600" dirty="0">
                <a:solidFill>
                  <a:srgbClr val="C00000"/>
                </a:solidFill>
                <a:latin typeface="Calibri"/>
                <a:cs typeface="Calibri"/>
              </a:rPr>
              <a:t>	</a:t>
            </a:r>
            <a:r>
              <a:rPr sz="2600" spc="-20" dirty="0">
                <a:solidFill>
                  <a:srgbClr val="C00000"/>
                </a:solidFill>
                <a:latin typeface="Calibri"/>
                <a:cs typeface="Calibri"/>
              </a:rPr>
              <a:t>time</a:t>
            </a:r>
            <a:r>
              <a:rPr sz="2600" dirty="0">
                <a:solidFill>
                  <a:srgbClr val="C00000"/>
                </a:solidFill>
                <a:latin typeface="Calibri"/>
                <a:cs typeface="Calibri"/>
              </a:rPr>
              <a:t>	</a:t>
            </a:r>
            <a:r>
              <a:rPr sz="2600" spc="-25" dirty="0">
                <a:solidFill>
                  <a:srgbClr val="C00000"/>
                </a:solidFill>
                <a:latin typeface="Calibri"/>
                <a:cs typeface="Calibri"/>
              </a:rPr>
              <a:t>the</a:t>
            </a:r>
            <a:r>
              <a:rPr sz="2600" dirty="0">
                <a:solidFill>
                  <a:srgbClr val="C00000"/>
                </a:solidFill>
                <a:latin typeface="Calibri"/>
                <a:cs typeface="Calibri"/>
              </a:rPr>
              <a:t>	</a:t>
            </a:r>
            <a:r>
              <a:rPr sz="2600" spc="-20" dirty="0">
                <a:solidFill>
                  <a:srgbClr val="C00000"/>
                </a:solidFill>
                <a:latin typeface="Calibri"/>
                <a:cs typeface="Calibri"/>
              </a:rPr>
              <a:t>game</a:t>
            </a:r>
            <a:r>
              <a:rPr sz="2600" dirty="0">
                <a:solidFill>
                  <a:srgbClr val="C00000"/>
                </a:solidFill>
                <a:latin typeface="Calibri"/>
                <a:cs typeface="Calibri"/>
              </a:rPr>
              <a:t>	</a:t>
            </a:r>
            <a:r>
              <a:rPr sz="2600" spc="-25" dirty="0">
                <a:solidFill>
                  <a:srgbClr val="C00000"/>
                </a:solidFill>
                <a:latin typeface="Calibri"/>
                <a:cs typeface="Calibri"/>
              </a:rPr>
              <a:t>is</a:t>
            </a:r>
            <a:endParaRPr sz="2600" dirty="0">
              <a:latin typeface="Calibri"/>
              <a:cs typeface="Calibri"/>
            </a:endParaRPr>
          </a:p>
        </p:txBody>
      </p:sp>
      <p:sp>
        <p:nvSpPr>
          <p:cNvPr id="5" name="object 5"/>
          <p:cNvSpPr txBox="1"/>
          <p:nvPr/>
        </p:nvSpPr>
        <p:spPr>
          <a:xfrm>
            <a:off x="1145539" y="3348228"/>
            <a:ext cx="10125075" cy="421640"/>
          </a:xfrm>
          <a:prstGeom prst="rect">
            <a:avLst/>
          </a:prstGeom>
        </p:spPr>
        <p:txBody>
          <a:bodyPr vert="horz" wrap="square" lIns="0" tIns="12700" rIns="0" bIns="0" rtlCol="0">
            <a:spAutoFit/>
          </a:bodyPr>
          <a:lstStyle/>
          <a:p>
            <a:pPr marL="12700">
              <a:lnSpc>
                <a:spcPct val="100000"/>
              </a:lnSpc>
              <a:spcBef>
                <a:spcPts val="100"/>
              </a:spcBef>
              <a:tabLst>
                <a:tab pos="1106805" algn="l"/>
                <a:tab pos="1682750" algn="l"/>
                <a:tab pos="2733675" algn="l"/>
                <a:tab pos="4272915" algn="l"/>
                <a:tab pos="4948555" algn="l"/>
                <a:tab pos="5993765" algn="l"/>
                <a:tab pos="6736080" algn="l"/>
                <a:tab pos="7329805" algn="l"/>
                <a:tab pos="7962265" algn="l"/>
                <a:tab pos="8538210" algn="l"/>
                <a:tab pos="9832975" algn="l"/>
              </a:tabLst>
            </a:pPr>
            <a:r>
              <a:rPr sz="2600" spc="-10" dirty="0">
                <a:solidFill>
                  <a:srgbClr val="C00000"/>
                </a:solidFill>
                <a:latin typeface="Calibri"/>
                <a:cs typeface="Calibri"/>
              </a:rPr>
              <a:t>played,</a:t>
            </a:r>
            <a:r>
              <a:rPr sz="2600" dirty="0">
                <a:solidFill>
                  <a:srgbClr val="C00000"/>
                </a:solidFill>
                <a:latin typeface="Calibri"/>
                <a:cs typeface="Calibri"/>
              </a:rPr>
              <a:t>	</a:t>
            </a:r>
            <a:r>
              <a:rPr sz="2600" spc="-25" dirty="0">
                <a:solidFill>
                  <a:srgbClr val="C00000"/>
                </a:solidFill>
                <a:latin typeface="Calibri"/>
                <a:cs typeface="Calibri"/>
              </a:rPr>
              <a:t>the</a:t>
            </a:r>
            <a:r>
              <a:rPr sz="2600" dirty="0">
                <a:solidFill>
                  <a:srgbClr val="C00000"/>
                </a:solidFill>
                <a:latin typeface="Calibri"/>
                <a:cs typeface="Calibri"/>
              </a:rPr>
              <a:t>	</a:t>
            </a:r>
            <a:r>
              <a:rPr sz="2600" spc="-10" dirty="0">
                <a:solidFill>
                  <a:srgbClr val="C00000"/>
                </a:solidFill>
                <a:latin typeface="Calibri"/>
                <a:cs typeface="Calibri"/>
              </a:rPr>
              <a:t>person</a:t>
            </a:r>
            <a:r>
              <a:rPr sz="2600" dirty="0">
                <a:solidFill>
                  <a:srgbClr val="C00000"/>
                </a:solidFill>
                <a:latin typeface="Calibri"/>
                <a:cs typeface="Calibri"/>
              </a:rPr>
              <a:t>	</a:t>
            </a:r>
            <a:r>
              <a:rPr sz="2600" spc="-10" dirty="0">
                <a:solidFill>
                  <a:srgbClr val="C00000"/>
                </a:solidFill>
                <a:latin typeface="Calibri"/>
                <a:cs typeface="Calibri"/>
              </a:rPr>
              <a:t>estimating</a:t>
            </a:r>
            <a:r>
              <a:rPr sz="2600" dirty="0">
                <a:solidFill>
                  <a:srgbClr val="C00000"/>
                </a:solidFill>
                <a:latin typeface="Calibri"/>
                <a:cs typeface="Calibri"/>
              </a:rPr>
              <a:t>	</a:t>
            </a:r>
            <a:r>
              <a:rPr sz="2600" spc="-20" dirty="0">
                <a:solidFill>
                  <a:srgbClr val="C00000"/>
                </a:solidFill>
                <a:latin typeface="Calibri"/>
                <a:cs typeface="Calibri"/>
              </a:rPr>
              <a:t>cost</a:t>
            </a:r>
            <a:r>
              <a:rPr sz="2600" dirty="0">
                <a:solidFill>
                  <a:srgbClr val="C00000"/>
                </a:solidFill>
                <a:latin typeface="Calibri"/>
                <a:cs typeface="Calibri"/>
              </a:rPr>
              <a:t>	</a:t>
            </a:r>
            <a:r>
              <a:rPr sz="2600" spc="-10" dirty="0">
                <a:solidFill>
                  <a:srgbClr val="C00000"/>
                </a:solidFill>
                <a:latin typeface="Calibri"/>
                <a:cs typeface="Calibri"/>
              </a:rPr>
              <a:t>and/or</a:t>
            </a:r>
            <a:r>
              <a:rPr sz="2600" dirty="0">
                <a:solidFill>
                  <a:srgbClr val="C00000"/>
                </a:solidFill>
                <a:latin typeface="Calibri"/>
                <a:cs typeface="Calibri"/>
              </a:rPr>
              <a:t>	</a:t>
            </a:r>
            <a:r>
              <a:rPr sz="2600" spc="-20" dirty="0">
                <a:solidFill>
                  <a:srgbClr val="C00000"/>
                </a:solidFill>
                <a:latin typeface="Calibri"/>
                <a:cs typeface="Calibri"/>
              </a:rPr>
              <a:t>time</a:t>
            </a:r>
            <a:r>
              <a:rPr sz="2600" dirty="0">
                <a:solidFill>
                  <a:srgbClr val="C00000"/>
                </a:solidFill>
                <a:latin typeface="Calibri"/>
                <a:cs typeface="Calibri"/>
              </a:rPr>
              <a:t>	</a:t>
            </a:r>
            <a:r>
              <a:rPr sz="2600" spc="-20" dirty="0">
                <a:solidFill>
                  <a:srgbClr val="C00000"/>
                </a:solidFill>
                <a:latin typeface="Calibri"/>
                <a:cs typeface="Calibri"/>
              </a:rPr>
              <a:t>will</a:t>
            </a:r>
            <a:r>
              <a:rPr sz="2600" dirty="0">
                <a:solidFill>
                  <a:srgbClr val="C00000"/>
                </a:solidFill>
                <a:latin typeface="Calibri"/>
                <a:cs typeface="Calibri"/>
              </a:rPr>
              <a:t>	</a:t>
            </a:r>
            <a:r>
              <a:rPr sz="2600" spc="-25" dirty="0">
                <a:solidFill>
                  <a:srgbClr val="C00000"/>
                </a:solidFill>
                <a:latin typeface="Calibri"/>
                <a:cs typeface="Calibri"/>
              </a:rPr>
              <a:t>pad</a:t>
            </a:r>
            <a:r>
              <a:rPr sz="2600" dirty="0">
                <a:solidFill>
                  <a:srgbClr val="C00000"/>
                </a:solidFill>
                <a:latin typeface="Calibri"/>
                <a:cs typeface="Calibri"/>
              </a:rPr>
              <a:t>	</a:t>
            </a:r>
            <a:r>
              <a:rPr sz="2600" spc="-25" dirty="0">
                <a:solidFill>
                  <a:srgbClr val="C00000"/>
                </a:solidFill>
                <a:latin typeface="Calibri"/>
                <a:cs typeface="Calibri"/>
              </a:rPr>
              <a:t>the</a:t>
            </a:r>
            <a:r>
              <a:rPr sz="2600" dirty="0">
                <a:solidFill>
                  <a:srgbClr val="C00000"/>
                </a:solidFill>
                <a:latin typeface="Calibri"/>
                <a:cs typeface="Calibri"/>
              </a:rPr>
              <a:t>	</a:t>
            </a:r>
            <a:r>
              <a:rPr sz="2600" spc="-10" dirty="0">
                <a:solidFill>
                  <a:srgbClr val="C00000"/>
                </a:solidFill>
                <a:latin typeface="Calibri"/>
                <a:cs typeface="Calibri"/>
              </a:rPr>
              <a:t>estimate</a:t>
            </a:r>
            <a:r>
              <a:rPr sz="2600" dirty="0">
                <a:solidFill>
                  <a:srgbClr val="C00000"/>
                </a:solidFill>
                <a:latin typeface="Calibri"/>
                <a:cs typeface="Calibri"/>
              </a:rPr>
              <a:t>	</a:t>
            </a:r>
            <a:r>
              <a:rPr sz="2600" spc="-25" dirty="0">
                <a:solidFill>
                  <a:srgbClr val="C00000"/>
                </a:solidFill>
                <a:latin typeface="Calibri"/>
                <a:cs typeface="Calibri"/>
              </a:rPr>
              <a:t>to</a:t>
            </a:r>
            <a:endParaRPr sz="2600" dirty="0">
              <a:latin typeface="Calibri"/>
              <a:cs typeface="Calibri"/>
            </a:endParaRPr>
          </a:p>
        </p:txBody>
      </p:sp>
      <p:sp>
        <p:nvSpPr>
          <p:cNvPr id="6" name="object 6"/>
          <p:cNvSpPr txBox="1"/>
          <p:nvPr/>
        </p:nvSpPr>
        <p:spPr>
          <a:xfrm>
            <a:off x="916939" y="3628644"/>
            <a:ext cx="10356850" cy="1384935"/>
          </a:xfrm>
          <a:prstGeom prst="rect">
            <a:avLst/>
          </a:prstGeom>
        </p:spPr>
        <p:txBody>
          <a:bodyPr vert="horz" wrap="square" lIns="0" tIns="12700" rIns="0" bIns="0" rtlCol="0">
            <a:spAutoFit/>
          </a:bodyPr>
          <a:lstStyle/>
          <a:p>
            <a:pPr marL="241300">
              <a:lnSpc>
                <a:spcPct val="100000"/>
              </a:lnSpc>
              <a:spcBef>
                <a:spcPts val="100"/>
              </a:spcBef>
            </a:pPr>
            <a:r>
              <a:rPr sz="2600" dirty="0">
                <a:solidFill>
                  <a:srgbClr val="C00000"/>
                </a:solidFill>
                <a:latin typeface="Calibri"/>
                <a:cs typeface="Calibri"/>
              </a:rPr>
              <a:t>20%</a:t>
            </a:r>
            <a:r>
              <a:rPr sz="2600" spc="-30" dirty="0">
                <a:solidFill>
                  <a:srgbClr val="C00000"/>
                </a:solidFill>
                <a:latin typeface="Calibri"/>
                <a:cs typeface="Calibri"/>
              </a:rPr>
              <a:t> </a:t>
            </a:r>
            <a:r>
              <a:rPr sz="2600" dirty="0">
                <a:solidFill>
                  <a:srgbClr val="C00000"/>
                </a:solidFill>
                <a:latin typeface="Calibri"/>
                <a:cs typeface="Calibri"/>
              </a:rPr>
              <a:t>or</a:t>
            </a:r>
            <a:r>
              <a:rPr sz="2600" spc="-30" dirty="0">
                <a:solidFill>
                  <a:srgbClr val="C00000"/>
                </a:solidFill>
                <a:latin typeface="Calibri"/>
                <a:cs typeface="Calibri"/>
              </a:rPr>
              <a:t> </a:t>
            </a:r>
            <a:r>
              <a:rPr sz="2600" spc="-10" dirty="0">
                <a:solidFill>
                  <a:srgbClr val="C00000"/>
                </a:solidFill>
                <a:latin typeface="Calibri"/>
                <a:cs typeface="Calibri"/>
              </a:rPr>
              <a:t>more.</a:t>
            </a:r>
            <a:endParaRPr sz="2600" dirty="0">
              <a:latin typeface="Calibri"/>
              <a:cs typeface="Calibri"/>
            </a:endParaRPr>
          </a:p>
          <a:p>
            <a:pPr marL="241300" indent="-228600">
              <a:lnSpc>
                <a:spcPts val="2665"/>
              </a:lnSpc>
              <a:spcBef>
                <a:spcPts val="70"/>
              </a:spcBef>
              <a:buFont typeface="Arial MT"/>
              <a:buChar char="•"/>
              <a:tabLst>
                <a:tab pos="241300" algn="l"/>
              </a:tabLst>
            </a:pPr>
            <a:r>
              <a:rPr sz="2600" b="1" dirty="0">
                <a:solidFill>
                  <a:srgbClr val="262EA4"/>
                </a:solidFill>
                <a:latin typeface="Calibri"/>
                <a:cs typeface="Calibri"/>
              </a:rPr>
              <a:t>Organization</a:t>
            </a:r>
            <a:r>
              <a:rPr sz="2600" b="1" spc="90" dirty="0">
                <a:solidFill>
                  <a:srgbClr val="262EA4"/>
                </a:solidFill>
                <a:latin typeface="Calibri"/>
                <a:cs typeface="Calibri"/>
              </a:rPr>
              <a:t> </a:t>
            </a:r>
            <a:r>
              <a:rPr sz="2600" b="1" dirty="0">
                <a:solidFill>
                  <a:srgbClr val="262EA4"/>
                </a:solidFill>
                <a:latin typeface="Calibri"/>
                <a:cs typeface="Calibri"/>
              </a:rPr>
              <a:t>Culture:</a:t>
            </a:r>
            <a:r>
              <a:rPr sz="2600" b="1" spc="85" dirty="0">
                <a:solidFill>
                  <a:srgbClr val="262EA4"/>
                </a:solidFill>
                <a:latin typeface="Calibri"/>
                <a:cs typeface="Calibri"/>
              </a:rPr>
              <a:t> </a:t>
            </a:r>
            <a:r>
              <a:rPr sz="2600" spc="-10" dirty="0">
                <a:latin typeface="Calibri"/>
                <a:cs typeface="Calibri"/>
              </a:rPr>
              <a:t>Organizations</a:t>
            </a:r>
            <a:r>
              <a:rPr sz="2600" spc="90" dirty="0">
                <a:latin typeface="Calibri"/>
                <a:cs typeface="Calibri"/>
              </a:rPr>
              <a:t> </a:t>
            </a:r>
            <a:r>
              <a:rPr sz="2600" dirty="0">
                <a:latin typeface="Calibri"/>
                <a:cs typeface="Calibri"/>
              </a:rPr>
              <a:t>vary</a:t>
            </a:r>
            <a:r>
              <a:rPr sz="2600" spc="85" dirty="0">
                <a:latin typeface="Calibri"/>
                <a:cs typeface="Calibri"/>
              </a:rPr>
              <a:t> </a:t>
            </a:r>
            <a:r>
              <a:rPr sz="2600" dirty="0">
                <a:latin typeface="Calibri"/>
                <a:cs typeface="Calibri"/>
              </a:rPr>
              <a:t>in</a:t>
            </a:r>
            <a:r>
              <a:rPr sz="2600" spc="85" dirty="0">
                <a:latin typeface="Calibri"/>
                <a:cs typeface="Calibri"/>
              </a:rPr>
              <a:t> </a:t>
            </a:r>
            <a:r>
              <a:rPr sz="2600" dirty="0">
                <a:latin typeface="Calibri"/>
                <a:cs typeface="Calibri"/>
              </a:rPr>
              <a:t>the</a:t>
            </a:r>
            <a:r>
              <a:rPr sz="2600" spc="85" dirty="0">
                <a:latin typeface="Calibri"/>
                <a:cs typeface="Calibri"/>
              </a:rPr>
              <a:t> </a:t>
            </a:r>
            <a:r>
              <a:rPr sz="2600" dirty="0">
                <a:latin typeface="Calibri"/>
                <a:cs typeface="Calibri"/>
              </a:rPr>
              <a:t>importance</a:t>
            </a:r>
            <a:r>
              <a:rPr sz="2600" spc="80" dirty="0">
                <a:latin typeface="Calibri"/>
                <a:cs typeface="Calibri"/>
              </a:rPr>
              <a:t> </a:t>
            </a:r>
            <a:r>
              <a:rPr sz="2600" dirty="0">
                <a:latin typeface="Calibri"/>
                <a:cs typeface="Calibri"/>
              </a:rPr>
              <a:t>they</a:t>
            </a:r>
            <a:r>
              <a:rPr sz="2600" spc="90" dirty="0">
                <a:latin typeface="Calibri"/>
                <a:cs typeface="Calibri"/>
              </a:rPr>
              <a:t> </a:t>
            </a:r>
            <a:r>
              <a:rPr sz="2600" dirty="0">
                <a:latin typeface="Calibri"/>
                <a:cs typeface="Calibri"/>
              </a:rPr>
              <a:t>attach</a:t>
            </a:r>
            <a:r>
              <a:rPr sz="2600" spc="85" dirty="0">
                <a:latin typeface="Calibri"/>
                <a:cs typeface="Calibri"/>
              </a:rPr>
              <a:t> </a:t>
            </a:r>
            <a:r>
              <a:rPr sz="2600" spc="-25" dirty="0">
                <a:latin typeface="Calibri"/>
                <a:cs typeface="Calibri"/>
              </a:rPr>
              <a:t>to</a:t>
            </a:r>
            <a:endParaRPr sz="2600" dirty="0">
              <a:latin typeface="Calibri"/>
              <a:cs typeface="Calibri"/>
            </a:endParaRPr>
          </a:p>
          <a:p>
            <a:pPr marL="241300" marR="5080">
              <a:lnSpc>
                <a:spcPct val="70000"/>
              </a:lnSpc>
              <a:spcBef>
                <a:spcPts val="480"/>
              </a:spcBef>
            </a:pPr>
            <a:r>
              <a:rPr sz="2600" dirty="0">
                <a:latin typeface="Calibri"/>
                <a:cs typeface="Calibri"/>
              </a:rPr>
              <a:t>estimates.</a:t>
            </a:r>
            <a:r>
              <a:rPr sz="2600" spc="254" dirty="0">
                <a:latin typeface="Calibri"/>
                <a:cs typeface="Calibri"/>
              </a:rPr>
              <a:t> </a:t>
            </a:r>
            <a:r>
              <a:rPr sz="2600" dirty="0">
                <a:latin typeface="Calibri"/>
                <a:cs typeface="Calibri"/>
              </a:rPr>
              <a:t>Their</a:t>
            </a:r>
            <a:r>
              <a:rPr sz="2600" spc="254" dirty="0">
                <a:latin typeface="Calibri"/>
                <a:cs typeface="Calibri"/>
              </a:rPr>
              <a:t> </a:t>
            </a:r>
            <a:r>
              <a:rPr sz="2600" dirty="0">
                <a:latin typeface="Calibri"/>
                <a:cs typeface="Calibri"/>
              </a:rPr>
              <a:t>culture</a:t>
            </a:r>
            <a:r>
              <a:rPr sz="2600" spc="250" dirty="0">
                <a:latin typeface="Calibri"/>
                <a:cs typeface="Calibri"/>
              </a:rPr>
              <a:t> </a:t>
            </a:r>
            <a:r>
              <a:rPr sz="2600" dirty="0">
                <a:latin typeface="Calibri"/>
                <a:cs typeface="Calibri"/>
              </a:rPr>
              <a:t>shapes</a:t>
            </a:r>
            <a:r>
              <a:rPr sz="2600" spc="250" dirty="0">
                <a:latin typeface="Calibri"/>
                <a:cs typeface="Calibri"/>
              </a:rPr>
              <a:t> </a:t>
            </a:r>
            <a:r>
              <a:rPr sz="2600" dirty="0">
                <a:latin typeface="Calibri"/>
                <a:cs typeface="Calibri"/>
              </a:rPr>
              <a:t>every</a:t>
            </a:r>
            <a:r>
              <a:rPr sz="2600" spc="254" dirty="0">
                <a:latin typeface="Calibri"/>
                <a:cs typeface="Calibri"/>
              </a:rPr>
              <a:t> </a:t>
            </a:r>
            <a:r>
              <a:rPr sz="2600" dirty="0">
                <a:latin typeface="Calibri"/>
                <a:cs typeface="Calibri"/>
              </a:rPr>
              <a:t>dimension</a:t>
            </a:r>
            <a:r>
              <a:rPr sz="2600" spc="250" dirty="0">
                <a:latin typeface="Calibri"/>
                <a:cs typeface="Calibri"/>
              </a:rPr>
              <a:t> </a:t>
            </a:r>
            <a:r>
              <a:rPr sz="2600" dirty="0">
                <a:latin typeface="Calibri"/>
                <a:cs typeface="Calibri"/>
              </a:rPr>
              <a:t>of</a:t>
            </a:r>
            <a:r>
              <a:rPr sz="2600" spc="250" dirty="0">
                <a:latin typeface="Calibri"/>
                <a:cs typeface="Calibri"/>
              </a:rPr>
              <a:t> </a:t>
            </a:r>
            <a:r>
              <a:rPr sz="2600" dirty="0">
                <a:latin typeface="Calibri"/>
                <a:cs typeface="Calibri"/>
              </a:rPr>
              <a:t>project</a:t>
            </a:r>
            <a:r>
              <a:rPr sz="2600" spc="254" dirty="0">
                <a:latin typeface="Calibri"/>
                <a:cs typeface="Calibri"/>
              </a:rPr>
              <a:t> </a:t>
            </a:r>
            <a:r>
              <a:rPr sz="2600" spc="-10" dirty="0">
                <a:latin typeface="Calibri"/>
                <a:cs typeface="Calibri"/>
              </a:rPr>
              <a:t>management; </a:t>
            </a:r>
            <a:r>
              <a:rPr sz="2600" dirty="0">
                <a:latin typeface="Calibri"/>
                <a:cs typeface="Calibri"/>
              </a:rPr>
              <a:t>estimating</a:t>
            </a:r>
            <a:r>
              <a:rPr sz="2600" spc="-50" dirty="0">
                <a:latin typeface="Calibri"/>
                <a:cs typeface="Calibri"/>
              </a:rPr>
              <a:t> </a:t>
            </a:r>
            <a:r>
              <a:rPr sz="2600" dirty="0">
                <a:latin typeface="Calibri"/>
                <a:cs typeface="Calibri"/>
              </a:rPr>
              <a:t>is</a:t>
            </a:r>
            <a:r>
              <a:rPr sz="2600" spc="-60" dirty="0">
                <a:latin typeface="Calibri"/>
                <a:cs typeface="Calibri"/>
              </a:rPr>
              <a:t> </a:t>
            </a:r>
            <a:r>
              <a:rPr sz="2600" dirty="0">
                <a:latin typeface="Calibri"/>
                <a:cs typeface="Calibri"/>
              </a:rPr>
              <a:t>not</a:t>
            </a:r>
            <a:r>
              <a:rPr sz="2600" spc="-50" dirty="0">
                <a:latin typeface="Calibri"/>
                <a:cs typeface="Calibri"/>
              </a:rPr>
              <a:t> </a:t>
            </a:r>
            <a:r>
              <a:rPr sz="2600" dirty="0">
                <a:latin typeface="Calibri"/>
                <a:cs typeface="Calibri"/>
              </a:rPr>
              <a:t>immune</a:t>
            </a:r>
            <a:r>
              <a:rPr sz="2600" spc="-55" dirty="0">
                <a:latin typeface="Calibri"/>
                <a:cs typeface="Calibri"/>
              </a:rPr>
              <a:t> </a:t>
            </a:r>
            <a:r>
              <a:rPr sz="2600" dirty="0">
                <a:latin typeface="Calibri"/>
                <a:cs typeface="Calibri"/>
              </a:rPr>
              <a:t>to</a:t>
            </a:r>
            <a:r>
              <a:rPr sz="2600" spc="-50" dirty="0">
                <a:latin typeface="Calibri"/>
                <a:cs typeface="Calibri"/>
              </a:rPr>
              <a:t> </a:t>
            </a:r>
            <a:r>
              <a:rPr sz="2600" dirty="0">
                <a:latin typeface="Calibri"/>
                <a:cs typeface="Calibri"/>
              </a:rPr>
              <a:t>this</a:t>
            </a:r>
            <a:r>
              <a:rPr sz="2600" spc="-55" dirty="0">
                <a:latin typeface="Calibri"/>
                <a:cs typeface="Calibri"/>
              </a:rPr>
              <a:t> </a:t>
            </a:r>
            <a:r>
              <a:rPr sz="2600" spc="-10" dirty="0">
                <a:latin typeface="Calibri"/>
                <a:cs typeface="Calibri"/>
              </a:rPr>
              <a:t>influence.</a:t>
            </a:r>
            <a:endParaRPr sz="2600" dirty="0">
              <a:latin typeface="Calibri"/>
              <a:cs typeface="Calibri"/>
            </a:endParaRPr>
          </a:p>
        </p:txBody>
      </p:sp>
      <p:sp>
        <p:nvSpPr>
          <p:cNvPr id="7" name="object 7"/>
          <p:cNvSpPr txBox="1"/>
          <p:nvPr/>
        </p:nvSpPr>
        <p:spPr>
          <a:xfrm>
            <a:off x="916939" y="5000244"/>
            <a:ext cx="10356215" cy="42164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1300" algn="l"/>
                <a:tab pos="1239520" algn="l"/>
                <a:tab pos="2505710" algn="l"/>
                <a:tab pos="3624579" algn="l"/>
                <a:tab pos="5372735" algn="l"/>
                <a:tab pos="6492875" algn="l"/>
                <a:tab pos="7160259" algn="l"/>
                <a:tab pos="8280400" algn="l"/>
                <a:tab pos="9093200" algn="l"/>
                <a:tab pos="9796145" algn="l"/>
              </a:tabLst>
            </a:pPr>
            <a:r>
              <a:rPr sz="2600" b="1" spc="-10" dirty="0">
                <a:solidFill>
                  <a:srgbClr val="262EA4"/>
                </a:solidFill>
                <a:latin typeface="Calibri"/>
                <a:cs typeface="Calibri"/>
              </a:rPr>
              <a:t>Other</a:t>
            </a:r>
            <a:r>
              <a:rPr sz="2600" b="1" dirty="0">
                <a:solidFill>
                  <a:srgbClr val="262EA4"/>
                </a:solidFill>
                <a:latin typeface="Calibri"/>
                <a:cs typeface="Calibri"/>
              </a:rPr>
              <a:t>	</a:t>
            </a:r>
            <a:r>
              <a:rPr sz="2600" b="1" spc="-10" dirty="0">
                <a:solidFill>
                  <a:srgbClr val="262EA4"/>
                </a:solidFill>
                <a:latin typeface="Calibri"/>
                <a:cs typeface="Calibri"/>
              </a:rPr>
              <a:t>Factors:</a:t>
            </a:r>
            <a:r>
              <a:rPr sz="2600" b="1" dirty="0">
                <a:solidFill>
                  <a:srgbClr val="262EA4"/>
                </a:solidFill>
                <a:latin typeface="Calibri"/>
                <a:cs typeface="Calibri"/>
              </a:rPr>
              <a:t>	</a:t>
            </a:r>
            <a:r>
              <a:rPr sz="2600" spc="-10" dirty="0">
                <a:solidFill>
                  <a:srgbClr val="C00000"/>
                </a:solidFill>
                <a:latin typeface="Calibri"/>
                <a:cs typeface="Calibri"/>
              </a:rPr>
              <a:t>Finally,</a:t>
            </a:r>
            <a:r>
              <a:rPr sz="2600" dirty="0">
                <a:solidFill>
                  <a:srgbClr val="C00000"/>
                </a:solidFill>
                <a:latin typeface="Calibri"/>
                <a:cs typeface="Calibri"/>
              </a:rPr>
              <a:t>	</a:t>
            </a:r>
            <a:r>
              <a:rPr sz="2600" i="1" spc="-20" dirty="0">
                <a:solidFill>
                  <a:srgbClr val="C00000"/>
                </a:solidFill>
                <a:latin typeface="Calibri"/>
                <a:cs typeface="Calibri"/>
              </a:rPr>
              <a:t>non-</a:t>
            </a:r>
            <a:r>
              <a:rPr sz="2600" i="1" spc="-10" dirty="0">
                <a:solidFill>
                  <a:srgbClr val="C00000"/>
                </a:solidFill>
                <a:latin typeface="Calibri"/>
                <a:cs typeface="Calibri"/>
              </a:rPr>
              <a:t>project</a:t>
            </a:r>
            <a:r>
              <a:rPr sz="2600" i="1" dirty="0">
                <a:solidFill>
                  <a:srgbClr val="C00000"/>
                </a:solidFill>
                <a:latin typeface="Calibri"/>
                <a:cs typeface="Calibri"/>
              </a:rPr>
              <a:t>	</a:t>
            </a:r>
            <a:r>
              <a:rPr sz="2600" i="1" spc="-10" dirty="0">
                <a:solidFill>
                  <a:srgbClr val="C00000"/>
                </a:solidFill>
                <a:latin typeface="Calibri"/>
                <a:cs typeface="Calibri"/>
              </a:rPr>
              <a:t>factors</a:t>
            </a:r>
            <a:r>
              <a:rPr sz="2600" i="1" dirty="0">
                <a:solidFill>
                  <a:srgbClr val="C00000"/>
                </a:solidFill>
                <a:latin typeface="Calibri"/>
                <a:cs typeface="Calibri"/>
              </a:rPr>
              <a:t>	</a:t>
            </a:r>
            <a:r>
              <a:rPr sz="2600" spc="-25" dirty="0">
                <a:solidFill>
                  <a:srgbClr val="C00000"/>
                </a:solidFill>
                <a:latin typeface="Calibri"/>
                <a:cs typeface="Calibri"/>
              </a:rPr>
              <a:t>can</a:t>
            </a:r>
            <a:r>
              <a:rPr sz="2600" dirty="0">
                <a:solidFill>
                  <a:srgbClr val="C00000"/>
                </a:solidFill>
                <a:latin typeface="Calibri"/>
                <a:cs typeface="Calibri"/>
              </a:rPr>
              <a:t>	</a:t>
            </a:r>
            <a:r>
              <a:rPr sz="2600" spc="-10" dirty="0">
                <a:solidFill>
                  <a:srgbClr val="C00000"/>
                </a:solidFill>
                <a:latin typeface="Calibri"/>
                <a:cs typeface="Calibri"/>
              </a:rPr>
              <a:t>impact</a:t>
            </a:r>
            <a:r>
              <a:rPr sz="2600" dirty="0">
                <a:solidFill>
                  <a:srgbClr val="C00000"/>
                </a:solidFill>
                <a:latin typeface="Calibri"/>
                <a:cs typeface="Calibri"/>
              </a:rPr>
              <a:t>	</a:t>
            </a:r>
            <a:r>
              <a:rPr sz="2600" spc="-20" dirty="0">
                <a:solidFill>
                  <a:srgbClr val="C00000"/>
                </a:solidFill>
                <a:latin typeface="Calibri"/>
                <a:cs typeface="Calibri"/>
              </a:rPr>
              <a:t>time</a:t>
            </a:r>
            <a:r>
              <a:rPr sz="2600" dirty="0">
                <a:solidFill>
                  <a:srgbClr val="C00000"/>
                </a:solidFill>
                <a:latin typeface="Calibri"/>
                <a:cs typeface="Calibri"/>
              </a:rPr>
              <a:t>	</a:t>
            </a:r>
            <a:r>
              <a:rPr sz="2600" spc="-25" dirty="0">
                <a:solidFill>
                  <a:srgbClr val="C00000"/>
                </a:solidFill>
                <a:latin typeface="Calibri"/>
                <a:cs typeface="Calibri"/>
              </a:rPr>
              <a:t>and</a:t>
            </a:r>
            <a:r>
              <a:rPr sz="2600" dirty="0">
                <a:solidFill>
                  <a:srgbClr val="C00000"/>
                </a:solidFill>
                <a:latin typeface="Calibri"/>
                <a:cs typeface="Calibri"/>
              </a:rPr>
              <a:t>	</a:t>
            </a:r>
            <a:r>
              <a:rPr sz="2600" spc="-20" dirty="0">
                <a:solidFill>
                  <a:srgbClr val="C00000"/>
                </a:solidFill>
                <a:latin typeface="Calibri"/>
                <a:cs typeface="Calibri"/>
              </a:rPr>
              <a:t>cost</a:t>
            </a:r>
            <a:endParaRPr sz="2600" dirty="0">
              <a:latin typeface="Calibri"/>
              <a:cs typeface="Calibri"/>
            </a:endParaRPr>
          </a:p>
        </p:txBody>
      </p:sp>
      <p:sp>
        <p:nvSpPr>
          <p:cNvPr id="8" name="object 8"/>
          <p:cNvSpPr txBox="1"/>
          <p:nvPr/>
        </p:nvSpPr>
        <p:spPr>
          <a:xfrm>
            <a:off x="1145539" y="5265420"/>
            <a:ext cx="10127615" cy="421640"/>
          </a:xfrm>
          <a:prstGeom prst="rect">
            <a:avLst/>
          </a:prstGeom>
        </p:spPr>
        <p:txBody>
          <a:bodyPr vert="horz" wrap="square" lIns="0" tIns="12700" rIns="0" bIns="0" rtlCol="0">
            <a:spAutoFit/>
          </a:bodyPr>
          <a:lstStyle/>
          <a:p>
            <a:pPr marL="12700">
              <a:lnSpc>
                <a:spcPct val="100000"/>
              </a:lnSpc>
              <a:spcBef>
                <a:spcPts val="100"/>
              </a:spcBef>
              <a:tabLst>
                <a:tab pos="1522095" algn="l"/>
                <a:tab pos="2091689" algn="l"/>
                <a:tab pos="3435985" algn="l"/>
                <a:tab pos="5034280" algn="l"/>
                <a:tab pos="6637655" algn="l"/>
                <a:tab pos="7237730" algn="l"/>
                <a:tab pos="7990840" algn="l"/>
                <a:tab pos="8736330" algn="l"/>
              </a:tabLst>
            </a:pPr>
            <a:r>
              <a:rPr sz="2600" spc="-10" dirty="0">
                <a:solidFill>
                  <a:srgbClr val="C00000"/>
                </a:solidFill>
                <a:latin typeface="Calibri"/>
                <a:cs typeface="Calibri"/>
              </a:rPr>
              <a:t>estimates.</a:t>
            </a:r>
            <a:r>
              <a:rPr sz="2600" dirty="0">
                <a:solidFill>
                  <a:srgbClr val="C00000"/>
                </a:solidFill>
                <a:latin typeface="Calibri"/>
                <a:cs typeface="Calibri"/>
              </a:rPr>
              <a:t>	</a:t>
            </a:r>
            <a:r>
              <a:rPr sz="2600" spc="-25" dirty="0">
                <a:solidFill>
                  <a:srgbClr val="C00000"/>
                </a:solidFill>
                <a:latin typeface="Calibri"/>
                <a:cs typeface="Calibri"/>
              </a:rPr>
              <a:t>For</a:t>
            </a:r>
            <a:r>
              <a:rPr sz="2600" dirty="0">
                <a:solidFill>
                  <a:srgbClr val="C00000"/>
                </a:solidFill>
                <a:latin typeface="Calibri"/>
                <a:cs typeface="Calibri"/>
              </a:rPr>
              <a:t>	</a:t>
            </a:r>
            <a:r>
              <a:rPr sz="2600" spc="-10" dirty="0">
                <a:solidFill>
                  <a:srgbClr val="C00000"/>
                </a:solidFill>
                <a:latin typeface="Calibri"/>
                <a:cs typeface="Calibri"/>
              </a:rPr>
              <a:t>example,</a:t>
            </a:r>
            <a:r>
              <a:rPr sz="2600" dirty="0">
                <a:solidFill>
                  <a:srgbClr val="C00000"/>
                </a:solidFill>
                <a:latin typeface="Calibri"/>
                <a:cs typeface="Calibri"/>
              </a:rPr>
              <a:t>	</a:t>
            </a:r>
            <a:r>
              <a:rPr sz="2600" spc="-10" dirty="0">
                <a:solidFill>
                  <a:srgbClr val="C00000"/>
                </a:solidFill>
                <a:latin typeface="Calibri"/>
                <a:cs typeface="Calibri"/>
              </a:rPr>
              <a:t>equipment</a:t>
            </a:r>
            <a:r>
              <a:rPr sz="2600" dirty="0">
                <a:solidFill>
                  <a:srgbClr val="C00000"/>
                </a:solidFill>
                <a:latin typeface="Calibri"/>
                <a:cs typeface="Calibri"/>
              </a:rPr>
              <a:t>	</a:t>
            </a:r>
            <a:r>
              <a:rPr sz="2600" spc="-20" dirty="0">
                <a:solidFill>
                  <a:srgbClr val="C00000"/>
                </a:solidFill>
                <a:latin typeface="Calibri"/>
                <a:cs typeface="Calibri"/>
              </a:rPr>
              <a:t>down-time</a:t>
            </a:r>
            <a:r>
              <a:rPr sz="2600" dirty="0">
                <a:solidFill>
                  <a:srgbClr val="C00000"/>
                </a:solidFill>
                <a:latin typeface="Calibri"/>
                <a:cs typeface="Calibri"/>
              </a:rPr>
              <a:t>	</a:t>
            </a:r>
            <a:r>
              <a:rPr sz="2600" spc="-25" dirty="0">
                <a:solidFill>
                  <a:srgbClr val="C00000"/>
                </a:solidFill>
                <a:latin typeface="Calibri"/>
                <a:cs typeface="Calibri"/>
              </a:rPr>
              <a:t>can</a:t>
            </a:r>
            <a:r>
              <a:rPr sz="2600" dirty="0">
                <a:solidFill>
                  <a:srgbClr val="C00000"/>
                </a:solidFill>
                <a:latin typeface="Calibri"/>
                <a:cs typeface="Calibri"/>
              </a:rPr>
              <a:t>	</a:t>
            </a:r>
            <a:r>
              <a:rPr sz="2600" spc="-10" dirty="0">
                <a:solidFill>
                  <a:srgbClr val="C00000"/>
                </a:solidFill>
                <a:latin typeface="Calibri"/>
                <a:cs typeface="Calibri"/>
              </a:rPr>
              <a:t>alter</a:t>
            </a:r>
            <a:r>
              <a:rPr sz="2600" dirty="0">
                <a:solidFill>
                  <a:srgbClr val="C00000"/>
                </a:solidFill>
                <a:latin typeface="Calibri"/>
                <a:cs typeface="Calibri"/>
              </a:rPr>
              <a:t>	</a:t>
            </a:r>
            <a:r>
              <a:rPr sz="2600" spc="-20" dirty="0">
                <a:solidFill>
                  <a:srgbClr val="C00000"/>
                </a:solidFill>
                <a:latin typeface="Calibri"/>
                <a:cs typeface="Calibri"/>
              </a:rPr>
              <a:t>time</a:t>
            </a:r>
            <a:r>
              <a:rPr sz="2600" dirty="0">
                <a:solidFill>
                  <a:srgbClr val="C00000"/>
                </a:solidFill>
                <a:latin typeface="Calibri"/>
                <a:cs typeface="Calibri"/>
              </a:rPr>
              <a:t>	</a:t>
            </a:r>
            <a:r>
              <a:rPr sz="2600" spc="-10" dirty="0">
                <a:solidFill>
                  <a:srgbClr val="C00000"/>
                </a:solidFill>
                <a:latin typeface="Calibri"/>
                <a:cs typeface="Calibri"/>
              </a:rPr>
              <a:t>estimates.</a:t>
            </a:r>
            <a:endParaRPr sz="2600" dirty="0">
              <a:latin typeface="Calibri"/>
              <a:cs typeface="Calibri"/>
            </a:endParaRPr>
          </a:p>
        </p:txBody>
      </p:sp>
      <p:sp>
        <p:nvSpPr>
          <p:cNvPr id="9" name="object 9"/>
          <p:cNvSpPr txBox="1"/>
          <p:nvPr/>
        </p:nvSpPr>
        <p:spPr>
          <a:xfrm>
            <a:off x="1145539" y="5545836"/>
            <a:ext cx="10128250" cy="979805"/>
          </a:xfrm>
          <a:prstGeom prst="rect">
            <a:avLst/>
          </a:prstGeom>
        </p:spPr>
        <p:txBody>
          <a:bodyPr vert="horz" wrap="square" lIns="0" tIns="12700" rIns="0" bIns="0" rtlCol="0">
            <a:spAutoFit/>
          </a:bodyPr>
          <a:lstStyle/>
          <a:p>
            <a:pPr marL="12700">
              <a:lnSpc>
                <a:spcPts val="2650"/>
              </a:lnSpc>
              <a:spcBef>
                <a:spcPts val="100"/>
              </a:spcBef>
              <a:tabLst>
                <a:tab pos="1390650" algn="l"/>
                <a:tab pos="2814320" algn="l"/>
                <a:tab pos="4396105" algn="l"/>
                <a:tab pos="5141595" algn="l"/>
                <a:tab pos="6005830" algn="l"/>
                <a:tab pos="6978015" algn="l"/>
                <a:tab pos="7686675" algn="l"/>
                <a:tab pos="9163050" algn="l"/>
              </a:tabLst>
            </a:pPr>
            <a:r>
              <a:rPr sz="2600" spc="-10" dirty="0">
                <a:solidFill>
                  <a:srgbClr val="C00000"/>
                </a:solidFill>
                <a:latin typeface="Calibri"/>
                <a:cs typeface="Calibri"/>
              </a:rPr>
              <a:t>National</a:t>
            </a:r>
            <a:r>
              <a:rPr sz="2600" dirty="0">
                <a:solidFill>
                  <a:srgbClr val="C00000"/>
                </a:solidFill>
                <a:latin typeface="Calibri"/>
                <a:cs typeface="Calibri"/>
              </a:rPr>
              <a:t>	</a:t>
            </a:r>
            <a:r>
              <a:rPr sz="2600" spc="-10" dirty="0">
                <a:solidFill>
                  <a:srgbClr val="C00000"/>
                </a:solidFill>
                <a:latin typeface="Calibri"/>
                <a:cs typeface="Calibri"/>
              </a:rPr>
              <a:t>holidays,</a:t>
            </a:r>
            <a:r>
              <a:rPr sz="2600" dirty="0">
                <a:solidFill>
                  <a:srgbClr val="C00000"/>
                </a:solidFill>
                <a:latin typeface="Calibri"/>
                <a:cs typeface="Calibri"/>
              </a:rPr>
              <a:t>	</a:t>
            </a:r>
            <a:r>
              <a:rPr sz="2600" spc="-10" dirty="0">
                <a:solidFill>
                  <a:srgbClr val="C00000"/>
                </a:solidFill>
                <a:latin typeface="Calibri"/>
                <a:cs typeface="Calibri"/>
              </a:rPr>
              <a:t>vacations,</a:t>
            </a:r>
            <a:r>
              <a:rPr sz="2600" dirty="0">
                <a:solidFill>
                  <a:srgbClr val="C00000"/>
                </a:solidFill>
                <a:latin typeface="Calibri"/>
                <a:cs typeface="Calibri"/>
              </a:rPr>
              <a:t>	</a:t>
            </a:r>
            <a:r>
              <a:rPr sz="2600" spc="-25" dirty="0">
                <a:solidFill>
                  <a:srgbClr val="C00000"/>
                </a:solidFill>
                <a:latin typeface="Calibri"/>
                <a:cs typeface="Calibri"/>
              </a:rPr>
              <a:t>and</a:t>
            </a:r>
            <a:r>
              <a:rPr sz="2600" dirty="0">
                <a:solidFill>
                  <a:srgbClr val="C00000"/>
                </a:solidFill>
                <a:latin typeface="Calibri"/>
                <a:cs typeface="Calibri"/>
              </a:rPr>
              <a:t>	</a:t>
            </a:r>
            <a:r>
              <a:rPr sz="2600" spc="-10" dirty="0">
                <a:solidFill>
                  <a:srgbClr val="C00000"/>
                </a:solidFill>
                <a:latin typeface="Calibri"/>
                <a:cs typeface="Calibri"/>
              </a:rPr>
              <a:t>legal</a:t>
            </a:r>
            <a:r>
              <a:rPr sz="2600" dirty="0">
                <a:solidFill>
                  <a:srgbClr val="C00000"/>
                </a:solidFill>
                <a:latin typeface="Calibri"/>
                <a:cs typeface="Calibri"/>
              </a:rPr>
              <a:t>	</a:t>
            </a:r>
            <a:r>
              <a:rPr sz="2600" spc="-10" dirty="0">
                <a:solidFill>
                  <a:srgbClr val="C00000"/>
                </a:solidFill>
                <a:latin typeface="Calibri"/>
                <a:cs typeface="Calibri"/>
              </a:rPr>
              <a:t>limits</a:t>
            </a:r>
            <a:r>
              <a:rPr sz="2600" dirty="0">
                <a:solidFill>
                  <a:srgbClr val="C00000"/>
                </a:solidFill>
                <a:latin typeface="Calibri"/>
                <a:cs typeface="Calibri"/>
              </a:rPr>
              <a:t>	</a:t>
            </a:r>
            <a:r>
              <a:rPr sz="2600" spc="-25" dirty="0">
                <a:solidFill>
                  <a:srgbClr val="C00000"/>
                </a:solidFill>
                <a:latin typeface="Calibri"/>
                <a:cs typeface="Calibri"/>
              </a:rPr>
              <a:t>can</a:t>
            </a:r>
            <a:r>
              <a:rPr sz="2600" dirty="0">
                <a:solidFill>
                  <a:srgbClr val="C00000"/>
                </a:solidFill>
                <a:latin typeface="Calibri"/>
                <a:cs typeface="Calibri"/>
              </a:rPr>
              <a:t>	</a:t>
            </a:r>
            <a:r>
              <a:rPr sz="2600" spc="-10" dirty="0">
                <a:solidFill>
                  <a:srgbClr val="C00000"/>
                </a:solidFill>
                <a:latin typeface="Calibri"/>
                <a:cs typeface="Calibri"/>
              </a:rPr>
              <a:t>influence</a:t>
            </a:r>
            <a:r>
              <a:rPr sz="2600" dirty="0">
                <a:solidFill>
                  <a:srgbClr val="C00000"/>
                </a:solidFill>
                <a:latin typeface="Calibri"/>
                <a:cs typeface="Calibri"/>
              </a:rPr>
              <a:t>	</a:t>
            </a:r>
            <a:r>
              <a:rPr sz="2600" spc="-10" dirty="0">
                <a:solidFill>
                  <a:srgbClr val="C00000"/>
                </a:solidFill>
                <a:latin typeface="Calibri"/>
                <a:cs typeface="Calibri"/>
              </a:rPr>
              <a:t>project</a:t>
            </a:r>
            <a:endParaRPr sz="2600" dirty="0">
              <a:latin typeface="Calibri"/>
              <a:cs typeface="Calibri"/>
            </a:endParaRPr>
          </a:p>
          <a:p>
            <a:pPr marL="12700" marR="5080">
              <a:lnSpc>
                <a:spcPct val="70800"/>
              </a:lnSpc>
              <a:spcBef>
                <a:spcPts val="440"/>
              </a:spcBef>
            </a:pPr>
            <a:r>
              <a:rPr sz="2600" dirty="0">
                <a:solidFill>
                  <a:srgbClr val="C00000"/>
                </a:solidFill>
                <a:latin typeface="Calibri"/>
                <a:cs typeface="Calibri"/>
              </a:rPr>
              <a:t>estimates.</a:t>
            </a:r>
            <a:r>
              <a:rPr sz="2600" spc="270" dirty="0">
                <a:solidFill>
                  <a:srgbClr val="C00000"/>
                </a:solidFill>
                <a:latin typeface="Calibri"/>
                <a:cs typeface="Calibri"/>
              </a:rPr>
              <a:t> </a:t>
            </a:r>
            <a:r>
              <a:rPr sz="2600" dirty="0">
                <a:solidFill>
                  <a:srgbClr val="C00000"/>
                </a:solidFill>
                <a:latin typeface="Calibri"/>
                <a:cs typeface="Calibri"/>
              </a:rPr>
              <a:t>Project</a:t>
            </a:r>
            <a:r>
              <a:rPr sz="2600" spc="270" dirty="0">
                <a:solidFill>
                  <a:srgbClr val="C00000"/>
                </a:solidFill>
                <a:latin typeface="Calibri"/>
                <a:cs typeface="Calibri"/>
              </a:rPr>
              <a:t> </a:t>
            </a:r>
            <a:r>
              <a:rPr sz="2600" dirty="0">
                <a:solidFill>
                  <a:srgbClr val="C00000"/>
                </a:solidFill>
                <a:latin typeface="Calibri"/>
                <a:cs typeface="Calibri"/>
              </a:rPr>
              <a:t>priority</a:t>
            </a:r>
            <a:r>
              <a:rPr sz="2600" spc="254" dirty="0">
                <a:solidFill>
                  <a:srgbClr val="C00000"/>
                </a:solidFill>
                <a:latin typeface="Calibri"/>
                <a:cs typeface="Calibri"/>
              </a:rPr>
              <a:t> </a:t>
            </a:r>
            <a:r>
              <a:rPr sz="2600" dirty="0">
                <a:solidFill>
                  <a:srgbClr val="C00000"/>
                </a:solidFill>
                <a:latin typeface="Calibri"/>
                <a:cs typeface="Calibri"/>
              </a:rPr>
              <a:t>can</a:t>
            </a:r>
            <a:r>
              <a:rPr sz="2600" spc="260" dirty="0">
                <a:solidFill>
                  <a:srgbClr val="C00000"/>
                </a:solidFill>
                <a:latin typeface="Calibri"/>
                <a:cs typeface="Calibri"/>
              </a:rPr>
              <a:t> </a:t>
            </a:r>
            <a:r>
              <a:rPr sz="2600" dirty="0">
                <a:solidFill>
                  <a:srgbClr val="C00000"/>
                </a:solidFill>
                <a:latin typeface="Calibri"/>
                <a:cs typeface="Calibri"/>
              </a:rPr>
              <a:t>influence</a:t>
            </a:r>
            <a:r>
              <a:rPr sz="2600" spc="260" dirty="0">
                <a:solidFill>
                  <a:srgbClr val="C00000"/>
                </a:solidFill>
                <a:latin typeface="Calibri"/>
                <a:cs typeface="Calibri"/>
              </a:rPr>
              <a:t> </a:t>
            </a:r>
            <a:r>
              <a:rPr sz="2600" dirty="0">
                <a:solidFill>
                  <a:srgbClr val="C00000"/>
                </a:solidFill>
                <a:latin typeface="Calibri"/>
                <a:cs typeface="Calibri"/>
              </a:rPr>
              <a:t>resource</a:t>
            </a:r>
            <a:r>
              <a:rPr sz="2600" spc="260" dirty="0">
                <a:solidFill>
                  <a:srgbClr val="C00000"/>
                </a:solidFill>
                <a:latin typeface="Calibri"/>
                <a:cs typeface="Calibri"/>
              </a:rPr>
              <a:t> </a:t>
            </a:r>
            <a:r>
              <a:rPr sz="2600" dirty="0">
                <a:solidFill>
                  <a:srgbClr val="C00000"/>
                </a:solidFill>
                <a:latin typeface="Calibri"/>
                <a:cs typeface="Calibri"/>
              </a:rPr>
              <a:t>assignment</a:t>
            </a:r>
            <a:r>
              <a:rPr sz="2600" spc="265" dirty="0">
                <a:solidFill>
                  <a:srgbClr val="C00000"/>
                </a:solidFill>
                <a:latin typeface="Calibri"/>
                <a:cs typeface="Calibri"/>
              </a:rPr>
              <a:t> </a:t>
            </a:r>
            <a:r>
              <a:rPr sz="2600" dirty="0">
                <a:solidFill>
                  <a:srgbClr val="C00000"/>
                </a:solidFill>
                <a:latin typeface="Calibri"/>
                <a:cs typeface="Calibri"/>
              </a:rPr>
              <a:t>and</a:t>
            </a:r>
            <a:r>
              <a:rPr sz="2600" spc="260" dirty="0">
                <a:solidFill>
                  <a:srgbClr val="C00000"/>
                </a:solidFill>
                <a:latin typeface="Calibri"/>
                <a:cs typeface="Calibri"/>
              </a:rPr>
              <a:t> </a:t>
            </a:r>
            <a:r>
              <a:rPr sz="2600" spc="-10" dirty="0">
                <a:solidFill>
                  <a:srgbClr val="C00000"/>
                </a:solidFill>
                <a:latin typeface="Calibri"/>
                <a:cs typeface="Calibri"/>
              </a:rPr>
              <a:t>impact </a:t>
            </a:r>
            <a:r>
              <a:rPr sz="2600" dirty="0">
                <a:solidFill>
                  <a:srgbClr val="C00000"/>
                </a:solidFill>
                <a:latin typeface="Calibri"/>
                <a:cs typeface="Calibri"/>
              </a:rPr>
              <a:t>time</a:t>
            </a:r>
            <a:r>
              <a:rPr sz="2600" spc="-50" dirty="0">
                <a:solidFill>
                  <a:srgbClr val="C00000"/>
                </a:solidFill>
                <a:latin typeface="Calibri"/>
                <a:cs typeface="Calibri"/>
              </a:rPr>
              <a:t> </a:t>
            </a:r>
            <a:r>
              <a:rPr sz="2600" dirty="0">
                <a:solidFill>
                  <a:srgbClr val="C00000"/>
                </a:solidFill>
                <a:latin typeface="Calibri"/>
                <a:cs typeface="Calibri"/>
              </a:rPr>
              <a:t>and</a:t>
            </a:r>
            <a:r>
              <a:rPr sz="2600" spc="-40" dirty="0">
                <a:solidFill>
                  <a:srgbClr val="C00000"/>
                </a:solidFill>
                <a:latin typeface="Calibri"/>
                <a:cs typeface="Calibri"/>
              </a:rPr>
              <a:t> </a:t>
            </a:r>
            <a:r>
              <a:rPr sz="2600" spc="-10" dirty="0">
                <a:solidFill>
                  <a:srgbClr val="C00000"/>
                </a:solidFill>
                <a:latin typeface="Calibri"/>
                <a:cs typeface="Calibri"/>
              </a:rPr>
              <a:t>cost.</a:t>
            </a:r>
            <a:endParaRPr sz="2600" dirty="0">
              <a:latin typeface="Calibri"/>
              <a:cs typeface="Calibri"/>
            </a:endParaRPr>
          </a:p>
        </p:txBody>
      </p:sp>
      <p:pic>
        <p:nvPicPr>
          <p:cNvPr id="11" name="Picture 10">
            <a:extLst>
              <a:ext uri="{FF2B5EF4-FFF2-40B4-BE49-F238E27FC236}">
                <a16:creationId xmlns:a16="http://schemas.microsoft.com/office/drawing/2014/main" id="{7189A1B3-4586-618D-CEBD-A2535DD5F53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8" y="1696212"/>
            <a:ext cx="10616565" cy="4283710"/>
          </a:xfrm>
          <a:prstGeom prst="rect">
            <a:avLst/>
          </a:prstGeom>
        </p:spPr>
        <p:txBody>
          <a:bodyPr vert="horz" wrap="square" lIns="0" tIns="63500" rIns="0" bIns="0" rtlCol="0">
            <a:spAutoFit/>
          </a:bodyPr>
          <a:lstStyle/>
          <a:p>
            <a:pPr marL="241300" marR="5080" indent="-228600" algn="just">
              <a:lnSpc>
                <a:spcPts val="3500"/>
              </a:lnSpc>
              <a:spcBef>
                <a:spcPts val="500"/>
              </a:spcBef>
              <a:buFont typeface="Arial MT"/>
              <a:buChar char="•"/>
              <a:tabLst>
                <a:tab pos="241300" algn="l"/>
              </a:tabLst>
            </a:pPr>
            <a:r>
              <a:rPr sz="3200" dirty="0">
                <a:latin typeface="Calibri"/>
                <a:cs typeface="Calibri"/>
              </a:rPr>
              <a:t>A</a:t>
            </a:r>
            <a:r>
              <a:rPr sz="3200" spc="459" dirty="0">
                <a:latin typeface="Calibri"/>
                <a:cs typeface="Calibri"/>
              </a:rPr>
              <a:t> </a:t>
            </a:r>
            <a:r>
              <a:rPr sz="3200" dirty="0">
                <a:latin typeface="Calibri"/>
                <a:cs typeface="Calibri"/>
              </a:rPr>
              <a:t>manager</a:t>
            </a:r>
            <a:r>
              <a:rPr sz="3200" spc="450" dirty="0">
                <a:latin typeface="Calibri"/>
                <a:cs typeface="Calibri"/>
              </a:rPr>
              <a:t> </a:t>
            </a:r>
            <a:r>
              <a:rPr sz="3200" dirty="0">
                <a:latin typeface="Calibri"/>
                <a:cs typeface="Calibri"/>
              </a:rPr>
              <a:t>can</a:t>
            </a:r>
            <a:r>
              <a:rPr sz="3200" spc="465" dirty="0">
                <a:latin typeface="Calibri"/>
                <a:cs typeface="Calibri"/>
              </a:rPr>
              <a:t> </a:t>
            </a:r>
            <a:r>
              <a:rPr sz="3200" dirty="0">
                <a:latin typeface="Calibri"/>
                <a:cs typeface="Calibri"/>
              </a:rPr>
              <a:t>follow</a:t>
            </a:r>
            <a:r>
              <a:rPr sz="3200" spc="455" dirty="0">
                <a:latin typeface="Calibri"/>
                <a:cs typeface="Calibri"/>
              </a:rPr>
              <a:t> </a:t>
            </a:r>
            <a:r>
              <a:rPr sz="3200" dirty="0">
                <a:latin typeface="Calibri"/>
                <a:cs typeface="Calibri"/>
              </a:rPr>
              <a:t>(</a:t>
            </a:r>
            <a:r>
              <a:rPr sz="3200" b="1" u="heavy" dirty="0">
                <a:solidFill>
                  <a:srgbClr val="262EA4"/>
                </a:solidFill>
                <a:uFill>
                  <a:solidFill>
                    <a:srgbClr val="262EA4"/>
                  </a:solidFill>
                </a:uFill>
                <a:latin typeface="Calibri"/>
                <a:cs typeface="Calibri"/>
              </a:rPr>
              <a:t>7</a:t>
            </a:r>
            <a:r>
              <a:rPr sz="3200" dirty="0">
                <a:latin typeface="Calibri"/>
                <a:cs typeface="Calibri"/>
              </a:rPr>
              <a:t>)</a:t>
            </a:r>
            <a:r>
              <a:rPr sz="3200" spc="465" dirty="0">
                <a:latin typeface="Calibri"/>
                <a:cs typeface="Calibri"/>
              </a:rPr>
              <a:t> </a:t>
            </a:r>
            <a:r>
              <a:rPr sz="3200" dirty="0">
                <a:latin typeface="Calibri"/>
                <a:cs typeface="Calibri"/>
              </a:rPr>
              <a:t>guidelines</a:t>
            </a:r>
            <a:r>
              <a:rPr sz="3200" spc="459" dirty="0">
                <a:latin typeface="Calibri"/>
                <a:cs typeface="Calibri"/>
              </a:rPr>
              <a:t> </a:t>
            </a:r>
            <a:r>
              <a:rPr sz="3200" dirty="0">
                <a:latin typeface="Calibri"/>
                <a:cs typeface="Calibri"/>
              </a:rPr>
              <a:t>to</a:t>
            </a:r>
            <a:r>
              <a:rPr sz="3200" spc="459" dirty="0">
                <a:latin typeface="Calibri"/>
                <a:cs typeface="Calibri"/>
              </a:rPr>
              <a:t> </a:t>
            </a:r>
            <a:r>
              <a:rPr sz="3200" dirty="0">
                <a:latin typeface="Calibri"/>
                <a:cs typeface="Calibri"/>
              </a:rPr>
              <a:t>develop</a:t>
            </a:r>
            <a:r>
              <a:rPr sz="3200" spc="465" dirty="0">
                <a:latin typeface="Calibri"/>
                <a:cs typeface="Calibri"/>
              </a:rPr>
              <a:t> </a:t>
            </a:r>
            <a:r>
              <a:rPr sz="3200" dirty="0">
                <a:latin typeface="Calibri"/>
                <a:cs typeface="Calibri"/>
              </a:rPr>
              <a:t>useful</a:t>
            </a:r>
            <a:r>
              <a:rPr sz="3200" spc="459" dirty="0">
                <a:latin typeface="Calibri"/>
                <a:cs typeface="Calibri"/>
              </a:rPr>
              <a:t> </a:t>
            </a:r>
            <a:r>
              <a:rPr sz="3200" spc="-20" dirty="0">
                <a:latin typeface="Calibri"/>
                <a:cs typeface="Calibri"/>
              </a:rPr>
              <a:t>work </a:t>
            </a:r>
            <a:r>
              <a:rPr sz="3200" dirty="0">
                <a:latin typeface="Calibri"/>
                <a:cs typeface="Calibri"/>
              </a:rPr>
              <a:t>package</a:t>
            </a:r>
            <a:r>
              <a:rPr sz="3200" spc="-155" dirty="0">
                <a:latin typeface="Calibri"/>
                <a:cs typeface="Calibri"/>
              </a:rPr>
              <a:t> </a:t>
            </a:r>
            <a:r>
              <a:rPr sz="3200" spc="-10" dirty="0">
                <a:latin typeface="Calibri"/>
                <a:cs typeface="Calibri"/>
              </a:rPr>
              <a:t>estimates:</a:t>
            </a:r>
            <a:endParaRPr sz="3200" dirty="0">
              <a:latin typeface="Calibri"/>
              <a:cs typeface="Calibri"/>
            </a:endParaRPr>
          </a:p>
          <a:p>
            <a:pPr marL="526415" marR="6350" lvl="1" indent="-327660" algn="just">
              <a:lnSpc>
                <a:spcPts val="3500"/>
              </a:lnSpc>
              <a:spcBef>
                <a:spcPts val="894"/>
              </a:spcBef>
              <a:buAutoNum type="arabicPeriod"/>
              <a:tabLst>
                <a:tab pos="526415" algn="l"/>
              </a:tabLst>
            </a:pPr>
            <a:r>
              <a:rPr sz="3200" b="1" dirty="0">
                <a:latin typeface="Calibri"/>
                <a:cs typeface="Calibri"/>
              </a:rPr>
              <a:t>Responsibility:</a:t>
            </a:r>
            <a:r>
              <a:rPr sz="3200" b="1" spc="235" dirty="0">
                <a:latin typeface="Calibri"/>
                <a:cs typeface="Calibri"/>
              </a:rPr>
              <a:t> </a:t>
            </a:r>
            <a:r>
              <a:rPr sz="3200" dirty="0">
                <a:latin typeface="Calibri"/>
                <a:cs typeface="Calibri"/>
              </a:rPr>
              <a:t>At</a:t>
            </a:r>
            <a:r>
              <a:rPr sz="3200" spc="235" dirty="0">
                <a:latin typeface="Calibri"/>
                <a:cs typeface="Calibri"/>
              </a:rPr>
              <a:t> </a:t>
            </a:r>
            <a:r>
              <a:rPr sz="3200" dirty="0">
                <a:latin typeface="Calibri"/>
                <a:cs typeface="Calibri"/>
              </a:rPr>
              <a:t>the</a:t>
            </a:r>
            <a:r>
              <a:rPr sz="3200" spc="235" dirty="0">
                <a:latin typeface="Calibri"/>
                <a:cs typeface="Calibri"/>
              </a:rPr>
              <a:t> </a:t>
            </a:r>
            <a:r>
              <a:rPr sz="3200" dirty="0">
                <a:latin typeface="Calibri"/>
                <a:cs typeface="Calibri"/>
              </a:rPr>
              <a:t>work</a:t>
            </a:r>
            <a:r>
              <a:rPr sz="3200" spc="225" dirty="0">
                <a:latin typeface="Calibri"/>
                <a:cs typeface="Calibri"/>
              </a:rPr>
              <a:t> </a:t>
            </a:r>
            <a:r>
              <a:rPr sz="3200" dirty="0">
                <a:latin typeface="Calibri"/>
                <a:cs typeface="Calibri"/>
              </a:rPr>
              <a:t>package</a:t>
            </a:r>
            <a:r>
              <a:rPr sz="3200" spc="229" dirty="0">
                <a:latin typeface="Calibri"/>
                <a:cs typeface="Calibri"/>
              </a:rPr>
              <a:t> </a:t>
            </a:r>
            <a:r>
              <a:rPr sz="3200" dirty="0">
                <a:latin typeface="Calibri"/>
                <a:cs typeface="Calibri"/>
              </a:rPr>
              <a:t>level,</a:t>
            </a:r>
            <a:r>
              <a:rPr sz="3200" spc="229" dirty="0">
                <a:latin typeface="Calibri"/>
                <a:cs typeface="Calibri"/>
              </a:rPr>
              <a:t> </a:t>
            </a:r>
            <a:r>
              <a:rPr sz="3200" dirty="0">
                <a:latin typeface="Calibri"/>
                <a:cs typeface="Calibri"/>
              </a:rPr>
              <a:t>estimates</a:t>
            </a:r>
            <a:r>
              <a:rPr sz="3200" spc="235" dirty="0">
                <a:latin typeface="Calibri"/>
                <a:cs typeface="Calibri"/>
              </a:rPr>
              <a:t> </a:t>
            </a:r>
            <a:r>
              <a:rPr sz="3200" spc="-10" dirty="0">
                <a:latin typeface="Calibri"/>
                <a:cs typeface="Calibri"/>
              </a:rPr>
              <a:t>should </a:t>
            </a:r>
            <a:r>
              <a:rPr sz="3200" dirty="0">
                <a:latin typeface="Calibri"/>
                <a:cs typeface="Calibri"/>
              </a:rPr>
              <a:t>be</a:t>
            </a:r>
            <a:r>
              <a:rPr sz="3200" spc="-80" dirty="0">
                <a:latin typeface="Calibri"/>
                <a:cs typeface="Calibri"/>
              </a:rPr>
              <a:t> </a:t>
            </a:r>
            <a:r>
              <a:rPr sz="3200" dirty="0">
                <a:latin typeface="Calibri"/>
                <a:cs typeface="Calibri"/>
              </a:rPr>
              <a:t>made</a:t>
            </a:r>
            <a:r>
              <a:rPr sz="3200" spc="-80" dirty="0">
                <a:latin typeface="Calibri"/>
                <a:cs typeface="Calibri"/>
              </a:rPr>
              <a:t> </a:t>
            </a:r>
            <a:r>
              <a:rPr sz="3200" dirty="0">
                <a:latin typeface="Calibri"/>
                <a:cs typeface="Calibri"/>
              </a:rPr>
              <a:t>by</a:t>
            </a:r>
            <a:r>
              <a:rPr sz="3200" spc="-70" dirty="0">
                <a:latin typeface="Calibri"/>
                <a:cs typeface="Calibri"/>
              </a:rPr>
              <a:t> </a:t>
            </a:r>
            <a:r>
              <a:rPr sz="3200" dirty="0">
                <a:latin typeface="Calibri"/>
                <a:cs typeface="Calibri"/>
              </a:rPr>
              <a:t>the</a:t>
            </a:r>
            <a:r>
              <a:rPr sz="3200" spc="-75" dirty="0">
                <a:latin typeface="Calibri"/>
                <a:cs typeface="Calibri"/>
              </a:rPr>
              <a:t> </a:t>
            </a:r>
            <a:r>
              <a:rPr sz="3200" dirty="0">
                <a:latin typeface="Calibri"/>
                <a:cs typeface="Calibri"/>
              </a:rPr>
              <a:t>person(s)</a:t>
            </a:r>
            <a:r>
              <a:rPr sz="3200" spc="-65" dirty="0">
                <a:latin typeface="Calibri"/>
                <a:cs typeface="Calibri"/>
              </a:rPr>
              <a:t> </a:t>
            </a:r>
            <a:r>
              <a:rPr sz="3200" dirty="0">
                <a:latin typeface="Calibri"/>
                <a:cs typeface="Calibri"/>
              </a:rPr>
              <a:t>most</a:t>
            </a:r>
            <a:r>
              <a:rPr sz="3200" spc="-70" dirty="0">
                <a:latin typeface="Calibri"/>
                <a:cs typeface="Calibri"/>
              </a:rPr>
              <a:t> </a:t>
            </a:r>
            <a:r>
              <a:rPr sz="3200" dirty="0">
                <a:latin typeface="Calibri"/>
                <a:cs typeface="Calibri"/>
              </a:rPr>
              <a:t>familiar</a:t>
            </a:r>
            <a:r>
              <a:rPr sz="3200" spc="-70" dirty="0">
                <a:latin typeface="Calibri"/>
                <a:cs typeface="Calibri"/>
              </a:rPr>
              <a:t> </a:t>
            </a:r>
            <a:r>
              <a:rPr sz="3200" dirty="0">
                <a:latin typeface="Calibri"/>
                <a:cs typeface="Calibri"/>
              </a:rPr>
              <a:t>with</a:t>
            </a:r>
            <a:r>
              <a:rPr sz="3200" spc="-65" dirty="0">
                <a:latin typeface="Calibri"/>
                <a:cs typeface="Calibri"/>
              </a:rPr>
              <a:t> </a:t>
            </a:r>
            <a:r>
              <a:rPr sz="3200" dirty="0">
                <a:latin typeface="Calibri"/>
                <a:cs typeface="Calibri"/>
              </a:rPr>
              <a:t>the</a:t>
            </a:r>
            <a:r>
              <a:rPr sz="3200" spc="-75" dirty="0">
                <a:latin typeface="Calibri"/>
                <a:cs typeface="Calibri"/>
              </a:rPr>
              <a:t> </a:t>
            </a:r>
            <a:r>
              <a:rPr sz="3200" spc="-10" dirty="0">
                <a:latin typeface="Calibri"/>
                <a:cs typeface="Calibri"/>
              </a:rPr>
              <a:t>task.</a:t>
            </a:r>
            <a:endParaRPr sz="3200" dirty="0">
              <a:latin typeface="Calibri"/>
              <a:cs typeface="Calibri"/>
            </a:endParaRPr>
          </a:p>
          <a:p>
            <a:pPr marL="526415" marR="5080" lvl="1" indent="-327660" algn="just">
              <a:lnSpc>
                <a:spcPct val="90500"/>
              </a:lnSpc>
              <a:spcBef>
                <a:spcPts val="860"/>
              </a:spcBef>
              <a:buAutoNum type="arabicPeriod"/>
              <a:tabLst>
                <a:tab pos="526415" algn="l"/>
              </a:tabLst>
            </a:pPr>
            <a:r>
              <a:rPr sz="3200" b="1" dirty="0">
                <a:latin typeface="Calibri"/>
                <a:cs typeface="Calibri"/>
              </a:rPr>
              <a:t>Use</a:t>
            </a:r>
            <a:r>
              <a:rPr sz="3200" b="1" spc="155" dirty="0">
                <a:latin typeface="Calibri"/>
                <a:cs typeface="Calibri"/>
              </a:rPr>
              <a:t> </a:t>
            </a:r>
            <a:r>
              <a:rPr sz="3200" b="1" dirty="0">
                <a:latin typeface="Calibri"/>
                <a:cs typeface="Calibri"/>
              </a:rPr>
              <a:t>several</a:t>
            </a:r>
            <a:r>
              <a:rPr sz="3200" b="1" spc="150" dirty="0">
                <a:latin typeface="Calibri"/>
                <a:cs typeface="Calibri"/>
              </a:rPr>
              <a:t> </a:t>
            </a:r>
            <a:r>
              <a:rPr sz="3200" b="1" dirty="0">
                <a:latin typeface="Calibri"/>
                <a:cs typeface="Calibri"/>
              </a:rPr>
              <a:t>people</a:t>
            </a:r>
            <a:r>
              <a:rPr sz="3200" b="1" spc="160" dirty="0">
                <a:latin typeface="Calibri"/>
                <a:cs typeface="Calibri"/>
              </a:rPr>
              <a:t> </a:t>
            </a:r>
            <a:r>
              <a:rPr sz="3200" b="1" dirty="0">
                <a:latin typeface="Calibri"/>
                <a:cs typeface="Calibri"/>
              </a:rPr>
              <a:t>to</a:t>
            </a:r>
            <a:r>
              <a:rPr sz="3200" b="1" spc="155" dirty="0">
                <a:latin typeface="Calibri"/>
                <a:cs typeface="Calibri"/>
              </a:rPr>
              <a:t> </a:t>
            </a:r>
            <a:r>
              <a:rPr sz="3200" b="1" dirty="0">
                <a:latin typeface="Calibri"/>
                <a:cs typeface="Calibri"/>
              </a:rPr>
              <a:t>estimate:</a:t>
            </a:r>
            <a:r>
              <a:rPr sz="3200" b="1" spc="155" dirty="0">
                <a:latin typeface="Calibri"/>
                <a:cs typeface="Calibri"/>
              </a:rPr>
              <a:t> </a:t>
            </a:r>
            <a:r>
              <a:rPr sz="3200" dirty="0">
                <a:solidFill>
                  <a:srgbClr val="262EA4"/>
                </a:solidFill>
                <a:latin typeface="Calibri"/>
                <a:cs typeface="Calibri"/>
              </a:rPr>
              <a:t>It</a:t>
            </a:r>
            <a:r>
              <a:rPr sz="3200" spc="160" dirty="0">
                <a:solidFill>
                  <a:srgbClr val="262EA4"/>
                </a:solidFill>
                <a:latin typeface="Calibri"/>
                <a:cs typeface="Calibri"/>
              </a:rPr>
              <a:t> </a:t>
            </a:r>
            <a:r>
              <a:rPr sz="3200" dirty="0">
                <a:solidFill>
                  <a:srgbClr val="262EA4"/>
                </a:solidFill>
                <a:latin typeface="Calibri"/>
                <a:cs typeface="Calibri"/>
              </a:rPr>
              <a:t>is</a:t>
            </a:r>
            <a:r>
              <a:rPr sz="3200" spc="150" dirty="0">
                <a:solidFill>
                  <a:srgbClr val="262EA4"/>
                </a:solidFill>
                <a:latin typeface="Calibri"/>
                <a:cs typeface="Calibri"/>
              </a:rPr>
              <a:t> </a:t>
            </a:r>
            <a:r>
              <a:rPr sz="3200" dirty="0">
                <a:solidFill>
                  <a:srgbClr val="262EA4"/>
                </a:solidFill>
                <a:latin typeface="Calibri"/>
                <a:cs typeface="Calibri"/>
              </a:rPr>
              <a:t>well</a:t>
            </a:r>
            <a:r>
              <a:rPr sz="3200" spc="155" dirty="0">
                <a:solidFill>
                  <a:srgbClr val="262EA4"/>
                </a:solidFill>
                <a:latin typeface="Calibri"/>
                <a:cs typeface="Calibri"/>
              </a:rPr>
              <a:t> </a:t>
            </a:r>
            <a:r>
              <a:rPr sz="3200" dirty="0">
                <a:solidFill>
                  <a:srgbClr val="262EA4"/>
                </a:solidFill>
                <a:latin typeface="Calibri"/>
                <a:cs typeface="Calibri"/>
              </a:rPr>
              <a:t>known</a:t>
            </a:r>
            <a:r>
              <a:rPr sz="3200" spc="165" dirty="0">
                <a:solidFill>
                  <a:srgbClr val="262EA4"/>
                </a:solidFill>
                <a:latin typeface="Calibri"/>
                <a:cs typeface="Calibri"/>
              </a:rPr>
              <a:t> </a:t>
            </a:r>
            <a:r>
              <a:rPr sz="3200" dirty="0">
                <a:solidFill>
                  <a:srgbClr val="262EA4"/>
                </a:solidFill>
                <a:latin typeface="Calibri"/>
                <a:cs typeface="Calibri"/>
              </a:rPr>
              <a:t>that</a:t>
            </a:r>
            <a:r>
              <a:rPr sz="3200" spc="160" dirty="0">
                <a:solidFill>
                  <a:srgbClr val="262EA4"/>
                </a:solidFill>
                <a:latin typeface="Calibri"/>
                <a:cs typeface="Calibri"/>
              </a:rPr>
              <a:t> </a:t>
            </a:r>
            <a:r>
              <a:rPr sz="3200" dirty="0">
                <a:solidFill>
                  <a:srgbClr val="262EA4"/>
                </a:solidFill>
                <a:latin typeface="Calibri"/>
                <a:cs typeface="Calibri"/>
              </a:rPr>
              <a:t>a</a:t>
            </a:r>
            <a:r>
              <a:rPr sz="3200" spc="155" dirty="0">
                <a:solidFill>
                  <a:srgbClr val="262EA4"/>
                </a:solidFill>
                <a:latin typeface="Calibri"/>
                <a:cs typeface="Calibri"/>
              </a:rPr>
              <a:t> </a:t>
            </a:r>
            <a:r>
              <a:rPr sz="3200" spc="-20" dirty="0">
                <a:solidFill>
                  <a:srgbClr val="262EA4"/>
                </a:solidFill>
                <a:latin typeface="Calibri"/>
                <a:cs typeface="Calibri"/>
              </a:rPr>
              <a:t>cost </a:t>
            </a:r>
            <a:r>
              <a:rPr sz="3200" dirty="0">
                <a:solidFill>
                  <a:srgbClr val="262EA4"/>
                </a:solidFill>
                <a:latin typeface="Calibri"/>
                <a:cs typeface="Calibri"/>
              </a:rPr>
              <a:t>or</a:t>
            </a:r>
            <a:r>
              <a:rPr sz="3200" spc="185" dirty="0">
                <a:solidFill>
                  <a:srgbClr val="262EA4"/>
                </a:solidFill>
                <a:latin typeface="Calibri"/>
                <a:cs typeface="Calibri"/>
              </a:rPr>
              <a:t>  </a:t>
            </a:r>
            <a:r>
              <a:rPr sz="3200" dirty="0">
                <a:solidFill>
                  <a:srgbClr val="262EA4"/>
                </a:solidFill>
                <a:latin typeface="Calibri"/>
                <a:cs typeface="Calibri"/>
              </a:rPr>
              <a:t>time</a:t>
            </a:r>
            <a:r>
              <a:rPr sz="3200" spc="190" dirty="0">
                <a:solidFill>
                  <a:srgbClr val="262EA4"/>
                </a:solidFill>
                <a:latin typeface="Calibri"/>
                <a:cs typeface="Calibri"/>
              </a:rPr>
              <a:t>  </a:t>
            </a:r>
            <a:r>
              <a:rPr sz="3200" dirty="0">
                <a:solidFill>
                  <a:srgbClr val="262EA4"/>
                </a:solidFill>
                <a:latin typeface="Calibri"/>
                <a:cs typeface="Calibri"/>
              </a:rPr>
              <a:t>estimate</a:t>
            </a:r>
            <a:r>
              <a:rPr sz="3200" spc="190" dirty="0">
                <a:solidFill>
                  <a:srgbClr val="262EA4"/>
                </a:solidFill>
                <a:latin typeface="Calibri"/>
                <a:cs typeface="Calibri"/>
              </a:rPr>
              <a:t>  </a:t>
            </a:r>
            <a:r>
              <a:rPr sz="3200" dirty="0">
                <a:solidFill>
                  <a:srgbClr val="262EA4"/>
                </a:solidFill>
                <a:latin typeface="Calibri"/>
                <a:cs typeface="Calibri"/>
              </a:rPr>
              <a:t>usually</a:t>
            </a:r>
            <a:r>
              <a:rPr sz="3200" spc="195" dirty="0">
                <a:solidFill>
                  <a:srgbClr val="262EA4"/>
                </a:solidFill>
                <a:latin typeface="Calibri"/>
                <a:cs typeface="Calibri"/>
              </a:rPr>
              <a:t>  </a:t>
            </a:r>
            <a:r>
              <a:rPr sz="3200" dirty="0">
                <a:solidFill>
                  <a:srgbClr val="262EA4"/>
                </a:solidFill>
                <a:latin typeface="Calibri"/>
                <a:cs typeface="Calibri"/>
              </a:rPr>
              <a:t>has</a:t>
            </a:r>
            <a:r>
              <a:rPr sz="3200" spc="190" dirty="0">
                <a:solidFill>
                  <a:srgbClr val="262EA4"/>
                </a:solidFill>
                <a:latin typeface="Calibri"/>
                <a:cs typeface="Calibri"/>
              </a:rPr>
              <a:t>  </a:t>
            </a:r>
            <a:r>
              <a:rPr sz="3200" dirty="0">
                <a:solidFill>
                  <a:srgbClr val="262EA4"/>
                </a:solidFill>
                <a:latin typeface="Calibri"/>
                <a:cs typeface="Calibri"/>
              </a:rPr>
              <a:t>a</a:t>
            </a:r>
            <a:r>
              <a:rPr sz="3200" spc="195" dirty="0">
                <a:solidFill>
                  <a:srgbClr val="262EA4"/>
                </a:solidFill>
                <a:latin typeface="Calibri"/>
                <a:cs typeface="Calibri"/>
              </a:rPr>
              <a:t>  </a:t>
            </a:r>
            <a:r>
              <a:rPr sz="3200" dirty="0">
                <a:solidFill>
                  <a:srgbClr val="262EA4"/>
                </a:solidFill>
                <a:latin typeface="Calibri"/>
                <a:cs typeface="Calibri"/>
              </a:rPr>
              <a:t>better</a:t>
            </a:r>
            <a:r>
              <a:rPr sz="3200" spc="190" dirty="0">
                <a:solidFill>
                  <a:srgbClr val="262EA4"/>
                </a:solidFill>
                <a:latin typeface="Calibri"/>
                <a:cs typeface="Calibri"/>
              </a:rPr>
              <a:t>  </a:t>
            </a:r>
            <a:r>
              <a:rPr sz="3200" dirty="0">
                <a:solidFill>
                  <a:srgbClr val="262EA4"/>
                </a:solidFill>
                <a:latin typeface="Calibri"/>
                <a:cs typeface="Calibri"/>
              </a:rPr>
              <a:t>chance</a:t>
            </a:r>
            <a:r>
              <a:rPr sz="3200" spc="190" dirty="0">
                <a:solidFill>
                  <a:srgbClr val="262EA4"/>
                </a:solidFill>
                <a:latin typeface="Calibri"/>
                <a:cs typeface="Calibri"/>
              </a:rPr>
              <a:t>  </a:t>
            </a:r>
            <a:r>
              <a:rPr sz="3200" dirty="0">
                <a:solidFill>
                  <a:srgbClr val="262EA4"/>
                </a:solidFill>
                <a:latin typeface="Calibri"/>
                <a:cs typeface="Calibri"/>
              </a:rPr>
              <a:t>of</a:t>
            </a:r>
            <a:r>
              <a:rPr sz="3200" spc="190" dirty="0">
                <a:solidFill>
                  <a:srgbClr val="262EA4"/>
                </a:solidFill>
                <a:latin typeface="Calibri"/>
                <a:cs typeface="Calibri"/>
              </a:rPr>
              <a:t>  </a:t>
            </a:r>
            <a:r>
              <a:rPr sz="3200" spc="-10" dirty="0">
                <a:solidFill>
                  <a:srgbClr val="262EA4"/>
                </a:solidFill>
                <a:latin typeface="Calibri"/>
                <a:cs typeface="Calibri"/>
              </a:rPr>
              <a:t>being </a:t>
            </a:r>
            <a:r>
              <a:rPr sz="3200" dirty="0">
                <a:solidFill>
                  <a:srgbClr val="262EA4"/>
                </a:solidFill>
                <a:latin typeface="Calibri"/>
                <a:cs typeface="Calibri"/>
              </a:rPr>
              <a:t>reasonable</a:t>
            </a:r>
            <a:r>
              <a:rPr sz="3200" spc="345" dirty="0">
                <a:solidFill>
                  <a:srgbClr val="262EA4"/>
                </a:solidFill>
                <a:latin typeface="Calibri"/>
                <a:cs typeface="Calibri"/>
              </a:rPr>
              <a:t> </a:t>
            </a:r>
            <a:r>
              <a:rPr sz="3200" dirty="0">
                <a:solidFill>
                  <a:srgbClr val="262EA4"/>
                </a:solidFill>
                <a:latin typeface="Calibri"/>
                <a:cs typeface="Calibri"/>
              </a:rPr>
              <a:t>and</a:t>
            </a:r>
            <a:r>
              <a:rPr sz="3200" spc="360" dirty="0">
                <a:solidFill>
                  <a:srgbClr val="262EA4"/>
                </a:solidFill>
                <a:latin typeface="Calibri"/>
                <a:cs typeface="Calibri"/>
              </a:rPr>
              <a:t> </a:t>
            </a:r>
            <a:r>
              <a:rPr sz="3200" dirty="0">
                <a:solidFill>
                  <a:srgbClr val="262EA4"/>
                </a:solidFill>
                <a:latin typeface="Calibri"/>
                <a:cs typeface="Calibri"/>
              </a:rPr>
              <a:t>realistic</a:t>
            </a:r>
            <a:r>
              <a:rPr sz="3200" spc="355" dirty="0">
                <a:solidFill>
                  <a:srgbClr val="262EA4"/>
                </a:solidFill>
                <a:latin typeface="Calibri"/>
                <a:cs typeface="Calibri"/>
              </a:rPr>
              <a:t> </a:t>
            </a:r>
            <a:r>
              <a:rPr sz="3200" dirty="0">
                <a:solidFill>
                  <a:srgbClr val="262EA4"/>
                </a:solidFill>
                <a:latin typeface="Calibri"/>
                <a:cs typeface="Calibri"/>
              </a:rPr>
              <a:t>when</a:t>
            </a:r>
            <a:r>
              <a:rPr sz="3200" spc="360" dirty="0">
                <a:solidFill>
                  <a:srgbClr val="262EA4"/>
                </a:solidFill>
                <a:latin typeface="Calibri"/>
                <a:cs typeface="Calibri"/>
              </a:rPr>
              <a:t> </a:t>
            </a:r>
            <a:r>
              <a:rPr sz="3200" dirty="0">
                <a:solidFill>
                  <a:srgbClr val="262EA4"/>
                </a:solidFill>
                <a:latin typeface="Calibri"/>
                <a:cs typeface="Calibri"/>
              </a:rPr>
              <a:t>several</a:t>
            </a:r>
            <a:r>
              <a:rPr sz="3200" spc="355" dirty="0">
                <a:solidFill>
                  <a:srgbClr val="262EA4"/>
                </a:solidFill>
                <a:latin typeface="Calibri"/>
                <a:cs typeface="Calibri"/>
              </a:rPr>
              <a:t> </a:t>
            </a:r>
            <a:r>
              <a:rPr sz="3200" dirty="0">
                <a:solidFill>
                  <a:srgbClr val="262EA4"/>
                </a:solidFill>
                <a:latin typeface="Calibri"/>
                <a:cs typeface="Calibri"/>
              </a:rPr>
              <a:t>people</a:t>
            </a:r>
            <a:r>
              <a:rPr sz="3200" spc="350" dirty="0">
                <a:solidFill>
                  <a:srgbClr val="262EA4"/>
                </a:solidFill>
                <a:latin typeface="Calibri"/>
                <a:cs typeface="Calibri"/>
              </a:rPr>
              <a:t> </a:t>
            </a:r>
            <a:r>
              <a:rPr sz="3200" dirty="0">
                <a:solidFill>
                  <a:srgbClr val="262EA4"/>
                </a:solidFill>
                <a:latin typeface="Calibri"/>
                <a:cs typeface="Calibri"/>
              </a:rPr>
              <a:t>with</a:t>
            </a:r>
            <a:r>
              <a:rPr sz="3200" spc="360" dirty="0">
                <a:solidFill>
                  <a:srgbClr val="262EA4"/>
                </a:solidFill>
                <a:latin typeface="Calibri"/>
                <a:cs typeface="Calibri"/>
              </a:rPr>
              <a:t> </a:t>
            </a:r>
            <a:r>
              <a:rPr sz="3200" spc="-10" dirty="0">
                <a:solidFill>
                  <a:srgbClr val="262EA4"/>
                </a:solidFill>
                <a:latin typeface="Calibri"/>
                <a:cs typeface="Calibri"/>
              </a:rPr>
              <a:t>relevant </a:t>
            </a:r>
            <a:r>
              <a:rPr sz="3200" dirty="0">
                <a:solidFill>
                  <a:srgbClr val="262EA4"/>
                </a:solidFill>
                <a:latin typeface="Calibri"/>
                <a:cs typeface="Calibri"/>
              </a:rPr>
              <a:t>experience</a:t>
            </a:r>
            <a:r>
              <a:rPr sz="3200" spc="615" dirty="0">
                <a:solidFill>
                  <a:srgbClr val="262EA4"/>
                </a:solidFill>
                <a:latin typeface="Calibri"/>
                <a:cs typeface="Calibri"/>
              </a:rPr>
              <a:t>  </a:t>
            </a:r>
            <a:r>
              <a:rPr sz="3200" dirty="0">
                <a:solidFill>
                  <a:srgbClr val="262EA4"/>
                </a:solidFill>
                <a:latin typeface="Calibri"/>
                <a:cs typeface="Calibri"/>
              </a:rPr>
              <a:t>and/or</a:t>
            </a:r>
            <a:r>
              <a:rPr sz="3200" spc="615" dirty="0">
                <a:solidFill>
                  <a:srgbClr val="262EA4"/>
                </a:solidFill>
                <a:latin typeface="Calibri"/>
                <a:cs typeface="Calibri"/>
              </a:rPr>
              <a:t>  </a:t>
            </a:r>
            <a:r>
              <a:rPr sz="3200" dirty="0">
                <a:solidFill>
                  <a:srgbClr val="262EA4"/>
                </a:solidFill>
                <a:latin typeface="Calibri"/>
                <a:cs typeface="Calibri"/>
              </a:rPr>
              <a:t>knowledge</a:t>
            </a:r>
            <a:r>
              <a:rPr sz="3200" spc="620" dirty="0">
                <a:solidFill>
                  <a:srgbClr val="262EA4"/>
                </a:solidFill>
                <a:latin typeface="Calibri"/>
                <a:cs typeface="Calibri"/>
              </a:rPr>
              <a:t>  </a:t>
            </a:r>
            <a:r>
              <a:rPr sz="3200" dirty="0">
                <a:solidFill>
                  <a:srgbClr val="262EA4"/>
                </a:solidFill>
                <a:latin typeface="Calibri"/>
                <a:cs typeface="Calibri"/>
              </a:rPr>
              <a:t>of</a:t>
            </a:r>
            <a:r>
              <a:rPr sz="3200" spc="615" dirty="0">
                <a:solidFill>
                  <a:srgbClr val="262EA4"/>
                </a:solidFill>
                <a:latin typeface="Calibri"/>
                <a:cs typeface="Calibri"/>
              </a:rPr>
              <a:t>  </a:t>
            </a:r>
            <a:r>
              <a:rPr sz="3200" dirty="0">
                <a:solidFill>
                  <a:srgbClr val="262EA4"/>
                </a:solidFill>
                <a:latin typeface="Calibri"/>
                <a:cs typeface="Calibri"/>
              </a:rPr>
              <a:t>the</a:t>
            </a:r>
            <a:r>
              <a:rPr sz="3200" spc="615" dirty="0">
                <a:solidFill>
                  <a:srgbClr val="262EA4"/>
                </a:solidFill>
                <a:latin typeface="Calibri"/>
                <a:cs typeface="Calibri"/>
              </a:rPr>
              <a:t>  </a:t>
            </a:r>
            <a:r>
              <a:rPr sz="3200" dirty="0">
                <a:solidFill>
                  <a:srgbClr val="262EA4"/>
                </a:solidFill>
                <a:latin typeface="Calibri"/>
                <a:cs typeface="Calibri"/>
              </a:rPr>
              <a:t>task</a:t>
            </a:r>
            <a:r>
              <a:rPr sz="3200" spc="615" dirty="0">
                <a:solidFill>
                  <a:srgbClr val="262EA4"/>
                </a:solidFill>
                <a:latin typeface="Calibri"/>
                <a:cs typeface="Calibri"/>
              </a:rPr>
              <a:t>  </a:t>
            </a:r>
            <a:r>
              <a:rPr sz="3200" dirty="0">
                <a:solidFill>
                  <a:srgbClr val="262EA4"/>
                </a:solidFill>
                <a:latin typeface="Calibri"/>
                <a:cs typeface="Calibri"/>
              </a:rPr>
              <a:t>are</a:t>
            </a:r>
            <a:r>
              <a:rPr sz="3200" spc="615" dirty="0">
                <a:solidFill>
                  <a:srgbClr val="262EA4"/>
                </a:solidFill>
                <a:latin typeface="Calibri"/>
                <a:cs typeface="Calibri"/>
              </a:rPr>
              <a:t>  </a:t>
            </a:r>
            <a:r>
              <a:rPr sz="3200" spc="-20" dirty="0">
                <a:solidFill>
                  <a:srgbClr val="262EA4"/>
                </a:solidFill>
                <a:latin typeface="Calibri"/>
                <a:cs typeface="Calibri"/>
              </a:rPr>
              <a:t>used </a:t>
            </a:r>
            <a:r>
              <a:rPr sz="3200" dirty="0">
                <a:solidFill>
                  <a:srgbClr val="262EA4"/>
                </a:solidFill>
                <a:latin typeface="Calibri"/>
                <a:cs typeface="Calibri"/>
              </a:rPr>
              <a:t>(sometimes</a:t>
            </a:r>
            <a:r>
              <a:rPr sz="3200" spc="-130" dirty="0">
                <a:solidFill>
                  <a:srgbClr val="262EA4"/>
                </a:solidFill>
                <a:latin typeface="Calibri"/>
                <a:cs typeface="Calibri"/>
              </a:rPr>
              <a:t> </a:t>
            </a:r>
            <a:r>
              <a:rPr sz="3200" dirty="0">
                <a:solidFill>
                  <a:srgbClr val="262EA4"/>
                </a:solidFill>
                <a:latin typeface="Calibri"/>
                <a:cs typeface="Calibri"/>
              </a:rPr>
              <a:t>called</a:t>
            </a:r>
            <a:r>
              <a:rPr sz="3200" spc="-120" dirty="0">
                <a:solidFill>
                  <a:srgbClr val="262EA4"/>
                </a:solidFill>
                <a:latin typeface="Calibri"/>
                <a:cs typeface="Calibri"/>
              </a:rPr>
              <a:t> </a:t>
            </a:r>
            <a:r>
              <a:rPr sz="3200" spc="-20" dirty="0">
                <a:solidFill>
                  <a:srgbClr val="262EA4"/>
                </a:solidFill>
                <a:latin typeface="Calibri"/>
                <a:cs typeface="Calibri"/>
              </a:rPr>
              <a:t>“crowd-</a:t>
            </a:r>
            <a:r>
              <a:rPr sz="3200" spc="-130" dirty="0">
                <a:solidFill>
                  <a:srgbClr val="262EA4"/>
                </a:solidFill>
                <a:latin typeface="Calibri"/>
                <a:cs typeface="Calibri"/>
              </a:rPr>
              <a:t> </a:t>
            </a:r>
            <a:r>
              <a:rPr sz="3200" spc="-10" dirty="0">
                <a:solidFill>
                  <a:srgbClr val="262EA4"/>
                </a:solidFill>
                <a:latin typeface="Calibri"/>
                <a:cs typeface="Calibri"/>
              </a:rPr>
              <a:t>sourcing”).</a:t>
            </a:r>
            <a:endParaRPr sz="3200" dirty="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7</a:t>
            </a:fld>
            <a:endParaRPr spc="-50" dirty="0"/>
          </a:p>
        </p:txBody>
      </p:sp>
      <p:sp>
        <p:nvSpPr>
          <p:cNvPr id="3" name="object 3"/>
          <p:cNvSpPr txBox="1">
            <a:spLocks noGrp="1"/>
          </p:cNvSpPr>
          <p:nvPr>
            <p:ph type="title"/>
          </p:nvPr>
        </p:nvSpPr>
        <p:spPr>
          <a:xfrm>
            <a:off x="92389" y="685800"/>
            <a:ext cx="12265662" cy="748446"/>
          </a:xfrm>
          <a:prstGeom prst="rect">
            <a:avLst/>
          </a:prstGeom>
        </p:spPr>
        <p:txBody>
          <a:bodyPr vert="horz" wrap="square" lIns="0" tIns="85888" rIns="0" bIns="0" rtlCol="0">
            <a:spAutoFit/>
          </a:bodyPr>
          <a:lstStyle/>
          <a:p>
            <a:pPr marL="12700">
              <a:lnSpc>
                <a:spcPct val="100000"/>
              </a:lnSpc>
              <a:spcBef>
                <a:spcPts val="130"/>
              </a:spcBef>
            </a:pPr>
            <a:r>
              <a:rPr b="1" u="sng" spc="95" dirty="0">
                <a:solidFill>
                  <a:srgbClr val="FF0000"/>
                </a:solidFill>
              </a:rPr>
              <a:t>Estimating Guidelines for Times, Costs &amp; Resources </a:t>
            </a:r>
            <a:r>
              <a:rPr sz="1750" spc="-10" dirty="0"/>
              <a:t>(1/3)</a:t>
            </a:r>
            <a:endParaRPr sz="1750" dirty="0"/>
          </a:p>
        </p:txBody>
      </p:sp>
      <p:pic>
        <p:nvPicPr>
          <p:cNvPr id="5" name="Picture 4">
            <a:extLst>
              <a:ext uri="{FF2B5EF4-FFF2-40B4-BE49-F238E27FC236}">
                <a16:creationId xmlns:a16="http://schemas.microsoft.com/office/drawing/2014/main" id="{FAB4ADE5-6EC2-CB71-754C-B45B94A1160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63500" rIns="0" bIns="0" rtlCol="0">
            <a:spAutoFit/>
          </a:bodyPr>
          <a:lstStyle/>
          <a:p>
            <a:pPr marL="344170" marR="5080" indent="-332105" algn="just">
              <a:lnSpc>
                <a:spcPts val="3000"/>
              </a:lnSpc>
              <a:spcBef>
                <a:spcPts val="500"/>
              </a:spcBef>
              <a:buAutoNum type="arabicPeriod" startAt="3"/>
              <a:tabLst>
                <a:tab pos="344170" algn="l"/>
              </a:tabLst>
            </a:pPr>
            <a:r>
              <a:rPr b="1" dirty="0">
                <a:latin typeface="Calibri"/>
                <a:cs typeface="Calibri"/>
              </a:rPr>
              <a:t>Normal</a:t>
            </a:r>
            <a:r>
              <a:rPr b="1" spc="459" dirty="0">
                <a:latin typeface="Calibri"/>
                <a:cs typeface="Calibri"/>
              </a:rPr>
              <a:t> </a:t>
            </a:r>
            <a:r>
              <a:rPr b="1" dirty="0">
                <a:latin typeface="Calibri"/>
                <a:cs typeface="Calibri"/>
              </a:rPr>
              <a:t>conditions:</a:t>
            </a:r>
            <a:r>
              <a:rPr b="1" spc="465" dirty="0">
                <a:latin typeface="Calibri"/>
                <a:cs typeface="Calibri"/>
              </a:rPr>
              <a:t> </a:t>
            </a:r>
            <a:r>
              <a:rPr dirty="0"/>
              <a:t>When</a:t>
            </a:r>
            <a:r>
              <a:rPr spc="470" dirty="0"/>
              <a:t> </a:t>
            </a:r>
            <a:r>
              <a:rPr dirty="0"/>
              <a:t>task</a:t>
            </a:r>
            <a:r>
              <a:rPr spc="459" dirty="0"/>
              <a:t> </a:t>
            </a:r>
            <a:r>
              <a:rPr dirty="0"/>
              <a:t>time,</a:t>
            </a:r>
            <a:r>
              <a:rPr spc="465" dirty="0"/>
              <a:t> </a:t>
            </a:r>
            <a:r>
              <a:rPr dirty="0"/>
              <a:t>cost,</a:t>
            </a:r>
            <a:r>
              <a:rPr spc="465" dirty="0"/>
              <a:t> </a:t>
            </a:r>
            <a:r>
              <a:rPr dirty="0"/>
              <a:t>and</a:t>
            </a:r>
            <a:r>
              <a:rPr spc="465" dirty="0"/>
              <a:t> </a:t>
            </a:r>
            <a:r>
              <a:rPr dirty="0"/>
              <a:t>resource</a:t>
            </a:r>
            <a:r>
              <a:rPr spc="455" dirty="0"/>
              <a:t> </a:t>
            </a:r>
            <a:r>
              <a:rPr spc="-10" dirty="0"/>
              <a:t>estimates </a:t>
            </a:r>
            <a:r>
              <a:rPr dirty="0"/>
              <a:t>are</a:t>
            </a:r>
            <a:r>
              <a:rPr spc="-55" dirty="0"/>
              <a:t> </a:t>
            </a:r>
            <a:r>
              <a:rPr dirty="0"/>
              <a:t>determined,</a:t>
            </a:r>
            <a:r>
              <a:rPr spc="-55" dirty="0"/>
              <a:t> </a:t>
            </a:r>
            <a:r>
              <a:rPr dirty="0"/>
              <a:t>they</a:t>
            </a:r>
            <a:r>
              <a:rPr spc="-55" dirty="0"/>
              <a:t> </a:t>
            </a:r>
            <a:r>
              <a:rPr dirty="0"/>
              <a:t>should</a:t>
            </a:r>
            <a:r>
              <a:rPr spc="-40" dirty="0"/>
              <a:t> </a:t>
            </a:r>
            <a:r>
              <a:rPr dirty="0"/>
              <a:t>be</a:t>
            </a:r>
            <a:r>
              <a:rPr spc="-60" dirty="0"/>
              <a:t> </a:t>
            </a:r>
            <a:r>
              <a:rPr dirty="0"/>
              <a:t>based</a:t>
            </a:r>
            <a:r>
              <a:rPr spc="-50" dirty="0"/>
              <a:t> </a:t>
            </a:r>
            <a:r>
              <a:rPr dirty="0"/>
              <a:t>on</a:t>
            </a:r>
            <a:r>
              <a:rPr spc="-45" dirty="0"/>
              <a:t> </a:t>
            </a:r>
            <a:r>
              <a:rPr dirty="0"/>
              <a:t>normal</a:t>
            </a:r>
            <a:r>
              <a:rPr spc="-50" dirty="0"/>
              <a:t> </a:t>
            </a:r>
            <a:r>
              <a:rPr dirty="0"/>
              <a:t>conditions,</a:t>
            </a:r>
            <a:r>
              <a:rPr spc="-50" dirty="0"/>
              <a:t> </a:t>
            </a:r>
            <a:r>
              <a:rPr spc="-10" dirty="0"/>
              <a:t>efficient </a:t>
            </a:r>
            <a:r>
              <a:rPr dirty="0"/>
              <a:t>methods,</a:t>
            </a:r>
            <a:r>
              <a:rPr spc="-45" dirty="0"/>
              <a:t> </a:t>
            </a:r>
            <a:r>
              <a:rPr dirty="0"/>
              <a:t>and</a:t>
            </a:r>
            <a:r>
              <a:rPr spc="-40" dirty="0"/>
              <a:t> </a:t>
            </a:r>
            <a:r>
              <a:rPr dirty="0"/>
              <a:t>a</a:t>
            </a:r>
            <a:r>
              <a:rPr spc="-45" dirty="0"/>
              <a:t> </a:t>
            </a:r>
            <a:r>
              <a:rPr dirty="0"/>
              <a:t>normal</a:t>
            </a:r>
            <a:r>
              <a:rPr spc="-45" dirty="0"/>
              <a:t> </a:t>
            </a:r>
            <a:r>
              <a:rPr dirty="0"/>
              <a:t>level</a:t>
            </a:r>
            <a:r>
              <a:rPr spc="-50" dirty="0"/>
              <a:t> </a:t>
            </a:r>
            <a:r>
              <a:rPr dirty="0"/>
              <a:t>of</a:t>
            </a:r>
            <a:r>
              <a:rPr spc="-50" dirty="0"/>
              <a:t> </a:t>
            </a:r>
            <a:r>
              <a:rPr spc="-10" dirty="0"/>
              <a:t>resources.</a:t>
            </a:r>
          </a:p>
          <a:p>
            <a:pPr marL="344170" marR="5080" indent="-332105" algn="just">
              <a:lnSpc>
                <a:spcPct val="89900"/>
              </a:lnSpc>
              <a:spcBef>
                <a:spcPts val="1040"/>
              </a:spcBef>
              <a:buAutoNum type="arabicPeriod" startAt="3"/>
              <a:tabLst>
                <a:tab pos="344170" algn="l"/>
              </a:tabLst>
            </a:pPr>
            <a:r>
              <a:rPr b="1" dirty="0">
                <a:latin typeface="Calibri"/>
                <a:cs typeface="Calibri"/>
              </a:rPr>
              <a:t>Time</a:t>
            </a:r>
            <a:r>
              <a:rPr b="1" spc="85" dirty="0">
                <a:latin typeface="Calibri"/>
                <a:cs typeface="Calibri"/>
              </a:rPr>
              <a:t> </a:t>
            </a:r>
            <a:r>
              <a:rPr b="1" dirty="0">
                <a:latin typeface="Calibri"/>
                <a:cs typeface="Calibri"/>
              </a:rPr>
              <a:t>units:</a:t>
            </a:r>
            <a:r>
              <a:rPr b="1" spc="90" dirty="0">
                <a:latin typeface="Calibri"/>
                <a:cs typeface="Calibri"/>
              </a:rPr>
              <a:t> </a:t>
            </a:r>
            <a:r>
              <a:rPr dirty="0">
                <a:solidFill>
                  <a:srgbClr val="262EA4"/>
                </a:solidFill>
              </a:rPr>
              <a:t>Specific</a:t>
            </a:r>
            <a:r>
              <a:rPr spc="95" dirty="0">
                <a:solidFill>
                  <a:srgbClr val="262EA4"/>
                </a:solidFill>
              </a:rPr>
              <a:t> </a:t>
            </a:r>
            <a:r>
              <a:rPr dirty="0">
                <a:solidFill>
                  <a:srgbClr val="262EA4"/>
                </a:solidFill>
              </a:rPr>
              <a:t>time</a:t>
            </a:r>
            <a:r>
              <a:rPr spc="80" dirty="0">
                <a:solidFill>
                  <a:srgbClr val="262EA4"/>
                </a:solidFill>
              </a:rPr>
              <a:t> </a:t>
            </a:r>
            <a:r>
              <a:rPr dirty="0">
                <a:solidFill>
                  <a:srgbClr val="262EA4"/>
                </a:solidFill>
              </a:rPr>
              <a:t>units</a:t>
            </a:r>
            <a:r>
              <a:rPr spc="95" dirty="0">
                <a:solidFill>
                  <a:srgbClr val="262EA4"/>
                </a:solidFill>
              </a:rPr>
              <a:t> </a:t>
            </a:r>
            <a:r>
              <a:rPr dirty="0">
                <a:solidFill>
                  <a:srgbClr val="262EA4"/>
                </a:solidFill>
              </a:rPr>
              <a:t>to</a:t>
            </a:r>
            <a:r>
              <a:rPr spc="90" dirty="0">
                <a:solidFill>
                  <a:srgbClr val="262EA4"/>
                </a:solidFill>
              </a:rPr>
              <a:t> </a:t>
            </a:r>
            <a:r>
              <a:rPr dirty="0">
                <a:solidFill>
                  <a:srgbClr val="262EA4"/>
                </a:solidFill>
              </a:rPr>
              <a:t>use</a:t>
            </a:r>
            <a:r>
              <a:rPr spc="80" dirty="0">
                <a:solidFill>
                  <a:srgbClr val="262EA4"/>
                </a:solidFill>
              </a:rPr>
              <a:t> </a:t>
            </a:r>
            <a:r>
              <a:rPr dirty="0">
                <a:solidFill>
                  <a:srgbClr val="262EA4"/>
                </a:solidFill>
              </a:rPr>
              <a:t>should</a:t>
            </a:r>
            <a:r>
              <a:rPr spc="90" dirty="0">
                <a:solidFill>
                  <a:srgbClr val="262EA4"/>
                </a:solidFill>
              </a:rPr>
              <a:t> </a:t>
            </a:r>
            <a:r>
              <a:rPr dirty="0">
                <a:solidFill>
                  <a:srgbClr val="262EA4"/>
                </a:solidFill>
              </a:rPr>
              <a:t>be</a:t>
            </a:r>
            <a:r>
              <a:rPr spc="80" dirty="0">
                <a:solidFill>
                  <a:srgbClr val="262EA4"/>
                </a:solidFill>
              </a:rPr>
              <a:t> </a:t>
            </a:r>
            <a:r>
              <a:rPr dirty="0">
                <a:solidFill>
                  <a:srgbClr val="262EA4"/>
                </a:solidFill>
              </a:rPr>
              <a:t>selected</a:t>
            </a:r>
            <a:r>
              <a:rPr spc="90" dirty="0">
                <a:solidFill>
                  <a:srgbClr val="262EA4"/>
                </a:solidFill>
              </a:rPr>
              <a:t> </a:t>
            </a:r>
            <a:r>
              <a:rPr dirty="0">
                <a:solidFill>
                  <a:srgbClr val="262EA4"/>
                </a:solidFill>
              </a:rPr>
              <a:t>early</a:t>
            </a:r>
            <a:r>
              <a:rPr spc="85" dirty="0">
                <a:solidFill>
                  <a:srgbClr val="262EA4"/>
                </a:solidFill>
              </a:rPr>
              <a:t> </a:t>
            </a:r>
            <a:r>
              <a:rPr dirty="0">
                <a:solidFill>
                  <a:srgbClr val="262EA4"/>
                </a:solidFill>
              </a:rPr>
              <a:t>in</a:t>
            </a:r>
            <a:r>
              <a:rPr spc="90" dirty="0">
                <a:solidFill>
                  <a:srgbClr val="262EA4"/>
                </a:solidFill>
              </a:rPr>
              <a:t> </a:t>
            </a:r>
            <a:r>
              <a:rPr spc="-25" dirty="0">
                <a:solidFill>
                  <a:srgbClr val="262EA4"/>
                </a:solidFill>
              </a:rPr>
              <a:t>the </a:t>
            </a:r>
            <a:r>
              <a:rPr dirty="0">
                <a:solidFill>
                  <a:srgbClr val="262EA4"/>
                </a:solidFill>
              </a:rPr>
              <a:t>development</a:t>
            </a:r>
            <a:r>
              <a:rPr spc="285" dirty="0">
                <a:solidFill>
                  <a:srgbClr val="262EA4"/>
                </a:solidFill>
              </a:rPr>
              <a:t> </a:t>
            </a:r>
            <a:r>
              <a:rPr dirty="0">
                <a:solidFill>
                  <a:srgbClr val="262EA4"/>
                </a:solidFill>
              </a:rPr>
              <a:t>phase</a:t>
            </a:r>
            <a:r>
              <a:rPr spc="280" dirty="0">
                <a:solidFill>
                  <a:srgbClr val="262EA4"/>
                </a:solidFill>
              </a:rPr>
              <a:t> </a:t>
            </a:r>
            <a:r>
              <a:rPr dirty="0">
                <a:solidFill>
                  <a:srgbClr val="262EA4"/>
                </a:solidFill>
              </a:rPr>
              <a:t>of</a:t>
            </a:r>
            <a:r>
              <a:rPr spc="285" dirty="0">
                <a:solidFill>
                  <a:srgbClr val="262EA4"/>
                </a:solidFill>
              </a:rPr>
              <a:t> </a:t>
            </a:r>
            <a:r>
              <a:rPr dirty="0">
                <a:solidFill>
                  <a:srgbClr val="262EA4"/>
                </a:solidFill>
              </a:rPr>
              <a:t>the</a:t>
            </a:r>
            <a:r>
              <a:rPr spc="295" dirty="0">
                <a:solidFill>
                  <a:srgbClr val="262EA4"/>
                </a:solidFill>
              </a:rPr>
              <a:t> </a:t>
            </a:r>
            <a:r>
              <a:rPr dirty="0">
                <a:solidFill>
                  <a:srgbClr val="262EA4"/>
                </a:solidFill>
              </a:rPr>
              <a:t>project</a:t>
            </a:r>
            <a:r>
              <a:rPr spc="290" dirty="0">
                <a:solidFill>
                  <a:srgbClr val="262EA4"/>
                </a:solidFill>
              </a:rPr>
              <a:t> </a:t>
            </a:r>
            <a:r>
              <a:rPr dirty="0">
                <a:solidFill>
                  <a:srgbClr val="262EA4"/>
                </a:solidFill>
              </a:rPr>
              <a:t>network.</a:t>
            </a:r>
            <a:r>
              <a:rPr spc="300" dirty="0">
                <a:solidFill>
                  <a:srgbClr val="262EA4"/>
                </a:solidFill>
              </a:rPr>
              <a:t> </a:t>
            </a:r>
            <a:r>
              <a:rPr i="1" dirty="0">
                <a:solidFill>
                  <a:srgbClr val="262EA4"/>
                </a:solidFill>
                <a:latin typeface="Calibri"/>
                <a:cs typeface="Calibri"/>
              </a:rPr>
              <a:t>All</a:t>
            </a:r>
            <a:r>
              <a:rPr i="1" spc="290" dirty="0">
                <a:solidFill>
                  <a:srgbClr val="262EA4"/>
                </a:solidFill>
                <a:latin typeface="Calibri"/>
                <a:cs typeface="Calibri"/>
              </a:rPr>
              <a:t> </a:t>
            </a:r>
            <a:r>
              <a:rPr i="1" dirty="0">
                <a:solidFill>
                  <a:srgbClr val="262EA4"/>
                </a:solidFill>
                <a:latin typeface="Calibri"/>
                <a:cs typeface="Calibri"/>
              </a:rPr>
              <a:t>task</a:t>
            </a:r>
            <a:r>
              <a:rPr i="1" spc="295" dirty="0">
                <a:solidFill>
                  <a:srgbClr val="262EA4"/>
                </a:solidFill>
                <a:latin typeface="Calibri"/>
                <a:cs typeface="Calibri"/>
              </a:rPr>
              <a:t> </a:t>
            </a:r>
            <a:r>
              <a:rPr i="1" dirty="0">
                <a:solidFill>
                  <a:srgbClr val="262EA4"/>
                </a:solidFill>
                <a:latin typeface="Calibri"/>
                <a:cs typeface="Calibri"/>
              </a:rPr>
              <a:t>time</a:t>
            </a:r>
            <a:r>
              <a:rPr i="1" spc="295" dirty="0">
                <a:solidFill>
                  <a:srgbClr val="262EA4"/>
                </a:solidFill>
                <a:latin typeface="Calibri"/>
                <a:cs typeface="Calibri"/>
              </a:rPr>
              <a:t> </a:t>
            </a:r>
            <a:r>
              <a:rPr i="1" spc="-10" dirty="0">
                <a:solidFill>
                  <a:srgbClr val="262EA4"/>
                </a:solidFill>
                <a:latin typeface="Calibri"/>
                <a:cs typeface="Calibri"/>
              </a:rPr>
              <a:t>estimates </a:t>
            </a:r>
            <a:r>
              <a:rPr i="1" dirty="0">
                <a:solidFill>
                  <a:srgbClr val="262EA4"/>
                </a:solidFill>
                <a:latin typeface="Calibri"/>
                <a:cs typeface="Calibri"/>
              </a:rPr>
              <a:t>need</a:t>
            </a:r>
            <a:r>
              <a:rPr i="1" spc="70" dirty="0">
                <a:solidFill>
                  <a:srgbClr val="262EA4"/>
                </a:solidFill>
                <a:latin typeface="Calibri"/>
                <a:cs typeface="Calibri"/>
              </a:rPr>
              <a:t> </a:t>
            </a:r>
            <a:r>
              <a:rPr i="1" dirty="0">
                <a:solidFill>
                  <a:srgbClr val="262EA4"/>
                </a:solidFill>
                <a:latin typeface="Calibri"/>
                <a:cs typeface="Calibri"/>
              </a:rPr>
              <a:t>consistent</a:t>
            </a:r>
            <a:r>
              <a:rPr i="1" spc="70" dirty="0">
                <a:solidFill>
                  <a:srgbClr val="262EA4"/>
                </a:solidFill>
                <a:latin typeface="Calibri"/>
                <a:cs typeface="Calibri"/>
              </a:rPr>
              <a:t> </a:t>
            </a:r>
            <a:r>
              <a:rPr i="1" dirty="0">
                <a:solidFill>
                  <a:srgbClr val="262EA4"/>
                </a:solidFill>
                <a:latin typeface="Calibri"/>
                <a:cs typeface="Calibri"/>
              </a:rPr>
              <a:t>time</a:t>
            </a:r>
            <a:r>
              <a:rPr i="1" spc="70" dirty="0">
                <a:solidFill>
                  <a:srgbClr val="262EA4"/>
                </a:solidFill>
                <a:latin typeface="Calibri"/>
                <a:cs typeface="Calibri"/>
              </a:rPr>
              <a:t> </a:t>
            </a:r>
            <a:r>
              <a:rPr i="1" dirty="0">
                <a:solidFill>
                  <a:srgbClr val="262EA4"/>
                </a:solidFill>
                <a:latin typeface="Calibri"/>
                <a:cs typeface="Calibri"/>
              </a:rPr>
              <a:t>units.</a:t>
            </a:r>
            <a:r>
              <a:rPr i="1" spc="80" dirty="0">
                <a:solidFill>
                  <a:srgbClr val="262EA4"/>
                </a:solidFill>
                <a:latin typeface="Calibri"/>
                <a:cs typeface="Calibri"/>
              </a:rPr>
              <a:t> </a:t>
            </a:r>
            <a:r>
              <a:rPr dirty="0">
                <a:solidFill>
                  <a:srgbClr val="262EA4"/>
                </a:solidFill>
              </a:rPr>
              <a:t>Estimates</a:t>
            </a:r>
            <a:r>
              <a:rPr spc="70" dirty="0">
                <a:solidFill>
                  <a:srgbClr val="262EA4"/>
                </a:solidFill>
              </a:rPr>
              <a:t> </a:t>
            </a:r>
            <a:r>
              <a:rPr dirty="0">
                <a:solidFill>
                  <a:srgbClr val="262EA4"/>
                </a:solidFill>
              </a:rPr>
              <a:t>of</a:t>
            </a:r>
            <a:r>
              <a:rPr spc="65" dirty="0">
                <a:solidFill>
                  <a:srgbClr val="262EA4"/>
                </a:solidFill>
              </a:rPr>
              <a:t> </a:t>
            </a:r>
            <a:r>
              <a:rPr dirty="0">
                <a:solidFill>
                  <a:srgbClr val="262EA4"/>
                </a:solidFill>
              </a:rPr>
              <a:t>time</a:t>
            </a:r>
            <a:r>
              <a:rPr spc="70" dirty="0">
                <a:solidFill>
                  <a:srgbClr val="262EA4"/>
                </a:solidFill>
              </a:rPr>
              <a:t> </a:t>
            </a:r>
            <a:r>
              <a:rPr dirty="0">
                <a:solidFill>
                  <a:srgbClr val="262EA4"/>
                </a:solidFill>
              </a:rPr>
              <a:t>must</a:t>
            </a:r>
            <a:r>
              <a:rPr spc="70" dirty="0">
                <a:solidFill>
                  <a:srgbClr val="262EA4"/>
                </a:solidFill>
              </a:rPr>
              <a:t> </a:t>
            </a:r>
            <a:r>
              <a:rPr dirty="0">
                <a:solidFill>
                  <a:srgbClr val="262EA4"/>
                </a:solidFill>
              </a:rPr>
              <a:t>consider</a:t>
            </a:r>
            <a:r>
              <a:rPr spc="65" dirty="0">
                <a:solidFill>
                  <a:srgbClr val="262EA4"/>
                </a:solidFill>
              </a:rPr>
              <a:t> </a:t>
            </a:r>
            <a:r>
              <a:rPr spc="-10" dirty="0">
                <a:solidFill>
                  <a:srgbClr val="262EA4"/>
                </a:solidFill>
              </a:rPr>
              <a:t>whether </a:t>
            </a:r>
            <a:r>
              <a:rPr dirty="0">
                <a:solidFill>
                  <a:srgbClr val="262EA4"/>
                </a:solidFill>
              </a:rPr>
              <a:t>normal</a:t>
            </a:r>
            <a:r>
              <a:rPr spc="90" dirty="0">
                <a:solidFill>
                  <a:srgbClr val="262EA4"/>
                </a:solidFill>
              </a:rPr>
              <a:t> </a:t>
            </a:r>
            <a:r>
              <a:rPr dirty="0">
                <a:solidFill>
                  <a:srgbClr val="262EA4"/>
                </a:solidFill>
              </a:rPr>
              <a:t>time</a:t>
            </a:r>
            <a:r>
              <a:rPr spc="95" dirty="0">
                <a:solidFill>
                  <a:srgbClr val="262EA4"/>
                </a:solidFill>
              </a:rPr>
              <a:t> </a:t>
            </a:r>
            <a:r>
              <a:rPr dirty="0">
                <a:solidFill>
                  <a:srgbClr val="262EA4"/>
                </a:solidFill>
              </a:rPr>
              <a:t>is</a:t>
            </a:r>
            <a:r>
              <a:rPr spc="105" dirty="0">
                <a:solidFill>
                  <a:srgbClr val="262EA4"/>
                </a:solidFill>
              </a:rPr>
              <a:t> </a:t>
            </a:r>
            <a:r>
              <a:rPr dirty="0">
                <a:solidFill>
                  <a:srgbClr val="262EA4"/>
                </a:solidFill>
              </a:rPr>
              <a:t>represented</a:t>
            </a:r>
            <a:r>
              <a:rPr spc="95" dirty="0">
                <a:solidFill>
                  <a:srgbClr val="262EA4"/>
                </a:solidFill>
              </a:rPr>
              <a:t> </a:t>
            </a:r>
            <a:r>
              <a:rPr dirty="0">
                <a:solidFill>
                  <a:srgbClr val="262EA4"/>
                </a:solidFill>
              </a:rPr>
              <a:t>by</a:t>
            </a:r>
            <a:r>
              <a:rPr spc="90" dirty="0">
                <a:solidFill>
                  <a:srgbClr val="262EA4"/>
                </a:solidFill>
              </a:rPr>
              <a:t> </a:t>
            </a:r>
            <a:r>
              <a:rPr dirty="0">
                <a:solidFill>
                  <a:srgbClr val="262EA4"/>
                </a:solidFill>
              </a:rPr>
              <a:t>calendar</a:t>
            </a:r>
            <a:r>
              <a:rPr spc="95" dirty="0">
                <a:solidFill>
                  <a:srgbClr val="262EA4"/>
                </a:solidFill>
              </a:rPr>
              <a:t> </a:t>
            </a:r>
            <a:r>
              <a:rPr dirty="0">
                <a:solidFill>
                  <a:srgbClr val="262EA4"/>
                </a:solidFill>
              </a:rPr>
              <a:t>days,</a:t>
            </a:r>
            <a:r>
              <a:rPr spc="100" dirty="0">
                <a:solidFill>
                  <a:srgbClr val="262EA4"/>
                </a:solidFill>
              </a:rPr>
              <a:t> </a:t>
            </a:r>
            <a:r>
              <a:rPr dirty="0">
                <a:solidFill>
                  <a:srgbClr val="262EA4"/>
                </a:solidFill>
              </a:rPr>
              <a:t>workdays,</a:t>
            </a:r>
            <a:r>
              <a:rPr spc="95" dirty="0">
                <a:solidFill>
                  <a:srgbClr val="262EA4"/>
                </a:solidFill>
              </a:rPr>
              <a:t> </a:t>
            </a:r>
            <a:r>
              <a:rPr spc="-10" dirty="0">
                <a:solidFill>
                  <a:srgbClr val="262EA4"/>
                </a:solidFill>
              </a:rPr>
              <a:t>workweeks, </a:t>
            </a:r>
            <a:r>
              <a:rPr dirty="0">
                <a:solidFill>
                  <a:srgbClr val="262EA4"/>
                </a:solidFill>
              </a:rPr>
              <a:t>person</a:t>
            </a:r>
            <a:r>
              <a:rPr spc="229" dirty="0">
                <a:solidFill>
                  <a:srgbClr val="262EA4"/>
                </a:solidFill>
              </a:rPr>
              <a:t> </a:t>
            </a:r>
            <a:r>
              <a:rPr dirty="0">
                <a:solidFill>
                  <a:srgbClr val="262EA4"/>
                </a:solidFill>
              </a:rPr>
              <a:t>days,</a:t>
            </a:r>
            <a:r>
              <a:rPr spc="225" dirty="0">
                <a:solidFill>
                  <a:srgbClr val="262EA4"/>
                </a:solidFill>
              </a:rPr>
              <a:t> </a:t>
            </a:r>
            <a:r>
              <a:rPr dirty="0">
                <a:solidFill>
                  <a:srgbClr val="262EA4"/>
                </a:solidFill>
              </a:rPr>
              <a:t>single</a:t>
            </a:r>
            <a:r>
              <a:rPr spc="225" dirty="0">
                <a:solidFill>
                  <a:srgbClr val="262EA4"/>
                </a:solidFill>
              </a:rPr>
              <a:t> </a:t>
            </a:r>
            <a:r>
              <a:rPr dirty="0">
                <a:solidFill>
                  <a:srgbClr val="262EA4"/>
                </a:solidFill>
              </a:rPr>
              <a:t>shift,</a:t>
            </a:r>
            <a:r>
              <a:rPr spc="229" dirty="0">
                <a:solidFill>
                  <a:srgbClr val="262EA4"/>
                </a:solidFill>
              </a:rPr>
              <a:t> </a:t>
            </a:r>
            <a:r>
              <a:rPr dirty="0">
                <a:solidFill>
                  <a:srgbClr val="262EA4"/>
                </a:solidFill>
              </a:rPr>
              <a:t>hours,</a:t>
            </a:r>
            <a:r>
              <a:rPr spc="229" dirty="0">
                <a:solidFill>
                  <a:srgbClr val="262EA4"/>
                </a:solidFill>
              </a:rPr>
              <a:t> </a:t>
            </a:r>
            <a:r>
              <a:rPr dirty="0">
                <a:solidFill>
                  <a:srgbClr val="262EA4"/>
                </a:solidFill>
              </a:rPr>
              <a:t>minutes,</a:t>
            </a:r>
            <a:r>
              <a:rPr spc="229" dirty="0">
                <a:solidFill>
                  <a:srgbClr val="262EA4"/>
                </a:solidFill>
              </a:rPr>
              <a:t> </a:t>
            </a:r>
            <a:r>
              <a:rPr dirty="0">
                <a:solidFill>
                  <a:srgbClr val="262EA4"/>
                </a:solidFill>
              </a:rPr>
              <a:t>etc.</a:t>
            </a:r>
            <a:r>
              <a:rPr spc="240" dirty="0">
                <a:solidFill>
                  <a:srgbClr val="262EA4"/>
                </a:solidFill>
              </a:rPr>
              <a:t> </a:t>
            </a:r>
            <a:r>
              <a:rPr dirty="0">
                <a:solidFill>
                  <a:srgbClr val="262EA4"/>
                </a:solidFill>
              </a:rPr>
              <a:t>In</a:t>
            </a:r>
            <a:r>
              <a:rPr spc="235" dirty="0">
                <a:solidFill>
                  <a:srgbClr val="262EA4"/>
                </a:solidFill>
              </a:rPr>
              <a:t> </a:t>
            </a:r>
            <a:r>
              <a:rPr dirty="0">
                <a:solidFill>
                  <a:srgbClr val="262EA4"/>
                </a:solidFill>
              </a:rPr>
              <a:t>practice</a:t>
            </a:r>
            <a:r>
              <a:rPr spc="225" dirty="0">
                <a:solidFill>
                  <a:srgbClr val="262EA4"/>
                </a:solidFill>
              </a:rPr>
              <a:t> </a:t>
            </a:r>
            <a:r>
              <a:rPr dirty="0">
                <a:solidFill>
                  <a:srgbClr val="262EA4"/>
                </a:solidFill>
              </a:rPr>
              <a:t>the</a:t>
            </a:r>
            <a:r>
              <a:rPr spc="225" dirty="0">
                <a:solidFill>
                  <a:srgbClr val="262EA4"/>
                </a:solidFill>
              </a:rPr>
              <a:t> </a:t>
            </a:r>
            <a:r>
              <a:rPr dirty="0">
                <a:solidFill>
                  <a:srgbClr val="262EA4"/>
                </a:solidFill>
              </a:rPr>
              <a:t>use</a:t>
            </a:r>
            <a:r>
              <a:rPr spc="225" dirty="0">
                <a:solidFill>
                  <a:srgbClr val="262EA4"/>
                </a:solidFill>
              </a:rPr>
              <a:t> </a:t>
            </a:r>
            <a:r>
              <a:rPr spc="-25" dirty="0">
                <a:solidFill>
                  <a:srgbClr val="262EA4"/>
                </a:solidFill>
              </a:rPr>
              <a:t>of </a:t>
            </a:r>
            <a:r>
              <a:rPr spc="-20" dirty="0">
                <a:solidFill>
                  <a:srgbClr val="262EA4"/>
                </a:solidFill>
              </a:rPr>
              <a:t>workdays</a:t>
            </a:r>
            <a:r>
              <a:rPr spc="-60" dirty="0">
                <a:solidFill>
                  <a:srgbClr val="262EA4"/>
                </a:solidFill>
              </a:rPr>
              <a:t> </a:t>
            </a:r>
            <a:r>
              <a:rPr dirty="0">
                <a:solidFill>
                  <a:srgbClr val="262EA4"/>
                </a:solidFill>
              </a:rPr>
              <a:t>is</a:t>
            </a:r>
            <a:r>
              <a:rPr spc="-55" dirty="0">
                <a:solidFill>
                  <a:srgbClr val="262EA4"/>
                </a:solidFill>
              </a:rPr>
              <a:t> </a:t>
            </a:r>
            <a:r>
              <a:rPr dirty="0">
                <a:solidFill>
                  <a:srgbClr val="262EA4"/>
                </a:solidFill>
              </a:rPr>
              <a:t>the</a:t>
            </a:r>
            <a:r>
              <a:rPr spc="-60" dirty="0">
                <a:solidFill>
                  <a:srgbClr val="262EA4"/>
                </a:solidFill>
              </a:rPr>
              <a:t> </a:t>
            </a:r>
            <a:r>
              <a:rPr dirty="0">
                <a:solidFill>
                  <a:srgbClr val="262EA4"/>
                </a:solidFill>
              </a:rPr>
              <a:t>dominant</a:t>
            </a:r>
            <a:r>
              <a:rPr spc="-60" dirty="0">
                <a:solidFill>
                  <a:srgbClr val="262EA4"/>
                </a:solidFill>
              </a:rPr>
              <a:t> </a:t>
            </a:r>
            <a:r>
              <a:rPr dirty="0">
                <a:solidFill>
                  <a:srgbClr val="262EA4"/>
                </a:solidFill>
              </a:rPr>
              <a:t>choice</a:t>
            </a:r>
            <a:r>
              <a:rPr spc="-65" dirty="0">
                <a:solidFill>
                  <a:srgbClr val="262EA4"/>
                </a:solidFill>
              </a:rPr>
              <a:t> </a:t>
            </a:r>
            <a:r>
              <a:rPr dirty="0">
                <a:solidFill>
                  <a:srgbClr val="262EA4"/>
                </a:solidFill>
              </a:rPr>
              <a:t>for</a:t>
            </a:r>
            <a:r>
              <a:rPr spc="-60" dirty="0">
                <a:solidFill>
                  <a:srgbClr val="262EA4"/>
                </a:solidFill>
              </a:rPr>
              <a:t> </a:t>
            </a:r>
            <a:r>
              <a:rPr spc="-10" dirty="0">
                <a:solidFill>
                  <a:srgbClr val="262EA4"/>
                </a:solidFill>
              </a:rPr>
              <a:t>expressing</a:t>
            </a:r>
            <a:r>
              <a:rPr spc="-70" dirty="0">
                <a:solidFill>
                  <a:srgbClr val="262EA4"/>
                </a:solidFill>
              </a:rPr>
              <a:t> </a:t>
            </a:r>
            <a:r>
              <a:rPr dirty="0">
                <a:solidFill>
                  <a:srgbClr val="262EA4"/>
                </a:solidFill>
              </a:rPr>
              <a:t>task</a:t>
            </a:r>
            <a:r>
              <a:rPr spc="-55" dirty="0">
                <a:solidFill>
                  <a:srgbClr val="262EA4"/>
                </a:solidFill>
              </a:rPr>
              <a:t> </a:t>
            </a:r>
            <a:r>
              <a:rPr spc="-10" dirty="0">
                <a:solidFill>
                  <a:srgbClr val="262EA4"/>
                </a:solidFill>
              </a:rPr>
              <a:t>duration.</a:t>
            </a:r>
          </a:p>
          <a:p>
            <a:pPr marL="344170" marR="5080" indent="-332105" algn="just">
              <a:lnSpc>
                <a:spcPts val="3000"/>
              </a:lnSpc>
              <a:spcBef>
                <a:spcPts val="1050"/>
              </a:spcBef>
              <a:buAutoNum type="arabicPeriod" startAt="3"/>
              <a:tabLst>
                <a:tab pos="344170" algn="l"/>
              </a:tabLst>
            </a:pPr>
            <a:r>
              <a:rPr b="1" dirty="0">
                <a:latin typeface="Calibri"/>
                <a:cs typeface="Calibri"/>
              </a:rPr>
              <a:t>Independence:</a:t>
            </a:r>
            <a:r>
              <a:rPr b="1" spc="145" dirty="0">
                <a:latin typeface="Calibri"/>
                <a:cs typeface="Calibri"/>
              </a:rPr>
              <a:t> </a:t>
            </a:r>
            <a:r>
              <a:rPr dirty="0"/>
              <a:t>Estimators</a:t>
            </a:r>
            <a:r>
              <a:rPr spc="145" dirty="0"/>
              <a:t> </a:t>
            </a:r>
            <a:r>
              <a:rPr dirty="0"/>
              <a:t>should</a:t>
            </a:r>
            <a:r>
              <a:rPr spc="145" dirty="0"/>
              <a:t> </a:t>
            </a:r>
            <a:r>
              <a:rPr dirty="0"/>
              <a:t>treat</a:t>
            </a:r>
            <a:r>
              <a:rPr spc="140" dirty="0"/>
              <a:t> </a:t>
            </a:r>
            <a:r>
              <a:rPr dirty="0"/>
              <a:t>each</a:t>
            </a:r>
            <a:r>
              <a:rPr spc="145" dirty="0"/>
              <a:t> </a:t>
            </a:r>
            <a:r>
              <a:rPr dirty="0"/>
              <a:t>task</a:t>
            </a:r>
            <a:r>
              <a:rPr spc="145" dirty="0"/>
              <a:t> </a:t>
            </a:r>
            <a:r>
              <a:rPr dirty="0"/>
              <a:t>as</a:t>
            </a:r>
            <a:r>
              <a:rPr spc="150" dirty="0"/>
              <a:t> </a:t>
            </a:r>
            <a:r>
              <a:rPr dirty="0"/>
              <a:t>independent</a:t>
            </a:r>
            <a:r>
              <a:rPr spc="140" dirty="0"/>
              <a:t> </a:t>
            </a:r>
            <a:r>
              <a:rPr spc="-25" dirty="0"/>
              <a:t>of </a:t>
            </a:r>
            <a:r>
              <a:rPr dirty="0"/>
              <a:t>other</a:t>
            </a:r>
            <a:r>
              <a:rPr spc="-55" dirty="0"/>
              <a:t> </a:t>
            </a:r>
            <a:r>
              <a:rPr dirty="0"/>
              <a:t>tasks</a:t>
            </a:r>
            <a:r>
              <a:rPr spc="-45" dirty="0"/>
              <a:t> </a:t>
            </a:r>
            <a:r>
              <a:rPr dirty="0"/>
              <a:t>that</a:t>
            </a:r>
            <a:r>
              <a:rPr spc="-55" dirty="0"/>
              <a:t> </a:t>
            </a:r>
            <a:r>
              <a:rPr dirty="0"/>
              <a:t>might</a:t>
            </a:r>
            <a:r>
              <a:rPr spc="-55" dirty="0"/>
              <a:t> </a:t>
            </a:r>
            <a:r>
              <a:rPr dirty="0"/>
              <a:t>be</a:t>
            </a:r>
            <a:r>
              <a:rPr spc="-60" dirty="0"/>
              <a:t> </a:t>
            </a:r>
            <a:r>
              <a:rPr spc="-10" dirty="0"/>
              <a:t>integrated</a:t>
            </a:r>
            <a:r>
              <a:rPr spc="-50" dirty="0"/>
              <a:t> </a:t>
            </a:r>
            <a:r>
              <a:rPr dirty="0"/>
              <a:t>by</a:t>
            </a:r>
            <a:r>
              <a:rPr spc="-60" dirty="0"/>
              <a:t> </a:t>
            </a:r>
            <a:r>
              <a:rPr dirty="0"/>
              <a:t>the</a:t>
            </a:r>
            <a:r>
              <a:rPr spc="-55" dirty="0"/>
              <a:t> </a:t>
            </a:r>
            <a:r>
              <a:rPr spc="-20" dirty="0"/>
              <a:t>WBS.</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8</a:t>
            </a:fld>
            <a:endParaRPr spc="-50" dirty="0"/>
          </a:p>
        </p:txBody>
      </p:sp>
      <p:sp>
        <p:nvSpPr>
          <p:cNvPr id="3" name="object 3"/>
          <p:cNvSpPr txBox="1">
            <a:spLocks noGrp="1"/>
          </p:cNvSpPr>
          <p:nvPr>
            <p:ph type="title"/>
          </p:nvPr>
        </p:nvSpPr>
        <p:spPr>
          <a:xfrm>
            <a:off x="381000" y="444502"/>
            <a:ext cx="12113262" cy="1017751"/>
          </a:xfrm>
          <a:prstGeom prst="rect">
            <a:avLst/>
          </a:prstGeom>
        </p:spPr>
        <p:txBody>
          <a:bodyPr vert="horz" wrap="square" lIns="0" tIns="85888" rIns="0" bIns="0" rtlCol="0">
            <a:spAutoFit/>
          </a:bodyPr>
          <a:lstStyle/>
          <a:p>
            <a:pPr marL="12700">
              <a:lnSpc>
                <a:spcPct val="100000"/>
              </a:lnSpc>
              <a:spcBef>
                <a:spcPts val="130"/>
              </a:spcBef>
            </a:pPr>
            <a:r>
              <a:rPr b="1" u="sng" spc="95" dirty="0">
                <a:solidFill>
                  <a:srgbClr val="FF0000"/>
                </a:solidFill>
              </a:rPr>
              <a:t>Estimating Guidelines for Times, Costs &amp; Resources </a:t>
            </a:r>
            <a:r>
              <a:rPr sz="1750" spc="-10" dirty="0"/>
              <a:t>(2/3)</a:t>
            </a:r>
            <a:endParaRPr sz="1750" dirty="0"/>
          </a:p>
        </p:txBody>
      </p:sp>
      <p:pic>
        <p:nvPicPr>
          <p:cNvPr id="5" name="Picture 4">
            <a:extLst>
              <a:ext uri="{FF2B5EF4-FFF2-40B4-BE49-F238E27FC236}">
                <a16:creationId xmlns:a16="http://schemas.microsoft.com/office/drawing/2014/main" id="{CC85A9FC-DD90-C810-2687-68D7C8D5CD3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8" y="1677924"/>
            <a:ext cx="10358120" cy="4475480"/>
          </a:xfrm>
          <a:prstGeom prst="rect">
            <a:avLst/>
          </a:prstGeom>
        </p:spPr>
        <p:txBody>
          <a:bodyPr vert="horz" wrap="square" lIns="0" tIns="49530" rIns="0" bIns="0" rtlCol="0">
            <a:spAutoFit/>
          </a:bodyPr>
          <a:lstStyle/>
          <a:p>
            <a:pPr marL="342900" marR="5080" indent="-330835" algn="just">
              <a:lnSpc>
                <a:spcPct val="90600"/>
              </a:lnSpc>
              <a:spcBef>
                <a:spcPts val="390"/>
              </a:spcBef>
              <a:buAutoNum type="arabicPeriod" startAt="6"/>
              <a:tabLst>
                <a:tab pos="344170" algn="l"/>
              </a:tabLst>
            </a:pPr>
            <a:r>
              <a:rPr sz="2600" b="1" dirty="0">
                <a:latin typeface="Calibri"/>
                <a:cs typeface="Calibri"/>
              </a:rPr>
              <a:t>Contingencies:</a:t>
            </a:r>
            <a:r>
              <a:rPr sz="2600" b="1" spc="-10" dirty="0">
                <a:latin typeface="Calibri"/>
                <a:cs typeface="Calibri"/>
              </a:rPr>
              <a:t> </a:t>
            </a:r>
            <a:r>
              <a:rPr sz="2600" i="1" dirty="0">
                <a:latin typeface="Calibri"/>
                <a:cs typeface="Calibri"/>
              </a:rPr>
              <a:t>Work package</a:t>
            </a:r>
            <a:r>
              <a:rPr sz="2600" i="1" spc="-10" dirty="0">
                <a:latin typeface="Calibri"/>
                <a:cs typeface="Calibri"/>
              </a:rPr>
              <a:t> </a:t>
            </a:r>
            <a:r>
              <a:rPr sz="2600" i="1" dirty="0">
                <a:latin typeface="Calibri"/>
                <a:cs typeface="Calibri"/>
              </a:rPr>
              <a:t>estimates should</a:t>
            </a:r>
            <a:r>
              <a:rPr sz="2600" i="1" spc="-5" dirty="0">
                <a:latin typeface="Calibri"/>
                <a:cs typeface="Calibri"/>
              </a:rPr>
              <a:t> </a:t>
            </a:r>
            <a:r>
              <a:rPr sz="2600" i="1" dirty="0">
                <a:latin typeface="Calibri"/>
                <a:cs typeface="Calibri"/>
              </a:rPr>
              <a:t>not include</a:t>
            </a:r>
            <a:r>
              <a:rPr sz="2600" i="1" spc="-10" dirty="0">
                <a:latin typeface="Calibri"/>
                <a:cs typeface="Calibri"/>
              </a:rPr>
              <a:t> </a:t>
            </a:r>
            <a:r>
              <a:rPr sz="2600" i="1" dirty="0">
                <a:latin typeface="Calibri"/>
                <a:cs typeface="Calibri"/>
              </a:rPr>
              <a:t>allowances </a:t>
            </a:r>
            <a:r>
              <a:rPr sz="2600" i="1" spc="-25" dirty="0">
                <a:latin typeface="Calibri"/>
                <a:cs typeface="Calibri"/>
              </a:rPr>
              <a:t>for 	</a:t>
            </a:r>
            <a:r>
              <a:rPr sz="2600" i="1" dirty="0">
                <a:latin typeface="Calibri"/>
                <a:cs typeface="Calibri"/>
              </a:rPr>
              <a:t>contingencies.</a:t>
            </a:r>
            <a:r>
              <a:rPr sz="2600" i="1" spc="125" dirty="0">
                <a:latin typeface="Calibri"/>
                <a:cs typeface="Calibri"/>
              </a:rPr>
              <a:t> </a:t>
            </a:r>
            <a:r>
              <a:rPr sz="2600" dirty="0">
                <a:latin typeface="Calibri"/>
                <a:cs typeface="Calibri"/>
              </a:rPr>
              <a:t>The</a:t>
            </a:r>
            <a:r>
              <a:rPr sz="2600" spc="120" dirty="0">
                <a:latin typeface="Calibri"/>
                <a:cs typeface="Calibri"/>
              </a:rPr>
              <a:t> </a:t>
            </a:r>
            <a:r>
              <a:rPr sz="2600" dirty="0">
                <a:latin typeface="Calibri"/>
                <a:cs typeface="Calibri"/>
              </a:rPr>
              <a:t>estimate</a:t>
            </a:r>
            <a:r>
              <a:rPr sz="2600" spc="120" dirty="0">
                <a:latin typeface="Calibri"/>
                <a:cs typeface="Calibri"/>
              </a:rPr>
              <a:t> </a:t>
            </a:r>
            <a:r>
              <a:rPr sz="2600" dirty="0">
                <a:latin typeface="Calibri"/>
                <a:cs typeface="Calibri"/>
              </a:rPr>
              <a:t>should</a:t>
            </a:r>
            <a:r>
              <a:rPr sz="2600" spc="125" dirty="0">
                <a:latin typeface="Calibri"/>
                <a:cs typeface="Calibri"/>
              </a:rPr>
              <a:t> </a:t>
            </a:r>
            <a:r>
              <a:rPr sz="2600" dirty="0">
                <a:latin typeface="Calibri"/>
                <a:cs typeface="Calibri"/>
              </a:rPr>
              <a:t>assume</a:t>
            </a:r>
            <a:r>
              <a:rPr sz="2600" spc="120" dirty="0">
                <a:latin typeface="Calibri"/>
                <a:cs typeface="Calibri"/>
              </a:rPr>
              <a:t> </a:t>
            </a:r>
            <a:r>
              <a:rPr sz="2600" dirty="0">
                <a:latin typeface="Calibri"/>
                <a:cs typeface="Calibri"/>
              </a:rPr>
              <a:t>normal</a:t>
            </a:r>
            <a:r>
              <a:rPr sz="2600" spc="130" dirty="0">
                <a:latin typeface="Calibri"/>
                <a:cs typeface="Calibri"/>
              </a:rPr>
              <a:t> </a:t>
            </a:r>
            <a:r>
              <a:rPr sz="2600" dirty="0">
                <a:latin typeface="Calibri"/>
                <a:cs typeface="Calibri"/>
              </a:rPr>
              <a:t>or</a:t>
            </a:r>
            <a:r>
              <a:rPr sz="2600" spc="130" dirty="0">
                <a:latin typeface="Calibri"/>
                <a:cs typeface="Calibri"/>
              </a:rPr>
              <a:t> </a:t>
            </a:r>
            <a:r>
              <a:rPr sz="2600" dirty="0">
                <a:latin typeface="Calibri"/>
                <a:cs typeface="Calibri"/>
              </a:rPr>
              <a:t>average</a:t>
            </a:r>
            <a:r>
              <a:rPr sz="2600" spc="120" dirty="0">
                <a:latin typeface="Calibri"/>
                <a:cs typeface="Calibri"/>
              </a:rPr>
              <a:t> </a:t>
            </a:r>
            <a:r>
              <a:rPr sz="2600" spc="-10" dirty="0">
                <a:latin typeface="Calibri"/>
                <a:cs typeface="Calibri"/>
              </a:rPr>
              <a:t>conditions 	</a:t>
            </a:r>
            <a:r>
              <a:rPr sz="2600" dirty="0">
                <a:latin typeface="Calibri"/>
                <a:cs typeface="Calibri"/>
              </a:rPr>
              <a:t>even</a:t>
            </a:r>
            <a:r>
              <a:rPr sz="2600" spc="120" dirty="0">
                <a:latin typeface="Calibri"/>
                <a:cs typeface="Calibri"/>
              </a:rPr>
              <a:t> </a:t>
            </a:r>
            <a:r>
              <a:rPr sz="2600" dirty="0">
                <a:latin typeface="Calibri"/>
                <a:cs typeface="Calibri"/>
              </a:rPr>
              <a:t>though</a:t>
            </a:r>
            <a:r>
              <a:rPr sz="2600" spc="125" dirty="0">
                <a:latin typeface="Calibri"/>
                <a:cs typeface="Calibri"/>
              </a:rPr>
              <a:t> </a:t>
            </a:r>
            <a:r>
              <a:rPr sz="2600" dirty="0">
                <a:latin typeface="Calibri"/>
                <a:cs typeface="Calibri"/>
              </a:rPr>
              <a:t>every</a:t>
            </a:r>
            <a:r>
              <a:rPr sz="2600" spc="125" dirty="0">
                <a:latin typeface="Calibri"/>
                <a:cs typeface="Calibri"/>
              </a:rPr>
              <a:t> </a:t>
            </a:r>
            <a:r>
              <a:rPr sz="2600" dirty="0">
                <a:latin typeface="Calibri"/>
                <a:cs typeface="Calibri"/>
              </a:rPr>
              <a:t>work</a:t>
            </a:r>
            <a:r>
              <a:rPr sz="2600" spc="130" dirty="0">
                <a:latin typeface="Calibri"/>
                <a:cs typeface="Calibri"/>
              </a:rPr>
              <a:t> </a:t>
            </a:r>
            <a:r>
              <a:rPr sz="2600" dirty="0">
                <a:latin typeface="Calibri"/>
                <a:cs typeface="Calibri"/>
              </a:rPr>
              <a:t>package</a:t>
            </a:r>
            <a:r>
              <a:rPr sz="2600" spc="114" dirty="0">
                <a:latin typeface="Calibri"/>
                <a:cs typeface="Calibri"/>
              </a:rPr>
              <a:t> </a:t>
            </a:r>
            <a:r>
              <a:rPr sz="2600" dirty="0">
                <a:latin typeface="Calibri"/>
                <a:cs typeface="Calibri"/>
              </a:rPr>
              <a:t>will</a:t>
            </a:r>
            <a:r>
              <a:rPr sz="2600" spc="125" dirty="0">
                <a:latin typeface="Calibri"/>
                <a:cs typeface="Calibri"/>
              </a:rPr>
              <a:t> </a:t>
            </a:r>
            <a:r>
              <a:rPr sz="2600" dirty="0">
                <a:latin typeface="Calibri"/>
                <a:cs typeface="Calibri"/>
              </a:rPr>
              <a:t>not</a:t>
            </a:r>
            <a:r>
              <a:rPr sz="2600" spc="130" dirty="0">
                <a:latin typeface="Calibri"/>
                <a:cs typeface="Calibri"/>
              </a:rPr>
              <a:t> </a:t>
            </a:r>
            <a:r>
              <a:rPr sz="2600" dirty="0">
                <a:latin typeface="Calibri"/>
                <a:cs typeface="Calibri"/>
              </a:rPr>
              <a:t>materialize</a:t>
            </a:r>
            <a:r>
              <a:rPr sz="2600" spc="114" dirty="0">
                <a:latin typeface="Calibri"/>
                <a:cs typeface="Calibri"/>
              </a:rPr>
              <a:t> </a:t>
            </a:r>
            <a:r>
              <a:rPr sz="2600" dirty="0">
                <a:latin typeface="Calibri"/>
                <a:cs typeface="Calibri"/>
              </a:rPr>
              <a:t>as</a:t>
            </a:r>
            <a:r>
              <a:rPr sz="2600" spc="120" dirty="0">
                <a:latin typeface="Calibri"/>
                <a:cs typeface="Calibri"/>
              </a:rPr>
              <a:t> </a:t>
            </a:r>
            <a:r>
              <a:rPr sz="2600" dirty="0">
                <a:latin typeface="Calibri"/>
                <a:cs typeface="Calibri"/>
              </a:rPr>
              <a:t>planned.</a:t>
            </a:r>
            <a:r>
              <a:rPr sz="2600" spc="130" dirty="0">
                <a:latin typeface="Calibri"/>
                <a:cs typeface="Calibri"/>
              </a:rPr>
              <a:t> </a:t>
            </a:r>
            <a:r>
              <a:rPr sz="2600" dirty="0">
                <a:latin typeface="Calibri"/>
                <a:cs typeface="Calibri"/>
              </a:rPr>
              <a:t>For</a:t>
            </a:r>
            <a:r>
              <a:rPr sz="2600" spc="130" dirty="0">
                <a:latin typeface="Calibri"/>
                <a:cs typeface="Calibri"/>
              </a:rPr>
              <a:t> </a:t>
            </a:r>
            <a:r>
              <a:rPr sz="2600" spc="-20" dirty="0">
                <a:latin typeface="Calibri"/>
                <a:cs typeface="Calibri"/>
              </a:rPr>
              <a:t>this 	</a:t>
            </a:r>
            <a:r>
              <a:rPr sz="2600" dirty="0">
                <a:latin typeface="Calibri"/>
                <a:cs typeface="Calibri"/>
              </a:rPr>
              <a:t>reason,</a:t>
            </a:r>
            <a:r>
              <a:rPr sz="2600" spc="114" dirty="0">
                <a:latin typeface="Calibri"/>
                <a:cs typeface="Calibri"/>
              </a:rPr>
              <a:t> </a:t>
            </a:r>
            <a:r>
              <a:rPr sz="2600" dirty="0">
                <a:latin typeface="Calibri"/>
                <a:cs typeface="Calibri"/>
              </a:rPr>
              <a:t>top</a:t>
            </a:r>
            <a:r>
              <a:rPr sz="2600" spc="114" dirty="0">
                <a:latin typeface="Calibri"/>
                <a:cs typeface="Calibri"/>
              </a:rPr>
              <a:t> </a:t>
            </a:r>
            <a:r>
              <a:rPr sz="2600" dirty="0">
                <a:latin typeface="Calibri"/>
                <a:cs typeface="Calibri"/>
              </a:rPr>
              <a:t>management</a:t>
            </a:r>
            <a:r>
              <a:rPr sz="2600" spc="120" dirty="0">
                <a:latin typeface="Calibri"/>
                <a:cs typeface="Calibri"/>
              </a:rPr>
              <a:t> </a:t>
            </a:r>
            <a:r>
              <a:rPr sz="2600" dirty="0">
                <a:latin typeface="Calibri"/>
                <a:cs typeface="Calibri"/>
              </a:rPr>
              <a:t>needs</a:t>
            </a:r>
            <a:r>
              <a:rPr sz="2600" spc="110" dirty="0">
                <a:latin typeface="Calibri"/>
                <a:cs typeface="Calibri"/>
              </a:rPr>
              <a:t> </a:t>
            </a:r>
            <a:r>
              <a:rPr sz="2600" dirty="0">
                <a:latin typeface="Calibri"/>
                <a:cs typeface="Calibri"/>
              </a:rPr>
              <a:t>to</a:t>
            </a:r>
            <a:r>
              <a:rPr sz="2600" spc="125" dirty="0">
                <a:latin typeface="Calibri"/>
                <a:cs typeface="Calibri"/>
              </a:rPr>
              <a:t> </a:t>
            </a:r>
            <a:r>
              <a:rPr sz="2600" dirty="0">
                <a:latin typeface="Calibri"/>
                <a:cs typeface="Calibri"/>
              </a:rPr>
              <a:t>create</a:t>
            </a:r>
            <a:r>
              <a:rPr sz="2600" spc="110" dirty="0">
                <a:latin typeface="Calibri"/>
                <a:cs typeface="Calibri"/>
              </a:rPr>
              <a:t> </a:t>
            </a:r>
            <a:r>
              <a:rPr sz="2600" dirty="0">
                <a:latin typeface="Calibri"/>
                <a:cs typeface="Calibri"/>
              </a:rPr>
              <a:t>an</a:t>
            </a:r>
            <a:r>
              <a:rPr sz="2600" spc="114" dirty="0">
                <a:latin typeface="Calibri"/>
                <a:cs typeface="Calibri"/>
              </a:rPr>
              <a:t> </a:t>
            </a:r>
            <a:r>
              <a:rPr sz="2600" dirty="0">
                <a:latin typeface="Calibri"/>
                <a:cs typeface="Calibri"/>
              </a:rPr>
              <a:t>extra</a:t>
            </a:r>
            <a:r>
              <a:rPr sz="2600" spc="125" dirty="0">
                <a:latin typeface="Calibri"/>
                <a:cs typeface="Calibri"/>
              </a:rPr>
              <a:t> </a:t>
            </a:r>
            <a:r>
              <a:rPr sz="2600" dirty="0">
                <a:latin typeface="Calibri"/>
                <a:cs typeface="Calibri"/>
              </a:rPr>
              <a:t>fund</a:t>
            </a:r>
            <a:r>
              <a:rPr sz="2600" spc="114" dirty="0">
                <a:latin typeface="Calibri"/>
                <a:cs typeface="Calibri"/>
              </a:rPr>
              <a:t> </a:t>
            </a:r>
            <a:r>
              <a:rPr sz="2600" dirty="0">
                <a:latin typeface="Calibri"/>
                <a:cs typeface="Calibri"/>
              </a:rPr>
              <a:t>for</a:t>
            </a:r>
            <a:r>
              <a:rPr sz="2600" spc="120" dirty="0">
                <a:latin typeface="Calibri"/>
                <a:cs typeface="Calibri"/>
              </a:rPr>
              <a:t> </a:t>
            </a:r>
            <a:r>
              <a:rPr sz="2600" spc="-10" dirty="0">
                <a:latin typeface="Calibri"/>
                <a:cs typeface="Calibri"/>
              </a:rPr>
              <a:t>contingencies 	</a:t>
            </a:r>
            <a:r>
              <a:rPr sz="2600" dirty="0">
                <a:latin typeface="Calibri"/>
                <a:cs typeface="Calibri"/>
              </a:rPr>
              <a:t>that</a:t>
            </a:r>
            <a:r>
              <a:rPr sz="2600" spc="-55" dirty="0">
                <a:latin typeface="Calibri"/>
                <a:cs typeface="Calibri"/>
              </a:rPr>
              <a:t> </a:t>
            </a:r>
            <a:r>
              <a:rPr sz="2600" dirty="0">
                <a:latin typeface="Calibri"/>
                <a:cs typeface="Calibri"/>
              </a:rPr>
              <a:t>can</a:t>
            </a:r>
            <a:r>
              <a:rPr sz="2600" spc="-60" dirty="0">
                <a:latin typeface="Calibri"/>
                <a:cs typeface="Calibri"/>
              </a:rPr>
              <a:t> </a:t>
            </a:r>
            <a:r>
              <a:rPr sz="2600" dirty="0">
                <a:latin typeface="Calibri"/>
                <a:cs typeface="Calibri"/>
              </a:rPr>
              <a:t>be</a:t>
            </a:r>
            <a:r>
              <a:rPr sz="2600" spc="-70" dirty="0">
                <a:latin typeface="Calibri"/>
                <a:cs typeface="Calibri"/>
              </a:rPr>
              <a:t> </a:t>
            </a:r>
            <a:r>
              <a:rPr sz="2600" dirty="0">
                <a:latin typeface="Calibri"/>
                <a:cs typeface="Calibri"/>
              </a:rPr>
              <a:t>used</a:t>
            </a:r>
            <a:r>
              <a:rPr sz="2600" spc="-60" dirty="0">
                <a:latin typeface="Calibri"/>
                <a:cs typeface="Calibri"/>
              </a:rPr>
              <a:t> </a:t>
            </a:r>
            <a:r>
              <a:rPr sz="2600" dirty="0">
                <a:latin typeface="Calibri"/>
                <a:cs typeface="Calibri"/>
              </a:rPr>
              <a:t>to</a:t>
            </a:r>
            <a:r>
              <a:rPr sz="2600" spc="-55" dirty="0">
                <a:latin typeface="Calibri"/>
                <a:cs typeface="Calibri"/>
              </a:rPr>
              <a:t> </a:t>
            </a:r>
            <a:r>
              <a:rPr sz="2600" dirty="0">
                <a:latin typeface="Calibri"/>
                <a:cs typeface="Calibri"/>
              </a:rPr>
              <a:t>cover</a:t>
            </a:r>
            <a:r>
              <a:rPr sz="2600" spc="-55" dirty="0">
                <a:latin typeface="Calibri"/>
                <a:cs typeface="Calibri"/>
              </a:rPr>
              <a:t> </a:t>
            </a:r>
            <a:r>
              <a:rPr sz="2600" spc="-10" dirty="0">
                <a:latin typeface="Calibri"/>
                <a:cs typeface="Calibri"/>
              </a:rPr>
              <a:t>unforeseen</a:t>
            </a:r>
            <a:r>
              <a:rPr sz="2600" spc="-60" dirty="0">
                <a:latin typeface="Calibri"/>
                <a:cs typeface="Calibri"/>
              </a:rPr>
              <a:t> </a:t>
            </a:r>
            <a:r>
              <a:rPr sz="2600" spc="-10" dirty="0">
                <a:latin typeface="Calibri"/>
                <a:cs typeface="Calibri"/>
              </a:rPr>
              <a:t>events.</a:t>
            </a:r>
            <a:endParaRPr sz="2600" dirty="0">
              <a:latin typeface="Calibri"/>
              <a:cs typeface="Calibri"/>
            </a:endParaRPr>
          </a:p>
          <a:p>
            <a:pPr marL="342900" marR="5080" indent="-330835" algn="just">
              <a:lnSpc>
                <a:spcPct val="89700"/>
              </a:lnSpc>
              <a:spcBef>
                <a:spcPts val="1019"/>
              </a:spcBef>
              <a:buAutoNum type="arabicPeriod" startAt="6"/>
              <a:tabLst>
                <a:tab pos="344170" algn="l"/>
              </a:tabLst>
            </a:pPr>
            <a:r>
              <a:rPr sz="2600" b="1" dirty="0">
                <a:latin typeface="Calibri"/>
                <a:cs typeface="Calibri"/>
              </a:rPr>
              <a:t>Adding</a:t>
            </a:r>
            <a:r>
              <a:rPr sz="2600" b="1" spc="45" dirty="0">
                <a:latin typeface="Calibri"/>
                <a:cs typeface="Calibri"/>
              </a:rPr>
              <a:t>  </a:t>
            </a:r>
            <a:r>
              <a:rPr sz="2600" b="1" dirty="0">
                <a:latin typeface="Calibri"/>
                <a:cs typeface="Calibri"/>
              </a:rPr>
              <a:t>risk</a:t>
            </a:r>
            <a:r>
              <a:rPr sz="2600" b="1" spc="50" dirty="0">
                <a:latin typeface="Calibri"/>
                <a:cs typeface="Calibri"/>
              </a:rPr>
              <a:t>  </a:t>
            </a:r>
            <a:r>
              <a:rPr sz="2600" b="1" dirty="0">
                <a:latin typeface="Calibri"/>
                <a:cs typeface="Calibri"/>
              </a:rPr>
              <a:t>assessment</a:t>
            </a:r>
            <a:r>
              <a:rPr sz="2600" b="1" spc="50" dirty="0">
                <a:latin typeface="Calibri"/>
                <a:cs typeface="Calibri"/>
              </a:rPr>
              <a:t>  </a:t>
            </a:r>
            <a:r>
              <a:rPr sz="2600" b="1" dirty="0">
                <a:latin typeface="Calibri"/>
                <a:cs typeface="Calibri"/>
              </a:rPr>
              <a:t>to</a:t>
            </a:r>
            <a:r>
              <a:rPr sz="2600" b="1" spc="50" dirty="0">
                <a:latin typeface="Calibri"/>
                <a:cs typeface="Calibri"/>
              </a:rPr>
              <a:t>  </a:t>
            </a:r>
            <a:r>
              <a:rPr sz="2600" b="1" dirty="0">
                <a:latin typeface="Calibri"/>
                <a:cs typeface="Calibri"/>
              </a:rPr>
              <a:t>the</a:t>
            </a:r>
            <a:r>
              <a:rPr sz="2600" b="1" spc="50" dirty="0">
                <a:latin typeface="Calibri"/>
                <a:cs typeface="Calibri"/>
              </a:rPr>
              <a:t>  </a:t>
            </a:r>
            <a:r>
              <a:rPr sz="2600" b="1" dirty="0">
                <a:latin typeface="Calibri"/>
                <a:cs typeface="Calibri"/>
              </a:rPr>
              <a:t>estimate</a:t>
            </a:r>
            <a:r>
              <a:rPr sz="2600" b="1" spc="50" dirty="0">
                <a:latin typeface="Calibri"/>
                <a:cs typeface="Calibri"/>
              </a:rPr>
              <a:t>  </a:t>
            </a:r>
            <a:r>
              <a:rPr sz="2600" b="1" dirty="0">
                <a:latin typeface="Calibri"/>
                <a:cs typeface="Calibri"/>
              </a:rPr>
              <a:t>helps</a:t>
            </a:r>
            <a:r>
              <a:rPr sz="2600" b="1" spc="45" dirty="0">
                <a:latin typeface="Calibri"/>
                <a:cs typeface="Calibri"/>
              </a:rPr>
              <a:t>  </a:t>
            </a:r>
            <a:r>
              <a:rPr sz="2600" b="1" dirty="0">
                <a:latin typeface="Calibri"/>
                <a:cs typeface="Calibri"/>
              </a:rPr>
              <a:t>to</a:t>
            </a:r>
            <a:r>
              <a:rPr sz="2600" b="1" spc="50" dirty="0">
                <a:latin typeface="Calibri"/>
                <a:cs typeface="Calibri"/>
              </a:rPr>
              <a:t>  </a:t>
            </a:r>
            <a:r>
              <a:rPr sz="2600" b="1" dirty="0">
                <a:latin typeface="Calibri"/>
                <a:cs typeface="Calibri"/>
              </a:rPr>
              <a:t>avoid</a:t>
            </a:r>
            <a:r>
              <a:rPr sz="2600" b="1" spc="50" dirty="0">
                <a:latin typeface="Calibri"/>
                <a:cs typeface="Calibri"/>
              </a:rPr>
              <a:t>  </a:t>
            </a:r>
            <a:r>
              <a:rPr sz="2600" b="1" dirty="0">
                <a:latin typeface="Calibri"/>
                <a:cs typeface="Calibri"/>
              </a:rPr>
              <a:t>surprises</a:t>
            </a:r>
            <a:r>
              <a:rPr sz="2600" b="1" spc="50" dirty="0">
                <a:latin typeface="Calibri"/>
                <a:cs typeface="Calibri"/>
              </a:rPr>
              <a:t>  </a:t>
            </a:r>
            <a:r>
              <a:rPr sz="2600" b="1" spc="-25" dirty="0">
                <a:latin typeface="Calibri"/>
                <a:cs typeface="Calibri"/>
              </a:rPr>
              <a:t>to 	</a:t>
            </a:r>
            <a:r>
              <a:rPr sz="2600" b="1" dirty="0">
                <a:latin typeface="Calibri"/>
                <a:cs typeface="Calibri"/>
              </a:rPr>
              <a:t>stakeholders:</a:t>
            </a:r>
            <a:r>
              <a:rPr sz="2600" b="1" spc="95" dirty="0">
                <a:latin typeface="Calibri"/>
                <a:cs typeface="Calibri"/>
              </a:rPr>
              <a:t> </a:t>
            </a:r>
            <a:r>
              <a:rPr sz="2600" dirty="0">
                <a:solidFill>
                  <a:srgbClr val="262EA4"/>
                </a:solidFill>
                <a:latin typeface="Calibri"/>
                <a:cs typeface="Calibri"/>
              </a:rPr>
              <a:t>Some</a:t>
            </a:r>
            <a:r>
              <a:rPr sz="2600" spc="95" dirty="0">
                <a:solidFill>
                  <a:srgbClr val="262EA4"/>
                </a:solidFill>
                <a:latin typeface="Calibri"/>
                <a:cs typeface="Calibri"/>
              </a:rPr>
              <a:t> </a:t>
            </a:r>
            <a:r>
              <a:rPr sz="2600" dirty="0">
                <a:solidFill>
                  <a:srgbClr val="262EA4"/>
                </a:solidFill>
                <a:latin typeface="Calibri"/>
                <a:cs typeface="Calibri"/>
              </a:rPr>
              <a:t>tasks</a:t>
            </a:r>
            <a:r>
              <a:rPr sz="2600" spc="95" dirty="0">
                <a:solidFill>
                  <a:srgbClr val="262EA4"/>
                </a:solidFill>
                <a:latin typeface="Calibri"/>
                <a:cs typeface="Calibri"/>
              </a:rPr>
              <a:t> </a:t>
            </a:r>
            <a:r>
              <a:rPr sz="2600" dirty="0">
                <a:solidFill>
                  <a:srgbClr val="262EA4"/>
                </a:solidFill>
                <a:latin typeface="Calibri"/>
                <a:cs typeface="Calibri"/>
              </a:rPr>
              <a:t>carry</a:t>
            </a:r>
            <a:r>
              <a:rPr sz="2600" spc="100" dirty="0">
                <a:solidFill>
                  <a:srgbClr val="262EA4"/>
                </a:solidFill>
                <a:latin typeface="Calibri"/>
                <a:cs typeface="Calibri"/>
              </a:rPr>
              <a:t> </a:t>
            </a:r>
            <a:r>
              <a:rPr sz="2600" dirty="0">
                <a:solidFill>
                  <a:srgbClr val="262EA4"/>
                </a:solidFill>
                <a:latin typeface="Calibri"/>
                <a:cs typeface="Calibri"/>
              </a:rPr>
              <a:t>more</a:t>
            </a:r>
            <a:r>
              <a:rPr sz="2600" spc="95" dirty="0">
                <a:solidFill>
                  <a:srgbClr val="262EA4"/>
                </a:solidFill>
                <a:latin typeface="Calibri"/>
                <a:cs typeface="Calibri"/>
              </a:rPr>
              <a:t> </a:t>
            </a:r>
            <a:r>
              <a:rPr sz="2600" dirty="0">
                <a:solidFill>
                  <a:srgbClr val="262EA4"/>
                </a:solidFill>
                <a:latin typeface="Calibri"/>
                <a:cs typeface="Calibri"/>
              </a:rPr>
              <a:t>time</a:t>
            </a:r>
            <a:r>
              <a:rPr sz="2600" spc="95" dirty="0">
                <a:solidFill>
                  <a:srgbClr val="262EA4"/>
                </a:solidFill>
                <a:latin typeface="Calibri"/>
                <a:cs typeface="Calibri"/>
              </a:rPr>
              <a:t> </a:t>
            </a:r>
            <a:r>
              <a:rPr sz="2600" dirty="0">
                <a:solidFill>
                  <a:srgbClr val="262EA4"/>
                </a:solidFill>
                <a:latin typeface="Calibri"/>
                <a:cs typeface="Calibri"/>
              </a:rPr>
              <a:t>and</a:t>
            </a:r>
            <a:r>
              <a:rPr sz="2600" spc="100" dirty="0">
                <a:solidFill>
                  <a:srgbClr val="262EA4"/>
                </a:solidFill>
                <a:latin typeface="Calibri"/>
                <a:cs typeface="Calibri"/>
              </a:rPr>
              <a:t> </a:t>
            </a:r>
            <a:r>
              <a:rPr sz="2600" dirty="0">
                <a:solidFill>
                  <a:srgbClr val="262EA4"/>
                </a:solidFill>
                <a:latin typeface="Calibri"/>
                <a:cs typeface="Calibri"/>
              </a:rPr>
              <a:t>cost</a:t>
            </a:r>
            <a:r>
              <a:rPr sz="2600" spc="105" dirty="0">
                <a:solidFill>
                  <a:srgbClr val="262EA4"/>
                </a:solidFill>
                <a:latin typeface="Calibri"/>
                <a:cs typeface="Calibri"/>
              </a:rPr>
              <a:t> </a:t>
            </a:r>
            <a:r>
              <a:rPr sz="2600" dirty="0">
                <a:solidFill>
                  <a:srgbClr val="262EA4"/>
                </a:solidFill>
                <a:latin typeface="Calibri"/>
                <a:cs typeface="Calibri"/>
              </a:rPr>
              <a:t>risks</a:t>
            </a:r>
            <a:r>
              <a:rPr sz="2600" spc="100" dirty="0">
                <a:solidFill>
                  <a:srgbClr val="262EA4"/>
                </a:solidFill>
                <a:latin typeface="Calibri"/>
                <a:cs typeface="Calibri"/>
              </a:rPr>
              <a:t> </a:t>
            </a:r>
            <a:r>
              <a:rPr sz="2600" dirty="0">
                <a:solidFill>
                  <a:srgbClr val="262EA4"/>
                </a:solidFill>
                <a:latin typeface="Calibri"/>
                <a:cs typeface="Calibri"/>
              </a:rPr>
              <a:t>than</a:t>
            </a:r>
            <a:r>
              <a:rPr sz="2600" spc="100" dirty="0">
                <a:solidFill>
                  <a:srgbClr val="262EA4"/>
                </a:solidFill>
                <a:latin typeface="Calibri"/>
                <a:cs typeface="Calibri"/>
              </a:rPr>
              <a:t> </a:t>
            </a:r>
            <a:r>
              <a:rPr sz="2600" dirty="0">
                <a:solidFill>
                  <a:srgbClr val="262EA4"/>
                </a:solidFill>
                <a:latin typeface="Calibri"/>
                <a:cs typeface="Calibri"/>
              </a:rPr>
              <a:t>others.</a:t>
            </a:r>
            <a:r>
              <a:rPr sz="2600" spc="105" dirty="0">
                <a:solidFill>
                  <a:srgbClr val="262EA4"/>
                </a:solidFill>
                <a:latin typeface="Calibri"/>
                <a:cs typeface="Calibri"/>
              </a:rPr>
              <a:t> </a:t>
            </a:r>
            <a:r>
              <a:rPr sz="2600" spc="-25" dirty="0">
                <a:solidFill>
                  <a:srgbClr val="262EA4"/>
                </a:solidFill>
                <a:latin typeface="Calibri"/>
                <a:cs typeface="Calibri"/>
              </a:rPr>
              <a:t>For 	</a:t>
            </a:r>
            <a:r>
              <a:rPr sz="2600" dirty="0">
                <a:solidFill>
                  <a:srgbClr val="262EA4"/>
                </a:solidFill>
                <a:latin typeface="Calibri"/>
                <a:cs typeface="Calibri"/>
              </a:rPr>
              <a:t>example,</a:t>
            </a:r>
            <a:r>
              <a:rPr sz="2600" spc="-10" dirty="0">
                <a:solidFill>
                  <a:srgbClr val="262EA4"/>
                </a:solidFill>
                <a:latin typeface="Calibri"/>
                <a:cs typeface="Calibri"/>
              </a:rPr>
              <a:t> </a:t>
            </a:r>
            <a:r>
              <a:rPr sz="2600" dirty="0">
                <a:solidFill>
                  <a:srgbClr val="262EA4"/>
                </a:solidFill>
                <a:latin typeface="Calibri"/>
                <a:cs typeface="Calibri"/>
              </a:rPr>
              <a:t>a</a:t>
            </a:r>
            <a:r>
              <a:rPr sz="2600" spc="-5" dirty="0">
                <a:solidFill>
                  <a:srgbClr val="262EA4"/>
                </a:solidFill>
                <a:latin typeface="Calibri"/>
                <a:cs typeface="Calibri"/>
              </a:rPr>
              <a:t> </a:t>
            </a:r>
            <a:r>
              <a:rPr sz="2600" dirty="0">
                <a:solidFill>
                  <a:srgbClr val="262EA4"/>
                </a:solidFill>
                <a:latin typeface="Calibri"/>
                <a:cs typeface="Calibri"/>
              </a:rPr>
              <a:t>new</a:t>
            </a:r>
            <a:r>
              <a:rPr sz="2600" spc="-5" dirty="0">
                <a:solidFill>
                  <a:srgbClr val="262EA4"/>
                </a:solidFill>
                <a:latin typeface="Calibri"/>
                <a:cs typeface="Calibri"/>
              </a:rPr>
              <a:t> </a:t>
            </a:r>
            <a:r>
              <a:rPr sz="2600" dirty="0">
                <a:solidFill>
                  <a:srgbClr val="262EA4"/>
                </a:solidFill>
                <a:latin typeface="Calibri"/>
                <a:cs typeface="Calibri"/>
              </a:rPr>
              <a:t>technology</a:t>
            </a:r>
            <a:r>
              <a:rPr sz="2600" spc="-5" dirty="0">
                <a:solidFill>
                  <a:srgbClr val="262EA4"/>
                </a:solidFill>
                <a:latin typeface="Calibri"/>
                <a:cs typeface="Calibri"/>
              </a:rPr>
              <a:t> </a:t>
            </a:r>
            <a:r>
              <a:rPr sz="2600" dirty="0">
                <a:solidFill>
                  <a:srgbClr val="262EA4"/>
                </a:solidFill>
                <a:latin typeface="Calibri"/>
                <a:cs typeface="Calibri"/>
              </a:rPr>
              <a:t>usually</a:t>
            </a:r>
            <a:r>
              <a:rPr sz="2600" spc="-10" dirty="0">
                <a:solidFill>
                  <a:srgbClr val="262EA4"/>
                </a:solidFill>
                <a:latin typeface="Calibri"/>
                <a:cs typeface="Calibri"/>
              </a:rPr>
              <a:t> </a:t>
            </a:r>
            <a:r>
              <a:rPr sz="2600" dirty="0">
                <a:solidFill>
                  <a:srgbClr val="262EA4"/>
                </a:solidFill>
                <a:latin typeface="Calibri"/>
                <a:cs typeface="Calibri"/>
              </a:rPr>
              <a:t>carries</a:t>
            </a:r>
            <a:r>
              <a:rPr sz="2600" spc="-10" dirty="0">
                <a:solidFill>
                  <a:srgbClr val="262EA4"/>
                </a:solidFill>
                <a:latin typeface="Calibri"/>
                <a:cs typeface="Calibri"/>
              </a:rPr>
              <a:t> </a:t>
            </a:r>
            <a:r>
              <a:rPr sz="2600" dirty="0">
                <a:solidFill>
                  <a:srgbClr val="262EA4"/>
                </a:solidFill>
                <a:latin typeface="Calibri"/>
                <a:cs typeface="Calibri"/>
              </a:rPr>
              <a:t>more</a:t>
            </a:r>
            <a:r>
              <a:rPr sz="2600" spc="-15" dirty="0">
                <a:solidFill>
                  <a:srgbClr val="262EA4"/>
                </a:solidFill>
                <a:latin typeface="Calibri"/>
                <a:cs typeface="Calibri"/>
              </a:rPr>
              <a:t> </a:t>
            </a:r>
            <a:r>
              <a:rPr sz="2600" dirty="0">
                <a:solidFill>
                  <a:srgbClr val="262EA4"/>
                </a:solidFill>
                <a:latin typeface="Calibri"/>
                <a:cs typeface="Calibri"/>
              </a:rPr>
              <a:t>time</a:t>
            </a:r>
            <a:r>
              <a:rPr sz="2600" spc="-10" dirty="0">
                <a:solidFill>
                  <a:srgbClr val="262EA4"/>
                </a:solidFill>
                <a:latin typeface="Calibri"/>
                <a:cs typeface="Calibri"/>
              </a:rPr>
              <a:t> </a:t>
            </a:r>
            <a:r>
              <a:rPr sz="2600" dirty="0">
                <a:solidFill>
                  <a:srgbClr val="262EA4"/>
                </a:solidFill>
                <a:latin typeface="Calibri"/>
                <a:cs typeface="Calibri"/>
              </a:rPr>
              <a:t>and</a:t>
            </a:r>
            <a:r>
              <a:rPr sz="2600" spc="-10" dirty="0">
                <a:solidFill>
                  <a:srgbClr val="262EA4"/>
                </a:solidFill>
                <a:latin typeface="Calibri"/>
                <a:cs typeface="Calibri"/>
              </a:rPr>
              <a:t> </a:t>
            </a:r>
            <a:r>
              <a:rPr sz="2600" dirty="0">
                <a:solidFill>
                  <a:srgbClr val="262EA4"/>
                </a:solidFill>
                <a:latin typeface="Calibri"/>
                <a:cs typeface="Calibri"/>
              </a:rPr>
              <a:t>cost</a:t>
            </a:r>
            <a:r>
              <a:rPr sz="2600" spc="-5" dirty="0">
                <a:solidFill>
                  <a:srgbClr val="262EA4"/>
                </a:solidFill>
                <a:latin typeface="Calibri"/>
                <a:cs typeface="Calibri"/>
              </a:rPr>
              <a:t> </a:t>
            </a:r>
            <a:r>
              <a:rPr sz="2600" dirty="0">
                <a:solidFill>
                  <a:srgbClr val="262EA4"/>
                </a:solidFill>
                <a:latin typeface="Calibri"/>
                <a:cs typeface="Calibri"/>
              </a:rPr>
              <a:t>risks</a:t>
            </a:r>
            <a:r>
              <a:rPr sz="2600" spc="-10" dirty="0">
                <a:solidFill>
                  <a:srgbClr val="262EA4"/>
                </a:solidFill>
                <a:latin typeface="Calibri"/>
                <a:cs typeface="Calibri"/>
              </a:rPr>
              <a:t> </a:t>
            </a:r>
            <a:r>
              <a:rPr sz="2600" dirty="0">
                <a:solidFill>
                  <a:srgbClr val="262EA4"/>
                </a:solidFill>
                <a:latin typeface="Calibri"/>
                <a:cs typeface="Calibri"/>
              </a:rPr>
              <a:t>than</a:t>
            </a:r>
            <a:r>
              <a:rPr sz="2600" spc="-5" dirty="0">
                <a:solidFill>
                  <a:srgbClr val="262EA4"/>
                </a:solidFill>
                <a:latin typeface="Calibri"/>
                <a:cs typeface="Calibri"/>
              </a:rPr>
              <a:t> </a:t>
            </a:r>
            <a:r>
              <a:rPr sz="2600" spc="-50" dirty="0">
                <a:solidFill>
                  <a:srgbClr val="262EA4"/>
                </a:solidFill>
                <a:latin typeface="Calibri"/>
                <a:cs typeface="Calibri"/>
              </a:rPr>
              <a:t>a 	</a:t>
            </a:r>
            <a:r>
              <a:rPr sz="2600" dirty="0">
                <a:solidFill>
                  <a:srgbClr val="262EA4"/>
                </a:solidFill>
                <a:latin typeface="Calibri"/>
                <a:cs typeface="Calibri"/>
              </a:rPr>
              <a:t>proven</a:t>
            </a:r>
            <a:r>
              <a:rPr sz="2600" spc="515" dirty="0">
                <a:solidFill>
                  <a:srgbClr val="262EA4"/>
                </a:solidFill>
                <a:latin typeface="Calibri"/>
                <a:cs typeface="Calibri"/>
              </a:rPr>
              <a:t> </a:t>
            </a:r>
            <a:r>
              <a:rPr sz="2600" dirty="0">
                <a:solidFill>
                  <a:srgbClr val="262EA4"/>
                </a:solidFill>
                <a:latin typeface="Calibri"/>
                <a:cs typeface="Calibri"/>
              </a:rPr>
              <a:t>process.</a:t>
            </a:r>
            <a:r>
              <a:rPr sz="2600" spc="530" dirty="0">
                <a:solidFill>
                  <a:srgbClr val="262EA4"/>
                </a:solidFill>
                <a:latin typeface="Calibri"/>
                <a:cs typeface="Calibri"/>
              </a:rPr>
              <a:t> </a:t>
            </a:r>
            <a:r>
              <a:rPr sz="2600" dirty="0">
                <a:solidFill>
                  <a:srgbClr val="262EA4"/>
                </a:solidFill>
                <a:latin typeface="Calibri"/>
                <a:cs typeface="Calibri"/>
              </a:rPr>
              <a:t>Simply</a:t>
            </a:r>
            <a:r>
              <a:rPr sz="2600" spc="525" dirty="0">
                <a:solidFill>
                  <a:srgbClr val="262EA4"/>
                </a:solidFill>
                <a:latin typeface="Calibri"/>
                <a:cs typeface="Calibri"/>
              </a:rPr>
              <a:t> </a:t>
            </a:r>
            <a:r>
              <a:rPr sz="2600" dirty="0">
                <a:solidFill>
                  <a:srgbClr val="262EA4"/>
                </a:solidFill>
                <a:latin typeface="Calibri"/>
                <a:cs typeface="Calibri"/>
              </a:rPr>
              <a:t>identifying</a:t>
            </a:r>
            <a:r>
              <a:rPr sz="2600" spc="525" dirty="0">
                <a:solidFill>
                  <a:srgbClr val="262EA4"/>
                </a:solidFill>
                <a:latin typeface="Calibri"/>
                <a:cs typeface="Calibri"/>
              </a:rPr>
              <a:t> </a:t>
            </a:r>
            <a:r>
              <a:rPr sz="2600" dirty="0">
                <a:solidFill>
                  <a:srgbClr val="262EA4"/>
                </a:solidFill>
                <a:latin typeface="Calibri"/>
                <a:cs typeface="Calibri"/>
              </a:rPr>
              <a:t>the</a:t>
            </a:r>
            <a:r>
              <a:rPr sz="2600" spc="515" dirty="0">
                <a:solidFill>
                  <a:srgbClr val="262EA4"/>
                </a:solidFill>
                <a:latin typeface="Calibri"/>
                <a:cs typeface="Calibri"/>
              </a:rPr>
              <a:t> </a:t>
            </a:r>
            <a:r>
              <a:rPr sz="2600" dirty="0">
                <a:solidFill>
                  <a:srgbClr val="262EA4"/>
                </a:solidFill>
                <a:latin typeface="Calibri"/>
                <a:cs typeface="Calibri"/>
              </a:rPr>
              <a:t>degree</a:t>
            </a:r>
            <a:r>
              <a:rPr sz="2600" spc="515" dirty="0">
                <a:solidFill>
                  <a:srgbClr val="262EA4"/>
                </a:solidFill>
                <a:latin typeface="Calibri"/>
                <a:cs typeface="Calibri"/>
              </a:rPr>
              <a:t> </a:t>
            </a:r>
            <a:r>
              <a:rPr sz="2600" dirty="0">
                <a:solidFill>
                  <a:srgbClr val="262EA4"/>
                </a:solidFill>
                <a:latin typeface="Calibri"/>
                <a:cs typeface="Calibri"/>
              </a:rPr>
              <a:t>of</a:t>
            </a:r>
            <a:r>
              <a:rPr sz="2600" spc="520" dirty="0">
                <a:solidFill>
                  <a:srgbClr val="262EA4"/>
                </a:solidFill>
                <a:latin typeface="Calibri"/>
                <a:cs typeface="Calibri"/>
              </a:rPr>
              <a:t> </a:t>
            </a:r>
            <a:r>
              <a:rPr sz="2600" dirty="0">
                <a:solidFill>
                  <a:srgbClr val="262EA4"/>
                </a:solidFill>
                <a:latin typeface="Calibri"/>
                <a:cs typeface="Calibri"/>
              </a:rPr>
              <a:t>risk</a:t>
            </a:r>
            <a:r>
              <a:rPr sz="2600" spc="525" dirty="0">
                <a:solidFill>
                  <a:srgbClr val="262EA4"/>
                </a:solidFill>
                <a:latin typeface="Calibri"/>
                <a:cs typeface="Calibri"/>
              </a:rPr>
              <a:t> </a:t>
            </a:r>
            <a:r>
              <a:rPr sz="2600" dirty="0">
                <a:solidFill>
                  <a:srgbClr val="262EA4"/>
                </a:solidFill>
                <a:latin typeface="Calibri"/>
                <a:cs typeface="Calibri"/>
              </a:rPr>
              <a:t>lets</a:t>
            </a:r>
            <a:r>
              <a:rPr sz="2600" spc="515" dirty="0">
                <a:solidFill>
                  <a:srgbClr val="262EA4"/>
                </a:solidFill>
                <a:latin typeface="Calibri"/>
                <a:cs typeface="Calibri"/>
              </a:rPr>
              <a:t> </a:t>
            </a:r>
            <a:r>
              <a:rPr sz="2600" spc="-10" dirty="0">
                <a:solidFill>
                  <a:srgbClr val="262EA4"/>
                </a:solidFill>
                <a:latin typeface="Calibri"/>
                <a:cs typeface="Calibri"/>
              </a:rPr>
              <a:t>stakeholders 	</a:t>
            </a:r>
            <a:r>
              <a:rPr sz="2600" dirty="0">
                <a:solidFill>
                  <a:srgbClr val="262EA4"/>
                </a:solidFill>
                <a:latin typeface="Calibri"/>
                <a:cs typeface="Calibri"/>
              </a:rPr>
              <a:t>consider</a:t>
            </a:r>
            <a:r>
              <a:rPr sz="2600" spc="204" dirty="0">
                <a:solidFill>
                  <a:srgbClr val="262EA4"/>
                </a:solidFill>
                <a:latin typeface="Calibri"/>
                <a:cs typeface="Calibri"/>
              </a:rPr>
              <a:t>  </a:t>
            </a:r>
            <a:r>
              <a:rPr sz="2600" dirty="0">
                <a:solidFill>
                  <a:srgbClr val="262EA4"/>
                </a:solidFill>
                <a:latin typeface="Calibri"/>
                <a:cs typeface="Calibri"/>
              </a:rPr>
              <a:t>alternative</a:t>
            </a:r>
            <a:r>
              <a:rPr sz="2600" spc="200" dirty="0">
                <a:solidFill>
                  <a:srgbClr val="262EA4"/>
                </a:solidFill>
                <a:latin typeface="Calibri"/>
                <a:cs typeface="Calibri"/>
              </a:rPr>
              <a:t>  </a:t>
            </a:r>
            <a:r>
              <a:rPr sz="2600" dirty="0">
                <a:solidFill>
                  <a:srgbClr val="262EA4"/>
                </a:solidFill>
                <a:latin typeface="Calibri"/>
                <a:cs typeface="Calibri"/>
              </a:rPr>
              <a:t>methods</a:t>
            </a:r>
            <a:r>
              <a:rPr sz="2600" spc="200" dirty="0">
                <a:solidFill>
                  <a:srgbClr val="262EA4"/>
                </a:solidFill>
                <a:latin typeface="Calibri"/>
                <a:cs typeface="Calibri"/>
              </a:rPr>
              <a:t>  </a:t>
            </a:r>
            <a:r>
              <a:rPr sz="2600" dirty="0">
                <a:solidFill>
                  <a:srgbClr val="262EA4"/>
                </a:solidFill>
                <a:latin typeface="Calibri"/>
                <a:cs typeface="Calibri"/>
              </a:rPr>
              <a:t>and</a:t>
            </a:r>
            <a:r>
              <a:rPr sz="2600" spc="200" dirty="0">
                <a:solidFill>
                  <a:srgbClr val="262EA4"/>
                </a:solidFill>
                <a:latin typeface="Calibri"/>
                <a:cs typeface="Calibri"/>
              </a:rPr>
              <a:t>  </a:t>
            </a:r>
            <a:r>
              <a:rPr sz="2600" dirty="0">
                <a:solidFill>
                  <a:srgbClr val="262EA4"/>
                </a:solidFill>
                <a:latin typeface="Calibri"/>
                <a:cs typeface="Calibri"/>
              </a:rPr>
              <a:t>alter</a:t>
            </a:r>
            <a:r>
              <a:rPr sz="2600" spc="204" dirty="0">
                <a:solidFill>
                  <a:srgbClr val="262EA4"/>
                </a:solidFill>
                <a:latin typeface="Calibri"/>
                <a:cs typeface="Calibri"/>
              </a:rPr>
              <a:t>  </a:t>
            </a:r>
            <a:r>
              <a:rPr sz="2600" dirty="0">
                <a:solidFill>
                  <a:srgbClr val="262EA4"/>
                </a:solidFill>
                <a:latin typeface="Calibri"/>
                <a:cs typeface="Calibri"/>
              </a:rPr>
              <a:t>process</a:t>
            </a:r>
            <a:r>
              <a:rPr sz="2600" spc="200" dirty="0">
                <a:solidFill>
                  <a:srgbClr val="262EA4"/>
                </a:solidFill>
                <a:latin typeface="Calibri"/>
                <a:cs typeface="Calibri"/>
              </a:rPr>
              <a:t>  </a:t>
            </a:r>
            <a:r>
              <a:rPr sz="2600" dirty="0">
                <a:solidFill>
                  <a:srgbClr val="262EA4"/>
                </a:solidFill>
                <a:latin typeface="Calibri"/>
                <a:cs typeface="Calibri"/>
              </a:rPr>
              <a:t>decisions.</a:t>
            </a:r>
            <a:r>
              <a:rPr sz="2600" spc="210" dirty="0">
                <a:solidFill>
                  <a:srgbClr val="262EA4"/>
                </a:solidFill>
                <a:latin typeface="Calibri"/>
                <a:cs typeface="Calibri"/>
              </a:rPr>
              <a:t>  </a:t>
            </a:r>
            <a:r>
              <a:rPr sz="2600" dirty="0">
                <a:solidFill>
                  <a:srgbClr val="262EA4"/>
                </a:solidFill>
                <a:latin typeface="Calibri"/>
                <a:cs typeface="Calibri"/>
              </a:rPr>
              <a:t>A</a:t>
            </a:r>
            <a:r>
              <a:rPr sz="2600" spc="200" dirty="0">
                <a:solidFill>
                  <a:srgbClr val="262EA4"/>
                </a:solidFill>
                <a:latin typeface="Calibri"/>
                <a:cs typeface="Calibri"/>
              </a:rPr>
              <a:t>  </a:t>
            </a:r>
            <a:r>
              <a:rPr sz="2600" spc="-10" dirty="0">
                <a:solidFill>
                  <a:srgbClr val="262EA4"/>
                </a:solidFill>
                <a:latin typeface="Calibri"/>
                <a:cs typeface="Calibri"/>
              </a:rPr>
              <a:t>simple 	</a:t>
            </a:r>
            <a:r>
              <a:rPr sz="2600" dirty="0">
                <a:solidFill>
                  <a:srgbClr val="262EA4"/>
                </a:solidFill>
                <a:latin typeface="Calibri"/>
                <a:cs typeface="Calibri"/>
              </a:rPr>
              <a:t>breakdown</a:t>
            </a:r>
            <a:r>
              <a:rPr sz="2600" spc="170" dirty="0">
                <a:solidFill>
                  <a:srgbClr val="262EA4"/>
                </a:solidFill>
                <a:latin typeface="Calibri"/>
                <a:cs typeface="Calibri"/>
              </a:rPr>
              <a:t> </a:t>
            </a:r>
            <a:r>
              <a:rPr sz="2600" dirty="0">
                <a:solidFill>
                  <a:srgbClr val="262EA4"/>
                </a:solidFill>
                <a:latin typeface="Calibri"/>
                <a:cs typeface="Calibri"/>
              </a:rPr>
              <a:t>by</a:t>
            </a:r>
            <a:r>
              <a:rPr sz="2600" spc="170" dirty="0">
                <a:solidFill>
                  <a:srgbClr val="262EA4"/>
                </a:solidFill>
                <a:latin typeface="Calibri"/>
                <a:cs typeface="Calibri"/>
              </a:rPr>
              <a:t> </a:t>
            </a:r>
            <a:r>
              <a:rPr sz="2600" dirty="0">
                <a:solidFill>
                  <a:srgbClr val="262EA4"/>
                </a:solidFill>
                <a:latin typeface="Calibri"/>
                <a:cs typeface="Calibri"/>
              </a:rPr>
              <a:t>optimistic,</a:t>
            </a:r>
            <a:r>
              <a:rPr sz="2600" spc="170" dirty="0">
                <a:solidFill>
                  <a:srgbClr val="262EA4"/>
                </a:solidFill>
                <a:latin typeface="Calibri"/>
                <a:cs typeface="Calibri"/>
              </a:rPr>
              <a:t> </a:t>
            </a:r>
            <a:r>
              <a:rPr sz="2600" dirty="0">
                <a:solidFill>
                  <a:srgbClr val="262EA4"/>
                </a:solidFill>
                <a:latin typeface="Calibri"/>
                <a:cs typeface="Calibri"/>
              </a:rPr>
              <a:t>most</a:t>
            </a:r>
            <a:r>
              <a:rPr sz="2600" spc="175" dirty="0">
                <a:solidFill>
                  <a:srgbClr val="262EA4"/>
                </a:solidFill>
                <a:latin typeface="Calibri"/>
                <a:cs typeface="Calibri"/>
              </a:rPr>
              <a:t> </a:t>
            </a:r>
            <a:r>
              <a:rPr sz="2600" dirty="0">
                <a:solidFill>
                  <a:srgbClr val="262EA4"/>
                </a:solidFill>
                <a:latin typeface="Calibri"/>
                <a:cs typeface="Calibri"/>
              </a:rPr>
              <a:t>likely,</a:t>
            </a:r>
            <a:r>
              <a:rPr sz="2600" spc="165" dirty="0">
                <a:solidFill>
                  <a:srgbClr val="262EA4"/>
                </a:solidFill>
                <a:latin typeface="Calibri"/>
                <a:cs typeface="Calibri"/>
              </a:rPr>
              <a:t> </a:t>
            </a:r>
            <a:r>
              <a:rPr sz="2600" dirty="0">
                <a:solidFill>
                  <a:srgbClr val="262EA4"/>
                </a:solidFill>
                <a:latin typeface="Calibri"/>
                <a:cs typeface="Calibri"/>
              </a:rPr>
              <a:t>and</a:t>
            </a:r>
            <a:r>
              <a:rPr sz="2600" spc="170" dirty="0">
                <a:solidFill>
                  <a:srgbClr val="262EA4"/>
                </a:solidFill>
                <a:latin typeface="Calibri"/>
                <a:cs typeface="Calibri"/>
              </a:rPr>
              <a:t> </a:t>
            </a:r>
            <a:r>
              <a:rPr sz="2600" dirty="0">
                <a:solidFill>
                  <a:srgbClr val="262EA4"/>
                </a:solidFill>
                <a:latin typeface="Calibri"/>
                <a:cs typeface="Calibri"/>
              </a:rPr>
              <a:t>pessimistic</a:t>
            </a:r>
            <a:r>
              <a:rPr sz="2600" spc="175" dirty="0">
                <a:solidFill>
                  <a:srgbClr val="262EA4"/>
                </a:solidFill>
                <a:latin typeface="Calibri"/>
                <a:cs typeface="Calibri"/>
              </a:rPr>
              <a:t> </a:t>
            </a:r>
            <a:r>
              <a:rPr sz="2600" dirty="0">
                <a:solidFill>
                  <a:srgbClr val="262EA4"/>
                </a:solidFill>
                <a:latin typeface="Calibri"/>
                <a:cs typeface="Calibri"/>
              </a:rPr>
              <a:t>for</a:t>
            </a:r>
            <a:r>
              <a:rPr sz="2600" spc="180" dirty="0">
                <a:solidFill>
                  <a:srgbClr val="262EA4"/>
                </a:solidFill>
                <a:latin typeface="Calibri"/>
                <a:cs typeface="Calibri"/>
              </a:rPr>
              <a:t> </a:t>
            </a:r>
            <a:r>
              <a:rPr sz="2600" dirty="0">
                <a:solidFill>
                  <a:srgbClr val="262EA4"/>
                </a:solidFill>
                <a:latin typeface="Calibri"/>
                <a:cs typeface="Calibri"/>
              </a:rPr>
              <a:t>task</a:t>
            </a:r>
            <a:r>
              <a:rPr sz="2600" spc="180" dirty="0">
                <a:solidFill>
                  <a:srgbClr val="262EA4"/>
                </a:solidFill>
                <a:latin typeface="Calibri"/>
                <a:cs typeface="Calibri"/>
              </a:rPr>
              <a:t> </a:t>
            </a:r>
            <a:r>
              <a:rPr sz="2600" dirty="0">
                <a:solidFill>
                  <a:srgbClr val="262EA4"/>
                </a:solidFill>
                <a:latin typeface="Calibri"/>
                <a:cs typeface="Calibri"/>
              </a:rPr>
              <a:t>time</a:t>
            </a:r>
            <a:r>
              <a:rPr sz="2600" spc="165" dirty="0">
                <a:solidFill>
                  <a:srgbClr val="262EA4"/>
                </a:solidFill>
                <a:latin typeface="Calibri"/>
                <a:cs typeface="Calibri"/>
              </a:rPr>
              <a:t> </a:t>
            </a:r>
            <a:r>
              <a:rPr sz="2600" spc="-10" dirty="0">
                <a:solidFill>
                  <a:srgbClr val="262EA4"/>
                </a:solidFill>
                <a:latin typeface="Calibri"/>
                <a:cs typeface="Calibri"/>
              </a:rPr>
              <a:t>could 	</a:t>
            </a:r>
            <a:r>
              <a:rPr sz="2600" dirty="0">
                <a:solidFill>
                  <a:srgbClr val="262EA4"/>
                </a:solidFill>
                <a:latin typeface="Calibri"/>
                <a:cs typeface="Calibri"/>
              </a:rPr>
              <a:t>provide</a:t>
            </a:r>
            <a:r>
              <a:rPr sz="2600" spc="-95" dirty="0">
                <a:solidFill>
                  <a:srgbClr val="262EA4"/>
                </a:solidFill>
                <a:latin typeface="Calibri"/>
                <a:cs typeface="Calibri"/>
              </a:rPr>
              <a:t> </a:t>
            </a:r>
            <a:r>
              <a:rPr sz="2600" dirty="0">
                <a:solidFill>
                  <a:srgbClr val="262EA4"/>
                </a:solidFill>
                <a:latin typeface="Calibri"/>
                <a:cs typeface="Calibri"/>
              </a:rPr>
              <a:t>valuable</a:t>
            </a:r>
            <a:r>
              <a:rPr sz="2600" spc="-90" dirty="0">
                <a:solidFill>
                  <a:srgbClr val="262EA4"/>
                </a:solidFill>
                <a:latin typeface="Calibri"/>
                <a:cs typeface="Calibri"/>
              </a:rPr>
              <a:t> </a:t>
            </a:r>
            <a:r>
              <a:rPr sz="2600" spc="-10" dirty="0">
                <a:solidFill>
                  <a:srgbClr val="262EA4"/>
                </a:solidFill>
                <a:latin typeface="Calibri"/>
                <a:cs typeface="Calibri"/>
              </a:rPr>
              <a:t>information</a:t>
            </a:r>
            <a:r>
              <a:rPr sz="2600" spc="-85" dirty="0">
                <a:solidFill>
                  <a:srgbClr val="262EA4"/>
                </a:solidFill>
                <a:latin typeface="Calibri"/>
                <a:cs typeface="Calibri"/>
              </a:rPr>
              <a:t> </a:t>
            </a:r>
            <a:r>
              <a:rPr sz="2600" spc="-10" dirty="0">
                <a:solidFill>
                  <a:srgbClr val="262EA4"/>
                </a:solidFill>
                <a:latin typeface="Calibri"/>
                <a:cs typeface="Calibri"/>
              </a:rPr>
              <a:t>regarding</a:t>
            </a:r>
            <a:r>
              <a:rPr sz="2600" spc="-80" dirty="0">
                <a:solidFill>
                  <a:srgbClr val="262EA4"/>
                </a:solidFill>
                <a:latin typeface="Calibri"/>
                <a:cs typeface="Calibri"/>
              </a:rPr>
              <a:t> </a:t>
            </a:r>
            <a:r>
              <a:rPr sz="2600" dirty="0">
                <a:solidFill>
                  <a:srgbClr val="262EA4"/>
                </a:solidFill>
                <a:latin typeface="Calibri"/>
                <a:cs typeface="Calibri"/>
              </a:rPr>
              <a:t>time</a:t>
            </a:r>
            <a:r>
              <a:rPr sz="2600" spc="-90" dirty="0">
                <a:solidFill>
                  <a:srgbClr val="262EA4"/>
                </a:solidFill>
                <a:latin typeface="Calibri"/>
                <a:cs typeface="Calibri"/>
              </a:rPr>
              <a:t> </a:t>
            </a:r>
            <a:r>
              <a:rPr sz="2600" dirty="0">
                <a:solidFill>
                  <a:srgbClr val="262EA4"/>
                </a:solidFill>
                <a:latin typeface="Calibri"/>
                <a:cs typeface="Calibri"/>
              </a:rPr>
              <a:t>and</a:t>
            </a:r>
            <a:r>
              <a:rPr sz="2600" spc="-80" dirty="0">
                <a:solidFill>
                  <a:srgbClr val="262EA4"/>
                </a:solidFill>
                <a:latin typeface="Calibri"/>
                <a:cs typeface="Calibri"/>
              </a:rPr>
              <a:t> </a:t>
            </a:r>
            <a:r>
              <a:rPr sz="2600" spc="-10" dirty="0">
                <a:solidFill>
                  <a:srgbClr val="262EA4"/>
                </a:solidFill>
                <a:latin typeface="Calibri"/>
                <a:cs typeface="Calibri"/>
              </a:rPr>
              <a:t>cost.</a:t>
            </a:r>
            <a:endParaRPr sz="2600" dirty="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9</a:t>
            </a:fld>
            <a:endParaRPr spc="-50" dirty="0"/>
          </a:p>
        </p:txBody>
      </p:sp>
      <p:sp>
        <p:nvSpPr>
          <p:cNvPr id="3" name="object 3"/>
          <p:cNvSpPr txBox="1">
            <a:spLocks noGrp="1"/>
          </p:cNvSpPr>
          <p:nvPr>
            <p:ph type="title"/>
          </p:nvPr>
        </p:nvSpPr>
        <p:spPr>
          <a:xfrm>
            <a:off x="228600" y="681150"/>
            <a:ext cx="12189462" cy="748446"/>
          </a:xfrm>
          <a:prstGeom prst="rect">
            <a:avLst/>
          </a:prstGeom>
        </p:spPr>
        <p:txBody>
          <a:bodyPr vert="horz" wrap="square" lIns="0" tIns="85888" rIns="0" bIns="0" rtlCol="0">
            <a:spAutoFit/>
          </a:bodyPr>
          <a:lstStyle/>
          <a:p>
            <a:pPr marL="12700">
              <a:lnSpc>
                <a:spcPct val="100000"/>
              </a:lnSpc>
              <a:spcBef>
                <a:spcPts val="130"/>
              </a:spcBef>
            </a:pPr>
            <a:r>
              <a:rPr b="1" u="sng" spc="95" dirty="0">
                <a:solidFill>
                  <a:srgbClr val="FF0000"/>
                </a:solidFill>
              </a:rPr>
              <a:t>Estimating Guidelines for Times, Costs &amp; Resources </a:t>
            </a:r>
            <a:r>
              <a:rPr sz="1750" spc="-10" dirty="0"/>
              <a:t>(3/3)</a:t>
            </a:r>
            <a:endParaRPr sz="1750" dirty="0"/>
          </a:p>
        </p:txBody>
      </p:sp>
      <p:pic>
        <p:nvPicPr>
          <p:cNvPr id="5" name="Picture 4">
            <a:extLst>
              <a:ext uri="{FF2B5EF4-FFF2-40B4-BE49-F238E27FC236}">
                <a16:creationId xmlns:a16="http://schemas.microsoft.com/office/drawing/2014/main" id="{3C51E9CF-8536-0A87-FA66-1B0E3D6F217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6A463-9732-01CF-971E-888388C2640D}"/>
              </a:ext>
            </a:extLst>
          </p:cNvPr>
          <p:cNvSpPr>
            <a:spLocks noGrp="1"/>
          </p:cNvSpPr>
          <p:nvPr>
            <p:ph type="title"/>
          </p:nvPr>
        </p:nvSpPr>
        <p:spPr/>
        <p:txBody>
          <a:bodyPr/>
          <a:lstStyle/>
          <a:p>
            <a:r>
              <a:rPr lang="en-US" dirty="0"/>
              <a:t>How to do top-down estimating ?</a:t>
            </a:r>
          </a:p>
        </p:txBody>
      </p:sp>
      <p:sp>
        <p:nvSpPr>
          <p:cNvPr id="3" name="Text Placeholder 2">
            <a:extLst>
              <a:ext uri="{FF2B5EF4-FFF2-40B4-BE49-F238E27FC236}">
                <a16:creationId xmlns:a16="http://schemas.microsoft.com/office/drawing/2014/main" id="{63A24B0E-8658-FAA6-ECA6-292B0F9A0B78}"/>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D937390D-E9A1-E2C3-D149-0781A5555A45}"/>
              </a:ext>
            </a:extLst>
          </p:cNvPr>
          <p:cNvPicPr>
            <a:picLocks noChangeAspect="1"/>
          </p:cNvPicPr>
          <p:nvPr/>
        </p:nvPicPr>
        <p:blipFill>
          <a:blip r:embed="rId3"/>
          <a:stretch>
            <a:fillRect/>
          </a:stretch>
        </p:blipFill>
        <p:spPr>
          <a:xfrm>
            <a:off x="1515187" y="1583250"/>
            <a:ext cx="9616281" cy="4824608"/>
          </a:xfrm>
          <a:prstGeom prst="rect">
            <a:avLst/>
          </a:prstGeom>
        </p:spPr>
      </p:pic>
      <p:pic>
        <p:nvPicPr>
          <p:cNvPr id="6" name="Picture 5">
            <a:extLst>
              <a:ext uri="{FF2B5EF4-FFF2-40B4-BE49-F238E27FC236}">
                <a16:creationId xmlns:a16="http://schemas.microsoft.com/office/drawing/2014/main" id="{67653E00-425F-ED2D-C509-1AB3F8CA5C0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87981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742" y="859694"/>
            <a:ext cx="11656062" cy="677108"/>
          </a:xfrm>
          <a:prstGeom prst="rect">
            <a:avLst/>
          </a:prstGeom>
        </p:spPr>
        <p:txBody>
          <a:bodyPr vert="horz" wrap="square" lIns="0" tIns="15240" rIns="0" bIns="0" rtlCol="0">
            <a:spAutoFit/>
          </a:bodyPr>
          <a:lstStyle/>
          <a:p>
            <a:pPr marL="12700">
              <a:lnSpc>
                <a:spcPct val="100000"/>
              </a:lnSpc>
              <a:spcBef>
                <a:spcPts val="120"/>
              </a:spcBef>
            </a:pPr>
            <a:r>
              <a:rPr b="1" u="sng" spc="95" dirty="0">
                <a:solidFill>
                  <a:srgbClr val="FF0000"/>
                </a:solidFill>
              </a:rPr>
              <a:t>Methods for Estimating Project Times and Costs </a:t>
            </a:r>
            <a:r>
              <a:rPr sz="1950" spc="-10" dirty="0"/>
              <a:t>(1/5)</a:t>
            </a:r>
            <a:endParaRPr sz="1950" dirty="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11</a:t>
            </a:fld>
            <a:endParaRPr spc="-25" dirty="0"/>
          </a:p>
        </p:txBody>
      </p:sp>
      <p:sp>
        <p:nvSpPr>
          <p:cNvPr id="3" name="object 3"/>
          <p:cNvSpPr txBox="1">
            <a:spLocks noGrp="1"/>
          </p:cNvSpPr>
          <p:nvPr>
            <p:ph type="body" idx="1"/>
          </p:nvPr>
        </p:nvSpPr>
        <p:spPr>
          <a:prstGeom prst="rect">
            <a:avLst/>
          </a:prstGeom>
        </p:spPr>
        <p:txBody>
          <a:bodyPr vert="horz" wrap="square" lIns="0" tIns="192531" rIns="0" bIns="0" rtlCol="0">
            <a:spAutoFit/>
          </a:bodyPr>
          <a:lstStyle/>
          <a:p>
            <a:pPr marL="240665" indent="-227965" algn="just">
              <a:lnSpc>
                <a:spcPts val="3329"/>
              </a:lnSpc>
              <a:spcBef>
                <a:spcPts val="100"/>
              </a:spcBef>
              <a:buFont typeface="Arial MT"/>
              <a:buChar char="•"/>
              <a:tabLst>
                <a:tab pos="240665" algn="l"/>
              </a:tabLst>
            </a:pPr>
            <a:r>
              <a:rPr b="1" spc="-70" dirty="0">
                <a:latin typeface="Calibri"/>
                <a:cs typeface="Calibri"/>
              </a:rPr>
              <a:t>Top-</a:t>
            </a:r>
            <a:r>
              <a:rPr b="1" dirty="0">
                <a:latin typeface="Calibri"/>
                <a:cs typeface="Calibri"/>
              </a:rPr>
              <a:t>Down</a:t>
            </a:r>
            <a:r>
              <a:rPr b="1" spc="-75" dirty="0">
                <a:latin typeface="Calibri"/>
                <a:cs typeface="Calibri"/>
              </a:rPr>
              <a:t> </a:t>
            </a:r>
            <a:r>
              <a:rPr b="1" dirty="0">
                <a:latin typeface="Calibri"/>
                <a:cs typeface="Calibri"/>
              </a:rPr>
              <a:t>Approaches</a:t>
            </a:r>
            <a:r>
              <a:rPr b="1" spc="-70" dirty="0">
                <a:latin typeface="Calibri"/>
                <a:cs typeface="Calibri"/>
              </a:rPr>
              <a:t> </a:t>
            </a:r>
            <a:r>
              <a:rPr b="1" dirty="0">
                <a:latin typeface="Calibri"/>
                <a:cs typeface="Calibri"/>
              </a:rPr>
              <a:t>for</a:t>
            </a:r>
            <a:r>
              <a:rPr b="1" spc="-70" dirty="0">
                <a:latin typeface="Calibri"/>
                <a:cs typeface="Calibri"/>
              </a:rPr>
              <a:t> </a:t>
            </a:r>
            <a:r>
              <a:rPr b="1" dirty="0">
                <a:latin typeface="Calibri"/>
                <a:cs typeface="Calibri"/>
              </a:rPr>
              <a:t>Estimating</a:t>
            </a:r>
            <a:r>
              <a:rPr b="1" spc="-75" dirty="0">
                <a:latin typeface="Calibri"/>
                <a:cs typeface="Calibri"/>
              </a:rPr>
              <a:t> </a:t>
            </a:r>
            <a:r>
              <a:rPr b="1" dirty="0">
                <a:latin typeface="Calibri"/>
                <a:cs typeface="Calibri"/>
              </a:rPr>
              <a:t>Project</a:t>
            </a:r>
            <a:r>
              <a:rPr b="1" spc="-65" dirty="0">
                <a:latin typeface="Calibri"/>
                <a:cs typeface="Calibri"/>
              </a:rPr>
              <a:t> </a:t>
            </a:r>
            <a:r>
              <a:rPr b="1" dirty="0">
                <a:latin typeface="Calibri"/>
                <a:cs typeface="Calibri"/>
              </a:rPr>
              <a:t>Times</a:t>
            </a:r>
            <a:r>
              <a:rPr b="1" spc="-75" dirty="0">
                <a:latin typeface="Calibri"/>
                <a:cs typeface="Calibri"/>
              </a:rPr>
              <a:t> </a:t>
            </a:r>
            <a:r>
              <a:rPr b="1" dirty="0">
                <a:latin typeface="Calibri"/>
                <a:cs typeface="Calibri"/>
              </a:rPr>
              <a:t>and</a:t>
            </a:r>
            <a:r>
              <a:rPr b="1" spc="-70" dirty="0">
                <a:latin typeface="Calibri"/>
                <a:cs typeface="Calibri"/>
              </a:rPr>
              <a:t> </a:t>
            </a:r>
            <a:r>
              <a:rPr b="1" spc="-10" dirty="0">
                <a:latin typeface="Calibri"/>
                <a:cs typeface="Calibri"/>
              </a:rPr>
              <a:t>Costs</a:t>
            </a:r>
          </a:p>
          <a:p>
            <a:pPr marL="509270" marR="5080" lvl="1" indent="-315595" algn="just">
              <a:lnSpc>
                <a:spcPct val="79900"/>
              </a:lnSpc>
              <a:spcBef>
                <a:spcPts val="550"/>
              </a:spcBef>
              <a:buAutoNum type="arabicPeriod"/>
              <a:tabLst>
                <a:tab pos="511175" algn="l"/>
              </a:tabLst>
            </a:pPr>
            <a:r>
              <a:rPr sz="2400" b="1" i="1" dirty="0">
                <a:latin typeface="Calibri"/>
                <a:cs typeface="Calibri"/>
              </a:rPr>
              <a:t>Consensus</a:t>
            </a:r>
            <a:r>
              <a:rPr sz="2400" b="1" i="1" spc="235" dirty="0">
                <a:latin typeface="Calibri"/>
                <a:cs typeface="Calibri"/>
              </a:rPr>
              <a:t> </a:t>
            </a:r>
            <a:r>
              <a:rPr sz="2400" b="1" i="1" dirty="0">
                <a:latin typeface="Calibri"/>
                <a:cs typeface="Calibri"/>
              </a:rPr>
              <a:t>Methods:</a:t>
            </a:r>
            <a:r>
              <a:rPr sz="2400" b="1" i="1" spc="229" dirty="0">
                <a:latin typeface="Calibri"/>
                <a:cs typeface="Calibri"/>
              </a:rPr>
              <a:t> </a:t>
            </a:r>
            <a:r>
              <a:rPr sz="2400" dirty="0">
                <a:latin typeface="Calibri"/>
                <a:cs typeface="Calibri"/>
              </a:rPr>
              <a:t>This</a:t>
            </a:r>
            <a:r>
              <a:rPr sz="2400" spc="225" dirty="0">
                <a:latin typeface="Calibri"/>
                <a:cs typeface="Calibri"/>
              </a:rPr>
              <a:t> </a:t>
            </a:r>
            <a:r>
              <a:rPr sz="2400" dirty="0">
                <a:latin typeface="Calibri"/>
                <a:cs typeface="Calibri"/>
              </a:rPr>
              <a:t>typically</a:t>
            </a:r>
            <a:r>
              <a:rPr sz="2400" spc="229" dirty="0">
                <a:latin typeface="Calibri"/>
                <a:cs typeface="Calibri"/>
              </a:rPr>
              <a:t> </a:t>
            </a:r>
            <a:r>
              <a:rPr sz="2400" dirty="0">
                <a:latin typeface="Calibri"/>
                <a:cs typeface="Calibri"/>
              </a:rPr>
              <a:t>involves</a:t>
            </a:r>
            <a:r>
              <a:rPr sz="2400" spc="229" dirty="0">
                <a:latin typeface="Calibri"/>
                <a:cs typeface="Calibri"/>
              </a:rPr>
              <a:t> </a:t>
            </a:r>
            <a:r>
              <a:rPr sz="2400" dirty="0">
                <a:latin typeface="Calibri"/>
                <a:cs typeface="Calibri"/>
              </a:rPr>
              <a:t>a</a:t>
            </a:r>
            <a:r>
              <a:rPr sz="2400" spc="229" dirty="0">
                <a:latin typeface="Calibri"/>
                <a:cs typeface="Calibri"/>
              </a:rPr>
              <a:t> </a:t>
            </a:r>
            <a:r>
              <a:rPr sz="2400" dirty="0">
                <a:latin typeface="Calibri"/>
                <a:cs typeface="Calibri"/>
              </a:rPr>
              <a:t>meeting</a:t>
            </a:r>
            <a:r>
              <a:rPr sz="2400" spc="225" dirty="0">
                <a:latin typeface="Calibri"/>
                <a:cs typeface="Calibri"/>
              </a:rPr>
              <a:t> </a:t>
            </a:r>
            <a:r>
              <a:rPr sz="2400" dirty="0">
                <a:latin typeface="Calibri"/>
                <a:cs typeface="Calibri"/>
              </a:rPr>
              <a:t>where</a:t>
            </a:r>
            <a:r>
              <a:rPr sz="2400" spc="240" dirty="0">
                <a:latin typeface="Calibri"/>
                <a:cs typeface="Calibri"/>
              </a:rPr>
              <a:t> </a:t>
            </a:r>
            <a:r>
              <a:rPr sz="2400" dirty="0">
                <a:latin typeface="Calibri"/>
                <a:cs typeface="Calibri"/>
              </a:rPr>
              <a:t>experts</a:t>
            </a:r>
            <a:r>
              <a:rPr sz="2400" spc="225" dirty="0">
                <a:latin typeface="Calibri"/>
                <a:cs typeface="Calibri"/>
              </a:rPr>
              <a:t> </a:t>
            </a:r>
            <a:r>
              <a:rPr sz="2400" spc="-10" dirty="0">
                <a:latin typeface="Calibri"/>
                <a:cs typeface="Calibri"/>
              </a:rPr>
              <a:t>discuss, 	</a:t>
            </a:r>
            <a:r>
              <a:rPr sz="2400" dirty="0">
                <a:latin typeface="Calibri"/>
                <a:cs typeface="Calibri"/>
              </a:rPr>
              <a:t>argue,</a:t>
            </a:r>
            <a:r>
              <a:rPr sz="2400" spc="-40" dirty="0">
                <a:latin typeface="Calibri"/>
                <a:cs typeface="Calibri"/>
              </a:rPr>
              <a:t> </a:t>
            </a:r>
            <a:r>
              <a:rPr sz="2400" dirty="0">
                <a:latin typeface="Calibri"/>
                <a:cs typeface="Calibri"/>
              </a:rPr>
              <a:t>and</a:t>
            </a:r>
            <a:r>
              <a:rPr sz="2400" spc="-35" dirty="0">
                <a:latin typeface="Calibri"/>
                <a:cs typeface="Calibri"/>
              </a:rPr>
              <a:t> </a:t>
            </a:r>
            <a:r>
              <a:rPr sz="2400" dirty="0">
                <a:latin typeface="Calibri"/>
                <a:cs typeface="Calibri"/>
              </a:rPr>
              <a:t>ultimately</a:t>
            </a:r>
            <a:r>
              <a:rPr sz="2400" spc="-35" dirty="0">
                <a:latin typeface="Calibri"/>
                <a:cs typeface="Calibri"/>
              </a:rPr>
              <a:t> </a:t>
            </a:r>
            <a:r>
              <a:rPr sz="2400" dirty="0">
                <a:latin typeface="Calibri"/>
                <a:cs typeface="Calibri"/>
              </a:rPr>
              <a:t>reach</a:t>
            </a:r>
            <a:r>
              <a:rPr sz="2400" spc="-35" dirty="0">
                <a:latin typeface="Calibri"/>
                <a:cs typeface="Calibri"/>
              </a:rPr>
              <a:t> </a:t>
            </a:r>
            <a:r>
              <a:rPr sz="2400" dirty="0">
                <a:latin typeface="Calibri"/>
                <a:cs typeface="Calibri"/>
              </a:rPr>
              <a:t>a</a:t>
            </a:r>
            <a:r>
              <a:rPr sz="2400" spc="-40" dirty="0">
                <a:latin typeface="Calibri"/>
                <a:cs typeface="Calibri"/>
              </a:rPr>
              <a:t> </a:t>
            </a:r>
            <a:r>
              <a:rPr sz="2400" dirty="0">
                <a:latin typeface="Calibri"/>
                <a:cs typeface="Calibri"/>
              </a:rPr>
              <a:t>decision</a:t>
            </a:r>
            <a:r>
              <a:rPr sz="2400" spc="-35" dirty="0">
                <a:latin typeface="Calibri"/>
                <a:cs typeface="Calibri"/>
              </a:rPr>
              <a:t> </a:t>
            </a:r>
            <a:r>
              <a:rPr sz="2400" dirty="0">
                <a:latin typeface="Calibri"/>
                <a:cs typeface="Calibri"/>
              </a:rPr>
              <a:t>as</a:t>
            </a:r>
            <a:r>
              <a:rPr sz="2400" spc="-40" dirty="0">
                <a:latin typeface="Calibri"/>
                <a:cs typeface="Calibri"/>
              </a:rPr>
              <a:t> </a:t>
            </a:r>
            <a:r>
              <a:rPr sz="2400" dirty="0">
                <a:latin typeface="Calibri"/>
                <a:cs typeface="Calibri"/>
              </a:rPr>
              <a:t>to</a:t>
            </a:r>
            <a:r>
              <a:rPr sz="2400" spc="-40" dirty="0">
                <a:latin typeface="Calibri"/>
                <a:cs typeface="Calibri"/>
              </a:rPr>
              <a:t> </a:t>
            </a:r>
            <a:r>
              <a:rPr sz="2400" dirty="0">
                <a:latin typeface="Calibri"/>
                <a:cs typeface="Calibri"/>
              </a:rPr>
              <a:t>their</a:t>
            </a:r>
            <a:r>
              <a:rPr sz="2400" spc="-40" dirty="0">
                <a:latin typeface="Calibri"/>
                <a:cs typeface="Calibri"/>
              </a:rPr>
              <a:t> </a:t>
            </a:r>
            <a:r>
              <a:rPr sz="2400" dirty="0">
                <a:latin typeface="Calibri"/>
                <a:cs typeface="Calibri"/>
              </a:rPr>
              <a:t>best</a:t>
            </a:r>
            <a:r>
              <a:rPr sz="2400" spc="-40" dirty="0">
                <a:latin typeface="Calibri"/>
                <a:cs typeface="Calibri"/>
              </a:rPr>
              <a:t> </a:t>
            </a:r>
            <a:r>
              <a:rPr sz="2400" dirty="0">
                <a:latin typeface="Calibri"/>
                <a:cs typeface="Calibri"/>
              </a:rPr>
              <a:t>guess</a:t>
            </a:r>
            <a:r>
              <a:rPr sz="2400" spc="-35" dirty="0">
                <a:latin typeface="Calibri"/>
                <a:cs typeface="Calibri"/>
              </a:rPr>
              <a:t> </a:t>
            </a:r>
            <a:r>
              <a:rPr sz="2400" dirty="0">
                <a:latin typeface="Calibri"/>
                <a:cs typeface="Calibri"/>
              </a:rPr>
              <a:t>estimate.</a:t>
            </a:r>
            <a:r>
              <a:rPr sz="2400" spc="-45" dirty="0">
                <a:latin typeface="Calibri"/>
                <a:cs typeface="Calibri"/>
              </a:rPr>
              <a:t> </a:t>
            </a:r>
            <a:r>
              <a:rPr sz="2400" dirty="0">
                <a:latin typeface="Calibri"/>
                <a:cs typeface="Calibri"/>
              </a:rPr>
              <a:t>For</a:t>
            </a:r>
            <a:r>
              <a:rPr sz="2400" spc="-35" dirty="0">
                <a:latin typeface="Calibri"/>
                <a:cs typeface="Calibri"/>
              </a:rPr>
              <a:t> </a:t>
            </a:r>
            <a:r>
              <a:rPr sz="2400" spc="-20" dirty="0">
                <a:latin typeface="Calibri"/>
                <a:cs typeface="Calibri"/>
              </a:rPr>
              <a:t>more 	</a:t>
            </a:r>
            <a:r>
              <a:rPr sz="2400" dirty="0">
                <a:latin typeface="Calibri"/>
                <a:cs typeface="Calibri"/>
              </a:rPr>
              <a:t>accurate</a:t>
            </a:r>
            <a:r>
              <a:rPr sz="2400" spc="434" dirty="0">
                <a:latin typeface="Calibri"/>
                <a:cs typeface="Calibri"/>
              </a:rPr>
              <a:t> </a:t>
            </a:r>
            <a:r>
              <a:rPr sz="2400" dirty="0">
                <a:latin typeface="Calibri"/>
                <a:cs typeface="Calibri"/>
              </a:rPr>
              <a:t>results,</a:t>
            </a:r>
            <a:r>
              <a:rPr sz="2400" spc="434" dirty="0">
                <a:latin typeface="Calibri"/>
                <a:cs typeface="Calibri"/>
              </a:rPr>
              <a:t> </a:t>
            </a:r>
            <a:r>
              <a:rPr sz="2400" b="1" i="1" dirty="0">
                <a:latin typeface="Calibri"/>
                <a:cs typeface="Calibri"/>
              </a:rPr>
              <a:t>Delfi</a:t>
            </a:r>
            <a:r>
              <a:rPr sz="2400" b="1" i="1" spc="434" dirty="0">
                <a:latin typeface="Calibri"/>
                <a:cs typeface="Calibri"/>
              </a:rPr>
              <a:t> </a:t>
            </a:r>
            <a:r>
              <a:rPr sz="2400" b="1" i="1" dirty="0">
                <a:latin typeface="Calibri"/>
                <a:cs typeface="Calibri"/>
              </a:rPr>
              <a:t>Method</a:t>
            </a:r>
            <a:r>
              <a:rPr sz="2400" b="1" i="1" spc="425" dirty="0">
                <a:latin typeface="Calibri"/>
                <a:cs typeface="Calibri"/>
              </a:rPr>
              <a:t> </a:t>
            </a:r>
            <a:r>
              <a:rPr sz="2400" dirty="0">
                <a:latin typeface="Calibri"/>
                <a:cs typeface="Calibri"/>
              </a:rPr>
              <a:t>is</a:t>
            </a:r>
            <a:r>
              <a:rPr sz="2400" spc="434" dirty="0">
                <a:latin typeface="Calibri"/>
                <a:cs typeface="Calibri"/>
              </a:rPr>
              <a:t> </a:t>
            </a:r>
            <a:r>
              <a:rPr sz="2400" dirty="0">
                <a:latin typeface="Calibri"/>
                <a:cs typeface="Calibri"/>
              </a:rPr>
              <a:t>used;</a:t>
            </a:r>
            <a:r>
              <a:rPr sz="2400" spc="425" dirty="0">
                <a:latin typeface="Calibri"/>
                <a:cs typeface="Calibri"/>
              </a:rPr>
              <a:t> </a:t>
            </a:r>
            <a:r>
              <a:rPr sz="2400" dirty="0">
                <a:latin typeface="Calibri"/>
                <a:cs typeface="Calibri"/>
              </a:rPr>
              <a:t>where</a:t>
            </a:r>
            <a:r>
              <a:rPr sz="2400" spc="440" dirty="0">
                <a:latin typeface="Calibri"/>
                <a:cs typeface="Calibri"/>
              </a:rPr>
              <a:t> </a:t>
            </a:r>
            <a:r>
              <a:rPr sz="2400" dirty="0">
                <a:latin typeface="Calibri"/>
                <a:cs typeface="Calibri"/>
              </a:rPr>
              <a:t>group</a:t>
            </a:r>
            <a:r>
              <a:rPr sz="2400" spc="440" dirty="0">
                <a:latin typeface="Calibri"/>
                <a:cs typeface="Calibri"/>
              </a:rPr>
              <a:t> </a:t>
            </a:r>
            <a:r>
              <a:rPr sz="2400" dirty="0">
                <a:latin typeface="Calibri"/>
                <a:cs typeface="Calibri"/>
              </a:rPr>
              <a:t>of</a:t>
            </a:r>
            <a:r>
              <a:rPr sz="2400" spc="434" dirty="0">
                <a:latin typeface="Calibri"/>
                <a:cs typeface="Calibri"/>
              </a:rPr>
              <a:t> </a:t>
            </a:r>
            <a:r>
              <a:rPr sz="2400" dirty="0">
                <a:latin typeface="Calibri"/>
                <a:cs typeface="Calibri"/>
              </a:rPr>
              <a:t>experts</a:t>
            </a:r>
            <a:r>
              <a:rPr sz="2400" spc="430" dirty="0">
                <a:latin typeface="Calibri"/>
                <a:cs typeface="Calibri"/>
              </a:rPr>
              <a:t> </a:t>
            </a:r>
            <a:r>
              <a:rPr sz="2400" dirty="0">
                <a:latin typeface="Calibri"/>
                <a:cs typeface="Calibri"/>
              </a:rPr>
              <a:t>respond</a:t>
            </a:r>
            <a:r>
              <a:rPr sz="2400" spc="440" dirty="0">
                <a:latin typeface="Calibri"/>
                <a:cs typeface="Calibri"/>
              </a:rPr>
              <a:t> </a:t>
            </a:r>
            <a:r>
              <a:rPr sz="2400" spc="-25" dirty="0">
                <a:latin typeface="Calibri"/>
                <a:cs typeface="Calibri"/>
              </a:rPr>
              <a:t>to 	</a:t>
            </a:r>
            <a:r>
              <a:rPr sz="2400" dirty="0">
                <a:latin typeface="Calibri"/>
                <a:cs typeface="Calibri"/>
              </a:rPr>
              <a:t>estimate</a:t>
            </a:r>
            <a:r>
              <a:rPr sz="2400" spc="100" dirty="0">
                <a:latin typeface="Calibri"/>
                <a:cs typeface="Calibri"/>
              </a:rPr>
              <a:t> </a:t>
            </a:r>
            <a:r>
              <a:rPr sz="2400" dirty="0">
                <a:latin typeface="Calibri"/>
                <a:cs typeface="Calibri"/>
              </a:rPr>
              <a:t>questionnaires</a:t>
            </a:r>
            <a:r>
              <a:rPr sz="2400" spc="90" dirty="0">
                <a:latin typeface="Calibri"/>
                <a:cs typeface="Calibri"/>
              </a:rPr>
              <a:t> </a:t>
            </a:r>
            <a:r>
              <a:rPr sz="2400" dirty="0">
                <a:latin typeface="Calibri"/>
                <a:cs typeface="Calibri"/>
              </a:rPr>
              <a:t>anonymously,</a:t>
            </a:r>
            <a:r>
              <a:rPr sz="2400" spc="95" dirty="0">
                <a:latin typeface="Calibri"/>
                <a:cs typeface="Calibri"/>
              </a:rPr>
              <a:t> </a:t>
            </a:r>
            <a:r>
              <a:rPr sz="2400" dirty="0">
                <a:latin typeface="Calibri"/>
                <a:cs typeface="Calibri"/>
              </a:rPr>
              <a:t>and</a:t>
            </a:r>
            <a:r>
              <a:rPr sz="2400" spc="95" dirty="0">
                <a:latin typeface="Calibri"/>
                <a:cs typeface="Calibri"/>
              </a:rPr>
              <a:t> </a:t>
            </a:r>
            <a:r>
              <a:rPr sz="2400" dirty="0">
                <a:latin typeface="Calibri"/>
                <a:cs typeface="Calibri"/>
              </a:rPr>
              <a:t>they</a:t>
            </a:r>
            <a:r>
              <a:rPr sz="2400" spc="100" dirty="0">
                <a:latin typeface="Calibri"/>
                <a:cs typeface="Calibri"/>
              </a:rPr>
              <a:t> </a:t>
            </a:r>
            <a:r>
              <a:rPr sz="2400" dirty="0">
                <a:latin typeface="Calibri"/>
                <a:cs typeface="Calibri"/>
              </a:rPr>
              <a:t>are</a:t>
            </a:r>
            <a:r>
              <a:rPr sz="2400" spc="95" dirty="0">
                <a:latin typeface="Calibri"/>
                <a:cs typeface="Calibri"/>
              </a:rPr>
              <a:t> </a:t>
            </a:r>
            <a:r>
              <a:rPr sz="2400" dirty="0">
                <a:latin typeface="Calibri"/>
                <a:cs typeface="Calibri"/>
              </a:rPr>
              <a:t>provided</a:t>
            </a:r>
            <a:r>
              <a:rPr sz="2400" spc="95" dirty="0">
                <a:latin typeface="Calibri"/>
                <a:cs typeface="Calibri"/>
              </a:rPr>
              <a:t> </a:t>
            </a:r>
            <a:r>
              <a:rPr sz="2400" dirty="0">
                <a:latin typeface="Calibri"/>
                <a:cs typeface="Calibri"/>
              </a:rPr>
              <a:t>with</a:t>
            </a:r>
            <a:r>
              <a:rPr sz="2400" spc="95" dirty="0">
                <a:latin typeface="Calibri"/>
                <a:cs typeface="Calibri"/>
              </a:rPr>
              <a:t> </a:t>
            </a:r>
            <a:r>
              <a:rPr sz="2400" dirty="0">
                <a:latin typeface="Calibri"/>
                <a:cs typeface="Calibri"/>
              </a:rPr>
              <a:t>a</a:t>
            </a:r>
            <a:r>
              <a:rPr sz="2400" spc="100" dirty="0">
                <a:latin typeface="Calibri"/>
                <a:cs typeface="Calibri"/>
              </a:rPr>
              <a:t> </a:t>
            </a:r>
            <a:r>
              <a:rPr sz="2400" spc="-10" dirty="0">
                <a:latin typeface="Calibri"/>
                <a:cs typeface="Calibri"/>
              </a:rPr>
              <a:t>summary 	</a:t>
            </a:r>
            <a:r>
              <a:rPr sz="2400" dirty="0">
                <a:latin typeface="Calibri"/>
                <a:cs typeface="Calibri"/>
              </a:rPr>
              <a:t>of</a:t>
            </a:r>
            <a:r>
              <a:rPr sz="2400" spc="90" dirty="0">
                <a:latin typeface="Calibri"/>
                <a:cs typeface="Calibri"/>
              </a:rPr>
              <a:t> </a:t>
            </a:r>
            <a:r>
              <a:rPr sz="2400" dirty="0">
                <a:latin typeface="Calibri"/>
                <a:cs typeface="Calibri"/>
              </a:rPr>
              <a:t>opinions.</a:t>
            </a:r>
            <a:r>
              <a:rPr sz="2400" spc="75" dirty="0">
                <a:latin typeface="Calibri"/>
                <a:cs typeface="Calibri"/>
              </a:rPr>
              <a:t> </a:t>
            </a:r>
            <a:r>
              <a:rPr sz="2400" dirty="0">
                <a:latin typeface="Calibri"/>
                <a:cs typeface="Calibri"/>
              </a:rPr>
              <a:t>Then,</a:t>
            </a:r>
            <a:r>
              <a:rPr sz="2400" spc="90" dirty="0">
                <a:latin typeface="Calibri"/>
                <a:cs typeface="Calibri"/>
              </a:rPr>
              <a:t> </a:t>
            </a:r>
            <a:r>
              <a:rPr sz="2400" dirty="0">
                <a:latin typeface="Calibri"/>
                <a:cs typeface="Calibri"/>
              </a:rPr>
              <a:t>they</a:t>
            </a:r>
            <a:r>
              <a:rPr sz="2400" spc="85" dirty="0">
                <a:latin typeface="Calibri"/>
                <a:cs typeface="Calibri"/>
              </a:rPr>
              <a:t> </a:t>
            </a:r>
            <a:r>
              <a:rPr sz="2400" dirty="0">
                <a:latin typeface="Calibri"/>
                <a:cs typeface="Calibri"/>
              </a:rPr>
              <a:t>are</a:t>
            </a:r>
            <a:r>
              <a:rPr sz="2400" spc="85" dirty="0">
                <a:latin typeface="Calibri"/>
                <a:cs typeface="Calibri"/>
              </a:rPr>
              <a:t> </a:t>
            </a:r>
            <a:r>
              <a:rPr sz="2400" dirty="0">
                <a:latin typeface="Calibri"/>
                <a:cs typeface="Calibri"/>
              </a:rPr>
              <a:t>then</a:t>
            </a:r>
            <a:r>
              <a:rPr sz="2400" spc="90" dirty="0">
                <a:latin typeface="Calibri"/>
                <a:cs typeface="Calibri"/>
              </a:rPr>
              <a:t> </a:t>
            </a:r>
            <a:r>
              <a:rPr sz="2400" dirty="0">
                <a:latin typeface="Calibri"/>
                <a:cs typeface="Calibri"/>
              </a:rPr>
              <a:t>encouraged</a:t>
            </a:r>
            <a:r>
              <a:rPr sz="2400" spc="95" dirty="0">
                <a:latin typeface="Calibri"/>
                <a:cs typeface="Calibri"/>
              </a:rPr>
              <a:t> </a:t>
            </a:r>
            <a:r>
              <a:rPr sz="2400" dirty="0">
                <a:latin typeface="Calibri"/>
                <a:cs typeface="Calibri"/>
              </a:rPr>
              <a:t>to</a:t>
            </a:r>
            <a:r>
              <a:rPr sz="2400" spc="80" dirty="0">
                <a:latin typeface="Calibri"/>
                <a:cs typeface="Calibri"/>
              </a:rPr>
              <a:t> </a:t>
            </a:r>
            <a:r>
              <a:rPr sz="2400" spc="-10" dirty="0">
                <a:latin typeface="Calibri"/>
                <a:cs typeface="Calibri"/>
              </a:rPr>
              <a:t>reconsider,</a:t>
            </a:r>
            <a:r>
              <a:rPr sz="2400" spc="90" dirty="0">
                <a:latin typeface="Calibri"/>
                <a:cs typeface="Calibri"/>
              </a:rPr>
              <a:t> </a:t>
            </a:r>
            <a:r>
              <a:rPr sz="2400" dirty="0">
                <a:latin typeface="Calibri"/>
                <a:cs typeface="Calibri"/>
              </a:rPr>
              <a:t>and</a:t>
            </a:r>
            <a:r>
              <a:rPr sz="2400" spc="85" dirty="0">
                <a:latin typeface="Calibri"/>
                <a:cs typeface="Calibri"/>
              </a:rPr>
              <a:t> </a:t>
            </a:r>
            <a:r>
              <a:rPr sz="2400" dirty="0">
                <a:latin typeface="Calibri"/>
                <a:cs typeface="Calibri"/>
              </a:rPr>
              <a:t>if</a:t>
            </a:r>
            <a:r>
              <a:rPr sz="2400" spc="90" dirty="0">
                <a:latin typeface="Calibri"/>
                <a:cs typeface="Calibri"/>
              </a:rPr>
              <a:t> </a:t>
            </a:r>
            <a:r>
              <a:rPr sz="2400" spc="-10" dirty="0">
                <a:latin typeface="Calibri"/>
                <a:cs typeface="Calibri"/>
              </a:rPr>
              <a:t>appropriate, 	</a:t>
            </a:r>
            <a:r>
              <a:rPr sz="2400" dirty="0">
                <a:latin typeface="Calibri"/>
                <a:cs typeface="Calibri"/>
              </a:rPr>
              <a:t>to</a:t>
            </a:r>
            <a:r>
              <a:rPr sz="2400" spc="-50" dirty="0">
                <a:latin typeface="Calibri"/>
                <a:cs typeface="Calibri"/>
              </a:rPr>
              <a:t> </a:t>
            </a:r>
            <a:r>
              <a:rPr sz="2400" dirty="0">
                <a:latin typeface="Calibri"/>
                <a:cs typeface="Calibri"/>
              </a:rPr>
              <a:t>change</a:t>
            </a:r>
            <a:r>
              <a:rPr sz="2400" spc="-40" dirty="0">
                <a:latin typeface="Calibri"/>
                <a:cs typeface="Calibri"/>
              </a:rPr>
              <a:t> </a:t>
            </a:r>
            <a:r>
              <a:rPr sz="2400" dirty="0">
                <a:latin typeface="Calibri"/>
                <a:cs typeface="Calibri"/>
              </a:rPr>
              <a:t>their</a:t>
            </a:r>
            <a:r>
              <a:rPr sz="2400" spc="-45" dirty="0">
                <a:latin typeface="Calibri"/>
                <a:cs typeface="Calibri"/>
              </a:rPr>
              <a:t> </a:t>
            </a:r>
            <a:r>
              <a:rPr sz="2400" dirty="0">
                <a:latin typeface="Calibri"/>
                <a:cs typeface="Calibri"/>
              </a:rPr>
              <a:t>previous</a:t>
            </a:r>
            <a:r>
              <a:rPr sz="2400" spc="-50" dirty="0">
                <a:latin typeface="Calibri"/>
                <a:cs typeface="Calibri"/>
              </a:rPr>
              <a:t> </a:t>
            </a:r>
            <a:r>
              <a:rPr sz="2400" spc="-10" dirty="0">
                <a:latin typeface="Calibri"/>
                <a:cs typeface="Calibri"/>
              </a:rPr>
              <a:t>estimate</a:t>
            </a:r>
            <a:r>
              <a:rPr sz="2400" spc="-40" dirty="0">
                <a:latin typeface="Calibri"/>
                <a:cs typeface="Calibri"/>
              </a:rPr>
              <a:t> </a:t>
            </a:r>
            <a:r>
              <a:rPr sz="2400" dirty="0">
                <a:latin typeface="Calibri"/>
                <a:cs typeface="Calibri"/>
              </a:rPr>
              <a:t>in</a:t>
            </a:r>
            <a:r>
              <a:rPr sz="2400" spc="-45" dirty="0">
                <a:latin typeface="Calibri"/>
                <a:cs typeface="Calibri"/>
              </a:rPr>
              <a:t> </a:t>
            </a:r>
            <a:r>
              <a:rPr sz="2400" dirty="0">
                <a:latin typeface="Calibri"/>
                <a:cs typeface="Calibri"/>
              </a:rPr>
              <a:t>light</a:t>
            </a:r>
            <a:r>
              <a:rPr sz="2400" spc="-55" dirty="0">
                <a:latin typeface="Calibri"/>
                <a:cs typeface="Calibri"/>
              </a:rPr>
              <a:t> </a:t>
            </a:r>
            <a:r>
              <a:rPr sz="2400" dirty="0">
                <a:latin typeface="Calibri"/>
                <a:cs typeface="Calibri"/>
              </a:rPr>
              <a:t>of</a:t>
            </a:r>
            <a:r>
              <a:rPr sz="2400" spc="-40" dirty="0">
                <a:latin typeface="Calibri"/>
                <a:cs typeface="Calibri"/>
              </a:rPr>
              <a:t> </a:t>
            </a:r>
            <a:r>
              <a:rPr sz="2400" dirty="0">
                <a:latin typeface="Calibri"/>
                <a:cs typeface="Calibri"/>
              </a:rPr>
              <a:t>the</a:t>
            </a:r>
            <a:r>
              <a:rPr sz="2400" spc="-45" dirty="0">
                <a:latin typeface="Calibri"/>
                <a:cs typeface="Calibri"/>
              </a:rPr>
              <a:t> </a:t>
            </a:r>
            <a:r>
              <a:rPr sz="2400" dirty="0">
                <a:latin typeface="Calibri"/>
                <a:cs typeface="Calibri"/>
              </a:rPr>
              <a:t>replies</a:t>
            </a:r>
            <a:r>
              <a:rPr sz="2400" spc="-45" dirty="0">
                <a:latin typeface="Calibri"/>
                <a:cs typeface="Calibri"/>
              </a:rPr>
              <a:t> </a:t>
            </a:r>
            <a:r>
              <a:rPr sz="2400" dirty="0">
                <a:latin typeface="Calibri"/>
                <a:cs typeface="Calibri"/>
              </a:rPr>
              <a:t>of</a:t>
            </a:r>
            <a:r>
              <a:rPr sz="2400" spc="-40" dirty="0">
                <a:latin typeface="Calibri"/>
                <a:cs typeface="Calibri"/>
              </a:rPr>
              <a:t> </a:t>
            </a:r>
            <a:r>
              <a:rPr sz="2400" dirty="0">
                <a:latin typeface="Calibri"/>
                <a:cs typeface="Calibri"/>
              </a:rPr>
              <a:t>other</a:t>
            </a:r>
            <a:r>
              <a:rPr sz="2400" spc="-50" dirty="0">
                <a:latin typeface="Calibri"/>
                <a:cs typeface="Calibri"/>
              </a:rPr>
              <a:t> </a:t>
            </a:r>
            <a:r>
              <a:rPr sz="2400" dirty="0">
                <a:latin typeface="Calibri"/>
                <a:cs typeface="Calibri"/>
              </a:rPr>
              <a:t>experts.</a:t>
            </a:r>
            <a:r>
              <a:rPr sz="2400" spc="-50" dirty="0">
                <a:latin typeface="Calibri"/>
                <a:cs typeface="Calibri"/>
              </a:rPr>
              <a:t> </a:t>
            </a:r>
            <a:r>
              <a:rPr sz="2400" dirty="0">
                <a:latin typeface="Calibri"/>
                <a:cs typeface="Calibri"/>
              </a:rPr>
              <a:t>After</a:t>
            </a:r>
            <a:r>
              <a:rPr sz="2400" spc="-45" dirty="0">
                <a:latin typeface="Calibri"/>
                <a:cs typeface="Calibri"/>
              </a:rPr>
              <a:t> </a:t>
            </a:r>
            <a:r>
              <a:rPr sz="2400" spc="-50" dirty="0">
                <a:latin typeface="Calibri"/>
                <a:cs typeface="Calibri"/>
              </a:rPr>
              <a:t>2 	</a:t>
            </a:r>
            <a:r>
              <a:rPr sz="2400" dirty="0">
                <a:latin typeface="Calibri"/>
                <a:cs typeface="Calibri"/>
              </a:rPr>
              <a:t>or</a:t>
            </a:r>
            <a:r>
              <a:rPr sz="2400" spc="65" dirty="0">
                <a:latin typeface="Calibri"/>
                <a:cs typeface="Calibri"/>
              </a:rPr>
              <a:t>  </a:t>
            </a:r>
            <a:r>
              <a:rPr sz="2400" dirty="0">
                <a:latin typeface="Calibri"/>
                <a:cs typeface="Calibri"/>
              </a:rPr>
              <a:t>3</a:t>
            </a:r>
            <a:r>
              <a:rPr sz="2400" spc="70" dirty="0">
                <a:latin typeface="Calibri"/>
                <a:cs typeface="Calibri"/>
              </a:rPr>
              <a:t>  </a:t>
            </a:r>
            <a:r>
              <a:rPr sz="2400" dirty="0">
                <a:latin typeface="Calibri"/>
                <a:cs typeface="Calibri"/>
              </a:rPr>
              <a:t>rounds</a:t>
            </a:r>
            <a:r>
              <a:rPr sz="2400" spc="70" dirty="0">
                <a:latin typeface="Calibri"/>
                <a:cs typeface="Calibri"/>
              </a:rPr>
              <a:t>  </a:t>
            </a:r>
            <a:r>
              <a:rPr sz="2400" dirty="0">
                <a:latin typeface="Calibri"/>
                <a:cs typeface="Calibri"/>
              </a:rPr>
              <a:t>it</a:t>
            </a:r>
            <a:r>
              <a:rPr sz="2400" spc="65" dirty="0">
                <a:latin typeface="Calibri"/>
                <a:cs typeface="Calibri"/>
              </a:rPr>
              <a:t>  </a:t>
            </a:r>
            <a:r>
              <a:rPr sz="2400" dirty="0">
                <a:latin typeface="Calibri"/>
                <a:cs typeface="Calibri"/>
              </a:rPr>
              <a:t>is</a:t>
            </a:r>
            <a:r>
              <a:rPr sz="2400" spc="70" dirty="0">
                <a:latin typeface="Calibri"/>
                <a:cs typeface="Calibri"/>
              </a:rPr>
              <a:t>  </a:t>
            </a:r>
            <a:r>
              <a:rPr sz="2400" dirty="0">
                <a:latin typeface="Calibri"/>
                <a:cs typeface="Calibri"/>
              </a:rPr>
              <a:t>believed</a:t>
            </a:r>
            <a:r>
              <a:rPr sz="2400" spc="70" dirty="0">
                <a:latin typeface="Calibri"/>
                <a:cs typeface="Calibri"/>
              </a:rPr>
              <a:t>  </a:t>
            </a:r>
            <a:r>
              <a:rPr sz="2400" dirty="0">
                <a:latin typeface="Calibri"/>
                <a:cs typeface="Calibri"/>
              </a:rPr>
              <a:t>that</a:t>
            </a:r>
            <a:r>
              <a:rPr sz="2400" spc="65" dirty="0">
                <a:latin typeface="Calibri"/>
                <a:cs typeface="Calibri"/>
              </a:rPr>
              <a:t>  </a:t>
            </a:r>
            <a:r>
              <a:rPr sz="2400" dirty="0">
                <a:latin typeface="Calibri"/>
                <a:cs typeface="Calibri"/>
              </a:rPr>
              <a:t>the</a:t>
            </a:r>
            <a:r>
              <a:rPr sz="2400" spc="70" dirty="0">
                <a:latin typeface="Calibri"/>
                <a:cs typeface="Calibri"/>
              </a:rPr>
              <a:t>  </a:t>
            </a:r>
            <a:r>
              <a:rPr sz="2400" dirty="0">
                <a:latin typeface="Calibri"/>
                <a:cs typeface="Calibri"/>
              </a:rPr>
              <a:t>group</a:t>
            </a:r>
            <a:r>
              <a:rPr sz="2400" spc="75" dirty="0">
                <a:latin typeface="Calibri"/>
                <a:cs typeface="Calibri"/>
              </a:rPr>
              <a:t>  </a:t>
            </a:r>
            <a:r>
              <a:rPr sz="2400" dirty="0">
                <a:latin typeface="Calibri"/>
                <a:cs typeface="Calibri"/>
              </a:rPr>
              <a:t>will</a:t>
            </a:r>
            <a:r>
              <a:rPr sz="2400" spc="70" dirty="0">
                <a:latin typeface="Calibri"/>
                <a:cs typeface="Calibri"/>
              </a:rPr>
              <a:t>  </a:t>
            </a:r>
            <a:r>
              <a:rPr sz="2400" dirty="0">
                <a:latin typeface="Calibri"/>
                <a:cs typeface="Calibri"/>
              </a:rPr>
              <a:t>converge</a:t>
            </a:r>
            <a:r>
              <a:rPr sz="2400" spc="70" dirty="0">
                <a:latin typeface="Calibri"/>
                <a:cs typeface="Calibri"/>
              </a:rPr>
              <a:t>  </a:t>
            </a:r>
            <a:r>
              <a:rPr sz="2400" dirty="0">
                <a:latin typeface="Calibri"/>
                <a:cs typeface="Calibri"/>
              </a:rPr>
              <a:t>toward</a:t>
            </a:r>
            <a:r>
              <a:rPr sz="2400" spc="70" dirty="0">
                <a:latin typeface="Calibri"/>
                <a:cs typeface="Calibri"/>
              </a:rPr>
              <a:t>  </a:t>
            </a:r>
            <a:r>
              <a:rPr sz="2400" dirty="0">
                <a:latin typeface="Calibri"/>
                <a:cs typeface="Calibri"/>
              </a:rPr>
              <a:t>the</a:t>
            </a:r>
            <a:r>
              <a:rPr sz="2400" spc="70" dirty="0">
                <a:latin typeface="Calibri"/>
                <a:cs typeface="Calibri"/>
              </a:rPr>
              <a:t>  </a:t>
            </a:r>
            <a:r>
              <a:rPr sz="2400" spc="-20" dirty="0">
                <a:latin typeface="Calibri"/>
                <a:cs typeface="Calibri"/>
              </a:rPr>
              <a:t>best 	</a:t>
            </a:r>
            <a:r>
              <a:rPr sz="2400" spc="-10" dirty="0">
                <a:latin typeface="Calibri"/>
                <a:cs typeface="Calibri"/>
              </a:rPr>
              <a:t>decisions.</a:t>
            </a:r>
            <a:endParaRPr sz="2400" dirty="0">
              <a:latin typeface="Calibri"/>
              <a:cs typeface="Calibri"/>
            </a:endParaRPr>
          </a:p>
          <a:p>
            <a:pPr marL="511175" marR="5080" lvl="1" indent="-317500" algn="just">
              <a:lnSpc>
                <a:spcPct val="80800"/>
              </a:lnSpc>
              <a:spcBef>
                <a:spcPts val="480"/>
              </a:spcBef>
              <a:buFont typeface="Calibri"/>
              <a:buAutoNum type="arabicPeriod"/>
              <a:tabLst>
                <a:tab pos="511175" algn="l"/>
                <a:tab pos="577215" algn="l"/>
              </a:tabLst>
            </a:pPr>
            <a:r>
              <a:rPr sz="2400" dirty="0">
                <a:latin typeface="Calibri"/>
                <a:cs typeface="Calibri"/>
              </a:rPr>
              <a:t>	</a:t>
            </a:r>
            <a:r>
              <a:rPr sz="2400" b="1" i="1" dirty="0">
                <a:latin typeface="Calibri"/>
                <a:cs typeface="Calibri"/>
              </a:rPr>
              <a:t>Ratio</a:t>
            </a:r>
            <a:r>
              <a:rPr sz="2400" b="1" i="1" spc="55" dirty="0">
                <a:latin typeface="Calibri"/>
                <a:cs typeface="Calibri"/>
              </a:rPr>
              <a:t>  </a:t>
            </a:r>
            <a:r>
              <a:rPr sz="2400" b="1" i="1" dirty="0">
                <a:latin typeface="Calibri"/>
                <a:cs typeface="Calibri"/>
              </a:rPr>
              <a:t>Methods:</a:t>
            </a:r>
            <a:r>
              <a:rPr sz="2400" b="1" i="1" spc="60" dirty="0">
                <a:latin typeface="Calibri"/>
                <a:cs typeface="Calibri"/>
              </a:rPr>
              <a:t>  </a:t>
            </a:r>
            <a:r>
              <a:rPr sz="2400" dirty="0">
                <a:latin typeface="Calibri"/>
                <a:cs typeface="Calibri"/>
              </a:rPr>
              <a:t>(sometimes</a:t>
            </a:r>
            <a:r>
              <a:rPr sz="2400" spc="55" dirty="0">
                <a:latin typeface="Calibri"/>
                <a:cs typeface="Calibri"/>
              </a:rPr>
              <a:t>  </a:t>
            </a:r>
            <a:r>
              <a:rPr sz="2400" dirty="0">
                <a:latin typeface="Calibri"/>
                <a:cs typeface="Calibri"/>
              </a:rPr>
              <a:t>called</a:t>
            </a:r>
            <a:r>
              <a:rPr sz="2400" spc="60" dirty="0">
                <a:latin typeface="Calibri"/>
                <a:cs typeface="Calibri"/>
              </a:rPr>
              <a:t>  </a:t>
            </a:r>
            <a:r>
              <a:rPr sz="2400" u="heavy" dirty="0">
                <a:uFill>
                  <a:solidFill>
                    <a:srgbClr val="000000"/>
                  </a:solidFill>
                </a:uFill>
                <a:latin typeface="Calibri"/>
                <a:cs typeface="Calibri"/>
              </a:rPr>
              <a:t>parametric</a:t>
            </a:r>
            <a:r>
              <a:rPr sz="2400" dirty="0">
                <a:latin typeface="Calibri"/>
                <a:cs typeface="Calibri"/>
              </a:rPr>
              <a:t>)</a:t>
            </a:r>
            <a:r>
              <a:rPr sz="2400" spc="55" dirty="0">
                <a:latin typeface="Calibri"/>
                <a:cs typeface="Calibri"/>
              </a:rPr>
              <a:t>  </a:t>
            </a:r>
            <a:r>
              <a:rPr sz="2400" dirty="0">
                <a:latin typeface="Calibri"/>
                <a:cs typeface="Calibri"/>
              </a:rPr>
              <a:t>usually</a:t>
            </a:r>
            <a:r>
              <a:rPr sz="2400" spc="60" dirty="0">
                <a:latin typeface="Calibri"/>
                <a:cs typeface="Calibri"/>
              </a:rPr>
              <a:t>  </a:t>
            </a:r>
            <a:r>
              <a:rPr sz="2400" dirty="0">
                <a:latin typeface="Calibri"/>
                <a:cs typeface="Calibri"/>
              </a:rPr>
              <a:t>use</a:t>
            </a:r>
            <a:r>
              <a:rPr sz="2400" spc="60" dirty="0">
                <a:latin typeface="Calibri"/>
                <a:cs typeface="Calibri"/>
              </a:rPr>
              <a:t>  </a:t>
            </a:r>
            <a:r>
              <a:rPr sz="2400" dirty="0">
                <a:latin typeface="Calibri"/>
                <a:cs typeface="Calibri"/>
              </a:rPr>
              <a:t>ratios,</a:t>
            </a:r>
            <a:r>
              <a:rPr sz="2400" spc="55" dirty="0">
                <a:latin typeface="Calibri"/>
                <a:cs typeface="Calibri"/>
              </a:rPr>
              <a:t>  </a:t>
            </a:r>
            <a:r>
              <a:rPr sz="2400" dirty="0">
                <a:latin typeface="Calibri"/>
                <a:cs typeface="Calibri"/>
              </a:rPr>
              <a:t>unit</a:t>
            </a:r>
            <a:r>
              <a:rPr sz="2400" spc="60" dirty="0">
                <a:latin typeface="Calibri"/>
                <a:cs typeface="Calibri"/>
              </a:rPr>
              <a:t>  </a:t>
            </a:r>
            <a:r>
              <a:rPr sz="2400" spc="-25" dirty="0">
                <a:latin typeface="Calibri"/>
                <a:cs typeface="Calibri"/>
              </a:rPr>
              <a:t>of </a:t>
            </a:r>
            <a:r>
              <a:rPr sz="2400" dirty="0">
                <a:latin typeface="Calibri"/>
                <a:cs typeface="Calibri"/>
              </a:rPr>
              <a:t>certain</a:t>
            </a:r>
            <a:r>
              <a:rPr sz="2400" spc="114" dirty="0">
                <a:latin typeface="Calibri"/>
                <a:cs typeface="Calibri"/>
              </a:rPr>
              <a:t> </a:t>
            </a:r>
            <a:r>
              <a:rPr sz="2400" dirty="0">
                <a:latin typeface="Calibri"/>
                <a:cs typeface="Calibri"/>
              </a:rPr>
              <a:t>parameters</a:t>
            </a:r>
            <a:r>
              <a:rPr sz="2400" spc="110" dirty="0">
                <a:latin typeface="Calibri"/>
                <a:cs typeface="Calibri"/>
              </a:rPr>
              <a:t> </a:t>
            </a:r>
            <a:r>
              <a:rPr sz="2400" dirty="0">
                <a:latin typeface="Calibri"/>
                <a:cs typeface="Calibri"/>
              </a:rPr>
              <a:t>(cost,</a:t>
            </a:r>
            <a:r>
              <a:rPr sz="2400" spc="114" dirty="0">
                <a:latin typeface="Calibri"/>
                <a:cs typeface="Calibri"/>
              </a:rPr>
              <a:t> </a:t>
            </a:r>
            <a:r>
              <a:rPr sz="2400" dirty="0">
                <a:latin typeface="Calibri"/>
                <a:cs typeface="Calibri"/>
              </a:rPr>
              <a:t>time</a:t>
            </a:r>
            <a:r>
              <a:rPr sz="2400" spc="114" dirty="0">
                <a:latin typeface="Calibri"/>
                <a:cs typeface="Calibri"/>
              </a:rPr>
              <a:t> </a:t>
            </a:r>
            <a:r>
              <a:rPr sz="2400" dirty="0">
                <a:latin typeface="Calibri"/>
                <a:cs typeface="Calibri"/>
              </a:rPr>
              <a:t>for</a:t>
            </a:r>
            <a:r>
              <a:rPr sz="2400" spc="110" dirty="0">
                <a:latin typeface="Calibri"/>
                <a:cs typeface="Calibri"/>
              </a:rPr>
              <a:t> </a:t>
            </a:r>
            <a:r>
              <a:rPr sz="2400" dirty="0">
                <a:latin typeface="Calibri"/>
                <a:cs typeface="Calibri"/>
              </a:rPr>
              <a:t>ex.),</a:t>
            </a:r>
            <a:r>
              <a:rPr sz="2400" spc="110" dirty="0">
                <a:latin typeface="Calibri"/>
                <a:cs typeface="Calibri"/>
              </a:rPr>
              <a:t> </a:t>
            </a:r>
            <a:r>
              <a:rPr sz="2400" dirty="0">
                <a:latin typeface="Calibri"/>
                <a:cs typeface="Calibri"/>
              </a:rPr>
              <a:t>to</a:t>
            </a:r>
            <a:r>
              <a:rPr sz="2400" spc="110" dirty="0">
                <a:latin typeface="Calibri"/>
                <a:cs typeface="Calibri"/>
              </a:rPr>
              <a:t> </a:t>
            </a:r>
            <a:r>
              <a:rPr sz="2400" dirty="0">
                <a:latin typeface="Calibri"/>
                <a:cs typeface="Calibri"/>
              </a:rPr>
              <a:t>estimate</a:t>
            </a:r>
            <a:r>
              <a:rPr sz="2400" spc="120" dirty="0">
                <a:latin typeface="Calibri"/>
                <a:cs typeface="Calibri"/>
              </a:rPr>
              <a:t> </a:t>
            </a:r>
            <a:r>
              <a:rPr sz="2400" dirty="0">
                <a:latin typeface="Calibri"/>
                <a:cs typeface="Calibri"/>
              </a:rPr>
              <a:t>project</a:t>
            </a:r>
            <a:r>
              <a:rPr sz="2400" spc="105" dirty="0">
                <a:latin typeface="Calibri"/>
                <a:cs typeface="Calibri"/>
              </a:rPr>
              <a:t> </a:t>
            </a:r>
            <a:r>
              <a:rPr sz="2400" dirty="0">
                <a:latin typeface="Calibri"/>
                <a:cs typeface="Calibri"/>
              </a:rPr>
              <a:t>times</a:t>
            </a:r>
            <a:r>
              <a:rPr sz="2400" spc="110" dirty="0">
                <a:latin typeface="Calibri"/>
                <a:cs typeface="Calibri"/>
              </a:rPr>
              <a:t> </a:t>
            </a:r>
            <a:r>
              <a:rPr sz="2400" dirty="0">
                <a:latin typeface="Calibri"/>
                <a:cs typeface="Calibri"/>
              </a:rPr>
              <a:t>or</a:t>
            </a:r>
            <a:r>
              <a:rPr sz="2400" spc="110" dirty="0">
                <a:latin typeface="Calibri"/>
                <a:cs typeface="Calibri"/>
              </a:rPr>
              <a:t> </a:t>
            </a:r>
            <a:r>
              <a:rPr sz="2400" dirty="0">
                <a:latin typeface="Calibri"/>
                <a:cs typeface="Calibri"/>
              </a:rPr>
              <a:t>costs.</a:t>
            </a:r>
            <a:r>
              <a:rPr sz="2400" spc="105" dirty="0">
                <a:latin typeface="Calibri"/>
                <a:cs typeface="Calibri"/>
              </a:rPr>
              <a:t> </a:t>
            </a:r>
            <a:r>
              <a:rPr sz="2400" dirty="0">
                <a:latin typeface="Calibri"/>
                <a:cs typeface="Calibri"/>
              </a:rPr>
              <a:t>It</a:t>
            </a:r>
            <a:r>
              <a:rPr sz="2400" spc="105" dirty="0">
                <a:latin typeface="Calibri"/>
                <a:cs typeface="Calibri"/>
              </a:rPr>
              <a:t> </a:t>
            </a:r>
            <a:r>
              <a:rPr sz="2400" spc="-25" dirty="0">
                <a:latin typeface="Calibri"/>
                <a:cs typeface="Calibri"/>
              </a:rPr>
              <a:t>is </a:t>
            </a:r>
            <a:r>
              <a:rPr sz="2400" dirty="0">
                <a:latin typeface="Calibri"/>
                <a:cs typeface="Calibri"/>
              </a:rPr>
              <a:t>used</a:t>
            </a:r>
            <a:r>
              <a:rPr sz="2400" spc="75" dirty="0">
                <a:latin typeface="Calibri"/>
                <a:cs typeface="Calibri"/>
              </a:rPr>
              <a:t> </a:t>
            </a:r>
            <a:r>
              <a:rPr sz="2400" dirty="0">
                <a:latin typeface="Calibri"/>
                <a:cs typeface="Calibri"/>
              </a:rPr>
              <a:t>in</a:t>
            </a:r>
            <a:r>
              <a:rPr sz="2400" spc="80" dirty="0">
                <a:latin typeface="Calibri"/>
                <a:cs typeface="Calibri"/>
              </a:rPr>
              <a:t> </a:t>
            </a:r>
            <a:r>
              <a:rPr sz="2400" dirty="0">
                <a:latin typeface="Calibri"/>
                <a:cs typeface="Calibri"/>
              </a:rPr>
              <a:t>the</a:t>
            </a:r>
            <a:r>
              <a:rPr sz="2400" spc="85" dirty="0">
                <a:latin typeface="Calibri"/>
                <a:cs typeface="Calibri"/>
              </a:rPr>
              <a:t> </a:t>
            </a:r>
            <a:r>
              <a:rPr sz="2400" dirty="0">
                <a:latin typeface="Calibri"/>
                <a:cs typeface="Calibri"/>
              </a:rPr>
              <a:t>concept</a:t>
            </a:r>
            <a:r>
              <a:rPr sz="2400" spc="75" dirty="0">
                <a:latin typeface="Calibri"/>
                <a:cs typeface="Calibri"/>
              </a:rPr>
              <a:t> </a:t>
            </a:r>
            <a:r>
              <a:rPr sz="2400" dirty="0">
                <a:latin typeface="Calibri"/>
                <a:cs typeface="Calibri"/>
              </a:rPr>
              <a:t>or</a:t>
            </a:r>
            <a:r>
              <a:rPr sz="2400" spc="80" dirty="0">
                <a:latin typeface="Calibri"/>
                <a:cs typeface="Calibri"/>
              </a:rPr>
              <a:t> </a:t>
            </a:r>
            <a:r>
              <a:rPr sz="2400" dirty="0">
                <a:latin typeface="Calibri"/>
                <a:cs typeface="Calibri"/>
              </a:rPr>
              <a:t>“need”</a:t>
            </a:r>
            <a:r>
              <a:rPr sz="2400" spc="80" dirty="0">
                <a:latin typeface="Calibri"/>
                <a:cs typeface="Calibri"/>
              </a:rPr>
              <a:t> </a:t>
            </a:r>
            <a:r>
              <a:rPr sz="2400" dirty="0">
                <a:latin typeface="Calibri"/>
                <a:cs typeface="Calibri"/>
              </a:rPr>
              <a:t>phase</a:t>
            </a:r>
            <a:r>
              <a:rPr sz="2400" spc="85" dirty="0">
                <a:latin typeface="Calibri"/>
                <a:cs typeface="Calibri"/>
              </a:rPr>
              <a:t> </a:t>
            </a:r>
            <a:r>
              <a:rPr sz="2400" dirty="0">
                <a:latin typeface="Calibri"/>
                <a:cs typeface="Calibri"/>
              </a:rPr>
              <a:t>of</a:t>
            </a:r>
            <a:r>
              <a:rPr sz="2400" spc="85" dirty="0">
                <a:latin typeface="Calibri"/>
                <a:cs typeface="Calibri"/>
              </a:rPr>
              <a:t> </a:t>
            </a:r>
            <a:r>
              <a:rPr sz="2400" dirty="0">
                <a:latin typeface="Calibri"/>
                <a:cs typeface="Calibri"/>
              </a:rPr>
              <a:t>a</a:t>
            </a:r>
            <a:r>
              <a:rPr sz="2400" spc="80" dirty="0">
                <a:latin typeface="Calibri"/>
                <a:cs typeface="Calibri"/>
              </a:rPr>
              <a:t> </a:t>
            </a:r>
            <a:r>
              <a:rPr sz="2400" dirty="0">
                <a:latin typeface="Calibri"/>
                <a:cs typeface="Calibri"/>
              </a:rPr>
              <a:t>project</a:t>
            </a:r>
            <a:r>
              <a:rPr sz="2400" spc="70" dirty="0">
                <a:latin typeface="Calibri"/>
                <a:cs typeface="Calibri"/>
              </a:rPr>
              <a:t> </a:t>
            </a:r>
            <a:r>
              <a:rPr sz="2400" dirty="0">
                <a:latin typeface="Calibri"/>
                <a:cs typeface="Calibri"/>
              </a:rPr>
              <a:t>to</a:t>
            </a:r>
            <a:r>
              <a:rPr sz="2400" spc="80" dirty="0">
                <a:latin typeface="Calibri"/>
                <a:cs typeface="Calibri"/>
              </a:rPr>
              <a:t> </a:t>
            </a:r>
            <a:r>
              <a:rPr sz="2400" dirty="0">
                <a:latin typeface="Calibri"/>
                <a:cs typeface="Calibri"/>
              </a:rPr>
              <a:t>get</a:t>
            </a:r>
            <a:r>
              <a:rPr sz="2400" spc="75" dirty="0">
                <a:latin typeface="Calibri"/>
                <a:cs typeface="Calibri"/>
              </a:rPr>
              <a:t> </a:t>
            </a:r>
            <a:r>
              <a:rPr sz="2400" dirty="0">
                <a:latin typeface="Calibri"/>
                <a:cs typeface="Calibri"/>
              </a:rPr>
              <a:t>an</a:t>
            </a:r>
            <a:r>
              <a:rPr sz="2400" spc="85" dirty="0">
                <a:latin typeface="Calibri"/>
                <a:cs typeface="Calibri"/>
              </a:rPr>
              <a:t> </a:t>
            </a:r>
            <a:r>
              <a:rPr sz="2400" dirty="0">
                <a:latin typeface="Calibri"/>
                <a:cs typeface="Calibri"/>
              </a:rPr>
              <a:t>initial</a:t>
            </a:r>
            <a:r>
              <a:rPr sz="2400" spc="80" dirty="0">
                <a:latin typeface="Calibri"/>
                <a:cs typeface="Calibri"/>
              </a:rPr>
              <a:t> </a:t>
            </a:r>
            <a:r>
              <a:rPr sz="2400" dirty="0">
                <a:latin typeface="Calibri"/>
                <a:cs typeface="Calibri"/>
              </a:rPr>
              <a:t>duration</a:t>
            </a:r>
            <a:r>
              <a:rPr sz="2400" spc="80" dirty="0">
                <a:latin typeface="Calibri"/>
                <a:cs typeface="Calibri"/>
              </a:rPr>
              <a:t> </a:t>
            </a:r>
            <a:r>
              <a:rPr sz="2400" spc="-25" dirty="0">
                <a:latin typeface="Calibri"/>
                <a:cs typeface="Calibri"/>
              </a:rPr>
              <a:t>and </a:t>
            </a:r>
            <a:r>
              <a:rPr sz="2400" dirty="0">
                <a:latin typeface="Calibri"/>
                <a:cs typeface="Calibri"/>
              </a:rPr>
              <a:t>cost</a:t>
            </a:r>
            <a:r>
              <a:rPr sz="2400" spc="-70" dirty="0">
                <a:latin typeface="Calibri"/>
                <a:cs typeface="Calibri"/>
              </a:rPr>
              <a:t> </a:t>
            </a:r>
            <a:r>
              <a:rPr sz="2400" spc="-10" dirty="0">
                <a:latin typeface="Calibri"/>
                <a:cs typeface="Calibri"/>
              </a:rPr>
              <a:t>estimate</a:t>
            </a:r>
            <a:r>
              <a:rPr sz="2400" spc="-55" dirty="0">
                <a:latin typeface="Calibri"/>
                <a:cs typeface="Calibri"/>
              </a:rPr>
              <a:t> </a:t>
            </a:r>
            <a:r>
              <a:rPr sz="2400" dirty="0">
                <a:latin typeface="Calibri"/>
                <a:cs typeface="Calibri"/>
              </a:rPr>
              <a:t>for</a:t>
            </a:r>
            <a:r>
              <a:rPr sz="2400" spc="-65" dirty="0">
                <a:latin typeface="Calibri"/>
                <a:cs typeface="Calibri"/>
              </a:rPr>
              <a:t> </a:t>
            </a:r>
            <a:r>
              <a:rPr sz="2400" dirty="0">
                <a:latin typeface="Calibri"/>
                <a:cs typeface="Calibri"/>
              </a:rPr>
              <a:t>the</a:t>
            </a:r>
            <a:r>
              <a:rPr sz="2400" spc="-60" dirty="0">
                <a:latin typeface="Calibri"/>
                <a:cs typeface="Calibri"/>
              </a:rPr>
              <a:t> </a:t>
            </a:r>
            <a:r>
              <a:rPr sz="2400" spc="-10" dirty="0">
                <a:latin typeface="Calibri"/>
                <a:cs typeface="Calibri"/>
              </a:rPr>
              <a:t>project.</a:t>
            </a:r>
            <a:endParaRPr sz="2400" dirty="0">
              <a:latin typeface="Calibri"/>
              <a:cs typeface="Calibri"/>
            </a:endParaRPr>
          </a:p>
        </p:txBody>
      </p:sp>
      <p:pic>
        <p:nvPicPr>
          <p:cNvPr id="5" name="Picture 4">
            <a:extLst>
              <a:ext uri="{FF2B5EF4-FFF2-40B4-BE49-F238E27FC236}">
                <a16:creationId xmlns:a16="http://schemas.microsoft.com/office/drawing/2014/main" id="{A20DBFD9-1EC8-F014-EA03-79847D56E6C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2971798" y="3919890"/>
            <a:ext cx="5649686" cy="2938109"/>
          </a:xfrm>
          <a:prstGeom prst="rect">
            <a:avLst/>
          </a:prstGeom>
        </p:spPr>
      </p:pic>
      <p:sp>
        <p:nvSpPr>
          <p:cNvPr id="3" name="object 3"/>
          <p:cNvSpPr txBox="1"/>
          <p:nvPr/>
        </p:nvSpPr>
        <p:spPr>
          <a:xfrm>
            <a:off x="916938" y="1176747"/>
            <a:ext cx="10358120" cy="2786380"/>
          </a:xfrm>
          <a:prstGeom prst="rect">
            <a:avLst/>
          </a:prstGeom>
        </p:spPr>
        <p:txBody>
          <a:bodyPr vert="horz" wrap="square" lIns="0" tIns="13970" rIns="0" bIns="0" rtlCol="0">
            <a:spAutoFit/>
          </a:bodyPr>
          <a:lstStyle/>
          <a:p>
            <a:pPr marL="12700">
              <a:lnSpc>
                <a:spcPct val="100000"/>
              </a:lnSpc>
              <a:spcBef>
                <a:spcPts val="110"/>
              </a:spcBef>
            </a:pPr>
            <a:r>
              <a:rPr sz="1950" spc="-10" dirty="0">
                <a:latin typeface="Calibri Light"/>
                <a:cs typeface="Calibri Light"/>
              </a:rPr>
              <a:t>(2/5)</a:t>
            </a:r>
            <a:endParaRPr sz="1950" dirty="0">
              <a:latin typeface="Calibri Light"/>
              <a:cs typeface="Calibri Light"/>
            </a:endParaRPr>
          </a:p>
          <a:p>
            <a:pPr>
              <a:lnSpc>
                <a:spcPct val="100000"/>
              </a:lnSpc>
              <a:spcBef>
                <a:spcPts val="140"/>
              </a:spcBef>
            </a:pPr>
            <a:endParaRPr sz="1950" dirty="0">
              <a:latin typeface="Calibri Light"/>
              <a:cs typeface="Calibri Light"/>
            </a:endParaRPr>
          </a:p>
          <a:p>
            <a:pPr marL="240665" indent="-227965" algn="just">
              <a:lnSpc>
                <a:spcPct val="100000"/>
              </a:lnSpc>
              <a:buFont typeface="Arial MT"/>
              <a:buChar char="•"/>
              <a:tabLst>
                <a:tab pos="240665" algn="l"/>
              </a:tabLst>
            </a:pPr>
            <a:r>
              <a:rPr sz="2800" b="1" spc="-70" dirty="0">
                <a:latin typeface="Calibri"/>
                <a:cs typeface="Calibri"/>
              </a:rPr>
              <a:t>Top-</a:t>
            </a:r>
            <a:r>
              <a:rPr sz="2800" b="1" dirty="0">
                <a:latin typeface="Calibri"/>
                <a:cs typeface="Calibri"/>
              </a:rPr>
              <a:t>Down</a:t>
            </a:r>
            <a:r>
              <a:rPr sz="2800" b="1" spc="-75" dirty="0">
                <a:latin typeface="Calibri"/>
                <a:cs typeface="Calibri"/>
              </a:rPr>
              <a:t> </a:t>
            </a:r>
            <a:r>
              <a:rPr sz="2800" b="1" dirty="0">
                <a:latin typeface="Calibri"/>
                <a:cs typeface="Calibri"/>
              </a:rPr>
              <a:t>Approaches</a:t>
            </a:r>
            <a:r>
              <a:rPr sz="2800" b="1" spc="-70" dirty="0">
                <a:latin typeface="Calibri"/>
                <a:cs typeface="Calibri"/>
              </a:rPr>
              <a:t> </a:t>
            </a:r>
            <a:r>
              <a:rPr sz="2800" b="1" dirty="0">
                <a:latin typeface="Calibri"/>
                <a:cs typeface="Calibri"/>
              </a:rPr>
              <a:t>for</a:t>
            </a:r>
            <a:r>
              <a:rPr sz="2800" b="1" spc="-65" dirty="0">
                <a:latin typeface="Calibri"/>
                <a:cs typeface="Calibri"/>
              </a:rPr>
              <a:t> </a:t>
            </a:r>
            <a:r>
              <a:rPr sz="2800" b="1" dirty="0">
                <a:latin typeface="Calibri"/>
                <a:cs typeface="Calibri"/>
              </a:rPr>
              <a:t>Estimating</a:t>
            </a:r>
            <a:r>
              <a:rPr sz="2800" b="1" spc="-70" dirty="0">
                <a:latin typeface="Calibri"/>
                <a:cs typeface="Calibri"/>
              </a:rPr>
              <a:t> </a:t>
            </a:r>
            <a:r>
              <a:rPr sz="2800" b="1" dirty="0">
                <a:latin typeface="Calibri"/>
                <a:cs typeface="Calibri"/>
              </a:rPr>
              <a:t>Project</a:t>
            </a:r>
            <a:r>
              <a:rPr sz="2800" b="1" spc="-70" dirty="0">
                <a:latin typeface="Calibri"/>
                <a:cs typeface="Calibri"/>
              </a:rPr>
              <a:t> </a:t>
            </a:r>
            <a:r>
              <a:rPr sz="2800" b="1" dirty="0">
                <a:latin typeface="Calibri"/>
                <a:cs typeface="Calibri"/>
              </a:rPr>
              <a:t>Times</a:t>
            </a:r>
            <a:r>
              <a:rPr sz="2800" b="1" spc="-70" dirty="0">
                <a:latin typeface="Calibri"/>
                <a:cs typeface="Calibri"/>
              </a:rPr>
              <a:t> </a:t>
            </a:r>
            <a:r>
              <a:rPr sz="2800" b="1" dirty="0">
                <a:latin typeface="Calibri"/>
                <a:cs typeface="Calibri"/>
              </a:rPr>
              <a:t>and</a:t>
            </a:r>
            <a:r>
              <a:rPr sz="2800" b="1" spc="-70" dirty="0">
                <a:latin typeface="Calibri"/>
                <a:cs typeface="Calibri"/>
              </a:rPr>
              <a:t> </a:t>
            </a:r>
            <a:r>
              <a:rPr sz="2800" b="1" dirty="0">
                <a:latin typeface="Calibri"/>
                <a:cs typeface="Calibri"/>
              </a:rPr>
              <a:t>Costs</a:t>
            </a:r>
            <a:r>
              <a:rPr sz="2800" b="1" spc="-70" dirty="0">
                <a:latin typeface="Calibri"/>
                <a:cs typeface="Calibri"/>
              </a:rPr>
              <a:t> </a:t>
            </a:r>
            <a:r>
              <a:rPr sz="1800" b="1" spc="-10" dirty="0">
                <a:latin typeface="Calibri"/>
                <a:cs typeface="Calibri"/>
              </a:rPr>
              <a:t>(cont)</a:t>
            </a:r>
            <a:endParaRPr sz="1800" dirty="0">
              <a:latin typeface="Calibri"/>
              <a:cs typeface="Calibri"/>
            </a:endParaRPr>
          </a:p>
          <a:p>
            <a:pPr marL="601980" marR="5080" indent="-317500" algn="just">
              <a:lnSpc>
                <a:spcPct val="90200"/>
              </a:lnSpc>
              <a:spcBef>
                <a:spcPts val="515"/>
              </a:spcBef>
            </a:pPr>
            <a:r>
              <a:rPr sz="2400" b="1" i="1" dirty="0">
                <a:latin typeface="Calibri"/>
                <a:cs typeface="Calibri"/>
              </a:rPr>
              <a:t>3.</a:t>
            </a:r>
            <a:r>
              <a:rPr sz="2400" b="1" i="1" spc="75" dirty="0">
                <a:latin typeface="Calibri"/>
                <a:cs typeface="Calibri"/>
              </a:rPr>
              <a:t> </a:t>
            </a:r>
            <a:r>
              <a:rPr sz="2400" b="1" i="1" dirty="0">
                <a:latin typeface="Calibri"/>
                <a:cs typeface="Calibri"/>
              </a:rPr>
              <a:t>Apportion</a:t>
            </a:r>
            <a:r>
              <a:rPr sz="2400" b="1" i="1" spc="130" dirty="0">
                <a:latin typeface="Calibri"/>
                <a:cs typeface="Calibri"/>
              </a:rPr>
              <a:t>  </a:t>
            </a:r>
            <a:r>
              <a:rPr sz="2400" b="1" i="1" dirty="0">
                <a:latin typeface="Calibri"/>
                <a:cs typeface="Calibri"/>
              </a:rPr>
              <a:t>Methods:</a:t>
            </a:r>
            <a:r>
              <a:rPr sz="2400" b="1" i="1" spc="135" dirty="0">
                <a:latin typeface="Calibri"/>
                <a:cs typeface="Calibri"/>
              </a:rPr>
              <a:t>  </a:t>
            </a:r>
            <a:r>
              <a:rPr sz="2400" dirty="0">
                <a:latin typeface="Calibri"/>
                <a:cs typeface="Calibri"/>
              </a:rPr>
              <a:t>This</a:t>
            </a:r>
            <a:r>
              <a:rPr sz="2400" spc="135" dirty="0">
                <a:latin typeface="Calibri"/>
                <a:cs typeface="Calibri"/>
              </a:rPr>
              <a:t>  </a:t>
            </a:r>
            <a:r>
              <a:rPr sz="2400" dirty="0">
                <a:latin typeface="Calibri"/>
                <a:cs typeface="Calibri"/>
              </a:rPr>
              <a:t>method</a:t>
            </a:r>
            <a:r>
              <a:rPr sz="2400" spc="135" dirty="0">
                <a:latin typeface="Calibri"/>
                <a:cs typeface="Calibri"/>
              </a:rPr>
              <a:t>  </a:t>
            </a:r>
            <a:r>
              <a:rPr sz="2400" dirty="0">
                <a:latin typeface="Calibri"/>
                <a:cs typeface="Calibri"/>
              </a:rPr>
              <a:t>is</a:t>
            </a:r>
            <a:r>
              <a:rPr sz="2400" spc="130" dirty="0">
                <a:latin typeface="Calibri"/>
                <a:cs typeface="Calibri"/>
              </a:rPr>
              <a:t>  </a:t>
            </a:r>
            <a:r>
              <a:rPr sz="2400" dirty="0">
                <a:latin typeface="Calibri"/>
                <a:cs typeface="Calibri"/>
              </a:rPr>
              <a:t>an</a:t>
            </a:r>
            <a:r>
              <a:rPr sz="2400" spc="135" dirty="0">
                <a:latin typeface="Calibri"/>
                <a:cs typeface="Calibri"/>
              </a:rPr>
              <a:t>  </a:t>
            </a:r>
            <a:r>
              <a:rPr sz="2400" dirty="0">
                <a:latin typeface="Calibri"/>
                <a:cs typeface="Calibri"/>
              </a:rPr>
              <a:t>extension</a:t>
            </a:r>
            <a:r>
              <a:rPr sz="2400" spc="135" dirty="0">
                <a:latin typeface="Calibri"/>
                <a:cs typeface="Calibri"/>
              </a:rPr>
              <a:t>  </a:t>
            </a:r>
            <a:r>
              <a:rPr sz="2400" dirty="0">
                <a:latin typeface="Calibri"/>
                <a:cs typeface="Calibri"/>
              </a:rPr>
              <a:t>to</a:t>
            </a:r>
            <a:r>
              <a:rPr sz="2400" spc="130" dirty="0">
                <a:latin typeface="Calibri"/>
                <a:cs typeface="Calibri"/>
              </a:rPr>
              <a:t>  </a:t>
            </a:r>
            <a:r>
              <a:rPr sz="2400" dirty="0">
                <a:latin typeface="Calibri"/>
                <a:cs typeface="Calibri"/>
              </a:rPr>
              <a:t>the</a:t>
            </a:r>
            <a:r>
              <a:rPr sz="2400" spc="140" dirty="0">
                <a:latin typeface="Calibri"/>
                <a:cs typeface="Calibri"/>
              </a:rPr>
              <a:t>  </a:t>
            </a:r>
            <a:r>
              <a:rPr sz="2400" dirty="0">
                <a:latin typeface="Calibri"/>
                <a:cs typeface="Calibri"/>
              </a:rPr>
              <a:t>ratio</a:t>
            </a:r>
            <a:r>
              <a:rPr sz="2400" spc="130" dirty="0">
                <a:latin typeface="Calibri"/>
                <a:cs typeface="Calibri"/>
              </a:rPr>
              <a:t>  </a:t>
            </a:r>
            <a:r>
              <a:rPr sz="2400" spc="-10" dirty="0">
                <a:latin typeface="Calibri"/>
                <a:cs typeface="Calibri"/>
              </a:rPr>
              <a:t>method. </a:t>
            </a:r>
            <a:r>
              <a:rPr sz="2400" b="1" dirty="0">
                <a:latin typeface="Calibri"/>
                <a:cs typeface="Calibri"/>
              </a:rPr>
              <a:t>Apportionment</a:t>
            </a:r>
            <a:r>
              <a:rPr sz="2400" b="1" spc="145" dirty="0">
                <a:latin typeface="Calibri"/>
                <a:cs typeface="Calibri"/>
              </a:rPr>
              <a:t> </a:t>
            </a:r>
            <a:r>
              <a:rPr sz="2400" dirty="0">
                <a:latin typeface="Calibri"/>
                <a:cs typeface="Calibri"/>
              </a:rPr>
              <a:t>is</a:t>
            </a:r>
            <a:r>
              <a:rPr sz="2400" spc="140" dirty="0">
                <a:latin typeface="Calibri"/>
                <a:cs typeface="Calibri"/>
              </a:rPr>
              <a:t> </a:t>
            </a:r>
            <a:r>
              <a:rPr sz="2400" dirty="0">
                <a:latin typeface="Calibri"/>
                <a:cs typeface="Calibri"/>
              </a:rPr>
              <a:t>used</a:t>
            </a:r>
            <a:r>
              <a:rPr sz="2400" spc="140" dirty="0">
                <a:latin typeface="Calibri"/>
                <a:cs typeface="Calibri"/>
              </a:rPr>
              <a:t> </a:t>
            </a:r>
            <a:r>
              <a:rPr sz="2400" dirty="0">
                <a:latin typeface="Calibri"/>
                <a:cs typeface="Calibri"/>
              </a:rPr>
              <a:t>when</a:t>
            </a:r>
            <a:r>
              <a:rPr sz="2400" spc="145" dirty="0">
                <a:latin typeface="Calibri"/>
                <a:cs typeface="Calibri"/>
              </a:rPr>
              <a:t> </a:t>
            </a:r>
            <a:r>
              <a:rPr sz="2400" dirty="0">
                <a:latin typeface="Calibri"/>
                <a:cs typeface="Calibri"/>
              </a:rPr>
              <a:t>projects</a:t>
            </a:r>
            <a:r>
              <a:rPr sz="2400" spc="140" dirty="0">
                <a:latin typeface="Calibri"/>
                <a:cs typeface="Calibri"/>
              </a:rPr>
              <a:t> </a:t>
            </a:r>
            <a:r>
              <a:rPr sz="2400" dirty="0">
                <a:latin typeface="Calibri"/>
                <a:cs typeface="Calibri"/>
              </a:rPr>
              <a:t>closely</a:t>
            </a:r>
            <a:r>
              <a:rPr sz="2400" spc="140" dirty="0">
                <a:latin typeface="Calibri"/>
                <a:cs typeface="Calibri"/>
              </a:rPr>
              <a:t> </a:t>
            </a:r>
            <a:r>
              <a:rPr sz="2400" dirty="0">
                <a:latin typeface="Calibri"/>
                <a:cs typeface="Calibri"/>
              </a:rPr>
              <a:t>follow</a:t>
            </a:r>
            <a:r>
              <a:rPr sz="2400" spc="140" dirty="0">
                <a:latin typeface="Calibri"/>
                <a:cs typeface="Calibri"/>
              </a:rPr>
              <a:t> </a:t>
            </a:r>
            <a:r>
              <a:rPr sz="2400" dirty="0">
                <a:latin typeface="Calibri"/>
                <a:cs typeface="Calibri"/>
              </a:rPr>
              <a:t>past</a:t>
            </a:r>
            <a:r>
              <a:rPr sz="2400" spc="140" dirty="0">
                <a:latin typeface="Calibri"/>
                <a:cs typeface="Calibri"/>
              </a:rPr>
              <a:t> </a:t>
            </a:r>
            <a:r>
              <a:rPr sz="2400" dirty="0">
                <a:latin typeface="Calibri"/>
                <a:cs typeface="Calibri"/>
              </a:rPr>
              <a:t>projects</a:t>
            </a:r>
            <a:r>
              <a:rPr sz="2400" spc="135" dirty="0">
                <a:latin typeface="Calibri"/>
                <a:cs typeface="Calibri"/>
              </a:rPr>
              <a:t> </a:t>
            </a:r>
            <a:r>
              <a:rPr sz="2400" dirty="0">
                <a:latin typeface="Calibri"/>
                <a:cs typeface="Calibri"/>
              </a:rPr>
              <a:t>in</a:t>
            </a:r>
            <a:r>
              <a:rPr sz="2400" spc="145" dirty="0">
                <a:latin typeface="Calibri"/>
                <a:cs typeface="Calibri"/>
              </a:rPr>
              <a:t> </a:t>
            </a:r>
            <a:r>
              <a:rPr sz="2400" spc="-10" dirty="0">
                <a:latin typeface="Calibri"/>
                <a:cs typeface="Calibri"/>
              </a:rPr>
              <a:t>features </a:t>
            </a:r>
            <a:r>
              <a:rPr sz="2400" dirty="0">
                <a:latin typeface="Calibri"/>
                <a:cs typeface="Calibri"/>
              </a:rPr>
              <a:t>and</a:t>
            </a:r>
            <a:r>
              <a:rPr sz="2400" spc="-35" dirty="0">
                <a:latin typeface="Calibri"/>
                <a:cs typeface="Calibri"/>
              </a:rPr>
              <a:t> </a:t>
            </a:r>
            <a:r>
              <a:rPr sz="2400" dirty="0">
                <a:latin typeface="Calibri"/>
                <a:cs typeface="Calibri"/>
              </a:rPr>
              <a:t>costs.</a:t>
            </a:r>
            <a:r>
              <a:rPr sz="2400" spc="-35" dirty="0">
                <a:latin typeface="Calibri"/>
                <a:cs typeface="Calibri"/>
              </a:rPr>
              <a:t> </a:t>
            </a:r>
            <a:r>
              <a:rPr sz="2400" dirty="0">
                <a:latin typeface="Calibri"/>
                <a:cs typeface="Calibri"/>
              </a:rPr>
              <a:t>Given</a:t>
            </a:r>
            <a:r>
              <a:rPr sz="2400" spc="-30" dirty="0">
                <a:latin typeface="Calibri"/>
                <a:cs typeface="Calibri"/>
              </a:rPr>
              <a:t> </a:t>
            </a:r>
            <a:r>
              <a:rPr sz="2400" dirty="0">
                <a:latin typeface="Calibri"/>
                <a:cs typeface="Calibri"/>
              </a:rPr>
              <a:t>good</a:t>
            </a:r>
            <a:r>
              <a:rPr sz="2400" spc="-35" dirty="0">
                <a:latin typeface="Calibri"/>
                <a:cs typeface="Calibri"/>
              </a:rPr>
              <a:t> </a:t>
            </a:r>
            <a:r>
              <a:rPr sz="2400" dirty="0">
                <a:latin typeface="Calibri"/>
                <a:cs typeface="Calibri"/>
              </a:rPr>
              <a:t>historical</a:t>
            </a:r>
            <a:r>
              <a:rPr sz="2400" spc="-30" dirty="0">
                <a:latin typeface="Calibri"/>
                <a:cs typeface="Calibri"/>
              </a:rPr>
              <a:t> </a:t>
            </a:r>
            <a:r>
              <a:rPr sz="2400" dirty="0">
                <a:latin typeface="Calibri"/>
                <a:cs typeface="Calibri"/>
              </a:rPr>
              <a:t>data,</a:t>
            </a:r>
            <a:r>
              <a:rPr sz="2400" spc="-30" dirty="0">
                <a:latin typeface="Calibri"/>
                <a:cs typeface="Calibri"/>
              </a:rPr>
              <a:t> </a:t>
            </a:r>
            <a:r>
              <a:rPr sz="2400" dirty="0">
                <a:latin typeface="Calibri"/>
                <a:cs typeface="Calibri"/>
              </a:rPr>
              <a:t>estimates</a:t>
            </a:r>
            <a:r>
              <a:rPr sz="2400" spc="-30" dirty="0">
                <a:latin typeface="Calibri"/>
                <a:cs typeface="Calibri"/>
              </a:rPr>
              <a:t> </a:t>
            </a:r>
            <a:r>
              <a:rPr sz="2400" dirty="0">
                <a:latin typeface="Calibri"/>
                <a:cs typeface="Calibri"/>
              </a:rPr>
              <a:t>can</a:t>
            </a:r>
            <a:r>
              <a:rPr sz="2400" spc="-30" dirty="0">
                <a:latin typeface="Calibri"/>
                <a:cs typeface="Calibri"/>
              </a:rPr>
              <a:t> </a:t>
            </a:r>
            <a:r>
              <a:rPr sz="2400" dirty="0">
                <a:latin typeface="Calibri"/>
                <a:cs typeface="Calibri"/>
              </a:rPr>
              <a:t>be</a:t>
            </a:r>
            <a:r>
              <a:rPr sz="2400" spc="-30" dirty="0">
                <a:latin typeface="Calibri"/>
                <a:cs typeface="Calibri"/>
              </a:rPr>
              <a:t> </a:t>
            </a:r>
            <a:r>
              <a:rPr sz="2400" dirty="0">
                <a:latin typeface="Calibri"/>
                <a:cs typeface="Calibri"/>
              </a:rPr>
              <a:t>made</a:t>
            </a:r>
            <a:r>
              <a:rPr sz="2400" spc="-25" dirty="0">
                <a:latin typeface="Calibri"/>
                <a:cs typeface="Calibri"/>
              </a:rPr>
              <a:t> </a:t>
            </a:r>
            <a:r>
              <a:rPr sz="2400" dirty="0">
                <a:latin typeface="Calibri"/>
                <a:cs typeface="Calibri"/>
              </a:rPr>
              <a:t>quickly</a:t>
            </a:r>
            <a:r>
              <a:rPr sz="2400" spc="-30" dirty="0">
                <a:latin typeface="Calibri"/>
                <a:cs typeface="Calibri"/>
              </a:rPr>
              <a:t> </a:t>
            </a:r>
            <a:r>
              <a:rPr sz="2400" dirty="0">
                <a:latin typeface="Calibri"/>
                <a:cs typeface="Calibri"/>
              </a:rPr>
              <a:t>with</a:t>
            </a:r>
            <a:r>
              <a:rPr sz="2400" spc="-30" dirty="0">
                <a:latin typeface="Calibri"/>
                <a:cs typeface="Calibri"/>
              </a:rPr>
              <a:t> </a:t>
            </a:r>
            <a:r>
              <a:rPr sz="2400" spc="-10" dirty="0">
                <a:latin typeface="Calibri"/>
                <a:cs typeface="Calibri"/>
              </a:rPr>
              <a:t>little </a:t>
            </a:r>
            <a:r>
              <a:rPr sz="2400" dirty="0">
                <a:latin typeface="Calibri"/>
                <a:cs typeface="Calibri"/>
              </a:rPr>
              <a:t>effort</a:t>
            </a:r>
            <a:r>
              <a:rPr sz="2400" spc="125" dirty="0">
                <a:latin typeface="Calibri"/>
                <a:cs typeface="Calibri"/>
              </a:rPr>
              <a:t> </a:t>
            </a:r>
            <a:r>
              <a:rPr sz="2400" dirty="0">
                <a:latin typeface="Calibri"/>
                <a:cs typeface="Calibri"/>
              </a:rPr>
              <a:t>and</a:t>
            </a:r>
            <a:r>
              <a:rPr sz="2400" spc="130" dirty="0">
                <a:latin typeface="Calibri"/>
                <a:cs typeface="Calibri"/>
              </a:rPr>
              <a:t> </a:t>
            </a:r>
            <a:r>
              <a:rPr sz="2400" dirty="0">
                <a:latin typeface="Calibri"/>
                <a:cs typeface="Calibri"/>
              </a:rPr>
              <a:t>reasonable</a:t>
            </a:r>
            <a:r>
              <a:rPr sz="2400" spc="140" dirty="0">
                <a:latin typeface="Calibri"/>
                <a:cs typeface="Calibri"/>
              </a:rPr>
              <a:t> </a:t>
            </a:r>
            <a:r>
              <a:rPr sz="2400" dirty="0">
                <a:latin typeface="Calibri"/>
                <a:cs typeface="Calibri"/>
              </a:rPr>
              <a:t>accuracy.</a:t>
            </a:r>
            <a:r>
              <a:rPr sz="2400" spc="125" dirty="0">
                <a:latin typeface="Calibri"/>
                <a:cs typeface="Calibri"/>
              </a:rPr>
              <a:t> </a:t>
            </a:r>
            <a:r>
              <a:rPr sz="2400" dirty="0">
                <a:latin typeface="Calibri"/>
                <a:cs typeface="Calibri"/>
              </a:rPr>
              <a:t>This</a:t>
            </a:r>
            <a:r>
              <a:rPr sz="2400" spc="130" dirty="0">
                <a:latin typeface="Calibri"/>
                <a:cs typeface="Calibri"/>
              </a:rPr>
              <a:t> </a:t>
            </a:r>
            <a:r>
              <a:rPr sz="2400" dirty="0">
                <a:latin typeface="Calibri"/>
                <a:cs typeface="Calibri"/>
              </a:rPr>
              <a:t>method</a:t>
            </a:r>
            <a:r>
              <a:rPr sz="2400" spc="130" dirty="0">
                <a:latin typeface="Calibri"/>
                <a:cs typeface="Calibri"/>
              </a:rPr>
              <a:t> </a:t>
            </a:r>
            <a:r>
              <a:rPr sz="2400" dirty="0">
                <a:latin typeface="Calibri"/>
                <a:cs typeface="Calibri"/>
              </a:rPr>
              <a:t>is</a:t>
            </a:r>
            <a:r>
              <a:rPr sz="2400" spc="125" dirty="0">
                <a:latin typeface="Calibri"/>
                <a:cs typeface="Calibri"/>
              </a:rPr>
              <a:t> </a:t>
            </a:r>
            <a:r>
              <a:rPr sz="2400" dirty="0">
                <a:latin typeface="Calibri"/>
                <a:cs typeface="Calibri"/>
              </a:rPr>
              <a:t>very</a:t>
            </a:r>
            <a:r>
              <a:rPr sz="2400" spc="130" dirty="0">
                <a:latin typeface="Calibri"/>
                <a:cs typeface="Calibri"/>
              </a:rPr>
              <a:t> </a:t>
            </a:r>
            <a:r>
              <a:rPr sz="2400" dirty="0">
                <a:latin typeface="Calibri"/>
                <a:cs typeface="Calibri"/>
              </a:rPr>
              <a:t>common</a:t>
            </a:r>
            <a:r>
              <a:rPr sz="2400" spc="130" dirty="0">
                <a:latin typeface="Calibri"/>
                <a:cs typeface="Calibri"/>
              </a:rPr>
              <a:t> </a:t>
            </a:r>
            <a:r>
              <a:rPr sz="2400" dirty="0">
                <a:latin typeface="Calibri"/>
                <a:cs typeface="Calibri"/>
              </a:rPr>
              <a:t>in</a:t>
            </a:r>
            <a:r>
              <a:rPr sz="2400" spc="130" dirty="0">
                <a:latin typeface="Calibri"/>
                <a:cs typeface="Calibri"/>
              </a:rPr>
              <a:t> </a:t>
            </a:r>
            <a:r>
              <a:rPr sz="2400" dirty="0">
                <a:latin typeface="Calibri"/>
                <a:cs typeface="Calibri"/>
              </a:rPr>
              <a:t>projects</a:t>
            </a:r>
            <a:r>
              <a:rPr sz="2400" spc="125" dirty="0">
                <a:latin typeface="Calibri"/>
                <a:cs typeface="Calibri"/>
              </a:rPr>
              <a:t> </a:t>
            </a:r>
            <a:r>
              <a:rPr sz="2400" spc="-20" dirty="0">
                <a:latin typeface="Calibri"/>
                <a:cs typeface="Calibri"/>
              </a:rPr>
              <a:t>that </a:t>
            </a:r>
            <a:r>
              <a:rPr sz="2400" dirty="0">
                <a:latin typeface="Calibri"/>
                <a:cs typeface="Calibri"/>
              </a:rPr>
              <a:t>are</a:t>
            </a:r>
            <a:r>
              <a:rPr sz="2400" spc="-55" dirty="0">
                <a:latin typeface="Calibri"/>
                <a:cs typeface="Calibri"/>
              </a:rPr>
              <a:t> </a:t>
            </a:r>
            <a:r>
              <a:rPr sz="2400" spc="-10" dirty="0">
                <a:latin typeface="Calibri"/>
                <a:cs typeface="Calibri"/>
              </a:rPr>
              <a:t>relatively</a:t>
            </a:r>
            <a:r>
              <a:rPr sz="2400" spc="-55" dirty="0">
                <a:latin typeface="Calibri"/>
                <a:cs typeface="Calibri"/>
              </a:rPr>
              <a:t> </a:t>
            </a:r>
            <a:r>
              <a:rPr sz="2400" spc="-10" dirty="0">
                <a:latin typeface="Calibri"/>
                <a:cs typeface="Calibri"/>
              </a:rPr>
              <a:t>standard</a:t>
            </a:r>
            <a:r>
              <a:rPr sz="2400" spc="-55" dirty="0">
                <a:latin typeface="Calibri"/>
                <a:cs typeface="Calibri"/>
              </a:rPr>
              <a:t> </a:t>
            </a:r>
            <a:r>
              <a:rPr sz="2400" dirty="0">
                <a:latin typeface="Calibri"/>
                <a:cs typeface="Calibri"/>
              </a:rPr>
              <a:t>but</a:t>
            </a:r>
            <a:r>
              <a:rPr sz="2400" spc="-60" dirty="0">
                <a:latin typeface="Calibri"/>
                <a:cs typeface="Calibri"/>
              </a:rPr>
              <a:t> </a:t>
            </a:r>
            <a:r>
              <a:rPr sz="2400" dirty="0">
                <a:latin typeface="Calibri"/>
                <a:cs typeface="Calibri"/>
              </a:rPr>
              <a:t>have</a:t>
            </a:r>
            <a:r>
              <a:rPr sz="2400" spc="-50" dirty="0">
                <a:latin typeface="Calibri"/>
                <a:cs typeface="Calibri"/>
              </a:rPr>
              <a:t> </a:t>
            </a:r>
            <a:r>
              <a:rPr sz="2400" dirty="0">
                <a:latin typeface="Calibri"/>
                <a:cs typeface="Calibri"/>
              </a:rPr>
              <a:t>some</a:t>
            </a:r>
            <a:r>
              <a:rPr sz="2400" spc="-50" dirty="0">
                <a:latin typeface="Calibri"/>
                <a:cs typeface="Calibri"/>
              </a:rPr>
              <a:t> </a:t>
            </a:r>
            <a:r>
              <a:rPr sz="2400" dirty="0">
                <a:latin typeface="Calibri"/>
                <a:cs typeface="Calibri"/>
              </a:rPr>
              <a:t>small</a:t>
            </a:r>
            <a:r>
              <a:rPr sz="2400" spc="-55" dirty="0">
                <a:latin typeface="Calibri"/>
                <a:cs typeface="Calibri"/>
              </a:rPr>
              <a:t> </a:t>
            </a:r>
            <a:r>
              <a:rPr sz="2400" spc="-10" dirty="0">
                <a:latin typeface="Calibri"/>
                <a:cs typeface="Calibri"/>
              </a:rPr>
              <a:t>variation</a:t>
            </a:r>
            <a:r>
              <a:rPr sz="2400" spc="-55" dirty="0">
                <a:latin typeface="Calibri"/>
                <a:cs typeface="Calibri"/>
              </a:rPr>
              <a:t> </a:t>
            </a:r>
            <a:r>
              <a:rPr sz="2400" dirty="0">
                <a:latin typeface="Calibri"/>
                <a:cs typeface="Calibri"/>
              </a:rPr>
              <a:t>or</a:t>
            </a:r>
            <a:r>
              <a:rPr sz="2400" spc="-55" dirty="0">
                <a:latin typeface="Calibri"/>
                <a:cs typeface="Calibri"/>
              </a:rPr>
              <a:t> </a:t>
            </a:r>
            <a:r>
              <a:rPr sz="2400" spc="-10" dirty="0">
                <a:latin typeface="Calibri"/>
                <a:cs typeface="Calibri"/>
              </a:rPr>
              <a:t>customization.</a:t>
            </a:r>
            <a:endParaRPr sz="2400" dirty="0">
              <a:latin typeface="Calibri"/>
              <a:cs typeface="Calibri"/>
            </a:endParaRPr>
          </a:p>
        </p:txBody>
      </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12</a:t>
            </a:fld>
            <a:endParaRPr spc="-25" dirty="0"/>
          </a:p>
        </p:txBody>
      </p:sp>
      <p:sp>
        <p:nvSpPr>
          <p:cNvPr id="4" name="object 4"/>
          <p:cNvSpPr txBox="1"/>
          <p:nvPr/>
        </p:nvSpPr>
        <p:spPr>
          <a:xfrm>
            <a:off x="1871361" y="4897628"/>
            <a:ext cx="1071880" cy="391160"/>
          </a:xfrm>
          <a:prstGeom prst="rect">
            <a:avLst/>
          </a:prstGeom>
        </p:spPr>
        <p:txBody>
          <a:bodyPr vert="horz" wrap="square" lIns="0" tIns="12700" rIns="0" bIns="0" rtlCol="0">
            <a:spAutoFit/>
          </a:bodyPr>
          <a:lstStyle/>
          <a:p>
            <a:pPr marL="12700">
              <a:lnSpc>
                <a:spcPct val="100000"/>
              </a:lnSpc>
              <a:spcBef>
                <a:spcPts val="100"/>
              </a:spcBef>
            </a:pPr>
            <a:r>
              <a:rPr sz="2400" u="heavy" spc="-10" dirty="0">
                <a:uFill>
                  <a:solidFill>
                    <a:srgbClr val="000000"/>
                  </a:solidFill>
                </a:uFill>
                <a:latin typeface="Calibri"/>
                <a:cs typeface="Calibri"/>
              </a:rPr>
              <a:t>Example</a:t>
            </a:r>
            <a:endParaRPr sz="2400">
              <a:latin typeface="Calibri"/>
              <a:cs typeface="Calibri"/>
            </a:endParaRPr>
          </a:p>
        </p:txBody>
      </p:sp>
      <p:sp>
        <p:nvSpPr>
          <p:cNvPr id="5" name="object 5"/>
          <p:cNvSpPr txBox="1">
            <a:spLocks noGrp="1"/>
          </p:cNvSpPr>
          <p:nvPr>
            <p:ph type="title"/>
          </p:nvPr>
        </p:nvSpPr>
        <p:spPr>
          <a:xfrm>
            <a:off x="267967" y="444502"/>
            <a:ext cx="11656062" cy="677108"/>
          </a:xfrm>
          <a:prstGeom prst="rect">
            <a:avLst/>
          </a:prstGeom>
        </p:spPr>
        <p:txBody>
          <a:bodyPr vert="horz" wrap="square" lIns="0" tIns="15240" rIns="0" bIns="0" rtlCol="0">
            <a:spAutoFit/>
          </a:bodyPr>
          <a:lstStyle/>
          <a:p>
            <a:pPr marL="12700">
              <a:lnSpc>
                <a:spcPct val="100000"/>
              </a:lnSpc>
              <a:spcBef>
                <a:spcPts val="120"/>
              </a:spcBef>
            </a:pPr>
            <a:r>
              <a:rPr b="1" u="sng" spc="95" dirty="0">
                <a:solidFill>
                  <a:srgbClr val="FF0000"/>
                </a:solidFill>
              </a:rPr>
              <a:t>Methods for Estimating Project Times and Costs</a:t>
            </a:r>
          </a:p>
        </p:txBody>
      </p:sp>
      <p:pic>
        <p:nvPicPr>
          <p:cNvPr id="7" name="Picture 6">
            <a:extLst>
              <a:ext uri="{FF2B5EF4-FFF2-40B4-BE49-F238E27FC236}">
                <a16:creationId xmlns:a16="http://schemas.microsoft.com/office/drawing/2014/main" id="{E05F55A8-5F50-99C2-32B0-1AF8865DBB8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8" y="1176747"/>
            <a:ext cx="10357485" cy="4455795"/>
          </a:xfrm>
          <a:prstGeom prst="rect">
            <a:avLst/>
          </a:prstGeom>
        </p:spPr>
        <p:txBody>
          <a:bodyPr vert="horz" wrap="square" lIns="0" tIns="13970" rIns="0" bIns="0" rtlCol="0">
            <a:spAutoFit/>
          </a:bodyPr>
          <a:lstStyle/>
          <a:p>
            <a:pPr marL="12700">
              <a:lnSpc>
                <a:spcPct val="100000"/>
              </a:lnSpc>
              <a:spcBef>
                <a:spcPts val="110"/>
              </a:spcBef>
            </a:pPr>
            <a:r>
              <a:rPr sz="1950" spc="-10" dirty="0">
                <a:latin typeface="Calibri Light"/>
                <a:cs typeface="Calibri Light"/>
              </a:rPr>
              <a:t>(3/5)</a:t>
            </a:r>
            <a:endParaRPr sz="1950" dirty="0">
              <a:latin typeface="Calibri Light"/>
              <a:cs typeface="Calibri Light"/>
            </a:endParaRPr>
          </a:p>
          <a:p>
            <a:pPr>
              <a:lnSpc>
                <a:spcPct val="100000"/>
              </a:lnSpc>
              <a:spcBef>
                <a:spcPts val="140"/>
              </a:spcBef>
            </a:pPr>
            <a:endParaRPr sz="1950" dirty="0">
              <a:latin typeface="Calibri Light"/>
              <a:cs typeface="Calibri Light"/>
            </a:endParaRPr>
          </a:p>
          <a:p>
            <a:pPr marL="240665" indent="-227965">
              <a:lnSpc>
                <a:spcPct val="100000"/>
              </a:lnSpc>
              <a:buFont typeface="Arial MT"/>
              <a:buChar char="•"/>
              <a:tabLst>
                <a:tab pos="240665" algn="l"/>
              </a:tabLst>
            </a:pPr>
            <a:r>
              <a:rPr sz="2800" b="1" spc="-70" dirty="0">
                <a:latin typeface="Calibri"/>
                <a:cs typeface="Calibri"/>
              </a:rPr>
              <a:t>Top-</a:t>
            </a:r>
            <a:r>
              <a:rPr sz="2800" b="1" dirty="0">
                <a:latin typeface="Calibri"/>
                <a:cs typeface="Calibri"/>
              </a:rPr>
              <a:t>Down</a:t>
            </a:r>
            <a:r>
              <a:rPr sz="2800" b="1" spc="-75" dirty="0">
                <a:latin typeface="Calibri"/>
                <a:cs typeface="Calibri"/>
              </a:rPr>
              <a:t> </a:t>
            </a:r>
            <a:r>
              <a:rPr sz="2800" b="1" dirty="0">
                <a:latin typeface="Calibri"/>
                <a:cs typeface="Calibri"/>
              </a:rPr>
              <a:t>Approaches</a:t>
            </a:r>
            <a:r>
              <a:rPr sz="2800" b="1" spc="-70" dirty="0">
                <a:latin typeface="Calibri"/>
                <a:cs typeface="Calibri"/>
              </a:rPr>
              <a:t> </a:t>
            </a:r>
            <a:r>
              <a:rPr sz="2800" b="1" dirty="0">
                <a:latin typeface="Calibri"/>
                <a:cs typeface="Calibri"/>
              </a:rPr>
              <a:t>for</a:t>
            </a:r>
            <a:r>
              <a:rPr sz="2800" b="1" spc="-65" dirty="0">
                <a:latin typeface="Calibri"/>
                <a:cs typeface="Calibri"/>
              </a:rPr>
              <a:t> </a:t>
            </a:r>
            <a:r>
              <a:rPr sz="2800" b="1" dirty="0">
                <a:latin typeface="Calibri"/>
                <a:cs typeface="Calibri"/>
              </a:rPr>
              <a:t>Estimating</a:t>
            </a:r>
            <a:r>
              <a:rPr sz="2800" b="1" spc="-70" dirty="0">
                <a:latin typeface="Calibri"/>
                <a:cs typeface="Calibri"/>
              </a:rPr>
              <a:t> </a:t>
            </a:r>
            <a:r>
              <a:rPr sz="2800" b="1" dirty="0">
                <a:latin typeface="Calibri"/>
                <a:cs typeface="Calibri"/>
              </a:rPr>
              <a:t>Project</a:t>
            </a:r>
            <a:r>
              <a:rPr sz="2800" b="1" spc="-70" dirty="0">
                <a:latin typeface="Calibri"/>
                <a:cs typeface="Calibri"/>
              </a:rPr>
              <a:t> </a:t>
            </a:r>
            <a:r>
              <a:rPr sz="2800" b="1" dirty="0">
                <a:latin typeface="Calibri"/>
                <a:cs typeface="Calibri"/>
              </a:rPr>
              <a:t>Times</a:t>
            </a:r>
            <a:r>
              <a:rPr sz="2800" b="1" spc="-70" dirty="0">
                <a:latin typeface="Calibri"/>
                <a:cs typeface="Calibri"/>
              </a:rPr>
              <a:t> </a:t>
            </a:r>
            <a:r>
              <a:rPr sz="2800" b="1" dirty="0">
                <a:latin typeface="Calibri"/>
                <a:cs typeface="Calibri"/>
              </a:rPr>
              <a:t>and</a:t>
            </a:r>
            <a:r>
              <a:rPr sz="2800" b="1" spc="-70" dirty="0">
                <a:latin typeface="Calibri"/>
                <a:cs typeface="Calibri"/>
              </a:rPr>
              <a:t> </a:t>
            </a:r>
            <a:r>
              <a:rPr sz="2800" b="1" dirty="0">
                <a:latin typeface="Calibri"/>
                <a:cs typeface="Calibri"/>
              </a:rPr>
              <a:t>Costs</a:t>
            </a:r>
            <a:r>
              <a:rPr sz="2800" b="1" spc="-70" dirty="0">
                <a:latin typeface="Calibri"/>
                <a:cs typeface="Calibri"/>
              </a:rPr>
              <a:t> </a:t>
            </a:r>
            <a:r>
              <a:rPr sz="1800" b="1" spc="-10" dirty="0">
                <a:latin typeface="Calibri"/>
                <a:cs typeface="Calibri"/>
              </a:rPr>
              <a:t>(cont)</a:t>
            </a:r>
            <a:endParaRPr sz="1800" dirty="0">
              <a:latin typeface="Calibri"/>
              <a:cs typeface="Calibri"/>
            </a:endParaRPr>
          </a:p>
          <a:p>
            <a:pPr>
              <a:lnSpc>
                <a:spcPct val="100000"/>
              </a:lnSpc>
              <a:spcBef>
                <a:spcPts val="1105"/>
              </a:spcBef>
            </a:pPr>
            <a:endParaRPr sz="2800" dirty="0">
              <a:latin typeface="Calibri"/>
              <a:cs typeface="Calibri"/>
            </a:endParaRPr>
          </a:p>
          <a:p>
            <a:pPr marL="647700" marR="5080" indent="-317500" algn="just">
              <a:lnSpc>
                <a:spcPct val="90200"/>
              </a:lnSpc>
            </a:pPr>
            <a:r>
              <a:rPr sz="2400" b="1" i="1" dirty="0">
                <a:latin typeface="Calibri"/>
                <a:cs typeface="Calibri"/>
              </a:rPr>
              <a:t>4.</a:t>
            </a:r>
            <a:r>
              <a:rPr sz="2400" b="1" i="1" spc="50" dirty="0">
                <a:latin typeface="Calibri"/>
                <a:cs typeface="Calibri"/>
              </a:rPr>
              <a:t> </a:t>
            </a:r>
            <a:r>
              <a:rPr sz="2400" b="1" i="1" dirty="0">
                <a:latin typeface="Calibri"/>
                <a:cs typeface="Calibri"/>
              </a:rPr>
              <a:t>Learning</a:t>
            </a:r>
            <a:r>
              <a:rPr sz="2400" b="1" i="1" spc="60" dirty="0">
                <a:latin typeface="Calibri"/>
                <a:cs typeface="Calibri"/>
              </a:rPr>
              <a:t> </a:t>
            </a:r>
            <a:r>
              <a:rPr sz="2400" b="1" i="1" dirty="0">
                <a:latin typeface="Calibri"/>
                <a:cs typeface="Calibri"/>
              </a:rPr>
              <a:t>Curves:</a:t>
            </a:r>
            <a:r>
              <a:rPr sz="2400" b="1" i="1" spc="65" dirty="0">
                <a:latin typeface="Calibri"/>
                <a:cs typeface="Calibri"/>
              </a:rPr>
              <a:t> </a:t>
            </a:r>
            <a:r>
              <a:rPr sz="2400" dirty="0">
                <a:latin typeface="Calibri"/>
                <a:cs typeface="Calibri"/>
              </a:rPr>
              <a:t>Some</a:t>
            </a:r>
            <a:r>
              <a:rPr sz="2400" spc="70" dirty="0">
                <a:latin typeface="Calibri"/>
                <a:cs typeface="Calibri"/>
              </a:rPr>
              <a:t> </a:t>
            </a:r>
            <a:r>
              <a:rPr sz="2400" dirty="0">
                <a:latin typeface="Calibri"/>
                <a:cs typeface="Calibri"/>
              </a:rPr>
              <a:t>projects</a:t>
            </a:r>
            <a:r>
              <a:rPr sz="2400" spc="60" dirty="0">
                <a:latin typeface="Calibri"/>
                <a:cs typeface="Calibri"/>
              </a:rPr>
              <a:t> </a:t>
            </a:r>
            <a:r>
              <a:rPr sz="2400" dirty="0">
                <a:latin typeface="Calibri"/>
                <a:cs typeface="Calibri"/>
              </a:rPr>
              <a:t>require</a:t>
            </a:r>
            <a:r>
              <a:rPr sz="2400" spc="75" dirty="0">
                <a:latin typeface="Calibri"/>
                <a:cs typeface="Calibri"/>
              </a:rPr>
              <a:t> </a:t>
            </a:r>
            <a:r>
              <a:rPr sz="2400" dirty="0">
                <a:latin typeface="Calibri"/>
                <a:cs typeface="Calibri"/>
              </a:rPr>
              <a:t>that</a:t>
            </a:r>
            <a:r>
              <a:rPr sz="2400" spc="60" dirty="0">
                <a:latin typeface="Calibri"/>
                <a:cs typeface="Calibri"/>
              </a:rPr>
              <a:t> </a:t>
            </a:r>
            <a:r>
              <a:rPr sz="2400" dirty="0">
                <a:latin typeface="Calibri"/>
                <a:cs typeface="Calibri"/>
              </a:rPr>
              <a:t>the</a:t>
            </a:r>
            <a:r>
              <a:rPr sz="2400" spc="75" dirty="0">
                <a:latin typeface="Calibri"/>
                <a:cs typeface="Calibri"/>
              </a:rPr>
              <a:t> </a:t>
            </a:r>
            <a:r>
              <a:rPr sz="2400" dirty="0">
                <a:latin typeface="Calibri"/>
                <a:cs typeface="Calibri"/>
              </a:rPr>
              <a:t>same</a:t>
            </a:r>
            <a:r>
              <a:rPr sz="2400" spc="75" dirty="0">
                <a:latin typeface="Calibri"/>
                <a:cs typeface="Calibri"/>
              </a:rPr>
              <a:t> </a:t>
            </a:r>
            <a:r>
              <a:rPr sz="2400" dirty="0">
                <a:latin typeface="Calibri"/>
                <a:cs typeface="Calibri"/>
              </a:rPr>
              <a:t>task,</a:t>
            </a:r>
            <a:r>
              <a:rPr sz="2400" spc="70" dirty="0">
                <a:latin typeface="Calibri"/>
                <a:cs typeface="Calibri"/>
              </a:rPr>
              <a:t> </a:t>
            </a:r>
            <a:r>
              <a:rPr sz="2400" dirty="0">
                <a:latin typeface="Calibri"/>
                <a:cs typeface="Calibri"/>
              </a:rPr>
              <a:t>group</a:t>
            </a:r>
            <a:r>
              <a:rPr sz="2400" spc="70" dirty="0">
                <a:latin typeface="Calibri"/>
                <a:cs typeface="Calibri"/>
              </a:rPr>
              <a:t> </a:t>
            </a:r>
            <a:r>
              <a:rPr sz="2400" dirty="0">
                <a:latin typeface="Calibri"/>
                <a:cs typeface="Calibri"/>
              </a:rPr>
              <a:t>of</a:t>
            </a:r>
            <a:r>
              <a:rPr sz="2400" spc="70" dirty="0">
                <a:latin typeface="Calibri"/>
                <a:cs typeface="Calibri"/>
              </a:rPr>
              <a:t> </a:t>
            </a:r>
            <a:r>
              <a:rPr sz="2400" dirty="0">
                <a:latin typeface="Calibri"/>
                <a:cs typeface="Calibri"/>
              </a:rPr>
              <a:t>tasks</a:t>
            </a:r>
            <a:r>
              <a:rPr sz="2400" spc="65" dirty="0">
                <a:latin typeface="Calibri"/>
                <a:cs typeface="Calibri"/>
              </a:rPr>
              <a:t> </a:t>
            </a:r>
            <a:r>
              <a:rPr sz="2400" spc="-25" dirty="0">
                <a:latin typeface="Calibri"/>
                <a:cs typeface="Calibri"/>
              </a:rPr>
              <a:t>be </a:t>
            </a:r>
            <a:r>
              <a:rPr sz="2400" dirty="0">
                <a:latin typeface="Calibri"/>
                <a:cs typeface="Calibri"/>
              </a:rPr>
              <a:t>repeated</a:t>
            </a:r>
            <a:r>
              <a:rPr sz="2400" spc="25" dirty="0">
                <a:latin typeface="Calibri"/>
                <a:cs typeface="Calibri"/>
              </a:rPr>
              <a:t> </a:t>
            </a:r>
            <a:r>
              <a:rPr sz="2400" dirty="0">
                <a:latin typeface="Calibri"/>
                <a:cs typeface="Calibri"/>
              </a:rPr>
              <a:t>several</a:t>
            </a:r>
            <a:r>
              <a:rPr sz="2400" spc="20" dirty="0">
                <a:latin typeface="Calibri"/>
                <a:cs typeface="Calibri"/>
              </a:rPr>
              <a:t> </a:t>
            </a:r>
            <a:r>
              <a:rPr sz="2400" dirty="0">
                <a:latin typeface="Calibri"/>
                <a:cs typeface="Calibri"/>
              </a:rPr>
              <a:t>times.</a:t>
            </a:r>
            <a:r>
              <a:rPr sz="2400" spc="20" dirty="0">
                <a:latin typeface="Calibri"/>
                <a:cs typeface="Calibri"/>
              </a:rPr>
              <a:t> </a:t>
            </a:r>
            <a:r>
              <a:rPr sz="2400" dirty="0">
                <a:latin typeface="Calibri"/>
                <a:cs typeface="Calibri"/>
              </a:rPr>
              <a:t>Managers</a:t>
            </a:r>
            <a:r>
              <a:rPr sz="2400" spc="20" dirty="0">
                <a:latin typeface="Calibri"/>
                <a:cs typeface="Calibri"/>
              </a:rPr>
              <a:t> </a:t>
            </a:r>
            <a:r>
              <a:rPr sz="2400" dirty="0">
                <a:latin typeface="Calibri"/>
                <a:cs typeface="Calibri"/>
              </a:rPr>
              <a:t>know</a:t>
            </a:r>
            <a:r>
              <a:rPr sz="2400" spc="25" dirty="0">
                <a:latin typeface="Calibri"/>
                <a:cs typeface="Calibri"/>
              </a:rPr>
              <a:t> </a:t>
            </a:r>
            <a:r>
              <a:rPr sz="2400" dirty="0">
                <a:latin typeface="Calibri"/>
                <a:cs typeface="Calibri"/>
              </a:rPr>
              <a:t>intuitively</a:t>
            </a:r>
            <a:r>
              <a:rPr sz="2400" spc="20" dirty="0">
                <a:latin typeface="Calibri"/>
                <a:cs typeface="Calibri"/>
              </a:rPr>
              <a:t> </a:t>
            </a:r>
            <a:r>
              <a:rPr sz="2400" dirty="0">
                <a:latin typeface="Calibri"/>
                <a:cs typeface="Calibri"/>
              </a:rPr>
              <a:t>that</a:t>
            </a:r>
            <a:r>
              <a:rPr sz="2400" spc="20" dirty="0">
                <a:latin typeface="Calibri"/>
                <a:cs typeface="Calibri"/>
              </a:rPr>
              <a:t> </a:t>
            </a:r>
            <a:r>
              <a:rPr sz="2400" dirty="0">
                <a:latin typeface="Calibri"/>
                <a:cs typeface="Calibri"/>
              </a:rPr>
              <a:t>the</a:t>
            </a:r>
            <a:r>
              <a:rPr sz="2400" spc="30" dirty="0">
                <a:latin typeface="Calibri"/>
                <a:cs typeface="Calibri"/>
              </a:rPr>
              <a:t> </a:t>
            </a:r>
            <a:r>
              <a:rPr sz="2400" dirty="0">
                <a:latin typeface="Calibri"/>
                <a:cs typeface="Calibri"/>
              </a:rPr>
              <a:t>time</a:t>
            </a:r>
            <a:r>
              <a:rPr sz="2400" spc="25" dirty="0">
                <a:latin typeface="Calibri"/>
                <a:cs typeface="Calibri"/>
              </a:rPr>
              <a:t> </a:t>
            </a:r>
            <a:r>
              <a:rPr sz="2400" dirty="0">
                <a:latin typeface="Calibri"/>
                <a:cs typeface="Calibri"/>
              </a:rPr>
              <a:t>to</a:t>
            </a:r>
            <a:r>
              <a:rPr sz="2400" spc="25" dirty="0">
                <a:latin typeface="Calibri"/>
                <a:cs typeface="Calibri"/>
              </a:rPr>
              <a:t> </a:t>
            </a:r>
            <a:r>
              <a:rPr sz="2400" dirty="0">
                <a:latin typeface="Calibri"/>
                <a:cs typeface="Calibri"/>
              </a:rPr>
              <a:t>perform</a:t>
            </a:r>
            <a:r>
              <a:rPr sz="2400" spc="20" dirty="0">
                <a:latin typeface="Calibri"/>
                <a:cs typeface="Calibri"/>
              </a:rPr>
              <a:t> </a:t>
            </a:r>
            <a:r>
              <a:rPr sz="2400" spc="-50" dirty="0">
                <a:latin typeface="Calibri"/>
                <a:cs typeface="Calibri"/>
              </a:rPr>
              <a:t>a </a:t>
            </a:r>
            <a:r>
              <a:rPr sz="2400" dirty="0">
                <a:latin typeface="Calibri"/>
                <a:cs typeface="Calibri"/>
              </a:rPr>
              <a:t>task</a:t>
            </a:r>
            <a:r>
              <a:rPr sz="2400" spc="370" dirty="0">
                <a:latin typeface="Calibri"/>
                <a:cs typeface="Calibri"/>
              </a:rPr>
              <a:t> </a:t>
            </a:r>
            <a:r>
              <a:rPr sz="2400" dirty="0">
                <a:latin typeface="Calibri"/>
                <a:cs typeface="Calibri"/>
              </a:rPr>
              <a:t>improves</a:t>
            </a:r>
            <a:r>
              <a:rPr sz="2400" spc="370" dirty="0">
                <a:latin typeface="Calibri"/>
                <a:cs typeface="Calibri"/>
              </a:rPr>
              <a:t> </a:t>
            </a:r>
            <a:r>
              <a:rPr sz="2400" dirty="0">
                <a:latin typeface="Calibri"/>
                <a:cs typeface="Calibri"/>
              </a:rPr>
              <a:t>with</a:t>
            </a:r>
            <a:r>
              <a:rPr sz="2400" spc="375" dirty="0">
                <a:latin typeface="Calibri"/>
                <a:cs typeface="Calibri"/>
              </a:rPr>
              <a:t> </a:t>
            </a:r>
            <a:r>
              <a:rPr sz="2400" dirty="0">
                <a:latin typeface="Calibri"/>
                <a:cs typeface="Calibri"/>
              </a:rPr>
              <a:t>repetition.</a:t>
            </a:r>
            <a:r>
              <a:rPr sz="2400" spc="365" dirty="0">
                <a:latin typeface="Calibri"/>
                <a:cs typeface="Calibri"/>
              </a:rPr>
              <a:t> </a:t>
            </a:r>
            <a:r>
              <a:rPr sz="2400" dirty="0">
                <a:latin typeface="Calibri"/>
                <a:cs typeface="Calibri"/>
              </a:rPr>
              <a:t>This</a:t>
            </a:r>
            <a:r>
              <a:rPr sz="2400" spc="370" dirty="0">
                <a:latin typeface="Calibri"/>
                <a:cs typeface="Calibri"/>
              </a:rPr>
              <a:t> </a:t>
            </a:r>
            <a:r>
              <a:rPr sz="2400" dirty="0">
                <a:latin typeface="Calibri"/>
                <a:cs typeface="Calibri"/>
              </a:rPr>
              <a:t>phenomenon</a:t>
            </a:r>
            <a:r>
              <a:rPr sz="2400" spc="370" dirty="0">
                <a:latin typeface="Calibri"/>
                <a:cs typeface="Calibri"/>
              </a:rPr>
              <a:t> </a:t>
            </a:r>
            <a:r>
              <a:rPr sz="2400" dirty="0">
                <a:latin typeface="Calibri"/>
                <a:cs typeface="Calibri"/>
              </a:rPr>
              <a:t>is</a:t>
            </a:r>
            <a:r>
              <a:rPr sz="2400" spc="370" dirty="0">
                <a:latin typeface="Calibri"/>
                <a:cs typeface="Calibri"/>
              </a:rPr>
              <a:t> </a:t>
            </a:r>
            <a:r>
              <a:rPr sz="2400" dirty="0">
                <a:latin typeface="Calibri"/>
                <a:cs typeface="Calibri"/>
              </a:rPr>
              <a:t>especially</a:t>
            </a:r>
            <a:r>
              <a:rPr sz="2400" spc="375" dirty="0">
                <a:latin typeface="Calibri"/>
                <a:cs typeface="Calibri"/>
              </a:rPr>
              <a:t> </a:t>
            </a:r>
            <a:r>
              <a:rPr sz="2400" dirty="0">
                <a:latin typeface="Calibri"/>
                <a:cs typeface="Calibri"/>
              </a:rPr>
              <a:t>true</a:t>
            </a:r>
            <a:r>
              <a:rPr sz="2400" spc="380" dirty="0">
                <a:latin typeface="Calibri"/>
                <a:cs typeface="Calibri"/>
              </a:rPr>
              <a:t> </a:t>
            </a:r>
            <a:r>
              <a:rPr sz="2400" dirty="0">
                <a:latin typeface="Calibri"/>
                <a:cs typeface="Calibri"/>
              </a:rPr>
              <a:t>of</a:t>
            </a:r>
            <a:r>
              <a:rPr sz="2400" spc="375" dirty="0">
                <a:latin typeface="Calibri"/>
                <a:cs typeface="Calibri"/>
              </a:rPr>
              <a:t> </a:t>
            </a:r>
            <a:r>
              <a:rPr sz="2400" spc="-10" dirty="0">
                <a:latin typeface="Calibri"/>
                <a:cs typeface="Calibri"/>
              </a:rPr>
              <a:t>tasks </a:t>
            </a:r>
            <a:r>
              <a:rPr sz="2400" dirty="0">
                <a:latin typeface="Calibri"/>
                <a:cs typeface="Calibri"/>
              </a:rPr>
              <a:t>that</a:t>
            </a:r>
            <a:r>
              <a:rPr sz="2400" spc="370" dirty="0">
                <a:latin typeface="Calibri"/>
                <a:cs typeface="Calibri"/>
              </a:rPr>
              <a:t> </a:t>
            </a:r>
            <a:r>
              <a:rPr sz="2400" dirty="0">
                <a:latin typeface="Calibri"/>
                <a:cs typeface="Calibri"/>
              </a:rPr>
              <a:t>are</a:t>
            </a:r>
            <a:r>
              <a:rPr sz="2400" spc="385" dirty="0">
                <a:latin typeface="Calibri"/>
                <a:cs typeface="Calibri"/>
              </a:rPr>
              <a:t> </a:t>
            </a:r>
            <a:r>
              <a:rPr sz="2400" dirty="0">
                <a:latin typeface="Calibri"/>
                <a:cs typeface="Calibri"/>
              </a:rPr>
              <a:t>labor</a:t>
            </a:r>
            <a:r>
              <a:rPr sz="2400" spc="385" dirty="0">
                <a:latin typeface="Calibri"/>
                <a:cs typeface="Calibri"/>
              </a:rPr>
              <a:t> </a:t>
            </a:r>
            <a:r>
              <a:rPr sz="2400" dirty="0">
                <a:latin typeface="Calibri"/>
                <a:cs typeface="Calibri"/>
              </a:rPr>
              <a:t>intensive.</a:t>
            </a:r>
            <a:r>
              <a:rPr sz="2400" spc="375" dirty="0">
                <a:latin typeface="Calibri"/>
                <a:cs typeface="Calibri"/>
              </a:rPr>
              <a:t> </a:t>
            </a:r>
            <a:r>
              <a:rPr sz="2400" dirty="0">
                <a:latin typeface="Calibri"/>
                <a:cs typeface="Calibri"/>
              </a:rPr>
              <a:t>From</a:t>
            </a:r>
            <a:r>
              <a:rPr sz="2400" spc="370" dirty="0">
                <a:latin typeface="Calibri"/>
                <a:cs typeface="Calibri"/>
              </a:rPr>
              <a:t> </a:t>
            </a:r>
            <a:r>
              <a:rPr sz="2400" dirty="0">
                <a:latin typeface="Calibri"/>
                <a:cs typeface="Calibri"/>
              </a:rPr>
              <a:t>empirical</a:t>
            </a:r>
            <a:r>
              <a:rPr sz="2400" spc="385" dirty="0">
                <a:latin typeface="Calibri"/>
                <a:cs typeface="Calibri"/>
              </a:rPr>
              <a:t> </a:t>
            </a:r>
            <a:r>
              <a:rPr sz="2400" dirty="0">
                <a:latin typeface="Calibri"/>
                <a:cs typeface="Calibri"/>
              </a:rPr>
              <a:t>evidence</a:t>
            </a:r>
            <a:r>
              <a:rPr sz="2400" spc="385" dirty="0">
                <a:latin typeface="Calibri"/>
                <a:cs typeface="Calibri"/>
              </a:rPr>
              <a:t> </a:t>
            </a:r>
            <a:r>
              <a:rPr sz="2400" dirty="0">
                <a:latin typeface="Calibri"/>
                <a:cs typeface="Calibri"/>
              </a:rPr>
              <a:t>across</a:t>
            </a:r>
            <a:r>
              <a:rPr sz="2400" spc="375" dirty="0">
                <a:latin typeface="Calibri"/>
                <a:cs typeface="Calibri"/>
              </a:rPr>
              <a:t> </a:t>
            </a:r>
            <a:r>
              <a:rPr sz="2400" i="1" dirty="0">
                <a:latin typeface="Calibri"/>
                <a:cs typeface="Calibri"/>
              </a:rPr>
              <a:t>all</a:t>
            </a:r>
            <a:r>
              <a:rPr sz="2400" i="1" spc="380" dirty="0">
                <a:latin typeface="Calibri"/>
                <a:cs typeface="Calibri"/>
              </a:rPr>
              <a:t> </a:t>
            </a:r>
            <a:r>
              <a:rPr sz="2400" dirty="0">
                <a:latin typeface="Calibri"/>
                <a:cs typeface="Calibri"/>
              </a:rPr>
              <a:t>industries,</a:t>
            </a:r>
            <a:r>
              <a:rPr sz="2400" spc="385" dirty="0">
                <a:latin typeface="Calibri"/>
                <a:cs typeface="Calibri"/>
              </a:rPr>
              <a:t> </a:t>
            </a:r>
            <a:r>
              <a:rPr sz="2400" spc="-25" dirty="0">
                <a:latin typeface="Calibri"/>
                <a:cs typeface="Calibri"/>
              </a:rPr>
              <a:t>the </a:t>
            </a:r>
            <a:r>
              <a:rPr sz="2400" dirty="0">
                <a:latin typeface="Calibri"/>
                <a:cs typeface="Calibri"/>
              </a:rPr>
              <a:t>pattern</a:t>
            </a:r>
            <a:r>
              <a:rPr sz="2400" spc="25" dirty="0">
                <a:latin typeface="Calibri"/>
                <a:cs typeface="Calibri"/>
              </a:rPr>
              <a:t> </a:t>
            </a:r>
            <a:r>
              <a:rPr sz="2400" dirty="0">
                <a:latin typeface="Calibri"/>
                <a:cs typeface="Calibri"/>
              </a:rPr>
              <a:t>of</a:t>
            </a:r>
            <a:r>
              <a:rPr sz="2400" spc="30" dirty="0">
                <a:latin typeface="Calibri"/>
                <a:cs typeface="Calibri"/>
              </a:rPr>
              <a:t> </a:t>
            </a:r>
            <a:r>
              <a:rPr sz="2400" dirty="0">
                <a:latin typeface="Calibri"/>
                <a:cs typeface="Calibri"/>
              </a:rPr>
              <a:t>this</a:t>
            </a:r>
            <a:r>
              <a:rPr sz="2400" spc="25" dirty="0">
                <a:latin typeface="Calibri"/>
                <a:cs typeface="Calibri"/>
              </a:rPr>
              <a:t> </a:t>
            </a:r>
            <a:r>
              <a:rPr sz="2400" dirty="0">
                <a:latin typeface="Calibri"/>
                <a:cs typeface="Calibri"/>
              </a:rPr>
              <a:t>improvement</a:t>
            </a:r>
            <a:r>
              <a:rPr sz="2400" spc="20" dirty="0">
                <a:latin typeface="Calibri"/>
                <a:cs typeface="Calibri"/>
              </a:rPr>
              <a:t> </a:t>
            </a:r>
            <a:r>
              <a:rPr sz="2400" dirty="0">
                <a:latin typeface="Calibri"/>
                <a:cs typeface="Calibri"/>
              </a:rPr>
              <a:t>has</a:t>
            </a:r>
            <a:r>
              <a:rPr sz="2400" spc="25" dirty="0">
                <a:latin typeface="Calibri"/>
                <a:cs typeface="Calibri"/>
              </a:rPr>
              <a:t> </a:t>
            </a:r>
            <a:r>
              <a:rPr sz="2400" dirty="0">
                <a:latin typeface="Calibri"/>
                <a:cs typeface="Calibri"/>
              </a:rPr>
              <a:t>been</a:t>
            </a:r>
            <a:r>
              <a:rPr sz="2400" spc="20" dirty="0">
                <a:latin typeface="Calibri"/>
                <a:cs typeface="Calibri"/>
              </a:rPr>
              <a:t> </a:t>
            </a:r>
            <a:r>
              <a:rPr sz="2400" dirty="0">
                <a:latin typeface="Calibri"/>
                <a:cs typeface="Calibri"/>
              </a:rPr>
              <a:t>quantified</a:t>
            </a:r>
            <a:r>
              <a:rPr sz="2400" spc="25" dirty="0">
                <a:latin typeface="Calibri"/>
                <a:cs typeface="Calibri"/>
              </a:rPr>
              <a:t> </a:t>
            </a:r>
            <a:r>
              <a:rPr sz="2400" dirty="0">
                <a:latin typeface="Calibri"/>
                <a:cs typeface="Calibri"/>
              </a:rPr>
              <a:t>in</a:t>
            </a:r>
            <a:r>
              <a:rPr sz="2400" spc="25" dirty="0">
                <a:latin typeface="Calibri"/>
                <a:cs typeface="Calibri"/>
              </a:rPr>
              <a:t> </a:t>
            </a:r>
            <a:r>
              <a:rPr sz="2400" dirty="0">
                <a:latin typeface="Calibri"/>
                <a:cs typeface="Calibri"/>
              </a:rPr>
              <a:t>the</a:t>
            </a:r>
            <a:r>
              <a:rPr sz="2400" spc="30" dirty="0">
                <a:latin typeface="Calibri"/>
                <a:cs typeface="Calibri"/>
              </a:rPr>
              <a:t> </a:t>
            </a:r>
            <a:r>
              <a:rPr sz="2400" b="1" dirty="0">
                <a:latin typeface="Calibri"/>
                <a:cs typeface="Calibri"/>
              </a:rPr>
              <a:t>learning</a:t>
            </a:r>
            <a:r>
              <a:rPr sz="2400" b="1" spc="25" dirty="0">
                <a:latin typeface="Calibri"/>
                <a:cs typeface="Calibri"/>
              </a:rPr>
              <a:t> </a:t>
            </a:r>
            <a:r>
              <a:rPr sz="2400" b="1" dirty="0">
                <a:latin typeface="Calibri"/>
                <a:cs typeface="Calibri"/>
              </a:rPr>
              <a:t>curve;</a:t>
            </a:r>
            <a:r>
              <a:rPr sz="2400" b="1" spc="20" dirty="0">
                <a:latin typeface="Calibri"/>
                <a:cs typeface="Calibri"/>
              </a:rPr>
              <a:t> </a:t>
            </a:r>
            <a:r>
              <a:rPr sz="2400" spc="-10" dirty="0">
                <a:latin typeface="Calibri"/>
                <a:cs typeface="Calibri"/>
              </a:rPr>
              <a:t>which </a:t>
            </a:r>
            <a:r>
              <a:rPr sz="2400" dirty="0">
                <a:latin typeface="Calibri"/>
                <a:cs typeface="Calibri"/>
              </a:rPr>
              <a:t>is</a:t>
            </a:r>
            <a:r>
              <a:rPr sz="2400" spc="-70" dirty="0">
                <a:latin typeface="Calibri"/>
                <a:cs typeface="Calibri"/>
              </a:rPr>
              <a:t> </a:t>
            </a:r>
            <a:r>
              <a:rPr sz="2400" dirty="0">
                <a:latin typeface="Calibri"/>
                <a:cs typeface="Calibri"/>
              </a:rPr>
              <a:t>described</a:t>
            </a:r>
            <a:r>
              <a:rPr sz="2400" spc="-55" dirty="0">
                <a:latin typeface="Calibri"/>
                <a:cs typeface="Calibri"/>
              </a:rPr>
              <a:t> </a:t>
            </a:r>
            <a:r>
              <a:rPr sz="2400" dirty="0">
                <a:latin typeface="Calibri"/>
                <a:cs typeface="Calibri"/>
              </a:rPr>
              <a:t>by</a:t>
            </a:r>
            <a:r>
              <a:rPr sz="2400" spc="-60" dirty="0">
                <a:latin typeface="Calibri"/>
                <a:cs typeface="Calibri"/>
              </a:rPr>
              <a:t> </a:t>
            </a:r>
            <a:r>
              <a:rPr sz="2400" dirty="0">
                <a:latin typeface="Calibri"/>
                <a:cs typeface="Calibri"/>
              </a:rPr>
              <a:t>the</a:t>
            </a:r>
            <a:r>
              <a:rPr sz="2400" spc="-50" dirty="0">
                <a:latin typeface="Calibri"/>
                <a:cs typeface="Calibri"/>
              </a:rPr>
              <a:t> </a:t>
            </a:r>
            <a:r>
              <a:rPr sz="2400" dirty="0">
                <a:latin typeface="Calibri"/>
                <a:cs typeface="Calibri"/>
              </a:rPr>
              <a:t>following</a:t>
            </a:r>
            <a:r>
              <a:rPr sz="2400" spc="-55" dirty="0">
                <a:latin typeface="Calibri"/>
                <a:cs typeface="Calibri"/>
              </a:rPr>
              <a:t> </a:t>
            </a:r>
            <a:r>
              <a:rPr sz="2400" spc="-10" dirty="0">
                <a:latin typeface="Calibri"/>
                <a:cs typeface="Calibri"/>
              </a:rPr>
              <a:t>relationship:</a:t>
            </a:r>
            <a:endParaRPr sz="2400" dirty="0">
              <a:latin typeface="Calibri"/>
              <a:cs typeface="Calibri"/>
            </a:endParaRPr>
          </a:p>
          <a:p>
            <a:pPr marL="3841750" marR="531495" indent="-2451735" algn="just">
              <a:lnSpc>
                <a:spcPts val="2780"/>
              </a:lnSpc>
              <a:spcBef>
                <a:spcPts val="1020"/>
              </a:spcBef>
            </a:pPr>
            <a:r>
              <a:rPr sz="2600" i="1" dirty="0">
                <a:solidFill>
                  <a:srgbClr val="C00000"/>
                </a:solidFill>
                <a:latin typeface="Calibri"/>
                <a:cs typeface="Calibri"/>
              </a:rPr>
              <a:t>Each</a:t>
            </a:r>
            <a:r>
              <a:rPr sz="2600" i="1" spc="-60" dirty="0">
                <a:solidFill>
                  <a:srgbClr val="C00000"/>
                </a:solidFill>
                <a:latin typeface="Calibri"/>
                <a:cs typeface="Calibri"/>
              </a:rPr>
              <a:t> </a:t>
            </a:r>
            <a:r>
              <a:rPr sz="2600" i="1" dirty="0">
                <a:solidFill>
                  <a:srgbClr val="C00000"/>
                </a:solidFill>
                <a:latin typeface="Calibri"/>
                <a:cs typeface="Calibri"/>
              </a:rPr>
              <a:t>time</a:t>
            </a:r>
            <a:r>
              <a:rPr sz="2600" i="1" spc="-60" dirty="0">
                <a:solidFill>
                  <a:srgbClr val="C00000"/>
                </a:solidFill>
                <a:latin typeface="Calibri"/>
                <a:cs typeface="Calibri"/>
              </a:rPr>
              <a:t> </a:t>
            </a:r>
            <a:r>
              <a:rPr sz="2600" i="1" dirty="0">
                <a:solidFill>
                  <a:srgbClr val="C00000"/>
                </a:solidFill>
                <a:latin typeface="Calibri"/>
                <a:cs typeface="Calibri"/>
              </a:rPr>
              <a:t>the</a:t>
            </a:r>
            <a:r>
              <a:rPr sz="2600" i="1" spc="-60" dirty="0">
                <a:solidFill>
                  <a:srgbClr val="C00000"/>
                </a:solidFill>
                <a:latin typeface="Calibri"/>
                <a:cs typeface="Calibri"/>
              </a:rPr>
              <a:t> </a:t>
            </a:r>
            <a:r>
              <a:rPr sz="2600" i="1" dirty="0">
                <a:solidFill>
                  <a:srgbClr val="C00000"/>
                </a:solidFill>
                <a:latin typeface="Calibri"/>
                <a:cs typeface="Calibri"/>
              </a:rPr>
              <a:t>output</a:t>
            </a:r>
            <a:r>
              <a:rPr sz="2600" i="1" spc="-55" dirty="0">
                <a:solidFill>
                  <a:srgbClr val="C00000"/>
                </a:solidFill>
                <a:latin typeface="Calibri"/>
                <a:cs typeface="Calibri"/>
              </a:rPr>
              <a:t> </a:t>
            </a:r>
            <a:r>
              <a:rPr sz="2600" i="1" dirty="0">
                <a:solidFill>
                  <a:srgbClr val="C00000"/>
                </a:solidFill>
                <a:latin typeface="Calibri"/>
                <a:cs typeface="Calibri"/>
              </a:rPr>
              <a:t>quantity</a:t>
            </a:r>
            <a:r>
              <a:rPr sz="2600" i="1" spc="-65" dirty="0">
                <a:solidFill>
                  <a:srgbClr val="C00000"/>
                </a:solidFill>
                <a:latin typeface="Calibri"/>
                <a:cs typeface="Calibri"/>
              </a:rPr>
              <a:t> </a:t>
            </a:r>
            <a:r>
              <a:rPr sz="2600" i="1" dirty="0">
                <a:solidFill>
                  <a:srgbClr val="C00000"/>
                </a:solidFill>
                <a:latin typeface="Calibri"/>
                <a:cs typeface="Calibri"/>
              </a:rPr>
              <a:t>doubles,</a:t>
            </a:r>
            <a:r>
              <a:rPr sz="2600" i="1" spc="-55" dirty="0">
                <a:solidFill>
                  <a:srgbClr val="C00000"/>
                </a:solidFill>
                <a:latin typeface="Calibri"/>
                <a:cs typeface="Calibri"/>
              </a:rPr>
              <a:t> </a:t>
            </a:r>
            <a:r>
              <a:rPr sz="2600" i="1" dirty="0">
                <a:solidFill>
                  <a:srgbClr val="C00000"/>
                </a:solidFill>
                <a:latin typeface="Calibri"/>
                <a:cs typeface="Calibri"/>
              </a:rPr>
              <a:t>the</a:t>
            </a:r>
            <a:r>
              <a:rPr sz="2600" i="1" spc="-60" dirty="0">
                <a:solidFill>
                  <a:srgbClr val="C00000"/>
                </a:solidFill>
                <a:latin typeface="Calibri"/>
                <a:cs typeface="Calibri"/>
              </a:rPr>
              <a:t> </a:t>
            </a:r>
            <a:r>
              <a:rPr sz="2600" i="1" dirty="0">
                <a:solidFill>
                  <a:srgbClr val="C00000"/>
                </a:solidFill>
                <a:latin typeface="Calibri"/>
                <a:cs typeface="Calibri"/>
              </a:rPr>
              <a:t>unit</a:t>
            </a:r>
            <a:r>
              <a:rPr sz="2600" i="1" spc="-55" dirty="0">
                <a:solidFill>
                  <a:srgbClr val="C00000"/>
                </a:solidFill>
                <a:latin typeface="Calibri"/>
                <a:cs typeface="Calibri"/>
              </a:rPr>
              <a:t> </a:t>
            </a:r>
            <a:r>
              <a:rPr sz="2600" i="1" dirty="0">
                <a:solidFill>
                  <a:srgbClr val="C00000"/>
                </a:solidFill>
                <a:latin typeface="Calibri"/>
                <a:cs typeface="Calibri"/>
              </a:rPr>
              <a:t>labor</a:t>
            </a:r>
            <a:r>
              <a:rPr sz="2600" i="1" spc="-65" dirty="0">
                <a:solidFill>
                  <a:srgbClr val="C00000"/>
                </a:solidFill>
                <a:latin typeface="Calibri"/>
                <a:cs typeface="Calibri"/>
              </a:rPr>
              <a:t> </a:t>
            </a:r>
            <a:r>
              <a:rPr sz="2600" i="1" dirty="0">
                <a:solidFill>
                  <a:srgbClr val="C00000"/>
                </a:solidFill>
                <a:latin typeface="Calibri"/>
                <a:cs typeface="Calibri"/>
              </a:rPr>
              <a:t>hours</a:t>
            </a:r>
            <a:r>
              <a:rPr sz="2600" i="1" spc="-55" dirty="0">
                <a:solidFill>
                  <a:srgbClr val="C00000"/>
                </a:solidFill>
                <a:latin typeface="Calibri"/>
                <a:cs typeface="Calibri"/>
              </a:rPr>
              <a:t> </a:t>
            </a:r>
            <a:r>
              <a:rPr sz="2600" i="1" spc="-25" dirty="0">
                <a:solidFill>
                  <a:srgbClr val="C00000"/>
                </a:solidFill>
                <a:latin typeface="Calibri"/>
                <a:cs typeface="Calibri"/>
              </a:rPr>
              <a:t>are </a:t>
            </a:r>
            <a:r>
              <a:rPr sz="2600" i="1" dirty="0">
                <a:solidFill>
                  <a:srgbClr val="C00000"/>
                </a:solidFill>
                <a:latin typeface="Calibri"/>
                <a:cs typeface="Calibri"/>
              </a:rPr>
              <a:t>reduced</a:t>
            </a:r>
            <a:r>
              <a:rPr sz="2600" i="1" spc="-60" dirty="0">
                <a:solidFill>
                  <a:srgbClr val="C00000"/>
                </a:solidFill>
                <a:latin typeface="Calibri"/>
                <a:cs typeface="Calibri"/>
              </a:rPr>
              <a:t> </a:t>
            </a:r>
            <a:r>
              <a:rPr sz="2600" i="1" dirty="0">
                <a:solidFill>
                  <a:srgbClr val="C00000"/>
                </a:solidFill>
                <a:latin typeface="Calibri"/>
                <a:cs typeface="Calibri"/>
              </a:rPr>
              <a:t>at</a:t>
            </a:r>
            <a:r>
              <a:rPr sz="2600" i="1" spc="-60" dirty="0">
                <a:solidFill>
                  <a:srgbClr val="C00000"/>
                </a:solidFill>
                <a:latin typeface="Calibri"/>
                <a:cs typeface="Calibri"/>
              </a:rPr>
              <a:t> </a:t>
            </a:r>
            <a:r>
              <a:rPr sz="2600" i="1" dirty="0">
                <a:solidFill>
                  <a:srgbClr val="C00000"/>
                </a:solidFill>
                <a:latin typeface="Calibri"/>
                <a:cs typeface="Calibri"/>
              </a:rPr>
              <a:t>a</a:t>
            </a:r>
            <a:r>
              <a:rPr sz="2600" i="1" spc="-60" dirty="0">
                <a:solidFill>
                  <a:srgbClr val="C00000"/>
                </a:solidFill>
                <a:latin typeface="Calibri"/>
                <a:cs typeface="Calibri"/>
              </a:rPr>
              <a:t> </a:t>
            </a:r>
            <a:r>
              <a:rPr sz="2600" i="1" spc="-10" dirty="0">
                <a:solidFill>
                  <a:srgbClr val="C00000"/>
                </a:solidFill>
                <a:latin typeface="Calibri"/>
                <a:cs typeface="Calibri"/>
              </a:rPr>
              <a:t>constant</a:t>
            </a:r>
            <a:r>
              <a:rPr sz="2600" i="1" spc="-60" dirty="0">
                <a:solidFill>
                  <a:srgbClr val="C00000"/>
                </a:solidFill>
                <a:latin typeface="Calibri"/>
                <a:cs typeface="Calibri"/>
              </a:rPr>
              <a:t> </a:t>
            </a:r>
            <a:r>
              <a:rPr sz="2600" i="1" spc="-20" dirty="0">
                <a:solidFill>
                  <a:srgbClr val="C00000"/>
                </a:solidFill>
                <a:latin typeface="Calibri"/>
                <a:cs typeface="Calibri"/>
              </a:rPr>
              <a:t>rate</a:t>
            </a:r>
            <a:endParaRPr sz="2600" dirty="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13</a:t>
            </a:fld>
            <a:endParaRPr spc="-25" dirty="0"/>
          </a:p>
        </p:txBody>
      </p:sp>
      <p:sp>
        <p:nvSpPr>
          <p:cNvPr id="3" name="object 3"/>
          <p:cNvSpPr txBox="1">
            <a:spLocks noGrp="1"/>
          </p:cNvSpPr>
          <p:nvPr>
            <p:ph type="title"/>
          </p:nvPr>
        </p:nvSpPr>
        <p:spPr>
          <a:xfrm>
            <a:off x="57742" y="493777"/>
            <a:ext cx="11656062" cy="677108"/>
          </a:xfrm>
          <a:prstGeom prst="rect">
            <a:avLst/>
          </a:prstGeom>
        </p:spPr>
        <p:txBody>
          <a:bodyPr vert="horz" wrap="square" lIns="0" tIns="15240" rIns="0" bIns="0" rtlCol="0">
            <a:spAutoFit/>
          </a:bodyPr>
          <a:lstStyle/>
          <a:p>
            <a:pPr marL="12700">
              <a:lnSpc>
                <a:spcPct val="100000"/>
              </a:lnSpc>
              <a:spcBef>
                <a:spcPts val="120"/>
              </a:spcBef>
            </a:pPr>
            <a:r>
              <a:rPr b="1" u="sng" spc="95" dirty="0">
                <a:solidFill>
                  <a:srgbClr val="FF0000"/>
                </a:solidFill>
              </a:rPr>
              <a:t>Methods for Estimating Project Times and Costs</a:t>
            </a:r>
          </a:p>
        </p:txBody>
      </p:sp>
      <p:pic>
        <p:nvPicPr>
          <p:cNvPr id="5" name="Picture 4">
            <a:extLst>
              <a:ext uri="{FF2B5EF4-FFF2-40B4-BE49-F238E27FC236}">
                <a16:creationId xmlns:a16="http://schemas.microsoft.com/office/drawing/2014/main" id="{82F354F2-B8FE-047B-1A5D-697B151536F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A5428-BFD6-E476-3C44-8F1CD3118EBD}"/>
              </a:ext>
            </a:extLst>
          </p:cNvPr>
          <p:cNvSpPr>
            <a:spLocks noGrp="1"/>
          </p:cNvSpPr>
          <p:nvPr>
            <p:ph type="title"/>
          </p:nvPr>
        </p:nvSpPr>
        <p:spPr/>
        <p:txBody>
          <a:bodyPr/>
          <a:lstStyle/>
          <a:p>
            <a:r>
              <a:rPr lang="en-US" dirty="0"/>
              <a:t>How to do bottom-up estimating ?</a:t>
            </a:r>
          </a:p>
        </p:txBody>
      </p:sp>
      <p:sp>
        <p:nvSpPr>
          <p:cNvPr id="3" name="Text Placeholder 2">
            <a:extLst>
              <a:ext uri="{FF2B5EF4-FFF2-40B4-BE49-F238E27FC236}">
                <a16:creationId xmlns:a16="http://schemas.microsoft.com/office/drawing/2014/main" id="{ADF21EF6-3EB5-58CD-298C-F51503DA2BB7}"/>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9BAD4289-AD9F-CB8A-37B1-BC32C7AD3CD9}"/>
              </a:ext>
            </a:extLst>
          </p:cNvPr>
          <p:cNvPicPr>
            <a:picLocks noChangeAspect="1"/>
          </p:cNvPicPr>
          <p:nvPr/>
        </p:nvPicPr>
        <p:blipFill>
          <a:blip r:embed="rId3"/>
          <a:stretch>
            <a:fillRect/>
          </a:stretch>
        </p:blipFill>
        <p:spPr>
          <a:xfrm>
            <a:off x="2025570" y="1742099"/>
            <a:ext cx="8140860" cy="4649375"/>
          </a:xfrm>
          <a:prstGeom prst="rect">
            <a:avLst/>
          </a:prstGeom>
        </p:spPr>
      </p:pic>
      <p:pic>
        <p:nvPicPr>
          <p:cNvPr id="6" name="Picture 5">
            <a:extLst>
              <a:ext uri="{FF2B5EF4-FFF2-40B4-BE49-F238E27FC236}">
                <a16:creationId xmlns:a16="http://schemas.microsoft.com/office/drawing/2014/main" id="{463B3EEF-A064-D330-71D0-322DA5EA380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1196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8" y="1176747"/>
            <a:ext cx="10358120" cy="4952365"/>
          </a:xfrm>
          <a:prstGeom prst="rect">
            <a:avLst/>
          </a:prstGeom>
        </p:spPr>
        <p:txBody>
          <a:bodyPr vert="horz" wrap="square" lIns="0" tIns="13970" rIns="0" bIns="0" rtlCol="0">
            <a:spAutoFit/>
          </a:bodyPr>
          <a:lstStyle/>
          <a:p>
            <a:pPr marL="12700">
              <a:lnSpc>
                <a:spcPct val="100000"/>
              </a:lnSpc>
              <a:spcBef>
                <a:spcPts val="110"/>
              </a:spcBef>
            </a:pPr>
            <a:r>
              <a:rPr sz="1950" spc="-10" dirty="0">
                <a:latin typeface="Calibri Light"/>
                <a:cs typeface="Calibri Light"/>
              </a:rPr>
              <a:t>(4/5)</a:t>
            </a:r>
            <a:endParaRPr sz="1950" dirty="0">
              <a:latin typeface="Calibri Light"/>
              <a:cs typeface="Calibri Light"/>
            </a:endParaRPr>
          </a:p>
          <a:p>
            <a:pPr marL="240029" indent="-227329" algn="just">
              <a:lnSpc>
                <a:spcPct val="100000"/>
              </a:lnSpc>
              <a:spcBef>
                <a:spcPts val="1845"/>
              </a:spcBef>
              <a:buFont typeface="Arial MT"/>
              <a:buChar char="•"/>
              <a:tabLst>
                <a:tab pos="240029" algn="l"/>
              </a:tabLst>
            </a:pPr>
            <a:r>
              <a:rPr sz="2400" b="1" spc="-25" dirty="0">
                <a:latin typeface="Calibri"/>
                <a:cs typeface="Calibri"/>
              </a:rPr>
              <a:t>Bottom-</a:t>
            </a:r>
            <a:r>
              <a:rPr sz="2400" b="1" dirty="0">
                <a:latin typeface="Calibri"/>
                <a:cs typeface="Calibri"/>
              </a:rPr>
              <a:t>Up</a:t>
            </a:r>
            <a:r>
              <a:rPr sz="2400" b="1" spc="-60" dirty="0">
                <a:latin typeface="Calibri"/>
                <a:cs typeface="Calibri"/>
              </a:rPr>
              <a:t> </a:t>
            </a:r>
            <a:r>
              <a:rPr sz="2400" b="1" dirty="0">
                <a:latin typeface="Calibri"/>
                <a:cs typeface="Calibri"/>
              </a:rPr>
              <a:t>Approaches</a:t>
            </a:r>
            <a:r>
              <a:rPr sz="2400" b="1" spc="-45" dirty="0">
                <a:latin typeface="Calibri"/>
                <a:cs typeface="Calibri"/>
              </a:rPr>
              <a:t> </a:t>
            </a:r>
            <a:r>
              <a:rPr sz="2400" b="1" dirty="0">
                <a:latin typeface="Calibri"/>
                <a:cs typeface="Calibri"/>
              </a:rPr>
              <a:t>for</a:t>
            </a:r>
            <a:r>
              <a:rPr sz="2400" b="1" spc="-55" dirty="0">
                <a:latin typeface="Calibri"/>
                <a:cs typeface="Calibri"/>
              </a:rPr>
              <a:t> </a:t>
            </a:r>
            <a:r>
              <a:rPr sz="2400" b="1" dirty="0">
                <a:latin typeface="Calibri"/>
                <a:cs typeface="Calibri"/>
              </a:rPr>
              <a:t>Estimating</a:t>
            </a:r>
            <a:r>
              <a:rPr sz="2400" b="1" spc="-55" dirty="0">
                <a:latin typeface="Calibri"/>
                <a:cs typeface="Calibri"/>
              </a:rPr>
              <a:t> </a:t>
            </a:r>
            <a:r>
              <a:rPr sz="2400" b="1" dirty="0">
                <a:latin typeface="Calibri"/>
                <a:cs typeface="Calibri"/>
              </a:rPr>
              <a:t>Project</a:t>
            </a:r>
            <a:r>
              <a:rPr sz="2400" b="1" spc="-45" dirty="0">
                <a:latin typeface="Calibri"/>
                <a:cs typeface="Calibri"/>
              </a:rPr>
              <a:t> </a:t>
            </a:r>
            <a:r>
              <a:rPr sz="2400" b="1" dirty="0">
                <a:latin typeface="Calibri"/>
                <a:cs typeface="Calibri"/>
              </a:rPr>
              <a:t>Times</a:t>
            </a:r>
            <a:r>
              <a:rPr sz="2400" b="1" spc="-50" dirty="0">
                <a:latin typeface="Calibri"/>
                <a:cs typeface="Calibri"/>
              </a:rPr>
              <a:t> </a:t>
            </a:r>
            <a:r>
              <a:rPr sz="2400" b="1" dirty="0">
                <a:latin typeface="Calibri"/>
                <a:cs typeface="Calibri"/>
              </a:rPr>
              <a:t>and</a:t>
            </a:r>
            <a:r>
              <a:rPr sz="2400" b="1" spc="-55" dirty="0">
                <a:latin typeface="Calibri"/>
                <a:cs typeface="Calibri"/>
              </a:rPr>
              <a:t> </a:t>
            </a:r>
            <a:r>
              <a:rPr sz="2400" b="1" spc="-10" dirty="0">
                <a:latin typeface="Calibri"/>
                <a:cs typeface="Calibri"/>
              </a:rPr>
              <a:t>Costs</a:t>
            </a:r>
            <a:endParaRPr sz="2400" dirty="0">
              <a:latin typeface="Calibri"/>
              <a:cs typeface="Calibri"/>
            </a:endParaRPr>
          </a:p>
          <a:p>
            <a:pPr marL="553720" marR="5715" lvl="1" indent="-315595" algn="just">
              <a:lnSpc>
                <a:spcPct val="90300"/>
              </a:lnSpc>
              <a:spcBef>
                <a:spcPts val="440"/>
              </a:spcBef>
              <a:buAutoNum type="arabicPeriod"/>
              <a:tabLst>
                <a:tab pos="555625" algn="l"/>
              </a:tabLst>
            </a:pPr>
            <a:r>
              <a:rPr sz="2000" b="1" i="1" spc="-20" dirty="0">
                <a:latin typeface="Calibri"/>
                <a:cs typeface="Calibri"/>
              </a:rPr>
              <a:t>Template</a:t>
            </a:r>
            <a:r>
              <a:rPr sz="2000" b="1" i="1" spc="-50" dirty="0">
                <a:latin typeface="Calibri"/>
                <a:cs typeface="Calibri"/>
              </a:rPr>
              <a:t> </a:t>
            </a:r>
            <a:r>
              <a:rPr sz="2000" b="1" i="1" dirty="0">
                <a:latin typeface="Calibri"/>
                <a:cs typeface="Calibri"/>
              </a:rPr>
              <a:t>Methods:</a:t>
            </a:r>
            <a:r>
              <a:rPr sz="2000" b="1" i="1" spc="-50" dirty="0">
                <a:latin typeface="Calibri"/>
                <a:cs typeface="Calibri"/>
              </a:rPr>
              <a:t> </a:t>
            </a:r>
            <a:r>
              <a:rPr sz="2000" dirty="0">
                <a:latin typeface="Calibri"/>
                <a:cs typeface="Calibri"/>
              </a:rPr>
              <a:t>If</a:t>
            </a:r>
            <a:r>
              <a:rPr sz="2000" spc="-45" dirty="0">
                <a:latin typeface="Calibri"/>
                <a:cs typeface="Calibri"/>
              </a:rPr>
              <a:t> </a:t>
            </a:r>
            <a:r>
              <a:rPr sz="2000" dirty="0">
                <a:latin typeface="Calibri"/>
                <a:cs typeface="Calibri"/>
              </a:rPr>
              <a:t>the</a:t>
            </a:r>
            <a:r>
              <a:rPr sz="2000" spc="-45" dirty="0">
                <a:latin typeface="Calibri"/>
                <a:cs typeface="Calibri"/>
              </a:rPr>
              <a:t> </a:t>
            </a:r>
            <a:r>
              <a:rPr sz="2000" dirty="0">
                <a:latin typeface="Calibri"/>
                <a:cs typeface="Calibri"/>
              </a:rPr>
              <a:t>project</a:t>
            </a:r>
            <a:r>
              <a:rPr sz="2000" spc="-50" dirty="0">
                <a:latin typeface="Calibri"/>
                <a:cs typeface="Calibri"/>
              </a:rPr>
              <a:t> </a:t>
            </a:r>
            <a:r>
              <a:rPr sz="2000" dirty="0">
                <a:latin typeface="Calibri"/>
                <a:cs typeface="Calibri"/>
              </a:rPr>
              <a:t>is</a:t>
            </a:r>
            <a:r>
              <a:rPr sz="2000" spc="-45" dirty="0">
                <a:latin typeface="Calibri"/>
                <a:cs typeface="Calibri"/>
              </a:rPr>
              <a:t> </a:t>
            </a:r>
            <a:r>
              <a:rPr lang="en-US" sz="2000" dirty="0">
                <a:latin typeface="Calibri"/>
                <a:cs typeface="Calibri"/>
              </a:rPr>
              <a:t>like</a:t>
            </a:r>
            <a:r>
              <a:rPr sz="2000" spc="-50" dirty="0">
                <a:latin typeface="Calibri"/>
                <a:cs typeface="Calibri"/>
              </a:rPr>
              <a:t> </a:t>
            </a:r>
            <a:r>
              <a:rPr sz="2000" dirty="0">
                <a:latin typeface="Calibri"/>
                <a:cs typeface="Calibri"/>
              </a:rPr>
              <a:t>past</a:t>
            </a:r>
            <a:r>
              <a:rPr sz="2000" spc="-50" dirty="0">
                <a:latin typeface="Calibri"/>
                <a:cs typeface="Calibri"/>
              </a:rPr>
              <a:t> </a:t>
            </a:r>
            <a:r>
              <a:rPr sz="2000" dirty="0">
                <a:latin typeface="Calibri"/>
                <a:cs typeface="Calibri"/>
              </a:rPr>
              <a:t>projects,</a:t>
            </a:r>
            <a:r>
              <a:rPr sz="2000" spc="-50" dirty="0">
                <a:latin typeface="Calibri"/>
                <a:cs typeface="Calibri"/>
              </a:rPr>
              <a:t> </a:t>
            </a:r>
            <a:r>
              <a:rPr sz="2000" dirty="0">
                <a:latin typeface="Calibri"/>
                <a:cs typeface="Calibri"/>
              </a:rPr>
              <a:t>the</a:t>
            </a:r>
            <a:r>
              <a:rPr sz="2000" spc="-45" dirty="0">
                <a:latin typeface="Calibri"/>
                <a:cs typeface="Calibri"/>
              </a:rPr>
              <a:t> </a:t>
            </a:r>
            <a:r>
              <a:rPr sz="2000" dirty="0">
                <a:latin typeface="Calibri"/>
                <a:cs typeface="Calibri"/>
              </a:rPr>
              <a:t>costs</a:t>
            </a:r>
            <a:r>
              <a:rPr sz="2000" spc="-45" dirty="0">
                <a:latin typeface="Calibri"/>
                <a:cs typeface="Calibri"/>
              </a:rPr>
              <a:t> </a:t>
            </a:r>
            <a:r>
              <a:rPr sz="2000" dirty="0">
                <a:latin typeface="Calibri"/>
                <a:cs typeface="Calibri"/>
              </a:rPr>
              <a:t>from</a:t>
            </a:r>
            <a:r>
              <a:rPr sz="2000" spc="-45" dirty="0">
                <a:latin typeface="Calibri"/>
                <a:cs typeface="Calibri"/>
              </a:rPr>
              <a:t> </a:t>
            </a:r>
            <a:r>
              <a:rPr sz="2000" dirty="0">
                <a:latin typeface="Calibri"/>
                <a:cs typeface="Calibri"/>
              </a:rPr>
              <a:t>past</a:t>
            </a:r>
            <a:r>
              <a:rPr sz="2000" spc="-45" dirty="0">
                <a:latin typeface="Calibri"/>
                <a:cs typeface="Calibri"/>
              </a:rPr>
              <a:t> </a:t>
            </a:r>
            <a:r>
              <a:rPr sz="2000" dirty="0">
                <a:latin typeface="Calibri"/>
                <a:cs typeface="Calibri"/>
              </a:rPr>
              <a:t>projects</a:t>
            </a:r>
            <a:r>
              <a:rPr sz="2000" spc="-45" dirty="0">
                <a:latin typeface="Calibri"/>
                <a:cs typeface="Calibri"/>
              </a:rPr>
              <a:t> </a:t>
            </a:r>
            <a:r>
              <a:rPr sz="2000" dirty="0">
                <a:latin typeface="Calibri"/>
                <a:cs typeface="Calibri"/>
              </a:rPr>
              <a:t>can</a:t>
            </a:r>
            <a:r>
              <a:rPr sz="2000" spc="-50" dirty="0">
                <a:latin typeface="Calibri"/>
                <a:cs typeface="Calibri"/>
              </a:rPr>
              <a:t> </a:t>
            </a:r>
            <a:r>
              <a:rPr sz="2000" spc="-25" dirty="0">
                <a:latin typeface="Calibri"/>
                <a:cs typeface="Calibri"/>
              </a:rPr>
              <a:t>be 	</a:t>
            </a:r>
            <a:r>
              <a:rPr sz="2000" dirty="0">
                <a:latin typeface="Calibri"/>
                <a:cs typeface="Calibri"/>
              </a:rPr>
              <a:t>used</a:t>
            </a:r>
            <a:r>
              <a:rPr sz="2000" spc="70" dirty="0">
                <a:latin typeface="Calibri"/>
                <a:cs typeface="Calibri"/>
              </a:rPr>
              <a:t> </a:t>
            </a:r>
            <a:r>
              <a:rPr sz="2000" dirty="0">
                <a:latin typeface="Calibri"/>
                <a:cs typeface="Calibri"/>
              </a:rPr>
              <a:t>as</a:t>
            </a:r>
            <a:r>
              <a:rPr sz="2000" spc="80" dirty="0">
                <a:latin typeface="Calibri"/>
                <a:cs typeface="Calibri"/>
              </a:rPr>
              <a:t> </a:t>
            </a:r>
            <a:r>
              <a:rPr sz="2000" dirty="0">
                <a:latin typeface="Calibri"/>
                <a:cs typeface="Calibri"/>
              </a:rPr>
              <a:t>a</a:t>
            </a:r>
            <a:r>
              <a:rPr sz="2000" spc="75" dirty="0">
                <a:latin typeface="Calibri"/>
                <a:cs typeface="Calibri"/>
              </a:rPr>
              <a:t> </a:t>
            </a:r>
            <a:r>
              <a:rPr sz="2000" dirty="0">
                <a:latin typeface="Calibri"/>
                <a:cs typeface="Calibri"/>
              </a:rPr>
              <a:t>starting</a:t>
            </a:r>
            <a:r>
              <a:rPr sz="2000" spc="70" dirty="0">
                <a:latin typeface="Calibri"/>
                <a:cs typeface="Calibri"/>
              </a:rPr>
              <a:t> </a:t>
            </a:r>
            <a:r>
              <a:rPr sz="2000" dirty="0">
                <a:latin typeface="Calibri"/>
                <a:cs typeface="Calibri"/>
              </a:rPr>
              <a:t>point</a:t>
            </a:r>
            <a:r>
              <a:rPr sz="2000" spc="75" dirty="0">
                <a:latin typeface="Calibri"/>
                <a:cs typeface="Calibri"/>
              </a:rPr>
              <a:t> </a:t>
            </a:r>
            <a:r>
              <a:rPr sz="2000" dirty="0">
                <a:latin typeface="Calibri"/>
                <a:cs typeface="Calibri"/>
              </a:rPr>
              <a:t>for</a:t>
            </a:r>
            <a:r>
              <a:rPr sz="2000" spc="80" dirty="0">
                <a:latin typeface="Calibri"/>
                <a:cs typeface="Calibri"/>
              </a:rPr>
              <a:t> </a:t>
            </a:r>
            <a:r>
              <a:rPr sz="2000" dirty="0">
                <a:latin typeface="Calibri"/>
                <a:cs typeface="Calibri"/>
              </a:rPr>
              <a:t>the</a:t>
            </a:r>
            <a:r>
              <a:rPr sz="2000" spc="80" dirty="0">
                <a:latin typeface="Calibri"/>
                <a:cs typeface="Calibri"/>
              </a:rPr>
              <a:t> </a:t>
            </a:r>
            <a:r>
              <a:rPr sz="2000" dirty="0">
                <a:latin typeface="Calibri"/>
                <a:cs typeface="Calibri"/>
              </a:rPr>
              <a:t>new</a:t>
            </a:r>
            <a:r>
              <a:rPr sz="2000" spc="65" dirty="0">
                <a:latin typeface="Calibri"/>
                <a:cs typeface="Calibri"/>
              </a:rPr>
              <a:t> </a:t>
            </a:r>
            <a:r>
              <a:rPr sz="2000" dirty="0">
                <a:latin typeface="Calibri"/>
                <a:cs typeface="Calibri"/>
              </a:rPr>
              <a:t>project.</a:t>
            </a:r>
            <a:r>
              <a:rPr sz="2000" spc="70" dirty="0">
                <a:latin typeface="Calibri"/>
                <a:cs typeface="Calibri"/>
              </a:rPr>
              <a:t> </a:t>
            </a:r>
            <a:r>
              <a:rPr sz="2000" dirty="0">
                <a:latin typeface="Calibri"/>
                <a:cs typeface="Calibri"/>
              </a:rPr>
              <a:t>Differences</a:t>
            </a:r>
            <a:r>
              <a:rPr sz="2000" spc="80" dirty="0">
                <a:latin typeface="Calibri"/>
                <a:cs typeface="Calibri"/>
              </a:rPr>
              <a:t> </a:t>
            </a:r>
            <a:r>
              <a:rPr sz="2000" dirty="0">
                <a:latin typeface="Calibri"/>
                <a:cs typeface="Calibri"/>
              </a:rPr>
              <a:t>in</a:t>
            </a:r>
            <a:r>
              <a:rPr sz="2000" spc="70" dirty="0">
                <a:latin typeface="Calibri"/>
                <a:cs typeface="Calibri"/>
              </a:rPr>
              <a:t> </a:t>
            </a:r>
            <a:r>
              <a:rPr sz="2000" dirty="0">
                <a:latin typeface="Calibri"/>
                <a:cs typeface="Calibri"/>
              </a:rPr>
              <a:t>the</a:t>
            </a:r>
            <a:r>
              <a:rPr sz="2000" spc="80" dirty="0">
                <a:latin typeface="Calibri"/>
                <a:cs typeface="Calibri"/>
              </a:rPr>
              <a:t> </a:t>
            </a:r>
            <a:r>
              <a:rPr sz="2000" dirty="0">
                <a:latin typeface="Calibri"/>
                <a:cs typeface="Calibri"/>
              </a:rPr>
              <a:t>new</a:t>
            </a:r>
            <a:r>
              <a:rPr sz="2000" spc="65" dirty="0">
                <a:latin typeface="Calibri"/>
                <a:cs typeface="Calibri"/>
              </a:rPr>
              <a:t> </a:t>
            </a:r>
            <a:r>
              <a:rPr sz="2000" dirty="0">
                <a:latin typeface="Calibri"/>
                <a:cs typeface="Calibri"/>
              </a:rPr>
              <a:t>project</a:t>
            </a:r>
            <a:r>
              <a:rPr sz="2000" spc="80" dirty="0">
                <a:latin typeface="Calibri"/>
                <a:cs typeface="Calibri"/>
              </a:rPr>
              <a:t> </a:t>
            </a:r>
            <a:r>
              <a:rPr sz="2000" dirty="0">
                <a:latin typeface="Calibri"/>
                <a:cs typeface="Calibri"/>
              </a:rPr>
              <a:t>can</a:t>
            </a:r>
            <a:r>
              <a:rPr sz="2000" spc="75" dirty="0">
                <a:latin typeface="Calibri"/>
                <a:cs typeface="Calibri"/>
              </a:rPr>
              <a:t> </a:t>
            </a:r>
            <a:r>
              <a:rPr sz="2000" dirty="0">
                <a:latin typeface="Calibri"/>
                <a:cs typeface="Calibri"/>
              </a:rPr>
              <a:t>be</a:t>
            </a:r>
            <a:r>
              <a:rPr sz="2000" spc="75" dirty="0">
                <a:latin typeface="Calibri"/>
                <a:cs typeface="Calibri"/>
              </a:rPr>
              <a:t> </a:t>
            </a:r>
            <a:r>
              <a:rPr sz="2000" dirty="0">
                <a:latin typeface="Calibri"/>
                <a:cs typeface="Calibri"/>
              </a:rPr>
              <a:t>noted</a:t>
            </a:r>
            <a:r>
              <a:rPr sz="2000" spc="75" dirty="0">
                <a:latin typeface="Calibri"/>
                <a:cs typeface="Calibri"/>
              </a:rPr>
              <a:t> </a:t>
            </a:r>
            <a:r>
              <a:rPr sz="2000" spc="-25" dirty="0">
                <a:latin typeface="Calibri"/>
                <a:cs typeface="Calibri"/>
              </a:rPr>
              <a:t>and 	</a:t>
            </a:r>
            <a:r>
              <a:rPr sz="2000" dirty="0">
                <a:latin typeface="Calibri"/>
                <a:cs typeface="Calibri"/>
              </a:rPr>
              <a:t>past</a:t>
            </a:r>
            <a:r>
              <a:rPr sz="2000" spc="-15" dirty="0">
                <a:latin typeface="Calibri"/>
                <a:cs typeface="Calibri"/>
              </a:rPr>
              <a:t> </a:t>
            </a:r>
            <a:r>
              <a:rPr sz="2000" dirty="0">
                <a:latin typeface="Calibri"/>
                <a:cs typeface="Calibri"/>
              </a:rPr>
              <a:t>times</a:t>
            </a:r>
            <a:r>
              <a:rPr sz="2000" spc="-15" dirty="0">
                <a:latin typeface="Calibri"/>
                <a:cs typeface="Calibri"/>
              </a:rPr>
              <a:t> </a:t>
            </a:r>
            <a:r>
              <a:rPr sz="2000" dirty="0">
                <a:latin typeface="Calibri"/>
                <a:cs typeface="Calibri"/>
              </a:rPr>
              <a:t>and</a:t>
            </a:r>
            <a:r>
              <a:rPr sz="2000" spc="-20" dirty="0">
                <a:latin typeface="Calibri"/>
                <a:cs typeface="Calibri"/>
              </a:rPr>
              <a:t> </a:t>
            </a:r>
            <a:r>
              <a:rPr sz="2000" dirty="0">
                <a:latin typeface="Calibri"/>
                <a:cs typeface="Calibri"/>
              </a:rPr>
              <a:t>costs</a:t>
            </a:r>
            <a:r>
              <a:rPr sz="2000" spc="-15" dirty="0">
                <a:latin typeface="Calibri"/>
                <a:cs typeface="Calibri"/>
              </a:rPr>
              <a:t> </a:t>
            </a:r>
            <a:r>
              <a:rPr sz="2000" dirty="0">
                <a:latin typeface="Calibri"/>
                <a:cs typeface="Calibri"/>
              </a:rPr>
              <a:t>adjusted</a:t>
            </a:r>
            <a:r>
              <a:rPr sz="2000" spc="-20" dirty="0">
                <a:latin typeface="Calibri"/>
                <a:cs typeface="Calibri"/>
              </a:rPr>
              <a:t> </a:t>
            </a:r>
            <a:r>
              <a:rPr sz="2000" dirty="0">
                <a:latin typeface="Calibri"/>
                <a:cs typeface="Calibri"/>
              </a:rPr>
              <a:t>to</a:t>
            </a:r>
            <a:r>
              <a:rPr sz="2000" spc="-20" dirty="0">
                <a:latin typeface="Calibri"/>
                <a:cs typeface="Calibri"/>
              </a:rPr>
              <a:t> </a:t>
            </a:r>
            <a:r>
              <a:rPr sz="2000" dirty="0">
                <a:latin typeface="Calibri"/>
                <a:cs typeface="Calibri"/>
              </a:rPr>
              <a:t>reflect</a:t>
            </a:r>
            <a:r>
              <a:rPr sz="2000" spc="-15" dirty="0">
                <a:latin typeface="Calibri"/>
                <a:cs typeface="Calibri"/>
              </a:rPr>
              <a:t> </a:t>
            </a:r>
            <a:r>
              <a:rPr sz="2000" dirty="0">
                <a:latin typeface="Calibri"/>
                <a:cs typeface="Calibri"/>
              </a:rPr>
              <a:t>these</a:t>
            </a:r>
            <a:r>
              <a:rPr sz="2000" spc="-15" dirty="0">
                <a:latin typeface="Calibri"/>
                <a:cs typeface="Calibri"/>
              </a:rPr>
              <a:t> </a:t>
            </a:r>
            <a:r>
              <a:rPr sz="2000" spc="-10" dirty="0">
                <a:latin typeface="Calibri"/>
                <a:cs typeface="Calibri"/>
              </a:rPr>
              <a:t>differences.</a:t>
            </a:r>
            <a:r>
              <a:rPr sz="2000" spc="-25" dirty="0">
                <a:latin typeface="Calibri"/>
                <a:cs typeface="Calibri"/>
              </a:rPr>
              <a:t> </a:t>
            </a:r>
            <a:r>
              <a:rPr sz="2000" dirty="0">
                <a:latin typeface="Calibri"/>
                <a:cs typeface="Calibri"/>
              </a:rPr>
              <a:t>Development</a:t>
            </a:r>
            <a:r>
              <a:rPr sz="2000" spc="-10" dirty="0">
                <a:latin typeface="Calibri"/>
                <a:cs typeface="Calibri"/>
              </a:rPr>
              <a:t> </a:t>
            </a:r>
            <a:r>
              <a:rPr sz="2000" dirty="0">
                <a:latin typeface="Calibri"/>
                <a:cs typeface="Calibri"/>
              </a:rPr>
              <a:t>of</a:t>
            </a:r>
            <a:r>
              <a:rPr sz="2000" spc="-20" dirty="0">
                <a:latin typeface="Calibri"/>
                <a:cs typeface="Calibri"/>
              </a:rPr>
              <a:t> </a:t>
            </a:r>
            <a:r>
              <a:rPr sz="2000" dirty="0">
                <a:latin typeface="Calibri"/>
                <a:cs typeface="Calibri"/>
              </a:rPr>
              <a:t>such</a:t>
            </a:r>
            <a:r>
              <a:rPr sz="2000" spc="-20" dirty="0">
                <a:latin typeface="Calibri"/>
                <a:cs typeface="Calibri"/>
              </a:rPr>
              <a:t> </a:t>
            </a:r>
            <a:r>
              <a:rPr sz="2000" dirty="0">
                <a:latin typeface="Calibri"/>
                <a:cs typeface="Calibri"/>
              </a:rPr>
              <a:t>templates</a:t>
            </a:r>
            <a:r>
              <a:rPr sz="2000" spc="-15" dirty="0">
                <a:latin typeface="Calibri"/>
                <a:cs typeface="Calibri"/>
              </a:rPr>
              <a:t> </a:t>
            </a:r>
            <a:r>
              <a:rPr sz="2000" dirty="0">
                <a:latin typeface="Calibri"/>
                <a:cs typeface="Calibri"/>
              </a:rPr>
              <a:t>in</a:t>
            </a:r>
            <a:r>
              <a:rPr sz="2000" spc="-20" dirty="0">
                <a:latin typeface="Calibri"/>
                <a:cs typeface="Calibri"/>
              </a:rPr>
              <a:t> </a:t>
            </a:r>
            <a:r>
              <a:rPr sz="2000" spc="-50" dirty="0">
                <a:latin typeface="Calibri"/>
                <a:cs typeface="Calibri"/>
              </a:rPr>
              <a:t>a 	</a:t>
            </a:r>
            <a:r>
              <a:rPr sz="2000" dirty="0">
                <a:latin typeface="Calibri"/>
                <a:cs typeface="Calibri"/>
              </a:rPr>
              <a:t>database</a:t>
            </a:r>
            <a:r>
              <a:rPr sz="2000" spc="-65" dirty="0">
                <a:latin typeface="Calibri"/>
                <a:cs typeface="Calibri"/>
              </a:rPr>
              <a:t> </a:t>
            </a:r>
            <a:r>
              <a:rPr sz="2000" dirty="0">
                <a:latin typeface="Calibri"/>
                <a:cs typeface="Calibri"/>
              </a:rPr>
              <a:t>can</a:t>
            </a:r>
            <a:r>
              <a:rPr sz="2000" spc="-70" dirty="0">
                <a:latin typeface="Calibri"/>
                <a:cs typeface="Calibri"/>
              </a:rPr>
              <a:t> </a:t>
            </a:r>
            <a:r>
              <a:rPr sz="2000" dirty="0">
                <a:latin typeface="Calibri"/>
                <a:cs typeface="Calibri"/>
              </a:rPr>
              <a:t>quickly</a:t>
            </a:r>
            <a:r>
              <a:rPr sz="2000" spc="-70" dirty="0">
                <a:latin typeface="Calibri"/>
                <a:cs typeface="Calibri"/>
              </a:rPr>
              <a:t> </a:t>
            </a:r>
            <a:r>
              <a:rPr sz="2000" dirty="0">
                <a:latin typeface="Calibri"/>
                <a:cs typeface="Calibri"/>
              </a:rPr>
              <a:t>reduce</a:t>
            </a:r>
            <a:r>
              <a:rPr sz="2000" spc="-65" dirty="0">
                <a:latin typeface="Calibri"/>
                <a:cs typeface="Calibri"/>
              </a:rPr>
              <a:t> </a:t>
            </a:r>
            <a:r>
              <a:rPr sz="2000" spc="-10" dirty="0">
                <a:latin typeface="Calibri"/>
                <a:cs typeface="Calibri"/>
              </a:rPr>
              <a:t>estimate</a:t>
            </a:r>
            <a:r>
              <a:rPr sz="2000" spc="-60" dirty="0">
                <a:latin typeface="Calibri"/>
                <a:cs typeface="Calibri"/>
              </a:rPr>
              <a:t> </a:t>
            </a:r>
            <a:r>
              <a:rPr sz="2000" spc="-10" dirty="0">
                <a:latin typeface="Calibri"/>
                <a:cs typeface="Calibri"/>
              </a:rPr>
              <a:t>errors.</a:t>
            </a:r>
            <a:endParaRPr sz="2000" dirty="0">
              <a:latin typeface="Calibri"/>
              <a:cs typeface="Calibri"/>
            </a:endParaRPr>
          </a:p>
          <a:p>
            <a:pPr marL="553720" marR="5715" lvl="1" indent="-315595" algn="just">
              <a:lnSpc>
                <a:spcPct val="89500"/>
              </a:lnSpc>
              <a:spcBef>
                <a:spcPts val="565"/>
              </a:spcBef>
              <a:buAutoNum type="arabicPeriod"/>
              <a:tabLst>
                <a:tab pos="555625" algn="l"/>
              </a:tabLst>
            </a:pPr>
            <a:r>
              <a:rPr sz="2000" b="1" i="1" dirty="0">
                <a:latin typeface="Calibri"/>
                <a:cs typeface="Calibri"/>
              </a:rPr>
              <a:t>Parametric</a:t>
            </a:r>
            <a:r>
              <a:rPr sz="2000" b="1" i="1" spc="135" dirty="0">
                <a:latin typeface="Calibri"/>
                <a:cs typeface="Calibri"/>
              </a:rPr>
              <a:t> </a:t>
            </a:r>
            <a:r>
              <a:rPr sz="2000" b="1" i="1" dirty="0">
                <a:latin typeface="Calibri"/>
                <a:cs typeface="Calibri"/>
              </a:rPr>
              <a:t>Procedures</a:t>
            </a:r>
            <a:r>
              <a:rPr sz="2000" b="1" i="1" spc="130" dirty="0">
                <a:latin typeface="Calibri"/>
                <a:cs typeface="Calibri"/>
              </a:rPr>
              <a:t> </a:t>
            </a:r>
            <a:r>
              <a:rPr sz="2000" b="1" i="1" dirty="0">
                <a:latin typeface="Calibri"/>
                <a:cs typeface="Calibri"/>
              </a:rPr>
              <a:t>Applied</a:t>
            </a:r>
            <a:r>
              <a:rPr sz="2000" b="1" i="1" spc="130" dirty="0">
                <a:latin typeface="Calibri"/>
                <a:cs typeface="Calibri"/>
              </a:rPr>
              <a:t> </a:t>
            </a:r>
            <a:r>
              <a:rPr sz="2000" b="1" i="1" dirty="0">
                <a:latin typeface="Calibri"/>
                <a:cs typeface="Calibri"/>
              </a:rPr>
              <a:t>to</a:t>
            </a:r>
            <a:r>
              <a:rPr sz="2000" b="1" i="1" spc="140" dirty="0">
                <a:latin typeface="Calibri"/>
                <a:cs typeface="Calibri"/>
              </a:rPr>
              <a:t> </a:t>
            </a:r>
            <a:r>
              <a:rPr sz="2000" b="1" i="1" dirty="0">
                <a:latin typeface="Calibri"/>
                <a:cs typeface="Calibri"/>
              </a:rPr>
              <a:t>Specific</a:t>
            </a:r>
            <a:r>
              <a:rPr sz="2000" b="1" i="1" spc="140" dirty="0">
                <a:latin typeface="Calibri"/>
                <a:cs typeface="Calibri"/>
              </a:rPr>
              <a:t> </a:t>
            </a:r>
            <a:r>
              <a:rPr sz="2000" b="1" i="1" dirty="0">
                <a:latin typeface="Calibri"/>
                <a:cs typeface="Calibri"/>
              </a:rPr>
              <a:t>Tasks:</a:t>
            </a:r>
            <a:r>
              <a:rPr sz="2000" b="1" i="1" spc="135" dirty="0">
                <a:latin typeface="Calibri"/>
                <a:cs typeface="Calibri"/>
              </a:rPr>
              <a:t> </a:t>
            </a:r>
            <a:r>
              <a:rPr sz="2000" dirty="0">
                <a:latin typeface="Calibri"/>
                <a:cs typeface="Calibri"/>
              </a:rPr>
              <a:t>Just</a:t>
            </a:r>
            <a:r>
              <a:rPr sz="2000" spc="140" dirty="0">
                <a:latin typeface="Calibri"/>
                <a:cs typeface="Calibri"/>
              </a:rPr>
              <a:t> </a:t>
            </a:r>
            <a:r>
              <a:rPr sz="2000" dirty="0">
                <a:latin typeface="Calibri"/>
                <a:cs typeface="Calibri"/>
              </a:rPr>
              <a:t>as</a:t>
            </a:r>
            <a:r>
              <a:rPr sz="2000" spc="140" dirty="0">
                <a:latin typeface="Calibri"/>
                <a:cs typeface="Calibri"/>
              </a:rPr>
              <a:t> </a:t>
            </a:r>
            <a:r>
              <a:rPr sz="2000" dirty="0">
                <a:latin typeface="Calibri"/>
                <a:cs typeface="Calibri"/>
              </a:rPr>
              <a:t>parametric</a:t>
            </a:r>
            <a:r>
              <a:rPr sz="2000" spc="140" dirty="0">
                <a:latin typeface="Calibri"/>
                <a:cs typeface="Calibri"/>
              </a:rPr>
              <a:t> </a:t>
            </a:r>
            <a:r>
              <a:rPr sz="2000" dirty="0">
                <a:latin typeface="Calibri"/>
                <a:cs typeface="Calibri"/>
              </a:rPr>
              <a:t>techniques</a:t>
            </a:r>
            <a:r>
              <a:rPr sz="2000" spc="145" dirty="0">
                <a:latin typeface="Calibri"/>
                <a:cs typeface="Calibri"/>
              </a:rPr>
              <a:t> </a:t>
            </a:r>
            <a:r>
              <a:rPr sz="2000" dirty="0">
                <a:latin typeface="Calibri"/>
                <a:cs typeface="Calibri"/>
              </a:rPr>
              <a:t>such</a:t>
            </a:r>
            <a:r>
              <a:rPr sz="2000" spc="135" dirty="0">
                <a:latin typeface="Calibri"/>
                <a:cs typeface="Calibri"/>
              </a:rPr>
              <a:t> </a:t>
            </a:r>
            <a:r>
              <a:rPr sz="2000" dirty="0">
                <a:latin typeface="Calibri"/>
                <a:cs typeface="Calibri"/>
              </a:rPr>
              <a:t>as</a:t>
            </a:r>
            <a:r>
              <a:rPr sz="2000" spc="140" dirty="0">
                <a:latin typeface="Calibri"/>
                <a:cs typeface="Calibri"/>
              </a:rPr>
              <a:t> </a:t>
            </a:r>
            <a:r>
              <a:rPr sz="2000" spc="-20" dirty="0">
                <a:latin typeface="Calibri"/>
                <a:cs typeface="Calibri"/>
              </a:rPr>
              <a:t>cost 	</a:t>
            </a:r>
            <a:r>
              <a:rPr sz="2000" dirty="0">
                <a:latin typeface="Calibri"/>
                <a:cs typeface="Calibri"/>
              </a:rPr>
              <a:t>per</a:t>
            </a:r>
            <a:r>
              <a:rPr sz="2000" spc="15" dirty="0">
                <a:latin typeface="Calibri"/>
                <a:cs typeface="Calibri"/>
              </a:rPr>
              <a:t> </a:t>
            </a:r>
            <a:r>
              <a:rPr sz="2000" dirty="0">
                <a:latin typeface="Calibri"/>
                <a:cs typeface="Calibri"/>
              </a:rPr>
              <a:t>square</a:t>
            </a:r>
            <a:r>
              <a:rPr sz="2000" spc="20" dirty="0">
                <a:latin typeface="Calibri"/>
                <a:cs typeface="Calibri"/>
              </a:rPr>
              <a:t> </a:t>
            </a:r>
            <a:r>
              <a:rPr sz="2000" dirty="0">
                <a:latin typeface="Calibri"/>
                <a:cs typeface="Calibri"/>
              </a:rPr>
              <a:t>foot</a:t>
            </a:r>
            <a:r>
              <a:rPr sz="2000" spc="20" dirty="0">
                <a:latin typeface="Calibri"/>
                <a:cs typeface="Calibri"/>
              </a:rPr>
              <a:t> </a:t>
            </a:r>
            <a:r>
              <a:rPr sz="2000" dirty="0">
                <a:latin typeface="Calibri"/>
                <a:cs typeface="Calibri"/>
              </a:rPr>
              <a:t>can</a:t>
            </a:r>
            <a:r>
              <a:rPr sz="2000" spc="10" dirty="0">
                <a:latin typeface="Calibri"/>
                <a:cs typeface="Calibri"/>
              </a:rPr>
              <a:t> </a:t>
            </a:r>
            <a:r>
              <a:rPr sz="2000" dirty="0">
                <a:latin typeface="Calibri"/>
                <a:cs typeface="Calibri"/>
              </a:rPr>
              <a:t>be</a:t>
            </a:r>
            <a:r>
              <a:rPr sz="2000" spc="20" dirty="0">
                <a:latin typeface="Calibri"/>
                <a:cs typeface="Calibri"/>
              </a:rPr>
              <a:t> </a:t>
            </a:r>
            <a:r>
              <a:rPr sz="2000" dirty="0">
                <a:latin typeface="Calibri"/>
                <a:cs typeface="Calibri"/>
              </a:rPr>
              <a:t>the</a:t>
            </a:r>
            <a:r>
              <a:rPr sz="2000" spc="20" dirty="0">
                <a:latin typeface="Calibri"/>
                <a:cs typeface="Calibri"/>
              </a:rPr>
              <a:t> </a:t>
            </a:r>
            <a:r>
              <a:rPr sz="2000" dirty="0">
                <a:latin typeface="Calibri"/>
                <a:cs typeface="Calibri"/>
              </a:rPr>
              <a:t>source</a:t>
            </a:r>
            <a:r>
              <a:rPr sz="2000" spc="15" dirty="0">
                <a:latin typeface="Calibri"/>
                <a:cs typeface="Calibri"/>
              </a:rPr>
              <a:t> </a:t>
            </a:r>
            <a:r>
              <a:rPr sz="2000" dirty="0">
                <a:latin typeface="Calibri"/>
                <a:cs typeface="Calibri"/>
              </a:rPr>
              <a:t>of</a:t>
            </a:r>
            <a:r>
              <a:rPr sz="2000" spc="20" dirty="0">
                <a:latin typeface="Calibri"/>
                <a:cs typeface="Calibri"/>
              </a:rPr>
              <a:t> </a:t>
            </a:r>
            <a:r>
              <a:rPr sz="2000" dirty="0">
                <a:latin typeface="Calibri"/>
                <a:cs typeface="Calibri"/>
              </a:rPr>
              <a:t>top-</a:t>
            </a:r>
            <a:r>
              <a:rPr sz="2000" spc="15" dirty="0">
                <a:latin typeface="Calibri"/>
                <a:cs typeface="Calibri"/>
              </a:rPr>
              <a:t> </a:t>
            </a:r>
            <a:r>
              <a:rPr sz="2000" dirty="0">
                <a:latin typeface="Calibri"/>
                <a:cs typeface="Calibri"/>
              </a:rPr>
              <a:t>down</a:t>
            </a:r>
            <a:r>
              <a:rPr sz="2000" spc="15" dirty="0">
                <a:latin typeface="Calibri"/>
                <a:cs typeface="Calibri"/>
              </a:rPr>
              <a:t> </a:t>
            </a:r>
            <a:r>
              <a:rPr sz="2000" dirty="0">
                <a:latin typeface="Calibri"/>
                <a:cs typeface="Calibri"/>
              </a:rPr>
              <a:t>estimates,</a:t>
            </a:r>
            <a:r>
              <a:rPr sz="2000" spc="15" dirty="0">
                <a:latin typeface="Calibri"/>
                <a:cs typeface="Calibri"/>
              </a:rPr>
              <a:t> </a:t>
            </a:r>
            <a:r>
              <a:rPr sz="2000" dirty="0">
                <a:latin typeface="Calibri"/>
                <a:cs typeface="Calibri"/>
              </a:rPr>
              <a:t>the</a:t>
            </a:r>
            <a:r>
              <a:rPr sz="2000" spc="20" dirty="0">
                <a:latin typeface="Calibri"/>
                <a:cs typeface="Calibri"/>
              </a:rPr>
              <a:t> </a:t>
            </a:r>
            <a:r>
              <a:rPr sz="2000" dirty="0">
                <a:latin typeface="Calibri"/>
                <a:cs typeface="Calibri"/>
              </a:rPr>
              <a:t>same</a:t>
            </a:r>
            <a:r>
              <a:rPr sz="2000" spc="25" dirty="0">
                <a:latin typeface="Calibri"/>
                <a:cs typeface="Calibri"/>
              </a:rPr>
              <a:t> </a:t>
            </a:r>
            <a:r>
              <a:rPr sz="2000" dirty="0">
                <a:latin typeface="Calibri"/>
                <a:cs typeface="Calibri"/>
              </a:rPr>
              <a:t>technique</a:t>
            </a:r>
            <a:r>
              <a:rPr sz="2000" spc="15" dirty="0">
                <a:latin typeface="Calibri"/>
                <a:cs typeface="Calibri"/>
              </a:rPr>
              <a:t> </a:t>
            </a:r>
            <a:r>
              <a:rPr sz="2000" dirty="0">
                <a:latin typeface="Calibri"/>
                <a:cs typeface="Calibri"/>
              </a:rPr>
              <a:t>can</a:t>
            </a:r>
            <a:r>
              <a:rPr sz="2000" spc="15" dirty="0">
                <a:latin typeface="Calibri"/>
                <a:cs typeface="Calibri"/>
              </a:rPr>
              <a:t> </a:t>
            </a:r>
            <a:r>
              <a:rPr sz="2000" dirty="0">
                <a:latin typeface="Calibri"/>
                <a:cs typeface="Calibri"/>
              </a:rPr>
              <a:t>be</a:t>
            </a:r>
            <a:r>
              <a:rPr sz="2000" spc="20" dirty="0">
                <a:latin typeface="Calibri"/>
                <a:cs typeface="Calibri"/>
              </a:rPr>
              <a:t> </a:t>
            </a:r>
            <a:r>
              <a:rPr sz="2000" spc="-10" dirty="0">
                <a:latin typeface="Calibri"/>
                <a:cs typeface="Calibri"/>
              </a:rPr>
              <a:t>applied 	</a:t>
            </a:r>
            <a:r>
              <a:rPr sz="2000" dirty="0">
                <a:latin typeface="Calibri"/>
                <a:cs typeface="Calibri"/>
              </a:rPr>
              <a:t>to</a:t>
            </a:r>
            <a:r>
              <a:rPr sz="2000" spc="-60" dirty="0">
                <a:latin typeface="Calibri"/>
                <a:cs typeface="Calibri"/>
              </a:rPr>
              <a:t> </a:t>
            </a:r>
            <a:r>
              <a:rPr sz="2000" dirty="0">
                <a:latin typeface="Calibri"/>
                <a:cs typeface="Calibri"/>
              </a:rPr>
              <a:t>specific</a:t>
            </a:r>
            <a:r>
              <a:rPr sz="2000" spc="-45" dirty="0">
                <a:latin typeface="Calibri"/>
                <a:cs typeface="Calibri"/>
              </a:rPr>
              <a:t> </a:t>
            </a:r>
            <a:r>
              <a:rPr sz="2000" spc="-10" dirty="0">
                <a:latin typeface="Calibri"/>
                <a:cs typeface="Calibri"/>
              </a:rPr>
              <a:t>tasks.</a:t>
            </a:r>
            <a:endParaRPr sz="2000" dirty="0">
              <a:latin typeface="Calibri"/>
              <a:cs typeface="Calibri"/>
            </a:endParaRPr>
          </a:p>
          <a:p>
            <a:pPr marL="553720" marR="5080" lvl="1" indent="-315595" algn="just">
              <a:lnSpc>
                <a:spcPct val="90300"/>
              </a:lnSpc>
              <a:spcBef>
                <a:spcPts val="420"/>
              </a:spcBef>
              <a:buAutoNum type="arabicPeriod"/>
              <a:tabLst>
                <a:tab pos="555625" algn="l"/>
              </a:tabLst>
            </a:pPr>
            <a:r>
              <a:rPr sz="2000" b="1" i="1" dirty="0">
                <a:latin typeface="Calibri"/>
                <a:cs typeface="Calibri"/>
              </a:rPr>
              <a:t>Range</a:t>
            </a:r>
            <a:r>
              <a:rPr sz="2000" b="1" i="1" spc="105" dirty="0">
                <a:latin typeface="Calibri"/>
                <a:cs typeface="Calibri"/>
              </a:rPr>
              <a:t> </a:t>
            </a:r>
            <a:r>
              <a:rPr sz="2000" b="1" i="1" dirty="0">
                <a:latin typeface="Calibri"/>
                <a:cs typeface="Calibri"/>
              </a:rPr>
              <a:t>Estimating:</a:t>
            </a:r>
            <a:r>
              <a:rPr sz="2000" b="1" i="1" spc="100" dirty="0">
                <a:latin typeface="Calibri"/>
                <a:cs typeface="Calibri"/>
              </a:rPr>
              <a:t> </a:t>
            </a:r>
            <a:r>
              <a:rPr sz="2000" dirty="0">
                <a:latin typeface="Calibri"/>
                <a:cs typeface="Calibri"/>
              </a:rPr>
              <a:t>It</a:t>
            </a:r>
            <a:r>
              <a:rPr sz="2000" spc="105" dirty="0">
                <a:latin typeface="Calibri"/>
                <a:cs typeface="Calibri"/>
              </a:rPr>
              <a:t> </a:t>
            </a:r>
            <a:r>
              <a:rPr sz="2000" dirty="0">
                <a:latin typeface="Calibri"/>
                <a:cs typeface="Calibri"/>
              </a:rPr>
              <a:t>works</a:t>
            </a:r>
            <a:r>
              <a:rPr sz="2000" spc="105" dirty="0">
                <a:latin typeface="Calibri"/>
                <a:cs typeface="Calibri"/>
              </a:rPr>
              <a:t> </a:t>
            </a:r>
            <a:r>
              <a:rPr sz="2000" dirty="0">
                <a:latin typeface="Calibri"/>
                <a:cs typeface="Calibri"/>
              </a:rPr>
              <a:t>best</a:t>
            </a:r>
            <a:r>
              <a:rPr sz="2000" spc="100" dirty="0">
                <a:latin typeface="Calibri"/>
                <a:cs typeface="Calibri"/>
              </a:rPr>
              <a:t> </a:t>
            </a:r>
            <a:r>
              <a:rPr sz="2000" dirty="0">
                <a:latin typeface="Calibri"/>
                <a:cs typeface="Calibri"/>
              </a:rPr>
              <a:t>when</a:t>
            </a:r>
            <a:r>
              <a:rPr sz="2000" spc="100" dirty="0">
                <a:latin typeface="Calibri"/>
                <a:cs typeface="Calibri"/>
              </a:rPr>
              <a:t> </a:t>
            </a:r>
            <a:r>
              <a:rPr sz="2000" dirty="0">
                <a:latin typeface="Calibri"/>
                <a:cs typeface="Calibri"/>
              </a:rPr>
              <a:t>work</a:t>
            </a:r>
            <a:r>
              <a:rPr sz="2000" spc="105" dirty="0">
                <a:latin typeface="Calibri"/>
                <a:cs typeface="Calibri"/>
              </a:rPr>
              <a:t> </a:t>
            </a:r>
            <a:r>
              <a:rPr sz="2000" dirty="0">
                <a:latin typeface="Calibri"/>
                <a:cs typeface="Calibri"/>
              </a:rPr>
              <a:t>packages</a:t>
            </a:r>
            <a:r>
              <a:rPr sz="2000" spc="105" dirty="0">
                <a:latin typeface="Calibri"/>
                <a:cs typeface="Calibri"/>
              </a:rPr>
              <a:t> </a:t>
            </a:r>
            <a:r>
              <a:rPr sz="2000" dirty="0">
                <a:latin typeface="Calibri"/>
                <a:cs typeface="Calibri"/>
              </a:rPr>
              <a:t>have</a:t>
            </a:r>
            <a:r>
              <a:rPr sz="2000" spc="100" dirty="0">
                <a:latin typeface="Calibri"/>
                <a:cs typeface="Calibri"/>
              </a:rPr>
              <a:t> </a:t>
            </a:r>
            <a:r>
              <a:rPr sz="2000" dirty="0">
                <a:latin typeface="Calibri"/>
                <a:cs typeface="Calibri"/>
              </a:rPr>
              <a:t>significant</a:t>
            </a:r>
            <a:r>
              <a:rPr sz="2000" spc="105" dirty="0">
                <a:latin typeface="Calibri"/>
                <a:cs typeface="Calibri"/>
              </a:rPr>
              <a:t> </a:t>
            </a:r>
            <a:r>
              <a:rPr sz="2000" dirty="0">
                <a:latin typeface="Calibri"/>
                <a:cs typeface="Calibri"/>
              </a:rPr>
              <a:t>uncertainty</a:t>
            </a:r>
            <a:r>
              <a:rPr sz="2000" spc="95" dirty="0">
                <a:latin typeface="Calibri"/>
                <a:cs typeface="Calibri"/>
              </a:rPr>
              <a:t> </a:t>
            </a:r>
            <a:r>
              <a:rPr sz="2000" spc="-10" dirty="0">
                <a:latin typeface="Calibri"/>
                <a:cs typeface="Calibri"/>
              </a:rPr>
              <a:t>associated 	</a:t>
            </a:r>
            <a:r>
              <a:rPr sz="2000" dirty="0">
                <a:latin typeface="Calibri"/>
                <a:cs typeface="Calibri"/>
              </a:rPr>
              <a:t>with</a:t>
            </a:r>
            <a:r>
              <a:rPr sz="2000" spc="375" dirty="0">
                <a:latin typeface="Calibri"/>
                <a:cs typeface="Calibri"/>
              </a:rPr>
              <a:t> </a:t>
            </a:r>
            <a:r>
              <a:rPr sz="2000" dirty="0">
                <a:latin typeface="Calibri"/>
                <a:cs typeface="Calibri"/>
              </a:rPr>
              <a:t>the</a:t>
            </a:r>
            <a:r>
              <a:rPr sz="2000" spc="385" dirty="0">
                <a:latin typeface="Calibri"/>
                <a:cs typeface="Calibri"/>
              </a:rPr>
              <a:t> </a:t>
            </a:r>
            <a:r>
              <a:rPr sz="2000" dirty="0">
                <a:latin typeface="Calibri"/>
                <a:cs typeface="Calibri"/>
              </a:rPr>
              <a:t>time</a:t>
            </a:r>
            <a:r>
              <a:rPr sz="2000" spc="385" dirty="0">
                <a:latin typeface="Calibri"/>
                <a:cs typeface="Calibri"/>
              </a:rPr>
              <a:t> </a:t>
            </a:r>
            <a:r>
              <a:rPr sz="2000" dirty="0">
                <a:latin typeface="Calibri"/>
                <a:cs typeface="Calibri"/>
              </a:rPr>
              <a:t>or</a:t>
            </a:r>
            <a:r>
              <a:rPr sz="2000" spc="380" dirty="0">
                <a:latin typeface="Calibri"/>
                <a:cs typeface="Calibri"/>
              </a:rPr>
              <a:t> </a:t>
            </a:r>
            <a:r>
              <a:rPr sz="2000" dirty="0">
                <a:latin typeface="Calibri"/>
                <a:cs typeface="Calibri"/>
              </a:rPr>
              <a:t>cost</a:t>
            </a:r>
            <a:r>
              <a:rPr sz="2000" spc="390" dirty="0">
                <a:latin typeface="Calibri"/>
                <a:cs typeface="Calibri"/>
              </a:rPr>
              <a:t> </a:t>
            </a:r>
            <a:r>
              <a:rPr sz="2000" dirty="0">
                <a:latin typeface="Calibri"/>
                <a:cs typeface="Calibri"/>
              </a:rPr>
              <a:t>to</a:t>
            </a:r>
            <a:r>
              <a:rPr sz="2000" spc="380" dirty="0">
                <a:latin typeface="Calibri"/>
                <a:cs typeface="Calibri"/>
              </a:rPr>
              <a:t> </a:t>
            </a:r>
            <a:r>
              <a:rPr sz="2000" dirty="0">
                <a:latin typeface="Calibri"/>
                <a:cs typeface="Calibri"/>
              </a:rPr>
              <a:t>complete,</a:t>
            </a:r>
            <a:r>
              <a:rPr sz="2000" spc="380" dirty="0">
                <a:latin typeface="Calibri"/>
                <a:cs typeface="Calibri"/>
              </a:rPr>
              <a:t> </a:t>
            </a:r>
            <a:r>
              <a:rPr sz="2000" dirty="0">
                <a:latin typeface="Calibri"/>
                <a:cs typeface="Calibri"/>
              </a:rPr>
              <a:t>it</a:t>
            </a:r>
            <a:r>
              <a:rPr sz="2000" spc="385" dirty="0">
                <a:latin typeface="Calibri"/>
                <a:cs typeface="Calibri"/>
              </a:rPr>
              <a:t> </a:t>
            </a:r>
            <a:r>
              <a:rPr sz="2000" dirty="0">
                <a:latin typeface="Calibri"/>
                <a:cs typeface="Calibri"/>
              </a:rPr>
              <a:t>is</a:t>
            </a:r>
            <a:r>
              <a:rPr sz="2000" spc="385" dirty="0">
                <a:latin typeface="Calibri"/>
                <a:cs typeface="Calibri"/>
              </a:rPr>
              <a:t> </a:t>
            </a:r>
            <a:r>
              <a:rPr sz="2000" dirty="0">
                <a:latin typeface="Calibri"/>
                <a:cs typeface="Calibri"/>
              </a:rPr>
              <a:t>a</a:t>
            </a:r>
            <a:r>
              <a:rPr sz="2000" spc="385" dirty="0">
                <a:latin typeface="Calibri"/>
                <a:cs typeface="Calibri"/>
              </a:rPr>
              <a:t> </a:t>
            </a:r>
            <a:r>
              <a:rPr sz="2000" dirty="0">
                <a:latin typeface="Calibri"/>
                <a:cs typeface="Calibri"/>
              </a:rPr>
              <a:t>wise</a:t>
            </a:r>
            <a:r>
              <a:rPr sz="2000" spc="385" dirty="0">
                <a:latin typeface="Calibri"/>
                <a:cs typeface="Calibri"/>
              </a:rPr>
              <a:t> </a:t>
            </a:r>
            <a:r>
              <a:rPr sz="2000" dirty="0">
                <a:latin typeface="Calibri"/>
                <a:cs typeface="Calibri"/>
              </a:rPr>
              <a:t>policy</a:t>
            </a:r>
            <a:r>
              <a:rPr sz="2000" spc="375" dirty="0">
                <a:latin typeface="Calibri"/>
                <a:cs typeface="Calibri"/>
              </a:rPr>
              <a:t> </a:t>
            </a:r>
            <a:r>
              <a:rPr sz="2000" dirty="0">
                <a:latin typeface="Calibri"/>
                <a:cs typeface="Calibri"/>
              </a:rPr>
              <a:t>to</a:t>
            </a:r>
            <a:r>
              <a:rPr sz="2000" spc="380" dirty="0">
                <a:latin typeface="Calibri"/>
                <a:cs typeface="Calibri"/>
              </a:rPr>
              <a:t> </a:t>
            </a:r>
            <a:r>
              <a:rPr sz="2000" dirty="0">
                <a:latin typeface="Calibri"/>
                <a:cs typeface="Calibri"/>
              </a:rPr>
              <a:t>require</a:t>
            </a:r>
            <a:r>
              <a:rPr sz="2000" spc="385" dirty="0">
                <a:latin typeface="Calibri"/>
                <a:cs typeface="Calibri"/>
              </a:rPr>
              <a:t> </a:t>
            </a:r>
            <a:r>
              <a:rPr sz="2000" dirty="0">
                <a:latin typeface="Calibri"/>
                <a:cs typeface="Calibri"/>
              </a:rPr>
              <a:t>(3)</a:t>
            </a:r>
            <a:r>
              <a:rPr sz="2000" spc="385" dirty="0">
                <a:latin typeface="Calibri"/>
                <a:cs typeface="Calibri"/>
              </a:rPr>
              <a:t> </a:t>
            </a:r>
            <a:r>
              <a:rPr sz="2000" dirty="0">
                <a:latin typeface="Calibri"/>
                <a:cs typeface="Calibri"/>
              </a:rPr>
              <a:t>time</a:t>
            </a:r>
            <a:r>
              <a:rPr sz="2000" spc="385" dirty="0">
                <a:latin typeface="Calibri"/>
                <a:cs typeface="Calibri"/>
              </a:rPr>
              <a:t> </a:t>
            </a:r>
            <a:r>
              <a:rPr sz="2000" dirty="0">
                <a:latin typeface="Calibri"/>
                <a:cs typeface="Calibri"/>
              </a:rPr>
              <a:t>estimates</a:t>
            </a:r>
            <a:r>
              <a:rPr sz="2000" spc="390" dirty="0">
                <a:latin typeface="Calibri"/>
                <a:cs typeface="Calibri"/>
              </a:rPr>
              <a:t> </a:t>
            </a:r>
            <a:r>
              <a:rPr sz="2000" spc="-10" dirty="0">
                <a:latin typeface="Calibri"/>
                <a:cs typeface="Calibri"/>
              </a:rPr>
              <a:t>(low, 	average,</a:t>
            </a:r>
            <a:r>
              <a:rPr sz="2000" spc="-15" dirty="0">
                <a:latin typeface="Calibri"/>
                <a:cs typeface="Calibri"/>
              </a:rPr>
              <a:t> </a:t>
            </a:r>
            <a:r>
              <a:rPr sz="2000" dirty="0">
                <a:latin typeface="Calibri"/>
                <a:cs typeface="Calibri"/>
              </a:rPr>
              <a:t>and</a:t>
            </a:r>
            <a:r>
              <a:rPr sz="2000" spc="-10" dirty="0">
                <a:latin typeface="Calibri"/>
                <a:cs typeface="Calibri"/>
              </a:rPr>
              <a:t> </a:t>
            </a:r>
            <a:r>
              <a:rPr sz="2000" dirty="0">
                <a:latin typeface="Calibri"/>
                <a:cs typeface="Calibri"/>
              </a:rPr>
              <a:t>high).</a:t>
            </a:r>
            <a:r>
              <a:rPr sz="2000" spc="-15" dirty="0">
                <a:latin typeface="Calibri"/>
                <a:cs typeface="Calibri"/>
              </a:rPr>
              <a:t> </a:t>
            </a:r>
            <a:r>
              <a:rPr sz="2000" spc="-35" dirty="0">
                <a:latin typeface="Calibri"/>
                <a:cs typeface="Calibri"/>
              </a:rPr>
              <a:t>To</a:t>
            </a:r>
            <a:r>
              <a:rPr sz="2000" spc="-20" dirty="0">
                <a:latin typeface="Calibri"/>
                <a:cs typeface="Calibri"/>
              </a:rPr>
              <a:t> </a:t>
            </a:r>
            <a:r>
              <a:rPr sz="2000" dirty="0">
                <a:latin typeface="Calibri"/>
                <a:cs typeface="Calibri"/>
              </a:rPr>
              <a:t>do</a:t>
            </a:r>
            <a:r>
              <a:rPr sz="2000" spc="-15" dirty="0">
                <a:latin typeface="Calibri"/>
                <a:cs typeface="Calibri"/>
              </a:rPr>
              <a:t> </a:t>
            </a:r>
            <a:r>
              <a:rPr sz="2000" dirty="0">
                <a:latin typeface="Calibri"/>
                <a:cs typeface="Calibri"/>
              </a:rPr>
              <a:t>so,</a:t>
            </a:r>
            <a:r>
              <a:rPr sz="2000" spc="-10" dirty="0">
                <a:latin typeface="Calibri"/>
                <a:cs typeface="Calibri"/>
              </a:rPr>
              <a:t> </a:t>
            </a:r>
            <a:r>
              <a:rPr sz="2000" dirty="0">
                <a:latin typeface="Calibri"/>
                <a:cs typeface="Calibri"/>
              </a:rPr>
              <a:t>having</a:t>
            </a:r>
            <a:r>
              <a:rPr sz="2000" spc="-15" dirty="0">
                <a:latin typeface="Calibri"/>
                <a:cs typeface="Calibri"/>
              </a:rPr>
              <a:t> </a:t>
            </a:r>
            <a:r>
              <a:rPr sz="2000" dirty="0">
                <a:latin typeface="Calibri"/>
                <a:cs typeface="Calibri"/>
              </a:rPr>
              <a:t>a</a:t>
            </a:r>
            <a:r>
              <a:rPr sz="2000" spc="-10" dirty="0">
                <a:latin typeface="Calibri"/>
                <a:cs typeface="Calibri"/>
              </a:rPr>
              <a:t> </a:t>
            </a:r>
            <a:r>
              <a:rPr sz="2000" dirty="0">
                <a:latin typeface="Calibri"/>
                <a:cs typeface="Calibri"/>
              </a:rPr>
              <a:t>group</a:t>
            </a:r>
            <a:r>
              <a:rPr sz="2000" spc="-10" dirty="0">
                <a:latin typeface="Calibri"/>
                <a:cs typeface="Calibri"/>
              </a:rPr>
              <a:t> </a:t>
            </a:r>
            <a:r>
              <a:rPr sz="2000" dirty="0">
                <a:latin typeface="Calibri"/>
                <a:cs typeface="Calibri"/>
              </a:rPr>
              <a:t>determine</a:t>
            </a:r>
            <a:r>
              <a:rPr sz="2000" spc="-15" dirty="0">
                <a:latin typeface="Calibri"/>
                <a:cs typeface="Calibri"/>
              </a:rPr>
              <a:t> </a:t>
            </a:r>
            <a:r>
              <a:rPr sz="2000" dirty="0">
                <a:latin typeface="Calibri"/>
                <a:cs typeface="Calibri"/>
              </a:rPr>
              <a:t>these</a:t>
            </a:r>
            <a:r>
              <a:rPr sz="2000" spc="-5" dirty="0">
                <a:latin typeface="Calibri"/>
                <a:cs typeface="Calibri"/>
              </a:rPr>
              <a:t> </a:t>
            </a:r>
            <a:r>
              <a:rPr sz="2000" dirty="0">
                <a:latin typeface="Calibri"/>
                <a:cs typeface="Calibri"/>
              </a:rPr>
              <a:t>times</a:t>
            </a:r>
            <a:r>
              <a:rPr sz="2000" spc="-5" dirty="0">
                <a:latin typeface="Calibri"/>
                <a:cs typeface="Calibri"/>
              </a:rPr>
              <a:t> </a:t>
            </a:r>
            <a:r>
              <a:rPr sz="2000" dirty="0">
                <a:latin typeface="Calibri"/>
                <a:cs typeface="Calibri"/>
              </a:rPr>
              <a:t>(or</a:t>
            </a:r>
            <a:r>
              <a:rPr sz="2000" spc="-10" dirty="0">
                <a:latin typeface="Calibri"/>
                <a:cs typeface="Calibri"/>
              </a:rPr>
              <a:t> </a:t>
            </a:r>
            <a:r>
              <a:rPr sz="2000" dirty="0">
                <a:latin typeface="Calibri"/>
                <a:cs typeface="Calibri"/>
              </a:rPr>
              <a:t>cost)</a:t>
            </a:r>
            <a:r>
              <a:rPr sz="2000" spc="-5" dirty="0">
                <a:latin typeface="Calibri"/>
                <a:cs typeface="Calibri"/>
              </a:rPr>
              <a:t> </a:t>
            </a:r>
            <a:r>
              <a:rPr sz="2000" dirty="0">
                <a:latin typeface="Calibri"/>
                <a:cs typeface="Calibri"/>
              </a:rPr>
              <a:t>gives</a:t>
            </a:r>
            <a:r>
              <a:rPr sz="2000" spc="-5" dirty="0">
                <a:latin typeface="Calibri"/>
                <a:cs typeface="Calibri"/>
              </a:rPr>
              <a:t> </a:t>
            </a:r>
            <a:r>
              <a:rPr sz="2000" dirty="0">
                <a:latin typeface="Calibri"/>
                <a:cs typeface="Calibri"/>
              </a:rPr>
              <a:t>best</a:t>
            </a:r>
            <a:r>
              <a:rPr sz="2000" spc="-5" dirty="0">
                <a:latin typeface="Calibri"/>
                <a:cs typeface="Calibri"/>
              </a:rPr>
              <a:t> </a:t>
            </a:r>
            <a:r>
              <a:rPr sz="2000" spc="-10" dirty="0">
                <a:latin typeface="Calibri"/>
                <a:cs typeface="Calibri"/>
              </a:rPr>
              <a:t>results. 	</a:t>
            </a:r>
            <a:r>
              <a:rPr sz="2000" dirty="0">
                <a:latin typeface="Calibri"/>
                <a:cs typeface="Calibri"/>
              </a:rPr>
              <a:t>The</a:t>
            </a:r>
            <a:r>
              <a:rPr sz="2000" spc="25" dirty="0">
                <a:latin typeface="Calibri"/>
                <a:cs typeface="Calibri"/>
              </a:rPr>
              <a:t> </a:t>
            </a:r>
            <a:r>
              <a:rPr sz="2000" dirty="0">
                <a:latin typeface="Calibri"/>
                <a:cs typeface="Calibri"/>
              </a:rPr>
              <a:t>judgment</a:t>
            </a:r>
            <a:r>
              <a:rPr sz="2000" spc="25" dirty="0">
                <a:latin typeface="Calibri"/>
                <a:cs typeface="Calibri"/>
              </a:rPr>
              <a:t> </a:t>
            </a:r>
            <a:r>
              <a:rPr sz="2000" dirty="0">
                <a:latin typeface="Calibri"/>
                <a:cs typeface="Calibri"/>
              </a:rPr>
              <a:t>of</a:t>
            </a:r>
            <a:r>
              <a:rPr sz="2000" spc="30" dirty="0">
                <a:latin typeface="Calibri"/>
                <a:cs typeface="Calibri"/>
              </a:rPr>
              <a:t> </a:t>
            </a:r>
            <a:r>
              <a:rPr sz="2000" dirty="0">
                <a:latin typeface="Calibri"/>
                <a:cs typeface="Calibri"/>
              </a:rPr>
              <a:t>others</a:t>
            </a:r>
            <a:r>
              <a:rPr sz="2000" spc="25" dirty="0">
                <a:latin typeface="Calibri"/>
                <a:cs typeface="Calibri"/>
              </a:rPr>
              <a:t> </a:t>
            </a:r>
            <a:r>
              <a:rPr sz="2000" dirty="0">
                <a:latin typeface="Calibri"/>
                <a:cs typeface="Calibri"/>
              </a:rPr>
              <a:t>in</a:t>
            </a:r>
            <a:r>
              <a:rPr sz="2000" spc="25" dirty="0">
                <a:latin typeface="Calibri"/>
                <a:cs typeface="Calibri"/>
              </a:rPr>
              <a:t> </a:t>
            </a:r>
            <a:r>
              <a:rPr sz="2000" dirty="0">
                <a:latin typeface="Calibri"/>
                <a:cs typeface="Calibri"/>
              </a:rPr>
              <a:t>a</a:t>
            </a:r>
            <a:r>
              <a:rPr sz="2000" spc="25" dirty="0">
                <a:latin typeface="Calibri"/>
                <a:cs typeface="Calibri"/>
              </a:rPr>
              <a:t> </a:t>
            </a:r>
            <a:r>
              <a:rPr sz="2000" dirty="0">
                <a:latin typeface="Calibri"/>
                <a:cs typeface="Calibri"/>
              </a:rPr>
              <a:t>group</a:t>
            </a:r>
            <a:r>
              <a:rPr sz="2000" spc="25" dirty="0">
                <a:latin typeface="Calibri"/>
                <a:cs typeface="Calibri"/>
              </a:rPr>
              <a:t> </a:t>
            </a:r>
            <a:r>
              <a:rPr sz="2000" dirty="0">
                <a:latin typeface="Calibri"/>
                <a:cs typeface="Calibri"/>
              </a:rPr>
              <a:t>helps</a:t>
            </a:r>
            <a:r>
              <a:rPr sz="2000" spc="25" dirty="0">
                <a:latin typeface="Calibri"/>
                <a:cs typeface="Calibri"/>
              </a:rPr>
              <a:t> </a:t>
            </a:r>
            <a:r>
              <a:rPr sz="2000" dirty="0">
                <a:latin typeface="Calibri"/>
                <a:cs typeface="Calibri"/>
              </a:rPr>
              <a:t>to</a:t>
            </a:r>
            <a:r>
              <a:rPr sz="2000" spc="20" dirty="0">
                <a:latin typeface="Calibri"/>
                <a:cs typeface="Calibri"/>
              </a:rPr>
              <a:t> </a:t>
            </a:r>
            <a:r>
              <a:rPr sz="2000" dirty="0">
                <a:latin typeface="Calibri"/>
                <a:cs typeface="Calibri"/>
              </a:rPr>
              <a:t>moderate</a:t>
            </a:r>
            <a:r>
              <a:rPr sz="2000" spc="25" dirty="0">
                <a:latin typeface="Calibri"/>
                <a:cs typeface="Calibri"/>
              </a:rPr>
              <a:t> </a:t>
            </a:r>
            <a:r>
              <a:rPr sz="2000" dirty="0">
                <a:latin typeface="Calibri"/>
                <a:cs typeface="Calibri"/>
              </a:rPr>
              <a:t>extreme</a:t>
            </a:r>
            <a:r>
              <a:rPr sz="2000" spc="35" dirty="0">
                <a:latin typeface="Calibri"/>
                <a:cs typeface="Calibri"/>
              </a:rPr>
              <a:t> </a:t>
            </a:r>
            <a:r>
              <a:rPr sz="2000" dirty="0">
                <a:latin typeface="Calibri"/>
                <a:cs typeface="Calibri"/>
              </a:rPr>
              <a:t>perceived</a:t>
            </a:r>
            <a:r>
              <a:rPr sz="2000" spc="20" dirty="0">
                <a:latin typeface="Calibri"/>
                <a:cs typeface="Calibri"/>
              </a:rPr>
              <a:t> </a:t>
            </a:r>
            <a:r>
              <a:rPr sz="2000" dirty="0">
                <a:latin typeface="Calibri"/>
                <a:cs typeface="Calibri"/>
              </a:rPr>
              <a:t>risks</a:t>
            </a:r>
            <a:r>
              <a:rPr sz="2000" spc="30" dirty="0">
                <a:latin typeface="Calibri"/>
                <a:cs typeface="Calibri"/>
              </a:rPr>
              <a:t> </a:t>
            </a:r>
            <a:r>
              <a:rPr sz="2000" dirty="0">
                <a:latin typeface="Calibri"/>
                <a:cs typeface="Calibri"/>
              </a:rPr>
              <a:t>associated</a:t>
            </a:r>
            <a:r>
              <a:rPr sz="2000" spc="25" dirty="0">
                <a:latin typeface="Calibri"/>
                <a:cs typeface="Calibri"/>
              </a:rPr>
              <a:t> </a:t>
            </a:r>
            <a:r>
              <a:rPr sz="2000" spc="-20" dirty="0">
                <a:latin typeface="Calibri"/>
                <a:cs typeface="Calibri"/>
              </a:rPr>
              <a:t>with 	</a:t>
            </a:r>
            <a:r>
              <a:rPr sz="2000" dirty="0">
                <a:latin typeface="Calibri"/>
                <a:cs typeface="Calibri"/>
              </a:rPr>
              <a:t>a</a:t>
            </a:r>
            <a:r>
              <a:rPr sz="2000" spc="160" dirty="0">
                <a:latin typeface="Calibri"/>
                <a:cs typeface="Calibri"/>
              </a:rPr>
              <a:t> </a:t>
            </a:r>
            <a:r>
              <a:rPr sz="2000" dirty="0">
                <a:latin typeface="Calibri"/>
                <a:cs typeface="Calibri"/>
              </a:rPr>
              <a:t>time</a:t>
            </a:r>
            <a:r>
              <a:rPr sz="2000" spc="155" dirty="0">
                <a:latin typeface="Calibri"/>
                <a:cs typeface="Calibri"/>
              </a:rPr>
              <a:t> </a:t>
            </a:r>
            <a:r>
              <a:rPr sz="2000" dirty="0">
                <a:latin typeface="Calibri"/>
                <a:cs typeface="Calibri"/>
              </a:rPr>
              <a:t>or</a:t>
            </a:r>
            <a:r>
              <a:rPr sz="2000" spc="155" dirty="0">
                <a:latin typeface="Calibri"/>
                <a:cs typeface="Calibri"/>
              </a:rPr>
              <a:t> </a:t>
            </a:r>
            <a:r>
              <a:rPr sz="2000" dirty="0">
                <a:latin typeface="Calibri"/>
                <a:cs typeface="Calibri"/>
              </a:rPr>
              <a:t>cost</a:t>
            </a:r>
            <a:r>
              <a:rPr sz="2000" spc="160" dirty="0">
                <a:latin typeface="Calibri"/>
                <a:cs typeface="Calibri"/>
              </a:rPr>
              <a:t> </a:t>
            </a:r>
            <a:r>
              <a:rPr sz="2000" dirty="0">
                <a:latin typeface="Calibri"/>
                <a:cs typeface="Calibri"/>
              </a:rPr>
              <a:t>estimate.</a:t>
            </a:r>
            <a:r>
              <a:rPr sz="2000" spc="150" dirty="0">
                <a:latin typeface="Calibri"/>
                <a:cs typeface="Calibri"/>
              </a:rPr>
              <a:t> </a:t>
            </a:r>
            <a:r>
              <a:rPr sz="2000" dirty="0">
                <a:latin typeface="Calibri"/>
                <a:cs typeface="Calibri"/>
              </a:rPr>
              <a:t>Involving</a:t>
            </a:r>
            <a:r>
              <a:rPr sz="2000" spc="155" dirty="0">
                <a:latin typeface="Calibri"/>
                <a:cs typeface="Calibri"/>
              </a:rPr>
              <a:t> </a:t>
            </a:r>
            <a:r>
              <a:rPr sz="2000" dirty="0">
                <a:latin typeface="Calibri"/>
                <a:cs typeface="Calibri"/>
              </a:rPr>
              <a:t>others</a:t>
            </a:r>
            <a:r>
              <a:rPr sz="2000" spc="160" dirty="0">
                <a:latin typeface="Calibri"/>
                <a:cs typeface="Calibri"/>
              </a:rPr>
              <a:t> </a:t>
            </a:r>
            <a:r>
              <a:rPr sz="2000" dirty="0">
                <a:latin typeface="Calibri"/>
                <a:cs typeface="Calibri"/>
              </a:rPr>
              <a:t>in</a:t>
            </a:r>
            <a:r>
              <a:rPr sz="2000" spc="155" dirty="0">
                <a:latin typeface="Calibri"/>
                <a:cs typeface="Calibri"/>
              </a:rPr>
              <a:t> </a:t>
            </a:r>
            <a:r>
              <a:rPr sz="2000" dirty="0">
                <a:latin typeface="Calibri"/>
                <a:cs typeface="Calibri"/>
              </a:rPr>
              <a:t>making</a:t>
            </a:r>
            <a:r>
              <a:rPr sz="2000" spc="150" dirty="0">
                <a:latin typeface="Calibri"/>
                <a:cs typeface="Calibri"/>
              </a:rPr>
              <a:t> </a:t>
            </a:r>
            <a:r>
              <a:rPr sz="2000" dirty="0">
                <a:latin typeface="Calibri"/>
                <a:cs typeface="Calibri"/>
              </a:rPr>
              <a:t>activity</a:t>
            </a:r>
            <a:r>
              <a:rPr sz="2000" spc="150" dirty="0">
                <a:latin typeface="Calibri"/>
                <a:cs typeface="Calibri"/>
              </a:rPr>
              <a:t> </a:t>
            </a:r>
            <a:r>
              <a:rPr sz="2000" dirty="0">
                <a:latin typeface="Calibri"/>
                <a:cs typeface="Calibri"/>
              </a:rPr>
              <a:t>estimates</a:t>
            </a:r>
            <a:r>
              <a:rPr sz="2000" spc="160" dirty="0">
                <a:latin typeface="Calibri"/>
                <a:cs typeface="Calibri"/>
              </a:rPr>
              <a:t> </a:t>
            </a:r>
            <a:r>
              <a:rPr sz="2000" dirty="0">
                <a:latin typeface="Calibri"/>
                <a:cs typeface="Calibri"/>
              </a:rPr>
              <a:t>gains</a:t>
            </a:r>
            <a:r>
              <a:rPr sz="2000" spc="160" dirty="0">
                <a:latin typeface="Calibri"/>
                <a:cs typeface="Calibri"/>
              </a:rPr>
              <a:t> </a:t>
            </a:r>
            <a:r>
              <a:rPr sz="2000" dirty="0">
                <a:latin typeface="Calibri"/>
                <a:cs typeface="Calibri"/>
              </a:rPr>
              <a:t>credibility</a:t>
            </a:r>
            <a:r>
              <a:rPr sz="2000" spc="150" dirty="0">
                <a:latin typeface="Calibri"/>
                <a:cs typeface="Calibri"/>
              </a:rPr>
              <a:t> </a:t>
            </a:r>
            <a:r>
              <a:rPr sz="2000" dirty="0">
                <a:latin typeface="Calibri"/>
                <a:cs typeface="Calibri"/>
              </a:rPr>
              <a:t>to</a:t>
            </a:r>
            <a:r>
              <a:rPr sz="2000" spc="155" dirty="0">
                <a:latin typeface="Calibri"/>
                <a:cs typeface="Calibri"/>
              </a:rPr>
              <a:t> </a:t>
            </a:r>
            <a:r>
              <a:rPr sz="2000" spc="-25" dirty="0">
                <a:latin typeface="Calibri"/>
                <a:cs typeface="Calibri"/>
              </a:rPr>
              <a:t>the 	</a:t>
            </a:r>
            <a:r>
              <a:rPr sz="2000" dirty="0">
                <a:latin typeface="Calibri"/>
                <a:cs typeface="Calibri"/>
              </a:rPr>
              <a:t>estimate.</a:t>
            </a:r>
            <a:r>
              <a:rPr sz="2000" spc="495" dirty="0">
                <a:latin typeface="Calibri"/>
                <a:cs typeface="Calibri"/>
              </a:rPr>
              <a:t> </a:t>
            </a:r>
            <a:r>
              <a:rPr sz="2000" dirty="0">
                <a:latin typeface="Calibri"/>
                <a:cs typeface="Calibri"/>
              </a:rPr>
              <a:t>This</a:t>
            </a:r>
            <a:r>
              <a:rPr sz="2000" spc="25" dirty="0">
                <a:latin typeface="Calibri"/>
                <a:cs typeface="Calibri"/>
              </a:rPr>
              <a:t>  </a:t>
            </a:r>
            <a:r>
              <a:rPr sz="2000" dirty="0">
                <a:latin typeface="Calibri"/>
                <a:cs typeface="Calibri"/>
              </a:rPr>
              <a:t>method</a:t>
            </a:r>
            <a:r>
              <a:rPr sz="2000" spc="25" dirty="0">
                <a:latin typeface="Calibri"/>
                <a:cs typeface="Calibri"/>
              </a:rPr>
              <a:t>  </a:t>
            </a:r>
            <a:r>
              <a:rPr sz="2000" dirty="0">
                <a:latin typeface="Calibri"/>
                <a:cs typeface="Calibri"/>
              </a:rPr>
              <a:t>is</a:t>
            </a:r>
            <a:r>
              <a:rPr sz="2000" spc="30" dirty="0">
                <a:latin typeface="Calibri"/>
                <a:cs typeface="Calibri"/>
              </a:rPr>
              <a:t>  </a:t>
            </a:r>
            <a:r>
              <a:rPr sz="2000" dirty="0">
                <a:latin typeface="Calibri"/>
                <a:cs typeface="Calibri"/>
              </a:rPr>
              <a:t>popular</a:t>
            </a:r>
            <a:r>
              <a:rPr sz="2000" spc="25" dirty="0">
                <a:latin typeface="Calibri"/>
                <a:cs typeface="Calibri"/>
              </a:rPr>
              <a:t>  </a:t>
            </a:r>
            <a:r>
              <a:rPr sz="2000" dirty="0">
                <a:latin typeface="Calibri"/>
                <a:cs typeface="Calibri"/>
              </a:rPr>
              <a:t>in</a:t>
            </a:r>
            <a:r>
              <a:rPr sz="2000" spc="25" dirty="0">
                <a:latin typeface="Calibri"/>
                <a:cs typeface="Calibri"/>
              </a:rPr>
              <a:t>  </a:t>
            </a:r>
            <a:r>
              <a:rPr sz="2000" dirty="0">
                <a:latin typeface="Calibri"/>
                <a:cs typeface="Calibri"/>
              </a:rPr>
              <a:t>software</a:t>
            </a:r>
            <a:r>
              <a:rPr sz="2000" spc="30" dirty="0">
                <a:latin typeface="Calibri"/>
                <a:cs typeface="Calibri"/>
              </a:rPr>
              <a:t>  </a:t>
            </a:r>
            <a:r>
              <a:rPr sz="2000" dirty="0">
                <a:latin typeface="Calibri"/>
                <a:cs typeface="Calibri"/>
              </a:rPr>
              <a:t>and</a:t>
            </a:r>
            <a:r>
              <a:rPr sz="2000" spc="25" dirty="0">
                <a:latin typeface="Calibri"/>
                <a:cs typeface="Calibri"/>
              </a:rPr>
              <a:t>  </a:t>
            </a:r>
            <a:r>
              <a:rPr sz="2000" dirty="0">
                <a:latin typeface="Calibri"/>
                <a:cs typeface="Calibri"/>
              </a:rPr>
              <a:t>new</a:t>
            </a:r>
            <a:r>
              <a:rPr sz="2000" spc="495" dirty="0">
                <a:latin typeface="Calibri"/>
                <a:cs typeface="Calibri"/>
              </a:rPr>
              <a:t> </a:t>
            </a:r>
            <a:r>
              <a:rPr sz="2000" dirty="0">
                <a:latin typeface="Calibri"/>
                <a:cs typeface="Calibri"/>
              </a:rPr>
              <a:t>product</a:t>
            </a:r>
            <a:r>
              <a:rPr sz="2000" spc="25" dirty="0">
                <a:latin typeface="Calibri"/>
                <a:cs typeface="Calibri"/>
              </a:rPr>
              <a:t>  </a:t>
            </a:r>
            <a:r>
              <a:rPr sz="2000" dirty="0">
                <a:latin typeface="Calibri"/>
                <a:cs typeface="Calibri"/>
              </a:rPr>
              <a:t>projects</a:t>
            </a:r>
            <a:r>
              <a:rPr sz="2000" spc="25" dirty="0">
                <a:latin typeface="Calibri"/>
                <a:cs typeface="Calibri"/>
              </a:rPr>
              <a:t>  </a:t>
            </a:r>
            <a:r>
              <a:rPr sz="2000" dirty="0">
                <a:latin typeface="Calibri"/>
                <a:cs typeface="Calibri"/>
              </a:rPr>
              <a:t>where</a:t>
            </a:r>
            <a:r>
              <a:rPr sz="2000" spc="25" dirty="0">
                <a:latin typeface="Calibri"/>
                <a:cs typeface="Calibri"/>
              </a:rPr>
              <a:t>  </a:t>
            </a:r>
            <a:r>
              <a:rPr sz="2000" spc="-20" dirty="0">
                <a:latin typeface="Calibri"/>
                <a:cs typeface="Calibri"/>
              </a:rPr>
              <a:t>up-</a:t>
            </a:r>
            <a:r>
              <a:rPr sz="2000" spc="-10" dirty="0">
                <a:latin typeface="Calibri"/>
                <a:cs typeface="Calibri"/>
              </a:rPr>
              <a:t>front 	requirements</a:t>
            </a:r>
            <a:r>
              <a:rPr sz="2000" spc="-35" dirty="0">
                <a:latin typeface="Calibri"/>
                <a:cs typeface="Calibri"/>
              </a:rPr>
              <a:t> </a:t>
            </a:r>
            <a:r>
              <a:rPr sz="2000" dirty="0">
                <a:latin typeface="Calibri"/>
                <a:cs typeface="Calibri"/>
              </a:rPr>
              <a:t>are</a:t>
            </a:r>
            <a:r>
              <a:rPr sz="2000" spc="-35" dirty="0">
                <a:latin typeface="Calibri"/>
                <a:cs typeface="Calibri"/>
              </a:rPr>
              <a:t> </a:t>
            </a:r>
            <a:r>
              <a:rPr sz="2000" dirty="0">
                <a:latin typeface="Calibri"/>
                <a:cs typeface="Calibri"/>
              </a:rPr>
              <a:t>fuzzy</a:t>
            </a:r>
            <a:r>
              <a:rPr sz="2000" spc="-40" dirty="0">
                <a:latin typeface="Calibri"/>
                <a:cs typeface="Calibri"/>
              </a:rPr>
              <a:t> </a:t>
            </a:r>
            <a:r>
              <a:rPr sz="2000" dirty="0">
                <a:latin typeface="Calibri"/>
                <a:cs typeface="Calibri"/>
              </a:rPr>
              <a:t>and</a:t>
            </a:r>
            <a:r>
              <a:rPr sz="2000" spc="-40" dirty="0">
                <a:latin typeface="Calibri"/>
                <a:cs typeface="Calibri"/>
              </a:rPr>
              <a:t> </a:t>
            </a:r>
            <a:r>
              <a:rPr sz="2000" dirty="0">
                <a:latin typeface="Calibri"/>
                <a:cs typeface="Calibri"/>
              </a:rPr>
              <a:t>not</a:t>
            </a:r>
            <a:r>
              <a:rPr sz="2000" spc="-35" dirty="0">
                <a:latin typeface="Calibri"/>
                <a:cs typeface="Calibri"/>
              </a:rPr>
              <a:t> </a:t>
            </a:r>
            <a:r>
              <a:rPr sz="2000" dirty="0">
                <a:latin typeface="Calibri"/>
                <a:cs typeface="Calibri"/>
              </a:rPr>
              <a:t>well</a:t>
            </a:r>
            <a:r>
              <a:rPr sz="2000" spc="-30" dirty="0">
                <a:latin typeface="Calibri"/>
                <a:cs typeface="Calibri"/>
              </a:rPr>
              <a:t> </a:t>
            </a:r>
            <a:r>
              <a:rPr sz="2000" spc="-10" dirty="0">
                <a:latin typeface="Calibri"/>
                <a:cs typeface="Calibri"/>
              </a:rPr>
              <a:t>known.</a:t>
            </a:r>
            <a:endParaRPr sz="2000" dirty="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15</a:t>
            </a:fld>
            <a:endParaRPr spc="-25" dirty="0"/>
          </a:p>
        </p:txBody>
      </p:sp>
      <p:sp>
        <p:nvSpPr>
          <p:cNvPr id="3" name="object 3"/>
          <p:cNvSpPr txBox="1">
            <a:spLocks noGrp="1"/>
          </p:cNvSpPr>
          <p:nvPr>
            <p:ph type="title"/>
          </p:nvPr>
        </p:nvSpPr>
        <p:spPr>
          <a:xfrm>
            <a:off x="133942" y="409333"/>
            <a:ext cx="11579862" cy="677108"/>
          </a:xfrm>
          <a:prstGeom prst="rect">
            <a:avLst/>
          </a:prstGeom>
        </p:spPr>
        <p:txBody>
          <a:bodyPr vert="horz" wrap="square" lIns="0" tIns="15240" rIns="0" bIns="0" rtlCol="0">
            <a:spAutoFit/>
          </a:bodyPr>
          <a:lstStyle/>
          <a:p>
            <a:pPr marL="12700">
              <a:lnSpc>
                <a:spcPct val="100000"/>
              </a:lnSpc>
              <a:spcBef>
                <a:spcPts val="120"/>
              </a:spcBef>
            </a:pPr>
            <a:r>
              <a:rPr b="1" u="sng" spc="95" dirty="0">
                <a:solidFill>
                  <a:srgbClr val="FF0000"/>
                </a:solidFill>
              </a:rPr>
              <a:t>Methods for Estimating Project Times and Costs</a:t>
            </a:r>
          </a:p>
        </p:txBody>
      </p:sp>
      <p:pic>
        <p:nvPicPr>
          <p:cNvPr id="5" name="Picture 4">
            <a:extLst>
              <a:ext uri="{FF2B5EF4-FFF2-40B4-BE49-F238E27FC236}">
                <a16:creationId xmlns:a16="http://schemas.microsoft.com/office/drawing/2014/main" id="{752DB2A2-8419-0544-EFC2-09CCE440283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32976" y="1875041"/>
            <a:ext cx="7754293" cy="4652575"/>
          </a:xfrm>
          <a:prstGeom prst="rect">
            <a:avLst/>
          </a:prstGeom>
        </p:spPr>
      </p:pic>
      <p:sp>
        <p:nvSpPr>
          <p:cNvPr id="3" name="object 3"/>
          <p:cNvSpPr txBox="1"/>
          <p:nvPr/>
        </p:nvSpPr>
        <p:spPr>
          <a:xfrm>
            <a:off x="385324" y="3355340"/>
            <a:ext cx="1718945" cy="568325"/>
          </a:xfrm>
          <a:prstGeom prst="rect">
            <a:avLst/>
          </a:prstGeom>
        </p:spPr>
        <p:txBody>
          <a:bodyPr vert="horz" wrap="square" lIns="0" tIns="26670" rIns="0" bIns="0" rtlCol="0">
            <a:spAutoFit/>
          </a:bodyPr>
          <a:lstStyle/>
          <a:p>
            <a:pPr marL="12700" marR="5080" indent="46355">
              <a:lnSpc>
                <a:spcPts val="2110"/>
              </a:lnSpc>
              <a:spcBef>
                <a:spcPts val="210"/>
              </a:spcBef>
            </a:pPr>
            <a:r>
              <a:rPr sz="1800" dirty="0">
                <a:latin typeface="Calibri"/>
                <a:cs typeface="Calibri"/>
              </a:rPr>
              <a:t>Range</a:t>
            </a:r>
            <a:r>
              <a:rPr sz="1800" spc="-40" dirty="0">
                <a:latin typeface="Calibri"/>
                <a:cs typeface="Calibri"/>
              </a:rPr>
              <a:t> </a:t>
            </a:r>
            <a:r>
              <a:rPr sz="1800" spc="-10" dirty="0">
                <a:latin typeface="Calibri"/>
                <a:cs typeface="Calibri"/>
              </a:rPr>
              <a:t>Estimating </a:t>
            </a:r>
            <a:r>
              <a:rPr sz="1800" spc="-25" dirty="0">
                <a:latin typeface="Calibri"/>
                <a:cs typeface="Calibri"/>
              </a:rPr>
              <a:t>Template</a:t>
            </a:r>
            <a:r>
              <a:rPr sz="1800" spc="-50" dirty="0">
                <a:latin typeface="Calibri"/>
                <a:cs typeface="Calibri"/>
              </a:rPr>
              <a:t> </a:t>
            </a:r>
            <a:r>
              <a:rPr sz="1800" spc="-10" dirty="0">
                <a:latin typeface="Calibri"/>
                <a:cs typeface="Calibri"/>
              </a:rPr>
              <a:t>Example</a:t>
            </a:r>
            <a:endParaRPr sz="1800">
              <a:latin typeface="Calibri"/>
              <a:cs typeface="Calibri"/>
            </a:endParaRPr>
          </a:p>
        </p:txBody>
      </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16</a:t>
            </a:fld>
            <a:endParaRPr spc="-25" dirty="0"/>
          </a:p>
        </p:txBody>
      </p:sp>
      <p:sp>
        <p:nvSpPr>
          <p:cNvPr id="4" name="object 4"/>
          <p:cNvSpPr txBox="1">
            <a:spLocks noGrp="1"/>
          </p:cNvSpPr>
          <p:nvPr>
            <p:ph type="title"/>
          </p:nvPr>
        </p:nvSpPr>
        <p:spPr>
          <a:xfrm>
            <a:off x="152400" y="462087"/>
            <a:ext cx="10970262" cy="677108"/>
          </a:xfrm>
          <a:prstGeom prst="rect">
            <a:avLst/>
          </a:prstGeom>
        </p:spPr>
        <p:txBody>
          <a:bodyPr vert="horz" wrap="square" lIns="0" tIns="15240" rIns="0" bIns="0" rtlCol="0">
            <a:spAutoFit/>
          </a:bodyPr>
          <a:lstStyle/>
          <a:p>
            <a:pPr marL="12700">
              <a:lnSpc>
                <a:spcPct val="100000"/>
              </a:lnSpc>
              <a:spcBef>
                <a:spcPts val="120"/>
              </a:spcBef>
            </a:pPr>
            <a:r>
              <a:rPr b="1" u="sng" spc="95" dirty="0">
                <a:solidFill>
                  <a:srgbClr val="FF0000"/>
                </a:solidFill>
              </a:rPr>
              <a:t>Methods for Estimating Project Times and Costs</a:t>
            </a:r>
          </a:p>
        </p:txBody>
      </p:sp>
      <p:sp>
        <p:nvSpPr>
          <p:cNvPr id="5" name="object 5"/>
          <p:cNvSpPr txBox="1"/>
          <p:nvPr/>
        </p:nvSpPr>
        <p:spPr>
          <a:xfrm>
            <a:off x="916938" y="1176747"/>
            <a:ext cx="546100" cy="324485"/>
          </a:xfrm>
          <a:prstGeom prst="rect">
            <a:avLst/>
          </a:prstGeom>
        </p:spPr>
        <p:txBody>
          <a:bodyPr vert="horz" wrap="square" lIns="0" tIns="13970" rIns="0" bIns="0" rtlCol="0">
            <a:spAutoFit/>
          </a:bodyPr>
          <a:lstStyle/>
          <a:p>
            <a:pPr marL="12700">
              <a:lnSpc>
                <a:spcPct val="100000"/>
              </a:lnSpc>
              <a:spcBef>
                <a:spcPts val="110"/>
              </a:spcBef>
            </a:pPr>
            <a:r>
              <a:rPr sz="1950" spc="-10" dirty="0">
                <a:latin typeface="Calibri Light"/>
                <a:cs typeface="Calibri Light"/>
              </a:rPr>
              <a:t>(5/5)</a:t>
            </a:r>
            <a:endParaRPr sz="1950">
              <a:latin typeface="Calibri Light"/>
              <a:cs typeface="Calibri Light"/>
            </a:endParaRPr>
          </a:p>
        </p:txBody>
      </p:sp>
      <p:pic>
        <p:nvPicPr>
          <p:cNvPr id="7" name="Picture 6">
            <a:extLst>
              <a:ext uri="{FF2B5EF4-FFF2-40B4-BE49-F238E27FC236}">
                <a16:creationId xmlns:a16="http://schemas.microsoft.com/office/drawing/2014/main" id="{30D9AA57-DBBE-4336-B1F9-FEB0D0E3626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28849"/>
            <a:ext cx="12113262" cy="1400282"/>
          </a:xfrm>
          <a:prstGeom prst="rect">
            <a:avLst/>
          </a:prstGeom>
        </p:spPr>
        <p:txBody>
          <a:bodyPr vert="horz" wrap="square" lIns="0" tIns="76100" rIns="0" bIns="0" rtlCol="0">
            <a:spAutoFit/>
          </a:bodyPr>
          <a:lstStyle/>
          <a:p>
            <a:pPr marL="12700">
              <a:lnSpc>
                <a:spcPct val="100000"/>
              </a:lnSpc>
              <a:spcBef>
                <a:spcPts val="100"/>
              </a:spcBef>
            </a:pPr>
            <a:r>
              <a:rPr b="1" u="sng" spc="95" dirty="0">
                <a:solidFill>
                  <a:srgbClr val="FF0000"/>
                </a:solidFill>
              </a:rPr>
              <a:t>Comparison between Top-Down and Bottom-Up Estimates</a:t>
            </a:r>
          </a:p>
        </p:txBody>
      </p:sp>
      <p:sp>
        <p:nvSpPr>
          <p:cNvPr id="11" name="object 11"/>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17</a:t>
            </a:fld>
            <a:endParaRPr spc="-25" dirty="0"/>
          </a:p>
        </p:txBody>
      </p:sp>
      <p:pic>
        <p:nvPicPr>
          <p:cNvPr id="12" name="Picture 11">
            <a:extLst>
              <a:ext uri="{FF2B5EF4-FFF2-40B4-BE49-F238E27FC236}">
                <a16:creationId xmlns:a16="http://schemas.microsoft.com/office/drawing/2014/main" id="{61D5512D-ABC3-4064-137A-E726AEE9488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BC2316B7-67AF-C491-B5C5-3ACE958E087B}"/>
              </a:ext>
            </a:extLst>
          </p:cNvPr>
          <p:cNvPicPr>
            <a:picLocks noChangeAspect="1"/>
          </p:cNvPicPr>
          <p:nvPr/>
        </p:nvPicPr>
        <p:blipFill>
          <a:blip r:embed="rId3"/>
          <a:stretch>
            <a:fillRect/>
          </a:stretch>
        </p:blipFill>
        <p:spPr>
          <a:xfrm>
            <a:off x="2723679" y="1529131"/>
            <a:ext cx="6744641" cy="530616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87659" y="2946195"/>
            <a:ext cx="8399311" cy="347318"/>
          </a:xfrm>
          <a:prstGeom prst="rect">
            <a:avLst/>
          </a:prstGeom>
        </p:spPr>
      </p:pic>
      <p:pic>
        <p:nvPicPr>
          <p:cNvPr id="3" name="object 3"/>
          <p:cNvPicPr/>
          <p:nvPr/>
        </p:nvPicPr>
        <p:blipFill>
          <a:blip r:embed="rId3" cstate="print"/>
          <a:stretch>
            <a:fillRect/>
          </a:stretch>
        </p:blipFill>
        <p:spPr>
          <a:xfrm>
            <a:off x="2159725" y="2471527"/>
            <a:ext cx="4028890" cy="52097"/>
          </a:xfrm>
          <a:prstGeom prst="rect">
            <a:avLst/>
          </a:prstGeom>
        </p:spPr>
      </p:pic>
      <p:pic>
        <p:nvPicPr>
          <p:cNvPr id="4" name="object 4"/>
          <p:cNvPicPr/>
          <p:nvPr/>
        </p:nvPicPr>
        <p:blipFill>
          <a:blip r:embed="rId4" cstate="print"/>
          <a:stretch>
            <a:fillRect/>
          </a:stretch>
        </p:blipFill>
        <p:spPr>
          <a:xfrm>
            <a:off x="2168408" y="1860825"/>
            <a:ext cx="7985423" cy="260489"/>
          </a:xfrm>
          <a:prstGeom prst="rect">
            <a:avLst/>
          </a:prstGeom>
        </p:spPr>
      </p:pic>
      <p:pic>
        <p:nvPicPr>
          <p:cNvPr id="5" name="object 5"/>
          <p:cNvPicPr/>
          <p:nvPr/>
        </p:nvPicPr>
        <p:blipFill>
          <a:blip r:embed="rId5" cstate="print"/>
          <a:stretch>
            <a:fillRect/>
          </a:stretch>
        </p:blipFill>
        <p:spPr>
          <a:xfrm>
            <a:off x="6281233" y="3420862"/>
            <a:ext cx="162082" cy="173659"/>
          </a:xfrm>
          <a:prstGeom prst="rect">
            <a:avLst/>
          </a:prstGeom>
        </p:spPr>
      </p:pic>
      <p:pic>
        <p:nvPicPr>
          <p:cNvPr id="6" name="object 6"/>
          <p:cNvPicPr/>
          <p:nvPr/>
        </p:nvPicPr>
        <p:blipFill>
          <a:blip r:embed="rId6" cstate="print"/>
          <a:stretch>
            <a:fillRect/>
          </a:stretch>
        </p:blipFill>
        <p:spPr>
          <a:xfrm>
            <a:off x="6281233" y="5678432"/>
            <a:ext cx="162082" cy="173659"/>
          </a:xfrm>
          <a:prstGeom prst="rect">
            <a:avLst/>
          </a:prstGeom>
        </p:spPr>
      </p:pic>
      <p:pic>
        <p:nvPicPr>
          <p:cNvPr id="7" name="object 7"/>
          <p:cNvPicPr/>
          <p:nvPr/>
        </p:nvPicPr>
        <p:blipFill>
          <a:blip r:embed="rId7" cstate="print"/>
          <a:stretch>
            <a:fillRect/>
          </a:stretch>
        </p:blipFill>
        <p:spPr>
          <a:xfrm>
            <a:off x="8900592" y="3797123"/>
            <a:ext cx="162082" cy="173659"/>
          </a:xfrm>
          <a:prstGeom prst="rect">
            <a:avLst/>
          </a:prstGeom>
        </p:spPr>
      </p:pic>
      <p:sp>
        <p:nvSpPr>
          <p:cNvPr id="8" name="object 8"/>
          <p:cNvSpPr txBox="1"/>
          <p:nvPr/>
        </p:nvSpPr>
        <p:spPr>
          <a:xfrm>
            <a:off x="154401" y="710632"/>
            <a:ext cx="11865825" cy="676850"/>
          </a:xfrm>
          <a:prstGeom prst="rect">
            <a:avLst/>
          </a:prstGeom>
        </p:spPr>
        <p:txBody>
          <a:bodyPr vert="horz" wrap="square" lIns="0" tIns="14984" rIns="0" bIns="0" rtlCol="0">
            <a:spAutoFit/>
          </a:bodyPr>
          <a:lstStyle/>
          <a:p>
            <a:pPr marL="11527">
              <a:spcBef>
                <a:spcPts val="118"/>
              </a:spcBef>
            </a:pPr>
            <a:r>
              <a:rPr sz="4300" b="1" u="sng" spc="95" dirty="0">
                <a:solidFill>
                  <a:srgbClr val="FF0000"/>
                </a:solidFill>
                <a:latin typeface="Calibri Light"/>
                <a:ea typeface="+mj-ea"/>
                <a:cs typeface="Calibri Light"/>
              </a:rPr>
              <a:t>Methods for Estimating Project Times and Costs</a:t>
            </a:r>
          </a:p>
        </p:txBody>
      </p:sp>
      <p:sp>
        <p:nvSpPr>
          <p:cNvPr id="13" name="object 13"/>
          <p:cNvSpPr txBox="1">
            <a:spLocks noGrp="1"/>
          </p:cNvSpPr>
          <p:nvPr>
            <p:ph type="sldNum" sz="quarter" idx="7"/>
          </p:nvPr>
        </p:nvSpPr>
        <p:spPr>
          <a:xfrm>
            <a:off x="13118081" y="5834651"/>
            <a:ext cx="221876" cy="117517"/>
          </a:xfrm>
          <a:prstGeom prst="rect">
            <a:avLst/>
          </a:prstGeom>
        </p:spPr>
        <p:txBody>
          <a:bodyPr vert="horz" wrap="square" lIns="0" tIns="5763" rIns="0" bIns="0" rtlCol="0">
            <a:spAutoFit/>
          </a:bodyPr>
          <a:lstStyle/>
          <a:p>
            <a:pPr marL="11527">
              <a:spcBef>
                <a:spcPts val="45"/>
              </a:spcBef>
            </a:pPr>
            <a:fld id="{81D60167-4931-47E6-BA6A-407CBD079E47}" type="slidenum">
              <a:rPr sz="726" spc="-23" dirty="0"/>
              <a:pPr marL="11527">
                <a:spcBef>
                  <a:spcPts val="45"/>
                </a:spcBef>
              </a:pPr>
              <a:t>18</a:t>
            </a:fld>
            <a:endParaRPr sz="726"/>
          </a:p>
        </p:txBody>
      </p:sp>
      <p:sp>
        <p:nvSpPr>
          <p:cNvPr id="9" name="object 9"/>
          <p:cNvSpPr txBox="1">
            <a:spLocks noGrp="1"/>
          </p:cNvSpPr>
          <p:nvPr>
            <p:ph type="title"/>
          </p:nvPr>
        </p:nvSpPr>
        <p:spPr>
          <a:xfrm>
            <a:off x="2156924" y="1662936"/>
            <a:ext cx="7787576" cy="860352"/>
          </a:xfrm>
          <a:prstGeom prst="rect">
            <a:avLst/>
          </a:prstGeom>
        </p:spPr>
        <p:txBody>
          <a:bodyPr vert="horz" wrap="square" lIns="0" tIns="13831" rIns="0" bIns="0" rtlCol="0">
            <a:spAutoFit/>
          </a:bodyPr>
          <a:lstStyle/>
          <a:p>
            <a:pPr marL="11527">
              <a:lnSpc>
                <a:spcPts val="3381"/>
              </a:lnSpc>
              <a:spcBef>
                <a:spcPts val="109"/>
              </a:spcBef>
              <a:tabLst>
                <a:tab pos="2614791" algn="l"/>
                <a:tab pos="4109781" algn="l"/>
                <a:tab pos="4702244" algn="l"/>
              </a:tabLst>
            </a:pPr>
            <a:r>
              <a:rPr sz="2859" spc="103" dirty="0">
                <a:solidFill>
                  <a:srgbClr val="FD0100"/>
                </a:solidFill>
                <a:latin typeface="Calibri"/>
                <a:cs typeface="Calibri"/>
              </a:rPr>
              <a:t>Conditions</a:t>
            </a:r>
            <a:r>
              <a:rPr sz="2859" spc="309" dirty="0">
                <a:solidFill>
                  <a:srgbClr val="FD0100"/>
                </a:solidFill>
                <a:latin typeface="Calibri"/>
                <a:cs typeface="Calibri"/>
              </a:rPr>
              <a:t> </a:t>
            </a:r>
            <a:r>
              <a:rPr sz="2859" spc="41" dirty="0">
                <a:solidFill>
                  <a:srgbClr val="F9000E"/>
                </a:solidFill>
                <a:latin typeface="Calibri"/>
                <a:cs typeface="Calibri"/>
              </a:rPr>
              <a:t>for</a:t>
            </a:r>
            <a:r>
              <a:rPr sz="2859" dirty="0">
                <a:solidFill>
                  <a:srgbClr val="F9000E"/>
                </a:solidFill>
                <a:latin typeface="Calibri"/>
                <a:cs typeface="Calibri"/>
              </a:rPr>
              <a:t>	</a:t>
            </a:r>
            <a:r>
              <a:rPr sz="2859" spc="-9" dirty="0">
                <a:solidFill>
                  <a:srgbClr val="FB0007"/>
                </a:solidFill>
                <a:latin typeface="Calibri"/>
                <a:cs typeface="Calibri"/>
              </a:rPr>
              <a:t>referrin</a:t>
            </a:r>
            <a:r>
              <a:rPr sz="2859" dirty="0">
                <a:solidFill>
                  <a:srgbClr val="FB0007"/>
                </a:solidFill>
                <a:latin typeface="Calibri"/>
                <a:cs typeface="Calibri"/>
              </a:rPr>
              <a:t>	</a:t>
            </a:r>
            <a:r>
              <a:rPr sz="2859" spc="-23" dirty="0">
                <a:solidFill>
                  <a:srgbClr val="FD0100"/>
                </a:solidFill>
                <a:latin typeface="Calibri"/>
                <a:cs typeface="Calibri"/>
              </a:rPr>
              <a:t>To</a:t>
            </a:r>
            <a:r>
              <a:rPr sz="2859" dirty="0">
                <a:solidFill>
                  <a:srgbClr val="FD0100"/>
                </a:solidFill>
                <a:latin typeface="Calibri"/>
                <a:cs typeface="Calibri"/>
              </a:rPr>
              <a:t>	-</a:t>
            </a:r>
            <a:r>
              <a:rPr sz="2859" spc="45" dirty="0">
                <a:solidFill>
                  <a:srgbClr val="FD0100"/>
                </a:solidFill>
                <a:latin typeface="Calibri"/>
                <a:cs typeface="Calibri"/>
              </a:rPr>
              <a:t>Down</a:t>
            </a:r>
            <a:r>
              <a:rPr sz="2859" spc="213" dirty="0">
                <a:solidFill>
                  <a:srgbClr val="FD0100"/>
                </a:solidFill>
                <a:latin typeface="Calibri"/>
                <a:cs typeface="Calibri"/>
              </a:rPr>
              <a:t> </a:t>
            </a:r>
            <a:r>
              <a:rPr sz="2859" spc="82" dirty="0">
                <a:solidFill>
                  <a:srgbClr val="FD0100"/>
                </a:solidFill>
                <a:latin typeface="Calibri"/>
                <a:cs typeface="Calibri"/>
              </a:rPr>
              <a:t>or</a:t>
            </a:r>
            <a:r>
              <a:rPr sz="2859" spc="45" dirty="0">
                <a:solidFill>
                  <a:srgbClr val="FD0100"/>
                </a:solidFill>
                <a:latin typeface="Calibri"/>
                <a:cs typeface="Calibri"/>
              </a:rPr>
              <a:t> </a:t>
            </a:r>
            <a:r>
              <a:rPr sz="2859" spc="50" dirty="0">
                <a:solidFill>
                  <a:srgbClr val="FD0005"/>
                </a:solidFill>
                <a:latin typeface="Calibri"/>
                <a:cs typeface="Calibri"/>
              </a:rPr>
              <a:t>Bottom-</a:t>
            </a:r>
            <a:r>
              <a:rPr sz="2859" spc="23" dirty="0">
                <a:solidFill>
                  <a:srgbClr val="FD0005"/>
                </a:solidFill>
                <a:latin typeface="Calibri"/>
                <a:cs typeface="Calibri"/>
              </a:rPr>
              <a:t>U</a:t>
            </a:r>
            <a:endParaRPr sz="2859" dirty="0">
              <a:latin typeface="Calibri"/>
              <a:cs typeface="Calibri"/>
            </a:endParaRPr>
          </a:p>
          <a:p>
            <a:pPr marL="11527">
              <a:lnSpc>
                <a:spcPts val="3217"/>
              </a:lnSpc>
            </a:pPr>
            <a:r>
              <a:rPr sz="2723" dirty="0">
                <a:solidFill>
                  <a:srgbClr val="FB0100"/>
                </a:solidFill>
              </a:rPr>
              <a:t>Time</a:t>
            </a:r>
            <a:r>
              <a:rPr sz="2723" spc="45" dirty="0">
                <a:solidFill>
                  <a:srgbClr val="FB0100"/>
                </a:solidFill>
              </a:rPr>
              <a:t> </a:t>
            </a:r>
            <a:r>
              <a:rPr sz="2723" spc="54" dirty="0">
                <a:solidFill>
                  <a:srgbClr val="F90000"/>
                </a:solidFill>
              </a:rPr>
              <a:t>and</a:t>
            </a:r>
            <a:r>
              <a:rPr sz="2723" spc="-14" dirty="0">
                <a:solidFill>
                  <a:srgbClr val="F90000"/>
                </a:solidFill>
              </a:rPr>
              <a:t> </a:t>
            </a:r>
            <a:r>
              <a:rPr sz="2723" spc="50" dirty="0">
                <a:solidFill>
                  <a:srgbClr val="FB0005"/>
                </a:solidFill>
              </a:rPr>
              <a:t>Cost </a:t>
            </a:r>
            <a:r>
              <a:rPr sz="2723" spc="-9" dirty="0">
                <a:solidFill>
                  <a:srgbClr val="FD0001"/>
                </a:solidFill>
              </a:rPr>
              <a:t>Estimates</a:t>
            </a:r>
            <a:endParaRPr sz="2723" dirty="0"/>
          </a:p>
        </p:txBody>
      </p:sp>
      <p:graphicFrame>
        <p:nvGraphicFramePr>
          <p:cNvPr id="10" name="object 10"/>
          <p:cNvGraphicFramePr>
            <a:graphicFrameLocks noGrp="1"/>
          </p:cNvGraphicFramePr>
          <p:nvPr>
            <p:extLst>
              <p:ext uri="{D42A27DB-BD31-4B8C-83A1-F6EECF244321}">
                <p14:modId xmlns:p14="http://schemas.microsoft.com/office/powerpoint/2010/main" val="4160717371"/>
              </p:ext>
            </p:extLst>
          </p:nvPr>
        </p:nvGraphicFramePr>
        <p:xfrm>
          <a:off x="1857179" y="3338775"/>
          <a:ext cx="8429791" cy="2546521"/>
        </p:xfrm>
        <a:graphic>
          <a:graphicData uri="http://schemas.openxmlformats.org/drawingml/2006/table">
            <a:tbl>
              <a:tblPr firstRow="1" bandRow="1">
                <a:tableStyleId>{2D5ABB26-0587-4C30-8999-92F81FD0307C}</a:tableStyleId>
              </a:tblPr>
              <a:tblGrid>
                <a:gridCol w="4334681">
                  <a:extLst>
                    <a:ext uri="{9D8B030D-6E8A-4147-A177-3AD203B41FA5}">
                      <a16:colId xmlns:a16="http://schemas.microsoft.com/office/drawing/2014/main" val="20000"/>
                    </a:ext>
                  </a:extLst>
                </a:gridCol>
                <a:gridCol w="2424218">
                  <a:extLst>
                    <a:ext uri="{9D8B030D-6E8A-4147-A177-3AD203B41FA5}">
                      <a16:colId xmlns:a16="http://schemas.microsoft.com/office/drawing/2014/main" val="20001"/>
                    </a:ext>
                  </a:extLst>
                </a:gridCol>
                <a:gridCol w="1670892">
                  <a:extLst>
                    <a:ext uri="{9D8B030D-6E8A-4147-A177-3AD203B41FA5}">
                      <a16:colId xmlns:a16="http://schemas.microsoft.com/office/drawing/2014/main" val="20002"/>
                    </a:ext>
                  </a:extLst>
                </a:gridCol>
              </a:tblGrid>
              <a:tr h="1077109">
                <a:tc>
                  <a:txBody>
                    <a:bodyPr/>
                    <a:lstStyle/>
                    <a:p>
                      <a:pPr marL="34925">
                        <a:lnSpc>
                          <a:spcPts val="2375"/>
                        </a:lnSpc>
                      </a:pPr>
                      <a:r>
                        <a:rPr sz="2000" dirty="0">
                          <a:solidFill>
                            <a:srgbClr val="0000DD"/>
                          </a:solidFill>
                          <a:latin typeface="Arial MT"/>
                          <a:cs typeface="Arial MT"/>
                        </a:rPr>
                        <a:t>Strategic</a:t>
                      </a:r>
                      <a:r>
                        <a:rPr sz="2000" spc="275" dirty="0">
                          <a:solidFill>
                            <a:srgbClr val="0000DD"/>
                          </a:solidFill>
                          <a:latin typeface="Arial MT"/>
                          <a:cs typeface="Arial MT"/>
                        </a:rPr>
                        <a:t> </a:t>
                      </a:r>
                      <a:r>
                        <a:rPr sz="2000" spc="50" dirty="0">
                          <a:solidFill>
                            <a:srgbClr val="0001C6"/>
                          </a:solidFill>
                          <a:latin typeface="Arial MT"/>
                          <a:cs typeface="Arial MT"/>
                        </a:rPr>
                        <a:t>decision</a:t>
                      </a:r>
                      <a:r>
                        <a:rPr sz="2000" spc="150" dirty="0">
                          <a:solidFill>
                            <a:srgbClr val="0001C6"/>
                          </a:solidFill>
                          <a:latin typeface="Arial MT"/>
                          <a:cs typeface="Arial MT"/>
                        </a:rPr>
                        <a:t> </a:t>
                      </a:r>
                      <a:r>
                        <a:rPr sz="2000" spc="-10" dirty="0">
                          <a:solidFill>
                            <a:srgbClr val="0003C6"/>
                          </a:solidFill>
                          <a:latin typeface="Arial MT"/>
                          <a:cs typeface="Arial MT"/>
                        </a:rPr>
                        <a:t>making</a:t>
                      </a:r>
                      <a:endParaRPr sz="2000" dirty="0">
                        <a:latin typeface="Arial MT"/>
                        <a:cs typeface="Arial MT"/>
                      </a:endParaRPr>
                    </a:p>
                    <a:p>
                      <a:pPr marL="34925" marR="977900" indent="1270">
                        <a:lnSpc>
                          <a:spcPct val="125600"/>
                        </a:lnSpc>
                        <a:spcBef>
                          <a:spcPts val="20"/>
                        </a:spcBef>
                      </a:pPr>
                      <a:r>
                        <a:rPr sz="2000" dirty="0">
                          <a:latin typeface="Arial MT"/>
                          <a:cs typeface="Arial MT"/>
                        </a:rPr>
                        <a:t>Cost</a:t>
                      </a:r>
                      <a:r>
                        <a:rPr sz="2000" spc="155" dirty="0">
                          <a:latin typeface="Arial MT"/>
                          <a:cs typeface="Arial MT"/>
                        </a:rPr>
                        <a:t> </a:t>
                      </a:r>
                      <a:r>
                        <a:rPr sz="2000" dirty="0">
                          <a:latin typeface="Arial MT"/>
                          <a:cs typeface="Arial MT"/>
                        </a:rPr>
                        <a:t>and</a:t>
                      </a:r>
                      <a:r>
                        <a:rPr sz="2000" spc="70" dirty="0">
                          <a:latin typeface="Arial MT"/>
                          <a:cs typeface="Arial MT"/>
                        </a:rPr>
                        <a:t> </a:t>
                      </a:r>
                      <a:r>
                        <a:rPr sz="2000" dirty="0">
                          <a:latin typeface="Arial MT"/>
                          <a:cs typeface="Arial MT"/>
                        </a:rPr>
                        <a:t>time</a:t>
                      </a:r>
                      <a:r>
                        <a:rPr sz="2000" spc="155" dirty="0">
                          <a:latin typeface="Arial MT"/>
                          <a:cs typeface="Arial MT"/>
                        </a:rPr>
                        <a:t> </a:t>
                      </a:r>
                      <a:r>
                        <a:rPr sz="2000" spc="-10" dirty="0">
                          <a:latin typeface="Arial MT"/>
                          <a:cs typeface="Arial MT"/>
                        </a:rPr>
                        <a:t>important</a:t>
                      </a:r>
                      <a:r>
                        <a:rPr lang="en-US" sz="2000" spc="-10" dirty="0">
                          <a:latin typeface="Arial MT"/>
                          <a:cs typeface="Arial MT"/>
                        </a:rPr>
                        <a:t>                            </a:t>
                      </a:r>
                      <a:r>
                        <a:rPr sz="2000" spc="-10" dirty="0">
                          <a:latin typeface="Arial MT"/>
                          <a:cs typeface="Arial MT"/>
                        </a:rPr>
                        <a:t> </a:t>
                      </a:r>
                      <a:r>
                        <a:rPr sz="2000" dirty="0">
                          <a:solidFill>
                            <a:srgbClr val="0007C3"/>
                          </a:solidFill>
                          <a:latin typeface="Arial MT"/>
                          <a:cs typeface="Arial MT"/>
                        </a:rPr>
                        <a:t>High</a:t>
                      </a:r>
                      <a:r>
                        <a:rPr sz="2000" spc="204" dirty="0">
                          <a:solidFill>
                            <a:srgbClr val="0007C3"/>
                          </a:solidFill>
                          <a:latin typeface="Arial MT"/>
                          <a:cs typeface="Arial MT"/>
                        </a:rPr>
                        <a:t> </a:t>
                      </a:r>
                      <a:r>
                        <a:rPr sz="2000" spc="-10" dirty="0">
                          <a:solidFill>
                            <a:srgbClr val="0000CC"/>
                          </a:solidFill>
                          <a:latin typeface="Arial MT"/>
                          <a:cs typeface="Arial MT"/>
                        </a:rPr>
                        <a:t>uncertainty</a:t>
                      </a:r>
                      <a:endParaRPr sz="2000" dirty="0">
                        <a:latin typeface="Arial MT"/>
                        <a:cs typeface="Arial MT"/>
                      </a:endParaRPr>
                    </a:p>
                  </a:txBody>
                  <a:tcPr marL="0" marR="0" marT="0" marB="0"/>
                </a:tc>
                <a:tc>
                  <a:txBody>
                    <a:bodyPr/>
                    <a:lstStyle/>
                    <a:p>
                      <a:pPr>
                        <a:lnSpc>
                          <a:spcPct val="100000"/>
                        </a:lnSpc>
                      </a:pPr>
                      <a:endParaRPr sz="1900">
                        <a:latin typeface="Times New Roman"/>
                        <a:cs typeface="Times New Roman"/>
                      </a:endParaRPr>
                    </a:p>
                    <a:p>
                      <a:pPr>
                        <a:lnSpc>
                          <a:spcPct val="100000"/>
                        </a:lnSpc>
                        <a:spcBef>
                          <a:spcPts val="1515"/>
                        </a:spcBef>
                      </a:pPr>
                      <a:endParaRPr sz="1900">
                        <a:latin typeface="Times New Roman"/>
                        <a:cs typeface="Times New Roman"/>
                      </a:endParaRPr>
                    </a:p>
                    <a:p>
                      <a:pPr marL="735965">
                        <a:lnSpc>
                          <a:spcPct val="100000"/>
                        </a:lnSpc>
                        <a:spcBef>
                          <a:spcPts val="5"/>
                        </a:spcBef>
                      </a:pPr>
                      <a:r>
                        <a:rPr sz="1900" spc="-50" dirty="0">
                          <a:solidFill>
                            <a:srgbClr val="0000C8"/>
                          </a:solidFill>
                          <a:latin typeface="Arial MT"/>
                          <a:cs typeface="Arial MT"/>
                        </a:rPr>
                        <a:t>X</a:t>
                      </a:r>
                      <a:endParaRPr sz="1900">
                        <a:latin typeface="Arial MT"/>
                        <a:cs typeface="Arial MT"/>
                      </a:endParaRPr>
                    </a:p>
                  </a:txBody>
                  <a:tcPr marL="0" marR="0" marT="0" marB="0"/>
                </a:tc>
                <a:tc>
                  <a:txBody>
                    <a:bodyPr/>
                    <a:lstStyle/>
                    <a:p>
                      <a:pPr>
                        <a:lnSpc>
                          <a:spcPct val="100000"/>
                        </a:lnSpc>
                      </a:pPr>
                      <a:endParaRPr sz="2000">
                        <a:latin typeface="Times New Roman"/>
                        <a:cs typeface="Times New Roman"/>
                      </a:endParaRPr>
                    </a:p>
                  </a:txBody>
                  <a:tcPr marL="0" marR="0" marT="0" marB="0"/>
                </a:tc>
                <a:extLst>
                  <a:ext uri="{0D108BD9-81ED-4DB2-BD59-A6C34878D82A}">
                    <a16:rowId xmlns:a16="http://schemas.microsoft.com/office/drawing/2014/main" val="10000"/>
                  </a:ext>
                </a:extLst>
              </a:tr>
              <a:tr h="753804">
                <a:tc>
                  <a:txBody>
                    <a:bodyPr/>
                    <a:lstStyle/>
                    <a:p>
                      <a:pPr marL="31750">
                        <a:lnSpc>
                          <a:spcPct val="100000"/>
                        </a:lnSpc>
                        <a:spcBef>
                          <a:spcPts val="240"/>
                        </a:spcBef>
                      </a:pPr>
                      <a:r>
                        <a:rPr sz="2000" dirty="0">
                          <a:solidFill>
                            <a:srgbClr val="0000D3"/>
                          </a:solidFill>
                          <a:latin typeface="Arial MT"/>
                          <a:cs typeface="Arial MT"/>
                        </a:rPr>
                        <a:t>Internal,</a:t>
                      </a:r>
                      <a:r>
                        <a:rPr sz="2000" spc="250" dirty="0">
                          <a:solidFill>
                            <a:srgbClr val="0000D3"/>
                          </a:solidFill>
                          <a:latin typeface="Arial MT"/>
                          <a:cs typeface="Arial MT"/>
                        </a:rPr>
                        <a:t> </a:t>
                      </a:r>
                      <a:r>
                        <a:rPr sz="2000" dirty="0">
                          <a:solidFill>
                            <a:srgbClr val="0000B8"/>
                          </a:solidFill>
                          <a:latin typeface="Arial MT"/>
                          <a:cs typeface="Arial MT"/>
                        </a:rPr>
                        <a:t>small</a:t>
                      </a:r>
                      <a:r>
                        <a:rPr sz="2000" spc="325" dirty="0">
                          <a:solidFill>
                            <a:srgbClr val="0000B8"/>
                          </a:solidFill>
                          <a:latin typeface="Arial MT"/>
                          <a:cs typeface="Arial MT"/>
                        </a:rPr>
                        <a:t> </a:t>
                      </a:r>
                      <a:r>
                        <a:rPr sz="2000" spc="-10" dirty="0">
                          <a:solidFill>
                            <a:srgbClr val="0000DB"/>
                          </a:solidFill>
                          <a:latin typeface="Arial MT"/>
                          <a:cs typeface="Arial MT"/>
                        </a:rPr>
                        <a:t>project</a:t>
                      </a:r>
                      <a:endParaRPr sz="2000" dirty="0">
                        <a:latin typeface="Arial MT"/>
                        <a:cs typeface="Arial MT"/>
                      </a:endParaRPr>
                    </a:p>
                    <a:p>
                      <a:pPr marL="34290">
                        <a:lnSpc>
                          <a:spcPct val="100000"/>
                        </a:lnSpc>
                        <a:spcBef>
                          <a:spcPts val="685"/>
                        </a:spcBef>
                      </a:pPr>
                      <a:r>
                        <a:rPr sz="2000" dirty="0">
                          <a:latin typeface="Arial MT"/>
                          <a:cs typeface="Arial MT"/>
                        </a:rPr>
                        <a:t>Fixed-price</a:t>
                      </a:r>
                      <a:r>
                        <a:rPr sz="2000" spc="355" dirty="0">
                          <a:latin typeface="Arial MT"/>
                          <a:cs typeface="Arial MT"/>
                        </a:rPr>
                        <a:t> </a:t>
                      </a:r>
                      <a:r>
                        <a:rPr sz="2000" spc="40" dirty="0">
                          <a:latin typeface="Arial MT"/>
                          <a:cs typeface="Arial MT"/>
                        </a:rPr>
                        <a:t>contract</a:t>
                      </a:r>
                      <a:endParaRPr sz="2000" dirty="0">
                        <a:latin typeface="Arial MT"/>
                        <a:cs typeface="Arial MT"/>
                      </a:endParaRPr>
                    </a:p>
                  </a:txBody>
                  <a:tcPr marL="0" marR="0" marT="27663" marB="0"/>
                </a:tc>
                <a:tc>
                  <a:txBody>
                    <a:bodyPr/>
                    <a:lstStyle/>
                    <a:p>
                      <a:pPr marL="735965">
                        <a:lnSpc>
                          <a:spcPct val="100000"/>
                        </a:lnSpc>
                        <a:spcBef>
                          <a:spcPts val="265"/>
                        </a:spcBef>
                      </a:pPr>
                      <a:r>
                        <a:rPr sz="1900" spc="-50" dirty="0">
                          <a:solidFill>
                            <a:srgbClr val="0000C8"/>
                          </a:solidFill>
                          <a:latin typeface="Arial MT"/>
                          <a:cs typeface="Arial MT"/>
                        </a:rPr>
                        <a:t>X</a:t>
                      </a:r>
                      <a:endParaRPr sz="1900">
                        <a:latin typeface="Arial MT"/>
                        <a:cs typeface="Arial MT"/>
                      </a:endParaRPr>
                    </a:p>
                  </a:txBody>
                  <a:tcPr marL="0" marR="0" marT="30544" marB="0"/>
                </a:tc>
                <a:tc>
                  <a:txBody>
                    <a:bodyPr/>
                    <a:lstStyle/>
                    <a:p>
                      <a:pPr>
                        <a:lnSpc>
                          <a:spcPct val="100000"/>
                        </a:lnSpc>
                        <a:spcBef>
                          <a:spcPts val="1110"/>
                        </a:spcBef>
                      </a:pPr>
                      <a:endParaRPr sz="1900">
                        <a:latin typeface="Times New Roman"/>
                        <a:cs typeface="Times New Roman"/>
                      </a:endParaRPr>
                    </a:p>
                    <a:p>
                      <a:pPr marR="24130" algn="r">
                        <a:lnSpc>
                          <a:spcPct val="100000"/>
                        </a:lnSpc>
                        <a:spcBef>
                          <a:spcPts val="5"/>
                        </a:spcBef>
                      </a:pPr>
                      <a:r>
                        <a:rPr sz="1900" spc="-50" dirty="0">
                          <a:latin typeface="Arial MT"/>
                          <a:cs typeface="Arial MT"/>
                        </a:rPr>
                        <a:t>X</a:t>
                      </a:r>
                      <a:endParaRPr sz="1900">
                        <a:latin typeface="Arial MT"/>
                        <a:cs typeface="Arial MT"/>
                      </a:endParaRPr>
                    </a:p>
                  </a:txBody>
                  <a:tcPr marL="0" marR="0" marT="127939" marB="0"/>
                </a:tc>
                <a:extLst>
                  <a:ext uri="{0D108BD9-81ED-4DB2-BD59-A6C34878D82A}">
                    <a16:rowId xmlns:a16="http://schemas.microsoft.com/office/drawing/2014/main" val="10001"/>
                  </a:ext>
                </a:extLst>
              </a:tr>
              <a:tr h="702513">
                <a:tc>
                  <a:txBody>
                    <a:bodyPr/>
                    <a:lstStyle/>
                    <a:p>
                      <a:pPr marL="36830">
                        <a:lnSpc>
                          <a:spcPct val="100000"/>
                        </a:lnSpc>
                        <a:spcBef>
                          <a:spcPts val="225"/>
                        </a:spcBef>
                      </a:pPr>
                      <a:r>
                        <a:rPr sz="2000" dirty="0">
                          <a:latin typeface="Arial MT"/>
                          <a:cs typeface="Arial MT"/>
                        </a:rPr>
                        <a:t>Customer</a:t>
                      </a:r>
                      <a:r>
                        <a:rPr sz="2000" spc="375" dirty="0">
                          <a:latin typeface="Arial MT"/>
                          <a:cs typeface="Arial MT"/>
                        </a:rPr>
                        <a:t> </a:t>
                      </a:r>
                      <a:r>
                        <a:rPr sz="2000" dirty="0">
                          <a:latin typeface="Arial MT"/>
                          <a:cs typeface="Arial MT"/>
                        </a:rPr>
                        <a:t>wants</a:t>
                      </a:r>
                      <a:r>
                        <a:rPr sz="2000" spc="210" dirty="0">
                          <a:latin typeface="Arial MT"/>
                          <a:cs typeface="Arial MT"/>
                        </a:rPr>
                        <a:t> </a:t>
                      </a:r>
                      <a:r>
                        <a:rPr sz="2000" spc="-10" dirty="0">
                          <a:latin typeface="Arial MT"/>
                          <a:cs typeface="Arial MT"/>
                        </a:rPr>
                        <a:t>details</a:t>
                      </a:r>
                      <a:endParaRPr sz="2000">
                        <a:latin typeface="Arial MT"/>
                        <a:cs typeface="Arial MT"/>
                      </a:endParaRPr>
                    </a:p>
                    <a:p>
                      <a:pPr marL="35560">
                        <a:lnSpc>
                          <a:spcPts val="2505"/>
                        </a:lnSpc>
                        <a:spcBef>
                          <a:spcPts val="685"/>
                        </a:spcBef>
                      </a:pPr>
                      <a:r>
                        <a:rPr sz="2000" dirty="0">
                          <a:solidFill>
                            <a:srgbClr val="0000C8"/>
                          </a:solidFill>
                          <a:latin typeface="Arial MT"/>
                          <a:cs typeface="Arial MT"/>
                        </a:rPr>
                        <a:t>Unstable</a:t>
                      </a:r>
                      <a:r>
                        <a:rPr sz="2000" spc="225" dirty="0">
                          <a:solidFill>
                            <a:srgbClr val="0000C8"/>
                          </a:solidFill>
                          <a:latin typeface="Arial MT"/>
                          <a:cs typeface="Arial MT"/>
                        </a:rPr>
                        <a:t> </a:t>
                      </a:r>
                      <a:r>
                        <a:rPr sz="2000" spc="-10" dirty="0">
                          <a:solidFill>
                            <a:srgbClr val="0007C3"/>
                          </a:solidFill>
                          <a:latin typeface="Arial MT"/>
                          <a:cs typeface="Arial MT"/>
                        </a:rPr>
                        <a:t>scope</a:t>
                      </a:r>
                      <a:endParaRPr sz="2000">
                        <a:latin typeface="Arial MT"/>
                        <a:cs typeface="Arial MT"/>
                      </a:endParaRPr>
                    </a:p>
                  </a:txBody>
                  <a:tcPr marL="0" marR="0" marT="25934" marB="0"/>
                </a:tc>
                <a:tc>
                  <a:txBody>
                    <a:bodyPr/>
                    <a:lstStyle/>
                    <a:p>
                      <a:pPr>
                        <a:lnSpc>
                          <a:spcPct val="100000"/>
                        </a:lnSpc>
                      </a:pPr>
                      <a:endParaRPr sz="2000" dirty="0">
                        <a:latin typeface="Times New Roman"/>
                        <a:cs typeface="Times New Roman"/>
                      </a:endParaRPr>
                    </a:p>
                  </a:txBody>
                  <a:tcPr marL="0" marR="0" marT="0" marB="0"/>
                </a:tc>
                <a:tc>
                  <a:txBody>
                    <a:bodyPr/>
                    <a:lstStyle/>
                    <a:p>
                      <a:pPr marR="24130" algn="r">
                        <a:lnSpc>
                          <a:spcPct val="100000"/>
                        </a:lnSpc>
                        <a:spcBef>
                          <a:spcPts val="250"/>
                        </a:spcBef>
                      </a:pPr>
                      <a:r>
                        <a:rPr sz="1900" spc="-50" dirty="0">
                          <a:latin typeface="Arial MT"/>
                          <a:cs typeface="Arial MT"/>
                        </a:rPr>
                        <a:t>X</a:t>
                      </a:r>
                      <a:endParaRPr sz="1900" dirty="0">
                        <a:latin typeface="Arial MT"/>
                        <a:cs typeface="Arial MT"/>
                      </a:endParaRPr>
                    </a:p>
                  </a:txBody>
                  <a:tcPr marL="0" marR="0" marT="28815" marB="0"/>
                </a:tc>
                <a:extLst>
                  <a:ext uri="{0D108BD9-81ED-4DB2-BD59-A6C34878D82A}">
                    <a16:rowId xmlns:a16="http://schemas.microsoft.com/office/drawing/2014/main" val="10002"/>
                  </a:ext>
                </a:extLst>
              </a:tr>
            </a:tbl>
          </a:graphicData>
        </a:graphic>
      </p:graphicFrame>
      <p:pic>
        <p:nvPicPr>
          <p:cNvPr id="11" name="Picture 10">
            <a:extLst>
              <a:ext uri="{FF2B5EF4-FFF2-40B4-BE49-F238E27FC236}">
                <a16:creationId xmlns:a16="http://schemas.microsoft.com/office/drawing/2014/main" id="{ED691181-BF11-F668-3CB6-759FC325BEE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sp>
        <p:nvSpPr>
          <p:cNvPr id="14" name="object 7">
            <a:extLst>
              <a:ext uri="{FF2B5EF4-FFF2-40B4-BE49-F238E27FC236}">
                <a16:creationId xmlns:a16="http://schemas.microsoft.com/office/drawing/2014/main" id="{3989C816-9AB3-E756-D421-B937D211F9E8}"/>
              </a:ext>
            </a:extLst>
          </p:cNvPr>
          <p:cNvSpPr txBox="1"/>
          <p:nvPr/>
        </p:nvSpPr>
        <p:spPr>
          <a:xfrm>
            <a:off x="9962826" y="4474523"/>
            <a:ext cx="2057400" cy="1477645"/>
          </a:xfrm>
          <a:prstGeom prst="rect">
            <a:avLst/>
          </a:prstGeom>
          <a:solidFill>
            <a:srgbClr val="FAF4C3"/>
          </a:solidFill>
          <a:ln w="38100">
            <a:solidFill>
              <a:srgbClr val="4472C4"/>
            </a:solidFill>
          </a:ln>
        </p:spPr>
        <p:txBody>
          <a:bodyPr vert="horz" wrap="square" lIns="0" tIns="33020" rIns="0" bIns="0" rtlCol="0">
            <a:spAutoFit/>
          </a:bodyPr>
          <a:lstStyle/>
          <a:p>
            <a:pPr marL="243840" marR="236220" algn="ctr">
              <a:lnSpc>
                <a:spcPct val="99700"/>
              </a:lnSpc>
              <a:spcBef>
                <a:spcPts val="260"/>
              </a:spcBef>
            </a:pPr>
            <a:r>
              <a:rPr sz="1800" dirty="0">
                <a:solidFill>
                  <a:srgbClr val="C00000"/>
                </a:solidFill>
                <a:latin typeface="Calibri"/>
                <a:cs typeface="Calibri"/>
              </a:rPr>
              <a:t>Micro</a:t>
            </a:r>
            <a:r>
              <a:rPr sz="1800" spc="-60" dirty="0">
                <a:solidFill>
                  <a:srgbClr val="C00000"/>
                </a:solidFill>
                <a:latin typeface="Calibri"/>
                <a:cs typeface="Calibri"/>
              </a:rPr>
              <a:t> </a:t>
            </a:r>
            <a:r>
              <a:rPr sz="1800" spc="-10" dirty="0">
                <a:solidFill>
                  <a:srgbClr val="C00000"/>
                </a:solidFill>
                <a:latin typeface="Calibri"/>
                <a:cs typeface="Calibri"/>
              </a:rPr>
              <a:t>estimating </a:t>
            </a:r>
            <a:r>
              <a:rPr sz="1800" dirty="0">
                <a:solidFill>
                  <a:srgbClr val="C00000"/>
                </a:solidFill>
                <a:latin typeface="Calibri"/>
                <a:cs typeface="Calibri"/>
              </a:rPr>
              <a:t>methods</a:t>
            </a:r>
            <a:r>
              <a:rPr sz="1800" spc="-70" dirty="0">
                <a:solidFill>
                  <a:srgbClr val="C00000"/>
                </a:solidFill>
                <a:latin typeface="Calibri"/>
                <a:cs typeface="Calibri"/>
              </a:rPr>
              <a:t> </a:t>
            </a:r>
            <a:r>
              <a:rPr sz="1800" spc="-25" dirty="0">
                <a:solidFill>
                  <a:srgbClr val="C00000"/>
                </a:solidFill>
                <a:latin typeface="Calibri"/>
                <a:cs typeface="Calibri"/>
              </a:rPr>
              <a:t>are </a:t>
            </a:r>
            <a:r>
              <a:rPr sz="1800" dirty="0">
                <a:solidFill>
                  <a:srgbClr val="C00000"/>
                </a:solidFill>
                <a:latin typeface="Calibri"/>
                <a:cs typeface="Calibri"/>
              </a:rPr>
              <a:t>usually</a:t>
            </a:r>
            <a:r>
              <a:rPr sz="1800" spc="-50" dirty="0">
                <a:solidFill>
                  <a:srgbClr val="C00000"/>
                </a:solidFill>
                <a:latin typeface="Calibri"/>
                <a:cs typeface="Calibri"/>
              </a:rPr>
              <a:t> </a:t>
            </a:r>
            <a:r>
              <a:rPr sz="1800" spc="-20" dirty="0">
                <a:solidFill>
                  <a:srgbClr val="C00000"/>
                </a:solidFill>
                <a:latin typeface="Calibri"/>
                <a:cs typeface="Calibri"/>
              </a:rPr>
              <a:t>more </a:t>
            </a:r>
            <a:r>
              <a:rPr sz="1800" spc="-10" dirty="0">
                <a:solidFill>
                  <a:srgbClr val="C00000"/>
                </a:solidFill>
                <a:latin typeface="Calibri"/>
                <a:cs typeface="Calibri"/>
              </a:rPr>
              <a:t>accurate</a:t>
            </a:r>
            <a:r>
              <a:rPr sz="1800" spc="-65" dirty="0">
                <a:solidFill>
                  <a:srgbClr val="C00000"/>
                </a:solidFill>
                <a:latin typeface="Calibri"/>
                <a:cs typeface="Calibri"/>
              </a:rPr>
              <a:t> </a:t>
            </a:r>
            <a:r>
              <a:rPr sz="1800" spc="-20" dirty="0">
                <a:solidFill>
                  <a:srgbClr val="C00000"/>
                </a:solidFill>
                <a:latin typeface="Calibri"/>
                <a:cs typeface="Calibri"/>
              </a:rPr>
              <a:t>than </a:t>
            </a:r>
            <a:r>
              <a:rPr sz="1800" dirty="0">
                <a:solidFill>
                  <a:srgbClr val="C00000"/>
                </a:solidFill>
                <a:latin typeface="Calibri"/>
                <a:cs typeface="Calibri"/>
              </a:rPr>
              <a:t>macro</a:t>
            </a:r>
            <a:r>
              <a:rPr sz="1800" spc="-55" dirty="0">
                <a:solidFill>
                  <a:srgbClr val="C00000"/>
                </a:solidFill>
                <a:latin typeface="Calibri"/>
                <a:cs typeface="Calibri"/>
              </a:rPr>
              <a:t> </a:t>
            </a:r>
            <a:r>
              <a:rPr sz="1800" spc="-10" dirty="0">
                <a:solidFill>
                  <a:srgbClr val="C00000"/>
                </a:solidFill>
                <a:latin typeface="Calibri"/>
                <a:cs typeface="Calibri"/>
              </a:rPr>
              <a:t>methods</a:t>
            </a:r>
            <a:endParaRPr sz="1800" dirty="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95" dirty="0">
                <a:solidFill>
                  <a:srgbClr val="FF0000"/>
                </a:solidFill>
              </a:rPr>
              <a:t>Types of Costs </a:t>
            </a:r>
            <a:r>
              <a:rPr sz="1950" spc="-10" dirty="0"/>
              <a:t>(1/2)</a:t>
            </a:r>
            <a:endParaRPr sz="1950" dirty="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19</a:t>
            </a:fld>
            <a:endParaRPr spc="-25" dirty="0"/>
          </a:p>
        </p:txBody>
      </p:sp>
      <p:sp>
        <p:nvSpPr>
          <p:cNvPr id="3" name="object 3"/>
          <p:cNvSpPr txBox="1"/>
          <p:nvPr/>
        </p:nvSpPr>
        <p:spPr>
          <a:xfrm>
            <a:off x="916939" y="1781556"/>
            <a:ext cx="10356850" cy="3982085"/>
          </a:xfrm>
          <a:prstGeom prst="rect">
            <a:avLst/>
          </a:prstGeom>
        </p:spPr>
        <p:txBody>
          <a:bodyPr vert="horz" wrap="square" lIns="0" tIns="60960" rIns="0" bIns="0" rtlCol="0">
            <a:spAutoFit/>
          </a:bodyPr>
          <a:lstStyle/>
          <a:p>
            <a:pPr marL="241300" marR="5080" indent="-228600" algn="just">
              <a:lnSpc>
                <a:spcPct val="90000"/>
              </a:lnSpc>
              <a:spcBef>
                <a:spcPts val="480"/>
              </a:spcBef>
              <a:buFont typeface="Arial MT"/>
              <a:buChar char="•"/>
              <a:tabLst>
                <a:tab pos="241300" algn="l"/>
              </a:tabLst>
            </a:pPr>
            <a:r>
              <a:rPr sz="3200" dirty="0">
                <a:latin typeface="Calibri"/>
                <a:cs typeface="Calibri"/>
              </a:rPr>
              <a:t>Assuming</a:t>
            </a:r>
            <a:r>
              <a:rPr sz="3200" spc="-65" dirty="0">
                <a:latin typeface="Calibri"/>
                <a:cs typeface="Calibri"/>
              </a:rPr>
              <a:t> </a:t>
            </a:r>
            <a:r>
              <a:rPr sz="3200" dirty="0">
                <a:latin typeface="Calibri"/>
                <a:cs typeface="Calibri"/>
              </a:rPr>
              <a:t>work</a:t>
            </a:r>
            <a:r>
              <a:rPr sz="3200" spc="-70" dirty="0">
                <a:latin typeface="Calibri"/>
                <a:cs typeface="Calibri"/>
              </a:rPr>
              <a:t> </a:t>
            </a:r>
            <a:r>
              <a:rPr sz="3200" dirty="0">
                <a:latin typeface="Calibri"/>
                <a:cs typeface="Calibri"/>
              </a:rPr>
              <a:t>packages</a:t>
            </a:r>
            <a:r>
              <a:rPr sz="3200" spc="-70" dirty="0">
                <a:latin typeface="Calibri"/>
                <a:cs typeface="Calibri"/>
              </a:rPr>
              <a:t> </a:t>
            </a:r>
            <a:r>
              <a:rPr sz="3200" dirty="0">
                <a:latin typeface="Calibri"/>
                <a:cs typeface="Calibri"/>
              </a:rPr>
              <a:t>are</a:t>
            </a:r>
            <a:r>
              <a:rPr sz="3200" spc="-75" dirty="0">
                <a:latin typeface="Calibri"/>
                <a:cs typeface="Calibri"/>
              </a:rPr>
              <a:t> </a:t>
            </a:r>
            <a:r>
              <a:rPr sz="3200" dirty="0">
                <a:latin typeface="Calibri"/>
                <a:cs typeface="Calibri"/>
              </a:rPr>
              <a:t>defined,</a:t>
            </a:r>
            <a:r>
              <a:rPr sz="3200" spc="-70" dirty="0">
                <a:latin typeface="Calibri"/>
                <a:cs typeface="Calibri"/>
              </a:rPr>
              <a:t> </a:t>
            </a:r>
            <a:r>
              <a:rPr sz="3200" dirty="0">
                <a:latin typeface="Calibri"/>
                <a:cs typeface="Calibri"/>
              </a:rPr>
              <a:t>detailed</a:t>
            </a:r>
            <a:r>
              <a:rPr sz="3200" spc="-60" dirty="0">
                <a:latin typeface="Calibri"/>
                <a:cs typeface="Calibri"/>
              </a:rPr>
              <a:t> </a:t>
            </a:r>
            <a:r>
              <a:rPr sz="3200" dirty="0">
                <a:latin typeface="Calibri"/>
                <a:cs typeface="Calibri"/>
              </a:rPr>
              <a:t>cost</a:t>
            </a:r>
            <a:r>
              <a:rPr sz="3200" spc="-70" dirty="0">
                <a:latin typeface="Calibri"/>
                <a:cs typeface="Calibri"/>
              </a:rPr>
              <a:t> </a:t>
            </a:r>
            <a:r>
              <a:rPr sz="3200" spc="-10" dirty="0">
                <a:latin typeface="Calibri"/>
                <a:cs typeface="Calibri"/>
              </a:rPr>
              <a:t>estimates </a:t>
            </a:r>
            <a:r>
              <a:rPr sz="3200" dirty="0">
                <a:latin typeface="Calibri"/>
                <a:cs typeface="Calibri"/>
              </a:rPr>
              <a:t>can</a:t>
            </a:r>
            <a:r>
              <a:rPr sz="3200" spc="755" dirty="0">
                <a:latin typeface="Calibri"/>
                <a:cs typeface="Calibri"/>
              </a:rPr>
              <a:t> </a:t>
            </a:r>
            <a:r>
              <a:rPr sz="3200" dirty="0">
                <a:latin typeface="Calibri"/>
                <a:cs typeface="Calibri"/>
              </a:rPr>
              <a:t>be</a:t>
            </a:r>
            <a:r>
              <a:rPr sz="3200" spc="740" dirty="0">
                <a:latin typeface="Calibri"/>
                <a:cs typeface="Calibri"/>
              </a:rPr>
              <a:t> </a:t>
            </a:r>
            <a:r>
              <a:rPr sz="3200" dirty="0">
                <a:latin typeface="Calibri"/>
                <a:cs typeface="Calibri"/>
              </a:rPr>
              <a:t>made.</a:t>
            </a:r>
            <a:r>
              <a:rPr sz="3200" spc="755" dirty="0">
                <a:latin typeface="Calibri"/>
                <a:cs typeface="Calibri"/>
              </a:rPr>
              <a:t> </a:t>
            </a:r>
            <a:r>
              <a:rPr sz="3200" dirty="0">
                <a:latin typeface="Calibri"/>
                <a:cs typeface="Calibri"/>
              </a:rPr>
              <a:t>Here</a:t>
            </a:r>
            <a:r>
              <a:rPr sz="3200" spc="745" dirty="0">
                <a:latin typeface="Calibri"/>
                <a:cs typeface="Calibri"/>
              </a:rPr>
              <a:t> </a:t>
            </a:r>
            <a:r>
              <a:rPr sz="3200" dirty="0">
                <a:latin typeface="Calibri"/>
                <a:cs typeface="Calibri"/>
              </a:rPr>
              <a:t>are</a:t>
            </a:r>
            <a:r>
              <a:rPr sz="3200" spc="745" dirty="0">
                <a:latin typeface="Calibri"/>
                <a:cs typeface="Calibri"/>
              </a:rPr>
              <a:t> </a:t>
            </a:r>
            <a:r>
              <a:rPr sz="3200" dirty="0">
                <a:latin typeface="Calibri"/>
                <a:cs typeface="Calibri"/>
              </a:rPr>
              <a:t>typical</a:t>
            </a:r>
            <a:r>
              <a:rPr sz="3200" spc="750" dirty="0">
                <a:latin typeface="Calibri"/>
                <a:cs typeface="Calibri"/>
              </a:rPr>
              <a:t> </a:t>
            </a:r>
            <a:r>
              <a:rPr sz="3200" dirty="0">
                <a:latin typeface="Calibri"/>
                <a:cs typeface="Calibri"/>
              </a:rPr>
              <a:t>kinds</a:t>
            </a:r>
            <a:r>
              <a:rPr sz="3200" spc="755" dirty="0">
                <a:latin typeface="Calibri"/>
                <a:cs typeface="Calibri"/>
              </a:rPr>
              <a:t> </a:t>
            </a:r>
            <a:r>
              <a:rPr sz="3200" dirty="0">
                <a:latin typeface="Calibri"/>
                <a:cs typeface="Calibri"/>
              </a:rPr>
              <a:t>of</a:t>
            </a:r>
            <a:r>
              <a:rPr sz="3200" spc="745" dirty="0">
                <a:latin typeface="Calibri"/>
                <a:cs typeface="Calibri"/>
              </a:rPr>
              <a:t> </a:t>
            </a:r>
            <a:r>
              <a:rPr sz="3200" dirty="0">
                <a:latin typeface="Calibri"/>
                <a:cs typeface="Calibri"/>
              </a:rPr>
              <a:t>costs</a:t>
            </a:r>
            <a:r>
              <a:rPr sz="3200" spc="750" dirty="0">
                <a:latin typeface="Calibri"/>
                <a:cs typeface="Calibri"/>
              </a:rPr>
              <a:t> </a:t>
            </a:r>
            <a:r>
              <a:rPr sz="3200" dirty="0">
                <a:latin typeface="Calibri"/>
                <a:cs typeface="Calibri"/>
              </a:rPr>
              <a:t>found</a:t>
            </a:r>
            <a:r>
              <a:rPr sz="3200" spc="750" dirty="0">
                <a:latin typeface="Calibri"/>
                <a:cs typeface="Calibri"/>
              </a:rPr>
              <a:t> </a:t>
            </a:r>
            <a:r>
              <a:rPr sz="3200" dirty="0">
                <a:latin typeface="Calibri"/>
                <a:cs typeface="Calibri"/>
              </a:rPr>
              <a:t>in</a:t>
            </a:r>
            <a:r>
              <a:rPr sz="3200" spc="760" dirty="0">
                <a:latin typeface="Calibri"/>
                <a:cs typeface="Calibri"/>
              </a:rPr>
              <a:t> </a:t>
            </a:r>
            <a:r>
              <a:rPr sz="3200" spc="-50" dirty="0">
                <a:latin typeface="Calibri"/>
                <a:cs typeface="Calibri"/>
              </a:rPr>
              <a:t>a </a:t>
            </a:r>
            <a:r>
              <a:rPr sz="3200" spc="-10" dirty="0">
                <a:latin typeface="Calibri"/>
                <a:cs typeface="Calibri"/>
              </a:rPr>
              <a:t>project:</a:t>
            </a:r>
            <a:endParaRPr sz="3200">
              <a:latin typeface="Calibri"/>
              <a:cs typeface="Calibri"/>
            </a:endParaRPr>
          </a:p>
          <a:p>
            <a:pPr marL="591820" lvl="1" indent="-394970" algn="just">
              <a:lnSpc>
                <a:spcPct val="100000"/>
              </a:lnSpc>
              <a:spcBef>
                <a:spcPts val="650"/>
              </a:spcBef>
              <a:buAutoNum type="arabicPeriod"/>
              <a:tabLst>
                <a:tab pos="591820" algn="l"/>
              </a:tabLst>
            </a:pPr>
            <a:r>
              <a:rPr sz="3200" dirty="0">
                <a:solidFill>
                  <a:srgbClr val="262EA4"/>
                </a:solidFill>
                <a:latin typeface="Calibri"/>
                <a:cs typeface="Calibri"/>
              </a:rPr>
              <a:t>Direct</a:t>
            </a:r>
            <a:r>
              <a:rPr sz="3200" spc="-90" dirty="0">
                <a:solidFill>
                  <a:srgbClr val="262EA4"/>
                </a:solidFill>
                <a:latin typeface="Calibri"/>
                <a:cs typeface="Calibri"/>
              </a:rPr>
              <a:t> </a:t>
            </a:r>
            <a:r>
              <a:rPr sz="3200" spc="-20" dirty="0">
                <a:solidFill>
                  <a:srgbClr val="262EA4"/>
                </a:solidFill>
                <a:latin typeface="Calibri"/>
                <a:cs typeface="Calibri"/>
              </a:rPr>
              <a:t>costs</a:t>
            </a:r>
            <a:endParaRPr sz="3200">
              <a:latin typeface="Calibri"/>
              <a:cs typeface="Calibri"/>
            </a:endParaRPr>
          </a:p>
          <a:p>
            <a:pPr marL="1160145" lvl="2" indent="-457834" algn="just">
              <a:lnSpc>
                <a:spcPct val="100000"/>
              </a:lnSpc>
              <a:spcBef>
                <a:spcPts val="160"/>
              </a:spcBef>
              <a:buAutoNum type="alphaLcPeriod"/>
              <a:tabLst>
                <a:tab pos="1160145" algn="l"/>
              </a:tabLst>
            </a:pPr>
            <a:r>
              <a:rPr sz="2800" dirty="0">
                <a:latin typeface="Calibri"/>
                <a:cs typeface="Calibri"/>
              </a:rPr>
              <a:t>Labor</a:t>
            </a:r>
            <a:r>
              <a:rPr sz="2800" spc="585" dirty="0">
                <a:latin typeface="Calibri"/>
                <a:cs typeface="Calibri"/>
              </a:rPr>
              <a:t>     </a:t>
            </a:r>
            <a:r>
              <a:rPr sz="2800" dirty="0">
                <a:latin typeface="Calibri"/>
                <a:cs typeface="Calibri"/>
              </a:rPr>
              <a:t>c.</a:t>
            </a:r>
            <a:r>
              <a:rPr sz="2800" spc="10" dirty="0">
                <a:latin typeface="Calibri"/>
                <a:cs typeface="Calibri"/>
              </a:rPr>
              <a:t> </a:t>
            </a:r>
            <a:r>
              <a:rPr sz="2800" spc="-10" dirty="0">
                <a:latin typeface="Calibri"/>
                <a:cs typeface="Calibri"/>
              </a:rPr>
              <a:t>Equipment</a:t>
            </a:r>
            <a:endParaRPr sz="2800">
              <a:latin typeface="Calibri"/>
              <a:cs typeface="Calibri"/>
            </a:endParaRPr>
          </a:p>
          <a:p>
            <a:pPr marL="1159510" lvl="2" indent="-457200" algn="just">
              <a:lnSpc>
                <a:spcPct val="100000"/>
              </a:lnSpc>
              <a:spcBef>
                <a:spcPts val="145"/>
              </a:spcBef>
              <a:buAutoNum type="alphaLcPeriod"/>
              <a:tabLst>
                <a:tab pos="1159510" algn="l"/>
              </a:tabLst>
            </a:pPr>
            <a:r>
              <a:rPr sz="2800" dirty="0">
                <a:latin typeface="Calibri"/>
                <a:cs typeface="Calibri"/>
              </a:rPr>
              <a:t>Materials</a:t>
            </a:r>
            <a:r>
              <a:rPr sz="2800" spc="240" dirty="0">
                <a:latin typeface="Calibri"/>
                <a:cs typeface="Calibri"/>
              </a:rPr>
              <a:t>  </a:t>
            </a:r>
            <a:r>
              <a:rPr sz="2800" dirty="0">
                <a:latin typeface="Calibri"/>
                <a:cs typeface="Calibri"/>
              </a:rPr>
              <a:t>d.</a:t>
            </a:r>
            <a:r>
              <a:rPr sz="2800" spc="-25" dirty="0">
                <a:latin typeface="Calibri"/>
                <a:cs typeface="Calibri"/>
              </a:rPr>
              <a:t> </a:t>
            </a:r>
            <a:r>
              <a:rPr sz="2800" spc="-20" dirty="0">
                <a:latin typeface="Calibri"/>
                <a:cs typeface="Calibri"/>
              </a:rPr>
              <a:t>Other</a:t>
            </a:r>
            <a:endParaRPr sz="2800">
              <a:latin typeface="Calibri"/>
              <a:cs typeface="Calibri"/>
            </a:endParaRPr>
          </a:p>
          <a:p>
            <a:pPr marL="553720" lvl="1" indent="-356870" algn="just">
              <a:lnSpc>
                <a:spcPct val="100000"/>
              </a:lnSpc>
              <a:spcBef>
                <a:spcPts val="630"/>
              </a:spcBef>
              <a:buAutoNum type="arabicPeriod"/>
              <a:tabLst>
                <a:tab pos="553720" algn="l"/>
              </a:tabLst>
            </a:pPr>
            <a:r>
              <a:rPr sz="3200" dirty="0">
                <a:solidFill>
                  <a:srgbClr val="262EA4"/>
                </a:solidFill>
                <a:latin typeface="Calibri"/>
                <a:cs typeface="Calibri"/>
              </a:rPr>
              <a:t>Direct</a:t>
            </a:r>
            <a:r>
              <a:rPr sz="3200" spc="-110" dirty="0">
                <a:solidFill>
                  <a:srgbClr val="262EA4"/>
                </a:solidFill>
                <a:latin typeface="Calibri"/>
                <a:cs typeface="Calibri"/>
              </a:rPr>
              <a:t> </a:t>
            </a:r>
            <a:r>
              <a:rPr sz="3200" dirty="0">
                <a:solidFill>
                  <a:srgbClr val="262EA4"/>
                </a:solidFill>
                <a:latin typeface="Calibri"/>
                <a:cs typeface="Calibri"/>
              </a:rPr>
              <a:t>project</a:t>
            </a:r>
            <a:r>
              <a:rPr sz="3200" spc="-110" dirty="0">
                <a:solidFill>
                  <a:srgbClr val="262EA4"/>
                </a:solidFill>
                <a:latin typeface="Calibri"/>
                <a:cs typeface="Calibri"/>
              </a:rPr>
              <a:t> </a:t>
            </a:r>
            <a:r>
              <a:rPr sz="3200" dirty="0">
                <a:solidFill>
                  <a:srgbClr val="262EA4"/>
                </a:solidFill>
                <a:latin typeface="Calibri"/>
                <a:cs typeface="Calibri"/>
              </a:rPr>
              <a:t>overhead</a:t>
            </a:r>
            <a:r>
              <a:rPr sz="3200" spc="-110" dirty="0">
                <a:solidFill>
                  <a:srgbClr val="262EA4"/>
                </a:solidFill>
                <a:latin typeface="Calibri"/>
                <a:cs typeface="Calibri"/>
              </a:rPr>
              <a:t> </a:t>
            </a:r>
            <a:r>
              <a:rPr sz="3200" spc="-10" dirty="0">
                <a:solidFill>
                  <a:srgbClr val="262EA4"/>
                </a:solidFill>
                <a:latin typeface="Calibri"/>
                <a:cs typeface="Calibri"/>
              </a:rPr>
              <a:t>costs</a:t>
            </a:r>
            <a:endParaRPr sz="3200">
              <a:latin typeface="Calibri"/>
              <a:cs typeface="Calibri"/>
            </a:endParaRPr>
          </a:p>
          <a:p>
            <a:pPr marL="553720" lvl="1" indent="-356870" algn="just">
              <a:lnSpc>
                <a:spcPct val="100000"/>
              </a:lnSpc>
              <a:spcBef>
                <a:spcPts val="575"/>
              </a:spcBef>
              <a:buAutoNum type="arabicPeriod"/>
              <a:tabLst>
                <a:tab pos="553720" algn="l"/>
              </a:tabLst>
            </a:pPr>
            <a:r>
              <a:rPr sz="3200" dirty="0">
                <a:solidFill>
                  <a:srgbClr val="262EA4"/>
                </a:solidFill>
                <a:latin typeface="Calibri"/>
                <a:cs typeface="Calibri"/>
              </a:rPr>
              <a:t>General</a:t>
            </a:r>
            <a:r>
              <a:rPr sz="3200" spc="-85" dirty="0">
                <a:solidFill>
                  <a:srgbClr val="262EA4"/>
                </a:solidFill>
                <a:latin typeface="Calibri"/>
                <a:cs typeface="Calibri"/>
              </a:rPr>
              <a:t> </a:t>
            </a:r>
            <a:r>
              <a:rPr sz="3200" dirty="0">
                <a:solidFill>
                  <a:srgbClr val="262EA4"/>
                </a:solidFill>
                <a:latin typeface="Calibri"/>
                <a:cs typeface="Calibri"/>
              </a:rPr>
              <a:t>and</a:t>
            </a:r>
            <a:r>
              <a:rPr sz="3200" spc="-85" dirty="0">
                <a:solidFill>
                  <a:srgbClr val="262EA4"/>
                </a:solidFill>
                <a:latin typeface="Calibri"/>
                <a:cs typeface="Calibri"/>
              </a:rPr>
              <a:t> </a:t>
            </a:r>
            <a:r>
              <a:rPr sz="3200" spc="-20" dirty="0">
                <a:solidFill>
                  <a:srgbClr val="262EA4"/>
                </a:solidFill>
                <a:latin typeface="Calibri"/>
                <a:cs typeface="Calibri"/>
              </a:rPr>
              <a:t>administrative</a:t>
            </a:r>
            <a:r>
              <a:rPr sz="3200" spc="-95" dirty="0">
                <a:solidFill>
                  <a:srgbClr val="262EA4"/>
                </a:solidFill>
                <a:latin typeface="Calibri"/>
                <a:cs typeface="Calibri"/>
              </a:rPr>
              <a:t> </a:t>
            </a:r>
            <a:r>
              <a:rPr sz="3200" dirty="0">
                <a:solidFill>
                  <a:srgbClr val="262EA4"/>
                </a:solidFill>
                <a:latin typeface="Calibri"/>
                <a:cs typeface="Calibri"/>
              </a:rPr>
              <a:t>(G&amp;A)</a:t>
            </a:r>
            <a:r>
              <a:rPr sz="3200" spc="-90" dirty="0">
                <a:solidFill>
                  <a:srgbClr val="262EA4"/>
                </a:solidFill>
                <a:latin typeface="Calibri"/>
                <a:cs typeface="Calibri"/>
              </a:rPr>
              <a:t> </a:t>
            </a:r>
            <a:r>
              <a:rPr sz="3200" dirty="0">
                <a:solidFill>
                  <a:srgbClr val="262EA4"/>
                </a:solidFill>
                <a:latin typeface="Calibri"/>
                <a:cs typeface="Calibri"/>
              </a:rPr>
              <a:t>overhead</a:t>
            </a:r>
            <a:r>
              <a:rPr sz="3200" spc="-85" dirty="0">
                <a:solidFill>
                  <a:srgbClr val="262EA4"/>
                </a:solidFill>
                <a:latin typeface="Calibri"/>
                <a:cs typeface="Calibri"/>
              </a:rPr>
              <a:t> </a:t>
            </a:r>
            <a:r>
              <a:rPr sz="3200" spc="-10" dirty="0">
                <a:solidFill>
                  <a:srgbClr val="262EA4"/>
                </a:solidFill>
                <a:latin typeface="Calibri"/>
                <a:cs typeface="Calibri"/>
              </a:rPr>
              <a:t>costs</a:t>
            </a:r>
            <a:endParaRPr sz="3200">
              <a:latin typeface="Calibri"/>
              <a:cs typeface="Calibri"/>
            </a:endParaRPr>
          </a:p>
        </p:txBody>
      </p:sp>
      <p:pic>
        <p:nvPicPr>
          <p:cNvPr id="5" name="Picture 4">
            <a:extLst>
              <a:ext uri="{FF2B5EF4-FFF2-40B4-BE49-F238E27FC236}">
                <a16:creationId xmlns:a16="http://schemas.microsoft.com/office/drawing/2014/main" id="{D311D508-C1A8-DC1D-84AE-1AB86BF4038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546859"/>
            <a:ext cx="10730230" cy="3606800"/>
          </a:xfrm>
          <a:prstGeom prst="rect">
            <a:avLst/>
          </a:prstGeom>
        </p:spPr>
        <p:txBody>
          <a:bodyPr vert="horz" wrap="square" lIns="0" tIns="41910" rIns="0" bIns="0" rtlCol="0">
            <a:spAutoFit/>
          </a:bodyPr>
          <a:lstStyle/>
          <a:p>
            <a:pPr marL="239395" marR="5080" indent="-226695" algn="just">
              <a:lnSpc>
                <a:spcPts val="2210"/>
              </a:lnSpc>
              <a:spcBef>
                <a:spcPts val="330"/>
              </a:spcBef>
              <a:buFont typeface="Arial MT"/>
              <a:buChar char="•"/>
              <a:tabLst>
                <a:tab pos="241300" algn="l"/>
              </a:tabLst>
            </a:pPr>
            <a:r>
              <a:rPr sz="2000" b="1" dirty="0">
                <a:solidFill>
                  <a:srgbClr val="C00000"/>
                </a:solidFill>
                <a:latin typeface="Calibri"/>
                <a:cs typeface="Calibri"/>
              </a:rPr>
              <a:t>Direct</a:t>
            </a:r>
            <a:r>
              <a:rPr sz="2000" b="1" spc="445" dirty="0">
                <a:solidFill>
                  <a:srgbClr val="C00000"/>
                </a:solidFill>
                <a:latin typeface="Calibri"/>
                <a:cs typeface="Calibri"/>
              </a:rPr>
              <a:t> </a:t>
            </a:r>
            <a:r>
              <a:rPr sz="2000" b="1" dirty="0">
                <a:solidFill>
                  <a:srgbClr val="C00000"/>
                </a:solidFill>
                <a:latin typeface="Calibri"/>
                <a:cs typeface="Calibri"/>
              </a:rPr>
              <a:t>Costs:</a:t>
            </a:r>
            <a:r>
              <a:rPr sz="2000" b="1" spc="445" dirty="0">
                <a:solidFill>
                  <a:srgbClr val="C00000"/>
                </a:solidFill>
                <a:latin typeface="Calibri"/>
                <a:cs typeface="Calibri"/>
              </a:rPr>
              <a:t> </a:t>
            </a:r>
            <a:r>
              <a:rPr sz="2000" dirty="0">
                <a:latin typeface="Calibri"/>
                <a:cs typeface="Calibri"/>
              </a:rPr>
              <a:t>They</a:t>
            </a:r>
            <a:r>
              <a:rPr sz="2000" spc="440" dirty="0">
                <a:latin typeface="Calibri"/>
                <a:cs typeface="Calibri"/>
              </a:rPr>
              <a:t> </a:t>
            </a:r>
            <a:r>
              <a:rPr sz="2000" dirty="0">
                <a:latin typeface="Calibri"/>
                <a:cs typeface="Calibri"/>
              </a:rPr>
              <a:t>are</a:t>
            </a:r>
            <a:r>
              <a:rPr sz="2000" spc="455" dirty="0">
                <a:latin typeface="Calibri"/>
                <a:cs typeface="Calibri"/>
              </a:rPr>
              <a:t> </a:t>
            </a:r>
            <a:r>
              <a:rPr sz="2000" dirty="0">
                <a:latin typeface="Calibri"/>
                <a:cs typeface="Calibri"/>
              </a:rPr>
              <a:t>chargeable</a:t>
            </a:r>
            <a:r>
              <a:rPr sz="2000" spc="455" dirty="0">
                <a:latin typeface="Calibri"/>
                <a:cs typeface="Calibri"/>
              </a:rPr>
              <a:t> </a:t>
            </a:r>
            <a:r>
              <a:rPr sz="2000" dirty="0">
                <a:latin typeface="Calibri"/>
                <a:cs typeface="Calibri"/>
              </a:rPr>
              <a:t>to</a:t>
            </a:r>
            <a:r>
              <a:rPr sz="2000" spc="445" dirty="0">
                <a:latin typeface="Calibri"/>
                <a:cs typeface="Calibri"/>
              </a:rPr>
              <a:t> </a:t>
            </a:r>
            <a:r>
              <a:rPr sz="2000" dirty="0">
                <a:latin typeface="Calibri"/>
                <a:cs typeface="Calibri"/>
              </a:rPr>
              <a:t>a</a:t>
            </a:r>
            <a:r>
              <a:rPr sz="2000" spc="455" dirty="0">
                <a:latin typeface="Calibri"/>
                <a:cs typeface="Calibri"/>
              </a:rPr>
              <a:t> </a:t>
            </a:r>
            <a:r>
              <a:rPr sz="2000" dirty="0">
                <a:latin typeface="Calibri"/>
                <a:cs typeface="Calibri"/>
              </a:rPr>
              <a:t>specific</a:t>
            </a:r>
            <a:r>
              <a:rPr sz="2000" spc="450" dirty="0">
                <a:latin typeface="Calibri"/>
                <a:cs typeface="Calibri"/>
              </a:rPr>
              <a:t> </a:t>
            </a:r>
            <a:r>
              <a:rPr sz="2000" dirty="0">
                <a:latin typeface="Calibri"/>
                <a:cs typeface="Calibri"/>
              </a:rPr>
              <a:t>work</a:t>
            </a:r>
            <a:r>
              <a:rPr sz="2000" spc="450" dirty="0">
                <a:latin typeface="Calibri"/>
                <a:cs typeface="Calibri"/>
              </a:rPr>
              <a:t> </a:t>
            </a:r>
            <a:r>
              <a:rPr sz="2000" dirty="0">
                <a:latin typeface="Calibri"/>
                <a:cs typeface="Calibri"/>
              </a:rPr>
              <a:t>package.</a:t>
            </a:r>
            <a:r>
              <a:rPr sz="2000" spc="445" dirty="0">
                <a:latin typeface="Calibri"/>
                <a:cs typeface="Calibri"/>
              </a:rPr>
              <a:t> </a:t>
            </a:r>
            <a:r>
              <a:rPr sz="2000" dirty="0">
                <a:latin typeface="Calibri"/>
                <a:cs typeface="Calibri"/>
              </a:rPr>
              <a:t>These</a:t>
            </a:r>
            <a:r>
              <a:rPr sz="2000" spc="455" dirty="0">
                <a:latin typeface="Calibri"/>
                <a:cs typeface="Calibri"/>
              </a:rPr>
              <a:t> </a:t>
            </a:r>
            <a:r>
              <a:rPr sz="2000" dirty="0">
                <a:latin typeface="Calibri"/>
                <a:cs typeface="Calibri"/>
              </a:rPr>
              <a:t>costs</a:t>
            </a:r>
            <a:r>
              <a:rPr sz="2000" spc="455" dirty="0">
                <a:latin typeface="Calibri"/>
                <a:cs typeface="Calibri"/>
              </a:rPr>
              <a:t> </a:t>
            </a:r>
            <a:r>
              <a:rPr sz="2000" dirty="0">
                <a:latin typeface="Calibri"/>
                <a:cs typeface="Calibri"/>
              </a:rPr>
              <a:t>represent</a:t>
            </a:r>
            <a:r>
              <a:rPr sz="2000" spc="455" dirty="0">
                <a:latin typeface="Calibri"/>
                <a:cs typeface="Calibri"/>
              </a:rPr>
              <a:t> </a:t>
            </a:r>
            <a:r>
              <a:rPr sz="2000" dirty="0">
                <a:latin typeface="Calibri"/>
                <a:cs typeface="Calibri"/>
              </a:rPr>
              <a:t>real</a:t>
            </a:r>
            <a:r>
              <a:rPr sz="2000" spc="455" dirty="0">
                <a:latin typeface="Calibri"/>
                <a:cs typeface="Calibri"/>
              </a:rPr>
              <a:t> </a:t>
            </a:r>
            <a:r>
              <a:rPr sz="2000" spc="-20" dirty="0">
                <a:latin typeface="Calibri"/>
                <a:cs typeface="Calibri"/>
              </a:rPr>
              <a:t>cash 	</a:t>
            </a:r>
            <a:r>
              <a:rPr sz="2000" dirty="0">
                <a:latin typeface="Calibri"/>
                <a:cs typeface="Calibri"/>
              </a:rPr>
              <a:t>outflows</a:t>
            </a:r>
            <a:r>
              <a:rPr sz="2000" spc="180" dirty="0">
                <a:latin typeface="Calibri"/>
                <a:cs typeface="Calibri"/>
              </a:rPr>
              <a:t> </a:t>
            </a:r>
            <a:r>
              <a:rPr sz="2000" dirty="0">
                <a:latin typeface="Calibri"/>
                <a:cs typeface="Calibri"/>
              </a:rPr>
              <a:t>and</a:t>
            </a:r>
            <a:r>
              <a:rPr sz="2000" spc="180" dirty="0">
                <a:latin typeface="Calibri"/>
                <a:cs typeface="Calibri"/>
              </a:rPr>
              <a:t> </a:t>
            </a:r>
            <a:r>
              <a:rPr sz="2000" dirty="0">
                <a:latin typeface="Calibri"/>
                <a:cs typeface="Calibri"/>
              </a:rPr>
              <a:t>must</a:t>
            </a:r>
            <a:r>
              <a:rPr sz="2000" spc="180" dirty="0">
                <a:latin typeface="Calibri"/>
                <a:cs typeface="Calibri"/>
              </a:rPr>
              <a:t> </a:t>
            </a:r>
            <a:r>
              <a:rPr sz="2000" dirty="0">
                <a:latin typeface="Calibri"/>
                <a:cs typeface="Calibri"/>
              </a:rPr>
              <a:t>be</a:t>
            </a:r>
            <a:r>
              <a:rPr sz="2000" spc="180" dirty="0">
                <a:latin typeface="Calibri"/>
                <a:cs typeface="Calibri"/>
              </a:rPr>
              <a:t> </a:t>
            </a:r>
            <a:r>
              <a:rPr sz="2000" dirty="0">
                <a:latin typeface="Calibri"/>
                <a:cs typeface="Calibri"/>
              </a:rPr>
              <a:t>paid</a:t>
            </a:r>
            <a:r>
              <a:rPr sz="2000" spc="175" dirty="0">
                <a:latin typeface="Calibri"/>
                <a:cs typeface="Calibri"/>
              </a:rPr>
              <a:t> </a:t>
            </a:r>
            <a:r>
              <a:rPr sz="2000" dirty="0">
                <a:latin typeface="Calibri"/>
                <a:cs typeface="Calibri"/>
              </a:rPr>
              <a:t>as</a:t>
            </a:r>
            <a:r>
              <a:rPr sz="2000" spc="180" dirty="0">
                <a:latin typeface="Calibri"/>
                <a:cs typeface="Calibri"/>
              </a:rPr>
              <a:t> </a:t>
            </a:r>
            <a:r>
              <a:rPr sz="2000" dirty="0">
                <a:latin typeface="Calibri"/>
                <a:cs typeface="Calibri"/>
              </a:rPr>
              <a:t>the</a:t>
            </a:r>
            <a:r>
              <a:rPr sz="2000" spc="180" dirty="0">
                <a:latin typeface="Calibri"/>
                <a:cs typeface="Calibri"/>
              </a:rPr>
              <a:t> </a:t>
            </a:r>
            <a:r>
              <a:rPr sz="2000" dirty="0">
                <a:latin typeface="Calibri"/>
                <a:cs typeface="Calibri"/>
              </a:rPr>
              <a:t>project</a:t>
            </a:r>
            <a:r>
              <a:rPr sz="2000" spc="180" dirty="0">
                <a:latin typeface="Calibri"/>
                <a:cs typeface="Calibri"/>
              </a:rPr>
              <a:t> </a:t>
            </a:r>
            <a:r>
              <a:rPr sz="2000" dirty="0">
                <a:latin typeface="Calibri"/>
                <a:cs typeface="Calibri"/>
              </a:rPr>
              <a:t>progresses;</a:t>
            </a:r>
            <a:r>
              <a:rPr sz="2000" spc="175" dirty="0">
                <a:latin typeface="Calibri"/>
                <a:cs typeface="Calibri"/>
              </a:rPr>
              <a:t> </a:t>
            </a:r>
            <a:r>
              <a:rPr sz="2000" dirty="0">
                <a:latin typeface="Calibri"/>
                <a:cs typeface="Calibri"/>
              </a:rPr>
              <a:t>therefore,</a:t>
            </a:r>
            <a:r>
              <a:rPr sz="2000" spc="180" dirty="0">
                <a:latin typeface="Calibri"/>
                <a:cs typeface="Calibri"/>
              </a:rPr>
              <a:t> </a:t>
            </a:r>
            <a:r>
              <a:rPr sz="2000" dirty="0">
                <a:latin typeface="Calibri"/>
                <a:cs typeface="Calibri"/>
              </a:rPr>
              <a:t>direct</a:t>
            </a:r>
            <a:r>
              <a:rPr sz="2000" spc="185" dirty="0">
                <a:latin typeface="Calibri"/>
                <a:cs typeface="Calibri"/>
              </a:rPr>
              <a:t> </a:t>
            </a:r>
            <a:r>
              <a:rPr sz="2000" dirty="0">
                <a:latin typeface="Calibri"/>
                <a:cs typeface="Calibri"/>
              </a:rPr>
              <a:t>costs</a:t>
            </a:r>
            <a:r>
              <a:rPr sz="2000" spc="180" dirty="0">
                <a:latin typeface="Calibri"/>
                <a:cs typeface="Calibri"/>
              </a:rPr>
              <a:t> </a:t>
            </a:r>
            <a:r>
              <a:rPr sz="2000" dirty="0">
                <a:latin typeface="Calibri"/>
                <a:cs typeface="Calibri"/>
              </a:rPr>
              <a:t>are</a:t>
            </a:r>
            <a:r>
              <a:rPr sz="2000" spc="180" dirty="0">
                <a:latin typeface="Calibri"/>
                <a:cs typeface="Calibri"/>
              </a:rPr>
              <a:t> </a:t>
            </a:r>
            <a:r>
              <a:rPr sz="2000" dirty="0">
                <a:latin typeface="Calibri"/>
                <a:cs typeface="Calibri"/>
              </a:rPr>
              <a:t>usually</a:t>
            </a:r>
            <a:r>
              <a:rPr sz="2000" spc="170" dirty="0">
                <a:latin typeface="Calibri"/>
                <a:cs typeface="Calibri"/>
              </a:rPr>
              <a:t> </a:t>
            </a:r>
            <a:r>
              <a:rPr sz="2000" spc="-10" dirty="0">
                <a:latin typeface="Calibri"/>
                <a:cs typeface="Calibri"/>
              </a:rPr>
              <a:t>separated 	</a:t>
            </a:r>
            <a:r>
              <a:rPr sz="2000" dirty="0">
                <a:latin typeface="Calibri"/>
                <a:cs typeface="Calibri"/>
              </a:rPr>
              <a:t>from</a:t>
            </a:r>
            <a:r>
              <a:rPr sz="2000" spc="-85" dirty="0">
                <a:latin typeface="Calibri"/>
                <a:cs typeface="Calibri"/>
              </a:rPr>
              <a:t> </a:t>
            </a:r>
            <a:r>
              <a:rPr sz="2000" dirty="0">
                <a:latin typeface="Calibri"/>
                <a:cs typeface="Calibri"/>
              </a:rPr>
              <a:t>overhead</a:t>
            </a:r>
            <a:r>
              <a:rPr sz="2000" spc="-80" dirty="0">
                <a:latin typeface="Calibri"/>
                <a:cs typeface="Calibri"/>
              </a:rPr>
              <a:t> </a:t>
            </a:r>
            <a:r>
              <a:rPr sz="2000" spc="-10" dirty="0">
                <a:latin typeface="Calibri"/>
                <a:cs typeface="Calibri"/>
              </a:rPr>
              <a:t>costs.</a:t>
            </a:r>
            <a:endParaRPr sz="2000" dirty="0">
              <a:latin typeface="Calibri"/>
              <a:cs typeface="Calibri"/>
            </a:endParaRPr>
          </a:p>
          <a:p>
            <a:pPr marL="239395" marR="5080" indent="-226695" algn="just">
              <a:lnSpc>
                <a:spcPct val="90300"/>
              </a:lnSpc>
              <a:spcBef>
                <a:spcPts val="885"/>
              </a:spcBef>
              <a:buFont typeface="Arial MT"/>
              <a:buChar char="•"/>
              <a:tabLst>
                <a:tab pos="241300" algn="l"/>
              </a:tabLst>
            </a:pPr>
            <a:r>
              <a:rPr sz="2000" b="1" dirty="0">
                <a:solidFill>
                  <a:srgbClr val="C00000"/>
                </a:solidFill>
                <a:latin typeface="Calibri"/>
                <a:cs typeface="Calibri"/>
              </a:rPr>
              <a:t>Direct</a:t>
            </a:r>
            <a:r>
              <a:rPr sz="2000" b="1" spc="95" dirty="0">
                <a:solidFill>
                  <a:srgbClr val="C00000"/>
                </a:solidFill>
                <a:latin typeface="Calibri"/>
                <a:cs typeface="Calibri"/>
              </a:rPr>
              <a:t> </a:t>
            </a:r>
            <a:r>
              <a:rPr sz="2000" b="1" dirty="0">
                <a:solidFill>
                  <a:srgbClr val="C00000"/>
                </a:solidFill>
                <a:latin typeface="Calibri"/>
                <a:cs typeface="Calibri"/>
              </a:rPr>
              <a:t>Project</a:t>
            </a:r>
            <a:r>
              <a:rPr sz="2000" b="1" spc="105" dirty="0">
                <a:solidFill>
                  <a:srgbClr val="C00000"/>
                </a:solidFill>
                <a:latin typeface="Calibri"/>
                <a:cs typeface="Calibri"/>
              </a:rPr>
              <a:t> </a:t>
            </a:r>
            <a:r>
              <a:rPr sz="2000" b="1" dirty="0">
                <a:solidFill>
                  <a:srgbClr val="C00000"/>
                </a:solidFill>
                <a:latin typeface="Calibri"/>
                <a:cs typeface="Calibri"/>
              </a:rPr>
              <a:t>Overhead</a:t>
            </a:r>
            <a:r>
              <a:rPr sz="2000" b="1" spc="105" dirty="0">
                <a:solidFill>
                  <a:srgbClr val="C00000"/>
                </a:solidFill>
                <a:latin typeface="Calibri"/>
                <a:cs typeface="Calibri"/>
              </a:rPr>
              <a:t> </a:t>
            </a:r>
            <a:r>
              <a:rPr sz="2000" b="1" dirty="0">
                <a:solidFill>
                  <a:srgbClr val="C00000"/>
                </a:solidFill>
                <a:latin typeface="Calibri"/>
                <a:cs typeface="Calibri"/>
              </a:rPr>
              <a:t>Costs:</a:t>
            </a:r>
            <a:r>
              <a:rPr sz="2000" b="1" spc="105" dirty="0">
                <a:solidFill>
                  <a:srgbClr val="C00000"/>
                </a:solidFill>
                <a:latin typeface="Calibri"/>
                <a:cs typeface="Calibri"/>
              </a:rPr>
              <a:t> </a:t>
            </a:r>
            <a:r>
              <a:rPr sz="2000" dirty="0">
                <a:latin typeface="Calibri"/>
                <a:cs typeface="Calibri"/>
              </a:rPr>
              <a:t>Direct</a:t>
            </a:r>
            <a:r>
              <a:rPr sz="2000" spc="105" dirty="0">
                <a:latin typeface="Calibri"/>
                <a:cs typeface="Calibri"/>
              </a:rPr>
              <a:t> </a:t>
            </a:r>
            <a:r>
              <a:rPr sz="2000" dirty="0">
                <a:latin typeface="Calibri"/>
                <a:cs typeface="Calibri"/>
              </a:rPr>
              <a:t>overhead</a:t>
            </a:r>
            <a:r>
              <a:rPr sz="2000" spc="105" dirty="0">
                <a:latin typeface="Calibri"/>
                <a:cs typeface="Calibri"/>
              </a:rPr>
              <a:t> </a:t>
            </a:r>
            <a:r>
              <a:rPr sz="2000" dirty="0">
                <a:latin typeface="Calibri"/>
                <a:cs typeface="Calibri"/>
              </a:rPr>
              <a:t>rates</a:t>
            </a:r>
            <a:r>
              <a:rPr sz="2000" spc="105" dirty="0">
                <a:latin typeface="Calibri"/>
                <a:cs typeface="Calibri"/>
              </a:rPr>
              <a:t> </a:t>
            </a:r>
            <a:r>
              <a:rPr sz="2000" dirty="0">
                <a:latin typeface="Calibri"/>
                <a:cs typeface="Calibri"/>
              </a:rPr>
              <a:t>more</a:t>
            </a:r>
            <a:r>
              <a:rPr sz="2000" spc="114" dirty="0">
                <a:latin typeface="Calibri"/>
                <a:cs typeface="Calibri"/>
              </a:rPr>
              <a:t> </a:t>
            </a:r>
            <a:r>
              <a:rPr sz="2000" dirty="0">
                <a:latin typeface="Calibri"/>
                <a:cs typeface="Calibri"/>
              </a:rPr>
              <a:t>closely</a:t>
            </a:r>
            <a:r>
              <a:rPr sz="2000" spc="95" dirty="0">
                <a:latin typeface="Calibri"/>
                <a:cs typeface="Calibri"/>
              </a:rPr>
              <a:t> </a:t>
            </a:r>
            <a:r>
              <a:rPr sz="2000" dirty="0">
                <a:latin typeface="Calibri"/>
                <a:cs typeface="Calibri"/>
              </a:rPr>
              <a:t>pinpoint</a:t>
            </a:r>
            <a:r>
              <a:rPr sz="2000" spc="114" dirty="0">
                <a:latin typeface="Calibri"/>
                <a:cs typeface="Calibri"/>
              </a:rPr>
              <a:t> </a:t>
            </a:r>
            <a:r>
              <a:rPr sz="2000" dirty="0">
                <a:latin typeface="Calibri"/>
                <a:cs typeface="Calibri"/>
              </a:rPr>
              <a:t>which</a:t>
            </a:r>
            <a:r>
              <a:rPr sz="2000" spc="100" dirty="0">
                <a:latin typeface="Calibri"/>
                <a:cs typeface="Calibri"/>
              </a:rPr>
              <a:t> </a:t>
            </a:r>
            <a:r>
              <a:rPr sz="2000" dirty="0">
                <a:latin typeface="Calibri"/>
                <a:cs typeface="Calibri"/>
              </a:rPr>
              <a:t>resources</a:t>
            </a:r>
            <a:r>
              <a:rPr sz="2000" spc="110" dirty="0">
                <a:latin typeface="Calibri"/>
                <a:cs typeface="Calibri"/>
              </a:rPr>
              <a:t> </a:t>
            </a:r>
            <a:r>
              <a:rPr sz="2000" dirty="0">
                <a:latin typeface="Calibri"/>
                <a:cs typeface="Calibri"/>
              </a:rPr>
              <a:t>of</a:t>
            </a:r>
            <a:r>
              <a:rPr sz="2000" spc="105" dirty="0">
                <a:latin typeface="Calibri"/>
                <a:cs typeface="Calibri"/>
              </a:rPr>
              <a:t> </a:t>
            </a:r>
            <a:r>
              <a:rPr sz="2000" spc="-25" dirty="0">
                <a:latin typeface="Calibri"/>
                <a:cs typeface="Calibri"/>
              </a:rPr>
              <a:t>the 	</a:t>
            </a:r>
            <a:r>
              <a:rPr sz="2000" dirty="0">
                <a:latin typeface="Calibri"/>
                <a:cs typeface="Calibri"/>
              </a:rPr>
              <a:t>organization</a:t>
            </a:r>
            <a:r>
              <a:rPr sz="2000" spc="60" dirty="0">
                <a:latin typeface="Calibri"/>
                <a:cs typeface="Calibri"/>
              </a:rPr>
              <a:t> </a:t>
            </a:r>
            <a:r>
              <a:rPr sz="2000" dirty="0">
                <a:latin typeface="Calibri"/>
                <a:cs typeface="Calibri"/>
              </a:rPr>
              <a:t>are</a:t>
            </a:r>
            <a:r>
              <a:rPr sz="2000" spc="60" dirty="0">
                <a:latin typeface="Calibri"/>
                <a:cs typeface="Calibri"/>
              </a:rPr>
              <a:t> </a:t>
            </a:r>
            <a:r>
              <a:rPr sz="2000" dirty="0">
                <a:latin typeface="Calibri"/>
                <a:cs typeface="Calibri"/>
              </a:rPr>
              <a:t>being</a:t>
            </a:r>
            <a:r>
              <a:rPr sz="2000" spc="50" dirty="0">
                <a:latin typeface="Calibri"/>
                <a:cs typeface="Calibri"/>
              </a:rPr>
              <a:t> </a:t>
            </a:r>
            <a:r>
              <a:rPr sz="2000" dirty="0">
                <a:latin typeface="Calibri"/>
                <a:cs typeface="Calibri"/>
              </a:rPr>
              <a:t>used</a:t>
            </a:r>
            <a:r>
              <a:rPr sz="2000" spc="60" dirty="0">
                <a:latin typeface="Calibri"/>
                <a:cs typeface="Calibri"/>
              </a:rPr>
              <a:t> </a:t>
            </a:r>
            <a:r>
              <a:rPr sz="2000" dirty="0">
                <a:latin typeface="Calibri"/>
                <a:cs typeface="Calibri"/>
              </a:rPr>
              <a:t>in</a:t>
            </a:r>
            <a:r>
              <a:rPr sz="2000" spc="60" dirty="0">
                <a:latin typeface="Calibri"/>
                <a:cs typeface="Calibri"/>
              </a:rPr>
              <a:t> </a:t>
            </a:r>
            <a:r>
              <a:rPr sz="2000" dirty="0">
                <a:latin typeface="Calibri"/>
                <a:cs typeface="Calibri"/>
              </a:rPr>
              <a:t>the</a:t>
            </a:r>
            <a:r>
              <a:rPr sz="2000" spc="60" dirty="0">
                <a:latin typeface="Calibri"/>
                <a:cs typeface="Calibri"/>
              </a:rPr>
              <a:t> </a:t>
            </a:r>
            <a:r>
              <a:rPr sz="2000" dirty="0">
                <a:latin typeface="Calibri"/>
                <a:cs typeface="Calibri"/>
              </a:rPr>
              <a:t>project</a:t>
            </a:r>
            <a:r>
              <a:rPr sz="2000" spc="60" dirty="0">
                <a:latin typeface="Calibri"/>
                <a:cs typeface="Calibri"/>
              </a:rPr>
              <a:t> </a:t>
            </a:r>
            <a:r>
              <a:rPr sz="2000" dirty="0">
                <a:latin typeface="Calibri"/>
                <a:cs typeface="Calibri"/>
              </a:rPr>
              <a:t>(ex.,</a:t>
            </a:r>
            <a:r>
              <a:rPr sz="2000" spc="60" dirty="0">
                <a:latin typeface="Calibri"/>
                <a:cs typeface="Calibri"/>
              </a:rPr>
              <a:t> </a:t>
            </a:r>
            <a:r>
              <a:rPr sz="2000" dirty="0">
                <a:latin typeface="Calibri"/>
                <a:cs typeface="Calibri"/>
              </a:rPr>
              <a:t>cost</a:t>
            </a:r>
            <a:r>
              <a:rPr sz="2000" spc="70" dirty="0">
                <a:latin typeface="Calibri"/>
                <a:cs typeface="Calibri"/>
              </a:rPr>
              <a:t> </a:t>
            </a:r>
            <a:r>
              <a:rPr sz="2000" dirty="0">
                <a:latin typeface="Calibri"/>
                <a:cs typeface="Calibri"/>
              </a:rPr>
              <a:t>of</a:t>
            </a:r>
            <a:r>
              <a:rPr sz="2000" spc="60" dirty="0">
                <a:latin typeface="Calibri"/>
                <a:cs typeface="Calibri"/>
              </a:rPr>
              <a:t> </a:t>
            </a:r>
            <a:r>
              <a:rPr sz="2000" dirty="0">
                <a:latin typeface="Calibri"/>
                <a:cs typeface="Calibri"/>
              </a:rPr>
              <a:t>lighting,</a:t>
            </a:r>
            <a:r>
              <a:rPr sz="2000" spc="60" dirty="0">
                <a:latin typeface="Calibri"/>
                <a:cs typeface="Calibri"/>
              </a:rPr>
              <a:t> </a:t>
            </a:r>
            <a:r>
              <a:rPr sz="2000" dirty="0">
                <a:latin typeface="Calibri"/>
                <a:cs typeface="Calibri"/>
              </a:rPr>
              <a:t>heating</a:t>
            </a:r>
            <a:r>
              <a:rPr sz="2000" spc="50" dirty="0">
                <a:latin typeface="Calibri"/>
                <a:cs typeface="Calibri"/>
              </a:rPr>
              <a:t> </a:t>
            </a:r>
            <a:r>
              <a:rPr sz="2000" dirty="0">
                <a:latin typeface="Calibri"/>
                <a:cs typeface="Calibri"/>
              </a:rPr>
              <a:t>for</a:t>
            </a:r>
            <a:r>
              <a:rPr sz="2000" spc="65" dirty="0">
                <a:latin typeface="Calibri"/>
                <a:cs typeface="Calibri"/>
              </a:rPr>
              <a:t> </a:t>
            </a:r>
            <a:r>
              <a:rPr sz="2000" dirty="0">
                <a:latin typeface="Calibri"/>
                <a:cs typeface="Calibri"/>
              </a:rPr>
              <a:t>the</a:t>
            </a:r>
            <a:r>
              <a:rPr sz="2000" spc="60" dirty="0">
                <a:latin typeface="Calibri"/>
                <a:cs typeface="Calibri"/>
              </a:rPr>
              <a:t> </a:t>
            </a:r>
            <a:r>
              <a:rPr sz="2000" dirty="0">
                <a:latin typeface="Calibri"/>
                <a:cs typeface="Calibri"/>
              </a:rPr>
              <a:t>workspace,</a:t>
            </a:r>
            <a:r>
              <a:rPr sz="2000" spc="60" dirty="0">
                <a:latin typeface="Calibri"/>
                <a:cs typeface="Calibri"/>
              </a:rPr>
              <a:t> </a:t>
            </a:r>
            <a:r>
              <a:rPr sz="2000" dirty="0">
                <a:latin typeface="Calibri"/>
                <a:cs typeface="Calibri"/>
              </a:rPr>
              <a:t>…).</a:t>
            </a:r>
            <a:r>
              <a:rPr sz="2000" spc="55" dirty="0">
                <a:latin typeface="Calibri"/>
                <a:cs typeface="Calibri"/>
              </a:rPr>
              <a:t> </a:t>
            </a:r>
            <a:r>
              <a:rPr sz="2000" dirty="0">
                <a:latin typeface="Calibri"/>
                <a:cs typeface="Calibri"/>
              </a:rPr>
              <a:t>It</a:t>
            </a:r>
            <a:r>
              <a:rPr sz="2000" spc="65" dirty="0">
                <a:latin typeface="Calibri"/>
                <a:cs typeface="Calibri"/>
              </a:rPr>
              <a:t> </a:t>
            </a:r>
            <a:r>
              <a:rPr sz="2000" spc="-25" dirty="0">
                <a:latin typeface="Calibri"/>
                <a:cs typeface="Calibri"/>
              </a:rPr>
              <a:t>can 	</a:t>
            </a:r>
            <a:r>
              <a:rPr sz="2000" dirty="0">
                <a:latin typeface="Calibri"/>
                <a:cs typeface="Calibri"/>
              </a:rPr>
              <a:t>be</a:t>
            </a:r>
            <a:r>
              <a:rPr sz="2000" spc="204" dirty="0">
                <a:latin typeface="Calibri"/>
                <a:cs typeface="Calibri"/>
              </a:rPr>
              <a:t> </a:t>
            </a:r>
            <a:r>
              <a:rPr sz="2000" dirty="0">
                <a:latin typeface="Calibri"/>
                <a:cs typeface="Calibri"/>
              </a:rPr>
              <a:t>tied</a:t>
            </a:r>
            <a:r>
              <a:rPr sz="2000" spc="200" dirty="0">
                <a:latin typeface="Calibri"/>
                <a:cs typeface="Calibri"/>
              </a:rPr>
              <a:t> </a:t>
            </a:r>
            <a:r>
              <a:rPr sz="2000" dirty="0">
                <a:latin typeface="Calibri"/>
                <a:cs typeface="Calibri"/>
              </a:rPr>
              <a:t>to</a:t>
            </a:r>
            <a:r>
              <a:rPr sz="2000" spc="204" dirty="0">
                <a:latin typeface="Calibri"/>
                <a:cs typeface="Calibri"/>
              </a:rPr>
              <a:t> </a:t>
            </a:r>
            <a:r>
              <a:rPr sz="2000" dirty="0">
                <a:latin typeface="Calibri"/>
                <a:cs typeface="Calibri"/>
              </a:rPr>
              <a:t>project</a:t>
            </a:r>
            <a:r>
              <a:rPr sz="2000" spc="204" dirty="0">
                <a:latin typeface="Calibri"/>
                <a:cs typeface="Calibri"/>
              </a:rPr>
              <a:t> </a:t>
            </a:r>
            <a:r>
              <a:rPr sz="2000" dirty="0">
                <a:latin typeface="Calibri"/>
                <a:cs typeface="Calibri"/>
              </a:rPr>
              <a:t>deliverables</a:t>
            </a:r>
            <a:r>
              <a:rPr sz="2000" spc="210" dirty="0">
                <a:latin typeface="Calibri"/>
                <a:cs typeface="Calibri"/>
              </a:rPr>
              <a:t> </a:t>
            </a:r>
            <a:r>
              <a:rPr sz="2000" dirty="0">
                <a:latin typeface="Calibri"/>
                <a:cs typeface="Calibri"/>
              </a:rPr>
              <a:t>or</a:t>
            </a:r>
            <a:r>
              <a:rPr sz="2000" spc="204" dirty="0">
                <a:latin typeface="Calibri"/>
                <a:cs typeface="Calibri"/>
              </a:rPr>
              <a:t> </a:t>
            </a:r>
            <a:r>
              <a:rPr sz="2000" dirty="0">
                <a:latin typeface="Calibri"/>
                <a:cs typeface="Calibri"/>
              </a:rPr>
              <a:t>work</a:t>
            </a:r>
            <a:r>
              <a:rPr sz="2000" spc="204" dirty="0">
                <a:latin typeface="Calibri"/>
                <a:cs typeface="Calibri"/>
              </a:rPr>
              <a:t> </a:t>
            </a:r>
            <a:r>
              <a:rPr sz="2000" dirty="0">
                <a:latin typeface="Calibri"/>
                <a:cs typeface="Calibri"/>
              </a:rPr>
              <a:t>packages.</a:t>
            </a:r>
            <a:r>
              <a:rPr sz="2000" spc="204" dirty="0">
                <a:latin typeface="Calibri"/>
                <a:cs typeface="Calibri"/>
              </a:rPr>
              <a:t> </a:t>
            </a:r>
            <a:r>
              <a:rPr sz="2000" dirty="0">
                <a:latin typeface="Calibri"/>
                <a:cs typeface="Calibri"/>
              </a:rPr>
              <a:t>Although</a:t>
            </a:r>
            <a:r>
              <a:rPr sz="2000" spc="200" dirty="0">
                <a:latin typeface="Calibri"/>
                <a:cs typeface="Calibri"/>
              </a:rPr>
              <a:t> </a:t>
            </a:r>
            <a:r>
              <a:rPr sz="2000" dirty="0">
                <a:latin typeface="Calibri"/>
                <a:cs typeface="Calibri"/>
              </a:rPr>
              <a:t>overhead</a:t>
            </a:r>
            <a:r>
              <a:rPr sz="2000" spc="204" dirty="0">
                <a:latin typeface="Calibri"/>
                <a:cs typeface="Calibri"/>
              </a:rPr>
              <a:t> </a:t>
            </a:r>
            <a:r>
              <a:rPr sz="2000" dirty="0">
                <a:latin typeface="Calibri"/>
                <a:cs typeface="Calibri"/>
              </a:rPr>
              <a:t>is</a:t>
            </a:r>
            <a:r>
              <a:rPr sz="2000" spc="204" dirty="0">
                <a:latin typeface="Calibri"/>
                <a:cs typeface="Calibri"/>
              </a:rPr>
              <a:t> </a:t>
            </a:r>
            <a:r>
              <a:rPr sz="2000" dirty="0">
                <a:latin typeface="Calibri"/>
                <a:cs typeface="Calibri"/>
              </a:rPr>
              <a:t>not</a:t>
            </a:r>
            <a:r>
              <a:rPr sz="2000" spc="215" dirty="0">
                <a:latin typeface="Calibri"/>
                <a:cs typeface="Calibri"/>
              </a:rPr>
              <a:t> </a:t>
            </a:r>
            <a:r>
              <a:rPr sz="2000" dirty="0">
                <a:latin typeface="Calibri"/>
                <a:cs typeface="Calibri"/>
              </a:rPr>
              <a:t>an</a:t>
            </a:r>
            <a:r>
              <a:rPr sz="2000" spc="204" dirty="0">
                <a:latin typeface="Calibri"/>
                <a:cs typeface="Calibri"/>
              </a:rPr>
              <a:t> </a:t>
            </a:r>
            <a:r>
              <a:rPr sz="2000" dirty="0">
                <a:latin typeface="Calibri"/>
                <a:cs typeface="Calibri"/>
              </a:rPr>
              <a:t>immediate</a:t>
            </a:r>
            <a:r>
              <a:rPr sz="2000" spc="210" dirty="0">
                <a:latin typeface="Calibri"/>
                <a:cs typeface="Calibri"/>
              </a:rPr>
              <a:t> </a:t>
            </a:r>
            <a:r>
              <a:rPr sz="2000" dirty="0">
                <a:latin typeface="Calibri"/>
                <a:cs typeface="Calibri"/>
              </a:rPr>
              <a:t>out-</a:t>
            </a:r>
            <a:r>
              <a:rPr sz="2000" spc="210" dirty="0">
                <a:latin typeface="Calibri"/>
                <a:cs typeface="Calibri"/>
              </a:rPr>
              <a:t> </a:t>
            </a:r>
            <a:r>
              <a:rPr sz="2000" spc="-25" dirty="0">
                <a:latin typeface="Calibri"/>
                <a:cs typeface="Calibri"/>
              </a:rPr>
              <a:t>of- 	</a:t>
            </a:r>
            <a:r>
              <a:rPr sz="2000" spc="-10" dirty="0">
                <a:latin typeface="Calibri"/>
                <a:cs typeface="Calibri"/>
              </a:rPr>
              <a:t>pocket</a:t>
            </a:r>
            <a:r>
              <a:rPr sz="2000" spc="-35" dirty="0">
                <a:latin typeface="Calibri"/>
                <a:cs typeface="Calibri"/>
              </a:rPr>
              <a:t> </a:t>
            </a:r>
            <a:r>
              <a:rPr sz="2000" dirty="0">
                <a:latin typeface="Calibri"/>
                <a:cs typeface="Calibri"/>
              </a:rPr>
              <a:t>expense,</a:t>
            </a:r>
            <a:r>
              <a:rPr sz="2000" spc="-40" dirty="0">
                <a:latin typeface="Calibri"/>
                <a:cs typeface="Calibri"/>
              </a:rPr>
              <a:t> </a:t>
            </a:r>
            <a:r>
              <a:rPr sz="2000" dirty="0">
                <a:latin typeface="Calibri"/>
                <a:cs typeface="Calibri"/>
              </a:rPr>
              <a:t>it</a:t>
            </a:r>
            <a:r>
              <a:rPr sz="2000" spc="-35" dirty="0">
                <a:latin typeface="Calibri"/>
                <a:cs typeface="Calibri"/>
              </a:rPr>
              <a:t> </a:t>
            </a:r>
            <a:r>
              <a:rPr sz="2000" dirty="0">
                <a:latin typeface="Calibri"/>
                <a:cs typeface="Calibri"/>
              </a:rPr>
              <a:t>is</a:t>
            </a:r>
            <a:r>
              <a:rPr sz="2000" spc="-35" dirty="0">
                <a:latin typeface="Calibri"/>
                <a:cs typeface="Calibri"/>
              </a:rPr>
              <a:t> </a:t>
            </a:r>
            <a:r>
              <a:rPr sz="2000" i="1" dirty="0">
                <a:latin typeface="Calibri"/>
                <a:cs typeface="Calibri"/>
              </a:rPr>
              <a:t>real</a:t>
            </a:r>
            <a:r>
              <a:rPr sz="2000" i="1" spc="-35" dirty="0">
                <a:latin typeface="Calibri"/>
                <a:cs typeface="Calibri"/>
              </a:rPr>
              <a:t> </a:t>
            </a:r>
            <a:r>
              <a:rPr sz="2000" dirty="0">
                <a:latin typeface="Calibri"/>
                <a:cs typeface="Calibri"/>
              </a:rPr>
              <a:t>and</a:t>
            </a:r>
            <a:r>
              <a:rPr sz="2000" spc="-40" dirty="0">
                <a:latin typeface="Calibri"/>
                <a:cs typeface="Calibri"/>
              </a:rPr>
              <a:t> </a:t>
            </a:r>
            <a:r>
              <a:rPr sz="2000" dirty="0">
                <a:latin typeface="Calibri"/>
                <a:cs typeface="Calibri"/>
              </a:rPr>
              <a:t>must</a:t>
            </a:r>
            <a:r>
              <a:rPr sz="2000" spc="-35" dirty="0">
                <a:latin typeface="Calibri"/>
                <a:cs typeface="Calibri"/>
              </a:rPr>
              <a:t> </a:t>
            </a:r>
            <a:r>
              <a:rPr sz="2000" dirty="0">
                <a:latin typeface="Calibri"/>
                <a:cs typeface="Calibri"/>
              </a:rPr>
              <a:t>be</a:t>
            </a:r>
            <a:r>
              <a:rPr sz="2000" spc="-35" dirty="0">
                <a:latin typeface="Calibri"/>
                <a:cs typeface="Calibri"/>
              </a:rPr>
              <a:t> </a:t>
            </a:r>
            <a:r>
              <a:rPr sz="2000" dirty="0">
                <a:latin typeface="Calibri"/>
                <a:cs typeface="Calibri"/>
              </a:rPr>
              <a:t>covered</a:t>
            </a:r>
            <a:r>
              <a:rPr sz="2000" spc="-35" dirty="0">
                <a:latin typeface="Calibri"/>
                <a:cs typeface="Calibri"/>
              </a:rPr>
              <a:t> </a:t>
            </a:r>
            <a:r>
              <a:rPr sz="2000" dirty="0">
                <a:latin typeface="Calibri"/>
                <a:cs typeface="Calibri"/>
              </a:rPr>
              <a:t>in</a:t>
            </a:r>
            <a:r>
              <a:rPr sz="2000" spc="-40" dirty="0">
                <a:latin typeface="Calibri"/>
                <a:cs typeface="Calibri"/>
              </a:rPr>
              <a:t> </a:t>
            </a:r>
            <a:r>
              <a:rPr sz="2000" dirty="0">
                <a:latin typeface="Calibri"/>
                <a:cs typeface="Calibri"/>
              </a:rPr>
              <a:t>the</a:t>
            </a:r>
            <a:r>
              <a:rPr sz="2000" spc="-35" dirty="0">
                <a:latin typeface="Calibri"/>
                <a:cs typeface="Calibri"/>
              </a:rPr>
              <a:t> </a:t>
            </a:r>
            <a:r>
              <a:rPr sz="2000" dirty="0">
                <a:latin typeface="Calibri"/>
                <a:cs typeface="Calibri"/>
              </a:rPr>
              <a:t>long</a:t>
            </a:r>
            <a:r>
              <a:rPr sz="2000" spc="-45" dirty="0">
                <a:latin typeface="Calibri"/>
                <a:cs typeface="Calibri"/>
              </a:rPr>
              <a:t> </a:t>
            </a:r>
            <a:r>
              <a:rPr sz="2000" dirty="0">
                <a:latin typeface="Calibri"/>
                <a:cs typeface="Calibri"/>
              </a:rPr>
              <a:t>run</a:t>
            </a:r>
            <a:r>
              <a:rPr sz="2000" spc="-40" dirty="0">
                <a:latin typeface="Calibri"/>
                <a:cs typeface="Calibri"/>
              </a:rPr>
              <a:t> </a:t>
            </a:r>
            <a:r>
              <a:rPr sz="2000" dirty="0">
                <a:latin typeface="Calibri"/>
                <a:cs typeface="Calibri"/>
              </a:rPr>
              <a:t>if</a:t>
            </a:r>
            <a:r>
              <a:rPr sz="2000" spc="-40" dirty="0">
                <a:latin typeface="Calibri"/>
                <a:cs typeface="Calibri"/>
              </a:rPr>
              <a:t> </a:t>
            </a:r>
            <a:r>
              <a:rPr sz="2000" dirty="0">
                <a:latin typeface="Calibri"/>
                <a:cs typeface="Calibri"/>
              </a:rPr>
              <a:t>the</a:t>
            </a:r>
            <a:r>
              <a:rPr sz="2000" spc="-35" dirty="0">
                <a:latin typeface="Calibri"/>
                <a:cs typeface="Calibri"/>
              </a:rPr>
              <a:t> </a:t>
            </a:r>
            <a:r>
              <a:rPr sz="2000" dirty="0">
                <a:latin typeface="Calibri"/>
                <a:cs typeface="Calibri"/>
              </a:rPr>
              <a:t>firm</a:t>
            </a:r>
            <a:r>
              <a:rPr sz="2000" spc="-35" dirty="0">
                <a:latin typeface="Calibri"/>
                <a:cs typeface="Calibri"/>
              </a:rPr>
              <a:t> </a:t>
            </a:r>
            <a:r>
              <a:rPr sz="2000" dirty="0">
                <a:latin typeface="Calibri"/>
                <a:cs typeface="Calibri"/>
              </a:rPr>
              <a:t>is</a:t>
            </a:r>
            <a:r>
              <a:rPr sz="2000" spc="-30" dirty="0">
                <a:latin typeface="Calibri"/>
                <a:cs typeface="Calibri"/>
              </a:rPr>
              <a:t> </a:t>
            </a:r>
            <a:r>
              <a:rPr sz="2000" dirty="0">
                <a:latin typeface="Calibri"/>
                <a:cs typeface="Calibri"/>
              </a:rPr>
              <a:t>to</a:t>
            </a:r>
            <a:r>
              <a:rPr sz="2000" spc="-45" dirty="0">
                <a:latin typeface="Calibri"/>
                <a:cs typeface="Calibri"/>
              </a:rPr>
              <a:t> </a:t>
            </a:r>
            <a:r>
              <a:rPr sz="2000" dirty="0">
                <a:latin typeface="Calibri"/>
                <a:cs typeface="Calibri"/>
              </a:rPr>
              <a:t>remain</a:t>
            </a:r>
            <a:r>
              <a:rPr sz="2000" spc="-40" dirty="0">
                <a:latin typeface="Calibri"/>
                <a:cs typeface="Calibri"/>
              </a:rPr>
              <a:t> </a:t>
            </a:r>
            <a:r>
              <a:rPr sz="2000" spc="-10" dirty="0">
                <a:latin typeface="Calibri"/>
                <a:cs typeface="Calibri"/>
              </a:rPr>
              <a:t>viable.</a:t>
            </a:r>
            <a:endParaRPr sz="2000" dirty="0">
              <a:latin typeface="Calibri"/>
              <a:cs typeface="Calibri"/>
            </a:endParaRPr>
          </a:p>
          <a:p>
            <a:pPr marL="239395" marR="5080" indent="-226695" algn="just">
              <a:lnSpc>
                <a:spcPct val="89500"/>
              </a:lnSpc>
              <a:spcBef>
                <a:spcPts val="1040"/>
              </a:spcBef>
              <a:buFont typeface="Arial MT"/>
              <a:buChar char="•"/>
              <a:tabLst>
                <a:tab pos="241300" algn="l"/>
              </a:tabLst>
            </a:pPr>
            <a:r>
              <a:rPr sz="2000" b="1" dirty="0">
                <a:solidFill>
                  <a:srgbClr val="C00000"/>
                </a:solidFill>
                <a:latin typeface="Calibri"/>
                <a:cs typeface="Calibri"/>
              </a:rPr>
              <a:t>General</a:t>
            </a:r>
            <a:r>
              <a:rPr sz="2000" b="1" spc="20" dirty="0">
                <a:solidFill>
                  <a:srgbClr val="C00000"/>
                </a:solidFill>
                <a:latin typeface="Calibri"/>
                <a:cs typeface="Calibri"/>
              </a:rPr>
              <a:t> </a:t>
            </a:r>
            <a:r>
              <a:rPr sz="2000" b="1" dirty="0">
                <a:solidFill>
                  <a:srgbClr val="C00000"/>
                </a:solidFill>
                <a:latin typeface="Calibri"/>
                <a:cs typeface="Calibri"/>
              </a:rPr>
              <a:t>and</a:t>
            </a:r>
            <a:r>
              <a:rPr sz="2000" b="1" spc="20" dirty="0">
                <a:solidFill>
                  <a:srgbClr val="C00000"/>
                </a:solidFill>
                <a:latin typeface="Calibri"/>
                <a:cs typeface="Calibri"/>
              </a:rPr>
              <a:t> </a:t>
            </a:r>
            <a:r>
              <a:rPr sz="2000" b="1" dirty="0">
                <a:solidFill>
                  <a:srgbClr val="C00000"/>
                </a:solidFill>
                <a:latin typeface="Calibri"/>
                <a:cs typeface="Calibri"/>
              </a:rPr>
              <a:t>Administrative</a:t>
            </a:r>
            <a:r>
              <a:rPr sz="2000" b="1" spc="35" dirty="0">
                <a:solidFill>
                  <a:srgbClr val="C00000"/>
                </a:solidFill>
                <a:latin typeface="Calibri"/>
                <a:cs typeface="Calibri"/>
              </a:rPr>
              <a:t> </a:t>
            </a:r>
            <a:r>
              <a:rPr sz="2000" b="1" dirty="0">
                <a:solidFill>
                  <a:srgbClr val="C00000"/>
                </a:solidFill>
                <a:latin typeface="Calibri"/>
                <a:cs typeface="Calibri"/>
              </a:rPr>
              <a:t>(G&amp;A)</a:t>
            </a:r>
            <a:r>
              <a:rPr sz="2000" b="1" spc="20" dirty="0">
                <a:solidFill>
                  <a:srgbClr val="C00000"/>
                </a:solidFill>
                <a:latin typeface="Calibri"/>
                <a:cs typeface="Calibri"/>
              </a:rPr>
              <a:t> </a:t>
            </a:r>
            <a:r>
              <a:rPr sz="2000" b="1" dirty="0">
                <a:solidFill>
                  <a:srgbClr val="C00000"/>
                </a:solidFill>
                <a:latin typeface="Calibri"/>
                <a:cs typeface="Calibri"/>
              </a:rPr>
              <a:t>Overhead</a:t>
            </a:r>
            <a:r>
              <a:rPr sz="2000" b="1" spc="20" dirty="0">
                <a:solidFill>
                  <a:srgbClr val="C00000"/>
                </a:solidFill>
                <a:latin typeface="Calibri"/>
                <a:cs typeface="Calibri"/>
              </a:rPr>
              <a:t> </a:t>
            </a:r>
            <a:r>
              <a:rPr sz="2000" b="1" dirty="0">
                <a:solidFill>
                  <a:srgbClr val="C00000"/>
                </a:solidFill>
                <a:latin typeface="Calibri"/>
                <a:cs typeface="Calibri"/>
              </a:rPr>
              <a:t>Costs:</a:t>
            </a:r>
            <a:r>
              <a:rPr sz="2000" b="1" spc="25" dirty="0">
                <a:solidFill>
                  <a:srgbClr val="C00000"/>
                </a:solidFill>
                <a:latin typeface="Calibri"/>
                <a:cs typeface="Calibri"/>
              </a:rPr>
              <a:t> </a:t>
            </a:r>
            <a:r>
              <a:rPr sz="2000" dirty="0">
                <a:latin typeface="Calibri"/>
                <a:cs typeface="Calibri"/>
              </a:rPr>
              <a:t>These</a:t>
            </a:r>
            <a:r>
              <a:rPr sz="2000" spc="25" dirty="0">
                <a:latin typeface="Calibri"/>
                <a:cs typeface="Calibri"/>
              </a:rPr>
              <a:t> </a:t>
            </a:r>
            <a:r>
              <a:rPr sz="2000" dirty="0">
                <a:latin typeface="Calibri"/>
                <a:cs typeface="Calibri"/>
              </a:rPr>
              <a:t>represent</a:t>
            </a:r>
            <a:r>
              <a:rPr sz="2000" spc="25" dirty="0">
                <a:latin typeface="Calibri"/>
                <a:cs typeface="Calibri"/>
              </a:rPr>
              <a:t> </a:t>
            </a:r>
            <a:r>
              <a:rPr sz="2000" dirty="0">
                <a:latin typeface="Calibri"/>
                <a:cs typeface="Calibri"/>
              </a:rPr>
              <a:t>organization</a:t>
            </a:r>
            <a:r>
              <a:rPr sz="2000" spc="20" dirty="0">
                <a:latin typeface="Calibri"/>
                <a:cs typeface="Calibri"/>
              </a:rPr>
              <a:t> </a:t>
            </a:r>
            <a:r>
              <a:rPr sz="2000" dirty="0">
                <a:latin typeface="Calibri"/>
                <a:cs typeface="Calibri"/>
              </a:rPr>
              <a:t>costs</a:t>
            </a:r>
            <a:r>
              <a:rPr sz="2000" spc="25" dirty="0">
                <a:latin typeface="Calibri"/>
                <a:cs typeface="Calibri"/>
              </a:rPr>
              <a:t> </a:t>
            </a:r>
            <a:r>
              <a:rPr sz="2000" dirty="0">
                <a:latin typeface="Calibri"/>
                <a:cs typeface="Calibri"/>
              </a:rPr>
              <a:t>that</a:t>
            </a:r>
            <a:r>
              <a:rPr sz="2000" spc="25" dirty="0">
                <a:latin typeface="Calibri"/>
                <a:cs typeface="Calibri"/>
              </a:rPr>
              <a:t> </a:t>
            </a:r>
            <a:r>
              <a:rPr sz="2000" dirty="0">
                <a:latin typeface="Calibri"/>
                <a:cs typeface="Calibri"/>
              </a:rPr>
              <a:t>are</a:t>
            </a:r>
            <a:r>
              <a:rPr sz="2000" spc="25" dirty="0">
                <a:latin typeface="Calibri"/>
                <a:cs typeface="Calibri"/>
              </a:rPr>
              <a:t> </a:t>
            </a:r>
            <a:r>
              <a:rPr sz="2000" spc="-25" dirty="0">
                <a:latin typeface="Calibri"/>
                <a:cs typeface="Calibri"/>
              </a:rPr>
              <a:t>not 	</a:t>
            </a:r>
            <a:r>
              <a:rPr sz="2000" dirty="0">
                <a:latin typeface="Calibri"/>
                <a:cs typeface="Calibri"/>
              </a:rPr>
              <a:t>directly</a:t>
            </a:r>
            <a:r>
              <a:rPr sz="2000" spc="15" dirty="0">
                <a:latin typeface="Calibri"/>
                <a:cs typeface="Calibri"/>
              </a:rPr>
              <a:t> </a:t>
            </a:r>
            <a:r>
              <a:rPr sz="2000" dirty="0">
                <a:latin typeface="Calibri"/>
                <a:cs typeface="Calibri"/>
              </a:rPr>
              <a:t>linked</a:t>
            </a:r>
            <a:r>
              <a:rPr sz="2000" spc="15" dirty="0">
                <a:latin typeface="Calibri"/>
                <a:cs typeface="Calibri"/>
              </a:rPr>
              <a:t> </a:t>
            </a:r>
            <a:r>
              <a:rPr sz="2000" dirty="0">
                <a:latin typeface="Calibri"/>
                <a:cs typeface="Calibri"/>
              </a:rPr>
              <a:t>to</a:t>
            </a:r>
            <a:r>
              <a:rPr sz="2000" spc="15" dirty="0">
                <a:latin typeface="Calibri"/>
                <a:cs typeface="Calibri"/>
              </a:rPr>
              <a:t> </a:t>
            </a:r>
            <a:r>
              <a:rPr sz="2000" dirty="0">
                <a:latin typeface="Calibri"/>
                <a:cs typeface="Calibri"/>
              </a:rPr>
              <a:t>a</a:t>
            </a:r>
            <a:r>
              <a:rPr sz="2000" spc="25" dirty="0">
                <a:latin typeface="Calibri"/>
                <a:cs typeface="Calibri"/>
              </a:rPr>
              <a:t> </a:t>
            </a:r>
            <a:r>
              <a:rPr sz="2000" dirty="0">
                <a:latin typeface="Calibri"/>
                <a:cs typeface="Calibri"/>
              </a:rPr>
              <a:t>specific</a:t>
            </a:r>
            <a:r>
              <a:rPr sz="2000" spc="20" dirty="0">
                <a:latin typeface="Calibri"/>
                <a:cs typeface="Calibri"/>
              </a:rPr>
              <a:t> </a:t>
            </a:r>
            <a:r>
              <a:rPr sz="2000" dirty="0">
                <a:latin typeface="Calibri"/>
                <a:cs typeface="Calibri"/>
              </a:rPr>
              <a:t>project.</a:t>
            </a:r>
            <a:r>
              <a:rPr sz="2000" spc="20" dirty="0">
                <a:latin typeface="Calibri"/>
                <a:cs typeface="Calibri"/>
              </a:rPr>
              <a:t> </a:t>
            </a:r>
            <a:r>
              <a:rPr sz="2000" dirty="0">
                <a:latin typeface="Calibri"/>
                <a:cs typeface="Calibri"/>
              </a:rPr>
              <a:t>These</a:t>
            </a:r>
            <a:r>
              <a:rPr sz="2000" spc="25" dirty="0">
                <a:latin typeface="Calibri"/>
                <a:cs typeface="Calibri"/>
              </a:rPr>
              <a:t> </a:t>
            </a:r>
            <a:r>
              <a:rPr sz="2000" dirty="0">
                <a:latin typeface="Calibri"/>
                <a:cs typeface="Calibri"/>
              </a:rPr>
              <a:t>costs</a:t>
            </a:r>
            <a:r>
              <a:rPr sz="2000" spc="25" dirty="0">
                <a:latin typeface="Calibri"/>
                <a:cs typeface="Calibri"/>
              </a:rPr>
              <a:t> </a:t>
            </a:r>
            <a:r>
              <a:rPr sz="2000" dirty="0">
                <a:latin typeface="Calibri"/>
                <a:cs typeface="Calibri"/>
              </a:rPr>
              <a:t>are</a:t>
            </a:r>
            <a:r>
              <a:rPr sz="2000" spc="25" dirty="0">
                <a:latin typeface="Calibri"/>
                <a:cs typeface="Calibri"/>
              </a:rPr>
              <a:t> </a:t>
            </a:r>
            <a:r>
              <a:rPr sz="2000" dirty="0">
                <a:latin typeface="Calibri"/>
                <a:cs typeface="Calibri"/>
              </a:rPr>
              <a:t>carried</a:t>
            </a:r>
            <a:r>
              <a:rPr sz="2000" spc="20" dirty="0">
                <a:latin typeface="Calibri"/>
                <a:cs typeface="Calibri"/>
              </a:rPr>
              <a:t> </a:t>
            </a:r>
            <a:r>
              <a:rPr sz="2000" dirty="0">
                <a:latin typeface="Calibri"/>
                <a:cs typeface="Calibri"/>
              </a:rPr>
              <a:t>for</a:t>
            </a:r>
            <a:r>
              <a:rPr sz="2000" spc="20" dirty="0">
                <a:latin typeface="Calibri"/>
                <a:cs typeface="Calibri"/>
              </a:rPr>
              <a:t> </a:t>
            </a:r>
            <a:r>
              <a:rPr sz="2000" dirty="0">
                <a:latin typeface="Calibri"/>
                <a:cs typeface="Calibri"/>
              </a:rPr>
              <a:t>the</a:t>
            </a:r>
            <a:r>
              <a:rPr sz="2000" spc="25" dirty="0">
                <a:latin typeface="Calibri"/>
                <a:cs typeface="Calibri"/>
              </a:rPr>
              <a:t> </a:t>
            </a:r>
            <a:r>
              <a:rPr sz="2000" dirty="0">
                <a:latin typeface="Calibri"/>
                <a:cs typeface="Calibri"/>
              </a:rPr>
              <a:t>duration</a:t>
            </a:r>
            <a:r>
              <a:rPr sz="2000" spc="15" dirty="0">
                <a:latin typeface="Calibri"/>
                <a:cs typeface="Calibri"/>
              </a:rPr>
              <a:t> </a:t>
            </a:r>
            <a:r>
              <a:rPr sz="2000" dirty="0">
                <a:latin typeface="Calibri"/>
                <a:cs typeface="Calibri"/>
              </a:rPr>
              <a:t>of</a:t>
            </a:r>
            <a:r>
              <a:rPr sz="2000" spc="25" dirty="0">
                <a:latin typeface="Calibri"/>
                <a:cs typeface="Calibri"/>
              </a:rPr>
              <a:t> </a:t>
            </a:r>
            <a:r>
              <a:rPr sz="2000" dirty="0">
                <a:latin typeface="Calibri"/>
                <a:cs typeface="Calibri"/>
              </a:rPr>
              <a:t>the</a:t>
            </a:r>
            <a:r>
              <a:rPr sz="2000" spc="25" dirty="0">
                <a:latin typeface="Calibri"/>
                <a:cs typeface="Calibri"/>
              </a:rPr>
              <a:t> </a:t>
            </a:r>
            <a:r>
              <a:rPr sz="2000" dirty="0">
                <a:latin typeface="Calibri"/>
                <a:cs typeface="Calibri"/>
              </a:rPr>
              <a:t>project.</a:t>
            </a:r>
            <a:r>
              <a:rPr sz="2000" spc="15" dirty="0">
                <a:latin typeface="Calibri"/>
                <a:cs typeface="Calibri"/>
              </a:rPr>
              <a:t> </a:t>
            </a:r>
            <a:r>
              <a:rPr sz="2000" spc="-10" dirty="0">
                <a:latin typeface="Calibri"/>
                <a:cs typeface="Calibri"/>
              </a:rPr>
              <a:t>Allocation 	</a:t>
            </a:r>
            <a:r>
              <a:rPr sz="2000" dirty="0">
                <a:latin typeface="Calibri"/>
                <a:cs typeface="Calibri"/>
              </a:rPr>
              <a:t>of</a:t>
            </a:r>
            <a:r>
              <a:rPr sz="2000" spc="15" dirty="0">
                <a:latin typeface="Calibri"/>
                <a:cs typeface="Calibri"/>
              </a:rPr>
              <a:t> </a:t>
            </a:r>
            <a:r>
              <a:rPr sz="2000" dirty="0">
                <a:latin typeface="Calibri"/>
                <a:cs typeface="Calibri"/>
              </a:rPr>
              <a:t>G&amp;A</a:t>
            </a:r>
            <a:r>
              <a:rPr sz="2000" spc="20" dirty="0">
                <a:latin typeface="Calibri"/>
                <a:cs typeface="Calibri"/>
              </a:rPr>
              <a:t> </a:t>
            </a:r>
            <a:r>
              <a:rPr sz="2000" dirty="0">
                <a:latin typeface="Calibri"/>
                <a:cs typeface="Calibri"/>
              </a:rPr>
              <a:t>costs</a:t>
            </a:r>
            <a:r>
              <a:rPr sz="2000" spc="20" dirty="0">
                <a:latin typeface="Calibri"/>
                <a:cs typeface="Calibri"/>
              </a:rPr>
              <a:t> </a:t>
            </a:r>
            <a:r>
              <a:rPr sz="2000" dirty="0">
                <a:latin typeface="Calibri"/>
                <a:cs typeface="Calibri"/>
              </a:rPr>
              <a:t>varies</a:t>
            </a:r>
            <a:r>
              <a:rPr sz="2000" spc="20" dirty="0">
                <a:latin typeface="Calibri"/>
                <a:cs typeface="Calibri"/>
              </a:rPr>
              <a:t> </a:t>
            </a:r>
            <a:r>
              <a:rPr sz="2000" dirty="0">
                <a:latin typeface="Calibri"/>
                <a:cs typeface="Calibri"/>
              </a:rPr>
              <a:t>from</a:t>
            </a:r>
            <a:r>
              <a:rPr sz="2000" spc="20" dirty="0">
                <a:latin typeface="Calibri"/>
                <a:cs typeface="Calibri"/>
              </a:rPr>
              <a:t> </a:t>
            </a:r>
            <a:r>
              <a:rPr sz="2000" dirty="0">
                <a:latin typeface="Calibri"/>
                <a:cs typeface="Calibri"/>
              </a:rPr>
              <a:t>organization</a:t>
            </a:r>
            <a:r>
              <a:rPr sz="2000" spc="15" dirty="0">
                <a:latin typeface="Calibri"/>
                <a:cs typeface="Calibri"/>
              </a:rPr>
              <a:t> </a:t>
            </a:r>
            <a:r>
              <a:rPr sz="2000" dirty="0">
                <a:latin typeface="Calibri"/>
                <a:cs typeface="Calibri"/>
              </a:rPr>
              <a:t>to</a:t>
            </a:r>
            <a:r>
              <a:rPr sz="2000" spc="10" dirty="0">
                <a:latin typeface="Calibri"/>
                <a:cs typeface="Calibri"/>
              </a:rPr>
              <a:t> </a:t>
            </a:r>
            <a:r>
              <a:rPr sz="2000" spc="-10" dirty="0">
                <a:latin typeface="Calibri"/>
                <a:cs typeface="Calibri"/>
              </a:rPr>
              <a:t>organization.</a:t>
            </a:r>
            <a:r>
              <a:rPr sz="2000" spc="15" dirty="0">
                <a:latin typeface="Calibri"/>
                <a:cs typeface="Calibri"/>
              </a:rPr>
              <a:t> </a:t>
            </a:r>
            <a:r>
              <a:rPr sz="2000" spc="-20" dirty="0">
                <a:latin typeface="Calibri"/>
                <a:cs typeface="Calibri"/>
              </a:rPr>
              <a:t>However,</a:t>
            </a:r>
            <a:r>
              <a:rPr sz="2000" spc="15" dirty="0">
                <a:latin typeface="Calibri"/>
                <a:cs typeface="Calibri"/>
              </a:rPr>
              <a:t> </a:t>
            </a:r>
            <a:r>
              <a:rPr sz="2000" dirty="0">
                <a:latin typeface="Calibri"/>
                <a:cs typeface="Calibri"/>
              </a:rPr>
              <a:t>G&amp;A</a:t>
            </a:r>
            <a:r>
              <a:rPr sz="2000" spc="20" dirty="0">
                <a:latin typeface="Calibri"/>
                <a:cs typeface="Calibri"/>
              </a:rPr>
              <a:t> </a:t>
            </a:r>
            <a:r>
              <a:rPr sz="2000" dirty="0">
                <a:latin typeface="Calibri"/>
                <a:cs typeface="Calibri"/>
              </a:rPr>
              <a:t>costs</a:t>
            </a:r>
            <a:r>
              <a:rPr sz="2000" spc="25" dirty="0">
                <a:latin typeface="Calibri"/>
                <a:cs typeface="Calibri"/>
              </a:rPr>
              <a:t> </a:t>
            </a:r>
            <a:r>
              <a:rPr sz="2000" dirty="0">
                <a:latin typeface="Calibri"/>
                <a:cs typeface="Calibri"/>
              </a:rPr>
              <a:t>are</a:t>
            </a:r>
            <a:r>
              <a:rPr sz="2000" spc="15" dirty="0">
                <a:latin typeface="Calibri"/>
                <a:cs typeface="Calibri"/>
              </a:rPr>
              <a:t> </a:t>
            </a:r>
            <a:r>
              <a:rPr sz="2000" dirty="0">
                <a:latin typeface="Calibri"/>
                <a:cs typeface="Calibri"/>
              </a:rPr>
              <a:t>usually</a:t>
            </a:r>
            <a:r>
              <a:rPr sz="2000" spc="10" dirty="0">
                <a:latin typeface="Calibri"/>
                <a:cs typeface="Calibri"/>
              </a:rPr>
              <a:t> </a:t>
            </a:r>
            <a:r>
              <a:rPr sz="2000" dirty="0">
                <a:latin typeface="Calibri"/>
                <a:cs typeface="Calibri"/>
              </a:rPr>
              <a:t>allocated</a:t>
            </a:r>
            <a:r>
              <a:rPr sz="2000" spc="10" dirty="0">
                <a:latin typeface="Calibri"/>
                <a:cs typeface="Calibri"/>
              </a:rPr>
              <a:t> </a:t>
            </a:r>
            <a:r>
              <a:rPr sz="2000" dirty="0">
                <a:latin typeface="Calibri"/>
                <a:cs typeface="Calibri"/>
              </a:rPr>
              <a:t>as</a:t>
            </a:r>
            <a:r>
              <a:rPr sz="2000" spc="20" dirty="0">
                <a:latin typeface="Calibri"/>
                <a:cs typeface="Calibri"/>
              </a:rPr>
              <a:t> </a:t>
            </a:r>
            <a:r>
              <a:rPr sz="2000" spc="-50" dirty="0">
                <a:latin typeface="Calibri"/>
                <a:cs typeface="Calibri"/>
              </a:rPr>
              <a:t>a 	</a:t>
            </a:r>
            <a:r>
              <a:rPr sz="2000" dirty="0">
                <a:latin typeface="Calibri"/>
                <a:cs typeface="Calibri"/>
              </a:rPr>
              <a:t>percent</a:t>
            </a:r>
            <a:r>
              <a:rPr sz="2000" spc="30" dirty="0">
                <a:latin typeface="Calibri"/>
                <a:cs typeface="Calibri"/>
              </a:rPr>
              <a:t> </a:t>
            </a:r>
            <a:r>
              <a:rPr sz="2000" dirty="0">
                <a:latin typeface="Calibri"/>
                <a:cs typeface="Calibri"/>
              </a:rPr>
              <a:t>of</a:t>
            </a:r>
            <a:r>
              <a:rPr sz="2000" spc="35" dirty="0">
                <a:latin typeface="Calibri"/>
                <a:cs typeface="Calibri"/>
              </a:rPr>
              <a:t> </a:t>
            </a:r>
            <a:r>
              <a:rPr sz="2000" dirty="0">
                <a:latin typeface="Calibri"/>
                <a:cs typeface="Calibri"/>
              </a:rPr>
              <a:t>total</a:t>
            </a:r>
            <a:r>
              <a:rPr sz="2000" spc="40" dirty="0">
                <a:latin typeface="Calibri"/>
                <a:cs typeface="Calibri"/>
              </a:rPr>
              <a:t> </a:t>
            </a:r>
            <a:r>
              <a:rPr sz="2000" dirty="0">
                <a:latin typeface="Calibri"/>
                <a:cs typeface="Calibri"/>
              </a:rPr>
              <a:t>direct</a:t>
            </a:r>
            <a:r>
              <a:rPr sz="2000" spc="40" dirty="0">
                <a:latin typeface="Calibri"/>
                <a:cs typeface="Calibri"/>
              </a:rPr>
              <a:t> </a:t>
            </a:r>
            <a:r>
              <a:rPr sz="2000" dirty="0">
                <a:latin typeface="Calibri"/>
                <a:cs typeface="Calibri"/>
              </a:rPr>
              <a:t>cost,</a:t>
            </a:r>
            <a:r>
              <a:rPr sz="2000" spc="35" dirty="0">
                <a:latin typeface="Calibri"/>
                <a:cs typeface="Calibri"/>
              </a:rPr>
              <a:t> </a:t>
            </a:r>
            <a:r>
              <a:rPr sz="2000" dirty="0">
                <a:latin typeface="Calibri"/>
                <a:cs typeface="Calibri"/>
              </a:rPr>
              <a:t>or</a:t>
            </a:r>
            <a:r>
              <a:rPr sz="2000" spc="35" dirty="0">
                <a:latin typeface="Calibri"/>
                <a:cs typeface="Calibri"/>
              </a:rPr>
              <a:t> </a:t>
            </a:r>
            <a:r>
              <a:rPr sz="2000" dirty="0">
                <a:latin typeface="Calibri"/>
                <a:cs typeface="Calibri"/>
              </a:rPr>
              <a:t>a</a:t>
            </a:r>
            <a:r>
              <a:rPr sz="2000" spc="40" dirty="0">
                <a:latin typeface="Calibri"/>
                <a:cs typeface="Calibri"/>
              </a:rPr>
              <a:t> </a:t>
            </a:r>
            <a:r>
              <a:rPr sz="2000" dirty="0">
                <a:latin typeface="Calibri"/>
                <a:cs typeface="Calibri"/>
              </a:rPr>
              <a:t>percent</a:t>
            </a:r>
            <a:r>
              <a:rPr sz="2000" spc="35" dirty="0">
                <a:latin typeface="Calibri"/>
                <a:cs typeface="Calibri"/>
              </a:rPr>
              <a:t> </a:t>
            </a:r>
            <a:r>
              <a:rPr sz="2000" dirty="0">
                <a:latin typeface="Calibri"/>
                <a:cs typeface="Calibri"/>
              </a:rPr>
              <a:t>of</a:t>
            </a:r>
            <a:r>
              <a:rPr sz="2000" spc="35" dirty="0">
                <a:latin typeface="Calibri"/>
                <a:cs typeface="Calibri"/>
              </a:rPr>
              <a:t> </a:t>
            </a:r>
            <a:r>
              <a:rPr sz="2000" dirty="0">
                <a:latin typeface="Calibri"/>
                <a:cs typeface="Calibri"/>
              </a:rPr>
              <a:t>the</a:t>
            </a:r>
            <a:r>
              <a:rPr sz="2000" spc="35" dirty="0">
                <a:latin typeface="Calibri"/>
                <a:cs typeface="Calibri"/>
              </a:rPr>
              <a:t> </a:t>
            </a:r>
            <a:r>
              <a:rPr sz="2000" dirty="0">
                <a:latin typeface="Calibri"/>
                <a:cs typeface="Calibri"/>
              </a:rPr>
              <a:t>total</a:t>
            </a:r>
            <a:r>
              <a:rPr sz="2000" spc="35" dirty="0">
                <a:latin typeface="Calibri"/>
                <a:cs typeface="Calibri"/>
              </a:rPr>
              <a:t> </a:t>
            </a:r>
            <a:r>
              <a:rPr sz="2000" dirty="0">
                <a:latin typeface="Calibri"/>
                <a:cs typeface="Calibri"/>
              </a:rPr>
              <a:t>of</a:t>
            </a:r>
            <a:r>
              <a:rPr sz="2000" spc="35" dirty="0">
                <a:latin typeface="Calibri"/>
                <a:cs typeface="Calibri"/>
              </a:rPr>
              <a:t> </a:t>
            </a:r>
            <a:r>
              <a:rPr sz="2000" dirty="0">
                <a:latin typeface="Calibri"/>
                <a:cs typeface="Calibri"/>
              </a:rPr>
              <a:t>a</a:t>
            </a:r>
            <a:r>
              <a:rPr sz="2000" spc="40" dirty="0">
                <a:latin typeface="Calibri"/>
                <a:cs typeface="Calibri"/>
              </a:rPr>
              <a:t> </a:t>
            </a:r>
            <a:r>
              <a:rPr sz="2000" dirty="0">
                <a:latin typeface="Calibri"/>
                <a:cs typeface="Calibri"/>
              </a:rPr>
              <a:t>specific</a:t>
            </a:r>
            <a:r>
              <a:rPr sz="2000" spc="35" dirty="0">
                <a:latin typeface="Calibri"/>
                <a:cs typeface="Calibri"/>
              </a:rPr>
              <a:t> </a:t>
            </a:r>
            <a:r>
              <a:rPr sz="2000" dirty="0">
                <a:latin typeface="Calibri"/>
                <a:cs typeface="Calibri"/>
              </a:rPr>
              <a:t>direct</a:t>
            </a:r>
            <a:r>
              <a:rPr sz="2000" spc="40" dirty="0">
                <a:latin typeface="Calibri"/>
                <a:cs typeface="Calibri"/>
              </a:rPr>
              <a:t> </a:t>
            </a:r>
            <a:r>
              <a:rPr sz="2000" dirty="0">
                <a:latin typeface="Calibri"/>
                <a:cs typeface="Calibri"/>
              </a:rPr>
              <a:t>cost</a:t>
            </a:r>
            <a:r>
              <a:rPr sz="2000" spc="40" dirty="0">
                <a:latin typeface="Calibri"/>
                <a:cs typeface="Calibri"/>
              </a:rPr>
              <a:t> </a:t>
            </a:r>
            <a:r>
              <a:rPr sz="2000" dirty="0">
                <a:latin typeface="Calibri"/>
                <a:cs typeface="Calibri"/>
              </a:rPr>
              <a:t>such</a:t>
            </a:r>
            <a:r>
              <a:rPr sz="2000" spc="30" dirty="0">
                <a:latin typeface="Calibri"/>
                <a:cs typeface="Calibri"/>
              </a:rPr>
              <a:t> </a:t>
            </a:r>
            <a:r>
              <a:rPr sz="2000" dirty="0">
                <a:latin typeface="Calibri"/>
                <a:cs typeface="Calibri"/>
              </a:rPr>
              <a:t>as</a:t>
            </a:r>
            <a:r>
              <a:rPr sz="2000" spc="40" dirty="0">
                <a:latin typeface="Calibri"/>
                <a:cs typeface="Calibri"/>
              </a:rPr>
              <a:t> </a:t>
            </a:r>
            <a:r>
              <a:rPr sz="2000" spc="-10" dirty="0">
                <a:latin typeface="Calibri"/>
                <a:cs typeface="Calibri"/>
              </a:rPr>
              <a:t>labor,</a:t>
            </a:r>
            <a:r>
              <a:rPr sz="2000" spc="35" dirty="0">
                <a:latin typeface="Calibri"/>
                <a:cs typeface="Calibri"/>
              </a:rPr>
              <a:t> </a:t>
            </a:r>
            <a:r>
              <a:rPr sz="2000" spc="-10" dirty="0">
                <a:latin typeface="Calibri"/>
                <a:cs typeface="Calibri"/>
              </a:rPr>
              <a:t>materials, 	</a:t>
            </a:r>
            <a:r>
              <a:rPr sz="2000" dirty="0">
                <a:latin typeface="Calibri"/>
                <a:cs typeface="Calibri"/>
              </a:rPr>
              <a:t>or</a:t>
            </a:r>
            <a:r>
              <a:rPr sz="2000" spc="-20" dirty="0">
                <a:latin typeface="Calibri"/>
                <a:cs typeface="Calibri"/>
              </a:rPr>
              <a:t> </a:t>
            </a:r>
            <a:r>
              <a:rPr sz="2000" spc="-10" dirty="0">
                <a:latin typeface="Calibri"/>
                <a:cs typeface="Calibri"/>
              </a:rPr>
              <a:t>equipment.</a:t>
            </a:r>
            <a:endParaRPr sz="2000" dirty="0">
              <a:latin typeface="Calibri"/>
              <a:cs typeface="Calibri"/>
            </a:endParaRPr>
          </a:p>
        </p:txBody>
      </p:sp>
      <p:pic>
        <p:nvPicPr>
          <p:cNvPr id="3" name="object 3"/>
          <p:cNvPicPr/>
          <p:nvPr/>
        </p:nvPicPr>
        <p:blipFill>
          <a:blip r:embed="rId3" cstate="print"/>
          <a:stretch>
            <a:fillRect/>
          </a:stretch>
        </p:blipFill>
        <p:spPr>
          <a:xfrm>
            <a:off x="3929621" y="4853856"/>
            <a:ext cx="4406898" cy="2004143"/>
          </a:xfrm>
          <a:prstGeom prst="rect">
            <a:avLst/>
          </a:prstGeom>
        </p:spPr>
      </p:pic>
      <p:sp>
        <p:nvSpPr>
          <p:cNvPr id="4" name="object 4"/>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95" dirty="0">
                <a:solidFill>
                  <a:srgbClr val="FF0000"/>
                </a:solidFill>
              </a:rPr>
              <a:t>Types of Costs </a:t>
            </a:r>
            <a:r>
              <a:rPr sz="1950" spc="-10" dirty="0"/>
              <a:t>(2/2)</a:t>
            </a:r>
            <a:endParaRPr sz="1950" dirty="0"/>
          </a:p>
        </p:txBody>
      </p:sp>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20</a:t>
            </a:fld>
            <a:endParaRPr spc="-25" dirty="0"/>
          </a:p>
        </p:txBody>
      </p:sp>
      <p:pic>
        <p:nvPicPr>
          <p:cNvPr id="6" name="Picture 5">
            <a:extLst>
              <a:ext uri="{FF2B5EF4-FFF2-40B4-BE49-F238E27FC236}">
                <a16:creationId xmlns:a16="http://schemas.microsoft.com/office/drawing/2014/main" id="{9DF30764-15B8-4AA2-56CB-F24A065B4A9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95" dirty="0">
                <a:solidFill>
                  <a:srgbClr val="FF0000"/>
                </a:solidFill>
              </a:rPr>
              <a:t>Refining Estimates</a:t>
            </a:r>
          </a:p>
        </p:txBody>
      </p:sp>
      <p:sp>
        <p:nvSpPr>
          <p:cNvPr id="3" name="object 3"/>
          <p:cNvSpPr txBox="1"/>
          <p:nvPr/>
        </p:nvSpPr>
        <p:spPr>
          <a:xfrm>
            <a:off x="916939" y="1565147"/>
            <a:ext cx="10358120" cy="4436110"/>
          </a:xfrm>
          <a:prstGeom prst="rect">
            <a:avLst/>
          </a:prstGeom>
        </p:spPr>
        <p:txBody>
          <a:bodyPr vert="horz" wrap="square" lIns="0" tIns="90805" rIns="0" bIns="0" rtlCol="0">
            <a:spAutoFit/>
          </a:bodyPr>
          <a:lstStyle/>
          <a:p>
            <a:pPr marL="241300" marR="5080" indent="-228600" algn="just">
              <a:lnSpc>
                <a:spcPct val="80200"/>
              </a:lnSpc>
              <a:spcBef>
                <a:spcPts val="715"/>
              </a:spcBef>
              <a:buFont typeface="Arial MT"/>
              <a:buChar char="•"/>
              <a:tabLst>
                <a:tab pos="241300" algn="l"/>
              </a:tabLst>
            </a:pPr>
            <a:r>
              <a:rPr sz="2600" dirty="0">
                <a:latin typeface="Calibri"/>
                <a:cs typeface="Calibri"/>
              </a:rPr>
              <a:t>In</a:t>
            </a:r>
            <a:r>
              <a:rPr sz="2600" spc="40" dirty="0">
                <a:latin typeface="Calibri"/>
                <a:cs typeface="Calibri"/>
              </a:rPr>
              <a:t>  </a:t>
            </a:r>
            <a:r>
              <a:rPr sz="2600" dirty="0">
                <a:latin typeface="Calibri"/>
                <a:cs typeface="Calibri"/>
              </a:rPr>
              <a:t>order</a:t>
            </a:r>
            <a:r>
              <a:rPr sz="2600" spc="60" dirty="0">
                <a:latin typeface="Calibri"/>
                <a:cs typeface="Calibri"/>
              </a:rPr>
              <a:t>  </a:t>
            </a:r>
            <a:r>
              <a:rPr sz="2600" dirty="0">
                <a:latin typeface="Calibri"/>
                <a:cs typeface="Calibri"/>
              </a:rPr>
              <a:t>to</a:t>
            </a:r>
            <a:r>
              <a:rPr sz="2600" spc="55" dirty="0">
                <a:latin typeface="Calibri"/>
                <a:cs typeface="Calibri"/>
              </a:rPr>
              <a:t>  </a:t>
            </a:r>
            <a:r>
              <a:rPr sz="2600" dirty="0">
                <a:latin typeface="Calibri"/>
                <a:cs typeface="Calibri"/>
              </a:rPr>
              <a:t>compensate</a:t>
            </a:r>
            <a:r>
              <a:rPr sz="2600" spc="55" dirty="0">
                <a:latin typeface="Calibri"/>
                <a:cs typeface="Calibri"/>
              </a:rPr>
              <a:t>  </a:t>
            </a:r>
            <a:r>
              <a:rPr sz="2600" dirty="0">
                <a:latin typeface="Calibri"/>
                <a:cs typeface="Calibri"/>
              </a:rPr>
              <a:t>for</a:t>
            </a:r>
            <a:r>
              <a:rPr sz="2600" spc="55" dirty="0">
                <a:latin typeface="Calibri"/>
                <a:cs typeface="Calibri"/>
              </a:rPr>
              <a:t>  </a:t>
            </a:r>
            <a:r>
              <a:rPr sz="2600" dirty="0">
                <a:latin typeface="Calibri"/>
                <a:cs typeface="Calibri"/>
              </a:rPr>
              <a:t>the</a:t>
            </a:r>
            <a:r>
              <a:rPr sz="2600" spc="55" dirty="0">
                <a:latin typeface="Calibri"/>
                <a:cs typeface="Calibri"/>
              </a:rPr>
              <a:t>  </a:t>
            </a:r>
            <a:r>
              <a:rPr sz="2600" dirty="0">
                <a:latin typeface="Calibri"/>
                <a:cs typeface="Calibri"/>
              </a:rPr>
              <a:t>problem</a:t>
            </a:r>
            <a:r>
              <a:rPr sz="2600" spc="50" dirty="0">
                <a:latin typeface="Calibri"/>
                <a:cs typeface="Calibri"/>
              </a:rPr>
              <a:t>  </a:t>
            </a:r>
            <a:r>
              <a:rPr sz="2600" dirty="0">
                <a:latin typeface="Calibri"/>
                <a:cs typeface="Calibri"/>
              </a:rPr>
              <a:t>of</a:t>
            </a:r>
            <a:r>
              <a:rPr sz="2600" spc="50" dirty="0">
                <a:latin typeface="Calibri"/>
                <a:cs typeface="Calibri"/>
              </a:rPr>
              <a:t>  </a:t>
            </a:r>
            <a:r>
              <a:rPr sz="2600" dirty="0">
                <a:latin typeface="Calibri"/>
                <a:cs typeface="Calibri"/>
              </a:rPr>
              <a:t>actual</a:t>
            </a:r>
            <a:r>
              <a:rPr sz="2600" spc="55" dirty="0">
                <a:latin typeface="Calibri"/>
                <a:cs typeface="Calibri"/>
              </a:rPr>
              <a:t>  </a:t>
            </a:r>
            <a:r>
              <a:rPr sz="2600" dirty="0">
                <a:latin typeface="Calibri"/>
                <a:cs typeface="Calibri"/>
              </a:rPr>
              <a:t>cost</a:t>
            </a:r>
            <a:r>
              <a:rPr sz="2600" spc="60" dirty="0">
                <a:latin typeface="Calibri"/>
                <a:cs typeface="Calibri"/>
              </a:rPr>
              <a:t>  </a:t>
            </a:r>
            <a:r>
              <a:rPr sz="2600" dirty="0">
                <a:latin typeface="Calibri"/>
                <a:cs typeface="Calibri"/>
              </a:rPr>
              <a:t>and</a:t>
            </a:r>
            <a:r>
              <a:rPr sz="2600" spc="55" dirty="0">
                <a:latin typeface="Calibri"/>
                <a:cs typeface="Calibri"/>
              </a:rPr>
              <a:t>  </a:t>
            </a:r>
            <a:r>
              <a:rPr sz="2600" spc="-10" dirty="0">
                <a:latin typeface="Calibri"/>
                <a:cs typeface="Calibri"/>
              </a:rPr>
              <a:t>schedule </a:t>
            </a:r>
            <a:r>
              <a:rPr sz="2600" dirty="0">
                <a:latin typeface="Calibri"/>
                <a:cs typeface="Calibri"/>
              </a:rPr>
              <a:t>exceeding</a:t>
            </a:r>
            <a:r>
              <a:rPr sz="2600" spc="375" dirty="0">
                <a:latin typeface="Calibri"/>
                <a:cs typeface="Calibri"/>
              </a:rPr>
              <a:t> </a:t>
            </a:r>
            <a:r>
              <a:rPr sz="2600" dirty="0">
                <a:latin typeface="Calibri"/>
                <a:cs typeface="Calibri"/>
              </a:rPr>
              <a:t>estimates,</a:t>
            </a:r>
            <a:r>
              <a:rPr sz="2600" spc="380" dirty="0">
                <a:latin typeface="Calibri"/>
                <a:cs typeface="Calibri"/>
              </a:rPr>
              <a:t> </a:t>
            </a:r>
            <a:r>
              <a:rPr sz="2600" dirty="0">
                <a:latin typeface="Calibri"/>
                <a:cs typeface="Calibri"/>
              </a:rPr>
              <a:t>some</a:t>
            </a:r>
            <a:r>
              <a:rPr sz="2600" spc="370" dirty="0">
                <a:latin typeface="Calibri"/>
                <a:cs typeface="Calibri"/>
              </a:rPr>
              <a:t> </a:t>
            </a:r>
            <a:r>
              <a:rPr sz="2600" dirty="0">
                <a:latin typeface="Calibri"/>
                <a:cs typeface="Calibri"/>
              </a:rPr>
              <a:t>project</a:t>
            </a:r>
            <a:r>
              <a:rPr sz="2600" spc="380" dirty="0">
                <a:latin typeface="Calibri"/>
                <a:cs typeface="Calibri"/>
              </a:rPr>
              <a:t> </a:t>
            </a:r>
            <a:r>
              <a:rPr sz="2600" dirty="0">
                <a:latin typeface="Calibri"/>
                <a:cs typeface="Calibri"/>
              </a:rPr>
              <a:t>managers</a:t>
            </a:r>
            <a:r>
              <a:rPr sz="2600" spc="370" dirty="0">
                <a:latin typeface="Calibri"/>
                <a:cs typeface="Calibri"/>
              </a:rPr>
              <a:t> </a:t>
            </a:r>
            <a:r>
              <a:rPr sz="2600" dirty="0">
                <a:latin typeface="Calibri"/>
                <a:cs typeface="Calibri"/>
              </a:rPr>
              <a:t>adjust</a:t>
            </a:r>
            <a:r>
              <a:rPr sz="2600" spc="380" dirty="0">
                <a:latin typeface="Calibri"/>
                <a:cs typeface="Calibri"/>
              </a:rPr>
              <a:t> </a:t>
            </a:r>
            <a:r>
              <a:rPr sz="2600" dirty="0">
                <a:latin typeface="Calibri"/>
                <a:cs typeface="Calibri"/>
              </a:rPr>
              <a:t>total</a:t>
            </a:r>
            <a:r>
              <a:rPr sz="2600" spc="380" dirty="0">
                <a:latin typeface="Calibri"/>
                <a:cs typeface="Calibri"/>
              </a:rPr>
              <a:t> </a:t>
            </a:r>
            <a:r>
              <a:rPr sz="2600" dirty="0">
                <a:latin typeface="Calibri"/>
                <a:cs typeface="Calibri"/>
              </a:rPr>
              <a:t>costs</a:t>
            </a:r>
            <a:r>
              <a:rPr sz="2600" spc="375" dirty="0">
                <a:latin typeface="Calibri"/>
                <a:cs typeface="Calibri"/>
              </a:rPr>
              <a:t> </a:t>
            </a:r>
            <a:r>
              <a:rPr sz="2600" dirty="0">
                <a:latin typeface="Calibri"/>
                <a:cs typeface="Calibri"/>
              </a:rPr>
              <a:t>by</a:t>
            </a:r>
            <a:r>
              <a:rPr sz="2600" spc="375" dirty="0">
                <a:latin typeface="Calibri"/>
                <a:cs typeface="Calibri"/>
              </a:rPr>
              <a:t> </a:t>
            </a:r>
            <a:r>
              <a:rPr sz="2600" spc="-20" dirty="0">
                <a:latin typeface="Calibri"/>
                <a:cs typeface="Calibri"/>
              </a:rPr>
              <a:t>some </a:t>
            </a:r>
            <a:r>
              <a:rPr sz="2600" dirty="0">
                <a:latin typeface="Calibri"/>
                <a:cs typeface="Calibri"/>
              </a:rPr>
              <a:t>multiplier</a:t>
            </a:r>
            <a:r>
              <a:rPr sz="2600" spc="220" dirty="0">
                <a:latin typeface="Calibri"/>
                <a:cs typeface="Calibri"/>
              </a:rPr>
              <a:t> </a:t>
            </a:r>
            <a:r>
              <a:rPr sz="2600" dirty="0">
                <a:latin typeface="Calibri"/>
                <a:cs typeface="Calibri"/>
              </a:rPr>
              <a:t>(ex.:</a:t>
            </a:r>
            <a:r>
              <a:rPr sz="2600" spc="215" dirty="0">
                <a:latin typeface="Calibri"/>
                <a:cs typeface="Calibri"/>
              </a:rPr>
              <a:t> </a:t>
            </a:r>
            <a:r>
              <a:rPr sz="2600" dirty="0">
                <a:latin typeface="Calibri"/>
                <a:cs typeface="Calibri"/>
              </a:rPr>
              <a:t>20%).</a:t>
            </a:r>
            <a:r>
              <a:rPr sz="2600" spc="220" dirty="0">
                <a:latin typeface="Calibri"/>
                <a:cs typeface="Calibri"/>
              </a:rPr>
              <a:t> </a:t>
            </a:r>
            <a:r>
              <a:rPr sz="2600" dirty="0">
                <a:latin typeface="Calibri"/>
                <a:cs typeface="Calibri"/>
              </a:rPr>
              <a:t>The</a:t>
            </a:r>
            <a:r>
              <a:rPr sz="2600" spc="210" dirty="0">
                <a:latin typeface="Calibri"/>
                <a:cs typeface="Calibri"/>
              </a:rPr>
              <a:t> </a:t>
            </a:r>
            <a:r>
              <a:rPr sz="2600" dirty="0">
                <a:latin typeface="Calibri"/>
                <a:cs typeface="Calibri"/>
              </a:rPr>
              <a:t>need</a:t>
            </a:r>
            <a:r>
              <a:rPr sz="2600" spc="210" dirty="0">
                <a:latin typeface="Calibri"/>
                <a:cs typeface="Calibri"/>
              </a:rPr>
              <a:t> </a:t>
            </a:r>
            <a:r>
              <a:rPr sz="2600" dirty="0">
                <a:latin typeface="Calibri"/>
                <a:cs typeface="Calibri"/>
              </a:rPr>
              <a:t>for</a:t>
            </a:r>
            <a:r>
              <a:rPr sz="2600" spc="220" dirty="0">
                <a:latin typeface="Calibri"/>
                <a:cs typeface="Calibri"/>
              </a:rPr>
              <a:t> </a:t>
            </a:r>
            <a:r>
              <a:rPr sz="2600" dirty="0">
                <a:latin typeface="Calibri"/>
                <a:cs typeface="Calibri"/>
              </a:rPr>
              <a:t>adjusting</a:t>
            </a:r>
            <a:r>
              <a:rPr sz="2600" spc="225" dirty="0">
                <a:latin typeface="Calibri"/>
                <a:cs typeface="Calibri"/>
              </a:rPr>
              <a:t> </a:t>
            </a:r>
            <a:r>
              <a:rPr sz="2600" dirty="0">
                <a:latin typeface="Calibri"/>
                <a:cs typeface="Calibri"/>
              </a:rPr>
              <a:t>original</a:t>
            </a:r>
            <a:r>
              <a:rPr sz="2600" spc="215" dirty="0">
                <a:latin typeface="Calibri"/>
                <a:cs typeface="Calibri"/>
              </a:rPr>
              <a:t> </a:t>
            </a:r>
            <a:r>
              <a:rPr sz="2600" dirty="0">
                <a:latin typeface="Calibri"/>
                <a:cs typeface="Calibri"/>
              </a:rPr>
              <a:t>estimates</a:t>
            </a:r>
            <a:r>
              <a:rPr sz="2600" spc="215" dirty="0">
                <a:latin typeface="Calibri"/>
                <a:cs typeface="Calibri"/>
              </a:rPr>
              <a:t> </a:t>
            </a:r>
            <a:r>
              <a:rPr sz="2600" dirty="0">
                <a:latin typeface="Calibri"/>
                <a:cs typeface="Calibri"/>
              </a:rPr>
              <a:t>by</a:t>
            </a:r>
            <a:r>
              <a:rPr sz="2600" spc="215" dirty="0">
                <a:latin typeface="Calibri"/>
                <a:cs typeface="Calibri"/>
              </a:rPr>
              <a:t> </a:t>
            </a:r>
            <a:r>
              <a:rPr sz="2600" dirty="0">
                <a:latin typeface="Calibri"/>
                <a:cs typeface="Calibri"/>
              </a:rPr>
              <a:t>20%</a:t>
            </a:r>
            <a:r>
              <a:rPr sz="2600" spc="220" dirty="0">
                <a:latin typeface="Calibri"/>
                <a:cs typeface="Calibri"/>
              </a:rPr>
              <a:t> </a:t>
            </a:r>
            <a:r>
              <a:rPr sz="2600" spc="-25" dirty="0">
                <a:latin typeface="Calibri"/>
                <a:cs typeface="Calibri"/>
              </a:rPr>
              <a:t>or </a:t>
            </a:r>
            <a:r>
              <a:rPr sz="2600" dirty="0">
                <a:latin typeface="Calibri"/>
                <a:cs typeface="Calibri"/>
              </a:rPr>
              <a:t>even</a:t>
            </a:r>
            <a:r>
              <a:rPr sz="2600" spc="90" dirty="0">
                <a:latin typeface="Calibri"/>
                <a:cs typeface="Calibri"/>
              </a:rPr>
              <a:t>  </a:t>
            </a:r>
            <a:r>
              <a:rPr sz="2600" dirty="0">
                <a:latin typeface="Calibri"/>
                <a:cs typeface="Calibri"/>
              </a:rPr>
              <a:t>100%</a:t>
            </a:r>
            <a:r>
              <a:rPr sz="2600" spc="95" dirty="0">
                <a:latin typeface="Calibri"/>
                <a:cs typeface="Calibri"/>
              </a:rPr>
              <a:t>  </a:t>
            </a:r>
            <a:r>
              <a:rPr sz="2600" dirty="0">
                <a:latin typeface="Calibri"/>
                <a:cs typeface="Calibri"/>
              </a:rPr>
              <a:t>although</a:t>
            </a:r>
            <a:r>
              <a:rPr sz="2600" spc="90" dirty="0">
                <a:latin typeface="Calibri"/>
                <a:cs typeface="Calibri"/>
              </a:rPr>
              <a:t>  </a:t>
            </a:r>
            <a:r>
              <a:rPr sz="2600" dirty="0">
                <a:latin typeface="Calibri"/>
                <a:cs typeface="Calibri"/>
              </a:rPr>
              <a:t>investing</a:t>
            </a:r>
            <a:r>
              <a:rPr sz="2600" spc="95" dirty="0">
                <a:latin typeface="Calibri"/>
                <a:cs typeface="Calibri"/>
              </a:rPr>
              <a:t>  </a:t>
            </a:r>
            <a:r>
              <a:rPr sz="2600" dirty="0">
                <a:latin typeface="Calibri"/>
                <a:cs typeface="Calibri"/>
              </a:rPr>
              <a:t>so</a:t>
            </a:r>
            <a:r>
              <a:rPr sz="2600" spc="100" dirty="0">
                <a:latin typeface="Calibri"/>
                <a:cs typeface="Calibri"/>
              </a:rPr>
              <a:t>  </a:t>
            </a:r>
            <a:r>
              <a:rPr sz="2600" dirty="0">
                <a:latin typeface="Calibri"/>
                <a:cs typeface="Calibri"/>
              </a:rPr>
              <a:t>much</a:t>
            </a:r>
            <a:r>
              <a:rPr sz="2600" spc="90" dirty="0">
                <a:latin typeface="Calibri"/>
                <a:cs typeface="Calibri"/>
              </a:rPr>
              <a:t>  </a:t>
            </a:r>
            <a:r>
              <a:rPr sz="2600" dirty="0">
                <a:latin typeface="Calibri"/>
                <a:cs typeface="Calibri"/>
              </a:rPr>
              <a:t>time</a:t>
            </a:r>
            <a:r>
              <a:rPr sz="2600" spc="85" dirty="0">
                <a:latin typeface="Calibri"/>
                <a:cs typeface="Calibri"/>
              </a:rPr>
              <a:t>  </a:t>
            </a:r>
            <a:r>
              <a:rPr sz="2600" dirty="0">
                <a:latin typeface="Calibri"/>
                <a:cs typeface="Calibri"/>
              </a:rPr>
              <a:t>and</a:t>
            </a:r>
            <a:r>
              <a:rPr sz="2600" spc="95" dirty="0">
                <a:latin typeface="Calibri"/>
                <a:cs typeface="Calibri"/>
              </a:rPr>
              <a:t>  </a:t>
            </a:r>
            <a:r>
              <a:rPr sz="2600" dirty="0">
                <a:latin typeface="Calibri"/>
                <a:cs typeface="Calibri"/>
              </a:rPr>
              <a:t>energy</a:t>
            </a:r>
            <a:r>
              <a:rPr sz="2600" spc="95" dirty="0">
                <a:latin typeface="Calibri"/>
                <a:cs typeface="Calibri"/>
              </a:rPr>
              <a:t>  </a:t>
            </a:r>
            <a:r>
              <a:rPr sz="2600" dirty="0">
                <a:latin typeface="Calibri"/>
                <a:cs typeface="Calibri"/>
              </a:rPr>
              <a:t>on</a:t>
            </a:r>
            <a:r>
              <a:rPr sz="2600" spc="90" dirty="0">
                <a:latin typeface="Calibri"/>
                <a:cs typeface="Calibri"/>
              </a:rPr>
              <a:t>  </a:t>
            </a:r>
            <a:r>
              <a:rPr sz="2600" spc="-10" dirty="0">
                <a:latin typeface="Calibri"/>
                <a:cs typeface="Calibri"/>
              </a:rPr>
              <a:t>detailed estimates</a:t>
            </a:r>
            <a:r>
              <a:rPr sz="2600" spc="-55" dirty="0">
                <a:latin typeface="Calibri"/>
                <a:cs typeface="Calibri"/>
              </a:rPr>
              <a:t> </a:t>
            </a:r>
            <a:r>
              <a:rPr sz="2600" dirty="0">
                <a:latin typeface="Calibri"/>
                <a:cs typeface="Calibri"/>
              </a:rPr>
              <a:t>can</a:t>
            </a:r>
            <a:r>
              <a:rPr sz="2600" spc="-55" dirty="0">
                <a:latin typeface="Calibri"/>
                <a:cs typeface="Calibri"/>
              </a:rPr>
              <a:t> </a:t>
            </a:r>
            <a:r>
              <a:rPr sz="2600" dirty="0">
                <a:latin typeface="Calibri"/>
                <a:cs typeface="Calibri"/>
              </a:rPr>
              <a:t>be</a:t>
            </a:r>
            <a:r>
              <a:rPr sz="2600" spc="-55" dirty="0">
                <a:latin typeface="Calibri"/>
                <a:cs typeface="Calibri"/>
              </a:rPr>
              <a:t> </a:t>
            </a:r>
            <a:r>
              <a:rPr sz="2600" dirty="0">
                <a:latin typeface="Calibri"/>
                <a:cs typeface="Calibri"/>
              </a:rPr>
              <a:t>due</a:t>
            </a:r>
            <a:r>
              <a:rPr sz="2600" spc="-65" dirty="0">
                <a:latin typeface="Calibri"/>
                <a:cs typeface="Calibri"/>
              </a:rPr>
              <a:t> </a:t>
            </a:r>
            <a:r>
              <a:rPr sz="2600" dirty="0">
                <a:latin typeface="Calibri"/>
                <a:cs typeface="Calibri"/>
              </a:rPr>
              <a:t>to</a:t>
            </a:r>
            <a:r>
              <a:rPr sz="2600" spc="-50" dirty="0">
                <a:latin typeface="Calibri"/>
                <a:cs typeface="Calibri"/>
              </a:rPr>
              <a:t> </a:t>
            </a:r>
            <a:r>
              <a:rPr sz="2600" dirty="0">
                <a:latin typeface="Calibri"/>
                <a:cs typeface="Calibri"/>
              </a:rPr>
              <a:t>the</a:t>
            </a:r>
            <a:r>
              <a:rPr sz="2600" spc="-50" dirty="0">
                <a:latin typeface="Calibri"/>
                <a:cs typeface="Calibri"/>
              </a:rPr>
              <a:t> </a:t>
            </a:r>
            <a:r>
              <a:rPr sz="2600" dirty="0">
                <a:latin typeface="Calibri"/>
                <a:cs typeface="Calibri"/>
              </a:rPr>
              <a:t>following</a:t>
            </a:r>
            <a:r>
              <a:rPr sz="2600" spc="-50" dirty="0">
                <a:latin typeface="Calibri"/>
                <a:cs typeface="Calibri"/>
              </a:rPr>
              <a:t> </a:t>
            </a:r>
            <a:r>
              <a:rPr sz="2600" spc="-10" dirty="0">
                <a:latin typeface="Calibri"/>
                <a:cs typeface="Calibri"/>
              </a:rPr>
              <a:t>reasons:</a:t>
            </a:r>
            <a:endParaRPr sz="2600" dirty="0">
              <a:latin typeface="Calibri"/>
              <a:cs typeface="Calibri"/>
            </a:endParaRPr>
          </a:p>
          <a:p>
            <a:pPr marL="634365" lvl="1" indent="-405765">
              <a:lnSpc>
                <a:spcPts val="2610"/>
              </a:lnSpc>
              <a:buAutoNum type="arabicPeriod"/>
              <a:tabLst>
                <a:tab pos="634365" algn="l"/>
              </a:tabLst>
            </a:pPr>
            <a:r>
              <a:rPr sz="2200" spc="-10" dirty="0">
                <a:latin typeface="Calibri"/>
                <a:cs typeface="Calibri"/>
              </a:rPr>
              <a:t>Interaction</a:t>
            </a:r>
            <a:r>
              <a:rPr sz="2200" spc="-45" dirty="0">
                <a:latin typeface="Calibri"/>
                <a:cs typeface="Calibri"/>
              </a:rPr>
              <a:t> </a:t>
            </a:r>
            <a:r>
              <a:rPr sz="2200" dirty="0">
                <a:latin typeface="Calibri"/>
                <a:cs typeface="Calibri"/>
              </a:rPr>
              <a:t>costs</a:t>
            </a:r>
            <a:r>
              <a:rPr sz="2200" spc="-35" dirty="0">
                <a:latin typeface="Calibri"/>
                <a:cs typeface="Calibri"/>
              </a:rPr>
              <a:t> </a:t>
            </a:r>
            <a:r>
              <a:rPr sz="2200" dirty="0">
                <a:latin typeface="Calibri"/>
                <a:cs typeface="Calibri"/>
              </a:rPr>
              <a:t>are</a:t>
            </a:r>
            <a:r>
              <a:rPr sz="2200" spc="-35" dirty="0">
                <a:latin typeface="Calibri"/>
                <a:cs typeface="Calibri"/>
              </a:rPr>
              <a:t> </a:t>
            </a:r>
            <a:r>
              <a:rPr sz="2200" dirty="0">
                <a:latin typeface="Calibri"/>
                <a:cs typeface="Calibri"/>
              </a:rPr>
              <a:t>hidden</a:t>
            </a:r>
            <a:r>
              <a:rPr sz="2200" spc="-55" dirty="0">
                <a:latin typeface="Calibri"/>
                <a:cs typeface="Calibri"/>
              </a:rPr>
              <a:t> </a:t>
            </a:r>
            <a:r>
              <a:rPr sz="2200" dirty="0">
                <a:latin typeface="Calibri"/>
                <a:cs typeface="Calibri"/>
              </a:rPr>
              <a:t>in</a:t>
            </a:r>
            <a:r>
              <a:rPr sz="2200" spc="-45" dirty="0">
                <a:latin typeface="Calibri"/>
                <a:cs typeface="Calibri"/>
              </a:rPr>
              <a:t> </a:t>
            </a:r>
            <a:r>
              <a:rPr sz="2200" spc="-10" dirty="0">
                <a:latin typeface="Calibri"/>
                <a:cs typeface="Calibri"/>
              </a:rPr>
              <a:t>estimates</a:t>
            </a:r>
            <a:endParaRPr sz="2200" dirty="0">
              <a:latin typeface="Calibri"/>
              <a:cs typeface="Calibri"/>
            </a:endParaRPr>
          </a:p>
          <a:p>
            <a:pPr marL="634365" lvl="1" indent="-405765">
              <a:lnSpc>
                <a:spcPts val="2590"/>
              </a:lnSpc>
              <a:buAutoNum type="arabicPeriod"/>
              <a:tabLst>
                <a:tab pos="634365" algn="l"/>
              </a:tabLst>
            </a:pPr>
            <a:r>
              <a:rPr sz="2200" dirty="0">
                <a:solidFill>
                  <a:srgbClr val="C00000"/>
                </a:solidFill>
                <a:latin typeface="Calibri"/>
                <a:cs typeface="Calibri"/>
              </a:rPr>
              <a:t>Normal</a:t>
            </a:r>
            <a:r>
              <a:rPr sz="2200" spc="-55" dirty="0">
                <a:solidFill>
                  <a:srgbClr val="C00000"/>
                </a:solidFill>
                <a:latin typeface="Calibri"/>
                <a:cs typeface="Calibri"/>
              </a:rPr>
              <a:t> </a:t>
            </a:r>
            <a:r>
              <a:rPr sz="2200" dirty="0">
                <a:solidFill>
                  <a:srgbClr val="C00000"/>
                </a:solidFill>
                <a:latin typeface="Calibri"/>
                <a:cs typeface="Calibri"/>
              </a:rPr>
              <a:t>conditions</a:t>
            </a:r>
            <a:r>
              <a:rPr sz="2200" spc="-50" dirty="0">
                <a:solidFill>
                  <a:srgbClr val="C00000"/>
                </a:solidFill>
                <a:latin typeface="Calibri"/>
                <a:cs typeface="Calibri"/>
              </a:rPr>
              <a:t> </a:t>
            </a:r>
            <a:r>
              <a:rPr sz="2200" dirty="0">
                <a:solidFill>
                  <a:srgbClr val="C00000"/>
                </a:solidFill>
                <a:latin typeface="Calibri"/>
                <a:cs typeface="Calibri"/>
              </a:rPr>
              <a:t>do</a:t>
            </a:r>
            <a:r>
              <a:rPr sz="2200" spc="-50" dirty="0">
                <a:solidFill>
                  <a:srgbClr val="C00000"/>
                </a:solidFill>
                <a:latin typeface="Calibri"/>
                <a:cs typeface="Calibri"/>
              </a:rPr>
              <a:t> </a:t>
            </a:r>
            <a:r>
              <a:rPr sz="2200" dirty="0">
                <a:solidFill>
                  <a:srgbClr val="C00000"/>
                </a:solidFill>
                <a:latin typeface="Calibri"/>
                <a:cs typeface="Calibri"/>
              </a:rPr>
              <a:t>not</a:t>
            </a:r>
            <a:r>
              <a:rPr sz="2200" spc="-50" dirty="0">
                <a:solidFill>
                  <a:srgbClr val="C00000"/>
                </a:solidFill>
                <a:latin typeface="Calibri"/>
                <a:cs typeface="Calibri"/>
              </a:rPr>
              <a:t> </a:t>
            </a:r>
            <a:r>
              <a:rPr sz="2200" spc="-10" dirty="0">
                <a:solidFill>
                  <a:srgbClr val="C00000"/>
                </a:solidFill>
                <a:latin typeface="Calibri"/>
                <a:cs typeface="Calibri"/>
              </a:rPr>
              <a:t>apply</a:t>
            </a:r>
            <a:endParaRPr sz="2200" dirty="0">
              <a:latin typeface="Calibri"/>
              <a:cs typeface="Calibri"/>
            </a:endParaRPr>
          </a:p>
          <a:p>
            <a:pPr marL="634365" lvl="1" indent="-405765">
              <a:lnSpc>
                <a:spcPts val="2605"/>
              </a:lnSpc>
              <a:buAutoNum type="arabicPeriod"/>
              <a:tabLst>
                <a:tab pos="634365" algn="l"/>
              </a:tabLst>
            </a:pPr>
            <a:r>
              <a:rPr sz="2200" dirty="0">
                <a:latin typeface="Calibri"/>
                <a:cs typeface="Calibri"/>
              </a:rPr>
              <a:t>Things</a:t>
            </a:r>
            <a:r>
              <a:rPr sz="2200" spc="-40" dirty="0">
                <a:latin typeface="Calibri"/>
                <a:cs typeface="Calibri"/>
              </a:rPr>
              <a:t> </a:t>
            </a:r>
            <a:r>
              <a:rPr sz="2200" dirty="0">
                <a:latin typeface="Calibri"/>
                <a:cs typeface="Calibri"/>
              </a:rPr>
              <a:t>go</a:t>
            </a:r>
            <a:r>
              <a:rPr sz="2200" spc="-30" dirty="0">
                <a:latin typeface="Calibri"/>
                <a:cs typeface="Calibri"/>
              </a:rPr>
              <a:t> </a:t>
            </a:r>
            <a:r>
              <a:rPr sz="2200" dirty="0">
                <a:latin typeface="Calibri"/>
                <a:cs typeface="Calibri"/>
              </a:rPr>
              <a:t>wrong</a:t>
            </a:r>
            <a:r>
              <a:rPr sz="2200" spc="-35" dirty="0">
                <a:latin typeface="Calibri"/>
                <a:cs typeface="Calibri"/>
              </a:rPr>
              <a:t> </a:t>
            </a:r>
            <a:r>
              <a:rPr sz="2200" dirty="0">
                <a:latin typeface="Calibri"/>
                <a:cs typeface="Calibri"/>
              </a:rPr>
              <a:t>on</a:t>
            </a:r>
            <a:r>
              <a:rPr sz="2200" spc="-40" dirty="0">
                <a:latin typeface="Calibri"/>
                <a:cs typeface="Calibri"/>
              </a:rPr>
              <a:t> </a:t>
            </a:r>
            <a:r>
              <a:rPr sz="2200" spc="-10" dirty="0">
                <a:latin typeface="Calibri"/>
                <a:cs typeface="Calibri"/>
              </a:rPr>
              <a:t>projects</a:t>
            </a:r>
            <a:endParaRPr sz="2200" dirty="0">
              <a:latin typeface="Calibri"/>
              <a:cs typeface="Calibri"/>
            </a:endParaRPr>
          </a:p>
          <a:p>
            <a:pPr marL="634365" lvl="1" indent="-405765">
              <a:lnSpc>
                <a:spcPts val="2605"/>
              </a:lnSpc>
              <a:buAutoNum type="arabicPeriod"/>
              <a:tabLst>
                <a:tab pos="634365" algn="l"/>
              </a:tabLst>
            </a:pPr>
            <a:r>
              <a:rPr sz="2200" dirty="0">
                <a:solidFill>
                  <a:srgbClr val="C00000"/>
                </a:solidFill>
                <a:latin typeface="Calibri"/>
                <a:cs typeface="Calibri"/>
              </a:rPr>
              <a:t>Changes</a:t>
            </a:r>
            <a:r>
              <a:rPr sz="2200" spc="-45" dirty="0">
                <a:solidFill>
                  <a:srgbClr val="C00000"/>
                </a:solidFill>
                <a:latin typeface="Calibri"/>
                <a:cs typeface="Calibri"/>
              </a:rPr>
              <a:t> </a:t>
            </a:r>
            <a:r>
              <a:rPr sz="2200" dirty="0">
                <a:solidFill>
                  <a:srgbClr val="C00000"/>
                </a:solidFill>
                <a:latin typeface="Calibri"/>
                <a:cs typeface="Calibri"/>
              </a:rPr>
              <a:t>in</a:t>
            </a:r>
            <a:r>
              <a:rPr sz="2200" spc="-45" dirty="0">
                <a:solidFill>
                  <a:srgbClr val="C00000"/>
                </a:solidFill>
                <a:latin typeface="Calibri"/>
                <a:cs typeface="Calibri"/>
              </a:rPr>
              <a:t> </a:t>
            </a:r>
            <a:r>
              <a:rPr sz="2200" dirty="0">
                <a:solidFill>
                  <a:srgbClr val="C00000"/>
                </a:solidFill>
                <a:latin typeface="Calibri"/>
                <a:cs typeface="Calibri"/>
              </a:rPr>
              <a:t>project</a:t>
            </a:r>
            <a:r>
              <a:rPr sz="2200" spc="-40" dirty="0">
                <a:solidFill>
                  <a:srgbClr val="C00000"/>
                </a:solidFill>
                <a:latin typeface="Calibri"/>
                <a:cs typeface="Calibri"/>
              </a:rPr>
              <a:t> </a:t>
            </a:r>
            <a:r>
              <a:rPr sz="2200" dirty="0">
                <a:solidFill>
                  <a:srgbClr val="C00000"/>
                </a:solidFill>
                <a:latin typeface="Calibri"/>
                <a:cs typeface="Calibri"/>
              </a:rPr>
              <a:t>scope</a:t>
            </a:r>
            <a:r>
              <a:rPr sz="2200" spc="-35" dirty="0">
                <a:solidFill>
                  <a:srgbClr val="C00000"/>
                </a:solidFill>
                <a:latin typeface="Calibri"/>
                <a:cs typeface="Calibri"/>
              </a:rPr>
              <a:t> </a:t>
            </a:r>
            <a:r>
              <a:rPr sz="2200" dirty="0">
                <a:solidFill>
                  <a:srgbClr val="C00000"/>
                </a:solidFill>
                <a:latin typeface="Calibri"/>
                <a:cs typeface="Calibri"/>
              </a:rPr>
              <a:t>and</a:t>
            </a:r>
            <a:r>
              <a:rPr sz="2200" spc="-45" dirty="0">
                <a:solidFill>
                  <a:srgbClr val="C00000"/>
                </a:solidFill>
                <a:latin typeface="Calibri"/>
                <a:cs typeface="Calibri"/>
              </a:rPr>
              <a:t> </a:t>
            </a:r>
            <a:r>
              <a:rPr sz="2200" spc="-10" dirty="0">
                <a:solidFill>
                  <a:srgbClr val="C00000"/>
                </a:solidFill>
                <a:latin typeface="Calibri"/>
                <a:cs typeface="Calibri"/>
              </a:rPr>
              <a:t>plans.</a:t>
            </a:r>
            <a:endParaRPr sz="2200" dirty="0">
              <a:latin typeface="Calibri"/>
              <a:cs typeface="Calibri"/>
            </a:endParaRPr>
          </a:p>
          <a:p>
            <a:pPr marL="634365" lvl="1" indent="-405765">
              <a:lnSpc>
                <a:spcPts val="2590"/>
              </a:lnSpc>
              <a:buAutoNum type="arabicPeriod"/>
              <a:tabLst>
                <a:tab pos="634365" algn="l"/>
              </a:tabLst>
            </a:pPr>
            <a:r>
              <a:rPr sz="2200" dirty="0">
                <a:latin typeface="Calibri"/>
                <a:cs typeface="Calibri"/>
              </a:rPr>
              <a:t>Overly</a:t>
            </a:r>
            <a:r>
              <a:rPr sz="2200" spc="-60" dirty="0">
                <a:latin typeface="Calibri"/>
                <a:cs typeface="Calibri"/>
              </a:rPr>
              <a:t> </a:t>
            </a:r>
            <a:r>
              <a:rPr sz="2200" spc="-10" dirty="0">
                <a:latin typeface="Calibri"/>
                <a:cs typeface="Calibri"/>
              </a:rPr>
              <a:t>optimistic</a:t>
            </a:r>
            <a:endParaRPr sz="2200" dirty="0">
              <a:latin typeface="Calibri"/>
              <a:cs typeface="Calibri"/>
            </a:endParaRPr>
          </a:p>
          <a:p>
            <a:pPr marL="634365" lvl="1" indent="-405765">
              <a:lnSpc>
                <a:spcPts val="2615"/>
              </a:lnSpc>
              <a:buAutoNum type="arabicPeriod"/>
              <a:tabLst>
                <a:tab pos="634365" algn="l"/>
              </a:tabLst>
            </a:pPr>
            <a:r>
              <a:rPr sz="2200" spc="-10" dirty="0">
                <a:solidFill>
                  <a:srgbClr val="C00000"/>
                </a:solidFill>
                <a:latin typeface="Calibri"/>
                <a:cs typeface="Calibri"/>
              </a:rPr>
              <a:t>Strategic</a:t>
            </a:r>
            <a:r>
              <a:rPr sz="2200" spc="-65" dirty="0">
                <a:solidFill>
                  <a:srgbClr val="C00000"/>
                </a:solidFill>
                <a:latin typeface="Calibri"/>
                <a:cs typeface="Calibri"/>
              </a:rPr>
              <a:t> </a:t>
            </a:r>
            <a:r>
              <a:rPr sz="2200" spc="-10" dirty="0">
                <a:solidFill>
                  <a:srgbClr val="C00000"/>
                </a:solidFill>
                <a:latin typeface="Calibri"/>
                <a:cs typeface="Calibri"/>
              </a:rPr>
              <a:t>misrepresentation</a:t>
            </a:r>
            <a:endParaRPr sz="2200" dirty="0">
              <a:latin typeface="Calibri"/>
              <a:cs typeface="Calibri"/>
            </a:endParaRPr>
          </a:p>
          <a:p>
            <a:pPr marL="12700" marR="6350">
              <a:lnSpc>
                <a:spcPct val="80000"/>
              </a:lnSpc>
              <a:spcBef>
                <a:spcPts val="995"/>
              </a:spcBef>
              <a:tabLst>
                <a:tab pos="1404620" algn="l"/>
                <a:tab pos="3444240" algn="l"/>
                <a:tab pos="4516120" algn="l"/>
                <a:tab pos="6062980" algn="l"/>
                <a:tab pos="6589395" algn="l"/>
                <a:tab pos="7838440" algn="l"/>
                <a:tab pos="8761095" algn="l"/>
                <a:tab pos="9664065" algn="l"/>
              </a:tabLst>
            </a:pPr>
            <a:r>
              <a:rPr sz="2600" spc="-10" dirty="0">
                <a:latin typeface="Calibri"/>
                <a:cs typeface="Calibri"/>
              </a:rPr>
              <a:t>Effective</a:t>
            </a:r>
            <a:r>
              <a:rPr sz="2600" dirty="0">
                <a:latin typeface="Calibri"/>
                <a:cs typeface="Calibri"/>
              </a:rPr>
              <a:t>	</a:t>
            </a:r>
            <a:r>
              <a:rPr sz="2600" spc="-10" dirty="0">
                <a:latin typeface="Calibri"/>
                <a:cs typeface="Calibri"/>
              </a:rPr>
              <a:t>organizations</a:t>
            </a:r>
            <a:r>
              <a:rPr sz="2600" dirty="0">
                <a:latin typeface="Calibri"/>
                <a:cs typeface="Calibri"/>
              </a:rPr>
              <a:t>	</a:t>
            </a:r>
            <a:r>
              <a:rPr sz="2600" spc="-10" dirty="0">
                <a:latin typeface="Calibri"/>
                <a:cs typeface="Calibri"/>
              </a:rPr>
              <a:t>adjust</a:t>
            </a:r>
            <a:r>
              <a:rPr sz="2600" dirty="0">
                <a:latin typeface="Calibri"/>
                <a:cs typeface="Calibri"/>
              </a:rPr>
              <a:t>	</a:t>
            </a:r>
            <a:r>
              <a:rPr sz="2600" spc="-10" dirty="0">
                <a:latin typeface="Calibri"/>
                <a:cs typeface="Calibri"/>
              </a:rPr>
              <a:t>estimates</a:t>
            </a:r>
            <a:r>
              <a:rPr sz="2600" dirty="0">
                <a:latin typeface="Calibri"/>
                <a:cs typeface="Calibri"/>
              </a:rPr>
              <a:t>	</a:t>
            </a:r>
            <a:r>
              <a:rPr sz="2600" spc="-25" dirty="0">
                <a:latin typeface="Calibri"/>
                <a:cs typeface="Calibri"/>
              </a:rPr>
              <a:t>of</a:t>
            </a:r>
            <a:r>
              <a:rPr sz="2600" dirty="0">
                <a:latin typeface="Calibri"/>
                <a:cs typeface="Calibri"/>
              </a:rPr>
              <a:t>	</a:t>
            </a:r>
            <a:r>
              <a:rPr sz="2600" spc="-10" dirty="0">
                <a:latin typeface="Calibri"/>
                <a:cs typeface="Calibri"/>
              </a:rPr>
              <a:t>specific</a:t>
            </a:r>
            <a:r>
              <a:rPr sz="2600" dirty="0">
                <a:latin typeface="Calibri"/>
                <a:cs typeface="Calibri"/>
              </a:rPr>
              <a:t>	</a:t>
            </a:r>
            <a:r>
              <a:rPr sz="2600" spc="-10" dirty="0">
                <a:latin typeface="Calibri"/>
                <a:cs typeface="Calibri"/>
              </a:rPr>
              <a:t>tasks</a:t>
            </a:r>
            <a:r>
              <a:rPr sz="2600" dirty="0">
                <a:latin typeface="Calibri"/>
                <a:cs typeface="Calibri"/>
              </a:rPr>
              <a:t>	</a:t>
            </a:r>
            <a:r>
              <a:rPr sz="2600" spc="-20" dirty="0">
                <a:latin typeface="Calibri"/>
                <a:cs typeface="Calibri"/>
              </a:rPr>
              <a:t>once</a:t>
            </a:r>
            <a:r>
              <a:rPr sz="2600" dirty="0">
                <a:latin typeface="Calibri"/>
                <a:cs typeface="Calibri"/>
              </a:rPr>
              <a:t>	</a:t>
            </a:r>
            <a:r>
              <a:rPr sz="2600" spc="-10" dirty="0">
                <a:latin typeface="Calibri"/>
                <a:cs typeface="Calibri"/>
              </a:rPr>
              <a:t>risks, </a:t>
            </a:r>
            <a:r>
              <a:rPr sz="2600" dirty="0">
                <a:latin typeface="Calibri"/>
                <a:cs typeface="Calibri"/>
              </a:rPr>
              <a:t>resources,</a:t>
            </a:r>
            <a:r>
              <a:rPr sz="2600" spc="220" dirty="0">
                <a:latin typeface="Calibri"/>
                <a:cs typeface="Calibri"/>
              </a:rPr>
              <a:t> </a:t>
            </a:r>
            <a:r>
              <a:rPr sz="2600" dirty="0">
                <a:latin typeface="Calibri"/>
                <a:cs typeface="Calibri"/>
              </a:rPr>
              <a:t>and</a:t>
            </a:r>
            <a:r>
              <a:rPr sz="2600" spc="225" dirty="0">
                <a:latin typeface="Calibri"/>
                <a:cs typeface="Calibri"/>
              </a:rPr>
              <a:t> </a:t>
            </a:r>
            <a:r>
              <a:rPr sz="2600" dirty="0">
                <a:latin typeface="Calibri"/>
                <a:cs typeface="Calibri"/>
              </a:rPr>
              <a:t>particulars</a:t>
            </a:r>
            <a:r>
              <a:rPr sz="2600" spc="220" dirty="0">
                <a:latin typeface="Calibri"/>
                <a:cs typeface="Calibri"/>
              </a:rPr>
              <a:t> </a:t>
            </a:r>
            <a:r>
              <a:rPr sz="2600" dirty="0">
                <a:latin typeface="Calibri"/>
                <a:cs typeface="Calibri"/>
              </a:rPr>
              <a:t>of</a:t>
            </a:r>
            <a:r>
              <a:rPr sz="2600" spc="220" dirty="0">
                <a:latin typeface="Calibri"/>
                <a:cs typeface="Calibri"/>
              </a:rPr>
              <a:t> </a:t>
            </a:r>
            <a:r>
              <a:rPr sz="2600" dirty="0">
                <a:latin typeface="Calibri"/>
                <a:cs typeface="Calibri"/>
              </a:rPr>
              <a:t>the</a:t>
            </a:r>
            <a:r>
              <a:rPr sz="2600" spc="225" dirty="0">
                <a:latin typeface="Calibri"/>
                <a:cs typeface="Calibri"/>
              </a:rPr>
              <a:t> </a:t>
            </a:r>
            <a:r>
              <a:rPr sz="2600" dirty="0">
                <a:latin typeface="Calibri"/>
                <a:cs typeface="Calibri"/>
              </a:rPr>
              <a:t>situation</a:t>
            </a:r>
            <a:r>
              <a:rPr sz="2600" spc="225" dirty="0">
                <a:latin typeface="Calibri"/>
                <a:cs typeface="Calibri"/>
              </a:rPr>
              <a:t> </a:t>
            </a:r>
            <a:r>
              <a:rPr sz="2600" dirty="0">
                <a:latin typeface="Calibri"/>
                <a:cs typeface="Calibri"/>
              </a:rPr>
              <a:t>have</a:t>
            </a:r>
            <a:r>
              <a:rPr sz="2600" spc="215" dirty="0">
                <a:latin typeface="Calibri"/>
                <a:cs typeface="Calibri"/>
              </a:rPr>
              <a:t> </a:t>
            </a:r>
            <a:r>
              <a:rPr sz="2600" dirty="0">
                <a:latin typeface="Calibri"/>
                <a:cs typeface="Calibri"/>
              </a:rPr>
              <a:t>been</a:t>
            </a:r>
            <a:r>
              <a:rPr sz="2600" spc="225" dirty="0">
                <a:latin typeface="Calibri"/>
                <a:cs typeface="Calibri"/>
              </a:rPr>
              <a:t> </a:t>
            </a:r>
            <a:r>
              <a:rPr sz="2600" dirty="0">
                <a:latin typeface="Calibri"/>
                <a:cs typeface="Calibri"/>
              </a:rPr>
              <a:t>more</a:t>
            </a:r>
            <a:r>
              <a:rPr sz="2600" spc="220" dirty="0">
                <a:latin typeface="Calibri"/>
                <a:cs typeface="Calibri"/>
              </a:rPr>
              <a:t> </a:t>
            </a:r>
            <a:r>
              <a:rPr sz="2600" dirty="0">
                <a:latin typeface="Calibri"/>
                <a:cs typeface="Calibri"/>
              </a:rPr>
              <a:t>clearly</a:t>
            </a:r>
            <a:r>
              <a:rPr sz="2600" spc="225" dirty="0">
                <a:latin typeface="Calibri"/>
                <a:cs typeface="Calibri"/>
              </a:rPr>
              <a:t> </a:t>
            </a:r>
            <a:r>
              <a:rPr sz="2600" spc="-10" dirty="0">
                <a:latin typeface="Calibri"/>
                <a:cs typeface="Calibri"/>
              </a:rPr>
              <a:t>defined.</a:t>
            </a:r>
            <a:endParaRPr sz="2600" dirty="0">
              <a:latin typeface="Calibri"/>
              <a:cs typeface="Calibri"/>
            </a:endParaRPr>
          </a:p>
        </p:txBody>
      </p:sp>
      <p:sp>
        <p:nvSpPr>
          <p:cNvPr id="4" name="object 4"/>
          <p:cNvSpPr txBox="1"/>
          <p:nvPr/>
        </p:nvSpPr>
        <p:spPr>
          <a:xfrm>
            <a:off x="916939" y="5896355"/>
            <a:ext cx="10358120" cy="739140"/>
          </a:xfrm>
          <a:prstGeom prst="rect">
            <a:avLst/>
          </a:prstGeom>
        </p:spPr>
        <p:txBody>
          <a:bodyPr vert="horz" wrap="square" lIns="0" tIns="88900" rIns="0" bIns="0" rtlCol="0">
            <a:spAutoFit/>
          </a:bodyPr>
          <a:lstStyle/>
          <a:p>
            <a:pPr marL="12700" marR="5080">
              <a:lnSpc>
                <a:spcPts val="2500"/>
              </a:lnSpc>
              <a:spcBef>
                <a:spcPts val="700"/>
              </a:spcBef>
              <a:tabLst>
                <a:tab pos="819785" algn="l"/>
                <a:tab pos="2261235" algn="l"/>
                <a:tab pos="2975610" algn="l"/>
                <a:tab pos="3587115" algn="l"/>
                <a:tab pos="4626610" algn="l"/>
                <a:tab pos="5135880" algn="l"/>
                <a:tab pos="6594475" algn="l"/>
                <a:tab pos="8119745" algn="l"/>
                <a:tab pos="8931910" algn="l"/>
                <a:tab pos="9254490" algn="l"/>
              </a:tabLst>
            </a:pPr>
            <a:r>
              <a:rPr sz="2600" spc="-20" dirty="0">
                <a:latin typeface="Calibri"/>
                <a:cs typeface="Calibri"/>
              </a:rPr>
              <a:t>They</a:t>
            </a:r>
            <a:r>
              <a:rPr sz="2600" dirty="0">
                <a:latin typeface="Calibri"/>
                <a:cs typeface="Calibri"/>
              </a:rPr>
              <a:t>	</a:t>
            </a:r>
            <a:r>
              <a:rPr sz="2600" spc="-10" dirty="0">
                <a:latin typeface="Calibri"/>
                <a:cs typeface="Calibri"/>
              </a:rPr>
              <a:t>recognize</a:t>
            </a:r>
            <a:r>
              <a:rPr sz="2600" dirty="0">
                <a:latin typeface="Calibri"/>
                <a:cs typeface="Calibri"/>
              </a:rPr>
              <a:t>	</a:t>
            </a:r>
            <a:r>
              <a:rPr sz="2600" spc="-20" dirty="0">
                <a:latin typeface="Calibri"/>
                <a:cs typeface="Calibri"/>
              </a:rPr>
              <a:t>that</a:t>
            </a:r>
            <a:r>
              <a:rPr sz="2600" dirty="0">
                <a:latin typeface="Calibri"/>
                <a:cs typeface="Calibri"/>
              </a:rPr>
              <a:t>	</a:t>
            </a:r>
            <a:r>
              <a:rPr sz="2600" spc="-25" dirty="0">
                <a:latin typeface="Calibri"/>
                <a:cs typeface="Calibri"/>
              </a:rPr>
              <a:t>the</a:t>
            </a:r>
            <a:r>
              <a:rPr sz="2600" dirty="0">
                <a:latin typeface="Calibri"/>
                <a:cs typeface="Calibri"/>
              </a:rPr>
              <a:t>	</a:t>
            </a:r>
            <a:r>
              <a:rPr sz="2600" spc="-10" dirty="0">
                <a:latin typeface="Calibri"/>
                <a:cs typeface="Calibri"/>
              </a:rPr>
              <a:t>rolled-</a:t>
            </a:r>
            <a:r>
              <a:rPr sz="2600" dirty="0">
                <a:latin typeface="Calibri"/>
                <a:cs typeface="Calibri"/>
              </a:rPr>
              <a:t>	</a:t>
            </a:r>
            <a:r>
              <a:rPr sz="2600" spc="-25" dirty="0">
                <a:latin typeface="Calibri"/>
                <a:cs typeface="Calibri"/>
              </a:rPr>
              <a:t>up</a:t>
            </a:r>
            <a:r>
              <a:rPr sz="2600" dirty="0">
                <a:latin typeface="Calibri"/>
                <a:cs typeface="Calibri"/>
              </a:rPr>
              <a:t>	</a:t>
            </a:r>
            <a:r>
              <a:rPr sz="2600" spc="-10" dirty="0">
                <a:latin typeface="Calibri"/>
                <a:cs typeface="Calibri"/>
              </a:rPr>
              <a:t>estimates</a:t>
            </a:r>
            <a:r>
              <a:rPr sz="2600" dirty="0">
                <a:latin typeface="Calibri"/>
                <a:cs typeface="Calibri"/>
              </a:rPr>
              <a:t>	</a:t>
            </a:r>
            <a:r>
              <a:rPr sz="2600" spc="-10" dirty="0">
                <a:latin typeface="Calibri"/>
                <a:cs typeface="Calibri"/>
              </a:rPr>
              <a:t>generated</a:t>
            </a:r>
            <a:r>
              <a:rPr sz="2600" dirty="0">
                <a:latin typeface="Calibri"/>
                <a:cs typeface="Calibri"/>
              </a:rPr>
              <a:t>	</a:t>
            </a:r>
            <a:r>
              <a:rPr sz="2600" spc="-20" dirty="0">
                <a:latin typeface="Calibri"/>
                <a:cs typeface="Calibri"/>
              </a:rPr>
              <a:t>from</a:t>
            </a:r>
            <a:r>
              <a:rPr sz="2600" dirty="0">
                <a:latin typeface="Calibri"/>
                <a:cs typeface="Calibri"/>
              </a:rPr>
              <a:t>	</a:t>
            </a:r>
            <a:r>
              <a:rPr sz="2600" spc="-50" dirty="0">
                <a:latin typeface="Calibri"/>
                <a:cs typeface="Calibri"/>
              </a:rPr>
              <a:t>a</a:t>
            </a:r>
            <a:r>
              <a:rPr sz="2600" dirty="0">
                <a:latin typeface="Calibri"/>
                <a:cs typeface="Calibri"/>
              </a:rPr>
              <a:t>	</a:t>
            </a:r>
            <a:r>
              <a:rPr sz="2600" spc="-10" dirty="0">
                <a:latin typeface="Calibri"/>
                <a:cs typeface="Calibri"/>
              </a:rPr>
              <a:t>detailed </a:t>
            </a:r>
            <a:r>
              <a:rPr sz="2600" dirty="0">
                <a:latin typeface="Calibri"/>
                <a:cs typeface="Calibri"/>
              </a:rPr>
              <a:t>estimate</a:t>
            </a:r>
            <a:r>
              <a:rPr sz="2600" spc="-70" dirty="0">
                <a:latin typeface="Calibri"/>
                <a:cs typeface="Calibri"/>
              </a:rPr>
              <a:t> </a:t>
            </a:r>
            <a:r>
              <a:rPr sz="2600" dirty="0">
                <a:latin typeface="Calibri"/>
                <a:cs typeface="Calibri"/>
              </a:rPr>
              <a:t>based</a:t>
            </a:r>
            <a:r>
              <a:rPr sz="2600" spc="-65" dirty="0">
                <a:latin typeface="Calibri"/>
                <a:cs typeface="Calibri"/>
              </a:rPr>
              <a:t> </a:t>
            </a:r>
            <a:r>
              <a:rPr sz="2600" dirty="0">
                <a:latin typeface="Calibri"/>
                <a:cs typeface="Calibri"/>
              </a:rPr>
              <a:t>on</a:t>
            </a:r>
            <a:r>
              <a:rPr sz="2600" spc="-65" dirty="0">
                <a:latin typeface="Calibri"/>
                <a:cs typeface="Calibri"/>
              </a:rPr>
              <a:t> </a:t>
            </a:r>
            <a:r>
              <a:rPr sz="2600" dirty="0">
                <a:latin typeface="Calibri"/>
                <a:cs typeface="Calibri"/>
              </a:rPr>
              <a:t>the</a:t>
            </a:r>
            <a:r>
              <a:rPr sz="2600" spc="-60" dirty="0">
                <a:latin typeface="Calibri"/>
                <a:cs typeface="Calibri"/>
              </a:rPr>
              <a:t> </a:t>
            </a:r>
            <a:r>
              <a:rPr sz="2600" dirty="0">
                <a:latin typeface="Calibri"/>
                <a:cs typeface="Calibri"/>
              </a:rPr>
              <a:t>WBS</a:t>
            </a:r>
            <a:r>
              <a:rPr sz="2600" spc="-55" dirty="0">
                <a:latin typeface="Calibri"/>
                <a:cs typeface="Calibri"/>
              </a:rPr>
              <a:t> </a:t>
            </a:r>
            <a:r>
              <a:rPr sz="2600" dirty="0">
                <a:latin typeface="Calibri"/>
                <a:cs typeface="Calibri"/>
              </a:rPr>
              <a:t>are</a:t>
            </a:r>
            <a:r>
              <a:rPr sz="2600" spc="-70" dirty="0">
                <a:latin typeface="Calibri"/>
                <a:cs typeface="Calibri"/>
              </a:rPr>
              <a:t> </a:t>
            </a:r>
            <a:r>
              <a:rPr sz="2600" dirty="0">
                <a:latin typeface="Calibri"/>
                <a:cs typeface="Calibri"/>
              </a:rPr>
              <a:t>just</a:t>
            </a:r>
            <a:r>
              <a:rPr sz="2600" spc="-60" dirty="0">
                <a:latin typeface="Calibri"/>
                <a:cs typeface="Calibri"/>
              </a:rPr>
              <a:t> </a:t>
            </a:r>
            <a:r>
              <a:rPr sz="2600" dirty="0">
                <a:latin typeface="Calibri"/>
                <a:cs typeface="Calibri"/>
              </a:rPr>
              <a:t>the</a:t>
            </a:r>
            <a:r>
              <a:rPr sz="2600" spc="-60" dirty="0">
                <a:latin typeface="Calibri"/>
                <a:cs typeface="Calibri"/>
              </a:rPr>
              <a:t> </a:t>
            </a:r>
            <a:r>
              <a:rPr sz="2600" dirty="0">
                <a:latin typeface="Calibri"/>
                <a:cs typeface="Calibri"/>
              </a:rPr>
              <a:t>starting</a:t>
            </a:r>
            <a:r>
              <a:rPr sz="2600" spc="-65" dirty="0">
                <a:latin typeface="Calibri"/>
                <a:cs typeface="Calibri"/>
              </a:rPr>
              <a:t> </a:t>
            </a:r>
            <a:r>
              <a:rPr sz="2600" spc="-10" dirty="0">
                <a:latin typeface="Calibri"/>
                <a:cs typeface="Calibri"/>
              </a:rPr>
              <a:t>point.</a:t>
            </a:r>
            <a:endParaRPr sz="2600">
              <a:latin typeface="Calibri"/>
              <a:cs typeface="Calibri"/>
            </a:endParaRPr>
          </a:p>
        </p:txBody>
      </p:sp>
      <p:sp>
        <p:nvSpPr>
          <p:cNvPr id="5" name="object 5"/>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18</a:t>
            </a:r>
            <a:endParaRPr sz="1200">
              <a:latin typeface="Calibri"/>
              <a:cs typeface="Calibri"/>
            </a:endParaRPr>
          </a:p>
        </p:txBody>
      </p:sp>
      <p:pic>
        <p:nvPicPr>
          <p:cNvPr id="6" name="Picture 5">
            <a:extLst>
              <a:ext uri="{FF2B5EF4-FFF2-40B4-BE49-F238E27FC236}">
                <a16:creationId xmlns:a16="http://schemas.microsoft.com/office/drawing/2014/main" id="{025CD1CA-56F2-A28F-4898-4A67B0F96B3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b="1" u="sng" spc="95" dirty="0">
                <a:solidFill>
                  <a:srgbClr val="FF0000"/>
                </a:solidFill>
              </a:rPr>
              <a:t>Creating a Database for Estimating</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22</a:t>
            </a:fld>
            <a:endParaRPr spc="-25" dirty="0"/>
          </a:p>
        </p:txBody>
      </p:sp>
      <p:sp>
        <p:nvSpPr>
          <p:cNvPr id="3" name="object 3"/>
          <p:cNvSpPr txBox="1">
            <a:spLocks noGrp="1"/>
          </p:cNvSpPr>
          <p:nvPr>
            <p:ph type="body" idx="1"/>
          </p:nvPr>
        </p:nvSpPr>
        <p:spPr>
          <a:prstGeom prst="rect">
            <a:avLst/>
          </a:prstGeom>
        </p:spPr>
        <p:txBody>
          <a:bodyPr vert="horz" wrap="square" lIns="0" tIns="282955" rIns="0" bIns="0" rtlCol="0">
            <a:spAutoFit/>
          </a:bodyPr>
          <a:lstStyle/>
          <a:p>
            <a:pPr marL="241300" marR="6350" indent="-228600" algn="just">
              <a:lnSpc>
                <a:spcPts val="3000"/>
              </a:lnSpc>
              <a:spcBef>
                <a:spcPts val="500"/>
              </a:spcBef>
              <a:buFont typeface="Arial MT"/>
              <a:buChar char="•"/>
              <a:tabLst>
                <a:tab pos="241300" algn="l"/>
              </a:tabLst>
            </a:pPr>
            <a:r>
              <a:rPr dirty="0"/>
              <a:t>The</a:t>
            </a:r>
            <a:r>
              <a:rPr spc="225" dirty="0"/>
              <a:t> </a:t>
            </a:r>
            <a:r>
              <a:rPr dirty="0"/>
              <a:t>best</a:t>
            </a:r>
            <a:r>
              <a:rPr spc="229" dirty="0"/>
              <a:t> </a:t>
            </a:r>
            <a:r>
              <a:rPr dirty="0"/>
              <a:t>way</a:t>
            </a:r>
            <a:r>
              <a:rPr spc="229" dirty="0"/>
              <a:t> </a:t>
            </a:r>
            <a:r>
              <a:rPr dirty="0"/>
              <a:t>to</a:t>
            </a:r>
            <a:r>
              <a:rPr spc="235" dirty="0"/>
              <a:t> </a:t>
            </a:r>
            <a:r>
              <a:rPr dirty="0"/>
              <a:t>improve</a:t>
            </a:r>
            <a:r>
              <a:rPr spc="229" dirty="0"/>
              <a:t> </a:t>
            </a:r>
            <a:r>
              <a:rPr dirty="0"/>
              <a:t>estimates</a:t>
            </a:r>
            <a:r>
              <a:rPr spc="240" dirty="0"/>
              <a:t> </a:t>
            </a:r>
            <a:r>
              <a:rPr dirty="0"/>
              <a:t>is</a:t>
            </a:r>
            <a:r>
              <a:rPr spc="235" dirty="0"/>
              <a:t> </a:t>
            </a:r>
            <a:r>
              <a:rPr dirty="0"/>
              <a:t>to</a:t>
            </a:r>
            <a:r>
              <a:rPr spc="235" dirty="0"/>
              <a:t> </a:t>
            </a:r>
            <a:r>
              <a:rPr dirty="0"/>
              <a:t>collect</a:t>
            </a:r>
            <a:r>
              <a:rPr spc="229" dirty="0"/>
              <a:t> </a:t>
            </a:r>
            <a:r>
              <a:rPr dirty="0"/>
              <a:t>and</a:t>
            </a:r>
            <a:r>
              <a:rPr spc="240" dirty="0"/>
              <a:t> </a:t>
            </a:r>
            <a:r>
              <a:rPr dirty="0"/>
              <a:t>archive</a:t>
            </a:r>
            <a:r>
              <a:rPr spc="225" dirty="0"/>
              <a:t> </a:t>
            </a:r>
            <a:r>
              <a:rPr dirty="0"/>
              <a:t>data</a:t>
            </a:r>
            <a:r>
              <a:rPr spc="225" dirty="0"/>
              <a:t> </a:t>
            </a:r>
            <a:r>
              <a:rPr spc="-25" dirty="0"/>
              <a:t>on </a:t>
            </a:r>
            <a:r>
              <a:rPr dirty="0"/>
              <a:t>past</a:t>
            </a:r>
            <a:r>
              <a:rPr spc="-85" dirty="0"/>
              <a:t> </a:t>
            </a:r>
            <a:r>
              <a:rPr dirty="0"/>
              <a:t>project</a:t>
            </a:r>
            <a:r>
              <a:rPr spc="-80" dirty="0"/>
              <a:t> </a:t>
            </a:r>
            <a:r>
              <a:rPr dirty="0"/>
              <a:t>estimates</a:t>
            </a:r>
            <a:r>
              <a:rPr spc="-70" dirty="0"/>
              <a:t> </a:t>
            </a:r>
            <a:r>
              <a:rPr dirty="0"/>
              <a:t>and</a:t>
            </a:r>
            <a:r>
              <a:rPr spc="-75" dirty="0"/>
              <a:t> </a:t>
            </a:r>
            <a:r>
              <a:rPr spc="-10" dirty="0"/>
              <a:t>actuals.</a:t>
            </a:r>
          </a:p>
          <a:p>
            <a:pPr marL="241300" marR="5080" indent="-228600" algn="just">
              <a:lnSpc>
                <a:spcPct val="90500"/>
              </a:lnSpc>
              <a:spcBef>
                <a:spcPts val="900"/>
              </a:spcBef>
              <a:buFont typeface="Arial MT"/>
              <a:buChar char="•"/>
              <a:tabLst>
                <a:tab pos="241300" algn="l"/>
              </a:tabLst>
            </a:pPr>
            <a:r>
              <a:rPr dirty="0">
                <a:solidFill>
                  <a:srgbClr val="262EA4"/>
                </a:solidFill>
              </a:rPr>
              <a:t>Saving</a:t>
            </a:r>
            <a:r>
              <a:rPr spc="345" dirty="0">
                <a:solidFill>
                  <a:srgbClr val="262EA4"/>
                </a:solidFill>
              </a:rPr>
              <a:t> </a:t>
            </a:r>
            <a:r>
              <a:rPr dirty="0">
                <a:solidFill>
                  <a:srgbClr val="262EA4"/>
                </a:solidFill>
              </a:rPr>
              <a:t>historical</a:t>
            </a:r>
            <a:r>
              <a:rPr spc="350" dirty="0">
                <a:solidFill>
                  <a:srgbClr val="262EA4"/>
                </a:solidFill>
              </a:rPr>
              <a:t> </a:t>
            </a:r>
            <a:r>
              <a:rPr dirty="0">
                <a:solidFill>
                  <a:srgbClr val="262EA4"/>
                </a:solidFill>
              </a:rPr>
              <a:t>data</a:t>
            </a:r>
            <a:r>
              <a:rPr spc="345" dirty="0">
                <a:solidFill>
                  <a:srgbClr val="262EA4"/>
                </a:solidFill>
              </a:rPr>
              <a:t> </a:t>
            </a:r>
            <a:r>
              <a:rPr dirty="0">
                <a:solidFill>
                  <a:srgbClr val="262EA4"/>
                </a:solidFill>
              </a:rPr>
              <a:t>(estimates</a:t>
            </a:r>
            <a:r>
              <a:rPr spc="360" dirty="0">
                <a:solidFill>
                  <a:srgbClr val="262EA4"/>
                </a:solidFill>
              </a:rPr>
              <a:t> </a:t>
            </a:r>
            <a:r>
              <a:rPr dirty="0">
                <a:solidFill>
                  <a:srgbClr val="262EA4"/>
                </a:solidFill>
              </a:rPr>
              <a:t>and</a:t>
            </a:r>
            <a:r>
              <a:rPr spc="355" dirty="0">
                <a:solidFill>
                  <a:srgbClr val="262EA4"/>
                </a:solidFill>
              </a:rPr>
              <a:t> </a:t>
            </a:r>
            <a:r>
              <a:rPr dirty="0">
                <a:solidFill>
                  <a:srgbClr val="262EA4"/>
                </a:solidFill>
              </a:rPr>
              <a:t>actuals)</a:t>
            </a:r>
            <a:r>
              <a:rPr spc="350" dirty="0">
                <a:solidFill>
                  <a:srgbClr val="262EA4"/>
                </a:solidFill>
              </a:rPr>
              <a:t> </a:t>
            </a:r>
            <a:r>
              <a:rPr dirty="0">
                <a:solidFill>
                  <a:srgbClr val="262EA4"/>
                </a:solidFill>
              </a:rPr>
              <a:t>provides</a:t>
            </a:r>
            <a:r>
              <a:rPr spc="355" dirty="0">
                <a:solidFill>
                  <a:srgbClr val="262EA4"/>
                </a:solidFill>
              </a:rPr>
              <a:t> </a:t>
            </a:r>
            <a:r>
              <a:rPr dirty="0">
                <a:solidFill>
                  <a:srgbClr val="262EA4"/>
                </a:solidFill>
              </a:rPr>
              <a:t>a</a:t>
            </a:r>
            <a:r>
              <a:rPr spc="345" dirty="0">
                <a:solidFill>
                  <a:srgbClr val="262EA4"/>
                </a:solidFill>
              </a:rPr>
              <a:t> </a:t>
            </a:r>
            <a:r>
              <a:rPr spc="-10" dirty="0">
                <a:solidFill>
                  <a:srgbClr val="262EA4"/>
                </a:solidFill>
              </a:rPr>
              <a:t>knowledge </a:t>
            </a:r>
            <a:r>
              <a:rPr dirty="0">
                <a:solidFill>
                  <a:srgbClr val="262EA4"/>
                </a:solidFill>
              </a:rPr>
              <a:t>base</a:t>
            </a:r>
            <a:r>
              <a:rPr spc="665" dirty="0">
                <a:solidFill>
                  <a:srgbClr val="262EA4"/>
                </a:solidFill>
              </a:rPr>
              <a:t> </a:t>
            </a:r>
            <a:r>
              <a:rPr dirty="0">
                <a:solidFill>
                  <a:srgbClr val="262EA4"/>
                </a:solidFill>
              </a:rPr>
              <a:t>for</a:t>
            </a:r>
            <a:r>
              <a:rPr spc="670" dirty="0">
                <a:solidFill>
                  <a:srgbClr val="262EA4"/>
                </a:solidFill>
              </a:rPr>
              <a:t> </a:t>
            </a:r>
            <a:r>
              <a:rPr dirty="0">
                <a:solidFill>
                  <a:srgbClr val="262EA4"/>
                </a:solidFill>
              </a:rPr>
              <a:t>improving</a:t>
            </a:r>
            <a:r>
              <a:rPr spc="675" dirty="0">
                <a:solidFill>
                  <a:srgbClr val="262EA4"/>
                </a:solidFill>
              </a:rPr>
              <a:t> </a:t>
            </a:r>
            <a:r>
              <a:rPr dirty="0">
                <a:solidFill>
                  <a:srgbClr val="262EA4"/>
                </a:solidFill>
              </a:rPr>
              <a:t>project</a:t>
            </a:r>
            <a:r>
              <a:rPr spc="670" dirty="0">
                <a:solidFill>
                  <a:srgbClr val="262EA4"/>
                </a:solidFill>
              </a:rPr>
              <a:t> </a:t>
            </a:r>
            <a:r>
              <a:rPr dirty="0">
                <a:solidFill>
                  <a:srgbClr val="262EA4"/>
                </a:solidFill>
              </a:rPr>
              <a:t>time</a:t>
            </a:r>
            <a:r>
              <a:rPr spc="670" dirty="0">
                <a:solidFill>
                  <a:srgbClr val="262EA4"/>
                </a:solidFill>
              </a:rPr>
              <a:t> </a:t>
            </a:r>
            <a:r>
              <a:rPr dirty="0">
                <a:solidFill>
                  <a:srgbClr val="262EA4"/>
                </a:solidFill>
              </a:rPr>
              <a:t>and</a:t>
            </a:r>
            <a:r>
              <a:rPr spc="675" dirty="0">
                <a:solidFill>
                  <a:srgbClr val="262EA4"/>
                </a:solidFill>
              </a:rPr>
              <a:t> </a:t>
            </a:r>
            <a:r>
              <a:rPr dirty="0">
                <a:solidFill>
                  <a:srgbClr val="262EA4"/>
                </a:solidFill>
              </a:rPr>
              <a:t>cost</a:t>
            </a:r>
            <a:r>
              <a:rPr spc="675" dirty="0">
                <a:solidFill>
                  <a:srgbClr val="262EA4"/>
                </a:solidFill>
              </a:rPr>
              <a:t> </a:t>
            </a:r>
            <a:r>
              <a:rPr dirty="0">
                <a:solidFill>
                  <a:srgbClr val="262EA4"/>
                </a:solidFill>
              </a:rPr>
              <a:t>estimating.</a:t>
            </a:r>
            <a:r>
              <a:rPr spc="680" dirty="0">
                <a:solidFill>
                  <a:srgbClr val="262EA4"/>
                </a:solidFill>
              </a:rPr>
              <a:t> </a:t>
            </a:r>
            <a:r>
              <a:rPr dirty="0">
                <a:solidFill>
                  <a:srgbClr val="262EA4"/>
                </a:solidFill>
              </a:rPr>
              <a:t>Creating</a:t>
            </a:r>
            <a:r>
              <a:rPr spc="660" dirty="0">
                <a:solidFill>
                  <a:srgbClr val="262EA4"/>
                </a:solidFill>
              </a:rPr>
              <a:t> </a:t>
            </a:r>
            <a:r>
              <a:rPr spc="-25" dirty="0">
                <a:solidFill>
                  <a:srgbClr val="262EA4"/>
                </a:solidFill>
              </a:rPr>
              <a:t>an </a:t>
            </a:r>
            <a:r>
              <a:rPr dirty="0">
                <a:solidFill>
                  <a:srgbClr val="262EA4"/>
                </a:solidFill>
              </a:rPr>
              <a:t>estimating</a:t>
            </a:r>
            <a:r>
              <a:rPr spc="190" dirty="0">
                <a:solidFill>
                  <a:srgbClr val="262EA4"/>
                </a:solidFill>
              </a:rPr>
              <a:t>  </a:t>
            </a:r>
            <a:r>
              <a:rPr dirty="0">
                <a:solidFill>
                  <a:srgbClr val="262EA4"/>
                </a:solidFill>
              </a:rPr>
              <a:t>database</a:t>
            </a:r>
            <a:r>
              <a:rPr spc="190" dirty="0">
                <a:solidFill>
                  <a:srgbClr val="262EA4"/>
                </a:solidFill>
              </a:rPr>
              <a:t>  </a:t>
            </a:r>
            <a:r>
              <a:rPr dirty="0">
                <a:solidFill>
                  <a:srgbClr val="262EA4"/>
                </a:solidFill>
              </a:rPr>
              <a:t>is</a:t>
            </a:r>
            <a:r>
              <a:rPr spc="195" dirty="0">
                <a:solidFill>
                  <a:srgbClr val="262EA4"/>
                </a:solidFill>
              </a:rPr>
              <a:t>  </a:t>
            </a:r>
            <a:r>
              <a:rPr dirty="0">
                <a:solidFill>
                  <a:srgbClr val="262EA4"/>
                </a:solidFill>
              </a:rPr>
              <a:t>a</a:t>
            </a:r>
            <a:r>
              <a:rPr spc="195" dirty="0">
                <a:solidFill>
                  <a:srgbClr val="262EA4"/>
                </a:solidFill>
              </a:rPr>
              <a:t>  </a:t>
            </a:r>
            <a:r>
              <a:rPr dirty="0">
                <a:solidFill>
                  <a:srgbClr val="262EA4"/>
                </a:solidFill>
              </a:rPr>
              <a:t>“best</a:t>
            </a:r>
            <a:r>
              <a:rPr spc="190" dirty="0">
                <a:solidFill>
                  <a:srgbClr val="262EA4"/>
                </a:solidFill>
              </a:rPr>
              <a:t>  </a:t>
            </a:r>
            <a:r>
              <a:rPr dirty="0">
                <a:solidFill>
                  <a:srgbClr val="262EA4"/>
                </a:solidFill>
              </a:rPr>
              <a:t>practice”</a:t>
            </a:r>
            <a:r>
              <a:rPr spc="195" dirty="0">
                <a:solidFill>
                  <a:srgbClr val="262EA4"/>
                </a:solidFill>
              </a:rPr>
              <a:t>  </a:t>
            </a:r>
            <a:r>
              <a:rPr dirty="0">
                <a:solidFill>
                  <a:srgbClr val="262EA4"/>
                </a:solidFill>
              </a:rPr>
              <a:t>among</a:t>
            </a:r>
            <a:r>
              <a:rPr spc="195" dirty="0">
                <a:solidFill>
                  <a:srgbClr val="262EA4"/>
                </a:solidFill>
              </a:rPr>
              <a:t>  </a:t>
            </a:r>
            <a:r>
              <a:rPr dirty="0">
                <a:solidFill>
                  <a:srgbClr val="262EA4"/>
                </a:solidFill>
              </a:rPr>
              <a:t>leading</a:t>
            </a:r>
            <a:r>
              <a:rPr spc="190" dirty="0">
                <a:solidFill>
                  <a:srgbClr val="262EA4"/>
                </a:solidFill>
              </a:rPr>
              <a:t>  </a:t>
            </a:r>
            <a:r>
              <a:rPr spc="-10" dirty="0">
                <a:solidFill>
                  <a:srgbClr val="262EA4"/>
                </a:solidFill>
              </a:rPr>
              <a:t>project </a:t>
            </a:r>
            <a:r>
              <a:rPr dirty="0">
                <a:solidFill>
                  <a:srgbClr val="262EA4"/>
                </a:solidFill>
              </a:rPr>
              <a:t>management</a:t>
            </a:r>
            <a:r>
              <a:rPr spc="-110" dirty="0">
                <a:solidFill>
                  <a:srgbClr val="262EA4"/>
                </a:solidFill>
              </a:rPr>
              <a:t> </a:t>
            </a:r>
            <a:r>
              <a:rPr spc="-10" dirty="0">
                <a:solidFill>
                  <a:srgbClr val="262EA4"/>
                </a:solidFill>
              </a:rPr>
              <a:t>organizations.</a:t>
            </a:r>
          </a:p>
          <a:p>
            <a:pPr marL="241300" marR="5080" indent="-228600" algn="just">
              <a:lnSpc>
                <a:spcPts val="3100"/>
              </a:lnSpc>
              <a:spcBef>
                <a:spcPts val="944"/>
              </a:spcBef>
              <a:buFont typeface="Arial MT"/>
              <a:buChar char="•"/>
              <a:tabLst>
                <a:tab pos="241300" algn="l"/>
              </a:tabLst>
            </a:pPr>
            <a:r>
              <a:rPr dirty="0"/>
              <a:t>The</a:t>
            </a:r>
            <a:r>
              <a:rPr spc="35" dirty="0"/>
              <a:t> </a:t>
            </a:r>
            <a:r>
              <a:rPr dirty="0"/>
              <a:t>estimator</a:t>
            </a:r>
            <a:r>
              <a:rPr spc="50" dirty="0"/>
              <a:t> </a:t>
            </a:r>
            <a:r>
              <a:rPr dirty="0"/>
              <a:t>then</a:t>
            </a:r>
            <a:r>
              <a:rPr spc="45" dirty="0"/>
              <a:t> </a:t>
            </a:r>
            <a:r>
              <a:rPr dirty="0"/>
              <a:t>makes</a:t>
            </a:r>
            <a:r>
              <a:rPr spc="45" dirty="0"/>
              <a:t> </a:t>
            </a:r>
            <a:r>
              <a:rPr dirty="0"/>
              <a:t>any</a:t>
            </a:r>
            <a:r>
              <a:rPr spc="45" dirty="0"/>
              <a:t> </a:t>
            </a:r>
            <a:r>
              <a:rPr dirty="0"/>
              <a:t>necessary</a:t>
            </a:r>
            <a:r>
              <a:rPr spc="40" dirty="0"/>
              <a:t> </a:t>
            </a:r>
            <a:r>
              <a:rPr dirty="0"/>
              <a:t>adjustments</a:t>
            </a:r>
            <a:r>
              <a:rPr spc="50" dirty="0"/>
              <a:t> </a:t>
            </a:r>
            <a:r>
              <a:rPr dirty="0"/>
              <a:t>concerning</a:t>
            </a:r>
            <a:r>
              <a:rPr spc="40" dirty="0"/>
              <a:t> </a:t>
            </a:r>
            <a:r>
              <a:rPr spc="-25" dirty="0"/>
              <a:t>the </a:t>
            </a:r>
            <a:r>
              <a:rPr dirty="0"/>
              <a:t>materials,</a:t>
            </a:r>
            <a:r>
              <a:rPr spc="-100" dirty="0"/>
              <a:t> </a:t>
            </a:r>
            <a:r>
              <a:rPr spc="-25" dirty="0"/>
              <a:t>labor,</a:t>
            </a:r>
            <a:r>
              <a:rPr spc="-90" dirty="0"/>
              <a:t> </a:t>
            </a:r>
            <a:r>
              <a:rPr dirty="0"/>
              <a:t>and</a:t>
            </a:r>
            <a:r>
              <a:rPr spc="-90" dirty="0"/>
              <a:t> </a:t>
            </a:r>
            <a:r>
              <a:rPr dirty="0"/>
              <a:t>equipment;</a:t>
            </a:r>
            <a:r>
              <a:rPr spc="-90" dirty="0"/>
              <a:t> </a:t>
            </a:r>
            <a:r>
              <a:rPr dirty="0"/>
              <a:t>whenever</a:t>
            </a:r>
            <a:r>
              <a:rPr spc="-95" dirty="0"/>
              <a:t> </a:t>
            </a:r>
            <a:r>
              <a:rPr spc="-10" dirty="0"/>
              <a:t>required.</a:t>
            </a:r>
          </a:p>
          <a:p>
            <a:pPr marL="241300" marR="5080" indent="-228600" algn="just">
              <a:lnSpc>
                <a:spcPts val="3000"/>
              </a:lnSpc>
              <a:spcBef>
                <a:spcPts val="985"/>
              </a:spcBef>
              <a:buFont typeface="Arial MT"/>
              <a:buChar char="•"/>
              <a:tabLst>
                <a:tab pos="241300" algn="l"/>
              </a:tabLst>
            </a:pPr>
            <a:r>
              <a:rPr dirty="0">
                <a:solidFill>
                  <a:srgbClr val="262EA4"/>
                </a:solidFill>
              </a:rPr>
              <a:t>The</a:t>
            </a:r>
            <a:r>
              <a:rPr spc="180" dirty="0">
                <a:solidFill>
                  <a:srgbClr val="262EA4"/>
                </a:solidFill>
              </a:rPr>
              <a:t> </a:t>
            </a:r>
            <a:r>
              <a:rPr dirty="0">
                <a:solidFill>
                  <a:srgbClr val="262EA4"/>
                </a:solidFill>
              </a:rPr>
              <a:t>quality</a:t>
            </a:r>
            <a:r>
              <a:rPr spc="180" dirty="0">
                <a:solidFill>
                  <a:srgbClr val="262EA4"/>
                </a:solidFill>
              </a:rPr>
              <a:t> </a:t>
            </a:r>
            <a:r>
              <a:rPr dirty="0">
                <a:solidFill>
                  <a:srgbClr val="262EA4"/>
                </a:solidFill>
              </a:rPr>
              <a:t>of</a:t>
            </a:r>
            <a:r>
              <a:rPr spc="180" dirty="0">
                <a:solidFill>
                  <a:srgbClr val="262EA4"/>
                </a:solidFill>
              </a:rPr>
              <a:t> </a:t>
            </a:r>
            <a:r>
              <a:rPr dirty="0">
                <a:solidFill>
                  <a:srgbClr val="262EA4"/>
                </a:solidFill>
              </a:rPr>
              <a:t>the</a:t>
            </a:r>
            <a:r>
              <a:rPr spc="180" dirty="0">
                <a:solidFill>
                  <a:srgbClr val="262EA4"/>
                </a:solidFill>
              </a:rPr>
              <a:t> </a:t>
            </a:r>
            <a:r>
              <a:rPr dirty="0">
                <a:solidFill>
                  <a:srgbClr val="262EA4"/>
                </a:solidFill>
              </a:rPr>
              <a:t>database</a:t>
            </a:r>
            <a:r>
              <a:rPr spc="175" dirty="0">
                <a:solidFill>
                  <a:srgbClr val="262EA4"/>
                </a:solidFill>
              </a:rPr>
              <a:t> </a:t>
            </a:r>
            <a:r>
              <a:rPr dirty="0">
                <a:solidFill>
                  <a:srgbClr val="262EA4"/>
                </a:solidFill>
              </a:rPr>
              <a:t>estimates</a:t>
            </a:r>
            <a:r>
              <a:rPr spc="195" dirty="0">
                <a:solidFill>
                  <a:srgbClr val="262EA4"/>
                </a:solidFill>
              </a:rPr>
              <a:t> </a:t>
            </a:r>
            <a:r>
              <a:rPr dirty="0">
                <a:solidFill>
                  <a:srgbClr val="262EA4"/>
                </a:solidFill>
              </a:rPr>
              <a:t>depends</a:t>
            </a:r>
            <a:r>
              <a:rPr spc="185" dirty="0">
                <a:solidFill>
                  <a:srgbClr val="262EA4"/>
                </a:solidFill>
              </a:rPr>
              <a:t> </a:t>
            </a:r>
            <a:r>
              <a:rPr dirty="0">
                <a:solidFill>
                  <a:srgbClr val="262EA4"/>
                </a:solidFill>
              </a:rPr>
              <a:t>on</a:t>
            </a:r>
            <a:r>
              <a:rPr spc="190" dirty="0">
                <a:solidFill>
                  <a:srgbClr val="262EA4"/>
                </a:solidFill>
              </a:rPr>
              <a:t> </a:t>
            </a:r>
            <a:r>
              <a:rPr dirty="0">
                <a:solidFill>
                  <a:srgbClr val="262EA4"/>
                </a:solidFill>
              </a:rPr>
              <a:t>the</a:t>
            </a:r>
            <a:r>
              <a:rPr spc="180" dirty="0">
                <a:solidFill>
                  <a:srgbClr val="262EA4"/>
                </a:solidFill>
              </a:rPr>
              <a:t> </a:t>
            </a:r>
            <a:r>
              <a:rPr dirty="0">
                <a:solidFill>
                  <a:srgbClr val="262EA4"/>
                </a:solidFill>
              </a:rPr>
              <a:t>experience</a:t>
            </a:r>
            <a:r>
              <a:rPr spc="180" dirty="0">
                <a:solidFill>
                  <a:srgbClr val="262EA4"/>
                </a:solidFill>
              </a:rPr>
              <a:t> </a:t>
            </a:r>
            <a:r>
              <a:rPr spc="-25" dirty="0">
                <a:solidFill>
                  <a:srgbClr val="262EA4"/>
                </a:solidFill>
              </a:rPr>
              <a:t>of </a:t>
            </a:r>
            <a:r>
              <a:rPr dirty="0">
                <a:solidFill>
                  <a:srgbClr val="262EA4"/>
                </a:solidFill>
              </a:rPr>
              <a:t>the</a:t>
            </a:r>
            <a:r>
              <a:rPr spc="-50" dirty="0">
                <a:solidFill>
                  <a:srgbClr val="262EA4"/>
                </a:solidFill>
              </a:rPr>
              <a:t> </a:t>
            </a:r>
            <a:r>
              <a:rPr spc="-10" dirty="0">
                <a:solidFill>
                  <a:srgbClr val="262EA4"/>
                </a:solidFill>
              </a:rPr>
              <a:t>estimators,</a:t>
            </a:r>
            <a:r>
              <a:rPr spc="-45" dirty="0">
                <a:solidFill>
                  <a:srgbClr val="262EA4"/>
                </a:solidFill>
              </a:rPr>
              <a:t> </a:t>
            </a:r>
            <a:r>
              <a:rPr dirty="0">
                <a:solidFill>
                  <a:srgbClr val="262EA4"/>
                </a:solidFill>
              </a:rPr>
              <a:t>but</a:t>
            </a:r>
            <a:r>
              <a:rPr spc="-45" dirty="0">
                <a:solidFill>
                  <a:srgbClr val="262EA4"/>
                </a:solidFill>
              </a:rPr>
              <a:t> </a:t>
            </a:r>
            <a:r>
              <a:rPr dirty="0">
                <a:solidFill>
                  <a:srgbClr val="262EA4"/>
                </a:solidFill>
              </a:rPr>
              <a:t>over</a:t>
            </a:r>
            <a:r>
              <a:rPr spc="-50" dirty="0">
                <a:solidFill>
                  <a:srgbClr val="262EA4"/>
                </a:solidFill>
              </a:rPr>
              <a:t> </a:t>
            </a:r>
            <a:r>
              <a:rPr dirty="0">
                <a:solidFill>
                  <a:srgbClr val="262EA4"/>
                </a:solidFill>
              </a:rPr>
              <a:t>time</a:t>
            </a:r>
            <a:r>
              <a:rPr spc="-45" dirty="0">
                <a:solidFill>
                  <a:srgbClr val="262EA4"/>
                </a:solidFill>
              </a:rPr>
              <a:t> </a:t>
            </a:r>
            <a:r>
              <a:rPr dirty="0">
                <a:solidFill>
                  <a:srgbClr val="262EA4"/>
                </a:solidFill>
              </a:rPr>
              <a:t>the</a:t>
            </a:r>
            <a:r>
              <a:rPr spc="-50" dirty="0">
                <a:solidFill>
                  <a:srgbClr val="262EA4"/>
                </a:solidFill>
              </a:rPr>
              <a:t> </a:t>
            </a:r>
            <a:r>
              <a:rPr dirty="0">
                <a:solidFill>
                  <a:srgbClr val="262EA4"/>
                </a:solidFill>
              </a:rPr>
              <a:t>data</a:t>
            </a:r>
            <a:r>
              <a:rPr spc="-50" dirty="0">
                <a:solidFill>
                  <a:srgbClr val="262EA4"/>
                </a:solidFill>
              </a:rPr>
              <a:t> </a:t>
            </a:r>
            <a:r>
              <a:rPr dirty="0">
                <a:solidFill>
                  <a:srgbClr val="262EA4"/>
                </a:solidFill>
              </a:rPr>
              <a:t>quality</a:t>
            </a:r>
            <a:r>
              <a:rPr spc="-55" dirty="0">
                <a:solidFill>
                  <a:srgbClr val="262EA4"/>
                </a:solidFill>
              </a:rPr>
              <a:t> </a:t>
            </a:r>
            <a:r>
              <a:rPr dirty="0">
                <a:solidFill>
                  <a:srgbClr val="262EA4"/>
                </a:solidFill>
              </a:rPr>
              <a:t>should</a:t>
            </a:r>
            <a:r>
              <a:rPr spc="-45" dirty="0">
                <a:solidFill>
                  <a:srgbClr val="262EA4"/>
                </a:solidFill>
              </a:rPr>
              <a:t> </a:t>
            </a:r>
            <a:r>
              <a:rPr spc="-10" dirty="0">
                <a:solidFill>
                  <a:srgbClr val="262EA4"/>
                </a:solidFill>
              </a:rPr>
              <a:t>improve</a:t>
            </a:r>
          </a:p>
        </p:txBody>
      </p:sp>
      <p:pic>
        <p:nvPicPr>
          <p:cNvPr id="5" name="Picture 4">
            <a:extLst>
              <a:ext uri="{FF2B5EF4-FFF2-40B4-BE49-F238E27FC236}">
                <a16:creationId xmlns:a16="http://schemas.microsoft.com/office/drawing/2014/main" id="{C736E10C-0A00-FC63-163C-E3B79B57EBF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95" dirty="0">
                <a:solidFill>
                  <a:srgbClr val="FF0000"/>
                </a:solidFill>
              </a:rPr>
              <a:t>Assignement 3</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23</a:t>
            </a:fld>
            <a:endParaRPr spc="-25" dirty="0"/>
          </a:p>
        </p:txBody>
      </p:sp>
      <p:sp>
        <p:nvSpPr>
          <p:cNvPr id="3" name="object 3"/>
          <p:cNvSpPr txBox="1">
            <a:spLocks noGrp="1"/>
          </p:cNvSpPr>
          <p:nvPr>
            <p:ph type="body" idx="1"/>
          </p:nvPr>
        </p:nvSpPr>
        <p:spPr>
          <a:prstGeom prst="rect">
            <a:avLst/>
          </a:prstGeom>
        </p:spPr>
        <p:txBody>
          <a:bodyPr vert="horz" wrap="square" lIns="0" tIns="282955" rIns="0" bIns="0" rtlCol="0">
            <a:spAutoFit/>
          </a:bodyPr>
          <a:lstStyle/>
          <a:p>
            <a:pPr marL="525780" marR="5080" indent="-284480">
              <a:lnSpc>
                <a:spcPts val="3000"/>
              </a:lnSpc>
              <a:spcBef>
                <a:spcPts val="500"/>
              </a:spcBef>
              <a:buAutoNum type="arabicPeriod"/>
              <a:tabLst>
                <a:tab pos="527050" algn="l"/>
                <a:tab pos="1548130" algn="l"/>
                <a:tab pos="2377440" algn="l"/>
                <a:tab pos="3974465" algn="l"/>
                <a:tab pos="5732780" algn="l"/>
                <a:tab pos="7051040" algn="l"/>
                <a:tab pos="7718425" algn="l"/>
                <a:tab pos="9319260" algn="l"/>
              </a:tabLst>
            </a:pPr>
            <a:r>
              <a:rPr spc="-25" dirty="0"/>
              <a:t>Why</a:t>
            </a:r>
            <a:r>
              <a:rPr dirty="0"/>
              <a:t>	</a:t>
            </a:r>
            <a:r>
              <a:rPr spc="-25" dirty="0"/>
              <a:t>are</a:t>
            </a:r>
            <a:r>
              <a:rPr dirty="0"/>
              <a:t>	</a:t>
            </a:r>
            <a:r>
              <a:rPr spc="-10" dirty="0"/>
              <a:t>accurate</a:t>
            </a:r>
            <a:r>
              <a:rPr dirty="0"/>
              <a:t>	</a:t>
            </a:r>
            <a:r>
              <a:rPr spc="-10" dirty="0"/>
              <a:t>estimates</a:t>
            </a:r>
            <a:r>
              <a:rPr dirty="0"/>
              <a:t>	</a:t>
            </a:r>
            <a:r>
              <a:rPr spc="-10" dirty="0"/>
              <a:t>critical</a:t>
            </a:r>
            <a:r>
              <a:rPr dirty="0"/>
              <a:t>	</a:t>
            </a:r>
            <a:r>
              <a:rPr spc="-25" dirty="0"/>
              <a:t>to</a:t>
            </a:r>
            <a:r>
              <a:rPr dirty="0"/>
              <a:t>	</a:t>
            </a:r>
            <a:r>
              <a:rPr spc="-10" dirty="0"/>
              <a:t>effective</a:t>
            </a:r>
            <a:r>
              <a:rPr dirty="0"/>
              <a:t>	</a:t>
            </a:r>
            <a:r>
              <a:rPr spc="-20" dirty="0"/>
              <a:t>project 	</a:t>
            </a:r>
            <a:r>
              <a:rPr spc="-10" dirty="0"/>
              <a:t>management?</a:t>
            </a:r>
          </a:p>
          <a:p>
            <a:pPr marL="525780" marR="5080" indent="-284480">
              <a:lnSpc>
                <a:spcPts val="3120"/>
              </a:lnSpc>
              <a:spcBef>
                <a:spcPts val="885"/>
              </a:spcBef>
              <a:buAutoNum type="arabicPeriod"/>
              <a:tabLst>
                <a:tab pos="527050" algn="l"/>
                <a:tab pos="1332230" algn="l"/>
                <a:tab pos="2165985" algn="l"/>
                <a:tab pos="2791460" algn="l"/>
                <a:tab pos="3955415" algn="l"/>
                <a:tab pos="4394200" algn="l"/>
                <a:tab pos="4894580" algn="l"/>
                <a:tab pos="6817359" algn="l"/>
                <a:tab pos="8293734" algn="l"/>
                <a:tab pos="8919210" algn="l"/>
                <a:tab pos="10048240" algn="l"/>
              </a:tabLst>
            </a:pPr>
            <a:r>
              <a:rPr spc="-25" dirty="0"/>
              <a:t>How</a:t>
            </a:r>
            <a:r>
              <a:rPr dirty="0"/>
              <a:t>	</a:t>
            </a:r>
            <a:r>
              <a:rPr spc="-20" dirty="0"/>
              <a:t>does</a:t>
            </a:r>
            <a:r>
              <a:rPr dirty="0"/>
              <a:t>	</a:t>
            </a:r>
            <a:r>
              <a:rPr spc="-25" dirty="0"/>
              <a:t>the</a:t>
            </a:r>
            <a:r>
              <a:rPr dirty="0"/>
              <a:t>	</a:t>
            </a:r>
            <a:r>
              <a:rPr spc="-10" dirty="0"/>
              <a:t>culture</a:t>
            </a:r>
            <a:r>
              <a:rPr dirty="0"/>
              <a:t>	</a:t>
            </a:r>
            <a:r>
              <a:rPr spc="-25" dirty="0"/>
              <a:t>of</a:t>
            </a:r>
            <a:r>
              <a:rPr dirty="0"/>
              <a:t>	</a:t>
            </a:r>
            <a:r>
              <a:rPr spc="-25" dirty="0"/>
              <a:t>an</a:t>
            </a:r>
            <a:r>
              <a:rPr dirty="0"/>
              <a:t>	</a:t>
            </a:r>
            <a:r>
              <a:rPr spc="-10" dirty="0"/>
              <a:t>organization</a:t>
            </a:r>
            <a:r>
              <a:rPr dirty="0"/>
              <a:t>	</a:t>
            </a:r>
            <a:r>
              <a:rPr spc="-10" dirty="0"/>
              <a:t>influence</a:t>
            </a:r>
            <a:r>
              <a:rPr dirty="0"/>
              <a:t>	</a:t>
            </a:r>
            <a:r>
              <a:rPr spc="-25" dirty="0"/>
              <a:t>the</a:t>
            </a:r>
            <a:r>
              <a:rPr dirty="0"/>
              <a:t>	</a:t>
            </a:r>
            <a:r>
              <a:rPr spc="-10" dirty="0"/>
              <a:t>quality</a:t>
            </a:r>
            <a:r>
              <a:rPr dirty="0"/>
              <a:t>	</a:t>
            </a:r>
            <a:r>
              <a:rPr spc="-25" dirty="0"/>
              <a:t>of 	</a:t>
            </a:r>
            <a:r>
              <a:rPr spc="-10" dirty="0"/>
              <a:t>estimates?</a:t>
            </a:r>
          </a:p>
          <a:p>
            <a:pPr marL="525780" marR="5715" indent="-284480">
              <a:lnSpc>
                <a:spcPts val="3000"/>
              </a:lnSpc>
              <a:spcBef>
                <a:spcPts val="960"/>
              </a:spcBef>
              <a:buAutoNum type="arabicPeriod"/>
              <a:tabLst>
                <a:tab pos="527050" algn="l"/>
                <a:tab pos="1557655" algn="l"/>
                <a:tab pos="2264410" algn="l"/>
                <a:tab pos="2988945" algn="l"/>
                <a:tab pos="4828540" algn="l"/>
                <a:tab pos="6341110" algn="l"/>
                <a:tab pos="8143240" algn="l"/>
                <a:tab pos="8929370" algn="l"/>
              </a:tabLst>
            </a:pPr>
            <a:r>
              <a:rPr spc="-20" dirty="0"/>
              <a:t>What</a:t>
            </a:r>
            <a:r>
              <a:rPr dirty="0"/>
              <a:t>	</a:t>
            </a:r>
            <a:r>
              <a:rPr spc="-25" dirty="0"/>
              <a:t>are</a:t>
            </a:r>
            <a:r>
              <a:rPr dirty="0"/>
              <a:t>	</a:t>
            </a:r>
            <a:r>
              <a:rPr spc="-25" dirty="0"/>
              <a:t>the</a:t>
            </a:r>
            <a:r>
              <a:rPr dirty="0"/>
              <a:t>	</a:t>
            </a:r>
            <a:r>
              <a:rPr spc="-10" dirty="0"/>
              <a:t>differences</a:t>
            </a:r>
            <a:r>
              <a:rPr dirty="0"/>
              <a:t>	</a:t>
            </a:r>
            <a:r>
              <a:rPr spc="-10" dirty="0"/>
              <a:t>between</a:t>
            </a:r>
            <a:r>
              <a:rPr dirty="0"/>
              <a:t>	</a:t>
            </a:r>
            <a:r>
              <a:rPr spc="-25" dirty="0"/>
              <a:t>bottom-up</a:t>
            </a:r>
            <a:r>
              <a:rPr dirty="0"/>
              <a:t>	</a:t>
            </a:r>
            <a:r>
              <a:rPr spc="-25" dirty="0"/>
              <a:t>and</a:t>
            </a:r>
            <a:r>
              <a:rPr dirty="0"/>
              <a:t>	</a:t>
            </a:r>
            <a:r>
              <a:rPr spc="-20" dirty="0"/>
              <a:t>top-down 	</a:t>
            </a:r>
            <a:r>
              <a:rPr dirty="0"/>
              <a:t>estimating</a:t>
            </a:r>
            <a:r>
              <a:rPr spc="-140" dirty="0"/>
              <a:t> </a:t>
            </a:r>
            <a:r>
              <a:rPr spc="-10" dirty="0"/>
              <a:t>approaches?</a:t>
            </a:r>
          </a:p>
          <a:p>
            <a:pPr marL="525780" indent="-284480">
              <a:lnSpc>
                <a:spcPct val="100000"/>
              </a:lnSpc>
              <a:spcBef>
                <a:spcPts val="610"/>
              </a:spcBef>
              <a:buAutoNum type="arabicPeriod"/>
              <a:tabLst>
                <a:tab pos="525780" algn="l"/>
              </a:tabLst>
            </a:pPr>
            <a:r>
              <a:rPr dirty="0"/>
              <a:t>Under</a:t>
            </a:r>
            <a:r>
              <a:rPr spc="-70" dirty="0"/>
              <a:t> </a:t>
            </a:r>
            <a:r>
              <a:rPr dirty="0"/>
              <a:t>what</a:t>
            </a:r>
            <a:r>
              <a:rPr spc="-70" dirty="0"/>
              <a:t> </a:t>
            </a:r>
            <a:r>
              <a:rPr dirty="0"/>
              <a:t>conditions</a:t>
            </a:r>
            <a:r>
              <a:rPr spc="-60" dirty="0"/>
              <a:t> </a:t>
            </a:r>
            <a:r>
              <a:rPr dirty="0"/>
              <a:t>would</a:t>
            </a:r>
            <a:r>
              <a:rPr spc="-65" dirty="0"/>
              <a:t> </a:t>
            </a:r>
            <a:r>
              <a:rPr dirty="0"/>
              <a:t>you</a:t>
            </a:r>
            <a:r>
              <a:rPr spc="-65" dirty="0"/>
              <a:t> </a:t>
            </a:r>
            <a:r>
              <a:rPr spc="-10" dirty="0"/>
              <a:t>prefer</a:t>
            </a:r>
            <a:r>
              <a:rPr spc="-65" dirty="0"/>
              <a:t> </a:t>
            </a:r>
            <a:r>
              <a:rPr dirty="0"/>
              <a:t>one</a:t>
            </a:r>
            <a:r>
              <a:rPr spc="-75" dirty="0"/>
              <a:t> </a:t>
            </a:r>
            <a:r>
              <a:rPr dirty="0"/>
              <a:t>over</a:t>
            </a:r>
            <a:r>
              <a:rPr spc="-65" dirty="0"/>
              <a:t> </a:t>
            </a:r>
            <a:r>
              <a:rPr dirty="0"/>
              <a:t>the</a:t>
            </a:r>
            <a:r>
              <a:rPr spc="-70" dirty="0"/>
              <a:t> </a:t>
            </a:r>
            <a:r>
              <a:rPr spc="-10" dirty="0"/>
              <a:t>other?</a:t>
            </a:r>
          </a:p>
          <a:p>
            <a:pPr marL="525780" indent="-284480">
              <a:lnSpc>
                <a:spcPct val="100000"/>
              </a:lnSpc>
              <a:spcBef>
                <a:spcPts val="745"/>
              </a:spcBef>
              <a:buAutoNum type="arabicPeriod"/>
              <a:tabLst>
                <a:tab pos="525780" algn="l"/>
              </a:tabLst>
            </a:pPr>
            <a:r>
              <a:rPr dirty="0"/>
              <a:t>What</a:t>
            </a:r>
            <a:r>
              <a:rPr spc="-30" dirty="0"/>
              <a:t> </a:t>
            </a:r>
            <a:r>
              <a:rPr dirty="0"/>
              <a:t>are</a:t>
            </a:r>
            <a:r>
              <a:rPr spc="-40" dirty="0"/>
              <a:t> </a:t>
            </a:r>
            <a:r>
              <a:rPr dirty="0"/>
              <a:t>the</a:t>
            </a:r>
            <a:r>
              <a:rPr spc="-35" dirty="0"/>
              <a:t> </a:t>
            </a:r>
            <a:r>
              <a:rPr dirty="0"/>
              <a:t>major</a:t>
            </a:r>
            <a:r>
              <a:rPr spc="-40" dirty="0"/>
              <a:t> </a:t>
            </a:r>
            <a:r>
              <a:rPr dirty="0"/>
              <a:t>types</a:t>
            </a:r>
            <a:r>
              <a:rPr spc="-30" dirty="0"/>
              <a:t> </a:t>
            </a:r>
            <a:r>
              <a:rPr dirty="0"/>
              <a:t>of</a:t>
            </a:r>
            <a:r>
              <a:rPr spc="-40" dirty="0"/>
              <a:t> </a:t>
            </a:r>
            <a:r>
              <a:rPr spc="-10" dirty="0"/>
              <a:t>costs?</a:t>
            </a:r>
          </a:p>
        </p:txBody>
      </p:sp>
      <p:pic>
        <p:nvPicPr>
          <p:cNvPr id="5" name="Picture 4">
            <a:extLst>
              <a:ext uri="{FF2B5EF4-FFF2-40B4-BE49-F238E27FC236}">
                <a16:creationId xmlns:a16="http://schemas.microsoft.com/office/drawing/2014/main" id="{D8D288A0-305C-729E-20BA-0FCF4E21777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95" dirty="0">
                <a:solidFill>
                  <a:srgbClr val="FF0000"/>
                </a:solidFill>
              </a:rPr>
              <a:t>Exercise 3</a:t>
            </a:r>
            <a:r>
              <a:rPr spc="150" dirty="0"/>
              <a:t> </a:t>
            </a:r>
            <a:r>
              <a:rPr sz="1950" spc="-20" dirty="0"/>
              <a:t>(1/2)</a:t>
            </a:r>
            <a:endParaRPr sz="1950" dirty="0"/>
          </a:p>
        </p:txBody>
      </p:sp>
      <p:sp>
        <p:nvSpPr>
          <p:cNvPr id="3" name="object 3"/>
          <p:cNvSpPr txBox="1"/>
          <p:nvPr/>
        </p:nvSpPr>
        <p:spPr>
          <a:xfrm>
            <a:off x="916939" y="1572259"/>
            <a:ext cx="8272145" cy="749300"/>
          </a:xfrm>
          <a:prstGeom prst="rect">
            <a:avLst/>
          </a:prstGeom>
        </p:spPr>
        <p:txBody>
          <a:bodyPr vert="horz" wrap="square" lIns="0" tIns="12700" rIns="0" bIns="0" rtlCol="0">
            <a:spAutoFit/>
          </a:bodyPr>
          <a:lstStyle/>
          <a:p>
            <a:pPr marL="340995" indent="-328295">
              <a:lnSpc>
                <a:spcPct val="100000"/>
              </a:lnSpc>
              <a:spcBef>
                <a:spcPts val="100"/>
              </a:spcBef>
              <a:buAutoNum type="arabicPeriod"/>
              <a:tabLst>
                <a:tab pos="340995" algn="l"/>
              </a:tabLst>
            </a:pPr>
            <a:r>
              <a:rPr sz="1800" dirty="0">
                <a:latin typeface="Calibri"/>
                <a:cs typeface="Calibri"/>
              </a:rPr>
              <a:t>Calculate</a:t>
            </a:r>
            <a:r>
              <a:rPr sz="1800" spc="-40" dirty="0">
                <a:latin typeface="Calibri"/>
                <a:cs typeface="Calibri"/>
              </a:rPr>
              <a:t> </a:t>
            </a:r>
            <a:r>
              <a:rPr sz="1800" dirty="0">
                <a:latin typeface="Calibri"/>
                <a:cs typeface="Calibri"/>
              </a:rPr>
              <a:t>the</a:t>
            </a:r>
            <a:r>
              <a:rPr sz="1800" spc="-40" dirty="0">
                <a:latin typeface="Calibri"/>
                <a:cs typeface="Calibri"/>
              </a:rPr>
              <a:t> </a:t>
            </a:r>
            <a:r>
              <a:rPr sz="1800" dirty="0">
                <a:latin typeface="Calibri"/>
                <a:cs typeface="Calibri"/>
              </a:rPr>
              <a:t>direct</a:t>
            </a:r>
            <a:r>
              <a:rPr sz="1800" spc="-50" dirty="0">
                <a:latin typeface="Calibri"/>
                <a:cs typeface="Calibri"/>
              </a:rPr>
              <a:t> </a:t>
            </a:r>
            <a:r>
              <a:rPr sz="1800" dirty="0">
                <a:latin typeface="Calibri"/>
                <a:cs typeface="Calibri"/>
              </a:rPr>
              <a:t>cost</a:t>
            </a:r>
            <a:r>
              <a:rPr sz="1800" spc="-45" dirty="0">
                <a:latin typeface="Calibri"/>
                <a:cs typeface="Calibri"/>
              </a:rPr>
              <a:t> </a:t>
            </a:r>
            <a:r>
              <a:rPr sz="1800" dirty="0">
                <a:latin typeface="Calibri"/>
                <a:cs typeface="Calibri"/>
              </a:rPr>
              <a:t>of</a:t>
            </a:r>
            <a:r>
              <a:rPr sz="1800" spc="-40" dirty="0">
                <a:latin typeface="Calibri"/>
                <a:cs typeface="Calibri"/>
              </a:rPr>
              <a:t> </a:t>
            </a:r>
            <a:r>
              <a:rPr sz="1800" dirty="0">
                <a:latin typeface="Calibri"/>
                <a:cs typeface="Calibri"/>
              </a:rPr>
              <a:t>labor</a:t>
            </a:r>
            <a:r>
              <a:rPr sz="1800" spc="-45" dirty="0">
                <a:latin typeface="Calibri"/>
                <a:cs typeface="Calibri"/>
              </a:rPr>
              <a:t> </a:t>
            </a:r>
            <a:r>
              <a:rPr sz="1800" dirty="0">
                <a:latin typeface="Calibri"/>
                <a:cs typeface="Calibri"/>
              </a:rPr>
              <a:t>for</a:t>
            </a:r>
            <a:r>
              <a:rPr sz="1800" spc="-50" dirty="0">
                <a:latin typeface="Calibri"/>
                <a:cs typeface="Calibri"/>
              </a:rPr>
              <a:t> </a:t>
            </a:r>
            <a:r>
              <a:rPr sz="1800" dirty="0">
                <a:latin typeface="Calibri"/>
                <a:cs typeface="Calibri"/>
              </a:rPr>
              <a:t>a</a:t>
            </a:r>
            <a:r>
              <a:rPr sz="1800" spc="-40" dirty="0">
                <a:latin typeface="Calibri"/>
                <a:cs typeface="Calibri"/>
              </a:rPr>
              <a:t> </a:t>
            </a:r>
            <a:r>
              <a:rPr sz="1800" dirty="0">
                <a:latin typeface="Calibri"/>
                <a:cs typeface="Calibri"/>
              </a:rPr>
              <a:t>project</a:t>
            </a:r>
            <a:r>
              <a:rPr sz="1800" spc="-45" dirty="0">
                <a:latin typeface="Calibri"/>
                <a:cs typeface="Calibri"/>
              </a:rPr>
              <a:t> </a:t>
            </a:r>
            <a:r>
              <a:rPr sz="1800" dirty="0">
                <a:latin typeface="Calibri"/>
                <a:cs typeface="Calibri"/>
              </a:rPr>
              <a:t>team</a:t>
            </a:r>
            <a:r>
              <a:rPr sz="1800" spc="-45" dirty="0">
                <a:latin typeface="Calibri"/>
                <a:cs typeface="Calibri"/>
              </a:rPr>
              <a:t> </a:t>
            </a:r>
            <a:r>
              <a:rPr sz="1800" dirty="0">
                <a:latin typeface="Calibri"/>
                <a:cs typeface="Calibri"/>
              </a:rPr>
              <a:t>member</a:t>
            </a:r>
            <a:r>
              <a:rPr sz="1800" spc="-45" dirty="0">
                <a:latin typeface="Calibri"/>
                <a:cs typeface="Calibri"/>
              </a:rPr>
              <a:t> </a:t>
            </a:r>
            <a:r>
              <a:rPr sz="1800" dirty="0">
                <a:latin typeface="Calibri"/>
                <a:cs typeface="Calibri"/>
              </a:rPr>
              <a:t>using</a:t>
            </a:r>
            <a:r>
              <a:rPr sz="1800" spc="-40" dirty="0">
                <a:latin typeface="Calibri"/>
                <a:cs typeface="Calibri"/>
              </a:rPr>
              <a:t> </a:t>
            </a:r>
            <a:r>
              <a:rPr sz="1800" dirty="0">
                <a:latin typeface="Calibri"/>
                <a:cs typeface="Calibri"/>
              </a:rPr>
              <a:t>the</a:t>
            </a:r>
            <a:r>
              <a:rPr sz="1800" spc="-45" dirty="0">
                <a:latin typeface="Calibri"/>
                <a:cs typeface="Calibri"/>
              </a:rPr>
              <a:t> </a:t>
            </a:r>
            <a:r>
              <a:rPr sz="1800" spc="-10" dirty="0">
                <a:latin typeface="Calibri"/>
                <a:cs typeface="Calibri"/>
              </a:rPr>
              <a:t>following</a:t>
            </a:r>
            <a:r>
              <a:rPr sz="1800" spc="-40" dirty="0">
                <a:latin typeface="Calibri"/>
                <a:cs typeface="Calibri"/>
              </a:rPr>
              <a:t> </a:t>
            </a:r>
            <a:r>
              <a:rPr sz="1800" spc="-10" dirty="0">
                <a:latin typeface="Calibri"/>
                <a:cs typeface="Calibri"/>
              </a:rPr>
              <a:t>data:</a:t>
            </a:r>
            <a:endParaRPr sz="1800">
              <a:latin typeface="Calibri"/>
              <a:cs typeface="Calibri"/>
            </a:endParaRPr>
          </a:p>
          <a:p>
            <a:pPr marL="593090" lvl="1" indent="-179070">
              <a:lnSpc>
                <a:spcPts val="1750"/>
              </a:lnSpc>
              <a:spcBef>
                <a:spcPts val="35"/>
              </a:spcBef>
              <a:buAutoNum type="alphaLcPeriod"/>
              <a:tabLst>
                <a:tab pos="593090" algn="l"/>
                <a:tab pos="3028950" algn="l"/>
              </a:tabLst>
            </a:pPr>
            <a:r>
              <a:rPr sz="1500" dirty="0">
                <a:latin typeface="Calibri"/>
                <a:cs typeface="Calibri"/>
              </a:rPr>
              <a:t>Hourly</a:t>
            </a:r>
            <a:r>
              <a:rPr sz="1500" spc="-65" dirty="0">
                <a:latin typeface="Calibri"/>
                <a:cs typeface="Calibri"/>
              </a:rPr>
              <a:t> </a:t>
            </a:r>
            <a:r>
              <a:rPr sz="1500" dirty="0">
                <a:latin typeface="Calibri"/>
                <a:cs typeface="Calibri"/>
              </a:rPr>
              <a:t>rate:</a:t>
            </a:r>
            <a:r>
              <a:rPr sz="1500" spc="-60" dirty="0">
                <a:latin typeface="Calibri"/>
                <a:cs typeface="Calibri"/>
              </a:rPr>
              <a:t> </a:t>
            </a:r>
            <a:r>
              <a:rPr sz="1500" spc="-10" dirty="0">
                <a:latin typeface="Calibri"/>
                <a:cs typeface="Calibri"/>
              </a:rPr>
              <a:t>$40/hr</a:t>
            </a:r>
            <a:r>
              <a:rPr sz="1500" dirty="0">
                <a:latin typeface="Calibri"/>
                <a:cs typeface="Calibri"/>
              </a:rPr>
              <a:t>	b.</a:t>
            </a:r>
            <a:r>
              <a:rPr sz="1500" spc="-50" dirty="0">
                <a:latin typeface="Calibri"/>
                <a:cs typeface="Calibri"/>
              </a:rPr>
              <a:t> </a:t>
            </a:r>
            <a:r>
              <a:rPr sz="1500" dirty="0">
                <a:latin typeface="Calibri"/>
                <a:cs typeface="Calibri"/>
              </a:rPr>
              <a:t>Hours</a:t>
            </a:r>
            <a:r>
              <a:rPr sz="1500" spc="-40" dirty="0">
                <a:latin typeface="Calibri"/>
                <a:cs typeface="Calibri"/>
              </a:rPr>
              <a:t> </a:t>
            </a:r>
            <a:r>
              <a:rPr sz="1500" dirty="0">
                <a:latin typeface="Calibri"/>
                <a:cs typeface="Calibri"/>
              </a:rPr>
              <a:t>needed:</a:t>
            </a:r>
            <a:r>
              <a:rPr sz="1500" spc="-40" dirty="0">
                <a:latin typeface="Calibri"/>
                <a:cs typeface="Calibri"/>
              </a:rPr>
              <a:t> </a:t>
            </a:r>
            <a:r>
              <a:rPr sz="1500" spc="-25" dirty="0">
                <a:latin typeface="Calibri"/>
                <a:cs typeface="Calibri"/>
              </a:rPr>
              <a:t>80</a:t>
            </a:r>
            <a:endParaRPr sz="1500">
              <a:latin typeface="Calibri"/>
              <a:cs typeface="Calibri"/>
            </a:endParaRPr>
          </a:p>
          <a:p>
            <a:pPr marL="414020">
              <a:lnSpc>
                <a:spcPts val="1750"/>
              </a:lnSpc>
            </a:pPr>
            <a:r>
              <a:rPr sz="1500" dirty="0">
                <a:latin typeface="Calibri"/>
                <a:cs typeface="Calibri"/>
              </a:rPr>
              <a:t>c.</a:t>
            </a:r>
            <a:r>
              <a:rPr sz="1500" spc="-65" dirty="0">
                <a:latin typeface="Calibri"/>
                <a:cs typeface="Calibri"/>
              </a:rPr>
              <a:t> </a:t>
            </a:r>
            <a:r>
              <a:rPr sz="1500" dirty="0">
                <a:latin typeface="Calibri"/>
                <a:cs typeface="Calibri"/>
              </a:rPr>
              <a:t>Overhead</a:t>
            </a:r>
            <a:r>
              <a:rPr sz="1500" spc="-55" dirty="0">
                <a:latin typeface="Calibri"/>
                <a:cs typeface="Calibri"/>
              </a:rPr>
              <a:t> </a:t>
            </a:r>
            <a:r>
              <a:rPr sz="1500" dirty="0">
                <a:latin typeface="Calibri"/>
                <a:cs typeface="Calibri"/>
              </a:rPr>
              <a:t>rate:</a:t>
            </a:r>
            <a:r>
              <a:rPr sz="1500" spc="-55" dirty="0">
                <a:latin typeface="Calibri"/>
                <a:cs typeface="Calibri"/>
              </a:rPr>
              <a:t> </a:t>
            </a:r>
            <a:r>
              <a:rPr sz="1500" spc="-25" dirty="0">
                <a:latin typeface="Calibri"/>
                <a:cs typeface="Calibri"/>
              </a:rPr>
              <a:t>40%</a:t>
            </a:r>
            <a:endParaRPr sz="1500">
              <a:latin typeface="Calibri"/>
              <a:cs typeface="Calibri"/>
            </a:endParaRPr>
          </a:p>
        </p:txBody>
      </p:sp>
      <p:sp>
        <p:nvSpPr>
          <p:cNvPr id="4" name="object 4"/>
          <p:cNvSpPr txBox="1"/>
          <p:nvPr/>
        </p:nvSpPr>
        <p:spPr>
          <a:xfrm>
            <a:off x="916939" y="2346452"/>
            <a:ext cx="10356850" cy="299720"/>
          </a:xfrm>
          <a:prstGeom prst="rect">
            <a:avLst/>
          </a:prstGeom>
        </p:spPr>
        <p:txBody>
          <a:bodyPr vert="horz" wrap="square" lIns="0" tIns="12700" rIns="0" bIns="0" rtlCol="0">
            <a:spAutoFit/>
          </a:bodyPr>
          <a:lstStyle/>
          <a:p>
            <a:pPr marL="12700">
              <a:lnSpc>
                <a:spcPct val="100000"/>
              </a:lnSpc>
              <a:spcBef>
                <a:spcPts val="100"/>
              </a:spcBef>
              <a:tabLst>
                <a:tab pos="340995" algn="l"/>
              </a:tabLst>
            </a:pPr>
            <a:r>
              <a:rPr sz="1800" spc="-25" dirty="0">
                <a:latin typeface="Calibri"/>
                <a:cs typeface="Calibri"/>
              </a:rPr>
              <a:t>2.</a:t>
            </a:r>
            <a:r>
              <a:rPr sz="1800" dirty="0">
                <a:latin typeface="Calibri"/>
                <a:cs typeface="Calibri"/>
              </a:rPr>
              <a:t>	Mrs.</a:t>
            </a:r>
            <a:r>
              <a:rPr sz="1800" spc="65" dirty="0">
                <a:latin typeface="Calibri"/>
                <a:cs typeface="Calibri"/>
              </a:rPr>
              <a:t> </a:t>
            </a:r>
            <a:r>
              <a:rPr sz="1800" spc="-10" dirty="0">
                <a:latin typeface="Calibri"/>
                <a:cs typeface="Calibri"/>
              </a:rPr>
              <a:t>Tolstoy</a:t>
            </a:r>
            <a:r>
              <a:rPr sz="1800" spc="65" dirty="0">
                <a:latin typeface="Calibri"/>
                <a:cs typeface="Calibri"/>
              </a:rPr>
              <a:t> </a:t>
            </a:r>
            <a:r>
              <a:rPr sz="1800" dirty="0">
                <a:latin typeface="Calibri"/>
                <a:cs typeface="Calibri"/>
              </a:rPr>
              <a:t>and</a:t>
            </a:r>
            <a:r>
              <a:rPr sz="1800" spc="75" dirty="0">
                <a:latin typeface="Calibri"/>
                <a:cs typeface="Calibri"/>
              </a:rPr>
              <a:t> </a:t>
            </a:r>
            <a:r>
              <a:rPr sz="1800" dirty="0">
                <a:latin typeface="Calibri"/>
                <a:cs typeface="Calibri"/>
              </a:rPr>
              <a:t>her</a:t>
            </a:r>
            <a:r>
              <a:rPr sz="1800" spc="65" dirty="0">
                <a:latin typeface="Calibri"/>
                <a:cs typeface="Calibri"/>
              </a:rPr>
              <a:t> </a:t>
            </a:r>
            <a:r>
              <a:rPr sz="1800" dirty="0">
                <a:latin typeface="Calibri"/>
                <a:cs typeface="Calibri"/>
              </a:rPr>
              <a:t>husband,</a:t>
            </a:r>
            <a:r>
              <a:rPr sz="1800" spc="70" dirty="0">
                <a:latin typeface="Calibri"/>
                <a:cs typeface="Calibri"/>
              </a:rPr>
              <a:t> </a:t>
            </a:r>
            <a:r>
              <a:rPr sz="1800" dirty="0">
                <a:latin typeface="Calibri"/>
                <a:cs typeface="Calibri"/>
              </a:rPr>
              <a:t>Serge,</a:t>
            </a:r>
            <a:r>
              <a:rPr sz="1800" spc="65" dirty="0">
                <a:latin typeface="Calibri"/>
                <a:cs typeface="Calibri"/>
              </a:rPr>
              <a:t> </a:t>
            </a:r>
            <a:r>
              <a:rPr sz="1800" dirty="0">
                <a:latin typeface="Calibri"/>
                <a:cs typeface="Calibri"/>
              </a:rPr>
              <a:t>are</a:t>
            </a:r>
            <a:r>
              <a:rPr sz="1800" spc="70" dirty="0">
                <a:latin typeface="Calibri"/>
                <a:cs typeface="Calibri"/>
              </a:rPr>
              <a:t> </a:t>
            </a:r>
            <a:r>
              <a:rPr sz="1800" dirty="0">
                <a:latin typeface="Calibri"/>
                <a:cs typeface="Calibri"/>
              </a:rPr>
              <a:t>planning</a:t>
            </a:r>
            <a:r>
              <a:rPr sz="1800" spc="75" dirty="0">
                <a:latin typeface="Calibri"/>
                <a:cs typeface="Calibri"/>
              </a:rPr>
              <a:t> </a:t>
            </a:r>
            <a:r>
              <a:rPr sz="1800" dirty="0">
                <a:latin typeface="Calibri"/>
                <a:cs typeface="Calibri"/>
              </a:rPr>
              <a:t>their</a:t>
            </a:r>
            <a:r>
              <a:rPr sz="1800" spc="65" dirty="0">
                <a:latin typeface="Calibri"/>
                <a:cs typeface="Calibri"/>
              </a:rPr>
              <a:t> </a:t>
            </a:r>
            <a:r>
              <a:rPr sz="1800" dirty="0">
                <a:latin typeface="Calibri"/>
                <a:cs typeface="Calibri"/>
              </a:rPr>
              <a:t>dream</a:t>
            </a:r>
            <a:r>
              <a:rPr sz="1800" spc="75" dirty="0">
                <a:latin typeface="Calibri"/>
                <a:cs typeface="Calibri"/>
              </a:rPr>
              <a:t> </a:t>
            </a:r>
            <a:r>
              <a:rPr sz="1800" dirty="0">
                <a:latin typeface="Calibri"/>
                <a:cs typeface="Calibri"/>
              </a:rPr>
              <a:t>house.</a:t>
            </a:r>
            <a:r>
              <a:rPr sz="1800" spc="65" dirty="0">
                <a:latin typeface="Calibri"/>
                <a:cs typeface="Calibri"/>
              </a:rPr>
              <a:t> </a:t>
            </a:r>
            <a:r>
              <a:rPr sz="1800" dirty="0">
                <a:latin typeface="Calibri"/>
                <a:cs typeface="Calibri"/>
              </a:rPr>
              <a:t>The</a:t>
            </a:r>
            <a:r>
              <a:rPr sz="1800" spc="70" dirty="0">
                <a:latin typeface="Calibri"/>
                <a:cs typeface="Calibri"/>
              </a:rPr>
              <a:t> </a:t>
            </a:r>
            <a:r>
              <a:rPr sz="1800" dirty="0">
                <a:latin typeface="Calibri"/>
                <a:cs typeface="Calibri"/>
              </a:rPr>
              <a:t>lot</a:t>
            </a:r>
            <a:r>
              <a:rPr sz="1800" spc="70" dirty="0">
                <a:latin typeface="Calibri"/>
                <a:cs typeface="Calibri"/>
              </a:rPr>
              <a:t> </a:t>
            </a:r>
            <a:r>
              <a:rPr sz="1800" dirty="0">
                <a:latin typeface="Calibri"/>
                <a:cs typeface="Calibri"/>
              </a:rPr>
              <a:t>for</a:t>
            </a:r>
            <a:r>
              <a:rPr sz="1800" spc="65" dirty="0">
                <a:latin typeface="Calibri"/>
                <a:cs typeface="Calibri"/>
              </a:rPr>
              <a:t> </a:t>
            </a:r>
            <a:r>
              <a:rPr sz="1800" dirty="0">
                <a:latin typeface="Calibri"/>
                <a:cs typeface="Calibri"/>
              </a:rPr>
              <a:t>the</a:t>
            </a:r>
            <a:r>
              <a:rPr sz="1800" spc="75" dirty="0">
                <a:latin typeface="Calibri"/>
                <a:cs typeface="Calibri"/>
              </a:rPr>
              <a:t> </a:t>
            </a:r>
            <a:r>
              <a:rPr sz="1800" dirty="0">
                <a:latin typeface="Calibri"/>
                <a:cs typeface="Calibri"/>
              </a:rPr>
              <a:t>house</a:t>
            </a:r>
            <a:r>
              <a:rPr sz="1800" spc="70" dirty="0">
                <a:latin typeface="Calibri"/>
                <a:cs typeface="Calibri"/>
              </a:rPr>
              <a:t> </a:t>
            </a:r>
            <a:r>
              <a:rPr sz="1800" dirty="0">
                <a:latin typeface="Calibri"/>
                <a:cs typeface="Calibri"/>
              </a:rPr>
              <a:t>sits</a:t>
            </a:r>
            <a:r>
              <a:rPr sz="1800" spc="65" dirty="0">
                <a:latin typeface="Calibri"/>
                <a:cs typeface="Calibri"/>
              </a:rPr>
              <a:t> </a:t>
            </a:r>
            <a:r>
              <a:rPr sz="1800" dirty="0">
                <a:latin typeface="Calibri"/>
                <a:cs typeface="Calibri"/>
              </a:rPr>
              <a:t>high</a:t>
            </a:r>
            <a:r>
              <a:rPr sz="1800" spc="80" dirty="0">
                <a:latin typeface="Calibri"/>
                <a:cs typeface="Calibri"/>
              </a:rPr>
              <a:t> </a:t>
            </a:r>
            <a:r>
              <a:rPr sz="1800" dirty="0">
                <a:latin typeface="Calibri"/>
                <a:cs typeface="Calibri"/>
              </a:rPr>
              <a:t>on</a:t>
            </a:r>
            <a:r>
              <a:rPr sz="1800" spc="70" dirty="0">
                <a:latin typeface="Calibri"/>
                <a:cs typeface="Calibri"/>
              </a:rPr>
              <a:t> </a:t>
            </a:r>
            <a:r>
              <a:rPr sz="1800" spc="-50" dirty="0">
                <a:latin typeface="Calibri"/>
                <a:cs typeface="Calibri"/>
              </a:rPr>
              <a:t>a</a:t>
            </a:r>
            <a:endParaRPr sz="1800">
              <a:latin typeface="Calibri"/>
              <a:cs typeface="Calibri"/>
            </a:endParaRPr>
          </a:p>
        </p:txBody>
      </p:sp>
      <p:sp>
        <p:nvSpPr>
          <p:cNvPr id="5" name="object 5"/>
          <p:cNvSpPr txBox="1"/>
          <p:nvPr/>
        </p:nvSpPr>
        <p:spPr>
          <a:xfrm>
            <a:off x="1245869" y="2538476"/>
            <a:ext cx="1002792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hill</a:t>
            </a:r>
            <a:r>
              <a:rPr sz="1800" spc="60" dirty="0">
                <a:latin typeface="Calibri"/>
                <a:cs typeface="Calibri"/>
              </a:rPr>
              <a:t> </a:t>
            </a:r>
            <a:r>
              <a:rPr sz="1800" dirty="0">
                <a:latin typeface="Calibri"/>
                <a:cs typeface="Calibri"/>
              </a:rPr>
              <a:t>with</a:t>
            </a:r>
            <a:r>
              <a:rPr sz="1800" spc="65" dirty="0">
                <a:latin typeface="Calibri"/>
                <a:cs typeface="Calibri"/>
              </a:rPr>
              <a:t> </a:t>
            </a:r>
            <a:r>
              <a:rPr sz="1800" dirty="0">
                <a:latin typeface="Calibri"/>
                <a:cs typeface="Calibri"/>
              </a:rPr>
              <a:t>a</a:t>
            </a:r>
            <a:r>
              <a:rPr sz="1800" spc="60" dirty="0">
                <a:latin typeface="Calibri"/>
                <a:cs typeface="Calibri"/>
              </a:rPr>
              <a:t> </a:t>
            </a:r>
            <a:r>
              <a:rPr sz="1800" dirty="0">
                <a:latin typeface="Calibri"/>
                <a:cs typeface="Calibri"/>
              </a:rPr>
              <a:t>beautiful</a:t>
            </a:r>
            <a:r>
              <a:rPr sz="1800" spc="65" dirty="0">
                <a:latin typeface="Calibri"/>
                <a:cs typeface="Calibri"/>
              </a:rPr>
              <a:t> </a:t>
            </a:r>
            <a:r>
              <a:rPr sz="1800" dirty="0">
                <a:latin typeface="Calibri"/>
                <a:cs typeface="Calibri"/>
              </a:rPr>
              <a:t>view</a:t>
            </a:r>
            <a:r>
              <a:rPr sz="1800" spc="60" dirty="0">
                <a:latin typeface="Calibri"/>
                <a:cs typeface="Calibri"/>
              </a:rPr>
              <a:t> </a:t>
            </a:r>
            <a:r>
              <a:rPr sz="1800" dirty="0">
                <a:latin typeface="Calibri"/>
                <a:cs typeface="Calibri"/>
              </a:rPr>
              <a:t>of</a:t>
            </a:r>
            <a:r>
              <a:rPr sz="1800" spc="60" dirty="0">
                <a:latin typeface="Calibri"/>
                <a:cs typeface="Calibri"/>
              </a:rPr>
              <a:t> </a:t>
            </a:r>
            <a:r>
              <a:rPr sz="1800" dirty="0">
                <a:latin typeface="Calibri"/>
                <a:cs typeface="Calibri"/>
              </a:rPr>
              <a:t>the</a:t>
            </a:r>
            <a:r>
              <a:rPr sz="1800" spc="70" dirty="0">
                <a:latin typeface="Calibri"/>
                <a:cs typeface="Calibri"/>
              </a:rPr>
              <a:t> </a:t>
            </a:r>
            <a:r>
              <a:rPr sz="1800" dirty="0">
                <a:latin typeface="Calibri"/>
                <a:cs typeface="Calibri"/>
              </a:rPr>
              <a:t>Appalachian</a:t>
            </a:r>
            <a:r>
              <a:rPr sz="1800" spc="65" dirty="0">
                <a:latin typeface="Calibri"/>
                <a:cs typeface="Calibri"/>
              </a:rPr>
              <a:t> </a:t>
            </a:r>
            <a:r>
              <a:rPr sz="1800" dirty="0">
                <a:latin typeface="Calibri"/>
                <a:cs typeface="Calibri"/>
              </a:rPr>
              <a:t>Mountains.</a:t>
            </a:r>
            <a:r>
              <a:rPr sz="1800" spc="55" dirty="0">
                <a:latin typeface="Calibri"/>
                <a:cs typeface="Calibri"/>
              </a:rPr>
              <a:t> </a:t>
            </a:r>
            <a:r>
              <a:rPr sz="1800" dirty="0">
                <a:latin typeface="Calibri"/>
                <a:cs typeface="Calibri"/>
              </a:rPr>
              <a:t>The</a:t>
            </a:r>
            <a:r>
              <a:rPr sz="1800" spc="70" dirty="0">
                <a:latin typeface="Calibri"/>
                <a:cs typeface="Calibri"/>
              </a:rPr>
              <a:t> </a:t>
            </a:r>
            <a:r>
              <a:rPr sz="1800" dirty="0">
                <a:latin typeface="Calibri"/>
                <a:cs typeface="Calibri"/>
              </a:rPr>
              <a:t>plans</a:t>
            </a:r>
            <a:r>
              <a:rPr sz="1800" spc="60" dirty="0">
                <a:latin typeface="Calibri"/>
                <a:cs typeface="Calibri"/>
              </a:rPr>
              <a:t> </a:t>
            </a:r>
            <a:r>
              <a:rPr sz="1800" dirty="0">
                <a:latin typeface="Calibri"/>
                <a:cs typeface="Calibri"/>
              </a:rPr>
              <a:t>show</a:t>
            </a:r>
            <a:r>
              <a:rPr sz="1800" spc="60" dirty="0">
                <a:latin typeface="Calibri"/>
                <a:cs typeface="Calibri"/>
              </a:rPr>
              <a:t> </a:t>
            </a:r>
            <a:r>
              <a:rPr sz="1800" dirty="0">
                <a:latin typeface="Calibri"/>
                <a:cs typeface="Calibri"/>
              </a:rPr>
              <a:t>the</a:t>
            </a:r>
            <a:r>
              <a:rPr sz="1800" spc="65" dirty="0">
                <a:latin typeface="Calibri"/>
                <a:cs typeface="Calibri"/>
              </a:rPr>
              <a:t> </a:t>
            </a:r>
            <a:r>
              <a:rPr sz="1800" dirty="0">
                <a:latin typeface="Calibri"/>
                <a:cs typeface="Calibri"/>
              </a:rPr>
              <a:t>size</a:t>
            </a:r>
            <a:r>
              <a:rPr sz="1800" spc="70" dirty="0">
                <a:latin typeface="Calibri"/>
                <a:cs typeface="Calibri"/>
              </a:rPr>
              <a:t> </a:t>
            </a:r>
            <a:r>
              <a:rPr sz="1800" dirty="0">
                <a:latin typeface="Calibri"/>
                <a:cs typeface="Calibri"/>
              </a:rPr>
              <a:t>of</a:t>
            </a:r>
            <a:r>
              <a:rPr sz="1800" spc="60" dirty="0">
                <a:latin typeface="Calibri"/>
                <a:cs typeface="Calibri"/>
              </a:rPr>
              <a:t> </a:t>
            </a:r>
            <a:r>
              <a:rPr sz="1800" dirty="0">
                <a:latin typeface="Calibri"/>
                <a:cs typeface="Calibri"/>
              </a:rPr>
              <a:t>the</a:t>
            </a:r>
            <a:r>
              <a:rPr sz="1800" spc="65" dirty="0">
                <a:latin typeface="Calibri"/>
                <a:cs typeface="Calibri"/>
              </a:rPr>
              <a:t> </a:t>
            </a:r>
            <a:r>
              <a:rPr sz="1800" dirty="0">
                <a:latin typeface="Calibri"/>
                <a:cs typeface="Calibri"/>
              </a:rPr>
              <a:t>house</a:t>
            </a:r>
            <a:r>
              <a:rPr sz="1800" spc="70" dirty="0">
                <a:latin typeface="Calibri"/>
                <a:cs typeface="Calibri"/>
              </a:rPr>
              <a:t> </a:t>
            </a:r>
            <a:r>
              <a:rPr sz="1800" dirty="0">
                <a:latin typeface="Calibri"/>
                <a:cs typeface="Calibri"/>
              </a:rPr>
              <a:t>to</a:t>
            </a:r>
            <a:r>
              <a:rPr sz="1800" spc="60" dirty="0">
                <a:latin typeface="Calibri"/>
                <a:cs typeface="Calibri"/>
              </a:rPr>
              <a:t> </a:t>
            </a:r>
            <a:r>
              <a:rPr sz="1800" dirty="0">
                <a:latin typeface="Calibri"/>
                <a:cs typeface="Calibri"/>
              </a:rPr>
              <a:t>be</a:t>
            </a:r>
            <a:r>
              <a:rPr sz="1800" spc="65" dirty="0">
                <a:latin typeface="Calibri"/>
                <a:cs typeface="Calibri"/>
              </a:rPr>
              <a:t> </a:t>
            </a:r>
            <a:r>
              <a:rPr sz="1800" spc="-10" dirty="0">
                <a:latin typeface="Calibri"/>
                <a:cs typeface="Calibri"/>
              </a:rPr>
              <a:t>2,900</a:t>
            </a:r>
            <a:endParaRPr sz="1800">
              <a:latin typeface="Calibri"/>
              <a:cs typeface="Calibri"/>
            </a:endParaRPr>
          </a:p>
        </p:txBody>
      </p:sp>
      <p:sp>
        <p:nvSpPr>
          <p:cNvPr id="6" name="object 6"/>
          <p:cNvSpPr txBox="1"/>
          <p:nvPr/>
        </p:nvSpPr>
        <p:spPr>
          <a:xfrm>
            <a:off x="1245869" y="2727452"/>
            <a:ext cx="1002855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square</a:t>
            </a:r>
            <a:r>
              <a:rPr sz="1800" spc="270" dirty="0">
                <a:latin typeface="Calibri"/>
                <a:cs typeface="Calibri"/>
              </a:rPr>
              <a:t> </a:t>
            </a:r>
            <a:r>
              <a:rPr sz="1800" dirty="0">
                <a:latin typeface="Calibri"/>
                <a:cs typeface="Calibri"/>
              </a:rPr>
              <a:t>feet.</a:t>
            </a:r>
            <a:r>
              <a:rPr sz="1800" spc="260" dirty="0">
                <a:latin typeface="Calibri"/>
                <a:cs typeface="Calibri"/>
              </a:rPr>
              <a:t> </a:t>
            </a:r>
            <a:r>
              <a:rPr sz="1800" dirty="0">
                <a:latin typeface="Calibri"/>
                <a:cs typeface="Calibri"/>
              </a:rPr>
              <a:t>The</a:t>
            </a:r>
            <a:r>
              <a:rPr sz="1800" spc="275" dirty="0">
                <a:latin typeface="Calibri"/>
                <a:cs typeface="Calibri"/>
              </a:rPr>
              <a:t> </a:t>
            </a:r>
            <a:r>
              <a:rPr sz="1800" dirty="0">
                <a:latin typeface="Calibri"/>
                <a:cs typeface="Calibri"/>
              </a:rPr>
              <a:t>average</a:t>
            </a:r>
            <a:r>
              <a:rPr sz="1800" spc="270" dirty="0">
                <a:latin typeface="Calibri"/>
                <a:cs typeface="Calibri"/>
              </a:rPr>
              <a:t> </a:t>
            </a:r>
            <a:r>
              <a:rPr sz="1800" dirty="0">
                <a:latin typeface="Calibri"/>
                <a:cs typeface="Calibri"/>
              </a:rPr>
              <a:t>price</a:t>
            </a:r>
            <a:r>
              <a:rPr sz="1800" spc="270" dirty="0">
                <a:latin typeface="Calibri"/>
                <a:cs typeface="Calibri"/>
              </a:rPr>
              <a:t> </a:t>
            </a:r>
            <a:r>
              <a:rPr sz="1800" dirty="0">
                <a:latin typeface="Calibri"/>
                <a:cs typeface="Calibri"/>
              </a:rPr>
              <a:t>for</a:t>
            </a:r>
            <a:r>
              <a:rPr sz="1800" spc="265" dirty="0">
                <a:latin typeface="Calibri"/>
                <a:cs typeface="Calibri"/>
              </a:rPr>
              <a:t> </a:t>
            </a:r>
            <a:r>
              <a:rPr sz="1800" dirty="0">
                <a:latin typeface="Calibri"/>
                <a:cs typeface="Calibri"/>
              </a:rPr>
              <a:t>a</a:t>
            </a:r>
            <a:r>
              <a:rPr sz="1800" spc="270" dirty="0">
                <a:latin typeface="Calibri"/>
                <a:cs typeface="Calibri"/>
              </a:rPr>
              <a:t> </a:t>
            </a:r>
            <a:r>
              <a:rPr sz="1800" dirty="0">
                <a:latin typeface="Calibri"/>
                <a:cs typeface="Calibri"/>
              </a:rPr>
              <a:t>lot</a:t>
            </a:r>
            <a:r>
              <a:rPr sz="1800" spc="260" dirty="0">
                <a:latin typeface="Calibri"/>
                <a:cs typeface="Calibri"/>
              </a:rPr>
              <a:t> </a:t>
            </a:r>
            <a:r>
              <a:rPr sz="1800" dirty="0">
                <a:latin typeface="Calibri"/>
                <a:cs typeface="Calibri"/>
              </a:rPr>
              <a:t>and</a:t>
            </a:r>
            <a:r>
              <a:rPr sz="1800" spc="275" dirty="0">
                <a:latin typeface="Calibri"/>
                <a:cs typeface="Calibri"/>
              </a:rPr>
              <a:t> </a:t>
            </a:r>
            <a:r>
              <a:rPr sz="1800" dirty="0">
                <a:latin typeface="Calibri"/>
                <a:cs typeface="Calibri"/>
              </a:rPr>
              <a:t>house</a:t>
            </a:r>
            <a:r>
              <a:rPr sz="1800" spc="270" dirty="0">
                <a:latin typeface="Calibri"/>
                <a:cs typeface="Calibri"/>
              </a:rPr>
              <a:t> </a:t>
            </a:r>
            <a:r>
              <a:rPr sz="1800" dirty="0">
                <a:latin typeface="Calibri"/>
                <a:cs typeface="Calibri"/>
              </a:rPr>
              <a:t>similar</a:t>
            </a:r>
            <a:r>
              <a:rPr sz="1800" spc="265" dirty="0">
                <a:latin typeface="Calibri"/>
                <a:cs typeface="Calibri"/>
              </a:rPr>
              <a:t> </a:t>
            </a:r>
            <a:r>
              <a:rPr sz="1800" dirty="0">
                <a:latin typeface="Calibri"/>
                <a:cs typeface="Calibri"/>
              </a:rPr>
              <a:t>to</a:t>
            </a:r>
            <a:r>
              <a:rPr sz="1800" spc="270" dirty="0">
                <a:latin typeface="Calibri"/>
                <a:cs typeface="Calibri"/>
              </a:rPr>
              <a:t> </a:t>
            </a:r>
            <a:r>
              <a:rPr sz="1800" dirty="0">
                <a:latin typeface="Calibri"/>
                <a:cs typeface="Calibri"/>
              </a:rPr>
              <a:t>this</a:t>
            </a:r>
            <a:r>
              <a:rPr sz="1800" spc="260" dirty="0">
                <a:latin typeface="Calibri"/>
                <a:cs typeface="Calibri"/>
              </a:rPr>
              <a:t> </a:t>
            </a:r>
            <a:r>
              <a:rPr sz="1800" dirty="0">
                <a:latin typeface="Calibri"/>
                <a:cs typeface="Calibri"/>
              </a:rPr>
              <a:t>one</a:t>
            </a:r>
            <a:r>
              <a:rPr sz="1800" spc="270" dirty="0">
                <a:latin typeface="Calibri"/>
                <a:cs typeface="Calibri"/>
              </a:rPr>
              <a:t> </a:t>
            </a:r>
            <a:r>
              <a:rPr sz="1800" dirty="0">
                <a:latin typeface="Calibri"/>
                <a:cs typeface="Calibri"/>
              </a:rPr>
              <a:t>has</a:t>
            </a:r>
            <a:r>
              <a:rPr sz="1800" spc="265" dirty="0">
                <a:latin typeface="Calibri"/>
                <a:cs typeface="Calibri"/>
              </a:rPr>
              <a:t> </a:t>
            </a:r>
            <a:r>
              <a:rPr sz="1800" dirty="0">
                <a:latin typeface="Calibri"/>
                <a:cs typeface="Calibri"/>
              </a:rPr>
              <a:t>been</a:t>
            </a:r>
            <a:r>
              <a:rPr sz="1800" spc="270" dirty="0">
                <a:latin typeface="Calibri"/>
                <a:cs typeface="Calibri"/>
              </a:rPr>
              <a:t> </a:t>
            </a:r>
            <a:r>
              <a:rPr sz="1800" dirty="0">
                <a:latin typeface="Calibri"/>
                <a:cs typeface="Calibri"/>
              </a:rPr>
              <a:t>$120</a:t>
            </a:r>
            <a:r>
              <a:rPr sz="1800" spc="265" dirty="0">
                <a:latin typeface="Calibri"/>
                <a:cs typeface="Calibri"/>
              </a:rPr>
              <a:t> </a:t>
            </a:r>
            <a:r>
              <a:rPr sz="1800" dirty="0">
                <a:latin typeface="Calibri"/>
                <a:cs typeface="Calibri"/>
              </a:rPr>
              <a:t>per</a:t>
            </a:r>
            <a:r>
              <a:rPr sz="1800" spc="265" dirty="0">
                <a:latin typeface="Calibri"/>
                <a:cs typeface="Calibri"/>
              </a:rPr>
              <a:t> </a:t>
            </a:r>
            <a:r>
              <a:rPr sz="1800" dirty="0">
                <a:latin typeface="Calibri"/>
                <a:cs typeface="Calibri"/>
              </a:rPr>
              <a:t>square</a:t>
            </a:r>
            <a:r>
              <a:rPr sz="1800" spc="270" dirty="0">
                <a:latin typeface="Calibri"/>
                <a:cs typeface="Calibri"/>
              </a:rPr>
              <a:t> </a:t>
            </a:r>
            <a:r>
              <a:rPr sz="1800" spc="-10" dirty="0">
                <a:latin typeface="Calibri"/>
                <a:cs typeface="Calibri"/>
              </a:rPr>
              <a:t>foot.</a:t>
            </a:r>
            <a:endParaRPr sz="1800">
              <a:latin typeface="Calibri"/>
              <a:cs typeface="Calibri"/>
            </a:endParaRPr>
          </a:p>
        </p:txBody>
      </p:sp>
      <p:sp>
        <p:nvSpPr>
          <p:cNvPr id="7" name="object 7"/>
          <p:cNvSpPr txBox="1"/>
          <p:nvPr/>
        </p:nvSpPr>
        <p:spPr>
          <a:xfrm>
            <a:off x="1245869" y="2919476"/>
            <a:ext cx="1002855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Fortunately,</a:t>
            </a:r>
            <a:r>
              <a:rPr sz="1800" spc="125" dirty="0">
                <a:latin typeface="Calibri"/>
                <a:cs typeface="Calibri"/>
              </a:rPr>
              <a:t> </a:t>
            </a:r>
            <a:r>
              <a:rPr sz="1800" dirty="0">
                <a:latin typeface="Calibri"/>
                <a:cs typeface="Calibri"/>
              </a:rPr>
              <a:t>Serge</a:t>
            </a:r>
            <a:r>
              <a:rPr sz="1800" spc="130" dirty="0">
                <a:latin typeface="Calibri"/>
                <a:cs typeface="Calibri"/>
              </a:rPr>
              <a:t> </a:t>
            </a:r>
            <a:r>
              <a:rPr sz="1800" dirty="0">
                <a:latin typeface="Calibri"/>
                <a:cs typeface="Calibri"/>
              </a:rPr>
              <a:t>is</a:t>
            </a:r>
            <a:r>
              <a:rPr sz="1800" spc="120" dirty="0">
                <a:latin typeface="Calibri"/>
                <a:cs typeface="Calibri"/>
              </a:rPr>
              <a:t> </a:t>
            </a:r>
            <a:r>
              <a:rPr sz="1800" dirty="0">
                <a:latin typeface="Calibri"/>
                <a:cs typeface="Calibri"/>
              </a:rPr>
              <a:t>a</a:t>
            </a:r>
            <a:r>
              <a:rPr sz="1800" spc="125" dirty="0">
                <a:latin typeface="Calibri"/>
                <a:cs typeface="Calibri"/>
              </a:rPr>
              <a:t> </a:t>
            </a:r>
            <a:r>
              <a:rPr sz="1800" dirty="0">
                <a:latin typeface="Calibri"/>
                <a:cs typeface="Calibri"/>
              </a:rPr>
              <a:t>retired</a:t>
            </a:r>
            <a:r>
              <a:rPr sz="1800" spc="130" dirty="0">
                <a:latin typeface="Calibri"/>
                <a:cs typeface="Calibri"/>
              </a:rPr>
              <a:t> </a:t>
            </a:r>
            <a:r>
              <a:rPr sz="1800" dirty="0">
                <a:latin typeface="Calibri"/>
                <a:cs typeface="Calibri"/>
              </a:rPr>
              <a:t>plumber</a:t>
            </a:r>
            <a:r>
              <a:rPr sz="1800" spc="125" dirty="0">
                <a:latin typeface="Calibri"/>
                <a:cs typeface="Calibri"/>
              </a:rPr>
              <a:t> </a:t>
            </a:r>
            <a:r>
              <a:rPr sz="1800" dirty="0">
                <a:latin typeface="Calibri"/>
                <a:cs typeface="Calibri"/>
              </a:rPr>
              <a:t>and</a:t>
            </a:r>
            <a:r>
              <a:rPr sz="1800" spc="130" dirty="0">
                <a:latin typeface="Calibri"/>
                <a:cs typeface="Calibri"/>
              </a:rPr>
              <a:t> </a:t>
            </a:r>
            <a:r>
              <a:rPr sz="1800" dirty="0">
                <a:latin typeface="Calibri"/>
                <a:cs typeface="Calibri"/>
              </a:rPr>
              <a:t>feels</a:t>
            </a:r>
            <a:r>
              <a:rPr sz="1800" spc="125" dirty="0">
                <a:latin typeface="Calibri"/>
                <a:cs typeface="Calibri"/>
              </a:rPr>
              <a:t> </a:t>
            </a:r>
            <a:r>
              <a:rPr sz="1800" dirty="0">
                <a:latin typeface="Calibri"/>
                <a:cs typeface="Calibri"/>
              </a:rPr>
              <a:t>he</a:t>
            </a:r>
            <a:r>
              <a:rPr sz="1800" spc="130" dirty="0">
                <a:latin typeface="Calibri"/>
                <a:cs typeface="Calibri"/>
              </a:rPr>
              <a:t> </a:t>
            </a:r>
            <a:r>
              <a:rPr sz="1800" dirty="0">
                <a:latin typeface="Calibri"/>
                <a:cs typeface="Calibri"/>
              </a:rPr>
              <a:t>can</a:t>
            </a:r>
            <a:r>
              <a:rPr sz="1800" spc="130" dirty="0">
                <a:latin typeface="Calibri"/>
                <a:cs typeface="Calibri"/>
              </a:rPr>
              <a:t> </a:t>
            </a:r>
            <a:r>
              <a:rPr sz="1800" dirty="0">
                <a:latin typeface="Calibri"/>
                <a:cs typeface="Calibri"/>
              </a:rPr>
              <a:t>save</a:t>
            </a:r>
            <a:r>
              <a:rPr sz="1800" spc="130" dirty="0">
                <a:latin typeface="Calibri"/>
                <a:cs typeface="Calibri"/>
              </a:rPr>
              <a:t> </a:t>
            </a:r>
            <a:r>
              <a:rPr sz="1800" dirty="0">
                <a:latin typeface="Calibri"/>
                <a:cs typeface="Calibri"/>
              </a:rPr>
              <a:t>money</a:t>
            </a:r>
            <a:r>
              <a:rPr sz="1800" spc="125" dirty="0">
                <a:latin typeface="Calibri"/>
                <a:cs typeface="Calibri"/>
              </a:rPr>
              <a:t> </a:t>
            </a:r>
            <a:r>
              <a:rPr sz="1800" dirty="0">
                <a:latin typeface="Calibri"/>
                <a:cs typeface="Calibri"/>
              </a:rPr>
              <a:t>by</a:t>
            </a:r>
            <a:r>
              <a:rPr sz="1800" spc="125" dirty="0">
                <a:latin typeface="Calibri"/>
                <a:cs typeface="Calibri"/>
              </a:rPr>
              <a:t> </a:t>
            </a:r>
            <a:r>
              <a:rPr sz="1800" dirty="0">
                <a:latin typeface="Calibri"/>
                <a:cs typeface="Calibri"/>
              </a:rPr>
              <a:t>installing</a:t>
            </a:r>
            <a:r>
              <a:rPr sz="1800" spc="130" dirty="0">
                <a:latin typeface="Calibri"/>
                <a:cs typeface="Calibri"/>
              </a:rPr>
              <a:t> </a:t>
            </a:r>
            <a:r>
              <a:rPr sz="1800" dirty="0">
                <a:latin typeface="Calibri"/>
                <a:cs typeface="Calibri"/>
              </a:rPr>
              <a:t>the</a:t>
            </a:r>
            <a:r>
              <a:rPr sz="1800" spc="130" dirty="0">
                <a:latin typeface="Calibri"/>
                <a:cs typeface="Calibri"/>
              </a:rPr>
              <a:t> </a:t>
            </a:r>
            <a:r>
              <a:rPr sz="1800" dirty="0">
                <a:latin typeface="Calibri"/>
                <a:cs typeface="Calibri"/>
              </a:rPr>
              <a:t>plumbing</a:t>
            </a:r>
            <a:r>
              <a:rPr sz="1800" spc="130" dirty="0">
                <a:latin typeface="Calibri"/>
                <a:cs typeface="Calibri"/>
              </a:rPr>
              <a:t> </a:t>
            </a:r>
            <a:r>
              <a:rPr sz="1800" dirty="0">
                <a:latin typeface="Calibri"/>
                <a:cs typeface="Calibri"/>
              </a:rPr>
              <a:t>him-</a:t>
            </a:r>
            <a:r>
              <a:rPr sz="1800" spc="125" dirty="0">
                <a:latin typeface="Calibri"/>
                <a:cs typeface="Calibri"/>
              </a:rPr>
              <a:t> </a:t>
            </a:r>
            <a:r>
              <a:rPr sz="1800" spc="-10" dirty="0">
                <a:latin typeface="Calibri"/>
                <a:cs typeface="Calibri"/>
              </a:rPr>
              <a:t>self.</a:t>
            </a:r>
            <a:endParaRPr sz="1800">
              <a:latin typeface="Calibri"/>
              <a:cs typeface="Calibri"/>
            </a:endParaRPr>
          </a:p>
        </p:txBody>
      </p:sp>
      <p:sp>
        <p:nvSpPr>
          <p:cNvPr id="8" name="object 8"/>
          <p:cNvSpPr txBox="1"/>
          <p:nvPr/>
        </p:nvSpPr>
        <p:spPr>
          <a:xfrm>
            <a:off x="1245869" y="3108452"/>
            <a:ext cx="572452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Mrs.</a:t>
            </a:r>
            <a:r>
              <a:rPr sz="1800" spc="-55" dirty="0">
                <a:latin typeface="Calibri"/>
                <a:cs typeface="Calibri"/>
              </a:rPr>
              <a:t> </a:t>
            </a:r>
            <a:r>
              <a:rPr sz="1800" spc="-25" dirty="0">
                <a:latin typeface="Calibri"/>
                <a:cs typeface="Calibri"/>
              </a:rPr>
              <a:t>Tolstoy</a:t>
            </a:r>
            <a:r>
              <a:rPr sz="1800" spc="-55" dirty="0">
                <a:latin typeface="Calibri"/>
                <a:cs typeface="Calibri"/>
              </a:rPr>
              <a:t> </a:t>
            </a:r>
            <a:r>
              <a:rPr sz="1800" dirty="0">
                <a:latin typeface="Calibri"/>
                <a:cs typeface="Calibri"/>
              </a:rPr>
              <a:t>feels</a:t>
            </a:r>
            <a:r>
              <a:rPr sz="1800" spc="-55" dirty="0">
                <a:latin typeface="Calibri"/>
                <a:cs typeface="Calibri"/>
              </a:rPr>
              <a:t> </a:t>
            </a:r>
            <a:r>
              <a:rPr sz="1800" dirty="0">
                <a:latin typeface="Calibri"/>
                <a:cs typeface="Calibri"/>
              </a:rPr>
              <a:t>she</a:t>
            </a:r>
            <a:r>
              <a:rPr sz="1800" spc="-45" dirty="0">
                <a:latin typeface="Calibri"/>
                <a:cs typeface="Calibri"/>
              </a:rPr>
              <a:t> </a:t>
            </a:r>
            <a:r>
              <a:rPr sz="1800" dirty="0">
                <a:latin typeface="Calibri"/>
                <a:cs typeface="Calibri"/>
              </a:rPr>
              <a:t>can</a:t>
            </a:r>
            <a:r>
              <a:rPr sz="1800" spc="-50" dirty="0">
                <a:latin typeface="Calibri"/>
                <a:cs typeface="Calibri"/>
              </a:rPr>
              <a:t> </a:t>
            </a:r>
            <a:r>
              <a:rPr sz="1800" dirty="0">
                <a:latin typeface="Calibri"/>
                <a:cs typeface="Calibri"/>
              </a:rPr>
              <a:t>take</a:t>
            </a:r>
            <a:r>
              <a:rPr sz="1800" spc="-45" dirty="0">
                <a:latin typeface="Calibri"/>
                <a:cs typeface="Calibri"/>
              </a:rPr>
              <a:t> </a:t>
            </a:r>
            <a:r>
              <a:rPr sz="1800" dirty="0">
                <a:latin typeface="Calibri"/>
                <a:cs typeface="Calibri"/>
              </a:rPr>
              <a:t>care</a:t>
            </a:r>
            <a:r>
              <a:rPr sz="1800" spc="-50" dirty="0">
                <a:latin typeface="Calibri"/>
                <a:cs typeface="Calibri"/>
              </a:rPr>
              <a:t> </a:t>
            </a:r>
            <a:r>
              <a:rPr sz="1800" dirty="0">
                <a:latin typeface="Calibri"/>
                <a:cs typeface="Calibri"/>
              </a:rPr>
              <a:t>of</a:t>
            </a:r>
            <a:r>
              <a:rPr sz="1800" spc="-50" dirty="0">
                <a:latin typeface="Calibri"/>
                <a:cs typeface="Calibri"/>
              </a:rPr>
              <a:t> </a:t>
            </a:r>
            <a:r>
              <a:rPr sz="1800" dirty="0">
                <a:latin typeface="Calibri"/>
                <a:cs typeface="Calibri"/>
              </a:rPr>
              <a:t>the</a:t>
            </a:r>
            <a:r>
              <a:rPr sz="1800" spc="-50" dirty="0">
                <a:latin typeface="Calibri"/>
                <a:cs typeface="Calibri"/>
              </a:rPr>
              <a:t> </a:t>
            </a:r>
            <a:r>
              <a:rPr sz="1800" dirty="0">
                <a:latin typeface="Calibri"/>
                <a:cs typeface="Calibri"/>
              </a:rPr>
              <a:t>interior</a:t>
            </a:r>
            <a:r>
              <a:rPr sz="1800" spc="-55" dirty="0">
                <a:latin typeface="Calibri"/>
                <a:cs typeface="Calibri"/>
              </a:rPr>
              <a:t> </a:t>
            </a:r>
            <a:r>
              <a:rPr sz="1800" spc="-10" dirty="0">
                <a:latin typeface="Calibri"/>
                <a:cs typeface="Calibri"/>
              </a:rPr>
              <a:t>decorating.</a:t>
            </a:r>
            <a:endParaRPr sz="1800">
              <a:latin typeface="Calibri"/>
              <a:cs typeface="Calibri"/>
            </a:endParaRPr>
          </a:p>
        </p:txBody>
      </p:sp>
      <p:sp>
        <p:nvSpPr>
          <p:cNvPr id="9" name="object 9"/>
          <p:cNvSpPr txBox="1"/>
          <p:nvPr/>
        </p:nvSpPr>
        <p:spPr>
          <a:xfrm>
            <a:off x="1282064" y="3425444"/>
            <a:ext cx="999236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The</a:t>
            </a:r>
            <a:r>
              <a:rPr sz="1800" spc="35" dirty="0">
                <a:latin typeface="Calibri"/>
                <a:cs typeface="Calibri"/>
              </a:rPr>
              <a:t> </a:t>
            </a:r>
            <a:r>
              <a:rPr sz="1800" dirty="0">
                <a:latin typeface="Calibri"/>
                <a:cs typeface="Calibri"/>
              </a:rPr>
              <a:t>following</a:t>
            </a:r>
            <a:r>
              <a:rPr sz="1800" spc="40" dirty="0">
                <a:latin typeface="Calibri"/>
                <a:cs typeface="Calibri"/>
              </a:rPr>
              <a:t> </a:t>
            </a:r>
            <a:r>
              <a:rPr sz="1800" dirty="0">
                <a:latin typeface="Calibri"/>
                <a:cs typeface="Calibri"/>
              </a:rPr>
              <a:t>average</a:t>
            </a:r>
            <a:r>
              <a:rPr sz="1800" spc="40" dirty="0">
                <a:latin typeface="Calibri"/>
                <a:cs typeface="Calibri"/>
              </a:rPr>
              <a:t> </a:t>
            </a:r>
            <a:r>
              <a:rPr sz="1800" dirty="0">
                <a:latin typeface="Calibri"/>
                <a:cs typeface="Calibri"/>
              </a:rPr>
              <a:t>cost</a:t>
            </a:r>
            <a:r>
              <a:rPr sz="1800" spc="35" dirty="0">
                <a:latin typeface="Calibri"/>
                <a:cs typeface="Calibri"/>
              </a:rPr>
              <a:t> </a:t>
            </a:r>
            <a:r>
              <a:rPr sz="1800" dirty="0">
                <a:latin typeface="Calibri"/>
                <a:cs typeface="Calibri"/>
              </a:rPr>
              <a:t>information</a:t>
            </a:r>
            <a:r>
              <a:rPr sz="1800" spc="35" dirty="0">
                <a:latin typeface="Calibri"/>
                <a:cs typeface="Calibri"/>
              </a:rPr>
              <a:t> </a:t>
            </a:r>
            <a:r>
              <a:rPr sz="1800" dirty="0">
                <a:latin typeface="Calibri"/>
                <a:cs typeface="Calibri"/>
              </a:rPr>
              <a:t>is</a:t>
            </a:r>
            <a:r>
              <a:rPr sz="1800" spc="35" dirty="0">
                <a:latin typeface="Calibri"/>
                <a:cs typeface="Calibri"/>
              </a:rPr>
              <a:t> </a:t>
            </a:r>
            <a:r>
              <a:rPr sz="1800" dirty="0">
                <a:latin typeface="Calibri"/>
                <a:cs typeface="Calibri"/>
              </a:rPr>
              <a:t>available</a:t>
            </a:r>
            <a:r>
              <a:rPr sz="1800" spc="35" dirty="0">
                <a:latin typeface="Calibri"/>
                <a:cs typeface="Calibri"/>
              </a:rPr>
              <a:t> </a:t>
            </a:r>
            <a:r>
              <a:rPr sz="1800" dirty="0">
                <a:latin typeface="Calibri"/>
                <a:cs typeface="Calibri"/>
              </a:rPr>
              <a:t>from</a:t>
            </a:r>
            <a:r>
              <a:rPr sz="1800" spc="35" dirty="0">
                <a:latin typeface="Calibri"/>
                <a:cs typeface="Calibri"/>
              </a:rPr>
              <a:t> </a:t>
            </a:r>
            <a:r>
              <a:rPr sz="1800" dirty="0">
                <a:latin typeface="Calibri"/>
                <a:cs typeface="Calibri"/>
              </a:rPr>
              <a:t>a</a:t>
            </a:r>
            <a:r>
              <a:rPr sz="1800" spc="35" dirty="0">
                <a:latin typeface="Calibri"/>
                <a:cs typeface="Calibri"/>
              </a:rPr>
              <a:t> </a:t>
            </a:r>
            <a:r>
              <a:rPr sz="1800" dirty="0">
                <a:latin typeface="Calibri"/>
                <a:cs typeface="Calibri"/>
              </a:rPr>
              <a:t>local</a:t>
            </a:r>
            <a:r>
              <a:rPr sz="1800" spc="35" dirty="0">
                <a:latin typeface="Calibri"/>
                <a:cs typeface="Calibri"/>
              </a:rPr>
              <a:t> </a:t>
            </a:r>
            <a:r>
              <a:rPr sz="1800" dirty="0">
                <a:latin typeface="Calibri"/>
                <a:cs typeface="Calibri"/>
              </a:rPr>
              <a:t>bank</a:t>
            </a:r>
            <a:r>
              <a:rPr sz="1800" spc="30" dirty="0">
                <a:latin typeface="Calibri"/>
                <a:cs typeface="Calibri"/>
              </a:rPr>
              <a:t> </a:t>
            </a:r>
            <a:r>
              <a:rPr sz="1800" dirty="0">
                <a:latin typeface="Calibri"/>
                <a:cs typeface="Calibri"/>
              </a:rPr>
              <a:t>that</a:t>
            </a:r>
            <a:r>
              <a:rPr sz="1800" spc="30" dirty="0">
                <a:latin typeface="Calibri"/>
                <a:cs typeface="Calibri"/>
              </a:rPr>
              <a:t> </a:t>
            </a:r>
            <a:r>
              <a:rPr sz="1800" dirty="0">
                <a:latin typeface="Calibri"/>
                <a:cs typeface="Calibri"/>
              </a:rPr>
              <a:t>makes</a:t>
            </a:r>
            <a:r>
              <a:rPr sz="1800" spc="35" dirty="0">
                <a:latin typeface="Calibri"/>
                <a:cs typeface="Calibri"/>
              </a:rPr>
              <a:t> </a:t>
            </a:r>
            <a:r>
              <a:rPr sz="1800" dirty="0">
                <a:latin typeface="Calibri"/>
                <a:cs typeface="Calibri"/>
              </a:rPr>
              <a:t>loans</a:t>
            </a:r>
            <a:r>
              <a:rPr sz="1800" spc="30" dirty="0">
                <a:latin typeface="Calibri"/>
                <a:cs typeface="Calibri"/>
              </a:rPr>
              <a:t> </a:t>
            </a:r>
            <a:r>
              <a:rPr sz="1800" dirty="0">
                <a:latin typeface="Calibri"/>
                <a:cs typeface="Calibri"/>
              </a:rPr>
              <a:t>to</a:t>
            </a:r>
            <a:r>
              <a:rPr sz="1800" spc="40" dirty="0">
                <a:latin typeface="Calibri"/>
                <a:cs typeface="Calibri"/>
              </a:rPr>
              <a:t> </a:t>
            </a:r>
            <a:r>
              <a:rPr sz="1800" dirty="0">
                <a:latin typeface="Calibri"/>
                <a:cs typeface="Calibri"/>
              </a:rPr>
              <a:t>local</a:t>
            </a:r>
            <a:r>
              <a:rPr sz="1800" spc="35" dirty="0">
                <a:latin typeface="Calibri"/>
                <a:cs typeface="Calibri"/>
              </a:rPr>
              <a:t> </a:t>
            </a:r>
            <a:r>
              <a:rPr sz="1800" spc="-10" dirty="0">
                <a:latin typeface="Calibri"/>
                <a:cs typeface="Calibri"/>
              </a:rPr>
              <a:t>contractors</a:t>
            </a:r>
            <a:endParaRPr sz="1800">
              <a:latin typeface="Calibri"/>
              <a:cs typeface="Calibri"/>
            </a:endParaRPr>
          </a:p>
        </p:txBody>
      </p:sp>
      <p:sp>
        <p:nvSpPr>
          <p:cNvPr id="10" name="object 10"/>
          <p:cNvSpPr txBox="1"/>
          <p:nvPr/>
        </p:nvSpPr>
        <p:spPr>
          <a:xfrm>
            <a:off x="1282064" y="3617467"/>
            <a:ext cx="866902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and</a:t>
            </a:r>
            <a:r>
              <a:rPr sz="1800" spc="-45" dirty="0">
                <a:latin typeface="Calibri"/>
                <a:cs typeface="Calibri"/>
              </a:rPr>
              <a:t> </a:t>
            </a:r>
            <a:r>
              <a:rPr sz="1800" dirty="0">
                <a:latin typeface="Calibri"/>
                <a:cs typeface="Calibri"/>
              </a:rPr>
              <a:t>dispenses</a:t>
            </a:r>
            <a:r>
              <a:rPr sz="1800" spc="-50" dirty="0">
                <a:latin typeface="Calibri"/>
                <a:cs typeface="Calibri"/>
              </a:rPr>
              <a:t> </a:t>
            </a:r>
            <a:r>
              <a:rPr sz="1800" spc="-10" dirty="0">
                <a:latin typeface="Calibri"/>
                <a:cs typeface="Calibri"/>
              </a:rPr>
              <a:t>progress</a:t>
            </a:r>
            <a:r>
              <a:rPr sz="1800" spc="-50" dirty="0">
                <a:latin typeface="Calibri"/>
                <a:cs typeface="Calibri"/>
              </a:rPr>
              <a:t> </a:t>
            </a:r>
            <a:r>
              <a:rPr sz="1800" dirty="0">
                <a:latin typeface="Calibri"/>
                <a:cs typeface="Calibri"/>
              </a:rPr>
              <a:t>payments</a:t>
            </a:r>
            <a:r>
              <a:rPr sz="1800" spc="-50" dirty="0">
                <a:latin typeface="Calibri"/>
                <a:cs typeface="Calibri"/>
              </a:rPr>
              <a:t> </a:t>
            </a:r>
            <a:r>
              <a:rPr sz="1800" dirty="0">
                <a:latin typeface="Calibri"/>
                <a:cs typeface="Calibri"/>
              </a:rPr>
              <a:t>to</a:t>
            </a:r>
            <a:r>
              <a:rPr sz="1800" spc="-45" dirty="0">
                <a:latin typeface="Calibri"/>
                <a:cs typeface="Calibri"/>
              </a:rPr>
              <a:t> </a:t>
            </a:r>
            <a:r>
              <a:rPr sz="1800" spc="-10" dirty="0">
                <a:latin typeface="Calibri"/>
                <a:cs typeface="Calibri"/>
              </a:rPr>
              <a:t>contractors</a:t>
            </a:r>
            <a:r>
              <a:rPr sz="1800" spc="-45" dirty="0">
                <a:latin typeface="Calibri"/>
                <a:cs typeface="Calibri"/>
              </a:rPr>
              <a:t> </a:t>
            </a:r>
            <a:r>
              <a:rPr sz="1800" dirty="0">
                <a:latin typeface="Calibri"/>
                <a:cs typeface="Calibri"/>
              </a:rPr>
              <a:t>when</a:t>
            </a:r>
            <a:r>
              <a:rPr sz="1800" spc="-45" dirty="0">
                <a:latin typeface="Calibri"/>
                <a:cs typeface="Calibri"/>
              </a:rPr>
              <a:t> </a:t>
            </a:r>
            <a:r>
              <a:rPr sz="1800" dirty="0">
                <a:latin typeface="Calibri"/>
                <a:cs typeface="Calibri"/>
              </a:rPr>
              <a:t>specific</a:t>
            </a:r>
            <a:r>
              <a:rPr sz="1800" spc="-45" dirty="0">
                <a:latin typeface="Calibri"/>
                <a:cs typeface="Calibri"/>
              </a:rPr>
              <a:t> </a:t>
            </a:r>
            <a:r>
              <a:rPr sz="1800" dirty="0">
                <a:latin typeface="Calibri"/>
                <a:cs typeface="Calibri"/>
              </a:rPr>
              <a:t>tasks</a:t>
            </a:r>
            <a:r>
              <a:rPr sz="1800" spc="-50" dirty="0">
                <a:latin typeface="Calibri"/>
                <a:cs typeface="Calibri"/>
              </a:rPr>
              <a:t> </a:t>
            </a:r>
            <a:r>
              <a:rPr sz="1800" dirty="0">
                <a:latin typeface="Calibri"/>
                <a:cs typeface="Calibri"/>
              </a:rPr>
              <a:t>are</a:t>
            </a:r>
            <a:r>
              <a:rPr sz="1800" spc="-45" dirty="0">
                <a:latin typeface="Calibri"/>
                <a:cs typeface="Calibri"/>
              </a:rPr>
              <a:t> </a:t>
            </a:r>
            <a:r>
              <a:rPr sz="1800" dirty="0">
                <a:latin typeface="Calibri"/>
                <a:cs typeface="Calibri"/>
              </a:rPr>
              <a:t>verified</a:t>
            </a:r>
            <a:r>
              <a:rPr sz="1800" spc="-45" dirty="0">
                <a:latin typeface="Calibri"/>
                <a:cs typeface="Calibri"/>
              </a:rPr>
              <a:t> </a:t>
            </a:r>
            <a:r>
              <a:rPr sz="1800" dirty="0">
                <a:latin typeface="Calibri"/>
                <a:cs typeface="Calibri"/>
              </a:rPr>
              <a:t>as</a:t>
            </a:r>
            <a:r>
              <a:rPr sz="1800" spc="-45" dirty="0">
                <a:latin typeface="Calibri"/>
                <a:cs typeface="Calibri"/>
              </a:rPr>
              <a:t> </a:t>
            </a:r>
            <a:r>
              <a:rPr sz="1800" spc="-10" dirty="0">
                <a:latin typeface="Calibri"/>
                <a:cs typeface="Calibri"/>
              </a:rPr>
              <a:t>complete.</a:t>
            </a:r>
            <a:endParaRPr sz="1800">
              <a:latin typeface="Calibri"/>
              <a:cs typeface="Calibri"/>
            </a:endParaRPr>
          </a:p>
        </p:txBody>
      </p:sp>
      <p:sp>
        <p:nvSpPr>
          <p:cNvPr id="11" name="object 11"/>
          <p:cNvSpPr txBox="1"/>
          <p:nvPr/>
        </p:nvSpPr>
        <p:spPr>
          <a:xfrm>
            <a:off x="1374139" y="3896359"/>
            <a:ext cx="5686425" cy="2259965"/>
          </a:xfrm>
          <a:prstGeom prst="rect">
            <a:avLst/>
          </a:prstGeom>
        </p:spPr>
        <p:txBody>
          <a:bodyPr vert="horz" wrap="square" lIns="0" tIns="12700" rIns="0" bIns="0" rtlCol="0">
            <a:spAutoFit/>
          </a:bodyPr>
          <a:lstStyle/>
          <a:p>
            <a:pPr marL="240665" indent="-227965">
              <a:lnSpc>
                <a:spcPts val="1750"/>
              </a:lnSpc>
              <a:spcBef>
                <a:spcPts val="100"/>
              </a:spcBef>
              <a:buFont typeface="Arial MT"/>
              <a:buChar char="•"/>
              <a:tabLst>
                <a:tab pos="240665" algn="l"/>
              </a:tabLst>
            </a:pPr>
            <a:r>
              <a:rPr sz="1500" dirty="0">
                <a:latin typeface="Calibri"/>
                <a:cs typeface="Calibri"/>
              </a:rPr>
              <a:t>24%</a:t>
            </a:r>
            <a:r>
              <a:rPr sz="1500" spc="-40" dirty="0">
                <a:latin typeface="Calibri"/>
                <a:cs typeface="Calibri"/>
              </a:rPr>
              <a:t> </a:t>
            </a:r>
            <a:r>
              <a:rPr sz="1500" spc="-10" dirty="0">
                <a:latin typeface="Calibri"/>
                <a:cs typeface="Calibri"/>
              </a:rPr>
              <a:t>Excavation</a:t>
            </a:r>
            <a:r>
              <a:rPr sz="1500" spc="-40" dirty="0">
                <a:latin typeface="Calibri"/>
                <a:cs typeface="Calibri"/>
              </a:rPr>
              <a:t> </a:t>
            </a:r>
            <a:r>
              <a:rPr sz="1500" dirty="0">
                <a:latin typeface="Calibri"/>
                <a:cs typeface="Calibri"/>
              </a:rPr>
              <a:t>and</a:t>
            </a:r>
            <a:r>
              <a:rPr sz="1500" spc="-45" dirty="0">
                <a:latin typeface="Calibri"/>
                <a:cs typeface="Calibri"/>
              </a:rPr>
              <a:t> </a:t>
            </a:r>
            <a:r>
              <a:rPr sz="1500" dirty="0">
                <a:latin typeface="Calibri"/>
                <a:cs typeface="Calibri"/>
              </a:rPr>
              <a:t>framing</a:t>
            </a:r>
            <a:r>
              <a:rPr sz="1500" spc="-45" dirty="0">
                <a:latin typeface="Calibri"/>
                <a:cs typeface="Calibri"/>
              </a:rPr>
              <a:t> </a:t>
            </a:r>
            <a:r>
              <a:rPr sz="1500" spc="-10" dirty="0">
                <a:latin typeface="Calibri"/>
                <a:cs typeface="Calibri"/>
              </a:rPr>
              <a:t>complete</a:t>
            </a:r>
            <a:r>
              <a:rPr sz="1500" spc="-35" dirty="0">
                <a:latin typeface="Calibri"/>
                <a:cs typeface="Calibri"/>
              </a:rPr>
              <a:t> </a:t>
            </a:r>
            <a:r>
              <a:rPr sz="1500" dirty="0">
                <a:latin typeface="Calibri"/>
                <a:cs typeface="Calibri"/>
              </a:rPr>
              <a:t>8%</a:t>
            </a:r>
            <a:r>
              <a:rPr sz="1500" spc="-40" dirty="0">
                <a:latin typeface="Calibri"/>
                <a:cs typeface="Calibri"/>
              </a:rPr>
              <a:t> </a:t>
            </a:r>
            <a:r>
              <a:rPr sz="1500" dirty="0">
                <a:latin typeface="Calibri"/>
                <a:cs typeface="Calibri"/>
              </a:rPr>
              <a:t>Roof</a:t>
            </a:r>
            <a:r>
              <a:rPr sz="1500" spc="-35" dirty="0">
                <a:latin typeface="Calibri"/>
                <a:cs typeface="Calibri"/>
              </a:rPr>
              <a:t> </a:t>
            </a:r>
            <a:r>
              <a:rPr sz="1500" dirty="0">
                <a:latin typeface="Calibri"/>
                <a:cs typeface="Calibri"/>
              </a:rPr>
              <a:t>and</a:t>
            </a:r>
            <a:r>
              <a:rPr sz="1500" spc="-45" dirty="0">
                <a:latin typeface="Calibri"/>
                <a:cs typeface="Calibri"/>
              </a:rPr>
              <a:t> </a:t>
            </a:r>
            <a:r>
              <a:rPr sz="1500" dirty="0">
                <a:latin typeface="Calibri"/>
                <a:cs typeface="Calibri"/>
              </a:rPr>
              <a:t>fireplace</a:t>
            </a:r>
            <a:r>
              <a:rPr sz="1500" spc="-35" dirty="0">
                <a:latin typeface="Calibri"/>
                <a:cs typeface="Calibri"/>
              </a:rPr>
              <a:t> </a:t>
            </a:r>
            <a:r>
              <a:rPr sz="1500" spc="-10" dirty="0">
                <a:latin typeface="Calibri"/>
                <a:cs typeface="Calibri"/>
              </a:rPr>
              <a:t>complete</a:t>
            </a:r>
            <a:endParaRPr sz="1500">
              <a:latin typeface="Calibri"/>
              <a:cs typeface="Calibri"/>
            </a:endParaRPr>
          </a:p>
          <a:p>
            <a:pPr marL="240665" indent="-227965">
              <a:lnSpc>
                <a:spcPts val="1750"/>
              </a:lnSpc>
              <a:buFont typeface="Arial MT"/>
              <a:buChar char="•"/>
              <a:tabLst>
                <a:tab pos="240665" algn="l"/>
              </a:tabLst>
            </a:pPr>
            <a:r>
              <a:rPr sz="1500" dirty="0">
                <a:latin typeface="Calibri"/>
                <a:cs typeface="Calibri"/>
              </a:rPr>
              <a:t>3%</a:t>
            </a:r>
            <a:r>
              <a:rPr sz="1500" spc="-35" dirty="0">
                <a:latin typeface="Calibri"/>
                <a:cs typeface="Calibri"/>
              </a:rPr>
              <a:t> </a:t>
            </a:r>
            <a:r>
              <a:rPr sz="1500" dirty="0">
                <a:latin typeface="Calibri"/>
                <a:cs typeface="Calibri"/>
              </a:rPr>
              <a:t>Wiring</a:t>
            </a:r>
            <a:r>
              <a:rPr sz="1500" spc="-45" dirty="0">
                <a:latin typeface="Calibri"/>
                <a:cs typeface="Calibri"/>
              </a:rPr>
              <a:t> </a:t>
            </a:r>
            <a:r>
              <a:rPr sz="1500" dirty="0">
                <a:latin typeface="Calibri"/>
                <a:cs typeface="Calibri"/>
              </a:rPr>
              <a:t>roughed</a:t>
            </a:r>
            <a:r>
              <a:rPr sz="1500" spc="-40" dirty="0">
                <a:latin typeface="Calibri"/>
                <a:cs typeface="Calibri"/>
              </a:rPr>
              <a:t> </a:t>
            </a:r>
            <a:r>
              <a:rPr sz="1500" spc="-25" dirty="0">
                <a:latin typeface="Calibri"/>
                <a:cs typeface="Calibri"/>
              </a:rPr>
              <a:t>in</a:t>
            </a:r>
            <a:endParaRPr sz="1500">
              <a:latin typeface="Calibri"/>
              <a:cs typeface="Calibri"/>
            </a:endParaRPr>
          </a:p>
          <a:p>
            <a:pPr marL="240665" indent="-227965">
              <a:lnSpc>
                <a:spcPts val="1750"/>
              </a:lnSpc>
              <a:buFont typeface="Arial MT"/>
              <a:buChar char="•"/>
              <a:tabLst>
                <a:tab pos="240665" algn="l"/>
              </a:tabLst>
            </a:pPr>
            <a:r>
              <a:rPr sz="1500" dirty="0">
                <a:latin typeface="Calibri"/>
                <a:cs typeface="Calibri"/>
              </a:rPr>
              <a:t>6%</a:t>
            </a:r>
            <a:r>
              <a:rPr sz="1500" spc="-45" dirty="0">
                <a:latin typeface="Calibri"/>
                <a:cs typeface="Calibri"/>
              </a:rPr>
              <a:t> </a:t>
            </a:r>
            <a:r>
              <a:rPr sz="1500" dirty="0">
                <a:latin typeface="Calibri"/>
                <a:cs typeface="Calibri"/>
              </a:rPr>
              <a:t>Plumbing</a:t>
            </a:r>
            <a:r>
              <a:rPr sz="1500" spc="-45" dirty="0">
                <a:latin typeface="Calibri"/>
                <a:cs typeface="Calibri"/>
              </a:rPr>
              <a:t> </a:t>
            </a:r>
            <a:r>
              <a:rPr sz="1500" dirty="0">
                <a:latin typeface="Calibri"/>
                <a:cs typeface="Calibri"/>
              </a:rPr>
              <a:t>roughed</a:t>
            </a:r>
            <a:r>
              <a:rPr sz="1500" spc="-45" dirty="0">
                <a:latin typeface="Calibri"/>
                <a:cs typeface="Calibri"/>
              </a:rPr>
              <a:t> </a:t>
            </a:r>
            <a:r>
              <a:rPr sz="1500" spc="-25" dirty="0">
                <a:latin typeface="Calibri"/>
                <a:cs typeface="Calibri"/>
              </a:rPr>
              <a:t>in</a:t>
            </a:r>
            <a:endParaRPr sz="1500">
              <a:latin typeface="Calibri"/>
              <a:cs typeface="Calibri"/>
            </a:endParaRPr>
          </a:p>
          <a:p>
            <a:pPr marL="240665" indent="-227965">
              <a:lnSpc>
                <a:spcPts val="1750"/>
              </a:lnSpc>
              <a:buFont typeface="Arial MT"/>
              <a:buChar char="•"/>
              <a:tabLst>
                <a:tab pos="240665" algn="l"/>
              </a:tabLst>
            </a:pPr>
            <a:r>
              <a:rPr sz="1500" dirty="0">
                <a:latin typeface="Calibri"/>
                <a:cs typeface="Calibri"/>
              </a:rPr>
              <a:t>5%</a:t>
            </a:r>
            <a:r>
              <a:rPr sz="1500" spc="-20" dirty="0">
                <a:latin typeface="Calibri"/>
                <a:cs typeface="Calibri"/>
              </a:rPr>
              <a:t> </a:t>
            </a:r>
            <a:r>
              <a:rPr sz="1500" dirty="0">
                <a:latin typeface="Calibri"/>
                <a:cs typeface="Calibri"/>
              </a:rPr>
              <a:t>Siding</a:t>
            </a:r>
            <a:r>
              <a:rPr sz="1500" spc="-30" dirty="0">
                <a:latin typeface="Calibri"/>
                <a:cs typeface="Calibri"/>
              </a:rPr>
              <a:t> </a:t>
            </a:r>
            <a:r>
              <a:rPr sz="1500" spc="-25" dirty="0">
                <a:latin typeface="Calibri"/>
                <a:cs typeface="Calibri"/>
              </a:rPr>
              <a:t>on</a:t>
            </a:r>
            <a:endParaRPr sz="1500">
              <a:latin typeface="Calibri"/>
              <a:cs typeface="Calibri"/>
            </a:endParaRPr>
          </a:p>
          <a:p>
            <a:pPr marL="240665" indent="-227965">
              <a:lnSpc>
                <a:spcPct val="100000"/>
              </a:lnSpc>
              <a:buFont typeface="Arial MT"/>
              <a:buChar char="•"/>
              <a:tabLst>
                <a:tab pos="240665" algn="l"/>
              </a:tabLst>
            </a:pPr>
            <a:r>
              <a:rPr sz="1500" dirty="0">
                <a:latin typeface="Calibri"/>
                <a:cs typeface="Calibri"/>
              </a:rPr>
              <a:t>17%</a:t>
            </a:r>
            <a:r>
              <a:rPr sz="1500" spc="-50" dirty="0">
                <a:latin typeface="Calibri"/>
                <a:cs typeface="Calibri"/>
              </a:rPr>
              <a:t> </a:t>
            </a:r>
            <a:r>
              <a:rPr sz="1500" dirty="0">
                <a:latin typeface="Calibri"/>
                <a:cs typeface="Calibri"/>
              </a:rPr>
              <a:t>Windows,</a:t>
            </a:r>
            <a:r>
              <a:rPr sz="1500" spc="-50" dirty="0">
                <a:latin typeface="Calibri"/>
                <a:cs typeface="Calibri"/>
              </a:rPr>
              <a:t> </a:t>
            </a:r>
            <a:r>
              <a:rPr sz="1500" dirty="0">
                <a:latin typeface="Calibri"/>
                <a:cs typeface="Calibri"/>
              </a:rPr>
              <a:t>insulation,</a:t>
            </a:r>
            <a:r>
              <a:rPr sz="1500" spc="-50" dirty="0">
                <a:latin typeface="Calibri"/>
                <a:cs typeface="Calibri"/>
              </a:rPr>
              <a:t> </a:t>
            </a:r>
            <a:r>
              <a:rPr sz="1500" dirty="0">
                <a:latin typeface="Calibri"/>
                <a:cs typeface="Calibri"/>
              </a:rPr>
              <a:t>walks,</a:t>
            </a:r>
            <a:r>
              <a:rPr sz="1500" spc="-50" dirty="0">
                <a:latin typeface="Calibri"/>
                <a:cs typeface="Calibri"/>
              </a:rPr>
              <a:t> </a:t>
            </a:r>
            <a:r>
              <a:rPr sz="1500" spc="-25" dirty="0">
                <a:latin typeface="Calibri"/>
                <a:cs typeface="Calibri"/>
              </a:rPr>
              <a:t>plaster,</a:t>
            </a:r>
            <a:r>
              <a:rPr sz="1500" spc="-55" dirty="0">
                <a:latin typeface="Calibri"/>
                <a:cs typeface="Calibri"/>
              </a:rPr>
              <a:t> </a:t>
            </a:r>
            <a:r>
              <a:rPr sz="1500" dirty="0">
                <a:latin typeface="Calibri"/>
                <a:cs typeface="Calibri"/>
              </a:rPr>
              <a:t>and</a:t>
            </a:r>
            <a:r>
              <a:rPr sz="1500" spc="-50" dirty="0">
                <a:latin typeface="Calibri"/>
                <a:cs typeface="Calibri"/>
              </a:rPr>
              <a:t> </a:t>
            </a:r>
            <a:r>
              <a:rPr sz="1500" spc="-10" dirty="0">
                <a:latin typeface="Calibri"/>
                <a:cs typeface="Calibri"/>
              </a:rPr>
              <a:t>garage</a:t>
            </a:r>
            <a:r>
              <a:rPr sz="1500" spc="-45" dirty="0">
                <a:latin typeface="Calibri"/>
                <a:cs typeface="Calibri"/>
              </a:rPr>
              <a:t> </a:t>
            </a:r>
            <a:r>
              <a:rPr sz="1500" spc="-10" dirty="0">
                <a:latin typeface="Calibri"/>
                <a:cs typeface="Calibri"/>
              </a:rPr>
              <a:t>complete</a:t>
            </a:r>
            <a:endParaRPr sz="1500">
              <a:latin typeface="Calibri"/>
              <a:cs typeface="Calibri"/>
            </a:endParaRPr>
          </a:p>
          <a:p>
            <a:pPr marL="240665" indent="-227965">
              <a:lnSpc>
                <a:spcPts val="1739"/>
              </a:lnSpc>
              <a:buFont typeface="Arial MT"/>
              <a:buChar char="•"/>
              <a:tabLst>
                <a:tab pos="240665" algn="l"/>
              </a:tabLst>
            </a:pPr>
            <a:r>
              <a:rPr sz="1500" dirty="0">
                <a:latin typeface="Calibri"/>
                <a:cs typeface="Calibri"/>
              </a:rPr>
              <a:t>9%</a:t>
            </a:r>
            <a:r>
              <a:rPr sz="1500" spc="-35" dirty="0">
                <a:latin typeface="Calibri"/>
                <a:cs typeface="Calibri"/>
              </a:rPr>
              <a:t> </a:t>
            </a:r>
            <a:r>
              <a:rPr sz="1500" dirty="0">
                <a:latin typeface="Calibri"/>
                <a:cs typeface="Calibri"/>
              </a:rPr>
              <a:t>Furnace</a:t>
            </a:r>
            <a:r>
              <a:rPr sz="1500" spc="-30" dirty="0">
                <a:latin typeface="Calibri"/>
                <a:cs typeface="Calibri"/>
              </a:rPr>
              <a:t> </a:t>
            </a:r>
            <a:r>
              <a:rPr sz="1500" spc="-10" dirty="0">
                <a:latin typeface="Calibri"/>
                <a:cs typeface="Calibri"/>
              </a:rPr>
              <a:t>installed</a:t>
            </a:r>
            <a:endParaRPr sz="1500">
              <a:latin typeface="Calibri"/>
              <a:cs typeface="Calibri"/>
            </a:endParaRPr>
          </a:p>
          <a:p>
            <a:pPr marL="240665" indent="-227965">
              <a:lnSpc>
                <a:spcPts val="1739"/>
              </a:lnSpc>
              <a:buFont typeface="Arial MT"/>
              <a:buChar char="•"/>
              <a:tabLst>
                <a:tab pos="240665" algn="l"/>
              </a:tabLst>
            </a:pPr>
            <a:r>
              <a:rPr sz="1500" dirty="0">
                <a:latin typeface="Calibri"/>
                <a:cs typeface="Calibri"/>
              </a:rPr>
              <a:t>4%</a:t>
            </a:r>
            <a:r>
              <a:rPr sz="1500" spc="-45" dirty="0">
                <a:latin typeface="Calibri"/>
                <a:cs typeface="Calibri"/>
              </a:rPr>
              <a:t> </a:t>
            </a:r>
            <a:r>
              <a:rPr sz="1500" dirty="0">
                <a:latin typeface="Calibri"/>
                <a:cs typeface="Calibri"/>
              </a:rPr>
              <a:t>Plumbing</a:t>
            </a:r>
            <a:r>
              <a:rPr sz="1500" spc="-55" dirty="0">
                <a:latin typeface="Calibri"/>
                <a:cs typeface="Calibri"/>
              </a:rPr>
              <a:t> </a:t>
            </a:r>
            <a:r>
              <a:rPr sz="1500" dirty="0">
                <a:latin typeface="Calibri"/>
                <a:cs typeface="Calibri"/>
              </a:rPr>
              <a:t>fixtures</a:t>
            </a:r>
            <a:r>
              <a:rPr sz="1500" spc="-45" dirty="0">
                <a:latin typeface="Calibri"/>
                <a:cs typeface="Calibri"/>
              </a:rPr>
              <a:t> </a:t>
            </a:r>
            <a:r>
              <a:rPr sz="1500" spc="-10" dirty="0">
                <a:latin typeface="Calibri"/>
                <a:cs typeface="Calibri"/>
              </a:rPr>
              <a:t>installed</a:t>
            </a:r>
            <a:endParaRPr sz="1500">
              <a:latin typeface="Calibri"/>
              <a:cs typeface="Calibri"/>
            </a:endParaRPr>
          </a:p>
          <a:p>
            <a:pPr marL="240665" indent="-227965">
              <a:lnSpc>
                <a:spcPts val="1750"/>
              </a:lnSpc>
              <a:buFont typeface="Arial MT"/>
              <a:buChar char="•"/>
              <a:tabLst>
                <a:tab pos="240665" algn="l"/>
              </a:tabLst>
            </a:pPr>
            <a:r>
              <a:rPr sz="1500" dirty="0">
                <a:latin typeface="Calibri"/>
                <a:cs typeface="Calibri"/>
              </a:rPr>
              <a:t>10%</a:t>
            </a:r>
            <a:r>
              <a:rPr sz="1500" spc="-35" dirty="0">
                <a:latin typeface="Calibri"/>
                <a:cs typeface="Calibri"/>
              </a:rPr>
              <a:t> </a:t>
            </a:r>
            <a:r>
              <a:rPr sz="1500" dirty="0">
                <a:latin typeface="Calibri"/>
                <a:cs typeface="Calibri"/>
              </a:rPr>
              <a:t>Exterior</a:t>
            </a:r>
            <a:r>
              <a:rPr sz="1500" spc="-35" dirty="0">
                <a:latin typeface="Calibri"/>
                <a:cs typeface="Calibri"/>
              </a:rPr>
              <a:t> </a:t>
            </a:r>
            <a:r>
              <a:rPr sz="1500" dirty="0">
                <a:latin typeface="Calibri"/>
                <a:cs typeface="Calibri"/>
              </a:rPr>
              <a:t>paint,</a:t>
            </a:r>
            <a:r>
              <a:rPr sz="1500" spc="-40" dirty="0">
                <a:latin typeface="Calibri"/>
                <a:cs typeface="Calibri"/>
              </a:rPr>
              <a:t> </a:t>
            </a:r>
            <a:r>
              <a:rPr sz="1500" dirty="0">
                <a:latin typeface="Calibri"/>
                <a:cs typeface="Calibri"/>
              </a:rPr>
              <a:t>light</a:t>
            </a:r>
            <a:r>
              <a:rPr sz="1500" spc="-40" dirty="0">
                <a:latin typeface="Calibri"/>
                <a:cs typeface="Calibri"/>
              </a:rPr>
              <a:t> </a:t>
            </a:r>
            <a:r>
              <a:rPr sz="1500" dirty="0">
                <a:latin typeface="Calibri"/>
                <a:cs typeface="Calibri"/>
              </a:rPr>
              <a:t>fixtures</a:t>
            </a:r>
            <a:r>
              <a:rPr sz="1500" spc="-40" dirty="0">
                <a:latin typeface="Calibri"/>
                <a:cs typeface="Calibri"/>
              </a:rPr>
              <a:t> </a:t>
            </a:r>
            <a:r>
              <a:rPr sz="1500" spc="-10" dirty="0">
                <a:latin typeface="Calibri"/>
                <a:cs typeface="Calibri"/>
              </a:rPr>
              <a:t>installed,</a:t>
            </a:r>
            <a:r>
              <a:rPr sz="1500" spc="-35" dirty="0">
                <a:latin typeface="Calibri"/>
                <a:cs typeface="Calibri"/>
              </a:rPr>
              <a:t> </a:t>
            </a:r>
            <a:r>
              <a:rPr sz="1500" dirty="0">
                <a:latin typeface="Calibri"/>
                <a:cs typeface="Calibri"/>
              </a:rPr>
              <a:t>finish</a:t>
            </a:r>
            <a:r>
              <a:rPr sz="1500" spc="-40" dirty="0">
                <a:latin typeface="Calibri"/>
                <a:cs typeface="Calibri"/>
              </a:rPr>
              <a:t> </a:t>
            </a:r>
            <a:r>
              <a:rPr sz="1500" spc="-10" dirty="0">
                <a:latin typeface="Calibri"/>
                <a:cs typeface="Calibri"/>
              </a:rPr>
              <a:t>hardware</a:t>
            </a:r>
            <a:r>
              <a:rPr sz="1500" spc="-35" dirty="0">
                <a:latin typeface="Calibri"/>
                <a:cs typeface="Calibri"/>
              </a:rPr>
              <a:t> </a:t>
            </a:r>
            <a:r>
              <a:rPr sz="1500" spc="-10" dirty="0">
                <a:latin typeface="Calibri"/>
                <a:cs typeface="Calibri"/>
              </a:rPr>
              <a:t>installed</a:t>
            </a:r>
            <a:endParaRPr sz="1500">
              <a:latin typeface="Calibri"/>
              <a:cs typeface="Calibri"/>
            </a:endParaRPr>
          </a:p>
          <a:p>
            <a:pPr marL="240665" indent="-227965">
              <a:lnSpc>
                <a:spcPts val="1750"/>
              </a:lnSpc>
              <a:buFont typeface="Arial MT"/>
              <a:buChar char="•"/>
              <a:tabLst>
                <a:tab pos="240665" algn="l"/>
              </a:tabLst>
            </a:pPr>
            <a:r>
              <a:rPr sz="1500" dirty="0">
                <a:latin typeface="Calibri"/>
                <a:cs typeface="Calibri"/>
              </a:rPr>
              <a:t>6%</a:t>
            </a:r>
            <a:r>
              <a:rPr sz="1500" spc="-30" dirty="0">
                <a:latin typeface="Calibri"/>
                <a:cs typeface="Calibri"/>
              </a:rPr>
              <a:t> </a:t>
            </a:r>
            <a:r>
              <a:rPr sz="1500" dirty="0">
                <a:latin typeface="Calibri"/>
                <a:cs typeface="Calibri"/>
              </a:rPr>
              <a:t>Carpet</a:t>
            </a:r>
            <a:r>
              <a:rPr sz="1500" spc="-30" dirty="0">
                <a:latin typeface="Calibri"/>
                <a:cs typeface="Calibri"/>
              </a:rPr>
              <a:t> </a:t>
            </a:r>
            <a:r>
              <a:rPr sz="1500" dirty="0">
                <a:latin typeface="Calibri"/>
                <a:cs typeface="Calibri"/>
              </a:rPr>
              <a:t>and</a:t>
            </a:r>
            <a:r>
              <a:rPr sz="1500" spc="-30" dirty="0">
                <a:latin typeface="Calibri"/>
                <a:cs typeface="Calibri"/>
              </a:rPr>
              <a:t> </a:t>
            </a:r>
            <a:r>
              <a:rPr sz="1500" dirty="0">
                <a:latin typeface="Calibri"/>
                <a:cs typeface="Calibri"/>
              </a:rPr>
              <a:t>trim</a:t>
            </a:r>
            <a:r>
              <a:rPr sz="1500" spc="-25" dirty="0">
                <a:latin typeface="Calibri"/>
                <a:cs typeface="Calibri"/>
              </a:rPr>
              <a:t> </a:t>
            </a:r>
            <a:r>
              <a:rPr sz="1500" spc="-10" dirty="0">
                <a:latin typeface="Calibri"/>
                <a:cs typeface="Calibri"/>
              </a:rPr>
              <a:t>installed</a:t>
            </a:r>
            <a:r>
              <a:rPr sz="1500" spc="-30" dirty="0">
                <a:latin typeface="Calibri"/>
                <a:cs typeface="Calibri"/>
              </a:rPr>
              <a:t> </a:t>
            </a:r>
            <a:r>
              <a:rPr sz="1500" dirty="0">
                <a:latin typeface="Calibri"/>
                <a:cs typeface="Calibri"/>
              </a:rPr>
              <a:t>4%</a:t>
            </a:r>
            <a:r>
              <a:rPr sz="1500" spc="-30" dirty="0">
                <a:latin typeface="Calibri"/>
                <a:cs typeface="Calibri"/>
              </a:rPr>
              <a:t> </a:t>
            </a:r>
            <a:r>
              <a:rPr sz="1500" dirty="0">
                <a:latin typeface="Calibri"/>
                <a:cs typeface="Calibri"/>
              </a:rPr>
              <a:t>Interior</a:t>
            </a:r>
            <a:r>
              <a:rPr sz="1500" spc="-25" dirty="0">
                <a:latin typeface="Calibri"/>
                <a:cs typeface="Calibri"/>
              </a:rPr>
              <a:t> </a:t>
            </a:r>
            <a:r>
              <a:rPr sz="1500" spc="-10" dirty="0">
                <a:latin typeface="Calibri"/>
                <a:cs typeface="Calibri"/>
              </a:rPr>
              <a:t>decorating</a:t>
            </a:r>
            <a:endParaRPr sz="1500">
              <a:latin typeface="Calibri"/>
              <a:cs typeface="Calibri"/>
            </a:endParaRPr>
          </a:p>
          <a:p>
            <a:pPr marL="240665" indent="-227965">
              <a:lnSpc>
                <a:spcPct val="100000"/>
              </a:lnSpc>
              <a:buFont typeface="Arial MT"/>
              <a:buChar char="•"/>
              <a:tabLst>
                <a:tab pos="240665" algn="l"/>
              </a:tabLst>
            </a:pPr>
            <a:r>
              <a:rPr sz="1500" dirty="0">
                <a:latin typeface="Calibri"/>
                <a:cs typeface="Calibri"/>
              </a:rPr>
              <a:t>4%</a:t>
            </a:r>
            <a:r>
              <a:rPr sz="1500" spc="-30" dirty="0">
                <a:latin typeface="Calibri"/>
                <a:cs typeface="Calibri"/>
              </a:rPr>
              <a:t> </a:t>
            </a:r>
            <a:r>
              <a:rPr sz="1500" dirty="0">
                <a:latin typeface="Calibri"/>
                <a:cs typeface="Calibri"/>
              </a:rPr>
              <a:t>Floors</a:t>
            </a:r>
            <a:r>
              <a:rPr sz="1500" spc="-30" dirty="0">
                <a:latin typeface="Calibri"/>
                <a:cs typeface="Calibri"/>
              </a:rPr>
              <a:t> </a:t>
            </a:r>
            <a:r>
              <a:rPr sz="1500" dirty="0">
                <a:latin typeface="Calibri"/>
                <a:cs typeface="Calibri"/>
              </a:rPr>
              <a:t>laid</a:t>
            </a:r>
            <a:r>
              <a:rPr sz="1500" spc="-30" dirty="0">
                <a:latin typeface="Calibri"/>
                <a:cs typeface="Calibri"/>
              </a:rPr>
              <a:t> </a:t>
            </a:r>
            <a:r>
              <a:rPr sz="1500" dirty="0">
                <a:latin typeface="Calibri"/>
                <a:cs typeface="Calibri"/>
              </a:rPr>
              <a:t>and</a:t>
            </a:r>
            <a:r>
              <a:rPr sz="1500" spc="-30" dirty="0">
                <a:latin typeface="Calibri"/>
                <a:cs typeface="Calibri"/>
              </a:rPr>
              <a:t> </a:t>
            </a:r>
            <a:r>
              <a:rPr sz="1500" spc="-10" dirty="0">
                <a:latin typeface="Calibri"/>
                <a:cs typeface="Calibri"/>
              </a:rPr>
              <a:t>finished</a:t>
            </a:r>
            <a:endParaRPr sz="1500">
              <a:latin typeface="Calibri"/>
              <a:cs typeface="Calibri"/>
            </a:endParaRPr>
          </a:p>
        </p:txBody>
      </p:sp>
      <p:sp>
        <p:nvSpPr>
          <p:cNvPr id="12" name="object 12"/>
          <p:cNvSpPr txBox="1"/>
          <p:nvPr/>
        </p:nvSpPr>
        <p:spPr>
          <a:xfrm>
            <a:off x="1185544" y="6130544"/>
            <a:ext cx="9013190" cy="470534"/>
          </a:xfrm>
          <a:prstGeom prst="rect">
            <a:avLst/>
          </a:prstGeom>
        </p:spPr>
        <p:txBody>
          <a:bodyPr vert="horz" wrap="square" lIns="0" tIns="12700" rIns="0" bIns="0" rtlCol="0">
            <a:spAutoFit/>
          </a:bodyPr>
          <a:lstStyle/>
          <a:p>
            <a:pPr marL="243204" indent="-230504">
              <a:lnSpc>
                <a:spcPts val="1750"/>
              </a:lnSpc>
              <a:spcBef>
                <a:spcPts val="100"/>
              </a:spcBef>
              <a:buAutoNum type="alphaLcPeriod"/>
              <a:tabLst>
                <a:tab pos="243204" algn="l"/>
              </a:tabLst>
            </a:pPr>
            <a:r>
              <a:rPr sz="1500" dirty="0">
                <a:latin typeface="Calibri"/>
                <a:cs typeface="Calibri"/>
              </a:rPr>
              <a:t>What</a:t>
            </a:r>
            <a:r>
              <a:rPr sz="1500" spc="-30" dirty="0">
                <a:latin typeface="Calibri"/>
                <a:cs typeface="Calibri"/>
              </a:rPr>
              <a:t> </a:t>
            </a:r>
            <a:r>
              <a:rPr sz="1500" dirty="0">
                <a:latin typeface="Calibri"/>
                <a:cs typeface="Calibri"/>
              </a:rPr>
              <a:t>is</a:t>
            </a:r>
            <a:r>
              <a:rPr sz="1500" spc="-30" dirty="0">
                <a:latin typeface="Calibri"/>
                <a:cs typeface="Calibri"/>
              </a:rPr>
              <a:t> </a:t>
            </a:r>
            <a:r>
              <a:rPr sz="1500" dirty="0">
                <a:latin typeface="Calibri"/>
                <a:cs typeface="Calibri"/>
              </a:rPr>
              <a:t>the</a:t>
            </a:r>
            <a:r>
              <a:rPr sz="1500" spc="-25" dirty="0">
                <a:latin typeface="Calibri"/>
                <a:cs typeface="Calibri"/>
              </a:rPr>
              <a:t> </a:t>
            </a:r>
            <a:r>
              <a:rPr sz="1500" spc="-10" dirty="0">
                <a:latin typeface="Calibri"/>
                <a:cs typeface="Calibri"/>
              </a:rPr>
              <a:t>estimated</a:t>
            </a:r>
            <a:r>
              <a:rPr sz="1500" spc="-25" dirty="0">
                <a:latin typeface="Calibri"/>
                <a:cs typeface="Calibri"/>
              </a:rPr>
              <a:t> </a:t>
            </a:r>
            <a:r>
              <a:rPr sz="1500" dirty="0">
                <a:latin typeface="Calibri"/>
                <a:cs typeface="Calibri"/>
              </a:rPr>
              <a:t>cost</a:t>
            </a:r>
            <a:r>
              <a:rPr sz="1500" spc="-30" dirty="0">
                <a:latin typeface="Calibri"/>
                <a:cs typeface="Calibri"/>
              </a:rPr>
              <a:t> </a:t>
            </a:r>
            <a:r>
              <a:rPr sz="1500" dirty="0">
                <a:latin typeface="Calibri"/>
                <a:cs typeface="Calibri"/>
              </a:rPr>
              <a:t>for</a:t>
            </a:r>
            <a:r>
              <a:rPr sz="1500" spc="-25" dirty="0">
                <a:latin typeface="Calibri"/>
                <a:cs typeface="Calibri"/>
              </a:rPr>
              <a:t> </a:t>
            </a:r>
            <a:r>
              <a:rPr sz="1500" dirty="0">
                <a:latin typeface="Calibri"/>
                <a:cs typeface="Calibri"/>
              </a:rPr>
              <a:t>the</a:t>
            </a:r>
            <a:r>
              <a:rPr sz="1500" spc="-30" dirty="0">
                <a:latin typeface="Calibri"/>
                <a:cs typeface="Calibri"/>
              </a:rPr>
              <a:t> </a:t>
            </a:r>
            <a:r>
              <a:rPr sz="1500" spc="-25" dirty="0">
                <a:latin typeface="Calibri"/>
                <a:cs typeface="Calibri"/>
              </a:rPr>
              <a:t>Tolstoys’ </a:t>
            </a:r>
            <a:r>
              <a:rPr sz="1500" dirty="0">
                <a:latin typeface="Calibri"/>
                <a:cs typeface="Calibri"/>
              </a:rPr>
              <a:t>house</a:t>
            </a:r>
            <a:r>
              <a:rPr sz="1500" spc="-25" dirty="0">
                <a:latin typeface="Calibri"/>
                <a:cs typeface="Calibri"/>
              </a:rPr>
              <a:t> </a:t>
            </a:r>
            <a:r>
              <a:rPr sz="1500" dirty="0">
                <a:latin typeface="Calibri"/>
                <a:cs typeface="Calibri"/>
              </a:rPr>
              <a:t>if</a:t>
            </a:r>
            <a:r>
              <a:rPr sz="1500" spc="-25" dirty="0">
                <a:latin typeface="Calibri"/>
                <a:cs typeface="Calibri"/>
              </a:rPr>
              <a:t> </a:t>
            </a:r>
            <a:r>
              <a:rPr sz="1500" dirty="0">
                <a:latin typeface="Calibri"/>
                <a:cs typeface="Calibri"/>
              </a:rPr>
              <a:t>they</a:t>
            </a:r>
            <a:r>
              <a:rPr sz="1500" spc="-35" dirty="0">
                <a:latin typeface="Calibri"/>
                <a:cs typeface="Calibri"/>
              </a:rPr>
              <a:t> </a:t>
            </a:r>
            <a:r>
              <a:rPr sz="1500" dirty="0">
                <a:latin typeface="Calibri"/>
                <a:cs typeface="Calibri"/>
              </a:rPr>
              <a:t>use</a:t>
            </a:r>
            <a:r>
              <a:rPr sz="1500" spc="-20" dirty="0">
                <a:latin typeface="Calibri"/>
                <a:cs typeface="Calibri"/>
              </a:rPr>
              <a:t> </a:t>
            </a:r>
            <a:r>
              <a:rPr sz="1500" spc="-10" dirty="0">
                <a:latin typeface="Calibri"/>
                <a:cs typeface="Calibri"/>
              </a:rPr>
              <a:t>contractors</a:t>
            </a:r>
            <a:r>
              <a:rPr sz="1500" spc="-30" dirty="0">
                <a:latin typeface="Calibri"/>
                <a:cs typeface="Calibri"/>
              </a:rPr>
              <a:t> </a:t>
            </a:r>
            <a:r>
              <a:rPr sz="1500" dirty="0">
                <a:latin typeface="Calibri"/>
                <a:cs typeface="Calibri"/>
              </a:rPr>
              <a:t>to</a:t>
            </a:r>
            <a:r>
              <a:rPr sz="1500" spc="-35" dirty="0">
                <a:latin typeface="Calibri"/>
                <a:cs typeface="Calibri"/>
              </a:rPr>
              <a:t> </a:t>
            </a:r>
            <a:r>
              <a:rPr sz="1500" spc="-10" dirty="0">
                <a:latin typeface="Calibri"/>
                <a:cs typeface="Calibri"/>
              </a:rPr>
              <a:t>complete</a:t>
            </a:r>
            <a:r>
              <a:rPr sz="1500" spc="-25" dirty="0">
                <a:latin typeface="Calibri"/>
                <a:cs typeface="Calibri"/>
              </a:rPr>
              <a:t> </a:t>
            </a:r>
            <a:r>
              <a:rPr sz="1500" dirty="0">
                <a:latin typeface="Calibri"/>
                <a:cs typeface="Calibri"/>
              </a:rPr>
              <a:t>all</a:t>
            </a:r>
            <a:r>
              <a:rPr sz="1500" spc="-20" dirty="0">
                <a:latin typeface="Calibri"/>
                <a:cs typeface="Calibri"/>
              </a:rPr>
              <a:t> </a:t>
            </a:r>
            <a:r>
              <a:rPr sz="1500" dirty="0">
                <a:latin typeface="Calibri"/>
                <a:cs typeface="Calibri"/>
              </a:rPr>
              <a:t>of</a:t>
            </a:r>
            <a:r>
              <a:rPr sz="1500" spc="-25" dirty="0">
                <a:latin typeface="Calibri"/>
                <a:cs typeface="Calibri"/>
              </a:rPr>
              <a:t> </a:t>
            </a:r>
            <a:r>
              <a:rPr sz="1500" dirty="0">
                <a:latin typeface="Calibri"/>
                <a:cs typeface="Calibri"/>
              </a:rPr>
              <a:t>the</a:t>
            </a:r>
            <a:r>
              <a:rPr sz="1500" spc="-25" dirty="0">
                <a:latin typeface="Calibri"/>
                <a:cs typeface="Calibri"/>
              </a:rPr>
              <a:t> </a:t>
            </a:r>
            <a:r>
              <a:rPr sz="1500" spc="-10" dirty="0">
                <a:latin typeface="Calibri"/>
                <a:cs typeface="Calibri"/>
              </a:rPr>
              <a:t>house?</a:t>
            </a:r>
            <a:endParaRPr sz="1500">
              <a:latin typeface="Calibri"/>
              <a:cs typeface="Calibri"/>
            </a:endParaRPr>
          </a:p>
          <a:p>
            <a:pPr marL="243204" indent="-230504">
              <a:lnSpc>
                <a:spcPts val="1750"/>
              </a:lnSpc>
              <a:buAutoNum type="alphaLcPeriod"/>
              <a:tabLst>
                <a:tab pos="243204" algn="l"/>
              </a:tabLst>
            </a:pPr>
            <a:r>
              <a:rPr sz="1500" spc="-10" dirty="0">
                <a:latin typeface="Calibri"/>
                <a:cs typeface="Calibri"/>
              </a:rPr>
              <a:t>Estimate</a:t>
            </a:r>
            <a:r>
              <a:rPr sz="1500" spc="-30" dirty="0">
                <a:latin typeface="Calibri"/>
                <a:cs typeface="Calibri"/>
              </a:rPr>
              <a:t> </a:t>
            </a:r>
            <a:r>
              <a:rPr sz="1500" dirty="0">
                <a:latin typeface="Calibri"/>
                <a:cs typeface="Calibri"/>
              </a:rPr>
              <a:t>what</a:t>
            </a:r>
            <a:r>
              <a:rPr sz="1500" spc="-30" dirty="0">
                <a:latin typeface="Calibri"/>
                <a:cs typeface="Calibri"/>
              </a:rPr>
              <a:t> </a:t>
            </a:r>
            <a:r>
              <a:rPr sz="1500" dirty="0">
                <a:latin typeface="Calibri"/>
                <a:cs typeface="Calibri"/>
              </a:rPr>
              <a:t>the</a:t>
            </a:r>
            <a:r>
              <a:rPr sz="1500" spc="-30" dirty="0">
                <a:latin typeface="Calibri"/>
                <a:cs typeface="Calibri"/>
              </a:rPr>
              <a:t> </a:t>
            </a:r>
            <a:r>
              <a:rPr sz="1500" dirty="0">
                <a:latin typeface="Calibri"/>
                <a:cs typeface="Calibri"/>
              </a:rPr>
              <a:t>cost</a:t>
            </a:r>
            <a:r>
              <a:rPr sz="1500" spc="-30" dirty="0">
                <a:latin typeface="Calibri"/>
                <a:cs typeface="Calibri"/>
              </a:rPr>
              <a:t> </a:t>
            </a:r>
            <a:r>
              <a:rPr sz="1500" dirty="0">
                <a:latin typeface="Calibri"/>
                <a:cs typeface="Calibri"/>
              </a:rPr>
              <a:t>of</a:t>
            </a:r>
            <a:r>
              <a:rPr sz="1500" spc="-25" dirty="0">
                <a:latin typeface="Calibri"/>
                <a:cs typeface="Calibri"/>
              </a:rPr>
              <a:t> </a:t>
            </a:r>
            <a:r>
              <a:rPr sz="1500" dirty="0">
                <a:latin typeface="Calibri"/>
                <a:cs typeface="Calibri"/>
              </a:rPr>
              <a:t>the</a:t>
            </a:r>
            <a:r>
              <a:rPr sz="1500" spc="-30" dirty="0">
                <a:latin typeface="Calibri"/>
                <a:cs typeface="Calibri"/>
              </a:rPr>
              <a:t> </a:t>
            </a:r>
            <a:r>
              <a:rPr sz="1500" dirty="0">
                <a:latin typeface="Calibri"/>
                <a:cs typeface="Calibri"/>
              </a:rPr>
              <a:t>house</a:t>
            </a:r>
            <a:r>
              <a:rPr sz="1500" spc="-25" dirty="0">
                <a:latin typeface="Calibri"/>
                <a:cs typeface="Calibri"/>
              </a:rPr>
              <a:t> </a:t>
            </a:r>
            <a:r>
              <a:rPr sz="1500" dirty="0">
                <a:latin typeface="Calibri"/>
                <a:cs typeface="Calibri"/>
              </a:rPr>
              <a:t>would</a:t>
            </a:r>
            <a:r>
              <a:rPr sz="1500" spc="-30" dirty="0">
                <a:latin typeface="Calibri"/>
                <a:cs typeface="Calibri"/>
              </a:rPr>
              <a:t> </a:t>
            </a:r>
            <a:r>
              <a:rPr sz="1500" dirty="0">
                <a:latin typeface="Calibri"/>
                <a:cs typeface="Calibri"/>
              </a:rPr>
              <a:t>be</a:t>
            </a:r>
            <a:r>
              <a:rPr sz="1500" spc="-30" dirty="0">
                <a:latin typeface="Calibri"/>
                <a:cs typeface="Calibri"/>
              </a:rPr>
              <a:t> </a:t>
            </a:r>
            <a:r>
              <a:rPr sz="1500" dirty="0">
                <a:latin typeface="Calibri"/>
                <a:cs typeface="Calibri"/>
              </a:rPr>
              <a:t>if</a:t>
            </a:r>
            <a:r>
              <a:rPr sz="1500" spc="-25" dirty="0">
                <a:latin typeface="Calibri"/>
                <a:cs typeface="Calibri"/>
              </a:rPr>
              <a:t> </a:t>
            </a:r>
            <a:r>
              <a:rPr sz="1500" dirty="0">
                <a:latin typeface="Calibri"/>
                <a:cs typeface="Calibri"/>
              </a:rPr>
              <a:t>the</a:t>
            </a:r>
            <a:r>
              <a:rPr sz="1500" spc="-35" dirty="0">
                <a:latin typeface="Calibri"/>
                <a:cs typeface="Calibri"/>
              </a:rPr>
              <a:t> </a:t>
            </a:r>
            <a:r>
              <a:rPr sz="1500" spc="-25" dirty="0">
                <a:latin typeface="Calibri"/>
                <a:cs typeface="Calibri"/>
              </a:rPr>
              <a:t>Tolstoys </a:t>
            </a:r>
            <a:r>
              <a:rPr sz="1500" dirty="0">
                <a:latin typeface="Calibri"/>
                <a:cs typeface="Calibri"/>
              </a:rPr>
              <a:t>use</a:t>
            </a:r>
            <a:r>
              <a:rPr sz="1500" spc="-25" dirty="0">
                <a:latin typeface="Calibri"/>
                <a:cs typeface="Calibri"/>
              </a:rPr>
              <a:t> </a:t>
            </a:r>
            <a:r>
              <a:rPr sz="1500" dirty="0">
                <a:latin typeface="Calibri"/>
                <a:cs typeface="Calibri"/>
              </a:rPr>
              <a:t>their</a:t>
            </a:r>
            <a:r>
              <a:rPr sz="1500" spc="-30" dirty="0">
                <a:latin typeface="Calibri"/>
                <a:cs typeface="Calibri"/>
              </a:rPr>
              <a:t> </a:t>
            </a:r>
            <a:r>
              <a:rPr sz="1500" dirty="0">
                <a:latin typeface="Calibri"/>
                <a:cs typeface="Calibri"/>
              </a:rPr>
              <a:t>talents</a:t>
            </a:r>
            <a:r>
              <a:rPr sz="1500" spc="-30" dirty="0">
                <a:latin typeface="Calibri"/>
                <a:cs typeface="Calibri"/>
              </a:rPr>
              <a:t> </a:t>
            </a:r>
            <a:r>
              <a:rPr sz="1500" dirty="0">
                <a:latin typeface="Calibri"/>
                <a:cs typeface="Calibri"/>
              </a:rPr>
              <a:t>to</a:t>
            </a:r>
            <a:r>
              <a:rPr sz="1500" spc="-35" dirty="0">
                <a:latin typeface="Calibri"/>
                <a:cs typeface="Calibri"/>
              </a:rPr>
              <a:t> </a:t>
            </a:r>
            <a:r>
              <a:rPr sz="1500" dirty="0">
                <a:latin typeface="Calibri"/>
                <a:cs typeface="Calibri"/>
              </a:rPr>
              <a:t>do</a:t>
            </a:r>
            <a:r>
              <a:rPr sz="1500" spc="-40" dirty="0">
                <a:latin typeface="Calibri"/>
                <a:cs typeface="Calibri"/>
              </a:rPr>
              <a:t> </a:t>
            </a:r>
            <a:r>
              <a:rPr sz="1500" dirty="0">
                <a:latin typeface="Calibri"/>
                <a:cs typeface="Calibri"/>
              </a:rPr>
              <a:t>some</a:t>
            </a:r>
            <a:r>
              <a:rPr sz="1500" spc="-25" dirty="0">
                <a:latin typeface="Calibri"/>
                <a:cs typeface="Calibri"/>
              </a:rPr>
              <a:t> </a:t>
            </a:r>
            <a:r>
              <a:rPr sz="1500" dirty="0">
                <a:latin typeface="Calibri"/>
                <a:cs typeface="Calibri"/>
              </a:rPr>
              <a:t>of</a:t>
            </a:r>
            <a:r>
              <a:rPr sz="1500" spc="-25" dirty="0">
                <a:latin typeface="Calibri"/>
                <a:cs typeface="Calibri"/>
              </a:rPr>
              <a:t> </a:t>
            </a:r>
            <a:r>
              <a:rPr sz="1500" dirty="0">
                <a:latin typeface="Calibri"/>
                <a:cs typeface="Calibri"/>
              </a:rPr>
              <a:t>the</a:t>
            </a:r>
            <a:r>
              <a:rPr sz="1500" spc="-30" dirty="0">
                <a:latin typeface="Calibri"/>
                <a:cs typeface="Calibri"/>
              </a:rPr>
              <a:t> </a:t>
            </a:r>
            <a:r>
              <a:rPr sz="1500" dirty="0">
                <a:latin typeface="Calibri"/>
                <a:cs typeface="Calibri"/>
              </a:rPr>
              <a:t>work</a:t>
            </a:r>
            <a:r>
              <a:rPr sz="1500" spc="-25" dirty="0">
                <a:latin typeface="Calibri"/>
                <a:cs typeface="Calibri"/>
              </a:rPr>
              <a:t> </a:t>
            </a:r>
            <a:r>
              <a:rPr sz="1500" spc="-10" dirty="0">
                <a:latin typeface="Calibri"/>
                <a:cs typeface="Calibri"/>
              </a:rPr>
              <a:t>themselves.</a:t>
            </a:r>
            <a:endParaRPr sz="1500">
              <a:latin typeface="Calibri"/>
              <a:cs typeface="Calibri"/>
            </a:endParaRPr>
          </a:p>
        </p:txBody>
      </p:sp>
      <p:sp>
        <p:nvSpPr>
          <p:cNvPr id="13" name="object 1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21</a:t>
            </a:r>
            <a:endParaRPr sz="1200">
              <a:latin typeface="Calibri"/>
              <a:cs typeface="Calibri"/>
            </a:endParaRPr>
          </a:p>
        </p:txBody>
      </p:sp>
      <p:pic>
        <p:nvPicPr>
          <p:cNvPr id="14" name="Picture 13">
            <a:extLst>
              <a:ext uri="{FF2B5EF4-FFF2-40B4-BE49-F238E27FC236}">
                <a16:creationId xmlns:a16="http://schemas.microsoft.com/office/drawing/2014/main" id="{E94A088E-3D24-2EA2-9973-957D93AB8A2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707387"/>
            <a:ext cx="10358120" cy="1610360"/>
          </a:xfrm>
          <a:prstGeom prst="rect">
            <a:avLst/>
          </a:prstGeom>
        </p:spPr>
        <p:txBody>
          <a:bodyPr vert="horz" wrap="square" lIns="0" tIns="63500" rIns="0" bIns="0" rtlCol="0">
            <a:spAutoFit/>
          </a:bodyPr>
          <a:lstStyle/>
          <a:p>
            <a:pPr marL="353695" marR="5080" indent="-341630" algn="just">
              <a:lnSpc>
                <a:spcPts val="3000"/>
              </a:lnSpc>
              <a:spcBef>
                <a:spcPts val="500"/>
              </a:spcBef>
            </a:pPr>
            <a:r>
              <a:rPr sz="2800" dirty="0">
                <a:latin typeface="Calibri"/>
                <a:cs typeface="Calibri"/>
              </a:rPr>
              <a:t>3.</a:t>
            </a:r>
            <a:r>
              <a:rPr sz="2800" spc="-100" dirty="0">
                <a:latin typeface="Calibri"/>
                <a:cs typeface="Calibri"/>
              </a:rPr>
              <a:t> </a:t>
            </a:r>
            <a:r>
              <a:rPr sz="2800" dirty="0">
                <a:latin typeface="Calibri"/>
                <a:cs typeface="Calibri"/>
              </a:rPr>
              <a:t>The</a:t>
            </a:r>
            <a:r>
              <a:rPr sz="2800" spc="55" dirty="0">
                <a:latin typeface="Calibri"/>
                <a:cs typeface="Calibri"/>
              </a:rPr>
              <a:t>  </a:t>
            </a:r>
            <a:r>
              <a:rPr sz="2800" dirty="0">
                <a:latin typeface="Calibri"/>
                <a:cs typeface="Calibri"/>
              </a:rPr>
              <a:t>following</a:t>
            </a:r>
            <a:r>
              <a:rPr sz="2800" spc="55" dirty="0">
                <a:latin typeface="Calibri"/>
                <a:cs typeface="Calibri"/>
              </a:rPr>
              <a:t>  </a:t>
            </a:r>
            <a:r>
              <a:rPr sz="2800" dirty="0">
                <a:latin typeface="Calibri"/>
                <a:cs typeface="Calibri"/>
              </a:rPr>
              <a:t>figure</a:t>
            </a:r>
            <a:r>
              <a:rPr sz="2800" spc="50" dirty="0">
                <a:latin typeface="Calibri"/>
                <a:cs typeface="Calibri"/>
              </a:rPr>
              <a:t>  </a:t>
            </a:r>
            <a:r>
              <a:rPr sz="2800" dirty="0">
                <a:latin typeface="Calibri"/>
                <a:cs typeface="Calibri"/>
              </a:rPr>
              <a:t>is</a:t>
            </a:r>
            <a:r>
              <a:rPr sz="2800" spc="60" dirty="0">
                <a:latin typeface="Calibri"/>
                <a:cs typeface="Calibri"/>
              </a:rPr>
              <a:t>  </a:t>
            </a:r>
            <a:r>
              <a:rPr sz="2800" dirty="0">
                <a:latin typeface="Calibri"/>
                <a:cs typeface="Calibri"/>
              </a:rPr>
              <a:t>a</a:t>
            </a:r>
            <a:r>
              <a:rPr sz="2800" spc="55" dirty="0">
                <a:latin typeface="Calibri"/>
                <a:cs typeface="Calibri"/>
              </a:rPr>
              <a:t>  </a:t>
            </a:r>
            <a:r>
              <a:rPr sz="2800" dirty="0">
                <a:latin typeface="Calibri"/>
                <a:cs typeface="Calibri"/>
              </a:rPr>
              <a:t>project</a:t>
            </a:r>
            <a:r>
              <a:rPr sz="2800" spc="55" dirty="0">
                <a:latin typeface="Calibri"/>
                <a:cs typeface="Calibri"/>
              </a:rPr>
              <a:t>  </a:t>
            </a:r>
            <a:r>
              <a:rPr sz="2800" dirty="0">
                <a:latin typeface="Calibri"/>
                <a:cs typeface="Calibri"/>
              </a:rPr>
              <a:t>WBS</a:t>
            </a:r>
            <a:r>
              <a:rPr sz="2800" spc="60" dirty="0">
                <a:latin typeface="Calibri"/>
                <a:cs typeface="Calibri"/>
              </a:rPr>
              <a:t>  </a:t>
            </a:r>
            <a:r>
              <a:rPr sz="2800" dirty="0">
                <a:latin typeface="Calibri"/>
                <a:cs typeface="Calibri"/>
              </a:rPr>
              <a:t>with</a:t>
            </a:r>
            <a:r>
              <a:rPr sz="2800" spc="60" dirty="0">
                <a:latin typeface="Calibri"/>
                <a:cs typeface="Calibri"/>
              </a:rPr>
              <a:t>  </a:t>
            </a:r>
            <a:r>
              <a:rPr sz="2800" dirty="0">
                <a:latin typeface="Calibri"/>
                <a:cs typeface="Calibri"/>
              </a:rPr>
              <a:t>cost</a:t>
            </a:r>
            <a:r>
              <a:rPr sz="2800" spc="55" dirty="0">
                <a:latin typeface="Calibri"/>
                <a:cs typeface="Calibri"/>
              </a:rPr>
              <a:t>  </a:t>
            </a:r>
            <a:r>
              <a:rPr sz="2800" dirty="0">
                <a:latin typeface="Calibri"/>
                <a:cs typeface="Calibri"/>
              </a:rPr>
              <a:t>apportioned</a:t>
            </a:r>
            <a:r>
              <a:rPr sz="2800" spc="60" dirty="0">
                <a:latin typeface="Calibri"/>
                <a:cs typeface="Calibri"/>
              </a:rPr>
              <a:t>  </a:t>
            </a:r>
            <a:r>
              <a:rPr sz="2800" spc="-25" dirty="0">
                <a:latin typeface="Calibri"/>
                <a:cs typeface="Calibri"/>
              </a:rPr>
              <a:t>by </a:t>
            </a:r>
            <a:r>
              <a:rPr sz="2800" dirty="0">
                <a:latin typeface="Calibri"/>
                <a:cs typeface="Calibri"/>
              </a:rPr>
              <a:t>percentages.</a:t>
            </a:r>
            <a:r>
              <a:rPr sz="2800" spc="409" dirty="0">
                <a:latin typeface="Calibri"/>
                <a:cs typeface="Calibri"/>
              </a:rPr>
              <a:t> </a:t>
            </a:r>
            <a:r>
              <a:rPr sz="2800" dirty="0">
                <a:latin typeface="Calibri"/>
                <a:cs typeface="Calibri"/>
              </a:rPr>
              <a:t>If</a:t>
            </a:r>
            <a:r>
              <a:rPr sz="2800" spc="400" dirty="0">
                <a:latin typeface="Calibri"/>
                <a:cs typeface="Calibri"/>
              </a:rPr>
              <a:t> </a:t>
            </a:r>
            <a:r>
              <a:rPr sz="2800" dirty="0">
                <a:latin typeface="Calibri"/>
                <a:cs typeface="Calibri"/>
              </a:rPr>
              <a:t>the</a:t>
            </a:r>
            <a:r>
              <a:rPr sz="2800" spc="405" dirty="0">
                <a:latin typeface="Calibri"/>
                <a:cs typeface="Calibri"/>
              </a:rPr>
              <a:t> </a:t>
            </a:r>
            <a:r>
              <a:rPr sz="2800" dirty="0">
                <a:latin typeface="Calibri"/>
                <a:cs typeface="Calibri"/>
              </a:rPr>
              <a:t>total</a:t>
            </a:r>
            <a:r>
              <a:rPr sz="2800" spc="400" dirty="0">
                <a:latin typeface="Calibri"/>
                <a:cs typeface="Calibri"/>
              </a:rPr>
              <a:t> </a:t>
            </a:r>
            <a:r>
              <a:rPr sz="2800" dirty="0">
                <a:latin typeface="Calibri"/>
                <a:cs typeface="Calibri"/>
              </a:rPr>
              <a:t>project</a:t>
            </a:r>
            <a:r>
              <a:rPr sz="2800" spc="400" dirty="0">
                <a:latin typeface="Calibri"/>
                <a:cs typeface="Calibri"/>
              </a:rPr>
              <a:t> </a:t>
            </a:r>
            <a:r>
              <a:rPr sz="2800" dirty="0">
                <a:latin typeface="Calibri"/>
                <a:cs typeface="Calibri"/>
              </a:rPr>
              <a:t>cost</a:t>
            </a:r>
            <a:r>
              <a:rPr sz="2800" spc="409" dirty="0">
                <a:latin typeface="Calibri"/>
                <a:cs typeface="Calibri"/>
              </a:rPr>
              <a:t> </a:t>
            </a:r>
            <a:r>
              <a:rPr sz="2800" dirty="0">
                <a:latin typeface="Calibri"/>
                <a:cs typeface="Calibri"/>
              </a:rPr>
              <a:t>is</a:t>
            </a:r>
            <a:r>
              <a:rPr sz="2800" spc="409" dirty="0">
                <a:latin typeface="Calibri"/>
                <a:cs typeface="Calibri"/>
              </a:rPr>
              <a:t> </a:t>
            </a:r>
            <a:r>
              <a:rPr sz="2800" dirty="0">
                <a:latin typeface="Calibri"/>
                <a:cs typeface="Calibri"/>
              </a:rPr>
              <a:t>estimated</a:t>
            </a:r>
            <a:r>
              <a:rPr sz="2800" spc="409" dirty="0">
                <a:latin typeface="Calibri"/>
                <a:cs typeface="Calibri"/>
              </a:rPr>
              <a:t> </a:t>
            </a:r>
            <a:r>
              <a:rPr sz="2800" dirty="0">
                <a:latin typeface="Calibri"/>
                <a:cs typeface="Calibri"/>
              </a:rPr>
              <a:t>to</a:t>
            </a:r>
            <a:r>
              <a:rPr sz="2800" spc="409" dirty="0">
                <a:latin typeface="Calibri"/>
                <a:cs typeface="Calibri"/>
              </a:rPr>
              <a:t> </a:t>
            </a:r>
            <a:r>
              <a:rPr sz="2800" dirty="0">
                <a:latin typeface="Calibri"/>
                <a:cs typeface="Calibri"/>
              </a:rPr>
              <a:t>be</a:t>
            </a:r>
            <a:r>
              <a:rPr sz="2800" spc="395" dirty="0">
                <a:latin typeface="Calibri"/>
                <a:cs typeface="Calibri"/>
              </a:rPr>
              <a:t> </a:t>
            </a:r>
            <a:r>
              <a:rPr sz="2800" spc="-10" dirty="0">
                <a:latin typeface="Calibri"/>
                <a:cs typeface="Calibri"/>
              </a:rPr>
              <a:t>$600,000, </a:t>
            </a:r>
            <a:r>
              <a:rPr sz="2800" dirty="0">
                <a:latin typeface="Calibri"/>
                <a:cs typeface="Calibri"/>
              </a:rPr>
              <a:t>what</a:t>
            </a:r>
            <a:r>
              <a:rPr sz="2800" spc="325" dirty="0">
                <a:latin typeface="Calibri"/>
                <a:cs typeface="Calibri"/>
              </a:rPr>
              <a:t>  </a:t>
            </a:r>
            <a:r>
              <a:rPr sz="2800" dirty="0">
                <a:latin typeface="Calibri"/>
                <a:cs typeface="Calibri"/>
              </a:rPr>
              <a:t>are</a:t>
            </a:r>
            <a:r>
              <a:rPr sz="2800" spc="325" dirty="0">
                <a:latin typeface="Calibri"/>
                <a:cs typeface="Calibri"/>
              </a:rPr>
              <a:t>  </a:t>
            </a:r>
            <a:r>
              <a:rPr sz="2800" dirty="0">
                <a:latin typeface="Calibri"/>
                <a:cs typeface="Calibri"/>
              </a:rPr>
              <a:t>the</a:t>
            </a:r>
            <a:r>
              <a:rPr sz="2800" spc="325" dirty="0">
                <a:latin typeface="Calibri"/>
                <a:cs typeface="Calibri"/>
              </a:rPr>
              <a:t>  </a:t>
            </a:r>
            <a:r>
              <a:rPr sz="2800" dirty="0">
                <a:latin typeface="Calibri"/>
                <a:cs typeface="Calibri"/>
              </a:rPr>
              <a:t>estimated</a:t>
            </a:r>
            <a:r>
              <a:rPr sz="2800" spc="330" dirty="0">
                <a:latin typeface="Calibri"/>
                <a:cs typeface="Calibri"/>
              </a:rPr>
              <a:t>  </a:t>
            </a:r>
            <a:r>
              <a:rPr sz="2800" dirty="0">
                <a:latin typeface="Calibri"/>
                <a:cs typeface="Calibri"/>
              </a:rPr>
              <a:t>costs</a:t>
            </a:r>
            <a:r>
              <a:rPr sz="2800" spc="330" dirty="0">
                <a:latin typeface="Calibri"/>
                <a:cs typeface="Calibri"/>
              </a:rPr>
              <a:t>  </a:t>
            </a:r>
            <a:r>
              <a:rPr sz="2800" dirty="0">
                <a:latin typeface="Calibri"/>
                <a:cs typeface="Calibri"/>
              </a:rPr>
              <a:t>for</a:t>
            </a:r>
            <a:r>
              <a:rPr sz="2800" spc="330" dirty="0">
                <a:latin typeface="Calibri"/>
                <a:cs typeface="Calibri"/>
              </a:rPr>
              <a:t>  </a:t>
            </a:r>
            <a:r>
              <a:rPr sz="2800" dirty="0">
                <a:latin typeface="Calibri"/>
                <a:cs typeface="Calibri"/>
              </a:rPr>
              <a:t>the</a:t>
            </a:r>
            <a:r>
              <a:rPr sz="2800" spc="325" dirty="0">
                <a:latin typeface="Calibri"/>
                <a:cs typeface="Calibri"/>
              </a:rPr>
              <a:t>  </a:t>
            </a:r>
            <a:r>
              <a:rPr sz="2800" dirty="0">
                <a:latin typeface="Calibri"/>
                <a:cs typeface="Calibri"/>
              </a:rPr>
              <a:t>following</a:t>
            </a:r>
            <a:r>
              <a:rPr sz="2800" spc="330" dirty="0">
                <a:latin typeface="Calibri"/>
                <a:cs typeface="Calibri"/>
              </a:rPr>
              <a:t>  </a:t>
            </a:r>
            <a:r>
              <a:rPr sz="2800" spc="-10" dirty="0">
                <a:latin typeface="Calibri"/>
                <a:cs typeface="Calibri"/>
              </a:rPr>
              <a:t>deliverables?</a:t>
            </a:r>
            <a:endParaRPr sz="2800" dirty="0">
              <a:latin typeface="Calibri"/>
              <a:cs typeface="Calibri"/>
            </a:endParaRPr>
          </a:p>
          <a:p>
            <a:pPr marL="596900" algn="just">
              <a:lnSpc>
                <a:spcPts val="3080"/>
              </a:lnSpc>
              <a:tabLst>
                <a:tab pos="3669665" algn="l"/>
                <a:tab pos="7327265" algn="l"/>
              </a:tabLst>
            </a:pPr>
            <a:r>
              <a:rPr sz="2800" dirty="0">
                <a:latin typeface="Calibri"/>
                <a:cs typeface="Calibri"/>
              </a:rPr>
              <a:t>a.</a:t>
            </a:r>
            <a:r>
              <a:rPr sz="2800" spc="-5" dirty="0">
                <a:latin typeface="Calibri"/>
                <a:cs typeface="Calibri"/>
              </a:rPr>
              <a:t> </a:t>
            </a:r>
            <a:r>
              <a:rPr sz="2800" spc="-10" dirty="0">
                <a:latin typeface="Calibri"/>
                <a:cs typeface="Calibri"/>
              </a:rPr>
              <a:t>Design</a:t>
            </a:r>
            <a:r>
              <a:rPr sz="2800" dirty="0">
                <a:latin typeface="Calibri"/>
                <a:cs typeface="Calibri"/>
              </a:rPr>
              <a:t>	b.</a:t>
            </a:r>
            <a:r>
              <a:rPr sz="2800" spc="-15" dirty="0">
                <a:latin typeface="Calibri"/>
                <a:cs typeface="Calibri"/>
              </a:rPr>
              <a:t> </a:t>
            </a:r>
            <a:r>
              <a:rPr sz="2800" spc="-10" dirty="0">
                <a:latin typeface="Calibri"/>
                <a:cs typeface="Calibri"/>
              </a:rPr>
              <a:t>Programming</a:t>
            </a:r>
            <a:r>
              <a:rPr sz="2800" dirty="0">
                <a:latin typeface="Calibri"/>
                <a:cs typeface="Calibri"/>
              </a:rPr>
              <a:t>	c.</a:t>
            </a:r>
            <a:r>
              <a:rPr sz="2800" spc="-25" dirty="0">
                <a:latin typeface="Calibri"/>
                <a:cs typeface="Calibri"/>
              </a:rPr>
              <a:t> </a:t>
            </a:r>
            <a:r>
              <a:rPr sz="2800" spc="-10" dirty="0">
                <a:latin typeface="Calibri"/>
                <a:cs typeface="Calibri"/>
              </a:rPr>
              <a:t>In-</a:t>
            </a:r>
            <a:r>
              <a:rPr sz="2800" dirty="0">
                <a:latin typeface="Calibri"/>
                <a:cs typeface="Calibri"/>
              </a:rPr>
              <a:t>house</a:t>
            </a:r>
            <a:r>
              <a:rPr sz="2800" spc="-40" dirty="0">
                <a:latin typeface="Calibri"/>
                <a:cs typeface="Calibri"/>
              </a:rPr>
              <a:t> </a:t>
            </a:r>
            <a:r>
              <a:rPr sz="2800" spc="-10" dirty="0">
                <a:latin typeface="Calibri"/>
                <a:cs typeface="Calibri"/>
              </a:rPr>
              <a:t>testing</a:t>
            </a:r>
            <a:endParaRPr sz="2800" dirty="0">
              <a:latin typeface="Calibri"/>
              <a:cs typeface="Calibri"/>
            </a:endParaRPr>
          </a:p>
        </p:txBody>
      </p:sp>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22</a:t>
            </a:r>
            <a:endParaRPr sz="1200">
              <a:latin typeface="Calibri"/>
              <a:cs typeface="Calibri"/>
            </a:endParaRPr>
          </a:p>
        </p:txBody>
      </p:sp>
      <p:sp>
        <p:nvSpPr>
          <p:cNvPr id="4" name="object 4"/>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95" dirty="0">
                <a:solidFill>
                  <a:srgbClr val="FF0000"/>
                </a:solidFill>
              </a:rPr>
              <a:t>Exercise 3</a:t>
            </a:r>
            <a:r>
              <a:rPr spc="150" dirty="0"/>
              <a:t> </a:t>
            </a:r>
            <a:r>
              <a:rPr sz="1950" spc="-20" dirty="0"/>
              <a:t>(2/2)</a:t>
            </a:r>
            <a:endParaRPr sz="1950" dirty="0"/>
          </a:p>
        </p:txBody>
      </p:sp>
      <p:pic>
        <p:nvPicPr>
          <p:cNvPr id="5" name="object 5"/>
          <p:cNvPicPr/>
          <p:nvPr/>
        </p:nvPicPr>
        <p:blipFill>
          <a:blip r:embed="rId2" cstate="print"/>
          <a:stretch>
            <a:fillRect/>
          </a:stretch>
        </p:blipFill>
        <p:spPr>
          <a:xfrm>
            <a:off x="3220825" y="3429000"/>
            <a:ext cx="5503047" cy="3405062"/>
          </a:xfrm>
          <a:prstGeom prst="rect">
            <a:avLst/>
          </a:prstGeom>
        </p:spPr>
      </p:pic>
      <p:pic>
        <p:nvPicPr>
          <p:cNvPr id="6" name="Picture 5">
            <a:extLst>
              <a:ext uri="{FF2B5EF4-FFF2-40B4-BE49-F238E27FC236}">
                <a16:creationId xmlns:a16="http://schemas.microsoft.com/office/drawing/2014/main" id="{29909A67-5B1D-9FD0-CECA-EEA499E7424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2"/>
            <a:ext cx="1600200" cy="88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1222</TotalTime>
  <Words>5101</Words>
  <Application>Microsoft Office PowerPoint</Application>
  <PresentationFormat>Widescreen</PresentationFormat>
  <Paragraphs>344</Paragraphs>
  <Slides>25</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 MT</vt:lpstr>
      <vt:lpstr>Calibri</vt:lpstr>
      <vt:lpstr>Calibri Light</vt:lpstr>
      <vt:lpstr>Georgia</vt:lpstr>
      <vt:lpstr>Times New Roman</vt:lpstr>
      <vt:lpstr>Office Theme</vt:lpstr>
      <vt:lpstr>Estimating Project Times and Costs</vt:lpstr>
      <vt:lpstr>Introduction</vt:lpstr>
      <vt:lpstr>Project Estimation</vt:lpstr>
      <vt:lpstr>Project Estimation</vt:lpstr>
      <vt:lpstr>Factors Influencing the Quality of Estimates (1/2)</vt:lpstr>
      <vt:lpstr>Factors Influencing the Quality of Estimates (2/2)</vt:lpstr>
      <vt:lpstr>Estimating Guidelines for Times, Costs &amp; Resources (1/3)</vt:lpstr>
      <vt:lpstr>Estimating Guidelines for Times, Costs &amp; Resources (2/3)</vt:lpstr>
      <vt:lpstr>Estimating Guidelines for Times, Costs &amp; Resources (3/3)</vt:lpstr>
      <vt:lpstr>How to do top-down estimating ?</vt:lpstr>
      <vt:lpstr>Methods for Estimating Project Times and Costs (1/5)</vt:lpstr>
      <vt:lpstr>Methods for Estimating Project Times and Costs</vt:lpstr>
      <vt:lpstr>Methods for Estimating Project Times and Costs</vt:lpstr>
      <vt:lpstr>How to do bottom-up estimating ?</vt:lpstr>
      <vt:lpstr>Methods for Estimating Project Times and Costs</vt:lpstr>
      <vt:lpstr>Methods for Estimating Project Times and Costs</vt:lpstr>
      <vt:lpstr>Comparison between Top-Down and Bottom-Up Estimates</vt:lpstr>
      <vt:lpstr>Conditions for referrin To -Down or Bottom-U Time and Cost Estimates</vt:lpstr>
      <vt:lpstr>Types of Costs (1/2)</vt:lpstr>
      <vt:lpstr>Types of Costs (2/2)</vt:lpstr>
      <vt:lpstr>Refining Estimates</vt:lpstr>
      <vt:lpstr>Creating a Database for Estimating</vt:lpstr>
      <vt:lpstr>Assignement 3</vt:lpstr>
      <vt:lpstr>Exercise 3 (1/2)</vt:lpstr>
      <vt:lpstr>Exercise 3 (2/2)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Estimating Project Times and Costs</dc:title>
  <dc:creator>BASHA</dc:creator>
  <cp:lastModifiedBy>Zahraa.Ismail</cp:lastModifiedBy>
  <cp:revision>38</cp:revision>
  <dcterms:created xsi:type="dcterms:W3CDTF">2025-07-31T07:45:56Z</dcterms:created>
  <dcterms:modified xsi:type="dcterms:W3CDTF">2025-10-28T07:15:19Z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2024-03-12T00:00:00Z</vt:filetime>
  </property>
  <property fmtid="{D5CDD505-2E9C-101B-9397-08002B2CF9AE}" pid="3" name="LastSaved">
    <vt:filetime>2025-07-31T00:00:00Z</vt:filetime>
  </property>
  <property fmtid="{D5CDD505-2E9C-101B-9397-08002B2CF9AE}" pid="4" name="Producer">
    <vt:lpwstr>macOS Version 12.2.1 (Build 21D62) Quartz PDFContext</vt:lpwstr>
  </property>
</Properties>
</file>