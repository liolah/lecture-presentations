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2658" y="66"/>
      </p:cViewPr>
      <p:guideLst>
        <p:guide orient="horz" pos="2880"/>
        <p:guide pos="2160"/>
      </p:guideLst>
    </p:cSldViewPr>
  </p:slideViewPr>
  <p:notesTextViewPr>
    <p:cViewPr>
      <p:scale>
        <a:sx n="100" d="100"/>
        <a:sy n="100" d="100"/>
      </p:scale>
      <p:origin x="0" y="-535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60B52-0444-462B-9173-6199019248BD}" type="datetimeFigureOut">
              <a:rPr lang="en-US" smtClean="0"/>
              <a:t>3/11/2026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76586A-7933-4E63-B7E8-3335BFFB6AB4}" type="slidenum">
              <a:rPr lang="en-US" smtClean="0"/>
              <a:t>‹#›</a:t>
            </a:fld>
            <a:endParaRPr lang="en-US"/>
          </a:p>
        </p:txBody>
      </p:sp>
    </p:spTree>
    <p:extLst>
      <p:ext uri="{BB962C8B-B14F-4D97-AF65-F5344CB8AC3E}">
        <p14:creationId xmlns:p14="http://schemas.microsoft.com/office/powerpoint/2010/main" val="407030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Hazards in a pipelined architecture can significantly impact the performance of a CPU by preventing instructions from executing during their intended clock cycles. Let's dive deeper into the three classes of hazards: structural hazards, data hazards, and control hazards.</a:t>
            </a:r>
          </a:p>
          <a:p>
            <a:r>
              <a:rPr lang="en-US" b="1" dirty="0"/>
              <a:t>1. Structural Hazards</a:t>
            </a:r>
          </a:p>
          <a:p>
            <a:r>
              <a:rPr lang="en-US" b="1" dirty="0"/>
              <a:t>Definition</a:t>
            </a:r>
            <a:r>
              <a:rPr lang="en-US" dirty="0"/>
              <a:t>:</a:t>
            </a:r>
            <a:br>
              <a:rPr lang="en-US" dirty="0"/>
            </a:br>
            <a:r>
              <a:rPr lang="en-US" dirty="0"/>
              <a:t>Structural hazards occur when two or more instructions in the pipeline require the same hardware resource at the same time. This can happen if the architecture does not have enough resources to support simultaneous operations.</a:t>
            </a:r>
          </a:p>
          <a:p>
            <a:r>
              <a:rPr lang="en-US" b="1" dirty="0"/>
              <a:t>Example</a:t>
            </a:r>
            <a:r>
              <a:rPr lang="en-US" dirty="0"/>
              <a:t>:</a:t>
            </a:r>
          </a:p>
          <a:p>
            <a:r>
              <a:rPr lang="en-US" b="1" dirty="0"/>
              <a:t>Scenario</a:t>
            </a:r>
            <a:r>
              <a:rPr lang="en-US" dirty="0"/>
              <a:t>: If a CPU has only one memory port, it cannot fetch a new instruction while also accessing memory to load or store data.</a:t>
            </a:r>
          </a:p>
          <a:p>
            <a:r>
              <a:rPr lang="en-US" b="1" dirty="0"/>
              <a:t>Impact</a:t>
            </a:r>
            <a:r>
              <a:rPr lang="en-US" dirty="0"/>
              <a:t>: If an instruction needs to read from memory while another is trying to fetch the next instruction, one of them must wait, creating a stall in the pipeline.</a:t>
            </a:r>
          </a:p>
          <a:p>
            <a:r>
              <a:rPr lang="en-US" b="1" dirty="0"/>
              <a:t>Mitigation</a:t>
            </a:r>
            <a:r>
              <a:rPr lang="en-US" dirty="0"/>
              <a:t>:</a:t>
            </a:r>
          </a:p>
          <a:p>
            <a:r>
              <a:rPr lang="en-US" b="1" dirty="0"/>
              <a:t>Add additional resources</a:t>
            </a:r>
            <a:r>
              <a:rPr lang="en-US" dirty="0"/>
              <a:t>: Increase the number of memory ports or replicate functional units.</a:t>
            </a:r>
          </a:p>
          <a:p>
            <a:r>
              <a:rPr lang="en-US" b="1" dirty="0"/>
              <a:t>Resource scheduling</a:t>
            </a:r>
            <a:r>
              <a:rPr lang="en-US" dirty="0"/>
              <a:t>: Use scheduling algorithms to manage resource allocation dynamically.</a:t>
            </a:r>
          </a:p>
          <a:p>
            <a:r>
              <a:rPr lang="en-US" b="1" dirty="0"/>
              <a:t>2. Data Hazards</a:t>
            </a:r>
          </a:p>
          <a:p>
            <a:r>
              <a:rPr lang="en-US" b="1" dirty="0"/>
              <a:t>Definition</a:t>
            </a:r>
            <a:r>
              <a:rPr lang="en-US" dirty="0"/>
              <a:t>:</a:t>
            </a:r>
            <a:br>
              <a:rPr lang="en-US" dirty="0"/>
            </a:br>
            <a:r>
              <a:rPr lang="en-US" dirty="0"/>
              <a:t>Data hazards arise from data dependencies between instructions. They occur when an instruction depends on the result of a previous instruction that has not yet completed.</a:t>
            </a:r>
          </a:p>
          <a:p>
            <a:r>
              <a:rPr lang="en-US" b="1" dirty="0"/>
              <a:t>Types of Data Hazards</a:t>
            </a:r>
            <a:r>
              <a:rPr lang="en-US" dirty="0"/>
              <a:t>:</a:t>
            </a:r>
          </a:p>
          <a:p>
            <a:r>
              <a:rPr lang="en-US" b="1" dirty="0"/>
              <a:t>Read After Write (RAW)</a:t>
            </a:r>
            <a:r>
              <a:rPr lang="en-US" dirty="0"/>
              <a:t>: An instruction is trying to read a value before it has been written by a previous instruction.</a:t>
            </a:r>
          </a:p>
          <a:p>
            <a:r>
              <a:rPr lang="en-US" b="1" dirty="0"/>
              <a:t>Write After Read (WAR)</a:t>
            </a:r>
            <a:r>
              <a:rPr lang="en-US" dirty="0"/>
              <a:t>: An instruction writes to a location before a previous instruction reads from it (usually occurs in out-of-order execution).</a:t>
            </a:r>
          </a:p>
          <a:p>
            <a:r>
              <a:rPr lang="en-US" b="1" dirty="0"/>
              <a:t>Write After Write (WAW)</a:t>
            </a:r>
            <a:r>
              <a:rPr lang="en-US" dirty="0"/>
              <a:t>: Two instructions write to the same location; the order of these writes must be preserved.</a:t>
            </a:r>
          </a:p>
          <a:p>
            <a:r>
              <a:rPr lang="en-US" b="1" dirty="0"/>
              <a:t>Example</a:t>
            </a:r>
            <a:r>
              <a:rPr lang="en-US" dirty="0"/>
              <a:t>:</a:t>
            </a:r>
          </a:p>
          <a:p>
            <a:r>
              <a:rPr lang="en-US" b="1" dirty="0"/>
              <a:t>Scenario</a:t>
            </a:r>
            <a:r>
              <a:rPr lang="en-US" dirty="0"/>
              <a:t>: </a:t>
            </a:r>
          </a:p>
          <a:p>
            <a:pPr lvl="1"/>
            <a:r>
              <a:rPr lang="en-US" sz="1200" kern="1200" dirty="0">
                <a:solidFill>
                  <a:schemeClr val="tx1"/>
                </a:solidFill>
                <a:latin typeface="+mn-lt"/>
                <a:ea typeface="+mn-ea"/>
                <a:cs typeface="+mn-cs"/>
              </a:rPr>
              <a:t>ADD R1, R2, R3</a:t>
            </a:r>
            <a:r>
              <a:rPr lang="en-US" dirty="0"/>
              <a:t> (R1 = R2 + R3)</a:t>
            </a:r>
          </a:p>
          <a:p>
            <a:pPr lvl="1"/>
            <a:r>
              <a:rPr lang="en-US" sz="1200" kern="1200" dirty="0">
                <a:solidFill>
                  <a:schemeClr val="tx1"/>
                </a:solidFill>
                <a:latin typeface="+mn-lt"/>
                <a:ea typeface="+mn-ea"/>
                <a:cs typeface="+mn-cs"/>
              </a:rPr>
              <a:t>SUB R4, R1, R5</a:t>
            </a:r>
            <a:r>
              <a:rPr lang="en-US" dirty="0"/>
              <a:t> (R4 = R1 - R5)</a:t>
            </a:r>
          </a:p>
          <a:p>
            <a:r>
              <a:rPr lang="en-US" dirty="0"/>
              <a:t>If the </a:t>
            </a:r>
            <a:r>
              <a:rPr lang="en-US" sz="1200" kern="1200" dirty="0">
                <a:solidFill>
                  <a:schemeClr val="tx1"/>
                </a:solidFill>
                <a:latin typeface="+mn-lt"/>
                <a:ea typeface="+mn-ea"/>
                <a:cs typeface="+mn-cs"/>
              </a:rPr>
              <a:t>SUB</a:t>
            </a:r>
            <a:r>
              <a:rPr lang="en-US" dirty="0"/>
              <a:t> instruction executes before the </a:t>
            </a:r>
            <a:r>
              <a:rPr lang="en-US" sz="1200" kern="1200" dirty="0">
                <a:solidFill>
                  <a:schemeClr val="tx1"/>
                </a:solidFill>
                <a:latin typeface="+mn-lt"/>
                <a:ea typeface="+mn-ea"/>
                <a:cs typeface="+mn-cs"/>
              </a:rPr>
              <a:t>ADD</a:t>
            </a:r>
            <a:r>
              <a:rPr lang="en-US" dirty="0"/>
              <a:t> instruction has finished writing to </a:t>
            </a:r>
            <a:r>
              <a:rPr lang="en-US" sz="1200" kern="1200" dirty="0">
                <a:solidFill>
                  <a:schemeClr val="tx1"/>
                </a:solidFill>
                <a:latin typeface="+mn-lt"/>
                <a:ea typeface="+mn-ea"/>
                <a:cs typeface="+mn-cs"/>
              </a:rPr>
              <a:t>R1</a:t>
            </a:r>
            <a:r>
              <a:rPr lang="en-US" dirty="0"/>
              <a:t>, it will use an incorrect value.</a:t>
            </a:r>
          </a:p>
          <a:p>
            <a:r>
              <a:rPr lang="en-US" b="1" dirty="0"/>
              <a:t>Mitigation</a:t>
            </a:r>
            <a:r>
              <a:rPr lang="en-US" dirty="0"/>
              <a:t>:</a:t>
            </a:r>
          </a:p>
          <a:p>
            <a:r>
              <a:rPr lang="en-US" b="1" dirty="0"/>
              <a:t>Data forwarding</a:t>
            </a:r>
            <a:r>
              <a:rPr lang="en-US" dirty="0"/>
              <a:t>: Use an additional pathway to send the result of an instruction directly to later stages in the pipeline without writing to the register file first.</a:t>
            </a:r>
          </a:p>
          <a:p>
            <a:r>
              <a:rPr lang="en-US" b="1" dirty="0"/>
              <a:t>Stalling</a:t>
            </a:r>
            <a:r>
              <a:rPr lang="en-US" dirty="0"/>
              <a:t>: Introduce bubbles (no-operation instructions) in the pipeline to wait until the data is ready.</a:t>
            </a:r>
          </a:p>
          <a:p>
            <a:r>
              <a:rPr lang="en-US" b="1" dirty="0"/>
              <a:t>3. Control Hazards</a:t>
            </a:r>
          </a:p>
          <a:p>
            <a:r>
              <a:rPr lang="en-US" b="1" dirty="0"/>
              <a:t>Definition</a:t>
            </a:r>
            <a:r>
              <a:rPr lang="en-US" dirty="0"/>
              <a:t>:</a:t>
            </a:r>
            <a:br>
              <a:rPr lang="en-US" dirty="0"/>
            </a:br>
            <a:r>
              <a:rPr lang="en-US" dirty="0"/>
              <a:t>Control hazards, also known as branch hazards, occur when the pipeline makes wrong assumptions about the flow of control (for example, due to a branch instruction). This happens when the next instruction to be executed depends on the outcome of a branch instruction.</a:t>
            </a:r>
          </a:p>
          <a:p>
            <a:r>
              <a:rPr lang="en-US" b="1" dirty="0"/>
              <a:t>Example</a:t>
            </a:r>
            <a:r>
              <a:rPr lang="en-US" dirty="0"/>
              <a:t>:</a:t>
            </a:r>
          </a:p>
          <a:p>
            <a:r>
              <a:rPr lang="en-US" b="1" dirty="0"/>
              <a:t>Scenario</a:t>
            </a:r>
            <a:r>
              <a:rPr lang="en-US" dirty="0"/>
              <a:t>: </a:t>
            </a:r>
          </a:p>
          <a:p>
            <a:pPr lvl="1"/>
            <a:r>
              <a:rPr lang="en-US" sz="1200" kern="1200" dirty="0">
                <a:solidFill>
                  <a:schemeClr val="tx1"/>
                </a:solidFill>
                <a:latin typeface="+mn-lt"/>
                <a:ea typeface="+mn-ea"/>
                <a:cs typeface="+mn-cs"/>
              </a:rPr>
              <a:t>BEQ R1, R2, LABEL</a:t>
            </a:r>
            <a:r>
              <a:rPr lang="en-US" dirty="0"/>
              <a:t> (Branch if R1 equals R2)</a:t>
            </a:r>
          </a:p>
          <a:p>
            <a:pPr lvl="1"/>
            <a:r>
              <a:rPr lang="en-US" dirty="0"/>
              <a:t>If the condition is met, the program counters need to jump to </a:t>
            </a:r>
            <a:r>
              <a:rPr lang="en-US" sz="1200" kern="1200" dirty="0">
                <a:solidFill>
                  <a:schemeClr val="tx1"/>
                </a:solidFill>
                <a:latin typeface="+mn-lt"/>
                <a:ea typeface="+mn-ea"/>
                <a:cs typeface="+mn-cs"/>
              </a:rPr>
              <a:t>LABEL</a:t>
            </a:r>
            <a:r>
              <a:rPr lang="en-US" dirty="0"/>
              <a:t>, changing the flow of instruction execution.</a:t>
            </a:r>
          </a:p>
          <a:p>
            <a:r>
              <a:rPr lang="en-US" dirty="0"/>
              <a:t>The pipeline may continue executing instructions following the </a:t>
            </a:r>
            <a:r>
              <a:rPr lang="en-US" sz="1200" kern="1200" dirty="0">
                <a:solidFill>
                  <a:schemeClr val="tx1"/>
                </a:solidFill>
                <a:latin typeface="+mn-lt"/>
                <a:ea typeface="+mn-ea"/>
                <a:cs typeface="+mn-cs"/>
              </a:rPr>
              <a:t>BEQ</a:t>
            </a:r>
            <a:r>
              <a:rPr lang="en-US" dirty="0"/>
              <a:t>, which may not be correct.</a:t>
            </a:r>
          </a:p>
          <a:p>
            <a:r>
              <a:rPr lang="en-US" b="1" dirty="0"/>
              <a:t>Mitigation</a:t>
            </a:r>
            <a:r>
              <a:rPr lang="en-US" dirty="0"/>
              <a:t>:</a:t>
            </a:r>
          </a:p>
          <a:p>
            <a:r>
              <a:rPr lang="en-US" b="1" dirty="0"/>
              <a:t>Branch prediction</a:t>
            </a:r>
            <a:r>
              <a:rPr lang="en-US" dirty="0"/>
              <a:t>: Guess whether a branch will be taken or not and preload the predicted path.</a:t>
            </a:r>
          </a:p>
          <a:p>
            <a:r>
              <a:rPr lang="en-US" b="1" dirty="0"/>
              <a:t>Delayed branching</a:t>
            </a:r>
            <a:r>
              <a:rPr lang="en-US" dirty="0"/>
              <a:t>: Include both the branch instruction and the next sequential instruction to execute if the branch is taken.</a:t>
            </a:r>
          </a:p>
          <a:p>
            <a:r>
              <a:rPr lang="en-US" b="1" dirty="0"/>
              <a:t>Flushing the pipeline</a:t>
            </a:r>
            <a:r>
              <a:rPr lang="en-US" dirty="0"/>
              <a:t>: If a branch prediction is incorrect, discard the incorrectly fetched instructions and fetch the correct ones.</a:t>
            </a:r>
          </a:p>
          <a:p>
            <a:r>
              <a:rPr lang="en-US" b="1" dirty="0"/>
              <a:t>Conclusion</a:t>
            </a:r>
          </a:p>
          <a:p>
            <a:r>
              <a:rPr lang="en-US" dirty="0"/>
              <a:t>Understanding and managing hazards are crucial for optimizing the performance of pipelined architectures. By recognizing structural, data, and control hazards, and implementing strategies to mitigate them, computer architects can enhance instruction throughput and overall efficiency.</a:t>
            </a:r>
          </a:p>
          <a:p>
            <a:r>
              <a:rPr lang="en-US" dirty="0"/>
              <a:t>If you need more details or specific examples for any of these points, let me know!</a:t>
            </a:r>
          </a:p>
          <a:p>
            <a:endParaRPr lang="en-US" dirty="0"/>
          </a:p>
        </p:txBody>
      </p:sp>
      <p:sp>
        <p:nvSpPr>
          <p:cNvPr id="4" name="Slide Number Placeholder 3"/>
          <p:cNvSpPr>
            <a:spLocks noGrp="1"/>
          </p:cNvSpPr>
          <p:nvPr>
            <p:ph type="sldNum" sz="quarter" idx="5"/>
          </p:nvPr>
        </p:nvSpPr>
        <p:spPr/>
        <p:txBody>
          <a:bodyPr/>
          <a:lstStyle/>
          <a:p>
            <a:fld id="{B576586A-7933-4E63-B7E8-3335BFFB6AB4}" type="slidenum">
              <a:rPr lang="en-US" smtClean="0"/>
              <a:t>3</a:t>
            </a:fld>
            <a:endParaRPr lang="en-US"/>
          </a:p>
        </p:txBody>
      </p:sp>
    </p:spTree>
    <p:extLst>
      <p:ext uri="{BB962C8B-B14F-4D97-AF65-F5344CB8AC3E}">
        <p14:creationId xmlns:p14="http://schemas.microsoft.com/office/powerpoint/2010/main" val="1699115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delve deeper into the techniques for addressing hazards in pipelines, specifically focusing on stalls, operand forwarding, delayed load, and handling branches and jumps.</a:t>
            </a:r>
          </a:p>
          <a:p>
            <a:r>
              <a:rPr lang="en-US" b="1" dirty="0"/>
              <a:t>1. Stall (Hardware Interlocks)</a:t>
            </a:r>
          </a:p>
          <a:p>
            <a:r>
              <a:rPr lang="en-US" b="1" dirty="0"/>
              <a:t>Definition</a:t>
            </a:r>
            <a:r>
              <a:rPr lang="en-US" dirty="0"/>
              <a:t>:</a:t>
            </a:r>
            <a:br>
              <a:rPr lang="en-US" dirty="0"/>
            </a:br>
            <a:r>
              <a:rPr lang="en-US" dirty="0"/>
              <a:t>A stall introduces a delay in the instruction pipeline when a data hazard is detected. This technique leverages hardware interlocks to maintain the program's correct execution sequence.</a:t>
            </a:r>
          </a:p>
          <a:p>
            <a:r>
              <a:rPr lang="en-US" b="1" dirty="0"/>
              <a:t>How It Works</a:t>
            </a:r>
            <a:r>
              <a:rPr lang="en-US" dirty="0"/>
              <a:t>:</a:t>
            </a:r>
          </a:p>
          <a:p>
            <a:r>
              <a:rPr lang="en-US" b="1" dirty="0"/>
              <a:t>Detection</a:t>
            </a:r>
            <a:r>
              <a:rPr lang="en-US" dirty="0"/>
              <a:t>: The interlock circuitry monitors the pipeline stages for situations where an instruction's source operands are not yet available because they are results of earlier instructions still being processed.</a:t>
            </a:r>
          </a:p>
          <a:p>
            <a:r>
              <a:rPr lang="en-US" b="1" dirty="0"/>
              <a:t>Stalling</a:t>
            </a:r>
            <a:r>
              <a:rPr lang="en-US" dirty="0"/>
              <a:t>: When a conflict is detected, the instruction needing the operand is delayed (stalled) for a sufficient number of clock cycles until the required data is written back to the registers.</a:t>
            </a:r>
          </a:p>
          <a:p>
            <a:r>
              <a:rPr lang="en-US" b="1" dirty="0"/>
              <a:t>Example</a:t>
            </a:r>
            <a:r>
              <a:rPr lang="en-US" dirty="0"/>
              <a:t>:</a:t>
            </a:r>
          </a:p>
          <a:p>
            <a:r>
              <a:rPr lang="en-US" b="1" dirty="0"/>
              <a:t>Scenario</a:t>
            </a:r>
            <a:r>
              <a:rPr lang="en-US" dirty="0"/>
              <a:t>: </a:t>
            </a:r>
          </a:p>
          <a:p>
            <a:pPr lvl="1"/>
            <a:r>
              <a:rPr lang="en-US" sz="1200" kern="1200" dirty="0">
                <a:solidFill>
                  <a:schemeClr val="tx1"/>
                </a:solidFill>
                <a:latin typeface="+mn-lt"/>
                <a:ea typeface="+mn-ea"/>
                <a:cs typeface="+mn-cs"/>
              </a:rPr>
              <a:t>ADD R1, R2, R3</a:t>
            </a:r>
            <a:r>
              <a:rPr lang="en-US" dirty="0"/>
              <a:t> (R1 = R2 + R3)</a:t>
            </a:r>
          </a:p>
          <a:p>
            <a:pPr lvl="1"/>
            <a:r>
              <a:rPr lang="en-US" sz="1200" kern="1200" dirty="0">
                <a:solidFill>
                  <a:schemeClr val="tx1"/>
                </a:solidFill>
                <a:latin typeface="+mn-lt"/>
                <a:ea typeface="+mn-ea"/>
                <a:cs typeface="+mn-cs"/>
              </a:rPr>
              <a:t>SUB R4, R1, R5</a:t>
            </a:r>
            <a:r>
              <a:rPr lang="en-US" dirty="0"/>
              <a:t> (R4 = R1 - R5)</a:t>
            </a:r>
          </a:p>
          <a:p>
            <a:r>
              <a:rPr lang="en-US" dirty="0"/>
              <a:t>If </a:t>
            </a:r>
            <a:r>
              <a:rPr lang="en-US" sz="1200" kern="1200" dirty="0">
                <a:solidFill>
                  <a:schemeClr val="tx1"/>
                </a:solidFill>
                <a:latin typeface="+mn-lt"/>
                <a:ea typeface="+mn-ea"/>
                <a:cs typeface="+mn-cs"/>
              </a:rPr>
              <a:t>SUB</a:t>
            </a:r>
            <a:r>
              <a:rPr lang="en-US" dirty="0"/>
              <a:t> is ready to execute before </a:t>
            </a:r>
            <a:r>
              <a:rPr lang="en-US" sz="1200" kern="1200" dirty="0">
                <a:solidFill>
                  <a:schemeClr val="tx1"/>
                </a:solidFill>
                <a:latin typeface="+mn-lt"/>
                <a:ea typeface="+mn-ea"/>
                <a:cs typeface="+mn-cs"/>
              </a:rPr>
              <a:t>ADD</a:t>
            </a:r>
            <a:r>
              <a:rPr lang="en-US" dirty="0"/>
              <a:t> completes, the interlock will stall </a:t>
            </a:r>
            <a:r>
              <a:rPr lang="en-US" sz="1200" kern="1200" dirty="0">
                <a:solidFill>
                  <a:schemeClr val="tx1"/>
                </a:solidFill>
                <a:latin typeface="+mn-lt"/>
                <a:ea typeface="+mn-ea"/>
                <a:cs typeface="+mn-cs"/>
              </a:rPr>
              <a:t>SUB</a:t>
            </a:r>
            <a:r>
              <a:rPr lang="en-US" dirty="0"/>
              <a:t> until </a:t>
            </a:r>
            <a:r>
              <a:rPr lang="en-US" sz="1200" kern="1200" dirty="0">
                <a:solidFill>
                  <a:schemeClr val="tx1"/>
                </a:solidFill>
                <a:latin typeface="+mn-lt"/>
                <a:ea typeface="+mn-ea"/>
                <a:cs typeface="+mn-cs"/>
              </a:rPr>
              <a:t>ADD</a:t>
            </a:r>
            <a:r>
              <a:rPr lang="en-US" dirty="0"/>
              <a:t> finishes and writes to </a:t>
            </a:r>
            <a:r>
              <a:rPr lang="en-US" sz="1200" kern="1200" dirty="0">
                <a:solidFill>
                  <a:schemeClr val="tx1"/>
                </a:solidFill>
                <a:latin typeface="+mn-lt"/>
                <a:ea typeface="+mn-ea"/>
                <a:cs typeface="+mn-cs"/>
              </a:rPr>
              <a:t>R1</a:t>
            </a:r>
            <a:r>
              <a:rPr lang="en-US" dirty="0"/>
              <a:t>.</a:t>
            </a:r>
          </a:p>
          <a:p>
            <a:r>
              <a:rPr lang="en-US" b="1" dirty="0"/>
              <a:t>2. Operand Forwarding</a:t>
            </a:r>
          </a:p>
          <a:p>
            <a:r>
              <a:rPr lang="en-US" b="1" dirty="0"/>
              <a:t>Definition</a:t>
            </a:r>
            <a:r>
              <a:rPr lang="en-US" dirty="0"/>
              <a:t>:</a:t>
            </a:r>
            <a:br>
              <a:rPr lang="en-US" dirty="0"/>
            </a:br>
            <a:r>
              <a:rPr lang="en-US" dirty="0"/>
              <a:t>Operand forwarding (or data forwarding) is a technique to eliminate data hazards by routing the results of instructions directly to the inputs of subsequent instructions without writing them back to the register file first.</a:t>
            </a:r>
          </a:p>
          <a:p>
            <a:r>
              <a:rPr lang="en-US" b="1" dirty="0"/>
              <a:t>How It Works</a:t>
            </a:r>
            <a:r>
              <a:rPr lang="en-US" dirty="0"/>
              <a:t>:</a:t>
            </a:r>
          </a:p>
          <a:p>
            <a:r>
              <a:rPr lang="en-US" b="1" dirty="0"/>
              <a:t>Conflict Detection</a:t>
            </a:r>
            <a:r>
              <a:rPr lang="en-US" dirty="0"/>
              <a:t>: Hardware checks if the destination operand of an earlier instruction is needed as a source operand in a subsequent instruction.</a:t>
            </a:r>
          </a:p>
          <a:p>
            <a:r>
              <a:rPr lang="en-US" b="1" dirty="0"/>
              <a:t>Data Routing</a:t>
            </a:r>
            <a:r>
              <a:rPr lang="en-US" dirty="0"/>
              <a:t>: If a conflict is detected, the result from the pipeline stage generating the data can bypass the register file and be forwarded directly to the ALU or other functional units.</a:t>
            </a:r>
          </a:p>
          <a:p>
            <a:r>
              <a:rPr lang="en-US" b="1" dirty="0"/>
              <a:t>Example</a:t>
            </a:r>
            <a:r>
              <a:rPr lang="en-US" dirty="0"/>
              <a:t>:</a:t>
            </a:r>
          </a:p>
          <a:p>
            <a:r>
              <a:rPr lang="en-US" b="1" dirty="0"/>
              <a:t>Scenario</a:t>
            </a:r>
            <a:r>
              <a:rPr lang="en-US" dirty="0"/>
              <a:t>: </a:t>
            </a:r>
          </a:p>
          <a:p>
            <a:pPr lvl="1"/>
            <a:r>
              <a:rPr lang="en-US" sz="1200" kern="1200" dirty="0">
                <a:solidFill>
                  <a:schemeClr val="tx1"/>
                </a:solidFill>
                <a:latin typeface="+mn-lt"/>
                <a:ea typeface="+mn-ea"/>
                <a:cs typeface="+mn-cs"/>
              </a:rPr>
              <a:t>ADD R1, R2, R3</a:t>
            </a:r>
            <a:endParaRPr lang="en-US" dirty="0"/>
          </a:p>
          <a:p>
            <a:pPr lvl="1"/>
            <a:r>
              <a:rPr lang="en-US" sz="1200" kern="1200" dirty="0">
                <a:solidFill>
                  <a:schemeClr val="tx1"/>
                </a:solidFill>
                <a:latin typeface="+mn-lt"/>
                <a:ea typeface="+mn-ea"/>
                <a:cs typeface="+mn-cs"/>
              </a:rPr>
              <a:t>SUB R4, R1, R5</a:t>
            </a:r>
            <a:endParaRPr lang="en-US" dirty="0"/>
          </a:p>
          <a:p>
            <a:r>
              <a:rPr lang="en-US" dirty="0"/>
              <a:t>Instead of waiting for </a:t>
            </a:r>
            <a:r>
              <a:rPr lang="en-US" sz="1200" kern="1200" dirty="0">
                <a:solidFill>
                  <a:schemeClr val="tx1"/>
                </a:solidFill>
                <a:latin typeface="+mn-lt"/>
                <a:ea typeface="+mn-ea"/>
                <a:cs typeface="+mn-cs"/>
              </a:rPr>
              <a:t>R1</a:t>
            </a:r>
            <a:r>
              <a:rPr lang="en-US" dirty="0"/>
              <a:t> to be written back to the register file before </a:t>
            </a:r>
            <a:r>
              <a:rPr lang="en-US" sz="1200" kern="1200" dirty="0">
                <a:solidFill>
                  <a:schemeClr val="tx1"/>
                </a:solidFill>
                <a:latin typeface="+mn-lt"/>
                <a:ea typeface="+mn-ea"/>
                <a:cs typeface="+mn-cs"/>
              </a:rPr>
              <a:t>SUB</a:t>
            </a:r>
            <a:r>
              <a:rPr lang="en-US" dirty="0"/>
              <a:t> can execute, the result of </a:t>
            </a:r>
            <a:r>
              <a:rPr lang="en-US" sz="1200" kern="1200" dirty="0">
                <a:solidFill>
                  <a:schemeClr val="tx1"/>
                </a:solidFill>
                <a:latin typeface="+mn-lt"/>
                <a:ea typeface="+mn-ea"/>
                <a:cs typeface="+mn-cs"/>
              </a:rPr>
              <a:t>ADD</a:t>
            </a:r>
            <a:r>
              <a:rPr lang="en-US" dirty="0"/>
              <a:t> is forwarded directly to the inputs of the ALU being used for </a:t>
            </a:r>
            <a:r>
              <a:rPr lang="en-US" sz="1200" kern="1200" dirty="0">
                <a:solidFill>
                  <a:schemeClr val="tx1"/>
                </a:solidFill>
                <a:latin typeface="+mn-lt"/>
                <a:ea typeface="+mn-ea"/>
                <a:cs typeface="+mn-cs"/>
              </a:rPr>
              <a:t>SUB</a:t>
            </a:r>
            <a:r>
              <a:rPr lang="en-US" dirty="0"/>
              <a:t>.</a:t>
            </a:r>
          </a:p>
          <a:p>
            <a:r>
              <a:rPr lang="en-US" b="1" dirty="0"/>
              <a:t>Hardware Requirements</a:t>
            </a:r>
            <a:r>
              <a:rPr lang="en-US" dirty="0"/>
              <a:t>:</a:t>
            </a:r>
          </a:p>
          <a:p>
            <a:r>
              <a:rPr lang="en-US" dirty="0"/>
              <a:t>Additional multiplexers (MUX) to select between the routing paths for the operands.</a:t>
            </a:r>
          </a:p>
          <a:p>
            <a:r>
              <a:rPr lang="en-US" dirty="0"/>
              <a:t>Suitable conflict detection logic to enable forwarding paths.</a:t>
            </a:r>
          </a:p>
          <a:p>
            <a:r>
              <a:rPr lang="en-US" b="1" dirty="0"/>
              <a:t>3. Delayed Load</a:t>
            </a:r>
          </a:p>
          <a:p>
            <a:r>
              <a:rPr lang="en-US" b="1" dirty="0"/>
              <a:t>Definition</a:t>
            </a:r>
            <a:r>
              <a:rPr lang="en-US" dirty="0"/>
              <a:t>:</a:t>
            </a:r>
            <a:br>
              <a:rPr lang="en-US" dirty="0"/>
            </a:br>
            <a:r>
              <a:rPr lang="en-US" dirty="0"/>
              <a:t>The delayed load strategy shifts the responsibility for handling data hazards from the hardware to the compiler.</a:t>
            </a:r>
          </a:p>
          <a:p>
            <a:r>
              <a:rPr lang="en-US" b="1" dirty="0"/>
              <a:t>How It Works</a:t>
            </a:r>
            <a:r>
              <a:rPr lang="en-US" dirty="0"/>
              <a:t>:</a:t>
            </a:r>
          </a:p>
          <a:p>
            <a:r>
              <a:rPr lang="en-US" b="1" dirty="0"/>
              <a:t>Compiler Role</a:t>
            </a:r>
            <a:r>
              <a:rPr lang="en-US" dirty="0"/>
              <a:t>: The compiler detects possible data hazards during the instruction scheduling phase and reorders the instructions to avoid conflicts.</a:t>
            </a:r>
          </a:p>
          <a:p>
            <a:r>
              <a:rPr lang="en-US" b="1" dirty="0"/>
              <a:t>No-Operation Instructions</a:t>
            </a:r>
            <a:r>
              <a:rPr lang="en-US" dirty="0"/>
              <a:t>: When a potential hazard is identified, the compiler may insert no-operation (NOP) instructions to delay the execution of a load instruction until the data it depends on is available.</a:t>
            </a:r>
          </a:p>
          <a:p>
            <a:r>
              <a:rPr lang="en-US" b="1" dirty="0"/>
              <a:t>Example</a:t>
            </a:r>
            <a:r>
              <a:rPr lang="en-US" dirty="0"/>
              <a:t>:</a:t>
            </a:r>
          </a:p>
          <a:p>
            <a:r>
              <a:rPr lang="en-US" b="1" dirty="0"/>
              <a:t>Scenario</a:t>
            </a:r>
            <a:r>
              <a:rPr lang="en-US" dirty="0"/>
              <a:t>: </a:t>
            </a:r>
          </a:p>
          <a:p>
            <a:pPr lvl="1"/>
            <a:r>
              <a:rPr lang="en-US" dirty="0"/>
              <a:t>Original sequence: </a:t>
            </a:r>
          </a:p>
          <a:p>
            <a:pPr lvl="2"/>
            <a:r>
              <a:rPr lang="en-US" sz="1200" kern="1200" dirty="0">
                <a:solidFill>
                  <a:schemeClr val="tx1"/>
                </a:solidFill>
                <a:latin typeface="+mn-lt"/>
                <a:ea typeface="+mn-ea"/>
                <a:cs typeface="+mn-cs"/>
              </a:rPr>
              <a:t>LOAD R1, 0(R2)</a:t>
            </a:r>
            <a:endParaRPr lang="en-US" dirty="0"/>
          </a:p>
          <a:p>
            <a:pPr lvl="2"/>
            <a:r>
              <a:rPr lang="en-US" sz="1200" kern="1200" dirty="0">
                <a:solidFill>
                  <a:schemeClr val="tx1"/>
                </a:solidFill>
                <a:latin typeface="+mn-lt"/>
                <a:ea typeface="+mn-ea"/>
                <a:cs typeface="+mn-cs"/>
              </a:rPr>
              <a:t>ADD R3, R1, R4</a:t>
            </a:r>
            <a:endParaRPr lang="en-US" dirty="0"/>
          </a:p>
          <a:p>
            <a:r>
              <a:rPr lang="en-US" dirty="0"/>
              <a:t>The compiler can detect that </a:t>
            </a:r>
            <a:r>
              <a:rPr lang="en-US" sz="1200" kern="1200" dirty="0">
                <a:solidFill>
                  <a:schemeClr val="tx1"/>
                </a:solidFill>
                <a:latin typeface="+mn-lt"/>
                <a:ea typeface="+mn-ea"/>
                <a:cs typeface="+mn-cs"/>
              </a:rPr>
              <a:t>ADD</a:t>
            </a:r>
            <a:r>
              <a:rPr lang="en-US" dirty="0"/>
              <a:t> depends on the </a:t>
            </a:r>
            <a:r>
              <a:rPr lang="en-US" sz="1200" kern="1200" dirty="0">
                <a:solidFill>
                  <a:schemeClr val="tx1"/>
                </a:solidFill>
                <a:latin typeface="+mn-lt"/>
                <a:ea typeface="+mn-ea"/>
                <a:cs typeface="+mn-cs"/>
              </a:rPr>
              <a:t>LOAD</a:t>
            </a:r>
            <a:r>
              <a:rPr lang="en-US" dirty="0"/>
              <a:t> operation. It can rearrange the instructions or insert NOPs, turning the sequence into: </a:t>
            </a:r>
          </a:p>
          <a:p>
            <a:pPr lvl="1"/>
            <a:r>
              <a:rPr lang="en-US" sz="1200" kern="1200" dirty="0">
                <a:solidFill>
                  <a:schemeClr val="tx1"/>
                </a:solidFill>
                <a:latin typeface="+mn-lt"/>
                <a:ea typeface="+mn-ea"/>
                <a:cs typeface="+mn-cs"/>
              </a:rPr>
              <a:t>LOAD R1, 0(R2)</a:t>
            </a:r>
            <a:endParaRPr lang="en-US" dirty="0"/>
          </a:p>
          <a:p>
            <a:pPr lvl="1"/>
            <a:r>
              <a:rPr lang="en-US" sz="1200" kern="1200" dirty="0">
                <a:solidFill>
                  <a:schemeClr val="tx1"/>
                </a:solidFill>
                <a:latin typeface="+mn-lt"/>
                <a:ea typeface="+mn-ea"/>
                <a:cs typeface="+mn-cs"/>
              </a:rPr>
              <a:t>NOP</a:t>
            </a:r>
            <a:endParaRPr lang="en-US" dirty="0"/>
          </a:p>
          <a:p>
            <a:pPr lvl="1"/>
            <a:r>
              <a:rPr lang="en-US" sz="1200" kern="1200" dirty="0">
                <a:solidFill>
                  <a:schemeClr val="tx1"/>
                </a:solidFill>
                <a:latin typeface="+mn-lt"/>
                <a:ea typeface="+mn-ea"/>
                <a:cs typeface="+mn-cs"/>
              </a:rPr>
              <a:t>NOP</a:t>
            </a:r>
            <a:endParaRPr lang="en-US" dirty="0"/>
          </a:p>
          <a:p>
            <a:pPr lvl="1"/>
            <a:r>
              <a:rPr lang="en-US" sz="1200" kern="1200" dirty="0">
                <a:solidFill>
                  <a:schemeClr val="tx1"/>
                </a:solidFill>
                <a:latin typeface="+mn-lt"/>
                <a:ea typeface="+mn-ea"/>
                <a:cs typeface="+mn-cs"/>
              </a:rPr>
              <a:t>ADD R3, R1, R4</a:t>
            </a:r>
            <a:endParaRPr lang="en-US" dirty="0"/>
          </a:p>
          <a:p>
            <a:r>
              <a:rPr lang="en-US" b="1" dirty="0"/>
              <a:t>4. Branches and Jumps</a:t>
            </a:r>
          </a:p>
          <a:p>
            <a:r>
              <a:rPr lang="en-US" b="1" dirty="0"/>
              <a:t>Definition</a:t>
            </a:r>
            <a:r>
              <a:rPr lang="en-US" dirty="0"/>
              <a:t>:</a:t>
            </a:r>
            <a:br>
              <a:rPr lang="en-US" dirty="0"/>
            </a:br>
            <a:r>
              <a:rPr lang="en-US" dirty="0"/>
              <a:t>Branches can introduce control hazards in pipelined architectures, affecting the program counter (PC). There are two main outcomes for branches: taken and untaken.</a:t>
            </a:r>
          </a:p>
          <a:p>
            <a:r>
              <a:rPr lang="en-US" b="1" dirty="0"/>
              <a:t>Branch Hazards</a:t>
            </a:r>
            <a:r>
              <a:rPr lang="en-US" dirty="0"/>
              <a:t>:</a:t>
            </a:r>
          </a:p>
          <a:p>
            <a:r>
              <a:rPr lang="en-US" b="1" dirty="0"/>
              <a:t>Taken Branch</a:t>
            </a:r>
            <a:r>
              <a:rPr lang="en-US" dirty="0"/>
              <a:t>: If the branch condition is true, the PC is changed to the target address specified by the branch instruction.</a:t>
            </a:r>
          </a:p>
          <a:p>
            <a:pPr lvl="1"/>
            <a:r>
              <a:rPr lang="en-US" b="1" dirty="0"/>
              <a:t>Example</a:t>
            </a:r>
            <a:r>
              <a:rPr lang="en-US" dirty="0"/>
              <a:t>: In the instruction </a:t>
            </a:r>
            <a:r>
              <a:rPr lang="en-US" sz="1200" kern="1200" dirty="0">
                <a:solidFill>
                  <a:schemeClr val="tx1"/>
                </a:solidFill>
                <a:latin typeface="+mn-lt"/>
                <a:ea typeface="+mn-ea"/>
                <a:cs typeface="+mn-cs"/>
              </a:rPr>
              <a:t>BEQ R1, R2, LABEL</a:t>
            </a:r>
            <a:r>
              <a:rPr lang="en-US" dirty="0"/>
              <a:t>, if </a:t>
            </a:r>
            <a:r>
              <a:rPr lang="en-US" sz="1200" kern="1200" dirty="0">
                <a:solidFill>
                  <a:schemeClr val="tx1"/>
                </a:solidFill>
                <a:latin typeface="+mn-lt"/>
                <a:ea typeface="+mn-ea"/>
                <a:cs typeface="+mn-cs"/>
              </a:rPr>
              <a:t>R1</a:t>
            </a:r>
            <a:r>
              <a:rPr lang="en-US" dirty="0"/>
              <a:t> equals </a:t>
            </a:r>
            <a:r>
              <a:rPr lang="en-US" sz="1200" kern="1200" dirty="0">
                <a:solidFill>
                  <a:schemeClr val="tx1"/>
                </a:solidFill>
                <a:latin typeface="+mn-lt"/>
                <a:ea typeface="+mn-ea"/>
                <a:cs typeface="+mn-cs"/>
              </a:rPr>
              <a:t>R2</a:t>
            </a:r>
            <a:r>
              <a:rPr lang="en-US" dirty="0"/>
              <a:t>, the PC updates to </a:t>
            </a:r>
            <a:r>
              <a:rPr lang="en-US" sz="1200" kern="1200" dirty="0">
                <a:solidFill>
                  <a:schemeClr val="tx1"/>
                </a:solidFill>
                <a:latin typeface="+mn-lt"/>
                <a:ea typeface="+mn-ea"/>
                <a:cs typeface="+mn-cs"/>
              </a:rPr>
              <a:t>LABEL</a:t>
            </a:r>
            <a:r>
              <a:rPr lang="en-US" dirty="0"/>
              <a:t>.</a:t>
            </a:r>
          </a:p>
          <a:p>
            <a:r>
              <a:rPr lang="en-US" b="1" dirty="0"/>
              <a:t>Untaken Branch</a:t>
            </a:r>
            <a:r>
              <a:rPr lang="en-US" dirty="0"/>
              <a:t>: The branch does not alter the flow, and the next sequential instruction after the branch is executed.</a:t>
            </a:r>
          </a:p>
          <a:p>
            <a:pPr lvl="1"/>
            <a:r>
              <a:rPr lang="en-US" b="1" dirty="0"/>
              <a:t>Example</a:t>
            </a:r>
            <a:r>
              <a:rPr lang="en-US" dirty="0"/>
              <a:t>: If the branch condition fails, execution continues with the instruction following the branch.</a:t>
            </a:r>
          </a:p>
          <a:p>
            <a:r>
              <a:rPr lang="en-US" b="1" dirty="0"/>
              <a:t>Handling Branch Hazards</a:t>
            </a:r>
            <a:r>
              <a:rPr lang="en-US" dirty="0"/>
              <a:t>:</a:t>
            </a:r>
          </a:p>
          <a:p>
            <a:r>
              <a:rPr lang="en-US" b="1" dirty="0"/>
              <a:t>Branch Prediction</a:t>
            </a:r>
            <a:r>
              <a:rPr lang="en-US" dirty="0"/>
              <a:t>: Predict the outcome of a branch instruction to prefetch instructions.</a:t>
            </a:r>
          </a:p>
          <a:p>
            <a:r>
              <a:rPr lang="en-US" b="1" dirty="0"/>
              <a:t>Branch Delay Slot</a:t>
            </a:r>
            <a:r>
              <a:rPr lang="en-US" dirty="0"/>
              <a:t>: Some architectures allow a few instructions to execute after a branch instruction regardless of the branch taken or not, minimizing stalls.</a:t>
            </a:r>
          </a:p>
          <a:p>
            <a:r>
              <a:rPr lang="en-US" b="1" dirty="0"/>
              <a:t>Flushing the Pipeline</a:t>
            </a:r>
            <a:r>
              <a:rPr lang="en-US" dirty="0"/>
              <a:t>: If the prediction is incorrect, the incorrect instructions are flushed from the pipeline, and the correct ones are fetched.</a:t>
            </a:r>
          </a:p>
          <a:p>
            <a:r>
              <a:rPr lang="en-US" b="1" dirty="0"/>
              <a:t>Conclusion</a:t>
            </a:r>
          </a:p>
          <a:p>
            <a:r>
              <a:rPr lang="en-US" dirty="0"/>
              <a:t>Hazard management is crucial for maintaining high performance in pipelined architectures. Techniques like stalls, operand forwarding, delayed load, and carefully managed branch operations help mitigate the negative impacts of hazards. Understanding and implementing these strategies allows for more efficient instruction execution and improved CPU throughput.</a:t>
            </a:r>
          </a:p>
          <a:p>
            <a:r>
              <a:rPr lang="en-US" dirty="0"/>
              <a:t>If you have any further questions or need clarification on these concepts, feel free to ask!</a:t>
            </a:r>
          </a:p>
          <a:p>
            <a:endParaRPr lang="en-US" dirty="0"/>
          </a:p>
        </p:txBody>
      </p:sp>
      <p:sp>
        <p:nvSpPr>
          <p:cNvPr id="4" name="Slide Number Placeholder 3"/>
          <p:cNvSpPr>
            <a:spLocks noGrp="1"/>
          </p:cNvSpPr>
          <p:nvPr>
            <p:ph type="sldNum" sz="quarter" idx="5"/>
          </p:nvPr>
        </p:nvSpPr>
        <p:spPr/>
        <p:txBody>
          <a:bodyPr/>
          <a:lstStyle/>
          <a:p>
            <a:fld id="{B576586A-7933-4E63-B7E8-3335BFFB6AB4}" type="slidenum">
              <a:rPr lang="en-US" smtClean="0"/>
              <a:t>8</a:t>
            </a:fld>
            <a:endParaRPr lang="en-US"/>
          </a:p>
        </p:txBody>
      </p:sp>
    </p:spTree>
    <p:extLst>
      <p:ext uri="{BB962C8B-B14F-4D97-AF65-F5344CB8AC3E}">
        <p14:creationId xmlns:p14="http://schemas.microsoft.com/office/powerpoint/2010/main" val="364859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Branch Hazards</a:t>
            </a:r>
          </a:p>
          <a:p>
            <a:r>
              <a:rPr lang="en-US" b="1" dirty="0"/>
              <a:t>Definition</a:t>
            </a:r>
            <a:r>
              <a:rPr lang="en-US" dirty="0"/>
              <a:t>:</a:t>
            </a:r>
            <a:br>
              <a:rPr lang="en-US" dirty="0"/>
            </a:br>
            <a:r>
              <a:rPr lang="en-US" dirty="0"/>
              <a:t>Branch hazards occur in pipelined architectures when the flow of execution can change due to a branch instruction. The pipeline may have already started fetching subsequent instructions before determining whether the branch will be taken or not.</a:t>
            </a:r>
          </a:p>
          <a:p>
            <a:r>
              <a:rPr lang="en-US" b="1" dirty="0"/>
              <a:t>Types of Branches</a:t>
            </a:r>
            <a:r>
              <a:rPr lang="en-US" dirty="0"/>
              <a:t>:</a:t>
            </a:r>
          </a:p>
          <a:p>
            <a:r>
              <a:rPr lang="en-US" b="1" dirty="0"/>
              <a:t>Taken Branch</a:t>
            </a:r>
            <a:r>
              <a:rPr lang="en-US" dirty="0"/>
              <a:t>: The program counter (PC) changes to the target address specified by the branch instruction.</a:t>
            </a:r>
          </a:p>
          <a:p>
            <a:r>
              <a:rPr lang="en-US" b="1" dirty="0"/>
              <a:t>Untaken Branch</a:t>
            </a:r>
            <a:r>
              <a:rPr lang="en-US" dirty="0"/>
              <a:t>: The PC continues to the next sequential instruction.</a:t>
            </a:r>
          </a:p>
          <a:p>
            <a:r>
              <a:rPr lang="en-US" b="1" dirty="0"/>
              <a:t>Handling Branch Hazards</a:t>
            </a:r>
          </a:p>
          <a:p>
            <a:r>
              <a:rPr lang="en-US" b="1" dirty="0"/>
              <a:t>1. Freeze the Pipeline</a:t>
            </a:r>
          </a:p>
          <a:p>
            <a:r>
              <a:rPr lang="en-US" dirty="0"/>
              <a:t>When a branch instruction is encountered:</a:t>
            </a:r>
          </a:p>
          <a:p>
            <a:r>
              <a:rPr lang="en-US" dirty="0"/>
              <a:t>The pipeline may be frozen, meaning that instructions following the branch are held or deleted until the branch destination is known.</a:t>
            </a:r>
          </a:p>
          <a:p>
            <a:r>
              <a:rPr lang="en-US" dirty="0"/>
              <a:t>This avoids executing incorrect instructions but introduces a delay (or stall) in the pipeline, which can reduce performance.</a:t>
            </a:r>
          </a:p>
          <a:p>
            <a:r>
              <a:rPr lang="en-US" b="1" dirty="0"/>
              <a:t>2. Branch Prediction</a:t>
            </a:r>
          </a:p>
          <a:p>
            <a:r>
              <a:rPr lang="en-US" b="1" dirty="0"/>
              <a:t>Idea</a:t>
            </a:r>
            <a:r>
              <a:rPr lang="en-US" dirty="0"/>
              <a:t>: To improve performance, modern processors implement branch prediction techniques, allowing for a more efficient handling of branch instructions.</a:t>
            </a:r>
          </a:p>
          <a:p>
            <a:r>
              <a:rPr lang="en-US" b="1" dirty="0"/>
              <a:t>Strategies</a:t>
            </a:r>
            <a:r>
              <a:rPr lang="en-US" dirty="0"/>
              <a:t>:</a:t>
            </a:r>
          </a:p>
          <a:p>
            <a:r>
              <a:rPr lang="en-US" b="1" dirty="0"/>
              <a:t>Predicted-Untaken</a:t>
            </a:r>
            <a:r>
              <a:rPr lang="en-US" dirty="0"/>
              <a:t>: Assume that every branch will not be taken. The processor continues fetching the next sequential instruction. </a:t>
            </a:r>
          </a:p>
          <a:p>
            <a:pPr lvl="1"/>
            <a:r>
              <a:rPr lang="en-US" b="1" dirty="0"/>
              <a:t>Impact</a:t>
            </a:r>
            <a:r>
              <a:rPr lang="en-US" dirty="0"/>
              <a:t>: This can lead to performance penalties if the prediction is wrong, as it may need to flush already fetched incorrect instructions.</a:t>
            </a:r>
          </a:p>
          <a:p>
            <a:r>
              <a:rPr lang="en-US" b="1" dirty="0"/>
              <a:t>Predicted-Taken</a:t>
            </a:r>
            <a:r>
              <a:rPr lang="en-US" dirty="0"/>
              <a:t>: Assume that every branch will be taken. The processor fetches and prepares to execute instructions from the target address. </a:t>
            </a:r>
          </a:p>
          <a:p>
            <a:pPr lvl="1"/>
            <a:r>
              <a:rPr lang="en-US" b="1" dirty="0"/>
              <a:t>Impact</a:t>
            </a:r>
            <a:r>
              <a:rPr lang="en-US" dirty="0"/>
              <a:t>: If the prediction is correct, it reduces branch penalties. If wrong, the pipeline still needs to be flushed.</a:t>
            </a:r>
          </a:p>
          <a:p>
            <a:r>
              <a:rPr lang="en-US" b="1" dirty="0"/>
              <a:t>Benefits of Branch Prediction</a:t>
            </a:r>
            <a:r>
              <a:rPr lang="en-US" dirty="0"/>
              <a:t>:</a:t>
            </a:r>
          </a:p>
          <a:p>
            <a:r>
              <a:rPr lang="en-US" b="1" dirty="0"/>
              <a:t>Reduced Latency</a:t>
            </a:r>
            <a:r>
              <a:rPr lang="en-US" dirty="0"/>
              <a:t>: Correct predictions mean fewer stalls.</a:t>
            </a:r>
          </a:p>
          <a:p>
            <a:r>
              <a:rPr lang="en-US" b="1" dirty="0"/>
              <a:t>Increased Throughput</a:t>
            </a:r>
            <a:r>
              <a:rPr lang="en-US" dirty="0"/>
              <a:t>: Helps keep the pipeline full, improving overall instruction execution rates.</a:t>
            </a:r>
          </a:p>
          <a:p>
            <a:r>
              <a:rPr lang="en-US" b="1" dirty="0"/>
              <a:t>3. Delayed Branch</a:t>
            </a:r>
          </a:p>
          <a:p>
            <a:r>
              <a:rPr lang="en-US" b="1" dirty="0"/>
              <a:t>Definition</a:t>
            </a:r>
            <a:r>
              <a:rPr lang="en-US" dirty="0"/>
              <a:t>: This technique relies on the compiler's ability to reorder instructions in a way that minimizes disruptions caused by branches.</a:t>
            </a:r>
          </a:p>
          <a:p>
            <a:r>
              <a:rPr lang="en-US" b="1" dirty="0"/>
              <a:t>How It Works</a:t>
            </a:r>
            <a:r>
              <a:rPr lang="en-US" dirty="0"/>
              <a:t>:</a:t>
            </a:r>
          </a:p>
          <a:p>
            <a:r>
              <a:rPr lang="en-US" dirty="0"/>
              <a:t>The compiler analyzes the program and identifies branch instructions.</a:t>
            </a:r>
          </a:p>
          <a:p>
            <a:r>
              <a:rPr lang="en-US" dirty="0"/>
              <a:t>It rearranges the instruction sequence, inserting useful instructions (that can be executed without waiting for the branch outcome) into the “branch delay slots.” These slots are the instructions that follow the branch.</a:t>
            </a:r>
          </a:p>
          <a:p>
            <a:r>
              <a:rPr lang="en-US" b="1" dirty="0"/>
              <a:t>Example</a:t>
            </a:r>
            <a:r>
              <a:rPr lang="en-US" dirty="0"/>
              <a:t>:</a:t>
            </a:r>
          </a:p>
          <a:p>
            <a:r>
              <a:rPr lang="en-US" dirty="0"/>
              <a:t>Consider the following sequence with a branch instruction: </a:t>
            </a:r>
          </a:p>
          <a:p>
            <a:pPr lvl="1"/>
            <a:r>
              <a:rPr lang="en-US" sz="1200" kern="1200" dirty="0">
                <a:solidFill>
                  <a:schemeClr val="tx1"/>
                </a:solidFill>
                <a:latin typeface="+mn-lt"/>
                <a:ea typeface="+mn-ea"/>
                <a:cs typeface="+mn-cs"/>
              </a:rPr>
              <a:t>BEQ R1, R2, LABEL</a:t>
            </a:r>
            <a:endParaRPr lang="en-US" dirty="0"/>
          </a:p>
          <a:p>
            <a:pPr lvl="1"/>
            <a:r>
              <a:rPr lang="en-US" sz="1200" kern="1200" dirty="0">
                <a:solidFill>
                  <a:schemeClr val="tx1"/>
                </a:solidFill>
                <a:latin typeface="+mn-lt"/>
                <a:ea typeface="+mn-ea"/>
                <a:cs typeface="+mn-cs"/>
              </a:rPr>
              <a:t>NOP</a:t>
            </a:r>
            <a:r>
              <a:rPr lang="en-US" dirty="0"/>
              <a:t> (originally the next instruction)</a:t>
            </a:r>
          </a:p>
          <a:p>
            <a:r>
              <a:rPr lang="en-US" dirty="0"/>
              <a:t>If the compiler can insert useful computations that do not depend on whether the branch is taken or not, it would look like: </a:t>
            </a:r>
          </a:p>
          <a:p>
            <a:pPr lvl="1"/>
            <a:r>
              <a:rPr lang="en-US" dirty="0"/>
              <a:t>Original:</a:t>
            </a:r>
          </a:p>
          <a:p>
            <a:pPr lvl="1"/>
            <a:r>
              <a:rPr lang="en-US" dirty="0"/>
              <a:t>assembly</a:t>
            </a:r>
          </a:p>
          <a:p>
            <a:pPr lvl="1"/>
            <a:r>
              <a:rPr lang="en-US" sz="1200" kern="1200" dirty="0">
                <a:solidFill>
                  <a:schemeClr val="tx1"/>
                </a:solidFill>
                <a:effectLst/>
                <a:latin typeface="+mn-lt"/>
                <a:ea typeface="+mn-ea"/>
                <a:cs typeface="+mn-cs"/>
              </a:rPr>
              <a:t>BEQ R1, R2, LABEL</a:t>
            </a:r>
          </a:p>
          <a:p>
            <a:pPr lvl="1"/>
            <a:r>
              <a:rPr lang="en-US" sz="1200" kern="1200" dirty="0">
                <a:solidFill>
                  <a:schemeClr val="tx1"/>
                </a:solidFill>
                <a:effectLst/>
                <a:latin typeface="+mn-lt"/>
                <a:ea typeface="+mn-ea"/>
                <a:cs typeface="+mn-cs"/>
              </a:rPr>
              <a:t>ADD R3, R4, R5</a:t>
            </a:r>
          </a:p>
          <a:p>
            <a:pPr lvl="1"/>
            <a:r>
              <a:rPr lang="en-US" dirty="0"/>
              <a:t>After reordering (assuming </a:t>
            </a:r>
            <a:r>
              <a:rPr lang="en-US" sz="1200" kern="1200" dirty="0">
                <a:solidFill>
                  <a:schemeClr val="tx1"/>
                </a:solidFill>
                <a:latin typeface="+mn-lt"/>
                <a:ea typeface="+mn-ea"/>
                <a:cs typeface="+mn-cs"/>
              </a:rPr>
              <a:t>ADD</a:t>
            </a:r>
            <a:r>
              <a:rPr lang="en-US" dirty="0"/>
              <a:t> can be executed regardless of the branch):</a:t>
            </a:r>
          </a:p>
          <a:p>
            <a:pPr lvl="1"/>
            <a:r>
              <a:rPr lang="en-US" dirty="0"/>
              <a:t>assembly</a:t>
            </a:r>
          </a:p>
          <a:p>
            <a:pPr lvl="1"/>
            <a:r>
              <a:rPr lang="en-US" sz="1200" kern="1200" dirty="0">
                <a:solidFill>
                  <a:schemeClr val="tx1"/>
                </a:solidFill>
                <a:effectLst/>
                <a:latin typeface="+mn-lt"/>
                <a:ea typeface="+mn-ea"/>
                <a:cs typeface="+mn-cs"/>
              </a:rPr>
              <a:t>BEQ R1, R2, LABEL</a:t>
            </a:r>
          </a:p>
          <a:p>
            <a:pPr lvl="1"/>
            <a:r>
              <a:rPr lang="en-US" sz="1200" kern="1200" dirty="0">
                <a:solidFill>
                  <a:schemeClr val="tx1"/>
                </a:solidFill>
                <a:effectLst/>
                <a:latin typeface="+mn-lt"/>
                <a:ea typeface="+mn-ea"/>
                <a:cs typeface="+mn-cs"/>
              </a:rPr>
              <a:t>ADD R3, R4, R5  ; Useful instruction in the delay slot</a:t>
            </a:r>
          </a:p>
          <a:p>
            <a:r>
              <a:rPr lang="en-US" b="1" dirty="0"/>
              <a:t>Conclusion</a:t>
            </a:r>
          </a:p>
          <a:p>
            <a:r>
              <a:rPr lang="en-US" dirty="0"/>
              <a:t>Managing branch hazards effectively is crucial for optimizing the performance of pipelined processors. Techniques such as freezing the pipeline, branch prediction, and delayed branching help minimize the performance impact of branch instructions, ensuring smoother and more efficient instruction execution.</a:t>
            </a:r>
          </a:p>
          <a:p>
            <a:r>
              <a:rPr lang="en-US" dirty="0"/>
              <a:t>If you need further clarification on these strategies or any other related topics, feel free to ask!</a:t>
            </a:r>
          </a:p>
          <a:p>
            <a:endParaRPr lang="en-US" dirty="0"/>
          </a:p>
        </p:txBody>
      </p:sp>
      <p:sp>
        <p:nvSpPr>
          <p:cNvPr id="4" name="Slide Number Placeholder 3"/>
          <p:cNvSpPr>
            <a:spLocks noGrp="1"/>
          </p:cNvSpPr>
          <p:nvPr>
            <p:ph type="sldNum" sz="quarter" idx="5"/>
          </p:nvPr>
        </p:nvSpPr>
        <p:spPr/>
        <p:txBody>
          <a:bodyPr/>
          <a:lstStyle/>
          <a:p>
            <a:fld id="{B576586A-7933-4E63-B7E8-3335BFFB6AB4}" type="slidenum">
              <a:rPr lang="en-US" smtClean="0"/>
              <a:t>11</a:t>
            </a:fld>
            <a:endParaRPr lang="en-US"/>
          </a:p>
        </p:txBody>
      </p:sp>
    </p:spTree>
    <p:extLst>
      <p:ext uri="{BB962C8B-B14F-4D97-AF65-F5344CB8AC3E}">
        <p14:creationId xmlns:p14="http://schemas.microsoft.com/office/powerpoint/2010/main" val="994111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Prefetching Target Instructions</a:t>
            </a:r>
          </a:p>
          <a:p>
            <a:r>
              <a:rPr lang="en-US" b="1" dirty="0"/>
              <a:t>Definition</a:t>
            </a:r>
            <a:r>
              <a:rPr lang="en-US" dirty="0"/>
              <a:t>:</a:t>
            </a:r>
            <a:br>
              <a:rPr lang="en-US" dirty="0"/>
            </a:br>
            <a:r>
              <a:rPr lang="en-US" dirty="0"/>
              <a:t>Prefetching target instructions is a technique used in pipelined architectures to minimize the delay caused by branch instructions. By preloading both the target instruction and subsequent instructions, the pipeline can continue executing with minimal interruptions.</a:t>
            </a:r>
          </a:p>
          <a:p>
            <a:r>
              <a:rPr lang="en-US" b="1" dirty="0"/>
              <a:t>How it Works</a:t>
            </a:r>
          </a:p>
          <a:p>
            <a:r>
              <a:rPr lang="en-US" b="1" dirty="0"/>
              <a:t>Branch Instruction Detection</a:t>
            </a:r>
            <a:r>
              <a:rPr lang="en-US" dirty="0"/>
              <a:t>:</a:t>
            </a:r>
          </a:p>
          <a:p>
            <a:pPr lvl="1"/>
            <a:r>
              <a:rPr lang="en-US" dirty="0"/>
              <a:t>When a branch instruction is encountered, the processor starts the prefetching process immediately.</a:t>
            </a:r>
          </a:p>
          <a:p>
            <a:r>
              <a:rPr lang="en-US" b="1" dirty="0"/>
              <a:t>Instruction Fetching</a:t>
            </a:r>
            <a:r>
              <a:rPr lang="en-US" dirty="0"/>
              <a:t>:</a:t>
            </a:r>
          </a:p>
          <a:p>
            <a:pPr lvl="1"/>
            <a:r>
              <a:rPr lang="en-US" dirty="0"/>
              <a:t>Two streams of instructions are fetched: </a:t>
            </a:r>
          </a:p>
          <a:p>
            <a:pPr lvl="2"/>
            <a:r>
              <a:rPr lang="en-US" dirty="0"/>
              <a:t>The instruction at the branch target address.</a:t>
            </a:r>
          </a:p>
          <a:p>
            <a:pPr lvl="2"/>
            <a:r>
              <a:rPr lang="en-US" dirty="0"/>
              <a:t>The next sequential instruction that follows the branch.</a:t>
            </a:r>
          </a:p>
          <a:p>
            <a:r>
              <a:rPr lang="en-US" b="1" dirty="0"/>
              <a:t>Storing Prefetched Instructions</a:t>
            </a:r>
            <a:r>
              <a:rPr lang="en-US" dirty="0"/>
              <a:t>:</a:t>
            </a:r>
          </a:p>
          <a:p>
            <a:pPr lvl="1"/>
            <a:r>
              <a:rPr lang="en-US" dirty="0"/>
              <a:t>Both fetched instructions are stored temporarily in a buffer until the branch condition is evaluated.</a:t>
            </a:r>
          </a:p>
          <a:p>
            <a:r>
              <a:rPr lang="en-US" b="1" dirty="0"/>
              <a:t>Branch Condition Evaluation</a:t>
            </a:r>
            <a:r>
              <a:rPr lang="en-US" dirty="0"/>
              <a:t>:</a:t>
            </a:r>
          </a:p>
          <a:p>
            <a:pPr lvl="1"/>
            <a:r>
              <a:rPr lang="en-US" dirty="0"/>
              <a:t>Once the processor determines the outcome of the branch condition: </a:t>
            </a:r>
          </a:p>
          <a:p>
            <a:pPr lvl="2"/>
            <a:r>
              <a:rPr lang="en-US" dirty="0"/>
              <a:t>If the branch is </a:t>
            </a:r>
            <a:r>
              <a:rPr lang="en-US" b="1" dirty="0"/>
              <a:t>taken</a:t>
            </a:r>
            <a:r>
              <a:rPr lang="en-US" dirty="0"/>
              <a:t> (i.e., the condition is successful), the pipeline switches to the instruction at the target location.</a:t>
            </a:r>
          </a:p>
          <a:p>
            <a:pPr lvl="2"/>
            <a:r>
              <a:rPr lang="en-US" dirty="0"/>
              <a:t>If the branch is </a:t>
            </a:r>
            <a:r>
              <a:rPr lang="en-US" b="1" dirty="0"/>
              <a:t>not taken</a:t>
            </a:r>
            <a:r>
              <a:rPr lang="en-US" dirty="0"/>
              <a:t> (i.e., the condition fails), execution resumes with the instruction following the branch.</a:t>
            </a:r>
          </a:p>
          <a:p>
            <a:r>
              <a:rPr lang="en-US" b="1" dirty="0"/>
              <a:t>Extension: Dual Instruction Stream Fetching</a:t>
            </a:r>
          </a:p>
          <a:p>
            <a:r>
              <a:rPr lang="en-US" dirty="0"/>
              <a:t>In an enhanced version of this prefetching technique, the processor can continue fetching instructions from both the branch target and the following sequential address until the branch decision is finalized. Here’s how it works:</a:t>
            </a:r>
          </a:p>
          <a:p>
            <a:r>
              <a:rPr lang="en-US" b="1" dirty="0"/>
              <a:t>Branch Instruction Encountered</a:t>
            </a:r>
            <a:r>
              <a:rPr lang="en-US" dirty="0"/>
              <a:t>:</a:t>
            </a:r>
          </a:p>
          <a:p>
            <a:pPr lvl="1"/>
            <a:r>
              <a:rPr lang="en-US" dirty="0"/>
              <a:t>Begin prefetching instructions from both the target and the following instruction address.</a:t>
            </a:r>
          </a:p>
          <a:p>
            <a:r>
              <a:rPr lang="en-US" b="1" dirty="0"/>
              <a:t>Simultaneous Fetching</a:t>
            </a:r>
            <a:r>
              <a:rPr lang="en-US" dirty="0"/>
              <a:t>:</a:t>
            </a:r>
          </a:p>
          <a:p>
            <a:pPr lvl="1"/>
            <a:r>
              <a:rPr lang="en-US" dirty="0"/>
              <a:t>Continue fetching instructions from both directions: </a:t>
            </a:r>
          </a:p>
          <a:p>
            <a:pPr lvl="2"/>
            <a:r>
              <a:rPr lang="en-US" dirty="0"/>
              <a:t>Fetching the instruction stream from the target address.</a:t>
            </a:r>
          </a:p>
          <a:p>
            <a:pPr lvl="2"/>
            <a:r>
              <a:rPr lang="en-US" dirty="0"/>
              <a:t>Fetching the instruction stream of the next sequential instruction.</a:t>
            </a:r>
          </a:p>
          <a:p>
            <a:r>
              <a:rPr lang="en-US" b="1" dirty="0"/>
              <a:t>Decision Point</a:t>
            </a:r>
            <a:r>
              <a:rPr lang="en-US" dirty="0"/>
              <a:t>:</a:t>
            </a:r>
          </a:p>
          <a:p>
            <a:pPr lvl="1"/>
            <a:r>
              <a:rPr lang="en-US" dirty="0"/>
              <a:t>When the branch condition is resolved: </a:t>
            </a:r>
          </a:p>
          <a:p>
            <a:pPr lvl="2"/>
            <a:r>
              <a:rPr lang="en-US" dirty="0"/>
              <a:t>Control logic selects the correct instruction stream based on the branch evaluation.</a:t>
            </a:r>
          </a:p>
          <a:p>
            <a:r>
              <a:rPr lang="en-US" b="1" dirty="0"/>
              <a:t>Advantages</a:t>
            </a:r>
          </a:p>
          <a:p>
            <a:r>
              <a:rPr lang="en-US" b="1" dirty="0"/>
              <a:t>Reduced Stalls</a:t>
            </a:r>
            <a:r>
              <a:rPr lang="en-US" dirty="0"/>
              <a:t>: Minimizing delays associated with branch instructions helps maintain pipeline efficiency.</a:t>
            </a:r>
          </a:p>
          <a:p>
            <a:r>
              <a:rPr lang="en-US" b="1" dirty="0"/>
              <a:t>Increased Throughput</a:t>
            </a:r>
            <a:r>
              <a:rPr lang="en-US" dirty="0"/>
              <a:t>: By prefetching, the processor can avoid idle cycles waiting for branches to resolve.</a:t>
            </a:r>
          </a:p>
          <a:p>
            <a:r>
              <a:rPr lang="en-US" b="1" dirty="0"/>
              <a:t>Better Instruction Flow</a:t>
            </a:r>
            <a:r>
              <a:rPr lang="en-US" dirty="0"/>
              <a:t>: Ensures a smoother execution flow by having potential instructions ready as soon as the branch decision is made.</a:t>
            </a:r>
          </a:p>
          <a:p>
            <a:r>
              <a:rPr lang="en-US" b="1" dirty="0"/>
              <a:t>Example</a:t>
            </a:r>
          </a:p>
          <a:p>
            <a:r>
              <a:rPr lang="en-US" b="1" dirty="0"/>
              <a:t>Instruction Sequence</a:t>
            </a:r>
            <a:r>
              <a:rPr lang="en-US" dirty="0"/>
              <a:t>:</a:t>
            </a:r>
          </a:p>
          <a:p>
            <a:pPr lvl="1"/>
            <a:r>
              <a:rPr lang="en-US" dirty="0"/>
              <a:t>Consider the following instructions: </a:t>
            </a:r>
          </a:p>
          <a:p>
            <a:pPr lvl="1"/>
            <a:r>
              <a:rPr lang="en-US" dirty="0"/>
              <a:t>assembly</a:t>
            </a:r>
          </a:p>
          <a:p>
            <a:pPr lvl="1"/>
            <a:r>
              <a:rPr lang="en-US" sz="1200" kern="1200" dirty="0">
                <a:solidFill>
                  <a:schemeClr val="tx1"/>
                </a:solidFill>
                <a:effectLst/>
                <a:latin typeface="+mn-lt"/>
                <a:ea typeface="+mn-ea"/>
                <a:cs typeface="+mn-cs"/>
              </a:rPr>
              <a:t>BEQ R1, R2, LABEL      ; Branch if R1 equals R2</a:t>
            </a:r>
          </a:p>
          <a:p>
            <a:pPr lvl="1"/>
            <a:r>
              <a:rPr lang="en-US" sz="1200" kern="1200" dirty="0">
                <a:solidFill>
                  <a:schemeClr val="tx1"/>
                </a:solidFill>
                <a:effectLst/>
                <a:latin typeface="+mn-lt"/>
                <a:ea typeface="+mn-ea"/>
                <a:cs typeface="+mn-cs"/>
              </a:rPr>
              <a:t>ADD R3, R4, R5        ; Next sequential instruction</a:t>
            </a:r>
          </a:p>
          <a:p>
            <a:r>
              <a:rPr lang="en-US" b="1" dirty="0"/>
              <a:t>Prefetching</a:t>
            </a:r>
            <a:r>
              <a:rPr lang="en-US" dirty="0"/>
              <a:t>:</a:t>
            </a:r>
          </a:p>
          <a:p>
            <a:pPr lvl="1"/>
            <a:r>
              <a:rPr lang="en-US" dirty="0"/>
              <a:t>On detecting </a:t>
            </a:r>
            <a:r>
              <a:rPr lang="en-US" sz="1200" kern="1200" dirty="0">
                <a:solidFill>
                  <a:schemeClr val="tx1"/>
                </a:solidFill>
                <a:latin typeface="+mn-lt"/>
                <a:ea typeface="+mn-ea"/>
                <a:cs typeface="+mn-cs"/>
              </a:rPr>
              <a:t>BEQ</a:t>
            </a:r>
            <a:r>
              <a:rPr lang="en-US" dirty="0"/>
              <a:t>, the processor starts to prefetch: </a:t>
            </a:r>
          </a:p>
          <a:p>
            <a:pPr lvl="2"/>
            <a:r>
              <a:rPr lang="en-US" dirty="0"/>
              <a:t>The instruction at </a:t>
            </a:r>
            <a:r>
              <a:rPr lang="en-US" sz="1200" kern="1200" dirty="0">
                <a:solidFill>
                  <a:schemeClr val="tx1"/>
                </a:solidFill>
                <a:latin typeface="+mn-lt"/>
                <a:ea typeface="+mn-ea"/>
                <a:cs typeface="+mn-cs"/>
              </a:rPr>
              <a:t>LABEL</a:t>
            </a:r>
            <a:r>
              <a:rPr lang="en-US" dirty="0"/>
              <a:t>.</a:t>
            </a:r>
          </a:p>
          <a:p>
            <a:pPr lvl="2"/>
            <a:r>
              <a:rPr lang="en-US" dirty="0"/>
              <a:t>The </a:t>
            </a:r>
            <a:r>
              <a:rPr lang="en-US" sz="1200" kern="1200" dirty="0">
                <a:solidFill>
                  <a:schemeClr val="tx1"/>
                </a:solidFill>
                <a:latin typeface="+mn-lt"/>
                <a:ea typeface="+mn-ea"/>
                <a:cs typeface="+mn-cs"/>
              </a:rPr>
              <a:t>ADD</a:t>
            </a:r>
            <a:r>
              <a:rPr lang="en-US" dirty="0"/>
              <a:t> instruction that follows.</a:t>
            </a:r>
          </a:p>
          <a:p>
            <a:r>
              <a:rPr lang="en-US" b="1" dirty="0"/>
              <a:t>Branch Resolution</a:t>
            </a:r>
            <a:r>
              <a:rPr lang="en-US" dirty="0"/>
              <a:t>:</a:t>
            </a:r>
          </a:p>
          <a:p>
            <a:pPr lvl="1"/>
            <a:r>
              <a:rPr lang="en-US" dirty="0"/>
              <a:t>If </a:t>
            </a:r>
            <a:r>
              <a:rPr lang="en-US" sz="1200" kern="1200" dirty="0">
                <a:solidFill>
                  <a:schemeClr val="tx1"/>
                </a:solidFill>
                <a:latin typeface="+mn-lt"/>
                <a:ea typeface="+mn-ea"/>
                <a:cs typeface="+mn-cs"/>
              </a:rPr>
              <a:t>R1</a:t>
            </a:r>
            <a:r>
              <a:rPr lang="en-US" dirty="0"/>
              <a:t> equals </a:t>
            </a:r>
            <a:r>
              <a:rPr lang="en-US" sz="1200" kern="1200" dirty="0">
                <a:solidFill>
                  <a:schemeClr val="tx1"/>
                </a:solidFill>
                <a:latin typeface="+mn-lt"/>
                <a:ea typeface="+mn-ea"/>
                <a:cs typeface="+mn-cs"/>
              </a:rPr>
              <a:t>R2</a:t>
            </a:r>
            <a:r>
              <a:rPr lang="en-US" dirty="0"/>
              <a:t>, execution will proceed with the fetched instruction at </a:t>
            </a:r>
            <a:r>
              <a:rPr lang="en-US" sz="1200" kern="1200" dirty="0">
                <a:solidFill>
                  <a:schemeClr val="tx1"/>
                </a:solidFill>
                <a:latin typeface="+mn-lt"/>
                <a:ea typeface="+mn-ea"/>
                <a:cs typeface="+mn-cs"/>
              </a:rPr>
              <a:t>LABEL</a:t>
            </a:r>
            <a:r>
              <a:rPr lang="en-US" dirty="0"/>
              <a:t>.</a:t>
            </a:r>
          </a:p>
          <a:p>
            <a:pPr lvl="1"/>
            <a:r>
              <a:rPr lang="en-US" dirty="0"/>
              <a:t>If the branch is not taken, the processor will execute the </a:t>
            </a:r>
            <a:r>
              <a:rPr lang="en-US" sz="1200" kern="1200" dirty="0">
                <a:solidFill>
                  <a:schemeClr val="tx1"/>
                </a:solidFill>
                <a:latin typeface="+mn-lt"/>
                <a:ea typeface="+mn-ea"/>
                <a:cs typeface="+mn-cs"/>
              </a:rPr>
              <a:t>ADD</a:t>
            </a:r>
            <a:r>
              <a:rPr lang="en-US" dirty="0"/>
              <a:t> instruction.</a:t>
            </a:r>
          </a:p>
          <a:p>
            <a:r>
              <a:rPr lang="en-US" b="1" dirty="0"/>
              <a:t>Conclusion</a:t>
            </a:r>
          </a:p>
          <a:p>
            <a:r>
              <a:rPr lang="en-US" dirty="0"/>
              <a:t>Prefetching target instructions is an effective technique for managing control hazards in pipelined architectures. By anticipating the outcome of branch instructions and preloading instructions from both potential execution paths, processors can significantly enhance performance and maintain efficient instruction flow.</a:t>
            </a:r>
          </a:p>
          <a:p>
            <a:r>
              <a:rPr lang="en-US" dirty="0"/>
              <a:t>If you have more questions or need additional examples, feel free to ask!</a:t>
            </a:r>
          </a:p>
          <a:p>
            <a:endParaRPr lang="en-US" dirty="0"/>
          </a:p>
        </p:txBody>
      </p:sp>
      <p:sp>
        <p:nvSpPr>
          <p:cNvPr id="4" name="Slide Number Placeholder 3"/>
          <p:cNvSpPr>
            <a:spLocks noGrp="1"/>
          </p:cNvSpPr>
          <p:nvPr>
            <p:ph type="sldNum" sz="quarter" idx="5"/>
          </p:nvPr>
        </p:nvSpPr>
        <p:spPr/>
        <p:txBody>
          <a:bodyPr/>
          <a:lstStyle/>
          <a:p>
            <a:fld id="{B576586A-7933-4E63-B7E8-3335BFFB6AB4}" type="slidenum">
              <a:rPr lang="en-US" smtClean="0"/>
              <a:t>12</a:t>
            </a:fld>
            <a:endParaRPr lang="en-US"/>
          </a:p>
        </p:txBody>
      </p:sp>
    </p:spTree>
    <p:extLst>
      <p:ext uri="{BB962C8B-B14F-4D97-AF65-F5344CB8AC3E}">
        <p14:creationId xmlns:p14="http://schemas.microsoft.com/office/powerpoint/2010/main" val="3744880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1. Identify the Longest and Shortest Combinational Paths</a:t>
                </a:r>
              </a:p>
              <a:p>
                <a:r>
                  <a:rPr lang="en-US" dirty="0"/>
                  <a:t>From the given components and their respective delays:</a:t>
                </a:r>
              </a:p>
              <a:p>
                <a:r>
                  <a:rPr lang="en-US" b="1" dirty="0"/>
                  <a:t>2-input adder</a:t>
                </a:r>
                <a:r>
                  <a:rPr lang="en-US" dirty="0"/>
                  <a:t>: 2 ns</a:t>
                </a:r>
              </a:p>
              <a:p>
                <a:r>
                  <a:rPr lang="en-US" b="1" dirty="0"/>
                  <a:t>3-input adder</a:t>
                </a:r>
                <a:r>
                  <a:rPr lang="en-US" dirty="0"/>
                  <a:t>: 3 ns</a:t>
                </a:r>
              </a:p>
              <a:p>
                <a:r>
                  <a:rPr lang="en-US" b="1" dirty="0"/>
                  <a:t>Multiplier</a:t>
                </a:r>
                <a:r>
                  <a:rPr lang="en-US" dirty="0"/>
                  <a:t>: 5 ns</a:t>
                </a:r>
              </a:p>
              <a:p>
                <a:r>
                  <a:rPr lang="en-US" b="1" dirty="0"/>
                  <a:t>Absolute</a:t>
                </a:r>
                <a:r>
                  <a:rPr lang="en-US" dirty="0"/>
                  <a:t>: 3 ns</a:t>
                </a:r>
              </a:p>
              <a:p>
                <a:r>
                  <a:rPr lang="en-US" b="1" dirty="0"/>
                  <a:t>Square root</a:t>
                </a:r>
                <a:r>
                  <a:rPr lang="en-US" dirty="0"/>
                  <a:t>: 7 ns</a:t>
                </a:r>
              </a:p>
              <a:p>
                <a:r>
                  <a:rPr lang="en-US" b="1" dirty="0"/>
                  <a:t>Path Analysis</a:t>
                </a:r>
                <a:r>
                  <a:rPr lang="en-US" dirty="0"/>
                  <a:t>:</a:t>
                </a:r>
              </a:p>
              <a:p>
                <a:r>
                  <a:rPr lang="en-US" dirty="0"/>
                  <a:t>Assuming the longest path sequence goes through the multiplier, the absolute value, and the square root, we can identify the longest path as follows:</a:t>
                </a:r>
              </a:p>
              <a:p>
                <a:r>
                  <a:rPr lang="en-US" b="1" dirty="0"/>
                  <a:t>Longest Path</a:t>
                </a:r>
                <a:r>
                  <a:rPr lang="en-US" dirty="0"/>
                  <a:t>:</a:t>
                </a:r>
              </a:p>
              <a:p>
                <a:pPr lvl="1"/>
                <a:r>
                  <a:rPr lang="en-US" dirty="0"/>
                  <a:t>Multiplier → Absolute → Square Root</a:t>
                </a:r>
              </a:p>
              <a:p>
                <a:pPr lvl="1"/>
                <a:r>
                  <a:rPr lang="en-US" dirty="0"/>
                  <a:t>Total delay: </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5</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3</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15</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Shortest Path</a:t>
                </a:r>
                <a:r>
                  <a:rPr lang="en-US" dirty="0"/>
                  <a:t>:</a:t>
                </a:r>
              </a:p>
              <a:p>
                <a:pPr lvl="1"/>
                <a:r>
                  <a:rPr lang="en-US" dirty="0"/>
                  <a:t>Shortest possible path can be through two 2-input adders.</a:t>
                </a:r>
              </a:p>
              <a:p>
                <a:pPr lvl="1"/>
                <a:r>
                  <a:rPr lang="en-US" dirty="0"/>
                  <a:t>Total delay: </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𝑚𝑖𝑛</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2</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2</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3</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2. Find the Minimum Clock Period and Maximum Frequency</a:t>
                </a:r>
              </a:p>
              <a:p>
                <a:r>
                  <a:rPr lang="en-US" b="1" dirty="0"/>
                  <a:t>Clock Period Condition</a:t>
                </a:r>
                <a:r>
                  <a:rPr lang="en-US" dirty="0"/>
                  <a:t>:</a:t>
                </a:r>
              </a:p>
              <a:p>
                <a:r>
                  <a:rPr lang="en-US" dirty="0"/>
                  <a:t>To ensure proper operation, we apply the formula:</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oMath>
                  </m:oMathPara>
                </a14:m>
                <a:endParaRPr lang="ar-EG" dirty="0"/>
              </a:p>
              <a:p>
                <a:r>
                  <a:rPr lang="en-US" dirty="0"/>
                  <a:t>Where:</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oMath>
                </a14:m>
                <a:r>
                  <a:rPr lang="ar-EG" dirty="0"/>
                  <a:t>= 1 </a:t>
                </a:r>
                <a:r>
                  <a:rPr lang="en-US" dirty="0"/>
                  <a:t>ns (Propagation delay of the register)</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oMath>
                </a14:m>
                <a:r>
                  <a:rPr lang="ar-EG" dirty="0"/>
                  <a:t>= 1 </a:t>
                </a:r>
                <a:r>
                  <a:rPr lang="en-US" dirty="0"/>
                  <a:t>ns (Register setup time)</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15</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dirty="0"/>
              </a:p>
              <a:p>
                <a:r>
                  <a:rPr lang="en-US" dirty="0"/>
                  <a:t>Minimum Clock Period Calculation:</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15</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Maximum Frequency</a:t>
                </a:r>
                <a:r>
                  <a:rPr lang="en-US" dirty="0"/>
                  <a:t>:</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den>
                      </m:f>
                    </m:oMath>
                  </m:oMathPara>
                </a14:m>
                <a:endParaRPr lang="ar-EG" dirty="0"/>
              </a:p>
              <a:p>
                <a:r>
                  <a:rPr lang="en-US" dirty="0"/>
                  <a:t>For the minimum clock period calculated:</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r>
                            <a:rPr lang="ar-EG" sz="1200" i="0" kern="1200">
                              <a:solidFill>
                                <a:schemeClr val="tx1"/>
                              </a:solidFill>
                              <a:latin typeface="+mn-lt"/>
                              <a:ea typeface="+mn-ea"/>
                              <a:cs typeface="+mn-cs"/>
                            </a:rPr>
                            <m:t>17</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den>
                      </m:f>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58</m:t>
                      </m:r>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82</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m:oMathPara>
                </a14:m>
                <a:endParaRPr lang="en-US" b="0" dirty="0"/>
              </a:p>
              <a:p>
                <a:r>
                  <a:rPr lang="en-US" b="1" dirty="0"/>
                  <a:t>3. Find the Condition on Hold Time</a:t>
                </a:r>
              </a:p>
              <a:p>
                <a:r>
                  <a:rPr lang="en-US" b="1" dirty="0"/>
                  <a:t>Hold Time Condition</a:t>
                </a:r>
                <a:r>
                  <a:rPr lang="en-US" dirty="0"/>
                  <a:t>:</a:t>
                </a:r>
              </a:p>
              <a:p>
                <a:r>
                  <a:rPr lang="en-US" dirty="0"/>
                  <a:t>To ensure that data is not read too early, the following condition must be satisfied:</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h</m:t>
                          </m:r>
                          <m:r>
                            <a:rPr lang="ar-EG" sz="1200" i="1" kern="1200">
                              <a:solidFill>
                                <a:schemeClr val="tx1"/>
                              </a:solidFill>
                              <a:latin typeface="+mn-lt"/>
                              <a:ea typeface="+mn-ea"/>
                              <a:cs typeface="+mn-cs"/>
                            </a:rPr>
                            <m:t>𝑜𝑙𝑑</m:t>
                          </m:r>
                        </m:sub>
                      </m:sSub>
                      <m:r>
                        <a:rPr lang="ar-EG" sz="1200" i="0" kern="1200">
                          <a:solidFill>
                            <a:schemeClr val="tx1"/>
                          </a:solidFill>
                          <a:latin typeface="+mn-lt"/>
                          <a:ea typeface="+mn-ea"/>
                          <a:cs typeface="+mn-cs"/>
                        </a:rPr>
                        <m:t>&lt;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𝑚𝑖𝑛</m:t>
                          </m:r>
                        </m:sub>
                      </m:sSub>
                    </m:oMath>
                  </m:oMathPara>
                </a14:m>
                <a:endParaRPr lang="ar-EG" dirty="0"/>
              </a:p>
              <a:p>
                <a:r>
                  <a:rPr lang="en-US" dirty="0"/>
                  <a:t>Where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𝑚𝑖𝑛</m:t>
                        </m:r>
                      </m:sub>
                    </m:sSub>
                  </m:oMath>
                </a14:m>
                <a:r>
                  <a:rPr lang="en-US" dirty="0"/>
                  <a:t>can be taken as the shortest path delay:</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𝑚𝑖𝑛</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7</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dirty="0"/>
              </a:p>
              <a:p>
                <a:r>
                  <a:rPr lang="en-US" dirty="0"/>
                  <a:t>Hold Time Condition Calculation:</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h</m:t>
                          </m:r>
                          <m:r>
                            <a:rPr lang="ar-EG" sz="1200" i="1" kern="1200">
                              <a:solidFill>
                                <a:schemeClr val="tx1"/>
                              </a:solidFill>
                              <a:latin typeface="+mn-lt"/>
                              <a:ea typeface="+mn-ea"/>
                              <a:cs typeface="+mn-cs"/>
                            </a:rPr>
                            <m:t>𝑜𝑙𝑑</m:t>
                          </m:r>
                        </m:sub>
                      </m:sSub>
                      <m:r>
                        <a:rPr lang="ar-EG" sz="1200" i="0" kern="1200">
                          <a:solidFill>
                            <a:schemeClr val="tx1"/>
                          </a:solidFill>
                          <a:latin typeface="+mn-lt"/>
                          <a:ea typeface="+mn-ea"/>
                          <a:cs typeface="+mn-cs"/>
                        </a:rPr>
                        <m:t>&lt;</m:t>
                      </m:r>
                      <m:r>
                        <a:rPr lang="ar-EG" sz="1200" i="0" kern="1200">
                          <a:solidFill>
                            <a:schemeClr val="tx1"/>
                          </a:solidFill>
                          <a:latin typeface="+mn-lt"/>
                          <a:ea typeface="+mn-ea"/>
                          <a:cs typeface="+mn-cs"/>
                        </a:rPr>
                        <m:t>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sSub>
                        <m:sSubPr>
                          <m:ctrlPr>
                            <a:rPr lang="ar-EG" sz="1200" b="0" i="1" kern="1200">
                              <a:solidFill>
                                <a:schemeClr val="tx1"/>
                              </a:solidFill>
                              <a:latin typeface="+mn-lt"/>
                              <a:ea typeface="+mn-ea"/>
                              <a:cs typeface="+mn-cs"/>
                            </a:rPr>
                          </m:ctrlPr>
                        </m:sSubPr>
                        <m:e>
                          <m:r>
                            <a:rPr lang="ar-EG" sz="1200" b="0" i="1" kern="1200">
                              <a:solidFill>
                                <a:schemeClr val="tx1"/>
                              </a:solidFill>
                              <a:latin typeface="+mn-lt"/>
                              <a:ea typeface="+mn-ea"/>
                              <a:cs typeface="+mn-cs"/>
                            </a:rPr>
                            <m:t>𝑇</m:t>
                          </m:r>
                        </m:e>
                        <m:sub>
                          <m:r>
                            <a:rPr lang="ar-EG" sz="1200" b="0" i="1" kern="1200">
                              <a:solidFill>
                                <a:schemeClr val="tx1"/>
                              </a:solidFill>
                              <a:latin typeface="+mn-lt"/>
                              <a:ea typeface="+mn-ea"/>
                              <a:cs typeface="+mn-cs"/>
                            </a:rPr>
                            <m:t>h</m:t>
                          </m:r>
                          <m:r>
                            <a:rPr lang="ar-EG" sz="1200" b="0" i="1" kern="1200">
                              <a:solidFill>
                                <a:schemeClr val="tx1"/>
                              </a:solidFill>
                              <a:latin typeface="+mn-lt"/>
                              <a:ea typeface="+mn-ea"/>
                              <a:cs typeface="+mn-cs"/>
                            </a:rPr>
                            <m:t>𝑜𝑙𝑑</m:t>
                          </m:r>
                        </m:sub>
                      </m:sSub>
                      <m:r>
                        <a:rPr lang="ar-EG" sz="1200" b="0" i="0" kern="1200">
                          <a:solidFill>
                            <a:schemeClr val="tx1"/>
                          </a:solidFill>
                          <a:latin typeface="+mn-lt"/>
                          <a:ea typeface="+mn-ea"/>
                          <a:cs typeface="+mn-cs"/>
                        </a:rPr>
                        <m:t>&lt;</m:t>
                      </m:r>
                      <m:r>
                        <a:rPr lang="ar-EG" sz="1200" b="0" i="0" kern="1200">
                          <a:solidFill>
                            <a:schemeClr val="tx1"/>
                          </a:solidFill>
                          <a:latin typeface="+mn-lt"/>
                          <a:ea typeface="+mn-ea"/>
                          <a:cs typeface="+mn-cs"/>
                        </a:rPr>
                        <m:t>8</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Summary of Results</a:t>
                </a:r>
              </a:p>
              <a:p>
                <a:r>
                  <a:rPr lang="en-US" b="1" dirty="0"/>
                  <a:t>Longest Path</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15</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b="1" dirty="0"/>
                  <a:t>Shortest Path</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𝑚𝑖𝑛</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7</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b="1" dirty="0"/>
                  <a:t>Minimum Clock Period</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17</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b="1" dirty="0"/>
                  <a:t>Maximum Frequency</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58</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82</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a14:m>
                <a:endParaRPr lang="en-US" dirty="0"/>
              </a:p>
              <a:p>
                <a:r>
                  <a:rPr lang="en-US" b="1" dirty="0"/>
                  <a:t>Hold Time Condition</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h</m:t>
                        </m:r>
                        <m:r>
                          <a:rPr lang="ar-EG" sz="1200" i="1" kern="1200">
                            <a:solidFill>
                              <a:schemeClr val="tx1"/>
                            </a:solidFill>
                            <a:latin typeface="+mn-lt"/>
                            <a:ea typeface="+mn-ea"/>
                            <a:cs typeface="+mn-cs"/>
                          </a:rPr>
                          <m:t>𝑜𝑙𝑑</m:t>
                        </m:r>
                      </m:sub>
                    </m:sSub>
                    <m:r>
                      <a:rPr lang="ar-EG" sz="1200" i="0" kern="1200">
                        <a:solidFill>
                          <a:schemeClr val="tx1"/>
                        </a:solidFill>
                        <a:latin typeface="+mn-lt"/>
                        <a:ea typeface="+mn-ea"/>
                        <a:cs typeface="+mn-cs"/>
                      </a:rPr>
                      <m:t>&lt;</m:t>
                    </m:r>
                    <m:r>
                      <a:rPr lang="ar-EG" sz="1200" i="0" kern="1200">
                        <a:solidFill>
                          <a:schemeClr val="tx1"/>
                        </a:solidFill>
                        <a:latin typeface="+mn-lt"/>
                        <a:ea typeface="+mn-ea"/>
                        <a:cs typeface="+mn-cs"/>
                      </a:rPr>
                      <m:t>8</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dirty="0"/>
                  <a:t>If you have any further calculations or details you'd like to add, let me know!</a:t>
                </a:r>
              </a:p>
              <a:p>
                <a:endParaRPr lang="en-US" dirty="0"/>
              </a:p>
            </p:txBody>
          </p:sp>
        </mc:Choice>
        <mc:Fallback>
          <p:sp>
            <p:nvSpPr>
              <p:cNvPr id="3" name="Notes Placeholder 2"/>
              <p:cNvSpPr>
                <a:spLocks noGrp="1"/>
              </p:cNvSpPr>
              <p:nvPr>
                <p:ph type="body" idx="1"/>
              </p:nvPr>
            </p:nvSpPr>
            <p:spPr/>
            <p:txBody>
              <a:bodyPr/>
              <a:lstStyle/>
              <a:p>
                <a:r>
                  <a:rPr lang="en-US" b="1" dirty="0"/>
                  <a:t>1. Identify the Longest and Shortest Combinational Paths</a:t>
                </a:r>
              </a:p>
              <a:p>
                <a:r>
                  <a:rPr lang="en-US" dirty="0"/>
                  <a:t>From the given components and their respective delays:</a:t>
                </a:r>
              </a:p>
              <a:p>
                <a:r>
                  <a:rPr lang="en-US" b="1" dirty="0"/>
                  <a:t>2-input adder</a:t>
                </a:r>
                <a:r>
                  <a:rPr lang="en-US" dirty="0"/>
                  <a:t>: 2 ns</a:t>
                </a:r>
              </a:p>
              <a:p>
                <a:r>
                  <a:rPr lang="en-US" b="1" dirty="0"/>
                  <a:t>3-input adder</a:t>
                </a:r>
                <a:r>
                  <a:rPr lang="en-US" dirty="0"/>
                  <a:t>: 3 ns</a:t>
                </a:r>
              </a:p>
              <a:p>
                <a:r>
                  <a:rPr lang="en-US" b="1" dirty="0"/>
                  <a:t>Multiplier</a:t>
                </a:r>
                <a:r>
                  <a:rPr lang="en-US" dirty="0"/>
                  <a:t>: 5 ns</a:t>
                </a:r>
              </a:p>
              <a:p>
                <a:r>
                  <a:rPr lang="en-US" b="1" dirty="0"/>
                  <a:t>Absolute</a:t>
                </a:r>
                <a:r>
                  <a:rPr lang="en-US" dirty="0"/>
                  <a:t>: 3 ns</a:t>
                </a:r>
              </a:p>
              <a:p>
                <a:r>
                  <a:rPr lang="en-US" b="1" dirty="0"/>
                  <a:t>Square root</a:t>
                </a:r>
                <a:r>
                  <a:rPr lang="en-US" dirty="0"/>
                  <a:t>: 7 ns</a:t>
                </a:r>
              </a:p>
              <a:p>
                <a:r>
                  <a:rPr lang="en-US" b="1" dirty="0"/>
                  <a:t>Path Analysis</a:t>
                </a:r>
                <a:r>
                  <a:rPr lang="en-US" dirty="0"/>
                  <a:t>:</a:t>
                </a:r>
              </a:p>
              <a:p>
                <a:r>
                  <a:rPr lang="en-US" dirty="0"/>
                  <a:t>Assuming the longest path sequence goes through the multiplier, the absolute value, and the square root, we can identify the longest path as follows:</a:t>
                </a:r>
              </a:p>
              <a:p>
                <a:r>
                  <a:rPr lang="en-US" b="1" dirty="0"/>
                  <a:t>Longest Path</a:t>
                </a:r>
                <a:r>
                  <a:rPr lang="en-US" dirty="0"/>
                  <a:t>:</a:t>
                </a:r>
              </a:p>
              <a:p>
                <a:pPr lvl="1"/>
                <a:r>
                  <a:rPr lang="en-US" dirty="0"/>
                  <a:t>Multiplier → Absolute → Square Root</a:t>
                </a:r>
              </a:p>
              <a:p>
                <a:pPr lvl="1"/>
                <a:r>
                  <a:rPr lang="en-US" dirty="0"/>
                  <a:t>Total delay: </a:t>
                </a:r>
              </a:p>
              <a:p>
                <a:r>
                  <a:rPr lang="ar-EG" sz="1200" i="0" kern="1200">
                    <a:solidFill>
                      <a:schemeClr val="tx1"/>
                    </a:solidFill>
                    <a:latin typeface="+mn-lt"/>
                    <a:ea typeface="+mn-ea"/>
                    <a:cs typeface="+mn-cs"/>
                  </a:rPr>
                  <a:t>𝑡_(𝑝𝑑\_𝑚𝑎𝑥)=5</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"+3</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"=15</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endParaRPr lang="en-US" b="0" dirty="0"/>
              </a:p>
              <a:p>
                <a:r>
                  <a:rPr lang="en-US" b="1" dirty="0"/>
                  <a:t>Shortest Path</a:t>
                </a:r>
                <a:r>
                  <a:rPr lang="en-US" dirty="0"/>
                  <a:t>:</a:t>
                </a:r>
              </a:p>
              <a:p>
                <a:pPr lvl="1"/>
                <a:r>
                  <a:rPr lang="en-US" dirty="0"/>
                  <a:t>Shortest possible path can be through two 2-input adders.</a:t>
                </a:r>
              </a:p>
              <a:p>
                <a:pPr lvl="1"/>
                <a:r>
                  <a:rPr lang="en-US" dirty="0"/>
                  <a:t>Total delay: </a:t>
                </a:r>
              </a:p>
              <a:p>
                <a:r>
                  <a:rPr lang="ar-EG" sz="1200" i="0" kern="1200">
                    <a:solidFill>
                      <a:schemeClr val="tx1"/>
                    </a:solidFill>
                    <a:latin typeface="+mn-lt"/>
                    <a:ea typeface="+mn-ea"/>
                    <a:cs typeface="+mn-cs"/>
                  </a:rPr>
                  <a:t>𝑡_(𝑝𝑑\_𝑚𝑖𝑛)=2</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"+2</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"+3</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endParaRPr lang="en-US" b="0" dirty="0"/>
              </a:p>
              <a:p>
                <a:r>
                  <a:rPr lang="en-US" b="1" dirty="0"/>
                  <a:t>2. Find the Minimum Clock Period and Maximum Frequency</a:t>
                </a:r>
              </a:p>
              <a:p>
                <a:r>
                  <a:rPr lang="en-US" b="1" dirty="0"/>
                  <a:t>Clock Period Condition</a:t>
                </a:r>
                <a:r>
                  <a:rPr lang="en-US" dirty="0"/>
                  <a:t>:</a:t>
                </a:r>
              </a:p>
              <a:p>
                <a:r>
                  <a:rPr lang="en-US" dirty="0"/>
                  <a:t>To ensure proper operation, we apply the formula:</a:t>
                </a:r>
              </a:p>
              <a:p>
                <a:r>
                  <a:rPr lang="ar-EG" sz="1200" i="0" kern="1200">
                    <a:solidFill>
                      <a:schemeClr val="tx1"/>
                    </a:solidFill>
                    <a:latin typeface="+mn-lt"/>
                    <a:ea typeface="+mn-ea"/>
                    <a:cs typeface="+mn-cs"/>
                  </a:rPr>
                  <a:t>𝑇_𝑐𝑙𝑘&gt;𝑇_𝑐𝑞+𝑡_𝑠𝑒𝑡𝑢𝑝+𝑡_(𝑝𝑑\_𝑚𝑎𝑥)</a:t>
                </a:r>
                <a:endParaRPr lang="ar-EG" dirty="0"/>
              </a:p>
              <a:p>
                <a:r>
                  <a:rPr lang="en-US" dirty="0"/>
                  <a:t>Where:</a:t>
                </a:r>
              </a:p>
              <a:p>
                <a:r>
                  <a:rPr lang="ar-EG" sz="1200" i="0" kern="1200">
                    <a:solidFill>
                      <a:schemeClr val="tx1"/>
                    </a:solidFill>
                    <a:latin typeface="+mn-lt"/>
                    <a:ea typeface="+mn-ea"/>
                    <a:cs typeface="+mn-cs"/>
                  </a:rPr>
                  <a:t>𝑇_𝑐𝑞</a:t>
                </a:r>
                <a:r>
                  <a:rPr lang="ar-EG" dirty="0"/>
                  <a:t>= 1 </a:t>
                </a:r>
                <a:r>
                  <a:rPr lang="en-US" dirty="0"/>
                  <a:t>ns (Propagation delay of the register)</a:t>
                </a:r>
              </a:p>
              <a:p>
                <a:r>
                  <a:rPr lang="ar-EG" sz="1200" i="0" kern="1200">
                    <a:solidFill>
                      <a:schemeClr val="tx1"/>
                    </a:solidFill>
                    <a:latin typeface="+mn-lt"/>
                    <a:ea typeface="+mn-ea"/>
                    <a:cs typeface="+mn-cs"/>
                  </a:rPr>
                  <a:t>𝑡_𝑠𝑒𝑡𝑢𝑝</a:t>
                </a:r>
                <a:r>
                  <a:rPr lang="ar-EG" dirty="0"/>
                  <a:t>= 1 </a:t>
                </a:r>
                <a:r>
                  <a:rPr lang="en-US" dirty="0"/>
                  <a:t>ns (Register setup time)</a:t>
                </a:r>
              </a:p>
              <a:p>
                <a:r>
                  <a:rPr lang="ar-EG" sz="1200" i="0" kern="1200">
                    <a:solidFill>
                      <a:schemeClr val="tx1"/>
                    </a:solidFill>
                    <a:latin typeface="+mn-lt"/>
                    <a:ea typeface="+mn-ea"/>
                    <a:cs typeface="+mn-cs"/>
                  </a:rPr>
                  <a:t>𝑡_(𝑝𝑑\_𝑚𝑎𝑥)=15</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dirty="0"/>
                  <a:t>Minimum Clock Period Calculation:</a:t>
                </a:r>
              </a:p>
              <a:p>
                <a:r>
                  <a:rPr lang="ar-EG" sz="1200" i="0" kern="1200">
                    <a:solidFill>
                      <a:schemeClr val="tx1"/>
                    </a:solidFill>
                    <a:latin typeface="+mn-lt"/>
                    <a:ea typeface="+mn-ea"/>
                    <a:cs typeface="+mn-cs"/>
                  </a:rPr>
                  <a:t>𝑇_𝑐𝑙𝑘&gt;1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"+1</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"+15</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"=17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endParaRPr lang="en-US" b="0" dirty="0"/>
              </a:p>
              <a:p>
                <a:r>
                  <a:rPr lang="en-US" b="1" dirty="0"/>
                  <a:t>Maximum Frequency</a:t>
                </a:r>
                <a:r>
                  <a:rPr lang="en-US" dirty="0"/>
                  <a:t>:</a:t>
                </a:r>
              </a:p>
              <a:p>
                <a:r>
                  <a:rPr lang="ar-EG" sz="1200" i="0" kern="1200">
                    <a:solidFill>
                      <a:schemeClr val="tx1"/>
                    </a:solidFill>
                    <a:latin typeface="+mn-lt"/>
                    <a:ea typeface="+mn-ea"/>
                    <a:cs typeface="+mn-cs"/>
                  </a:rPr>
                  <a:t>𝑓_𝑚𝑎𝑥=1/𝑇_𝑐𝑙𝑘 </a:t>
                </a:r>
                <a:endParaRPr lang="ar-EG" dirty="0"/>
              </a:p>
              <a:p>
                <a:r>
                  <a:rPr lang="en-US" dirty="0"/>
                  <a:t>For the minimum clock period calculated:</a:t>
                </a:r>
              </a:p>
              <a:p>
                <a:r>
                  <a:rPr lang="ar-EG" sz="1200" i="0" kern="1200">
                    <a:solidFill>
                      <a:schemeClr val="tx1"/>
                    </a:solidFill>
                    <a:latin typeface="+mn-lt"/>
                    <a:ea typeface="+mn-ea"/>
                    <a:cs typeface="+mn-cs"/>
                  </a:rPr>
                  <a:t>𝑓_𝑚𝑎𝑥=1/17</a:t>
                </a:r>
                <a:r>
                  <a:rPr lang="ar-EG" sz="1200" b="0" i="0" kern="1200">
                    <a:solidFill>
                      <a:schemeClr val="tx1"/>
                    </a:solidFill>
                    <a:latin typeface="+mn-lt"/>
                    <a:ea typeface="+mn-ea"/>
                    <a:cs typeface="+mn-cs"/>
                  </a:rPr>
                  <a:t>" </a:t>
                </a:r>
                <a:r>
                  <a:rPr lang="en-US" sz="1200" b="0" i="0" kern="1200">
                    <a:solidFill>
                      <a:schemeClr val="tx1"/>
                    </a:solidFill>
                    <a:latin typeface="+mn-lt"/>
                    <a:ea typeface="+mn-ea"/>
                    <a:cs typeface="+mn-cs"/>
                  </a:rPr>
                  <a:t>ns</a:t>
                </a:r>
                <a:r>
                  <a:rPr lang="ar-EG" sz="1200" b="0" i="0" kern="1200">
                    <a:solidFill>
                      <a:schemeClr val="tx1"/>
                    </a:solidFill>
                    <a:latin typeface="+mn-lt"/>
                    <a:ea typeface="+mn-ea"/>
                    <a:cs typeface="+mn-cs"/>
                  </a:rPr>
                  <a:t>" ≈58.82</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b="0" dirty="0"/>
              </a:p>
              <a:p>
                <a:r>
                  <a:rPr lang="en-US" b="1" dirty="0"/>
                  <a:t>3. Find the Condition on Hold Time</a:t>
                </a:r>
              </a:p>
              <a:p>
                <a:r>
                  <a:rPr lang="en-US" b="1" dirty="0"/>
                  <a:t>Hold Time Condition</a:t>
                </a:r>
                <a:r>
                  <a:rPr lang="en-US" dirty="0"/>
                  <a:t>:</a:t>
                </a:r>
              </a:p>
              <a:p>
                <a:r>
                  <a:rPr lang="en-US" dirty="0"/>
                  <a:t>To ensure that data is not read too early, the following condition must be satisfied:</a:t>
                </a:r>
              </a:p>
              <a:p>
                <a:r>
                  <a:rPr lang="ar-EG" sz="1200" i="0" kern="1200">
                    <a:solidFill>
                      <a:schemeClr val="tx1"/>
                    </a:solidFill>
                    <a:latin typeface="+mn-lt"/>
                    <a:ea typeface="+mn-ea"/>
                    <a:cs typeface="+mn-cs"/>
                  </a:rPr>
                  <a:t>𝑇_ℎ𝑜𝑙𝑑&lt;𝑇_𝑐𝑞+𝑡_(𝑝𝑑\_𝑚𝑖𝑛)</a:t>
                </a:r>
                <a:endParaRPr lang="ar-EG" dirty="0"/>
              </a:p>
              <a:p>
                <a:r>
                  <a:rPr lang="en-US" dirty="0"/>
                  <a:t>Where </a:t>
                </a:r>
                <a:r>
                  <a:rPr lang="ar-EG" sz="1200" i="0" kern="1200">
                    <a:solidFill>
                      <a:schemeClr val="tx1"/>
                    </a:solidFill>
                    <a:latin typeface="+mn-lt"/>
                    <a:ea typeface="+mn-ea"/>
                    <a:cs typeface="+mn-cs"/>
                  </a:rPr>
                  <a:t>𝑡_(𝑝𝑑\_𝑚𝑖𝑛)</a:t>
                </a:r>
                <a:r>
                  <a:rPr lang="en-US" dirty="0"/>
                  <a:t>can be taken as the shortest path delay:</a:t>
                </a:r>
              </a:p>
              <a:p>
                <a:r>
                  <a:rPr lang="ar-EG" sz="1200" i="0" kern="1200">
                    <a:solidFill>
                      <a:schemeClr val="tx1"/>
                    </a:solidFill>
                    <a:latin typeface="+mn-lt"/>
                    <a:ea typeface="+mn-ea"/>
                    <a:cs typeface="+mn-cs"/>
                  </a:rPr>
                  <a:t>𝑡_(𝑝𝑑\_𝑚𝑖𝑛)=7</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dirty="0"/>
                  <a:t>Hold Time Condition Calculation:</a:t>
                </a:r>
              </a:p>
              <a:p>
                <a:r>
                  <a:rPr lang="ar-EG" sz="1200" i="0" kern="1200">
                    <a:solidFill>
                      <a:schemeClr val="tx1"/>
                    </a:solidFill>
                    <a:latin typeface="+mn-lt"/>
                    <a:ea typeface="+mn-ea"/>
                    <a:cs typeface="+mn-cs"/>
                  </a:rPr>
                  <a:t>𝑇_ℎ𝑜𝑙𝑑&lt;1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r>
                  <a:rPr lang="ar-EG" sz="1200" b="0" i="0" kern="1200">
                    <a:solidFill>
                      <a:schemeClr val="tx1"/>
                    </a:solidFill>
                    <a:latin typeface="+mn-lt"/>
                    <a:ea typeface="+mn-ea"/>
                    <a:cs typeface="+mn-cs"/>
                  </a:rPr>
                  <a:t>𝑇_ℎ𝑜𝑙𝑑&lt;8</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b="0" dirty="0"/>
              </a:p>
              <a:p>
                <a:r>
                  <a:rPr lang="en-US" b="1" dirty="0"/>
                  <a:t>Summary of Results</a:t>
                </a:r>
              </a:p>
              <a:p>
                <a:r>
                  <a:rPr lang="en-US" b="1" dirty="0"/>
                  <a:t>Longest Path</a:t>
                </a:r>
                <a:r>
                  <a:rPr lang="en-US" dirty="0"/>
                  <a:t>: </a:t>
                </a:r>
                <a:r>
                  <a:rPr lang="ar-EG" sz="1200" i="0" kern="1200">
                    <a:solidFill>
                      <a:schemeClr val="tx1"/>
                    </a:solidFill>
                    <a:latin typeface="+mn-lt"/>
                    <a:ea typeface="+mn-ea"/>
                    <a:cs typeface="+mn-cs"/>
                  </a:rPr>
                  <a:t>𝑡_(𝑝𝑑\_𝑚𝑎𝑥)=15</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b="1" dirty="0"/>
                  <a:t>Shortest Path</a:t>
                </a:r>
                <a:r>
                  <a:rPr lang="en-US" dirty="0"/>
                  <a:t>: </a:t>
                </a:r>
                <a:r>
                  <a:rPr lang="ar-EG" sz="1200" i="0" kern="1200">
                    <a:solidFill>
                      <a:schemeClr val="tx1"/>
                    </a:solidFill>
                    <a:latin typeface="+mn-lt"/>
                    <a:ea typeface="+mn-ea"/>
                    <a:cs typeface="+mn-cs"/>
                  </a:rPr>
                  <a:t>𝑡_(𝑝𝑑\_𝑚𝑖𝑛)=7</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b="1" dirty="0"/>
                  <a:t>Minimum Clock Period</a:t>
                </a:r>
                <a:r>
                  <a:rPr lang="en-US" dirty="0"/>
                  <a:t>: </a:t>
                </a:r>
                <a:r>
                  <a:rPr lang="ar-EG" sz="1200" i="0" kern="1200">
                    <a:solidFill>
                      <a:schemeClr val="tx1"/>
                    </a:solidFill>
                    <a:latin typeface="+mn-lt"/>
                    <a:ea typeface="+mn-ea"/>
                    <a:cs typeface="+mn-cs"/>
                  </a:rPr>
                  <a:t>𝑇_𝑐𝑙𝑘&gt;17</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b="1" dirty="0"/>
                  <a:t>Maximum Frequency</a:t>
                </a:r>
                <a:r>
                  <a:rPr lang="en-US" dirty="0"/>
                  <a:t>: </a:t>
                </a:r>
                <a:r>
                  <a:rPr lang="ar-EG" sz="1200" i="0" kern="1200">
                    <a:solidFill>
                      <a:schemeClr val="tx1"/>
                    </a:solidFill>
                    <a:latin typeface="+mn-lt"/>
                    <a:ea typeface="+mn-ea"/>
                    <a:cs typeface="+mn-cs"/>
                  </a:rPr>
                  <a:t>𝑓_𝑚𝑎𝑥≈58.82</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dirty="0"/>
              </a:p>
              <a:p>
                <a:r>
                  <a:rPr lang="en-US" b="1" dirty="0"/>
                  <a:t>Hold Time Condition</a:t>
                </a:r>
                <a:r>
                  <a:rPr lang="en-US" dirty="0"/>
                  <a:t>: </a:t>
                </a:r>
                <a:r>
                  <a:rPr lang="ar-EG" sz="1200" i="0" kern="1200">
                    <a:solidFill>
                      <a:schemeClr val="tx1"/>
                    </a:solidFill>
                    <a:latin typeface="+mn-lt"/>
                    <a:ea typeface="+mn-ea"/>
                    <a:cs typeface="+mn-cs"/>
                  </a:rPr>
                  <a:t>𝑇_ℎ𝑜𝑙𝑑&lt;8</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dirty="0"/>
                  <a:t>If you have any further calculations or details you'd like to add, let me know!</a:t>
                </a:r>
              </a:p>
              <a:p>
                <a:endParaRPr lang="en-US" dirty="0"/>
              </a:p>
            </p:txBody>
          </p:sp>
        </mc:Fallback>
      </mc:AlternateContent>
      <p:sp>
        <p:nvSpPr>
          <p:cNvPr id="4" name="Slide Number Placeholder 3"/>
          <p:cNvSpPr>
            <a:spLocks noGrp="1"/>
          </p:cNvSpPr>
          <p:nvPr>
            <p:ph type="sldNum" sz="quarter" idx="5"/>
          </p:nvPr>
        </p:nvSpPr>
        <p:spPr/>
        <p:txBody>
          <a:bodyPr/>
          <a:lstStyle/>
          <a:p>
            <a:fld id="{B576586A-7933-4E63-B7E8-3335BFFB6AB4}" type="slidenum">
              <a:rPr lang="en-US" smtClean="0"/>
              <a:t>18</a:t>
            </a:fld>
            <a:endParaRPr lang="en-US"/>
          </a:p>
        </p:txBody>
      </p:sp>
    </p:spTree>
    <p:extLst>
      <p:ext uri="{BB962C8B-B14F-4D97-AF65-F5344CB8AC3E}">
        <p14:creationId xmlns:p14="http://schemas.microsoft.com/office/powerpoint/2010/main" val="4193604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To analyze the described pipelined combinational circuit, we’ll break down the details and calculate the minimum clock period and maximum frequency based on the provided information.</a:t>
                </a:r>
              </a:p>
              <a:p>
                <a:r>
                  <a:rPr lang="en-US" b="1" dirty="0"/>
                  <a:t>Given Information</a:t>
                </a:r>
              </a:p>
              <a:p>
                <a:r>
                  <a:rPr lang="en-US" b="1" dirty="0"/>
                  <a:t>Delays for Combinational Blocks</a:t>
                </a:r>
                <a:r>
                  <a:rPr lang="en-US" dirty="0"/>
                  <a:t>:</a:t>
                </a:r>
              </a:p>
              <a:p>
                <a:r>
                  <a:rPr lang="en-US" dirty="0"/>
                  <a:t>2-input adder = 2 ns</a:t>
                </a:r>
              </a:p>
              <a:p>
                <a:r>
                  <a:rPr lang="en-US" dirty="0"/>
                  <a:t>3-input adder = 3 ns</a:t>
                </a:r>
              </a:p>
              <a:p>
                <a:r>
                  <a:rPr lang="en-US" dirty="0"/>
                  <a:t>Multiplier = 5 ns</a:t>
                </a:r>
              </a:p>
              <a:p>
                <a:r>
                  <a:rPr lang="en-US" dirty="0"/>
                  <a:t>Absolute = 3 ns</a:t>
                </a:r>
              </a:p>
              <a:p>
                <a:r>
                  <a:rPr lang="en-US" dirty="0"/>
                  <a:t>Square root = 7 ns</a:t>
                </a:r>
              </a:p>
              <a:p>
                <a:r>
                  <a:rPr lang="en-US" b="1" dirty="0"/>
                  <a:t>Register Delays</a:t>
                </a:r>
                <a:r>
                  <a:rPr lang="en-US" dirty="0"/>
                  <a:t>:</a:t>
                </a:r>
              </a:p>
              <a:p>
                <a:r>
                  <a:rPr lang="en-US" dirty="0"/>
                  <a:t>Setup time = 1 ns</a:t>
                </a:r>
              </a:p>
              <a:p>
                <a:r>
                  <a:rPr lang="en-US" dirty="0"/>
                  <a:t>Propagation delay (CQ) = 1 ns</a:t>
                </a:r>
              </a:p>
              <a:p>
                <a:r>
                  <a:rPr lang="en-US" b="1" dirty="0"/>
                  <a:t>Pipelining Configuration</a:t>
                </a:r>
              </a:p>
              <a:p>
                <a:r>
                  <a:rPr lang="en-US" dirty="0"/>
                  <a:t>With maximally pipelining the circuit, we can break it down into 6 pipeline stages.</a:t>
                </a:r>
                <a:br>
                  <a:rPr lang="en-US" dirty="0"/>
                </a:br>
                <a:r>
                  <a:rPr lang="en-US" dirty="0"/>
                  <a:t>When pipelining is applied, each combinational block can be treated as a separate stage in the pipeline.</a:t>
                </a:r>
              </a:p>
              <a:p>
                <a:r>
                  <a:rPr lang="en-US" b="1" dirty="0"/>
                  <a:t>Pipeline Delays</a:t>
                </a:r>
              </a:p>
              <a:p>
                <a:r>
                  <a:rPr lang="en-US" dirty="0"/>
                  <a:t>In this configuration, the longest path through the circuit determines the clock period. Given that we are pipelining through 6 segments, we will focus on the longest combinational path, which is commonly found in the square root operation or other complex operations.</a:t>
                </a:r>
              </a:p>
              <a:p>
                <a:r>
                  <a:rPr lang="en-US" b="1" dirty="0"/>
                  <a:t>Longest Path Calculation</a:t>
                </a:r>
              </a:p>
              <a:p>
                <a:r>
                  <a:rPr lang="en-US" dirty="0"/>
                  <a:t>With pipelining:</a:t>
                </a:r>
              </a:p>
              <a:p>
                <a:r>
                  <a:rPr lang="en-US" b="1" dirty="0"/>
                  <a:t>Maximum Pipelines Segments</a:t>
                </a:r>
                <a:r>
                  <a:rPr lang="en-US" dirty="0"/>
                  <a:t>: The longest delay from any stage, typically follows: </a:t>
                </a:r>
              </a:p>
              <a:p>
                <a:pPr lvl="1"/>
                <a:r>
                  <a:rPr lang="en-US" dirty="0"/>
                  <a:t>Assume the longest delay comes from the square root operation.</a:t>
                </a:r>
              </a:p>
              <a:p>
                <a:r>
                  <a:rPr lang="en-US" b="1" dirty="0"/>
                  <a:t>Clock Period Calculation</a:t>
                </a:r>
              </a:p>
              <a:p>
                <a:r>
                  <a:rPr lang="en-US" dirty="0"/>
                  <a:t>Using the formula:</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oMath>
                  </m:oMathPara>
                </a14:m>
                <a:endParaRPr lang="ar-EG" dirty="0"/>
              </a:p>
              <a:p>
                <a:r>
                  <a:rPr lang="en-US" dirty="0"/>
                  <a:t>Where:</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oMath>
                </a14:m>
                <a:r>
                  <a:rPr lang="ar-EG" dirty="0"/>
                  <a:t>= 1 </a:t>
                </a:r>
                <a:r>
                  <a:rPr lang="en-US" dirty="0"/>
                  <a:t>ns (propagation delay)</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oMath>
                </a14:m>
                <a:r>
                  <a:rPr lang="ar-EG" dirty="0"/>
                  <a:t>= 1 </a:t>
                </a:r>
                <a:r>
                  <a:rPr lang="en-US" dirty="0"/>
                  <a:t>ns (setup time)</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oMath>
                </a14:m>
                <a:r>
                  <a:rPr lang="ar-EG" dirty="0"/>
                  <a:t>= 7 </a:t>
                </a:r>
                <a:r>
                  <a:rPr lang="en-US" dirty="0"/>
                  <a:t>ns (derived from the square root operation itself)</a:t>
                </a:r>
              </a:p>
              <a:p>
                <a:r>
                  <a:rPr lang="en-US" dirty="0"/>
                  <a:t>Calculating the minimum clock period:</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9</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Maximum Frequency Calculation</a:t>
                </a:r>
              </a:p>
              <a:p>
                <a:r>
                  <a:rPr lang="en-US" dirty="0"/>
                  <a:t>The maximum frequency is determined using the minimum clock period:</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den>
                      </m:f>
                    </m:oMath>
                  </m:oMathPara>
                </a14:m>
                <a:endParaRPr lang="ar-EG" dirty="0"/>
              </a:p>
              <a:p>
                <a:r>
                  <a:rPr lang="en-US" dirty="0"/>
                  <a:t>Using the calculated clock period:</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r>
                            <a:rPr lang="ar-EG" sz="1200" i="0" kern="1200">
                              <a:solidFill>
                                <a:schemeClr val="tx1"/>
                              </a:solidFill>
                              <a:latin typeface="+mn-lt"/>
                              <a:ea typeface="+mn-ea"/>
                              <a:cs typeface="+mn-cs"/>
                            </a:rPr>
                            <m:t>9</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den>
                      </m:f>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111</m:t>
                      </m:r>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11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m:oMathPara>
                </a14:m>
                <a:endParaRPr lang="en-US" b="0" dirty="0"/>
              </a:p>
              <a:p>
                <a:r>
                  <a:rPr lang="en-US" b="1" dirty="0"/>
                  <a:t>Summary of Results</a:t>
                </a:r>
              </a:p>
              <a:p>
                <a:r>
                  <a:rPr lang="en-US" b="1" dirty="0"/>
                  <a:t>Minimum Clock Period</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9</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b="1" dirty="0"/>
                  <a:t>Maximum Frequency</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111</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a14:m>
                <a:endParaRPr lang="en-US" dirty="0"/>
              </a:p>
              <a:p>
                <a:r>
                  <a:rPr lang="en-US" dirty="0"/>
                  <a:t>This pipelined structure allows the circuit to efficiently manage multiple instruction streams while maintaining high performance. If you have any more details or further questions, feel free to ask!</a:t>
                </a:r>
              </a:p>
              <a:p>
                <a:endParaRPr lang="en-US" dirty="0"/>
              </a:p>
            </p:txBody>
          </p:sp>
        </mc:Choice>
        <mc:Fallback>
          <p:sp>
            <p:nvSpPr>
              <p:cNvPr id="3" name="Notes Placeholder 2"/>
              <p:cNvSpPr>
                <a:spLocks noGrp="1"/>
              </p:cNvSpPr>
              <p:nvPr>
                <p:ph type="body" idx="1"/>
              </p:nvPr>
            </p:nvSpPr>
            <p:spPr/>
            <p:txBody>
              <a:bodyPr/>
              <a:lstStyle/>
              <a:p>
                <a:r>
                  <a:rPr lang="en-US" dirty="0"/>
                  <a:t>To analyze the described pipelined combinational circuit, we’ll break down the details and calculate the minimum clock period and maximum frequency based on the provided information.</a:t>
                </a:r>
              </a:p>
              <a:p>
                <a:r>
                  <a:rPr lang="en-US" b="1" dirty="0"/>
                  <a:t>Given Information</a:t>
                </a:r>
              </a:p>
              <a:p>
                <a:r>
                  <a:rPr lang="en-US" b="1" dirty="0"/>
                  <a:t>Delays for Combinational Blocks</a:t>
                </a:r>
                <a:r>
                  <a:rPr lang="en-US" dirty="0"/>
                  <a:t>:</a:t>
                </a:r>
              </a:p>
              <a:p>
                <a:r>
                  <a:rPr lang="en-US" dirty="0"/>
                  <a:t>2-input adder = 2 ns</a:t>
                </a:r>
              </a:p>
              <a:p>
                <a:r>
                  <a:rPr lang="en-US" dirty="0"/>
                  <a:t>3-input adder = 3 ns</a:t>
                </a:r>
              </a:p>
              <a:p>
                <a:r>
                  <a:rPr lang="en-US" dirty="0"/>
                  <a:t>Multiplier = 5 ns</a:t>
                </a:r>
              </a:p>
              <a:p>
                <a:r>
                  <a:rPr lang="en-US" dirty="0"/>
                  <a:t>Absolute = 3 ns</a:t>
                </a:r>
              </a:p>
              <a:p>
                <a:r>
                  <a:rPr lang="en-US" dirty="0"/>
                  <a:t>Square root = 7 ns</a:t>
                </a:r>
              </a:p>
              <a:p>
                <a:r>
                  <a:rPr lang="en-US" b="1" dirty="0"/>
                  <a:t>Register Delays</a:t>
                </a:r>
                <a:r>
                  <a:rPr lang="en-US" dirty="0"/>
                  <a:t>:</a:t>
                </a:r>
              </a:p>
              <a:p>
                <a:r>
                  <a:rPr lang="en-US" dirty="0"/>
                  <a:t>Setup time = 1 ns</a:t>
                </a:r>
              </a:p>
              <a:p>
                <a:r>
                  <a:rPr lang="en-US" dirty="0"/>
                  <a:t>Propagation delay (CQ) = 1 ns</a:t>
                </a:r>
              </a:p>
              <a:p>
                <a:r>
                  <a:rPr lang="en-US" b="1" dirty="0"/>
                  <a:t>Pipelining Configuration</a:t>
                </a:r>
              </a:p>
              <a:p>
                <a:r>
                  <a:rPr lang="en-US" dirty="0"/>
                  <a:t>With maximally pipelining the circuit, we can break it down into 6 pipeline stages.</a:t>
                </a:r>
                <a:br>
                  <a:rPr lang="en-US" dirty="0"/>
                </a:br>
                <a:r>
                  <a:rPr lang="en-US" dirty="0"/>
                  <a:t>When pipelining is applied, each combinational block can be treated as a separate stage in the pipeline.</a:t>
                </a:r>
              </a:p>
              <a:p>
                <a:r>
                  <a:rPr lang="en-US" b="1" dirty="0"/>
                  <a:t>Pipeline Delays</a:t>
                </a:r>
              </a:p>
              <a:p>
                <a:r>
                  <a:rPr lang="en-US" dirty="0"/>
                  <a:t>In this configuration, the longest path through the circuit determines the clock period. Given that we are pipelining through 6 segments, we will focus on the longest combinational path, which is commonly found in the square root operation or other complex operations.</a:t>
                </a:r>
              </a:p>
              <a:p>
                <a:r>
                  <a:rPr lang="en-US" b="1" dirty="0"/>
                  <a:t>Longest Path Calculation</a:t>
                </a:r>
              </a:p>
              <a:p>
                <a:r>
                  <a:rPr lang="en-US" dirty="0"/>
                  <a:t>With pipelining:</a:t>
                </a:r>
              </a:p>
              <a:p>
                <a:r>
                  <a:rPr lang="en-US" b="1" dirty="0"/>
                  <a:t>Maximum Pipelines Segments</a:t>
                </a:r>
                <a:r>
                  <a:rPr lang="en-US" dirty="0"/>
                  <a:t>: The longest delay from any stage, typically follows: </a:t>
                </a:r>
              </a:p>
              <a:p>
                <a:pPr lvl="1"/>
                <a:r>
                  <a:rPr lang="en-US" dirty="0"/>
                  <a:t>Assume the longest delay comes from the square root operation.</a:t>
                </a:r>
              </a:p>
              <a:p>
                <a:r>
                  <a:rPr lang="en-US" b="1" dirty="0"/>
                  <a:t>Clock Period Calculation</a:t>
                </a:r>
              </a:p>
              <a:p>
                <a:r>
                  <a:rPr lang="en-US" dirty="0"/>
                  <a:t>Using the formula:</a:t>
                </a:r>
              </a:p>
              <a:p>
                <a:r>
                  <a:rPr lang="ar-EG" sz="1200" i="0" kern="1200">
                    <a:solidFill>
                      <a:schemeClr val="tx1"/>
                    </a:solidFill>
                    <a:latin typeface="+mn-lt"/>
                    <a:ea typeface="+mn-ea"/>
                    <a:cs typeface="+mn-cs"/>
                  </a:rPr>
                  <a:t>𝑇_𝑐𝑙𝑘&gt;𝑇_𝑐𝑞+𝑡_𝑠𝑒𝑡𝑢𝑝+𝑇_(𝑝𝑑\_𝑚𝑎𝑥)</a:t>
                </a:r>
                <a:endParaRPr lang="ar-EG" dirty="0"/>
              </a:p>
              <a:p>
                <a:r>
                  <a:rPr lang="en-US" dirty="0"/>
                  <a:t>Where:</a:t>
                </a:r>
              </a:p>
              <a:p>
                <a:r>
                  <a:rPr lang="ar-EG" sz="1200" i="0" kern="1200">
                    <a:solidFill>
                      <a:schemeClr val="tx1"/>
                    </a:solidFill>
                    <a:latin typeface="+mn-lt"/>
                    <a:ea typeface="+mn-ea"/>
                    <a:cs typeface="+mn-cs"/>
                  </a:rPr>
                  <a:t>𝑇_𝑐𝑞</a:t>
                </a:r>
                <a:r>
                  <a:rPr lang="ar-EG" dirty="0"/>
                  <a:t>= 1 </a:t>
                </a:r>
                <a:r>
                  <a:rPr lang="en-US" dirty="0"/>
                  <a:t>ns (propagation delay)</a:t>
                </a:r>
              </a:p>
              <a:p>
                <a:r>
                  <a:rPr lang="ar-EG" sz="1200" i="0" kern="1200">
                    <a:solidFill>
                      <a:schemeClr val="tx1"/>
                    </a:solidFill>
                    <a:latin typeface="+mn-lt"/>
                    <a:ea typeface="+mn-ea"/>
                    <a:cs typeface="+mn-cs"/>
                  </a:rPr>
                  <a:t>𝑡_𝑠𝑒𝑡𝑢𝑝</a:t>
                </a:r>
                <a:r>
                  <a:rPr lang="ar-EG" dirty="0"/>
                  <a:t>= 1 </a:t>
                </a:r>
                <a:r>
                  <a:rPr lang="en-US" dirty="0"/>
                  <a:t>ns (setup time)</a:t>
                </a:r>
              </a:p>
              <a:p>
                <a:r>
                  <a:rPr lang="ar-EG" sz="1200" i="0" kern="1200">
                    <a:solidFill>
                      <a:schemeClr val="tx1"/>
                    </a:solidFill>
                    <a:latin typeface="+mn-lt"/>
                    <a:ea typeface="+mn-ea"/>
                    <a:cs typeface="+mn-cs"/>
                  </a:rPr>
                  <a:t>𝑡_(𝑝𝑑\_𝑚𝑎𝑥)</a:t>
                </a:r>
                <a:r>
                  <a:rPr lang="ar-EG" dirty="0"/>
                  <a:t>= 7 </a:t>
                </a:r>
                <a:r>
                  <a:rPr lang="en-US" dirty="0"/>
                  <a:t>ns (derived from the square root operation itself)</a:t>
                </a:r>
              </a:p>
              <a:p>
                <a:r>
                  <a:rPr lang="en-US" dirty="0"/>
                  <a:t>Calculating the minimum clock period:</a:t>
                </a:r>
              </a:p>
              <a:p>
                <a:r>
                  <a:rPr lang="ar-EG" sz="1200" i="0" kern="1200">
                    <a:solidFill>
                      <a:schemeClr val="tx1"/>
                    </a:solidFill>
                    <a:latin typeface="+mn-lt"/>
                    <a:ea typeface="+mn-ea"/>
                    <a:cs typeface="+mn-cs"/>
                  </a:rPr>
                  <a:t>𝑇_𝑐𝑙𝑘&gt;1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"+1</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"=9</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endParaRPr lang="en-US" b="0" dirty="0"/>
              </a:p>
              <a:p>
                <a:r>
                  <a:rPr lang="en-US" b="1" dirty="0"/>
                  <a:t>Maximum Frequency Calculation</a:t>
                </a:r>
              </a:p>
              <a:p>
                <a:r>
                  <a:rPr lang="en-US" dirty="0"/>
                  <a:t>The maximum frequency is determined using the minimum clock period:</a:t>
                </a:r>
              </a:p>
              <a:p>
                <a:r>
                  <a:rPr lang="ar-EG" sz="1200" i="0" kern="1200">
                    <a:solidFill>
                      <a:schemeClr val="tx1"/>
                    </a:solidFill>
                    <a:latin typeface="+mn-lt"/>
                    <a:ea typeface="+mn-ea"/>
                    <a:cs typeface="+mn-cs"/>
                  </a:rPr>
                  <a:t>𝑓_𝑚𝑎𝑥=1/𝑇_𝑐𝑙𝑘 </a:t>
                </a:r>
                <a:endParaRPr lang="ar-EG" dirty="0"/>
              </a:p>
              <a:p>
                <a:r>
                  <a:rPr lang="en-US" dirty="0"/>
                  <a:t>Using the calculated clock period:</a:t>
                </a:r>
              </a:p>
              <a:p>
                <a:r>
                  <a:rPr lang="ar-EG" sz="1200" i="0" kern="1200">
                    <a:solidFill>
                      <a:schemeClr val="tx1"/>
                    </a:solidFill>
                    <a:latin typeface="+mn-lt"/>
                    <a:ea typeface="+mn-ea"/>
                    <a:cs typeface="+mn-cs"/>
                  </a:rPr>
                  <a:t>𝑓_𝑚𝑎𝑥=1/9</a:t>
                </a:r>
                <a:r>
                  <a:rPr lang="ar-EG" sz="1200" b="0" i="0" kern="1200">
                    <a:solidFill>
                      <a:schemeClr val="tx1"/>
                    </a:solidFill>
                    <a:latin typeface="+mn-lt"/>
                    <a:ea typeface="+mn-ea"/>
                    <a:cs typeface="+mn-cs"/>
                  </a:rPr>
                  <a:t>" </a:t>
                </a:r>
                <a:r>
                  <a:rPr lang="en-US" sz="1200" b="0" i="0" kern="1200">
                    <a:solidFill>
                      <a:schemeClr val="tx1"/>
                    </a:solidFill>
                    <a:latin typeface="+mn-lt"/>
                    <a:ea typeface="+mn-ea"/>
                    <a:cs typeface="+mn-cs"/>
                  </a:rPr>
                  <a:t>ns</a:t>
                </a:r>
                <a:r>
                  <a:rPr lang="ar-EG" sz="1200" b="0" i="0" kern="1200">
                    <a:solidFill>
                      <a:schemeClr val="tx1"/>
                    </a:solidFill>
                    <a:latin typeface="+mn-lt"/>
                    <a:ea typeface="+mn-ea"/>
                    <a:cs typeface="+mn-cs"/>
                  </a:rPr>
                  <a:t>" ≈111.11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b="0" dirty="0"/>
              </a:p>
              <a:p>
                <a:r>
                  <a:rPr lang="en-US" b="1" dirty="0"/>
                  <a:t>Summary of Results</a:t>
                </a:r>
              </a:p>
              <a:p>
                <a:r>
                  <a:rPr lang="en-US" b="1" dirty="0"/>
                  <a:t>Minimum Clock Period</a:t>
                </a:r>
                <a:r>
                  <a:rPr lang="en-US" dirty="0"/>
                  <a:t>: </a:t>
                </a:r>
                <a:r>
                  <a:rPr lang="ar-EG" sz="1200" i="0" kern="1200">
                    <a:solidFill>
                      <a:schemeClr val="tx1"/>
                    </a:solidFill>
                    <a:latin typeface="+mn-lt"/>
                    <a:ea typeface="+mn-ea"/>
                    <a:cs typeface="+mn-cs"/>
                  </a:rPr>
                  <a:t>𝑇_𝑐𝑙𝑘&gt;9</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b="1" dirty="0"/>
                  <a:t>Maximum Frequency</a:t>
                </a:r>
                <a:r>
                  <a:rPr lang="en-US" dirty="0"/>
                  <a:t>: </a:t>
                </a:r>
                <a:r>
                  <a:rPr lang="ar-EG" sz="1200" i="0" kern="1200">
                    <a:solidFill>
                      <a:schemeClr val="tx1"/>
                    </a:solidFill>
                    <a:latin typeface="+mn-lt"/>
                    <a:ea typeface="+mn-ea"/>
                    <a:cs typeface="+mn-cs"/>
                  </a:rPr>
                  <a:t>𝑓_𝑚𝑎𝑥≈111.11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dirty="0"/>
              </a:p>
              <a:p>
                <a:r>
                  <a:rPr lang="en-US" dirty="0"/>
                  <a:t>This pipelined structure allows the circuit to efficiently manage multiple instruction streams while maintaining high performance. If you have any more details or further questions, feel free to ask!</a:t>
                </a:r>
              </a:p>
              <a:p>
                <a:endParaRPr lang="en-US" dirty="0"/>
              </a:p>
            </p:txBody>
          </p:sp>
        </mc:Fallback>
      </mc:AlternateContent>
      <p:sp>
        <p:nvSpPr>
          <p:cNvPr id="4" name="Slide Number Placeholder 3"/>
          <p:cNvSpPr>
            <a:spLocks noGrp="1"/>
          </p:cNvSpPr>
          <p:nvPr>
            <p:ph type="sldNum" sz="quarter" idx="5"/>
          </p:nvPr>
        </p:nvSpPr>
        <p:spPr/>
        <p:txBody>
          <a:bodyPr/>
          <a:lstStyle/>
          <a:p>
            <a:fld id="{B576586A-7933-4E63-B7E8-3335BFFB6AB4}" type="slidenum">
              <a:rPr lang="en-US" smtClean="0"/>
              <a:t>19</a:t>
            </a:fld>
            <a:endParaRPr lang="en-US"/>
          </a:p>
        </p:txBody>
      </p:sp>
    </p:spTree>
    <p:extLst>
      <p:ext uri="{BB962C8B-B14F-4D97-AF65-F5344CB8AC3E}">
        <p14:creationId xmlns:p14="http://schemas.microsoft.com/office/powerpoint/2010/main" val="1296559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To create an optimal pipelining structure for the given combinational circuit and determine the clock period and frequency, we need to analyze the circuit in the context of its stages.</a:t>
                </a:r>
              </a:p>
              <a:p>
                <a:r>
                  <a:rPr lang="en-US" b="1" dirty="0"/>
                  <a:t>Pipelining the Circuit</a:t>
                </a:r>
              </a:p>
              <a:p>
                <a:r>
                  <a:rPr lang="en-US" dirty="0"/>
                  <a:t>Based on your description, we'll organize the circuit into 5 pipeline stages, adding registers between stages to separate the computations.</a:t>
                </a:r>
              </a:p>
              <a:p>
                <a:r>
                  <a:rPr lang="en-US" b="1" dirty="0"/>
                  <a:t>Circuit Structure with Registers</a:t>
                </a:r>
              </a:p>
              <a:p>
                <a:r>
                  <a:rPr lang="en-US" b="1" dirty="0"/>
                  <a:t>Pipeline Stage 1</a:t>
                </a:r>
                <a:r>
                  <a:rPr lang="en-US" dirty="0"/>
                  <a:t>:</a:t>
                </a:r>
              </a:p>
              <a:p>
                <a:pPr lvl="1"/>
                <a:r>
                  <a:rPr lang="en-US" dirty="0"/>
                  <a:t>Input to </a:t>
                </a:r>
                <a:r>
                  <a:rPr lang="en-US" b="1" dirty="0"/>
                  <a:t>2-input Adder 1</a:t>
                </a:r>
                <a:endParaRPr lang="en-US" dirty="0"/>
              </a:p>
              <a:p>
                <a:r>
                  <a:rPr lang="en-US" b="1" dirty="0"/>
                  <a:t>Output</a:t>
                </a:r>
                <a:r>
                  <a:rPr lang="en-US" dirty="0"/>
                  <a:t>: Register R1</a:t>
                </a:r>
              </a:p>
              <a:p>
                <a:r>
                  <a:rPr lang="en-US" b="1" dirty="0"/>
                  <a:t>Pipeline Stage 2</a:t>
                </a:r>
                <a:r>
                  <a:rPr lang="en-US" dirty="0"/>
                  <a:t>:</a:t>
                </a:r>
              </a:p>
              <a:p>
                <a:pPr lvl="1"/>
                <a:r>
                  <a:rPr lang="en-US" dirty="0"/>
                  <a:t>Input to </a:t>
                </a:r>
                <a:r>
                  <a:rPr lang="en-US" b="1" dirty="0"/>
                  <a:t>2-input Adder 2</a:t>
                </a:r>
                <a:r>
                  <a:rPr lang="en-US" dirty="0"/>
                  <a:t> and </a:t>
                </a:r>
                <a:r>
                  <a:rPr lang="en-US" b="1" dirty="0"/>
                  <a:t>Multiplier</a:t>
                </a:r>
                <a:r>
                  <a:rPr lang="en-US" dirty="0"/>
                  <a:t> using the output from </a:t>
                </a:r>
                <a:r>
                  <a:rPr lang="en-US" i="1" dirty="0"/>
                  <a:t>Register R1</a:t>
                </a:r>
                <a:r>
                  <a:rPr lang="en-US" dirty="0"/>
                  <a:t> and the second input stream (likely from another input like X).</a:t>
                </a:r>
              </a:p>
              <a:p>
                <a:r>
                  <a:rPr lang="en-US" b="1" dirty="0"/>
                  <a:t>Output</a:t>
                </a:r>
                <a:r>
                  <a:rPr lang="en-US" dirty="0"/>
                  <a:t>: Register R2</a:t>
                </a:r>
              </a:p>
              <a:p>
                <a:r>
                  <a:rPr lang="en-US" b="1" dirty="0"/>
                  <a:t>Pipeline Stage 3</a:t>
                </a:r>
                <a:r>
                  <a:rPr lang="en-US" dirty="0"/>
                  <a:t>:</a:t>
                </a:r>
              </a:p>
              <a:p>
                <a:pPr lvl="1"/>
                <a:r>
                  <a:rPr lang="en-US" b="1" dirty="0"/>
                  <a:t>Absolute</a:t>
                </a:r>
                <a:r>
                  <a:rPr lang="en-US" dirty="0"/>
                  <a:t> operation applied to the output of </a:t>
                </a:r>
                <a:r>
                  <a:rPr lang="en-US" i="1" dirty="0"/>
                  <a:t>Register R2</a:t>
                </a:r>
                <a:r>
                  <a:rPr lang="en-US" dirty="0"/>
                  <a:t>.</a:t>
                </a:r>
              </a:p>
              <a:p>
                <a:r>
                  <a:rPr lang="en-US" b="1" dirty="0"/>
                  <a:t>Output</a:t>
                </a:r>
                <a:r>
                  <a:rPr lang="en-US" dirty="0"/>
                  <a:t>: Register R3</a:t>
                </a:r>
              </a:p>
              <a:p>
                <a:r>
                  <a:rPr lang="en-US" b="1" dirty="0"/>
                  <a:t>Pipeline Stage 4</a:t>
                </a:r>
                <a:r>
                  <a:rPr lang="en-US" dirty="0"/>
                  <a:t>:</a:t>
                </a:r>
              </a:p>
              <a:p>
                <a:pPr lvl="1"/>
                <a:r>
                  <a:rPr lang="en-US" b="1" dirty="0"/>
                  <a:t>Square Root</a:t>
                </a:r>
                <a:r>
                  <a:rPr lang="en-US" dirty="0"/>
                  <a:t> operation applied to the output of </a:t>
                </a:r>
                <a:r>
                  <a:rPr lang="en-US" i="1" dirty="0"/>
                  <a:t>Register R3</a:t>
                </a:r>
                <a:r>
                  <a:rPr lang="en-US" dirty="0"/>
                  <a:t>.</a:t>
                </a:r>
              </a:p>
              <a:p>
                <a:r>
                  <a:rPr lang="en-US" b="1" dirty="0"/>
                  <a:t>Output</a:t>
                </a:r>
                <a:r>
                  <a:rPr lang="en-US" dirty="0"/>
                  <a:t>: Register R4</a:t>
                </a:r>
              </a:p>
              <a:p>
                <a:r>
                  <a:rPr lang="en-US" b="1" dirty="0"/>
                  <a:t>Pipeline Stage 5</a:t>
                </a:r>
                <a:r>
                  <a:rPr lang="en-US" dirty="0"/>
                  <a:t>:</a:t>
                </a:r>
              </a:p>
              <a:p>
                <a:pPr lvl="1"/>
                <a:r>
                  <a:rPr lang="en-US" dirty="0"/>
                  <a:t>Final </a:t>
                </a:r>
                <a:r>
                  <a:rPr lang="en-US" b="1" dirty="0"/>
                  <a:t>2-input Adder</a:t>
                </a:r>
                <a:r>
                  <a:rPr lang="en-US" dirty="0"/>
                  <a:t> to combine the outputs from the previous operations.</a:t>
                </a:r>
              </a:p>
              <a:p>
                <a:r>
                  <a:rPr lang="en-US" b="1" dirty="0"/>
                  <a:t>Output</a:t>
                </a:r>
                <a:r>
                  <a:rPr lang="en-US" dirty="0"/>
                  <a:t>: Final result.</a:t>
                </a:r>
              </a:p>
              <a:p>
                <a:r>
                  <a:rPr lang="en-US" b="1" dirty="0"/>
                  <a:t>Register Placement</a:t>
                </a:r>
              </a:p>
              <a:p>
                <a:r>
                  <a:rPr lang="en-US" dirty="0"/>
                  <a:t>Each stage will have a register added at the output to separate the stages effectively while minimizing delays. The following placements ensure that the latencies from one stage do not affect the following one:</a:t>
                </a:r>
              </a:p>
              <a:p>
                <a:r>
                  <a:rPr lang="en-US" b="1" dirty="0"/>
                  <a:t>R1</a:t>
                </a:r>
                <a:r>
                  <a:rPr lang="en-US" dirty="0"/>
                  <a:t>: After the first 2-input adder.</a:t>
                </a:r>
              </a:p>
              <a:p>
                <a:r>
                  <a:rPr lang="en-US" b="1" dirty="0"/>
                  <a:t>R2</a:t>
                </a:r>
                <a:r>
                  <a:rPr lang="en-US" dirty="0"/>
                  <a:t>: After the second adder and multiplier operations.</a:t>
                </a:r>
              </a:p>
              <a:p>
                <a:r>
                  <a:rPr lang="en-US" b="1" dirty="0"/>
                  <a:t>R3</a:t>
                </a:r>
                <a:r>
                  <a:rPr lang="en-US" dirty="0"/>
                  <a:t>: After the absolute value operation.</a:t>
                </a:r>
              </a:p>
              <a:p>
                <a:r>
                  <a:rPr lang="en-US" b="1" dirty="0"/>
                  <a:t>R4</a:t>
                </a:r>
                <a:r>
                  <a:rPr lang="en-US" dirty="0"/>
                  <a:t>: After the square root operation.</a:t>
                </a:r>
              </a:p>
              <a:p>
                <a:r>
                  <a:rPr lang="en-US" b="1" dirty="0"/>
                  <a:t>Delays for Clock Period Calculation</a:t>
                </a:r>
              </a:p>
              <a:p>
                <a:r>
                  <a:rPr lang="en-US" dirty="0"/>
                  <a:t>Using the longest delay from any stage to determine the clock period:</a:t>
                </a:r>
              </a:p>
              <a:p>
                <a:r>
                  <a:rPr lang="en-US" b="1" dirty="0"/>
                  <a:t>Longest Delay</a:t>
                </a:r>
                <a:r>
                  <a:rPr lang="en-US" dirty="0"/>
                  <a:t>: The square root operation at 7 ns is the maximum delay in any segment:</a:t>
                </a:r>
              </a:p>
              <a:p>
                <a:r>
                  <a:rPr lang="en-US" dirty="0"/>
                  <a:t>Using the formula:</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r>
                        <a:rPr lang="ar-EG" sz="1200" i="0" kern="1200">
                          <a:solidFill>
                            <a:schemeClr val="tx1"/>
                          </a:solidFill>
                          <a:latin typeface="+mn-lt"/>
                          <a:ea typeface="+mn-ea"/>
                          <a:cs typeface="+mn-cs"/>
                        </a:rPr>
                        <m:t>+</m:t>
                      </m:r>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oMath>
                  </m:oMathPara>
                </a14:m>
                <a:endParaRPr lang="ar-EG" dirty="0"/>
              </a:p>
              <a:p>
                <a:r>
                  <a:rPr lang="en-US" dirty="0"/>
                  <a:t>Where:</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𝑐𝑞</m:t>
                        </m:r>
                      </m:sub>
                    </m:sSub>
                  </m:oMath>
                </a14:m>
                <a:r>
                  <a:rPr lang="ar-EG" dirty="0"/>
                  <a:t>= 1 </a:t>
                </a:r>
                <a:r>
                  <a:rPr lang="en-US" dirty="0"/>
                  <a:t>ns (propagation delay of the register),</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𝑠𝑒𝑡𝑢𝑝</m:t>
                        </m:r>
                      </m:sub>
                    </m:sSub>
                  </m:oMath>
                </a14:m>
                <a:r>
                  <a:rPr lang="ar-EG" dirty="0"/>
                  <a:t>= 1 </a:t>
                </a:r>
                <a:r>
                  <a:rPr lang="en-US" dirty="0"/>
                  <a:t>ns (setup time),</a:t>
                </a:r>
              </a:p>
              <a:p>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𝑡</m:t>
                        </m:r>
                      </m:e>
                      <m:sub>
                        <m:r>
                          <a:rPr lang="ar-EG" sz="1200" i="1" kern="1200">
                            <a:solidFill>
                              <a:schemeClr val="tx1"/>
                            </a:solidFill>
                            <a:latin typeface="+mn-lt"/>
                            <a:ea typeface="+mn-ea"/>
                            <a:cs typeface="+mn-cs"/>
                          </a:rPr>
                          <m:t>𝑝𝑑</m:t>
                        </m:r>
                        <m:r>
                          <m:rPr>
                            <m:lit/>
                          </m:rPr>
                          <a:rPr lang="ar-EG" sz="1200" i="0" kern="1200">
                            <a:solidFill>
                              <a:schemeClr val="tx1"/>
                            </a:solidFill>
                            <a:latin typeface="+mn-lt"/>
                            <a:ea typeface="+mn-ea"/>
                            <a:cs typeface="+mn-cs"/>
                          </a:rPr>
                          <m:t>_</m:t>
                        </m:r>
                        <m:r>
                          <a:rPr lang="ar-EG" sz="1200" i="1" kern="1200">
                            <a:solidFill>
                              <a:schemeClr val="tx1"/>
                            </a:solidFill>
                            <a:latin typeface="+mn-lt"/>
                            <a:ea typeface="+mn-ea"/>
                            <a:cs typeface="+mn-cs"/>
                          </a:rPr>
                          <m:t>𝑚𝑎𝑥</m:t>
                        </m:r>
                      </m:sub>
                    </m:sSub>
                  </m:oMath>
                </a14:m>
                <a:r>
                  <a:rPr lang="ar-EG" dirty="0"/>
                  <a:t>= 7 </a:t>
                </a:r>
                <a:r>
                  <a:rPr lang="en-US" dirty="0"/>
                  <a:t>ns (for the square root).</a:t>
                </a:r>
              </a:p>
              <a:p>
                <a:r>
                  <a:rPr lang="en-US" dirty="0"/>
                  <a:t>Calculating:</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1</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7</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r>
                        <a:rPr lang="en-US" sz="1200" b="0" i="0" kern="1200">
                          <a:solidFill>
                            <a:schemeClr val="tx1"/>
                          </a:solidFill>
                          <a:latin typeface="+mn-lt"/>
                          <a:ea typeface="+mn-ea"/>
                          <a:cs typeface="+mn-cs"/>
                        </a:rPr>
                        <m:t>=</m:t>
                      </m:r>
                      <m:r>
                        <a:rPr lang="en-US" sz="1200" b="0" i="0" kern="1200">
                          <a:solidFill>
                            <a:schemeClr val="tx1"/>
                          </a:solidFill>
                          <a:latin typeface="+mn-lt"/>
                          <a:ea typeface="+mn-ea"/>
                          <a:cs typeface="+mn-cs"/>
                        </a:rPr>
                        <m:t>9</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m:oMathPara>
                </a14:m>
                <a:endParaRPr lang="en-US" b="0" dirty="0"/>
              </a:p>
              <a:p>
                <a:r>
                  <a:rPr lang="en-US" b="1" dirty="0"/>
                  <a:t>Maximum Frequency Calculation</a:t>
                </a:r>
              </a:p>
              <a:p>
                <a:r>
                  <a:rPr lang="en-US" dirty="0"/>
                  <a:t>To determine the maximum frequency:</a:t>
                </a:r>
              </a:p>
              <a:p>
                <a14:m>
                  <m:oMathPara xmlns:m="http://schemas.openxmlformats.org/officeDocument/2006/math">
                    <m:oMathParaPr>
                      <m:jc m:val="centerGroup"/>
                    </m:oMathParaPr>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sSub>
                            <m:sSubPr>
                              <m:ctrlPr>
                                <a:rPr lang="ar-EG" sz="1200" i="1"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den>
                      </m:f>
                      <m:r>
                        <a:rPr lang="ar-EG" sz="1200" i="0" kern="1200">
                          <a:solidFill>
                            <a:schemeClr val="tx1"/>
                          </a:solidFill>
                          <a:latin typeface="+mn-lt"/>
                          <a:ea typeface="+mn-ea"/>
                          <a:cs typeface="+mn-cs"/>
                        </a:rPr>
                        <m:t>=</m:t>
                      </m:r>
                      <m:f>
                        <m:fPr>
                          <m:ctrlPr>
                            <a:rPr lang="ar-EG" sz="1200" i="1" kern="1200">
                              <a:solidFill>
                                <a:schemeClr val="tx1"/>
                              </a:solidFill>
                              <a:latin typeface="+mn-lt"/>
                              <a:ea typeface="+mn-ea"/>
                              <a:cs typeface="+mn-cs"/>
                            </a:rPr>
                          </m:ctrlPr>
                        </m:fPr>
                        <m:num>
                          <m:r>
                            <a:rPr lang="ar-EG" sz="1200" i="0" kern="1200">
                              <a:solidFill>
                                <a:schemeClr val="tx1"/>
                              </a:solidFill>
                              <a:latin typeface="+mn-lt"/>
                              <a:ea typeface="+mn-ea"/>
                              <a:cs typeface="+mn-cs"/>
                            </a:rPr>
                            <m:t>1</m:t>
                          </m:r>
                        </m:num>
                        <m:den>
                          <m:r>
                            <a:rPr lang="ar-EG" sz="1200" i="0" kern="1200">
                              <a:solidFill>
                                <a:schemeClr val="tx1"/>
                              </a:solidFill>
                              <a:latin typeface="+mn-lt"/>
                              <a:ea typeface="+mn-ea"/>
                              <a:cs typeface="+mn-cs"/>
                            </a:rPr>
                            <m:t>9</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den>
                      </m:f>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111</m:t>
                      </m:r>
                      <m:r>
                        <a:rPr lang="ar-EG" sz="1200" b="0" i="0" kern="1200">
                          <a:solidFill>
                            <a:schemeClr val="tx1"/>
                          </a:solidFill>
                          <a:latin typeface="+mn-lt"/>
                          <a:ea typeface="+mn-ea"/>
                          <a:cs typeface="+mn-cs"/>
                        </a:rPr>
                        <m:t>.</m:t>
                      </m:r>
                      <m:r>
                        <a:rPr lang="ar-EG" sz="1200" b="0" i="0" kern="1200">
                          <a:solidFill>
                            <a:schemeClr val="tx1"/>
                          </a:solidFill>
                          <a:latin typeface="+mn-lt"/>
                          <a:ea typeface="+mn-ea"/>
                          <a:cs typeface="+mn-cs"/>
                        </a:rPr>
                        <m:t>11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m:oMathPara>
                </a14:m>
                <a:endParaRPr lang="en-US" b="0" dirty="0"/>
              </a:p>
              <a:p>
                <a:r>
                  <a:rPr lang="en-US" b="1" dirty="0"/>
                  <a:t>Summary of Results</a:t>
                </a:r>
              </a:p>
              <a:p>
                <a:r>
                  <a:rPr lang="en-US" b="1" dirty="0"/>
                  <a:t>Minimum Clock Period</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𝑇</m:t>
                        </m:r>
                      </m:e>
                      <m:sub>
                        <m:r>
                          <a:rPr lang="ar-EG" sz="1200" i="1" kern="1200">
                            <a:solidFill>
                              <a:schemeClr val="tx1"/>
                            </a:solidFill>
                            <a:latin typeface="+mn-lt"/>
                            <a:ea typeface="+mn-ea"/>
                            <a:cs typeface="+mn-cs"/>
                          </a:rPr>
                          <m:t>𝑐𝑙𝑘</m:t>
                        </m:r>
                      </m:sub>
                    </m:sSub>
                    <m:r>
                      <a:rPr lang="ar-EG" sz="1200" i="0" kern="1200">
                        <a:solidFill>
                          <a:schemeClr val="tx1"/>
                        </a:solidFill>
                        <a:latin typeface="+mn-lt"/>
                        <a:ea typeface="+mn-ea"/>
                        <a:cs typeface="+mn-cs"/>
                      </a:rPr>
                      <m:t>&gt;</m:t>
                    </m:r>
                    <m:r>
                      <a:rPr lang="ar-EG" sz="1200" i="0" kern="1200">
                        <a:solidFill>
                          <a:schemeClr val="tx1"/>
                        </a:solidFill>
                        <a:latin typeface="+mn-lt"/>
                        <a:ea typeface="+mn-ea"/>
                        <a:cs typeface="+mn-cs"/>
                      </a:rPr>
                      <m:t>9</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ns</m:t>
                    </m:r>
                  </m:oMath>
                </a14:m>
                <a:endParaRPr lang="en-US" dirty="0"/>
              </a:p>
              <a:p>
                <a:r>
                  <a:rPr lang="en-US" b="1" dirty="0"/>
                  <a:t>Maximum Frequency</a:t>
                </a:r>
                <a:r>
                  <a:rPr lang="en-US" dirty="0"/>
                  <a:t>: </a:t>
                </a:r>
                <a14:m>
                  <m:oMath xmlns:m="http://schemas.openxmlformats.org/officeDocument/2006/math">
                    <m:sSub>
                      <m:sSubPr>
                        <m:ctrlPr>
                          <a:rPr lang="ar-EG" sz="1200" kern="1200">
                            <a:solidFill>
                              <a:schemeClr val="tx1"/>
                            </a:solidFill>
                            <a:latin typeface="+mn-lt"/>
                            <a:ea typeface="+mn-ea"/>
                            <a:cs typeface="+mn-cs"/>
                          </a:rPr>
                        </m:ctrlPr>
                      </m:sSubPr>
                      <m:e>
                        <m:r>
                          <a:rPr lang="ar-EG" sz="1200" i="1" kern="1200">
                            <a:solidFill>
                              <a:schemeClr val="tx1"/>
                            </a:solidFill>
                            <a:latin typeface="+mn-lt"/>
                            <a:ea typeface="+mn-ea"/>
                            <a:cs typeface="+mn-cs"/>
                          </a:rPr>
                          <m:t>𝑓</m:t>
                        </m:r>
                      </m:e>
                      <m:sub>
                        <m:r>
                          <a:rPr lang="ar-EG" sz="1200" i="1" kern="1200">
                            <a:solidFill>
                              <a:schemeClr val="tx1"/>
                            </a:solidFill>
                            <a:latin typeface="+mn-lt"/>
                            <a:ea typeface="+mn-ea"/>
                            <a:cs typeface="+mn-cs"/>
                          </a:rPr>
                          <m:t>𝑚𝑎𝑥</m:t>
                        </m:r>
                      </m:sub>
                    </m:sSub>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111</m:t>
                    </m:r>
                    <m:r>
                      <a:rPr lang="ar-EG" sz="1200" i="0" kern="1200">
                        <a:solidFill>
                          <a:schemeClr val="tx1"/>
                        </a:solidFill>
                        <a:latin typeface="+mn-lt"/>
                        <a:ea typeface="+mn-ea"/>
                        <a:cs typeface="+mn-cs"/>
                      </a:rPr>
                      <m:t>.</m:t>
                    </m:r>
                    <m:r>
                      <a:rPr lang="ar-EG" sz="1200" i="0" kern="1200">
                        <a:solidFill>
                          <a:schemeClr val="tx1"/>
                        </a:solidFill>
                        <a:latin typeface="+mn-lt"/>
                        <a:ea typeface="+mn-ea"/>
                        <a:cs typeface="+mn-cs"/>
                      </a:rPr>
                      <m:t>11</m:t>
                    </m:r>
                    <m:r>
                      <m:rPr>
                        <m:nor/>
                      </m:rPr>
                      <a:rPr lang="ar-EG"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a14:m>
                <a:endParaRPr lang="en-US" dirty="0"/>
              </a:p>
              <a:p>
                <a:r>
                  <a:rPr lang="en-US" b="1" dirty="0"/>
                  <a:t>Visual Representation</a:t>
                </a:r>
              </a:p>
              <a:p>
                <a:r>
                  <a:rPr lang="en-US" dirty="0"/>
                  <a:t>The circuit diagram would include the following elements:</a:t>
                </a:r>
              </a:p>
              <a:p>
                <a:r>
                  <a:rPr lang="en-US" b="1" dirty="0"/>
                  <a:t>2-input adders</a:t>
                </a:r>
                <a:r>
                  <a:rPr lang="en-US" dirty="0"/>
                  <a:t> at the beginning.</a:t>
                </a:r>
              </a:p>
              <a:p>
                <a:r>
                  <a:rPr lang="en-US" b="1" dirty="0"/>
                  <a:t>Multiplier</a:t>
                </a:r>
                <a:r>
                  <a:rPr lang="en-US" dirty="0"/>
                  <a:t> and </a:t>
                </a:r>
                <a:r>
                  <a:rPr lang="en-US" b="1" dirty="0"/>
                  <a:t>absolute</a:t>
                </a:r>
                <a:r>
                  <a:rPr lang="en-US" dirty="0"/>
                  <a:t> operations in the next stages.</a:t>
                </a:r>
              </a:p>
              <a:p>
                <a:r>
                  <a:rPr lang="en-US" b="1" dirty="0"/>
                  <a:t>Square root operation</a:t>
                </a:r>
                <a:r>
                  <a:rPr lang="en-US" dirty="0"/>
                  <a:t> as the last complex operation.</a:t>
                </a:r>
              </a:p>
              <a:p>
                <a:r>
                  <a:rPr lang="en-US" b="1" dirty="0"/>
                  <a:t>Registers</a:t>
                </a:r>
                <a:r>
                  <a:rPr lang="en-US" dirty="0"/>
                  <a:t> placed after each operation, connecting the stages.</a:t>
                </a:r>
              </a:p>
              <a:p>
                <a:r>
                  <a:rPr lang="en-US"/>
                  <a:t>If you need further visual representation or additional details, feel free to ask!</a:t>
                </a:r>
              </a:p>
              <a:p>
                <a:endParaRPr lang="en-US"/>
              </a:p>
            </p:txBody>
          </p:sp>
        </mc:Choice>
        <mc:Fallback>
          <p:sp>
            <p:nvSpPr>
              <p:cNvPr id="3" name="Notes Placeholder 2"/>
              <p:cNvSpPr>
                <a:spLocks noGrp="1"/>
              </p:cNvSpPr>
              <p:nvPr>
                <p:ph type="body" idx="1"/>
              </p:nvPr>
            </p:nvSpPr>
            <p:spPr/>
            <p:txBody>
              <a:bodyPr/>
              <a:lstStyle/>
              <a:p>
                <a:r>
                  <a:rPr lang="en-US" dirty="0"/>
                  <a:t>To create an optimal pipelining structure for the given combinational circuit and determine the clock period and frequency, we need to analyze the circuit in the context of its stages.</a:t>
                </a:r>
              </a:p>
              <a:p>
                <a:r>
                  <a:rPr lang="en-US" b="1" dirty="0"/>
                  <a:t>Pipelining the Circuit</a:t>
                </a:r>
              </a:p>
              <a:p>
                <a:r>
                  <a:rPr lang="en-US" dirty="0"/>
                  <a:t>Based on your description, we'll organize the circuit into 5 pipeline stages, adding registers between stages to separate the computations.</a:t>
                </a:r>
              </a:p>
              <a:p>
                <a:r>
                  <a:rPr lang="en-US" b="1" dirty="0"/>
                  <a:t>Circuit Structure with Registers</a:t>
                </a:r>
              </a:p>
              <a:p>
                <a:r>
                  <a:rPr lang="en-US" b="1" dirty="0"/>
                  <a:t>Pipeline Stage 1</a:t>
                </a:r>
                <a:r>
                  <a:rPr lang="en-US" dirty="0"/>
                  <a:t>:</a:t>
                </a:r>
              </a:p>
              <a:p>
                <a:pPr lvl="1"/>
                <a:r>
                  <a:rPr lang="en-US" dirty="0"/>
                  <a:t>Input to </a:t>
                </a:r>
                <a:r>
                  <a:rPr lang="en-US" b="1" dirty="0"/>
                  <a:t>2-input Adder 1</a:t>
                </a:r>
                <a:endParaRPr lang="en-US" dirty="0"/>
              </a:p>
              <a:p>
                <a:r>
                  <a:rPr lang="en-US" b="1" dirty="0"/>
                  <a:t>Output</a:t>
                </a:r>
                <a:r>
                  <a:rPr lang="en-US" dirty="0"/>
                  <a:t>: Register R1</a:t>
                </a:r>
              </a:p>
              <a:p>
                <a:r>
                  <a:rPr lang="en-US" b="1" dirty="0"/>
                  <a:t>Pipeline Stage 2</a:t>
                </a:r>
                <a:r>
                  <a:rPr lang="en-US" dirty="0"/>
                  <a:t>:</a:t>
                </a:r>
              </a:p>
              <a:p>
                <a:pPr lvl="1"/>
                <a:r>
                  <a:rPr lang="en-US" dirty="0"/>
                  <a:t>Input to </a:t>
                </a:r>
                <a:r>
                  <a:rPr lang="en-US" b="1" dirty="0"/>
                  <a:t>2-input Adder 2</a:t>
                </a:r>
                <a:r>
                  <a:rPr lang="en-US" dirty="0"/>
                  <a:t> and </a:t>
                </a:r>
                <a:r>
                  <a:rPr lang="en-US" b="1" dirty="0"/>
                  <a:t>Multiplier</a:t>
                </a:r>
                <a:r>
                  <a:rPr lang="en-US" dirty="0"/>
                  <a:t> using the output from </a:t>
                </a:r>
                <a:r>
                  <a:rPr lang="en-US" i="1" dirty="0"/>
                  <a:t>Register R1</a:t>
                </a:r>
                <a:r>
                  <a:rPr lang="en-US" dirty="0"/>
                  <a:t> and the second input stream (likely from another input like X).</a:t>
                </a:r>
              </a:p>
              <a:p>
                <a:r>
                  <a:rPr lang="en-US" b="1" dirty="0"/>
                  <a:t>Output</a:t>
                </a:r>
                <a:r>
                  <a:rPr lang="en-US" dirty="0"/>
                  <a:t>: Register R2</a:t>
                </a:r>
              </a:p>
              <a:p>
                <a:r>
                  <a:rPr lang="en-US" b="1" dirty="0"/>
                  <a:t>Pipeline Stage 3</a:t>
                </a:r>
                <a:r>
                  <a:rPr lang="en-US" dirty="0"/>
                  <a:t>:</a:t>
                </a:r>
              </a:p>
              <a:p>
                <a:pPr lvl="1"/>
                <a:r>
                  <a:rPr lang="en-US" b="1" dirty="0"/>
                  <a:t>Absolute</a:t>
                </a:r>
                <a:r>
                  <a:rPr lang="en-US" dirty="0"/>
                  <a:t> operation applied to the output of </a:t>
                </a:r>
                <a:r>
                  <a:rPr lang="en-US" i="1" dirty="0"/>
                  <a:t>Register R2</a:t>
                </a:r>
                <a:r>
                  <a:rPr lang="en-US" dirty="0"/>
                  <a:t>.</a:t>
                </a:r>
              </a:p>
              <a:p>
                <a:r>
                  <a:rPr lang="en-US" b="1" dirty="0"/>
                  <a:t>Output</a:t>
                </a:r>
                <a:r>
                  <a:rPr lang="en-US" dirty="0"/>
                  <a:t>: Register R3</a:t>
                </a:r>
              </a:p>
              <a:p>
                <a:r>
                  <a:rPr lang="en-US" b="1" dirty="0"/>
                  <a:t>Pipeline Stage 4</a:t>
                </a:r>
                <a:r>
                  <a:rPr lang="en-US" dirty="0"/>
                  <a:t>:</a:t>
                </a:r>
              </a:p>
              <a:p>
                <a:pPr lvl="1"/>
                <a:r>
                  <a:rPr lang="en-US" b="1" dirty="0"/>
                  <a:t>Square Root</a:t>
                </a:r>
                <a:r>
                  <a:rPr lang="en-US" dirty="0"/>
                  <a:t> operation applied to the output of </a:t>
                </a:r>
                <a:r>
                  <a:rPr lang="en-US" i="1" dirty="0"/>
                  <a:t>Register R3</a:t>
                </a:r>
                <a:r>
                  <a:rPr lang="en-US" dirty="0"/>
                  <a:t>.</a:t>
                </a:r>
              </a:p>
              <a:p>
                <a:r>
                  <a:rPr lang="en-US" b="1" dirty="0"/>
                  <a:t>Output</a:t>
                </a:r>
                <a:r>
                  <a:rPr lang="en-US" dirty="0"/>
                  <a:t>: Register R4</a:t>
                </a:r>
              </a:p>
              <a:p>
                <a:r>
                  <a:rPr lang="en-US" b="1" dirty="0"/>
                  <a:t>Pipeline Stage 5</a:t>
                </a:r>
                <a:r>
                  <a:rPr lang="en-US" dirty="0"/>
                  <a:t>:</a:t>
                </a:r>
              </a:p>
              <a:p>
                <a:pPr lvl="1"/>
                <a:r>
                  <a:rPr lang="en-US" dirty="0"/>
                  <a:t>Final </a:t>
                </a:r>
                <a:r>
                  <a:rPr lang="en-US" b="1" dirty="0"/>
                  <a:t>2-input Adder</a:t>
                </a:r>
                <a:r>
                  <a:rPr lang="en-US" dirty="0"/>
                  <a:t> to combine the outputs from the previous operations.</a:t>
                </a:r>
              </a:p>
              <a:p>
                <a:r>
                  <a:rPr lang="en-US" b="1" dirty="0"/>
                  <a:t>Output</a:t>
                </a:r>
                <a:r>
                  <a:rPr lang="en-US" dirty="0"/>
                  <a:t>: Final result.</a:t>
                </a:r>
              </a:p>
              <a:p>
                <a:r>
                  <a:rPr lang="en-US" b="1" dirty="0"/>
                  <a:t>Register Placement</a:t>
                </a:r>
              </a:p>
              <a:p>
                <a:r>
                  <a:rPr lang="en-US" dirty="0"/>
                  <a:t>Each stage will have a register added at the output to separate the stages effectively while minimizing delays. The following placements ensure that the latencies from one stage do not affect the following one:</a:t>
                </a:r>
              </a:p>
              <a:p>
                <a:r>
                  <a:rPr lang="en-US" b="1" dirty="0"/>
                  <a:t>R1</a:t>
                </a:r>
                <a:r>
                  <a:rPr lang="en-US" dirty="0"/>
                  <a:t>: After the first 2-input adder.</a:t>
                </a:r>
              </a:p>
              <a:p>
                <a:r>
                  <a:rPr lang="en-US" b="1" dirty="0"/>
                  <a:t>R2</a:t>
                </a:r>
                <a:r>
                  <a:rPr lang="en-US" dirty="0"/>
                  <a:t>: After the second adder and multiplier operations.</a:t>
                </a:r>
              </a:p>
              <a:p>
                <a:r>
                  <a:rPr lang="en-US" b="1" dirty="0"/>
                  <a:t>R3</a:t>
                </a:r>
                <a:r>
                  <a:rPr lang="en-US" dirty="0"/>
                  <a:t>: After the absolute value operation.</a:t>
                </a:r>
              </a:p>
              <a:p>
                <a:r>
                  <a:rPr lang="en-US" b="1" dirty="0"/>
                  <a:t>R4</a:t>
                </a:r>
                <a:r>
                  <a:rPr lang="en-US" dirty="0"/>
                  <a:t>: After the square root operation.</a:t>
                </a:r>
              </a:p>
              <a:p>
                <a:r>
                  <a:rPr lang="en-US" b="1" dirty="0"/>
                  <a:t>Delays for Clock Period Calculation</a:t>
                </a:r>
              </a:p>
              <a:p>
                <a:r>
                  <a:rPr lang="en-US" dirty="0"/>
                  <a:t>Using the longest delay from any stage to determine the clock period:</a:t>
                </a:r>
              </a:p>
              <a:p>
                <a:r>
                  <a:rPr lang="en-US" b="1" dirty="0"/>
                  <a:t>Longest Delay</a:t>
                </a:r>
                <a:r>
                  <a:rPr lang="en-US" dirty="0"/>
                  <a:t>: The square root operation at 7 ns is the maximum delay in any segment:</a:t>
                </a:r>
              </a:p>
              <a:p>
                <a:r>
                  <a:rPr lang="en-US" dirty="0"/>
                  <a:t>Using the formula:</a:t>
                </a:r>
              </a:p>
              <a:p>
                <a:r>
                  <a:rPr lang="ar-EG" sz="1200" i="0" kern="1200">
                    <a:solidFill>
                      <a:schemeClr val="tx1"/>
                    </a:solidFill>
                    <a:latin typeface="+mn-lt"/>
                    <a:ea typeface="+mn-ea"/>
                    <a:cs typeface="+mn-cs"/>
                  </a:rPr>
                  <a:t>𝑇_𝑐𝑙𝑘&gt;𝑇_𝑐𝑞+𝑡_𝑠𝑒𝑡𝑢𝑝+𝑡_(𝑝𝑑\_𝑚𝑎𝑥)</a:t>
                </a:r>
                <a:endParaRPr lang="ar-EG" dirty="0"/>
              </a:p>
              <a:p>
                <a:r>
                  <a:rPr lang="en-US" dirty="0"/>
                  <a:t>Where:</a:t>
                </a:r>
              </a:p>
              <a:p>
                <a:r>
                  <a:rPr lang="ar-EG" sz="1200" i="0" kern="1200">
                    <a:solidFill>
                      <a:schemeClr val="tx1"/>
                    </a:solidFill>
                    <a:latin typeface="+mn-lt"/>
                    <a:ea typeface="+mn-ea"/>
                    <a:cs typeface="+mn-cs"/>
                  </a:rPr>
                  <a:t>𝑇_𝑐𝑞</a:t>
                </a:r>
                <a:r>
                  <a:rPr lang="ar-EG" dirty="0"/>
                  <a:t>= 1 </a:t>
                </a:r>
                <a:r>
                  <a:rPr lang="en-US" dirty="0"/>
                  <a:t>ns (propagation delay of the register),</a:t>
                </a:r>
              </a:p>
              <a:p>
                <a:r>
                  <a:rPr lang="ar-EG" sz="1200" i="0" kern="1200">
                    <a:solidFill>
                      <a:schemeClr val="tx1"/>
                    </a:solidFill>
                    <a:latin typeface="+mn-lt"/>
                    <a:ea typeface="+mn-ea"/>
                    <a:cs typeface="+mn-cs"/>
                  </a:rPr>
                  <a:t>𝑡_𝑠𝑒𝑡𝑢𝑝</a:t>
                </a:r>
                <a:r>
                  <a:rPr lang="ar-EG" dirty="0"/>
                  <a:t>= 1 </a:t>
                </a:r>
                <a:r>
                  <a:rPr lang="en-US" dirty="0"/>
                  <a:t>ns (setup time),</a:t>
                </a:r>
              </a:p>
              <a:p>
                <a:r>
                  <a:rPr lang="ar-EG" sz="1200" i="0" kern="1200">
                    <a:solidFill>
                      <a:schemeClr val="tx1"/>
                    </a:solidFill>
                    <a:latin typeface="+mn-lt"/>
                    <a:ea typeface="+mn-ea"/>
                    <a:cs typeface="+mn-cs"/>
                  </a:rPr>
                  <a:t>𝑡_(𝑝𝑑\_𝑚𝑎𝑥)</a:t>
                </a:r>
                <a:r>
                  <a:rPr lang="ar-EG" dirty="0"/>
                  <a:t>= 7 </a:t>
                </a:r>
                <a:r>
                  <a:rPr lang="en-US" dirty="0"/>
                  <a:t>ns (for the square root).</a:t>
                </a:r>
              </a:p>
              <a:p>
                <a:r>
                  <a:rPr lang="en-US" dirty="0"/>
                  <a:t>Calculating:</a:t>
                </a:r>
              </a:p>
              <a:p>
                <a:r>
                  <a:rPr lang="ar-EG" sz="1200" i="0" kern="1200">
                    <a:solidFill>
                      <a:schemeClr val="tx1"/>
                    </a:solidFill>
                    <a:latin typeface="+mn-lt"/>
                    <a:ea typeface="+mn-ea"/>
                    <a:cs typeface="+mn-cs"/>
                  </a:rPr>
                  <a:t>𝑇_𝑐𝑙𝑘&gt;1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"+1</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"+7</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"=9</a:t>
                </a:r>
                <a:r>
                  <a:rPr lang="en-US" sz="1200" b="0" i="0" kern="1200">
                    <a:solidFill>
                      <a:schemeClr val="tx1"/>
                    </a:solidFill>
                    <a:latin typeface="Cambria Math" panose="02040503050406030204" pitchFamily="18" charset="0"/>
                    <a:ea typeface="+mn-ea"/>
                    <a:cs typeface="+mn-cs"/>
                  </a:rPr>
                  <a:t>" ns</a:t>
                </a:r>
                <a:r>
                  <a:rPr lang="en-US" sz="1200" b="0" i="0" kern="1200">
                    <a:solidFill>
                      <a:schemeClr val="tx1"/>
                    </a:solidFill>
                    <a:latin typeface="+mn-lt"/>
                    <a:ea typeface="+mn-ea"/>
                    <a:cs typeface="+mn-cs"/>
                  </a:rPr>
                  <a:t>"</a:t>
                </a:r>
                <a:endParaRPr lang="en-US" b="0" dirty="0"/>
              </a:p>
              <a:p>
                <a:r>
                  <a:rPr lang="en-US" b="1" dirty="0"/>
                  <a:t>Maximum Frequency Calculation</a:t>
                </a:r>
              </a:p>
              <a:p>
                <a:r>
                  <a:rPr lang="en-US" dirty="0"/>
                  <a:t>To determine the maximum frequency:</a:t>
                </a:r>
              </a:p>
              <a:p>
                <a:r>
                  <a:rPr lang="ar-EG" sz="1200" i="0" kern="1200">
                    <a:solidFill>
                      <a:schemeClr val="tx1"/>
                    </a:solidFill>
                    <a:latin typeface="+mn-lt"/>
                    <a:ea typeface="+mn-ea"/>
                    <a:cs typeface="+mn-cs"/>
                  </a:rPr>
                  <a:t>𝑓_𝑚𝑎𝑥=1/𝑇_𝑐𝑙𝑘 =1/9</a:t>
                </a:r>
                <a:r>
                  <a:rPr lang="ar-EG" sz="1200" b="0" i="0" kern="1200">
                    <a:solidFill>
                      <a:schemeClr val="tx1"/>
                    </a:solidFill>
                    <a:latin typeface="+mn-lt"/>
                    <a:ea typeface="+mn-ea"/>
                    <a:cs typeface="+mn-cs"/>
                  </a:rPr>
                  <a:t>" </a:t>
                </a:r>
                <a:r>
                  <a:rPr lang="en-US" sz="1200" b="0" i="0" kern="1200">
                    <a:solidFill>
                      <a:schemeClr val="tx1"/>
                    </a:solidFill>
                    <a:latin typeface="+mn-lt"/>
                    <a:ea typeface="+mn-ea"/>
                    <a:cs typeface="+mn-cs"/>
                  </a:rPr>
                  <a:t>ns</a:t>
                </a:r>
                <a:r>
                  <a:rPr lang="ar-EG" sz="1200" b="0" i="0" kern="1200">
                    <a:solidFill>
                      <a:schemeClr val="tx1"/>
                    </a:solidFill>
                    <a:latin typeface="+mn-lt"/>
                    <a:ea typeface="+mn-ea"/>
                    <a:cs typeface="+mn-cs"/>
                  </a:rPr>
                  <a:t>" ≈111.11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b="0" dirty="0"/>
              </a:p>
              <a:p>
                <a:r>
                  <a:rPr lang="en-US" b="1" dirty="0"/>
                  <a:t>Summary of Results</a:t>
                </a:r>
              </a:p>
              <a:p>
                <a:r>
                  <a:rPr lang="en-US" b="1" dirty="0"/>
                  <a:t>Minimum Clock Period</a:t>
                </a:r>
                <a:r>
                  <a:rPr lang="en-US" dirty="0"/>
                  <a:t>: </a:t>
                </a:r>
                <a:r>
                  <a:rPr lang="ar-EG" sz="1200" i="0" kern="1200">
                    <a:solidFill>
                      <a:schemeClr val="tx1"/>
                    </a:solidFill>
                    <a:latin typeface="+mn-lt"/>
                    <a:ea typeface="+mn-ea"/>
                    <a:cs typeface="+mn-cs"/>
                  </a:rPr>
                  <a:t>𝑇_𝑐𝑙𝑘&gt;9</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ns</a:t>
                </a:r>
                <a:r>
                  <a:rPr lang="en-US" sz="1200" b="0" i="0" kern="1200">
                    <a:solidFill>
                      <a:schemeClr val="tx1"/>
                    </a:solidFill>
                    <a:latin typeface="+mn-lt"/>
                    <a:ea typeface="+mn-ea"/>
                    <a:cs typeface="+mn-cs"/>
                  </a:rPr>
                  <a:t>"</a:t>
                </a:r>
                <a:endParaRPr lang="en-US" dirty="0"/>
              </a:p>
              <a:p>
                <a:r>
                  <a:rPr lang="en-US" b="1" dirty="0"/>
                  <a:t>Maximum Frequency</a:t>
                </a:r>
                <a:r>
                  <a:rPr lang="en-US" dirty="0"/>
                  <a:t>: </a:t>
                </a:r>
                <a:r>
                  <a:rPr lang="ar-EG" sz="1200" i="0" kern="1200">
                    <a:solidFill>
                      <a:schemeClr val="tx1"/>
                    </a:solidFill>
                    <a:latin typeface="+mn-lt"/>
                    <a:ea typeface="+mn-ea"/>
                    <a:cs typeface="+mn-cs"/>
                  </a:rPr>
                  <a:t>𝑓_𝑚𝑎𝑥≈111.11</a:t>
                </a:r>
                <a:r>
                  <a:rPr lang="ar-EG"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MHz</a:t>
                </a:r>
                <a:r>
                  <a:rPr lang="en-US" sz="1200" b="0" i="0" kern="1200">
                    <a:solidFill>
                      <a:schemeClr val="tx1"/>
                    </a:solidFill>
                    <a:latin typeface="+mn-lt"/>
                    <a:ea typeface="+mn-ea"/>
                    <a:cs typeface="+mn-cs"/>
                  </a:rPr>
                  <a:t>"</a:t>
                </a:r>
                <a:endParaRPr lang="en-US" dirty="0"/>
              </a:p>
              <a:p>
                <a:r>
                  <a:rPr lang="en-US" b="1" dirty="0"/>
                  <a:t>Visual Representation</a:t>
                </a:r>
              </a:p>
              <a:p>
                <a:r>
                  <a:rPr lang="en-US" dirty="0"/>
                  <a:t>The circuit diagram would include the following elements:</a:t>
                </a:r>
              </a:p>
              <a:p>
                <a:r>
                  <a:rPr lang="en-US" b="1" dirty="0"/>
                  <a:t>2-input adders</a:t>
                </a:r>
                <a:r>
                  <a:rPr lang="en-US" dirty="0"/>
                  <a:t> at the beginning.</a:t>
                </a:r>
              </a:p>
              <a:p>
                <a:r>
                  <a:rPr lang="en-US" b="1" dirty="0"/>
                  <a:t>Multiplier</a:t>
                </a:r>
                <a:r>
                  <a:rPr lang="en-US" dirty="0"/>
                  <a:t> and </a:t>
                </a:r>
                <a:r>
                  <a:rPr lang="en-US" b="1" dirty="0"/>
                  <a:t>absolute</a:t>
                </a:r>
                <a:r>
                  <a:rPr lang="en-US" dirty="0"/>
                  <a:t> operations in the next stages.</a:t>
                </a:r>
              </a:p>
              <a:p>
                <a:r>
                  <a:rPr lang="en-US" b="1" dirty="0"/>
                  <a:t>Square root operation</a:t>
                </a:r>
                <a:r>
                  <a:rPr lang="en-US" dirty="0"/>
                  <a:t> as the last complex operation.</a:t>
                </a:r>
              </a:p>
              <a:p>
                <a:r>
                  <a:rPr lang="en-US" b="1" dirty="0"/>
                  <a:t>Registers</a:t>
                </a:r>
                <a:r>
                  <a:rPr lang="en-US" dirty="0"/>
                  <a:t> placed after each operation, connecting the stages.</a:t>
                </a:r>
              </a:p>
              <a:p>
                <a:r>
                  <a:rPr lang="en-US"/>
                  <a:t>If you need further visual representation or additional details, feel free to ask!</a:t>
                </a:r>
              </a:p>
              <a:p>
                <a:endParaRPr lang="en-US"/>
              </a:p>
            </p:txBody>
          </p:sp>
        </mc:Fallback>
      </mc:AlternateContent>
      <p:sp>
        <p:nvSpPr>
          <p:cNvPr id="4" name="Slide Number Placeholder 3"/>
          <p:cNvSpPr>
            <a:spLocks noGrp="1"/>
          </p:cNvSpPr>
          <p:nvPr>
            <p:ph type="sldNum" sz="quarter" idx="5"/>
          </p:nvPr>
        </p:nvSpPr>
        <p:spPr/>
        <p:txBody>
          <a:bodyPr/>
          <a:lstStyle/>
          <a:p>
            <a:fld id="{B576586A-7933-4E63-B7E8-3335BFFB6AB4}" type="slidenum">
              <a:rPr lang="en-US" smtClean="0"/>
              <a:t>20</a:t>
            </a:fld>
            <a:endParaRPr lang="en-US"/>
          </a:p>
        </p:txBody>
      </p:sp>
    </p:spTree>
    <p:extLst>
      <p:ext uri="{BB962C8B-B14F-4D97-AF65-F5344CB8AC3E}">
        <p14:creationId xmlns:p14="http://schemas.microsoft.com/office/powerpoint/2010/main" val="1541919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bg object 17"/>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sp>
        <p:nvSpPr>
          <p:cNvPr id="18" name="bg object 18"/>
          <p:cNvSpPr/>
          <p:nvPr/>
        </p:nvSpPr>
        <p:spPr>
          <a:xfrm>
            <a:off x="662177" y="1538478"/>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2" name="Holder 2"/>
          <p:cNvSpPr>
            <a:spLocks noGrp="1"/>
          </p:cNvSpPr>
          <p:nvPr>
            <p:ph type="title"/>
          </p:nvPr>
        </p:nvSpPr>
        <p:spPr>
          <a:xfrm>
            <a:off x="712723" y="1092835"/>
            <a:ext cx="2508250" cy="36068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a:xfrm>
            <a:off x="342900" y="2103120"/>
            <a:ext cx="61722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3/11/2026</a:t>
            </a:fld>
            <a:endParaRPr lang="en-US"/>
          </a:p>
        </p:txBody>
      </p:sp>
      <p:sp>
        <p:nvSpPr>
          <p:cNvPr id="6" name="Holder 6"/>
          <p:cNvSpPr>
            <a:spLocks noGrp="1"/>
          </p:cNvSpPr>
          <p:nvPr>
            <p:ph type="sldNum" sz="quarter" idx="7"/>
          </p:nvPr>
        </p:nvSpPr>
        <p:spPr>
          <a:xfrm>
            <a:off x="6571233" y="8933180"/>
            <a:ext cx="2444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5.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3162404"/>
          </a:xfrm>
          <a:prstGeom prst="rect">
            <a:avLst/>
          </a:prstGeom>
          <a:ln w="6096">
            <a:solidFill>
              <a:srgbClr val="FFFFFF"/>
            </a:solidFill>
          </a:ln>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1065"/>
              </a:spcBef>
            </a:pPr>
            <a:endParaRPr sz="3600" dirty="0">
              <a:latin typeface="Times New Roman"/>
              <a:cs typeface="Times New Roman"/>
            </a:endParaRPr>
          </a:p>
          <a:p>
            <a:pPr algn="ctr">
              <a:lnSpc>
                <a:spcPct val="100000"/>
              </a:lnSpc>
            </a:pPr>
            <a:r>
              <a:rPr sz="3600" b="1" spc="-40" dirty="0">
                <a:solidFill>
                  <a:srgbClr val="FFFFFF"/>
                </a:solidFill>
                <a:latin typeface="Times New Roman"/>
                <a:cs typeface="Times New Roman"/>
              </a:rPr>
              <a:t>Computer</a:t>
            </a:r>
            <a:r>
              <a:rPr sz="3600" b="1" spc="-155" dirty="0">
                <a:solidFill>
                  <a:srgbClr val="FFFFFF"/>
                </a:solidFill>
                <a:latin typeface="Times New Roman"/>
                <a:cs typeface="Times New Roman"/>
              </a:rPr>
              <a:t> </a:t>
            </a:r>
            <a:r>
              <a:rPr sz="3600" b="1" spc="-10" dirty="0">
                <a:solidFill>
                  <a:srgbClr val="FFFFFF"/>
                </a:solidFill>
                <a:latin typeface="Times New Roman"/>
                <a:cs typeface="Times New Roman"/>
              </a:rPr>
              <a:t>Architecture</a:t>
            </a:r>
            <a:endParaRPr sz="3600" dirty="0">
              <a:latin typeface="Times New Roman"/>
              <a:cs typeface="Times New Roman"/>
            </a:endParaRPr>
          </a:p>
          <a:p>
            <a:pPr marL="28575">
              <a:lnSpc>
                <a:spcPct val="100000"/>
              </a:lnSpc>
              <a:spcBef>
                <a:spcPts val="980"/>
              </a:spcBef>
            </a:pPr>
            <a:endParaRPr lang="en-US" sz="1400" u="sng" spc="-10" dirty="0">
              <a:uFill>
                <a:solidFill>
                  <a:srgbClr val="000000"/>
                </a:solidFill>
              </a:uFill>
              <a:latin typeface="Times New Roman"/>
              <a:cs typeface="Times New Roman"/>
            </a:endParaRPr>
          </a:p>
          <a:p>
            <a:pPr marL="28575">
              <a:lnSpc>
                <a:spcPct val="100000"/>
              </a:lnSpc>
              <a:spcBef>
                <a:spcPts val="980"/>
              </a:spcBef>
            </a:pPr>
            <a:r>
              <a:rPr sz="1400" u="sng" spc="-10" dirty="0">
                <a:uFill>
                  <a:solidFill>
                    <a:srgbClr val="000000"/>
                  </a:solidFill>
                </a:uFill>
                <a:latin typeface="Times New Roman"/>
                <a:cs typeface="Times New Roman"/>
              </a:rPr>
              <a:t>Reference:</a:t>
            </a:r>
            <a:endParaRPr sz="1400" dirty="0">
              <a:latin typeface="Times New Roman"/>
              <a:cs typeface="Times New Roman"/>
            </a:endParaRPr>
          </a:p>
          <a:p>
            <a:pPr marL="360045" marR="13335" indent="-102870">
              <a:lnSpc>
                <a:spcPct val="100000"/>
              </a:lnSpc>
              <a:buChar char="-"/>
              <a:tabLst>
                <a:tab pos="374650" algn="l"/>
              </a:tabLst>
            </a:pPr>
            <a:r>
              <a:rPr sz="1400" dirty="0">
                <a:latin typeface="Times New Roman"/>
                <a:cs typeface="Times New Roman"/>
              </a:rPr>
              <a:t>Hennessy</a:t>
            </a:r>
            <a:r>
              <a:rPr sz="1400" spc="-15" dirty="0">
                <a:latin typeface="Times New Roman"/>
                <a:cs typeface="Times New Roman"/>
              </a:rPr>
              <a:t> </a:t>
            </a:r>
            <a:r>
              <a:rPr sz="1400" dirty="0">
                <a:latin typeface="Times New Roman"/>
                <a:cs typeface="Times New Roman"/>
              </a:rPr>
              <a:t>and</a:t>
            </a:r>
            <a:r>
              <a:rPr sz="1400" spc="5" dirty="0">
                <a:latin typeface="Times New Roman"/>
                <a:cs typeface="Times New Roman"/>
              </a:rPr>
              <a:t> </a:t>
            </a:r>
            <a:r>
              <a:rPr sz="1400" dirty="0">
                <a:latin typeface="Times New Roman"/>
                <a:cs typeface="Times New Roman"/>
              </a:rPr>
              <a:t>Patterson,</a:t>
            </a:r>
            <a:r>
              <a:rPr sz="1400" spc="-25" dirty="0">
                <a:latin typeface="Times New Roman"/>
                <a:cs typeface="Times New Roman"/>
              </a:rPr>
              <a:t> </a:t>
            </a:r>
            <a:r>
              <a:rPr sz="1400" spc="-10" dirty="0">
                <a:latin typeface="Times New Roman"/>
                <a:cs typeface="Times New Roman"/>
              </a:rPr>
              <a:t>“Computer</a:t>
            </a:r>
            <a:r>
              <a:rPr sz="1400" spc="-50" dirty="0">
                <a:latin typeface="Times New Roman"/>
                <a:cs typeface="Times New Roman"/>
              </a:rPr>
              <a:t> </a:t>
            </a:r>
            <a:r>
              <a:rPr sz="1400" spc="-10" dirty="0">
                <a:latin typeface="Times New Roman"/>
                <a:cs typeface="Times New Roman"/>
              </a:rPr>
              <a:t>Architecture:</a:t>
            </a:r>
            <a:r>
              <a:rPr sz="1400" spc="-105" dirty="0">
                <a:latin typeface="Times New Roman"/>
                <a:cs typeface="Times New Roman"/>
              </a:rPr>
              <a:t> </a:t>
            </a:r>
            <a:r>
              <a:rPr sz="1400" dirty="0">
                <a:latin typeface="Times New Roman"/>
                <a:cs typeface="Times New Roman"/>
              </a:rPr>
              <a:t>A</a:t>
            </a:r>
            <a:r>
              <a:rPr sz="1400" spc="-60" dirty="0">
                <a:latin typeface="Times New Roman"/>
                <a:cs typeface="Times New Roman"/>
              </a:rPr>
              <a:t> </a:t>
            </a:r>
            <a:r>
              <a:rPr sz="1400" spc="-10" dirty="0">
                <a:latin typeface="Times New Roman"/>
                <a:cs typeface="Times New Roman"/>
              </a:rPr>
              <a:t>Quantitative</a:t>
            </a:r>
            <a:r>
              <a:rPr sz="1400" spc="-105" dirty="0">
                <a:latin typeface="Times New Roman"/>
                <a:cs typeface="Times New Roman"/>
              </a:rPr>
              <a:t> </a:t>
            </a:r>
            <a:r>
              <a:rPr sz="1400" spc="-10" dirty="0">
                <a:latin typeface="Times New Roman"/>
                <a:cs typeface="Times New Roman"/>
              </a:rPr>
              <a:t>Approach”, 	</a:t>
            </a:r>
            <a:r>
              <a:rPr sz="1400" dirty="0">
                <a:latin typeface="Times New Roman"/>
                <a:cs typeface="Times New Roman"/>
              </a:rPr>
              <a:t>Appendix</a:t>
            </a:r>
            <a:r>
              <a:rPr sz="1400" spc="-50" dirty="0">
                <a:latin typeface="Times New Roman"/>
                <a:cs typeface="Times New Roman"/>
              </a:rPr>
              <a:t> C</a:t>
            </a:r>
            <a:endParaRPr sz="1400" dirty="0">
              <a:latin typeface="Times New Roman"/>
              <a:cs typeface="Times New Roman"/>
            </a:endParaRPr>
          </a:p>
          <a:p>
            <a:pPr marL="360680" indent="-102870">
              <a:lnSpc>
                <a:spcPct val="100000"/>
              </a:lnSpc>
              <a:spcBef>
                <a:spcPts val="190"/>
              </a:spcBef>
              <a:buChar char="-"/>
              <a:tabLst>
                <a:tab pos="360680" algn="l"/>
              </a:tabLst>
            </a:pPr>
            <a:r>
              <a:rPr sz="1400" dirty="0">
                <a:latin typeface="Times New Roman"/>
                <a:cs typeface="Times New Roman"/>
              </a:rPr>
              <a:t>Mano,</a:t>
            </a:r>
            <a:r>
              <a:rPr sz="1400" spc="-60" dirty="0">
                <a:latin typeface="Times New Roman"/>
                <a:cs typeface="Times New Roman"/>
              </a:rPr>
              <a:t> </a:t>
            </a:r>
            <a:r>
              <a:rPr sz="1400" dirty="0">
                <a:latin typeface="Times New Roman"/>
                <a:cs typeface="Times New Roman"/>
              </a:rPr>
              <a:t>“Computer</a:t>
            </a:r>
            <a:r>
              <a:rPr sz="1400" spc="-20" dirty="0">
                <a:latin typeface="Times New Roman"/>
                <a:cs typeface="Times New Roman"/>
              </a:rPr>
              <a:t> </a:t>
            </a:r>
            <a:r>
              <a:rPr sz="1400" spc="-10" dirty="0">
                <a:latin typeface="Times New Roman"/>
                <a:cs typeface="Times New Roman"/>
              </a:rPr>
              <a:t>System</a:t>
            </a:r>
            <a:r>
              <a:rPr sz="1400" spc="-90" dirty="0">
                <a:latin typeface="Times New Roman"/>
                <a:cs typeface="Times New Roman"/>
              </a:rPr>
              <a:t> </a:t>
            </a:r>
            <a:r>
              <a:rPr sz="1400" dirty="0">
                <a:latin typeface="Times New Roman"/>
                <a:cs typeface="Times New Roman"/>
              </a:rPr>
              <a:t>Architecture”,</a:t>
            </a:r>
            <a:r>
              <a:rPr sz="1400" spc="-60" dirty="0">
                <a:latin typeface="Times New Roman"/>
                <a:cs typeface="Times New Roman"/>
              </a:rPr>
              <a:t> </a:t>
            </a:r>
            <a:r>
              <a:rPr sz="1400" dirty="0">
                <a:latin typeface="Times New Roman"/>
                <a:cs typeface="Times New Roman"/>
              </a:rPr>
              <a:t>Chapter</a:t>
            </a:r>
            <a:r>
              <a:rPr sz="1400" spc="-55" dirty="0">
                <a:latin typeface="Times New Roman"/>
                <a:cs typeface="Times New Roman"/>
              </a:rPr>
              <a:t> </a:t>
            </a:r>
            <a:r>
              <a:rPr sz="1400" spc="-50" dirty="0">
                <a:latin typeface="Times New Roman"/>
                <a:cs typeface="Times New Roman"/>
              </a:rPr>
              <a:t>9</a:t>
            </a:r>
            <a:endParaRPr sz="1400" dirty="0">
              <a:latin typeface="Times New Roman"/>
              <a:cs typeface="Times New Roman"/>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grpSp>
      <p:sp>
        <p:nvSpPr>
          <p:cNvPr id="9" name="object 9"/>
          <p:cNvSpPr txBox="1"/>
          <p:nvPr/>
        </p:nvSpPr>
        <p:spPr>
          <a:xfrm>
            <a:off x="609600" y="5065776"/>
            <a:ext cx="5486400" cy="502920"/>
          </a:xfrm>
          <a:prstGeom prst="rect">
            <a:avLst/>
          </a:prstGeom>
          <a:solidFill>
            <a:srgbClr val="539E39"/>
          </a:solidFill>
          <a:ln w="9144">
            <a:solidFill>
              <a:srgbClr val="3A7327"/>
            </a:solidFill>
          </a:ln>
        </p:spPr>
        <p:txBody>
          <a:bodyPr vert="horz" wrap="square" lIns="0" tIns="86995" rIns="0" bIns="0" rtlCol="0">
            <a:spAutoFit/>
          </a:bodyPr>
          <a:lstStyle/>
          <a:p>
            <a:pPr marL="115570">
              <a:lnSpc>
                <a:spcPct val="100000"/>
              </a:lnSpc>
              <a:spcBef>
                <a:spcPts val="685"/>
              </a:spcBef>
            </a:pPr>
            <a:r>
              <a:rPr sz="2000" b="1" dirty="0">
                <a:solidFill>
                  <a:srgbClr val="FFFFFF"/>
                </a:solidFill>
                <a:latin typeface="Georgia"/>
                <a:cs typeface="Georgia"/>
              </a:rPr>
              <a:t>Computer</a:t>
            </a:r>
            <a:r>
              <a:rPr sz="2000" b="1" spc="-40" dirty="0">
                <a:solidFill>
                  <a:srgbClr val="FFFFFF"/>
                </a:solidFill>
                <a:latin typeface="Georgia"/>
                <a:cs typeface="Georgia"/>
              </a:rPr>
              <a:t> </a:t>
            </a:r>
            <a:r>
              <a:rPr sz="2000" b="1" dirty="0">
                <a:solidFill>
                  <a:srgbClr val="FFFFFF"/>
                </a:solidFill>
                <a:latin typeface="Georgia"/>
                <a:cs typeface="Georgia"/>
              </a:rPr>
              <a:t>Architecture</a:t>
            </a:r>
            <a:r>
              <a:rPr sz="2000" b="1" spc="-40" dirty="0">
                <a:solidFill>
                  <a:srgbClr val="FFFFFF"/>
                </a:solidFill>
                <a:latin typeface="Georgia"/>
                <a:cs typeface="Georgia"/>
              </a:rPr>
              <a:t> </a:t>
            </a:r>
            <a:r>
              <a:rPr sz="2000" b="1" dirty="0">
                <a:solidFill>
                  <a:srgbClr val="FFFFFF"/>
                </a:solidFill>
                <a:latin typeface="Georgia"/>
                <a:cs typeface="Georgia"/>
              </a:rPr>
              <a:t>Module</a:t>
            </a:r>
            <a:r>
              <a:rPr sz="2000" b="1" spc="-15" dirty="0">
                <a:solidFill>
                  <a:srgbClr val="FFFFFF"/>
                </a:solidFill>
                <a:latin typeface="Georgia"/>
                <a:cs typeface="Georgia"/>
              </a:rPr>
              <a:t> </a:t>
            </a:r>
            <a:r>
              <a:rPr sz="2000" b="1" spc="-10" dirty="0">
                <a:solidFill>
                  <a:srgbClr val="FFFFFF"/>
                </a:solidFill>
                <a:latin typeface="Georgia"/>
                <a:cs typeface="Georgia"/>
              </a:rPr>
              <a:t>Content</a:t>
            </a:r>
            <a:endParaRPr sz="2000">
              <a:latin typeface="Georgia"/>
              <a:cs typeface="Georgia"/>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1</a:t>
            </a:fld>
            <a:endParaRPr spc="-50" dirty="0"/>
          </a:p>
        </p:txBody>
      </p:sp>
      <p:sp>
        <p:nvSpPr>
          <p:cNvPr id="10" name="object 10"/>
          <p:cNvSpPr txBox="1"/>
          <p:nvPr/>
        </p:nvSpPr>
        <p:spPr>
          <a:xfrm>
            <a:off x="759561" y="5650484"/>
            <a:ext cx="5379085" cy="2430780"/>
          </a:xfrm>
          <a:prstGeom prst="rect">
            <a:avLst/>
          </a:prstGeom>
        </p:spPr>
        <p:txBody>
          <a:bodyPr vert="horz" wrap="square" lIns="0" tIns="24765" rIns="0" bIns="0" rtlCol="0">
            <a:spAutoFit/>
          </a:bodyPr>
          <a:lstStyle/>
          <a:p>
            <a:pPr marL="169545" indent="-169545">
              <a:lnSpc>
                <a:spcPct val="100000"/>
              </a:lnSpc>
              <a:spcBef>
                <a:spcPts val="195"/>
              </a:spcBef>
              <a:buClr>
                <a:srgbClr val="3E762B"/>
              </a:buClr>
              <a:buFont typeface="Wingdings"/>
              <a:buChar char=""/>
              <a:tabLst>
                <a:tab pos="169545" algn="l"/>
              </a:tabLst>
            </a:pPr>
            <a:r>
              <a:rPr sz="1200" b="1" dirty="0">
                <a:latin typeface="Times New Roman"/>
                <a:cs typeface="Times New Roman"/>
              </a:rPr>
              <a:t>Central</a:t>
            </a:r>
            <a:r>
              <a:rPr sz="1200" b="1" spc="-70" dirty="0">
                <a:latin typeface="Times New Roman"/>
                <a:cs typeface="Times New Roman"/>
              </a:rPr>
              <a:t> </a:t>
            </a:r>
            <a:r>
              <a:rPr sz="1200" b="1" dirty="0">
                <a:latin typeface="Times New Roman"/>
                <a:cs typeface="Times New Roman"/>
              </a:rPr>
              <a:t>Processing</a:t>
            </a:r>
            <a:r>
              <a:rPr sz="1200" b="1" spc="-45" dirty="0">
                <a:latin typeface="Times New Roman"/>
                <a:cs typeface="Times New Roman"/>
              </a:rPr>
              <a:t> </a:t>
            </a:r>
            <a:r>
              <a:rPr sz="1200" b="1" dirty="0">
                <a:latin typeface="Times New Roman"/>
                <a:cs typeface="Times New Roman"/>
              </a:rPr>
              <a:t>Unit</a:t>
            </a:r>
            <a:r>
              <a:rPr sz="1200" b="1" spc="-75" dirty="0">
                <a:latin typeface="Times New Roman"/>
                <a:cs typeface="Times New Roman"/>
              </a:rPr>
              <a:t> </a:t>
            </a:r>
            <a:r>
              <a:rPr sz="1200" b="1" spc="-10" dirty="0">
                <a:latin typeface="Times New Roman"/>
                <a:cs typeface="Times New Roman"/>
              </a:rPr>
              <a:t>Architecture</a:t>
            </a:r>
            <a:endParaRPr sz="1200">
              <a:latin typeface="Times New Roman"/>
              <a:cs typeface="Times New Roman"/>
            </a:endParaRPr>
          </a:p>
          <a:p>
            <a:pPr marL="456565" lvl="1" indent="-111125">
              <a:lnSpc>
                <a:spcPct val="100000"/>
              </a:lnSpc>
              <a:spcBef>
                <a:spcPts val="95"/>
              </a:spcBef>
              <a:buClr>
                <a:srgbClr val="3E762B"/>
              </a:buClr>
              <a:buFont typeface="Arial MT"/>
              <a:buChar char="•"/>
              <a:tabLst>
                <a:tab pos="456565" algn="l"/>
              </a:tabLst>
            </a:pPr>
            <a:r>
              <a:rPr sz="1200" spc="-10" dirty="0">
                <a:latin typeface="Times New Roman"/>
                <a:cs typeface="Times New Roman"/>
              </a:rPr>
              <a:t>Design</a:t>
            </a:r>
            <a:r>
              <a:rPr sz="1200" spc="-65" dirty="0">
                <a:latin typeface="Times New Roman"/>
                <a:cs typeface="Times New Roman"/>
              </a:rPr>
              <a:t> </a:t>
            </a:r>
            <a:r>
              <a:rPr sz="1200" dirty="0">
                <a:latin typeface="Times New Roman"/>
                <a:cs typeface="Times New Roman"/>
              </a:rPr>
              <a:t>Approaches</a:t>
            </a:r>
            <a:r>
              <a:rPr sz="1200" spc="-20" dirty="0">
                <a:latin typeface="Times New Roman"/>
                <a:cs typeface="Times New Roman"/>
              </a:rPr>
              <a:t> </a:t>
            </a:r>
            <a:r>
              <a:rPr sz="1200" dirty="0">
                <a:latin typeface="Times New Roman"/>
                <a:cs typeface="Times New Roman"/>
              </a:rPr>
              <a:t>[</a:t>
            </a:r>
            <a:r>
              <a:rPr sz="1200" b="1" dirty="0">
                <a:solidFill>
                  <a:srgbClr val="539E39"/>
                </a:solidFill>
                <a:latin typeface="Times New Roman"/>
                <a:cs typeface="Times New Roman"/>
              </a:rPr>
              <a:t>Stack</a:t>
            </a:r>
            <a:r>
              <a:rPr sz="1200" b="1" spc="-20"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FF0000"/>
                </a:solidFill>
                <a:latin typeface="Times New Roman"/>
                <a:cs typeface="Times New Roman"/>
              </a:rPr>
              <a:t>Pipelining</a:t>
            </a:r>
            <a:r>
              <a:rPr sz="1200" b="1" spc="-35" dirty="0">
                <a:solidFill>
                  <a:srgbClr val="FF0000"/>
                </a:solidFill>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b="1" dirty="0">
                <a:solidFill>
                  <a:srgbClr val="539E39"/>
                </a:solidFill>
                <a:latin typeface="Times New Roman"/>
                <a:cs typeface="Times New Roman"/>
              </a:rPr>
              <a:t>Interrupt</a:t>
            </a:r>
            <a:r>
              <a:rPr sz="1200" b="1" spc="-25" dirty="0">
                <a:solidFill>
                  <a:srgbClr val="539E39"/>
                </a:solidFill>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b="1" dirty="0">
                <a:solidFill>
                  <a:srgbClr val="539E39"/>
                </a:solidFill>
                <a:latin typeface="Times New Roman"/>
                <a:cs typeface="Times New Roman"/>
              </a:rPr>
              <a:t>Processor</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endParaRPr sz="1200">
              <a:latin typeface="Times New Roman"/>
              <a:cs typeface="Times New Roman"/>
            </a:endParaRPr>
          </a:p>
          <a:p>
            <a:pPr marL="457200">
              <a:lnSpc>
                <a:spcPct val="100000"/>
              </a:lnSpc>
            </a:pPr>
            <a:r>
              <a:rPr sz="1200" dirty="0">
                <a:latin typeface="Times New Roman"/>
                <a:cs typeface="Times New Roman"/>
              </a:rPr>
              <a:t>–</a:t>
            </a:r>
            <a:r>
              <a:rPr sz="1200" spc="-35" dirty="0">
                <a:latin typeface="Times New Roman"/>
                <a:cs typeface="Times New Roman"/>
              </a:rPr>
              <a:t> </a:t>
            </a:r>
            <a:r>
              <a:rPr sz="1200" b="1" dirty="0">
                <a:solidFill>
                  <a:srgbClr val="539E39"/>
                </a:solidFill>
                <a:latin typeface="Times New Roman"/>
                <a:cs typeface="Times New Roman"/>
              </a:rPr>
              <a:t>Registers</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Organization</a:t>
            </a:r>
            <a:r>
              <a:rPr sz="1200" spc="-10" dirty="0">
                <a:latin typeface="Times New Roman"/>
                <a:cs typeface="Times New Roman"/>
              </a:rPr>
              <a:t>]</a:t>
            </a:r>
            <a:endParaRPr sz="1200">
              <a:latin typeface="Times New Roman"/>
              <a:cs typeface="Times New Roman"/>
            </a:endParaRPr>
          </a:p>
          <a:p>
            <a:pPr marL="456565" lvl="1" indent="-111125">
              <a:lnSpc>
                <a:spcPct val="100000"/>
              </a:lnSpc>
              <a:spcBef>
                <a:spcPts val="300"/>
              </a:spcBef>
              <a:buClr>
                <a:srgbClr val="3E762B"/>
              </a:buClr>
              <a:buFont typeface="Arial MT"/>
              <a:buChar char="•"/>
              <a:tabLst>
                <a:tab pos="456565" algn="l"/>
              </a:tabLst>
            </a:pPr>
            <a:r>
              <a:rPr sz="1200" b="1" dirty="0">
                <a:solidFill>
                  <a:srgbClr val="539E39"/>
                </a:solidFill>
                <a:latin typeface="Times New Roman"/>
                <a:cs typeface="Times New Roman"/>
              </a:rPr>
              <a:t>Instruction</a:t>
            </a:r>
            <a:r>
              <a:rPr sz="1200" b="1" spc="-55" dirty="0">
                <a:solidFill>
                  <a:srgbClr val="539E39"/>
                </a:solidFill>
                <a:latin typeface="Times New Roman"/>
                <a:cs typeface="Times New Roman"/>
              </a:rPr>
              <a:t> </a:t>
            </a:r>
            <a:r>
              <a:rPr sz="1200" b="1" dirty="0">
                <a:solidFill>
                  <a:srgbClr val="539E39"/>
                </a:solidFill>
                <a:latin typeface="Times New Roman"/>
                <a:cs typeface="Times New Roman"/>
              </a:rPr>
              <a:t>Set</a:t>
            </a:r>
            <a:r>
              <a:rPr sz="1200" b="1" spc="-75" dirty="0">
                <a:solidFill>
                  <a:srgbClr val="539E39"/>
                </a:solidFill>
                <a:latin typeface="Times New Roman"/>
                <a:cs typeface="Times New Roman"/>
              </a:rPr>
              <a:t> </a:t>
            </a:r>
            <a:r>
              <a:rPr sz="1200" b="1" spc="-10" dirty="0">
                <a:solidFill>
                  <a:srgbClr val="539E39"/>
                </a:solidFill>
                <a:latin typeface="Times New Roman"/>
                <a:cs typeface="Times New Roman"/>
              </a:rPr>
              <a:t>Architecture </a:t>
            </a:r>
            <a:r>
              <a:rPr sz="1200" b="1" dirty="0">
                <a:solidFill>
                  <a:srgbClr val="539E39"/>
                </a:solidFill>
                <a:latin typeface="Times New Roman"/>
                <a:cs typeface="Times New Roman"/>
              </a:rPr>
              <a:t>[Instruction</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Format</a:t>
            </a:r>
            <a:r>
              <a:rPr sz="1200" b="1" spc="5" dirty="0">
                <a:solidFill>
                  <a:srgbClr val="539E39"/>
                </a:solidFill>
                <a:latin typeface="Times New Roman"/>
                <a:cs typeface="Times New Roman"/>
              </a:rPr>
              <a:t> </a:t>
            </a:r>
            <a:r>
              <a:rPr sz="1200" b="1" dirty="0">
                <a:solidFill>
                  <a:srgbClr val="539E39"/>
                </a:solidFill>
                <a:latin typeface="Times New Roman"/>
                <a:cs typeface="Times New Roman"/>
              </a:rPr>
              <a:t>–</a:t>
            </a:r>
            <a:r>
              <a:rPr sz="1200" b="1" spc="-75" dirty="0">
                <a:solidFill>
                  <a:srgbClr val="539E39"/>
                </a:solidFill>
                <a:latin typeface="Times New Roman"/>
                <a:cs typeface="Times New Roman"/>
              </a:rPr>
              <a:t> </a:t>
            </a:r>
            <a:r>
              <a:rPr sz="1200" b="1" dirty="0">
                <a:solidFill>
                  <a:srgbClr val="539E39"/>
                </a:solidFill>
                <a:latin typeface="Times New Roman"/>
                <a:cs typeface="Times New Roman"/>
              </a:rPr>
              <a:t>Addressing</a:t>
            </a:r>
            <a:r>
              <a:rPr sz="1200" b="1" spc="-25" dirty="0">
                <a:solidFill>
                  <a:srgbClr val="539E39"/>
                </a:solidFill>
                <a:latin typeface="Times New Roman"/>
                <a:cs typeface="Times New Roman"/>
              </a:rPr>
              <a:t> </a:t>
            </a:r>
            <a:r>
              <a:rPr sz="1200" b="1" dirty="0">
                <a:solidFill>
                  <a:srgbClr val="539E39"/>
                </a:solidFill>
                <a:latin typeface="Times New Roman"/>
                <a:cs typeface="Times New Roman"/>
              </a:rPr>
              <a:t>modes</a:t>
            </a:r>
            <a:r>
              <a:rPr sz="1200" b="1" spc="-15" dirty="0">
                <a:solidFill>
                  <a:srgbClr val="539E39"/>
                </a:solidFill>
                <a:latin typeface="Times New Roman"/>
                <a:cs typeface="Times New Roman"/>
              </a:rPr>
              <a:t> </a:t>
            </a:r>
            <a:r>
              <a:rPr sz="1200" b="1" spc="-50" dirty="0">
                <a:solidFill>
                  <a:srgbClr val="539E39"/>
                </a:solidFill>
                <a:latin typeface="Times New Roman"/>
                <a:cs typeface="Times New Roman"/>
              </a:rPr>
              <a:t>–</a:t>
            </a:r>
            <a:endParaRPr sz="1200">
              <a:latin typeface="Times New Roman"/>
              <a:cs typeface="Times New Roman"/>
            </a:endParaRPr>
          </a:p>
          <a:p>
            <a:pPr marL="457200">
              <a:lnSpc>
                <a:spcPct val="100000"/>
              </a:lnSpc>
              <a:spcBef>
                <a:spcPts val="5"/>
              </a:spcBef>
            </a:pPr>
            <a:r>
              <a:rPr sz="1200" b="1" dirty="0">
                <a:solidFill>
                  <a:srgbClr val="539E39"/>
                </a:solidFill>
                <a:latin typeface="Times New Roman"/>
                <a:cs typeface="Times New Roman"/>
              </a:rPr>
              <a:t>Data</a:t>
            </a:r>
            <a:r>
              <a:rPr sz="1200" b="1" spc="-5" dirty="0">
                <a:solidFill>
                  <a:srgbClr val="539E39"/>
                </a:solidFill>
                <a:latin typeface="Times New Roman"/>
                <a:cs typeface="Times New Roman"/>
              </a:rPr>
              <a:t> </a:t>
            </a:r>
            <a:r>
              <a:rPr sz="1200" b="1" spc="-20" dirty="0">
                <a:solidFill>
                  <a:srgbClr val="539E39"/>
                </a:solidFill>
                <a:latin typeface="Times New Roman"/>
                <a:cs typeface="Times New Roman"/>
              </a:rPr>
              <a:t>Transfer</a:t>
            </a:r>
            <a:r>
              <a:rPr sz="1200" b="1" spc="-30"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Manipulation]</a:t>
            </a:r>
            <a:endParaRPr sz="1200">
              <a:latin typeface="Times New Roman"/>
              <a:cs typeface="Times New Roman"/>
            </a:endParaRPr>
          </a:p>
          <a:p>
            <a:pPr marL="457200" lvl="1" indent="-109855">
              <a:lnSpc>
                <a:spcPct val="100000"/>
              </a:lnSpc>
              <a:spcBef>
                <a:spcPts val="295"/>
              </a:spcBef>
              <a:buClr>
                <a:srgbClr val="3E762B"/>
              </a:buClr>
              <a:buFont typeface="Arial MT"/>
              <a:buChar char="•"/>
              <a:tabLst>
                <a:tab pos="457200" algn="l"/>
              </a:tabLst>
            </a:pPr>
            <a:r>
              <a:rPr sz="1200" b="1" dirty="0">
                <a:solidFill>
                  <a:srgbClr val="539E39"/>
                </a:solidFill>
                <a:latin typeface="Times New Roman"/>
                <a:cs typeface="Times New Roman"/>
              </a:rPr>
              <a:t>Example</a:t>
            </a:r>
            <a:r>
              <a:rPr sz="1200" b="1" spc="-20" dirty="0">
                <a:solidFill>
                  <a:srgbClr val="539E39"/>
                </a:solidFill>
                <a:latin typeface="Times New Roman"/>
                <a:cs typeface="Times New Roman"/>
              </a:rPr>
              <a:t> </a:t>
            </a:r>
            <a:r>
              <a:rPr sz="1200" b="1" spc="-10" dirty="0">
                <a:solidFill>
                  <a:srgbClr val="539E39"/>
                </a:solidFill>
                <a:latin typeface="Times New Roman"/>
                <a:cs typeface="Times New Roman"/>
              </a:rPr>
              <a:t>architectures </a:t>
            </a:r>
            <a:r>
              <a:rPr sz="1200" b="1" dirty="0">
                <a:solidFill>
                  <a:srgbClr val="539E39"/>
                </a:solidFill>
                <a:latin typeface="Times New Roman"/>
                <a:cs typeface="Times New Roman"/>
              </a:rPr>
              <a:t>(e.g.</a:t>
            </a:r>
            <a:r>
              <a:rPr sz="1200" b="1" spc="-15" dirty="0">
                <a:solidFill>
                  <a:srgbClr val="539E39"/>
                </a:solidFill>
                <a:latin typeface="Times New Roman"/>
                <a:cs typeface="Times New Roman"/>
              </a:rPr>
              <a:t> </a:t>
            </a:r>
            <a:r>
              <a:rPr sz="1200" b="1" dirty="0">
                <a:solidFill>
                  <a:srgbClr val="539E39"/>
                </a:solidFill>
                <a:latin typeface="Times New Roman"/>
                <a:cs typeface="Times New Roman"/>
              </a:rPr>
              <a:t>CISC,</a:t>
            </a:r>
            <a:r>
              <a:rPr sz="1200" b="1" spc="-15" dirty="0">
                <a:solidFill>
                  <a:srgbClr val="539E39"/>
                </a:solidFill>
                <a:latin typeface="Times New Roman"/>
                <a:cs typeface="Times New Roman"/>
              </a:rPr>
              <a:t> </a:t>
            </a:r>
            <a:r>
              <a:rPr sz="1200" b="1" spc="-10" dirty="0">
                <a:solidFill>
                  <a:srgbClr val="539E39"/>
                </a:solidFill>
                <a:latin typeface="Times New Roman"/>
                <a:cs typeface="Times New Roman"/>
              </a:rPr>
              <a:t>RISC)</a:t>
            </a:r>
            <a:endParaRPr sz="1200">
              <a:latin typeface="Times New Roman"/>
              <a:cs typeface="Times New Roman"/>
            </a:endParaRPr>
          </a:p>
          <a:p>
            <a:pPr marL="168275" indent="-168275">
              <a:lnSpc>
                <a:spcPct val="100000"/>
              </a:lnSpc>
              <a:spcBef>
                <a:spcPts val="900"/>
              </a:spcBef>
              <a:buClr>
                <a:srgbClr val="3E762B"/>
              </a:buClr>
              <a:buFont typeface="Wingdings"/>
              <a:buChar char=""/>
              <a:tabLst>
                <a:tab pos="168275" algn="l"/>
              </a:tabLst>
            </a:pPr>
            <a:r>
              <a:rPr sz="1200" b="1" dirty="0">
                <a:solidFill>
                  <a:srgbClr val="FF0000"/>
                </a:solidFill>
                <a:latin typeface="Times New Roman"/>
                <a:cs typeface="Times New Roman"/>
              </a:rPr>
              <a:t>Timing,</a:t>
            </a:r>
            <a:r>
              <a:rPr sz="1200" b="1" spc="-40" dirty="0">
                <a:solidFill>
                  <a:srgbClr val="FF0000"/>
                </a:solidFill>
                <a:latin typeface="Times New Roman"/>
                <a:cs typeface="Times New Roman"/>
              </a:rPr>
              <a:t> </a:t>
            </a:r>
            <a:r>
              <a:rPr sz="1200" b="1" dirty="0">
                <a:solidFill>
                  <a:srgbClr val="FF0000"/>
                </a:solidFill>
                <a:latin typeface="Times New Roman"/>
                <a:cs typeface="Times New Roman"/>
              </a:rPr>
              <a:t>Clock</a:t>
            </a:r>
            <a:r>
              <a:rPr sz="1200" b="1" spc="-35" dirty="0">
                <a:solidFill>
                  <a:srgbClr val="FF0000"/>
                </a:solidFill>
                <a:latin typeface="Times New Roman"/>
                <a:cs typeface="Times New Roman"/>
              </a:rPr>
              <a:t> </a:t>
            </a:r>
            <a:r>
              <a:rPr sz="1200" b="1" dirty="0">
                <a:solidFill>
                  <a:srgbClr val="FF0000"/>
                </a:solidFill>
                <a:latin typeface="Times New Roman"/>
                <a:cs typeface="Times New Roman"/>
              </a:rPr>
              <a:t>Parameters</a:t>
            </a:r>
            <a:r>
              <a:rPr sz="1200" b="1" dirty="0">
                <a:solidFill>
                  <a:srgbClr val="539E39"/>
                </a:solidFill>
                <a:latin typeface="Times New Roman"/>
                <a:cs typeface="Times New Roman"/>
              </a:rPr>
              <a:t>,</a:t>
            </a:r>
            <a:r>
              <a:rPr sz="1200" b="1" spc="5" dirty="0">
                <a:solidFill>
                  <a:srgbClr val="539E39"/>
                </a:solidFill>
                <a:latin typeface="Times New Roman"/>
                <a:cs typeface="Times New Roman"/>
              </a:rPr>
              <a:t> </a:t>
            </a:r>
            <a:r>
              <a:rPr sz="1200" b="1" dirty="0">
                <a:solidFill>
                  <a:srgbClr val="539E39"/>
                </a:solidFill>
                <a:latin typeface="Times New Roman"/>
                <a:cs typeface="Times New Roman"/>
              </a:rPr>
              <a:t>and</a:t>
            </a:r>
            <a:r>
              <a:rPr sz="1200" b="1" spc="-45" dirty="0">
                <a:solidFill>
                  <a:srgbClr val="539E39"/>
                </a:solidFill>
                <a:latin typeface="Times New Roman"/>
                <a:cs typeface="Times New Roman"/>
              </a:rPr>
              <a:t> </a:t>
            </a:r>
            <a:r>
              <a:rPr sz="1200" b="1" spc="-10" dirty="0">
                <a:solidFill>
                  <a:srgbClr val="539E39"/>
                </a:solidFill>
                <a:latin typeface="Times New Roman"/>
                <a:cs typeface="Times New Roman"/>
              </a:rPr>
              <a:t>Processor</a:t>
            </a:r>
            <a:r>
              <a:rPr sz="1200" b="1" spc="-30" dirty="0">
                <a:solidFill>
                  <a:srgbClr val="539E39"/>
                </a:solidFill>
                <a:latin typeface="Times New Roman"/>
                <a:cs typeface="Times New Roman"/>
              </a:rPr>
              <a:t> </a:t>
            </a:r>
            <a:r>
              <a:rPr sz="1200" b="1" spc="-10" dirty="0">
                <a:solidFill>
                  <a:srgbClr val="539E39"/>
                </a:solidFill>
                <a:latin typeface="Times New Roman"/>
                <a:cs typeface="Times New Roman"/>
              </a:rPr>
              <a:t>Performance</a:t>
            </a:r>
            <a:endParaRPr sz="1200">
              <a:latin typeface="Times New Roman"/>
              <a:cs typeface="Times New Roman"/>
            </a:endParaRPr>
          </a:p>
          <a:p>
            <a:pPr marL="168275" indent="-168275">
              <a:lnSpc>
                <a:spcPct val="100000"/>
              </a:lnSpc>
              <a:spcBef>
                <a:spcPts val="700"/>
              </a:spcBef>
              <a:buClr>
                <a:srgbClr val="3E762B"/>
              </a:buClr>
              <a:buFont typeface="Wingdings"/>
              <a:buChar char=""/>
              <a:tabLst>
                <a:tab pos="168275" algn="l"/>
              </a:tabLst>
            </a:pPr>
            <a:r>
              <a:rPr sz="1200" b="1" dirty="0">
                <a:latin typeface="Times New Roman"/>
                <a:cs typeface="Times New Roman"/>
              </a:rPr>
              <a:t>Memory</a:t>
            </a:r>
            <a:r>
              <a:rPr sz="1200" b="1" spc="-55" dirty="0">
                <a:latin typeface="Times New Roman"/>
                <a:cs typeface="Times New Roman"/>
              </a:rPr>
              <a:t> </a:t>
            </a:r>
            <a:r>
              <a:rPr sz="1200" b="1" spc="-10" dirty="0">
                <a:latin typeface="Times New Roman"/>
                <a:cs typeface="Times New Roman"/>
              </a:rPr>
              <a:t>Hierarchy</a:t>
            </a:r>
            <a:endParaRPr sz="1200">
              <a:latin typeface="Times New Roman"/>
              <a:cs typeface="Times New Roman"/>
            </a:endParaRPr>
          </a:p>
          <a:p>
            <a:pPr marL="457200" lvl="1" indent="-109855">
              <a:lnSpc>
                <a:spcPct val="100000"/>
              </a:lnSpc>
              <a:spcBef>
                <a:spcPts val="105"/>
              </a:spcBef>
              <a:buClr>
                <a:srgbClr val="3E762B"/>
              </a:buClr>
              <a:buFont typeface="Arial MT"/>
              <a:buChar char="•"/>
              <a:tabLst>
                <a:tab pos="457200" algn="l"/>
              </a:tabLst>
            </a:pPr>
            <a:r>
              <a:rPr sz="1200" dirty="0">
                <a:latin typeface="Times New Roman"/>
                <a:cs typeface="Times New Roman"/>
              </a:rPr>
              <a:t>Main</a:t>
            </a:r>
            <a:r>
              <a:rPr sz="1200" spc="-35"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dirty="0">
                <a:latin typeface="Times New Roman"/>
                <a:cs typeface="Times New Roman"/>
              </a:rPr>
              <a:t>Cache</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a:p>
            <a:pPr marL="457200" lvl="1" indent="-109855">
              <a:lnSpc>
                <a:spcPct val="100000"/>
              </a:lnSpc>
              <a:spcBef>
                <a:spcPts val="300"/>
              </a:spcBef>
              <a:buClr>
                <a:srgbClr val="3E762B"/>
              </a:buClr>
              <a:buFont typeface="Arial MT"/>
              <a:buChar char="•"/>
              <a:tabLst>
                <a:tab pos="457200" algn="l"/>
              </a:tabLst>
            </a:pPr>
            <a:r>
              <a:rPr sz="1200" spc="-10" dirty="0">
                <a:latin typeface="Times New Roman"/>
                <a:cs typeface="Times New Roman"/>
              </a:rPr>
              <a:t>Virtual</a:t>
            </a:r>
            <a:r>
              <a:rPr sz="1200" spc="-40" dirty="0">
                <a:latin typeface="Times New Roman"/>
                <a:cs typeface="Times New Roman"/>
              </a:rPr>
              <a:t> </a:t>
            </a:r>
            <a:r>
              <a:rPr sz="1200" spc="-10" dirty="0">
                <a:latin typeface="Times New Roman"/>
                <a:cs typeface="Times New Roman"/>
              </a:rPr>
              <a:t>Memory</a:t>
            </a:r>
            <a:endParaRPr sz="1200">
              <a:latin typeface="Times New Roman"/>
              <a:cs typeface="Times New Roman"/>
            </a:endParaRPr>
          </a:p>
        </p:txBody>
      </p:sp>
      <p:sp>
        <p:nvSpPr>
          <p:cNvPr id="11" name="object 11"/>
          <p:cNvSpPr txBox="1"/>
          <p:nvPr/>
        </p:nvSpPr>
        <p:spPr>
          <a:xfrm>
            <a:off x="6168516" y="7986166"/>
            <a:ext cx="52069" cy="116839"/>
          </a:xfrm>
          <a:prstGeom prst="rect">
            <a:avLst/>
          </a:prstGeom>
        </p:spPr>
        <p:txBody>
          <a:bodyPr vert="horz" wrap="square" lIns="0" tIns="12700" rIns="0" bIns="0" rtlCol="0">
            <a:spAutoFit/>
          </a:bodyPr>
          <a:lstStyle/>
          <a:p>
            <a:pPr>
              <a:lnSpc>
                <a:spcPct val="100000"/>
              </a:lnSpc>
              <a:spcBef>
                <a:spcPts val="100"/>
              </a:spcBef>
            </a:pPr>
            <a:r>
              <a:rPr sz="600" spc="-50" dirty="0">
                <a:solidFill>
                  <a:srgbClr val="539E39"/>
                </a:solidFill>
                <a:latin typeface="Corbel"/>
                <a:cs typeface="Corbel"/>
              </a:rPr>
              <a:t>2</a:t>
            </a:r>
            <a:endParaRPr sz="600">
              <a:latin typeface="Corbel"/>
              <a:cs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Pipelining</a:t>
            </a:r>
            <a:endParaRPr sz="2200">
              <a:latin typeface="Georgia"/>
              <a:cs typeface="Georgia"/>
            </a:endParaRPr>
          </a:p>
          <a:p>
            <a:pPr marL="431800" indent="-169545">
              <a:lnSpc>
                <a:spcPct val="100000"/>
              </a:lnSpc>
              <a:spcBef>
                <a:spcPts val="1240"/>
              </a:spcBef>
              <a:buFont typeface="Wingdings"/>
              <a:buChar char=""/>
              <a:tabLst>
                <a:tab pos="431800" algn="l"/>
              </a:tabLst>
            </a:pPr>
            <a:r>
              <a:rPr sz="1300" b="1" dirty="0">
                <a:solidFill>
                  <a:srgbClr val="3E762B"/>
                </a:solidFill>
                <a:latin typeface="Times New Roman"/>
                <a:cs typeface="Times New Roman"/>
              </a:rPr>
              <a:t>Part:</a:t>
            </a:r>
            <a:r>
              <a:rPr sz="1300" b="1" spc="-20" dirty="0">
                <a:solidFill>
                  <a:srgbClr val="3E762B"/>
                </a:solidFill>
                <a:latin typeface="Times New Roman"/>
                <a:cs typeface="Times New Roman"/>
              </a:rPr>
              <a:t> </a:t>
            </a:r>
            <a:r>
              <a:rPr sz="1300" b="1" dirty="0">
                <a:solidFill>
                  <a:srgbClr val="3E762B"/>
                </a:solidFill>
                <a:latin typeface="Times New Roman"/>
                <a:cs typeface="Times New Roman"/>
              </a:rPr>
              <a:t>1</a:t>
            </a:r>
            <a:r>
              <a:rPr sz="1300" b="1" spc="-25" dirty="0">
                <a:solidFill>
                  <a:srgbClr val="3E762B"/>
                </a:solidFill>
                <a:latin typeface="Times New Roman"/>
                <a:cs typeface="Times New Roman"/>
              </a:rPr>
              <a:t> </a:t>
            </a:r>
            <a:r>
              <a:rPr sz="1300" b="1" spc="-10" dirty="0">
                <a:solidFill>
                  <a:srgbClr val="3E762B"/>
                </a:solidFill>
                <a:latin typeface="Times New Roman"/>
                <a:cs typeface="Times New Roman"/>
              </a:rPr>
              <a:t>Basics</a:t>
            </a:r>
            <a:endParaRPr sz="1300">
              <a:latin typeface="Times New Roman"/>
              <a:cs typeface="Times New Roman"/>
            </a:endParaRPr>
          </a:p>
          <a:p>
            <a:pPr marL="607695" lvl="1" indent="-116839">
              <a:lnSpc>
                <a:spcPct val="100000"/>
              </a:lnSpc>
              <a:spcBef>
                <a:spcPts val="605"/>
              </a:spcBef>
              <a:buClr>
                <a:srgbClr val="3E762B"/>
              </a:buClr>
              <a:buFont typeface="Wingdings"/>
              <a:buChar char=""/>
              <a:tabLst>
                <a:tab pos="607695" algn="l"/>
              </a:tabLst>
            </a:pPr>
            <a:r>
              <a:rPr sz="1200" dirty="0">
                <a:latin typeface="Times New Roman"/>
                <a:cs typeface="Times New Roman"/>
              </a:rPr>
              <a:t>What</a:t>
            </a:r>
            <a:r>
              <a:rPr sz="1200" spc="-25" dirty="0">
                <a:latin typeface="Times New Roman"/>
                <a:cs typeface="Times New Roman"/>
              </a:rPr>
              <a:t> </a:t>
            </a:r>
            <a:r>
              <a:rPr sz="1200" dirty="0">
                <a:latin typeface="Times New Roman"/>
                <a:cs typeface="Times New Roman"/>
              </a:rPr>
              <a:t>is</a:t>
            </a:r>
            <a:r>
              <a:rPr sz="1200" spc="-15" dirty="0">
                <a:latin typeface="Times New Roman"/>
                <a:cs typeface="Times New Roman"/>
              </a:rPr>
              <a:t> </a:t>
            </a:r>
            <a:r>
              <a:rPr sz="1200" spc="-10" dirty="0">
                <a:latin typeface="Times New Roman"/>
                <a:cs typeface="Times New Roman"/>
              </a:rPr>
              <a:t>pipelining</a:t>
            </a:r>
            <a:endParaRPr sz="1200">
              <a:latin typeface="Times New Roman"/>
              <a:cs typeface="Times New Roman"/>
            </a:endParaRPr>
          </a:p>
          <a:p>
            <a:pPr marL="607695" lvl="1" indent="-116839">
              <a:lnSpc>
                <a:spcPct val="100000"/>
              </a:lnSpc>
              <a:spcBef>
                <a:spcPts val="600"/>
              </a:spcBef>
              <a:buClr>
                <a:srgbClr val="3E762B"/>
              </a:buClr>
              <a:buFont typeface="Wingdings"/>
              <a:buChar char=""/>
              <a:tabLst>
                <a:tab pos="607695" algn="l"/>
              </a:tabLst>
            </a:pPr>
            <a:r>
              <a:rPr sz="1200" dirty="0">
                <a:latin typeface="Times New Roman"/>
                <a:cs typeface="Times New Roman"/>
              </a:rPr>
              <a:t>RISC</a:t>
            </a:r>
            <a:r>
              <a:rPr sz="1200" spc="-1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its</a:t>
            </a:r>
            <a:r>
              <a:rPr sz="1200" spc="-35" dirty="0">
                <a:latin typeface="Times New Roman"/>
                <a:cs typeface="Times New Roman"/>
              </a:rPr>
              <a:t> </a:t>
            </a:r>
            <a:r>
              <a:rPr sz="1200" spc="-10" dirty="0">
                <a:latin typeface="Times New Roman"/>
                <a:cs typeface="Times New Roman"/>
              </a:rPr>
              <a:t>five-</a:t>
            </a:r>
            <a:r>
              <a:rPr sz="1200" dirty="0">
                <a:latin typeface="Times New Roman"/>
                <a:cs typeface="Times New Roman"/>
              </a:rPr>
              <a:t>stage</a:t>
            </a:r>
            <a:r>
              <a:rPr sz="1200" spc="-5" dirty="0">
                <a:latin typeface="Times New Roman"/>
                <a:cs typeface="Times New Roman"/>
              </a:rPr>
              <a:t> </a:t>
            </a:r>
            <a:r>
              <a:rPr sz="1200" spc="-10" dirty="0">
                <a:latin typeface="Times New Roman"/>
                <a:cs typeface="Times New Roman"/>
              </a:rPr>
              <a:t>pipeline</a:t>
            </a:r>
            <a:endParaRPr sz="1200">
              <a:latin typeface="Times New Roman"/>
              <a:cs typeface="Times New Roman"/>
            </a:endParaRPr>
          </a:p>
          <a:p>
            <a:pPr lvl="1">
              <a:lnSpc>
                <a:spcPct val="100000"/>
              </a:lnSpc>
              <a:spcBef>
                <a:spcPts val="145"/>
              </a:spcBef>
              <a:buClr>
                <a:srgbClr val="3E762B"/>
              </a:buClr>
              <a:buFont typeface="Wingdings"/>
              <a:buChar char=""/>
            </a:pPr>
            <a:endParaRPr sz="1200">
              <a:latin typeface="Times New Roman"/>
              <a:cs typeface="Times New Roman"/>
            </a:endParaRPr>
          </a:p>
          <a:p>
            <a:pPr marL="432434" indent="-171450">
              <a:lnSpc>
                <a:spcPct val="100000"/>
              </a:lnSpc>
              <a:spcBef>
                <a:spcPts val="5"/>
              </a:spcBef>
              <a:buFont typeface="Wingdings"/>
              <a:buChar char=""/>
              <a:tabLst>
                <a:tab pos="432434" algn="l"/>
              </a:tabLst>
            </a:pPr>
            <a:r>
              <a:rPr sz="1400" b="1" dirty="0">
                <a:solidFill>
                  <a:srgbClr val="3E762B"/>
                </a:solidFill>
                <a:latin typeface="Times New Roman"/>
                <a:cs typeface="Times New Roman"/>
              </a:rPr>
              <a:t>Part</a:t>
            </a:r>
            <a:r>
              <a:rPr sz="1400" b="1" spc="-25" dirty="0">
                <a:solidFill>
                  <a:srgbClr val="3E762B"/>
                </a:solidFill>
                <a:latin typeface="Times New Roman"/>
                <a:cs typeface="Times New Roman"/>
              </a:rPr>
              <a:t> </a:t>
            </a:r>
            <a:r>
              <a:rPr sz="1400" b="1" dirty="0">
                <a:solidFill>
                  <a:srgbClr val="3E762B"/>
                </a:solidFill>
                <a:latin typeface="Times New Roman"/>
                <a:cs typeface="Times New Roman"/>
              </a:rPr>
              <a:t>2:</a:t>
            </a:r>
            <a:r>
              <a:rPr sz="1400" b="1" spc="-10" dirty="0">
                <a:solidFill>
                  <a:srgbClr val="3E762B"/>
                </a:solidFill>
                <a:latin typeface="Times New Roman"/>
                <a:cs typeface="Times New Roman"/>
              </a:rPr>
              <a:t> </a:t>
            </a:r>
            <a:r>
              <a:rPr sz="1400" b="1" dirty="0">
                <a:solidFill>
                  <a:srgbClr val="3E762B"/>
                </a:solidFill>
                <a:latin typeface="Times New Roman"/>
                <a:cs typeface="Times New Roman"/>
              </a:rPr>
              <a:t>Challenges:</a:t>
            </a:r>
            <a:r>
              <a:rPr sz="1400" b="1" spc="-40" dirty="0">
                <a:solidFill>
                  <a:srgbClr val="3E762B"/>
                </a:solidFill>
                <a:latin typeface="Times New Roman"/>
                <a:cs typeface="Times New Roman"/>
              </a:rPr>
              <a:t> </a:t>
            </a:r>
            <a:r>
              <a:rPr sz="1400" b="1" dirty="0">
                <a:solidFill>
                  <a:srgbClr val="3E762B"/>
                </a:solidFill>
                <a:latin typeface="Times New Roman"/>
                <a:cs typeface="Times New Roman"/>
              </a:rPr>
              <a:t>Pipeline</a:t>
            </a:r>
            <a:r>
              <a:rPr sz="1400" b="1" spc="-50" dirty="0">
                <a:solidFill>
                  <a:srgbClr val="3E762B"/>
                </a:solidFill>
                <a:latin typeface="Times New Roman"/>
                <a:cs typeface="Times New Roman"/>
              </a:rPr>
              <a:t> </a:t>
            </a:r>
            <a:r>
              <a:rPr sz="1400" b="1" spc="-10" dirty="0">
                <a:solidFill>
                  <a:srgbClr val="3E762B"/>
                </a:solidFill>
                <a:latin typeface="Times New Roman"/>
                <a:cs typeface="Times New Roman"/>
              </a:rPr>
              <a:t>Hazards</a:t>
            </a:r>
            <a:endParaRPr sz="1400">
              <a:latin typeface="Times New Roman"/>
              <a:cs typeface="Times New Roman"/>
            </a:endParaRPr>
          </a:p>
          <a:p>
            <a:pPr marL="607695" lvl="1" indent="-116839">
              <a:lnSpc>
                <a:spcPct val="100000"/>
              </a:lnSpc>
              <a:spcBef>
                <a:spcPts val="740"/>
              </a:spcBef>
              <a:buClr>
                <a:srgbClr val="3E762B"/>
              </a:buClr>
              <a:buFont typeface="Wingdings"/>
              <a:buChar char=""/>
              <a:tabLst>
                <a:tab pos="607695" algn="l"/>
              </a:tabLst>
            </a:pPr>
            <a:r>
              <a:rPr sz="1200" dirty="0">
                <a:latin typeface="Times New Roman"/>
                <a:cs typeface="Times New Roman"/>
              </a:rPr>
              <a:t>Structural</a:t>
            </a:r>
            <a:r>
              <a:rPr sz="1200" spc="-65"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marL="607695" lvl="1" indent="-116839">
              <a:lnSpc>
                <a:spcPct val="100000"/>
              </a:lnSpc>
              <a:spcBef>
                <a:spcPts val="600"/>
              </a:spcBef>
              <a:buClr>
                <a:srgbClr val="3E762B"/>
              </a:buClr>
              <a:buFont typeface="Wingdings"/>
              <a:buChar char=""/>
              <a:tabLst>
                <a:tab pos="607695" algn="l"/>
              </a:tabLst>
            </a:pPr>
            <a:r>
              <a:rPr sz="1200" dirty="0">
                <a:latin typeface="Times New Roman"/>
                <a:cs typeface="Times New Roman"/>
              </a:rPr>
              <a:t>Data</a:t>
            </a:r>
            <a:r>
              <a:rPr sz="1200" spc="-40"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marL="607695" lvl="1" indent="-116839">
              <a:lnSpc>
                <a:spcPct val="100000"/>
              </a:lnSpc>
              <a:spcBef>
                <a:spcPts val="600"/>
              </a:spcBef>
              <a:buClr>
                <a:srgbClr val="3E762B"/>
              </a:buClr>
              <a:buFont typeface="Wingdings"/>
              <a:buChar char=""/>
              <a:tabLst>
                <a:tab pos="607695" algn="l"/>
              </a:tabLst>
            </a:pPr>
            <a:r>
              <a:rPr sz="1200" dirty="0">
                <a:latin typeface="Times New Roman"/>
                <a:cs typeface="Times New Roman"/>
              </a:rPr>
              <a:t>Control</a:t>
            </a:r>
            <a:r>
              <a:rPr sz="1200" spc="-45" dirty="0">
                <a:latin typeface="Times New Roman"/>
                <a:cs typeface="Times New Roman"/>
              </a:rPr>
              <a:t> </a:t>
            </a:r>
            <a:r>
              <a:rPr sz="1200" spc="-10" dirty="0">
                <a:latin typeface="Times New Roman"/>
                <a:cs typeface="Times New Roman"/>
              </a:rPr>
              <a:t>hazard</a:t>
            </a:r>
            <a:endParaRPr sz="1200">
              <a:latin typeface="Times New Roman"/>
              <a:cs typeface="Times New Roman"/>
            </a:endParaRPr>
          </a:p>
          <a:p>
            <a:pPr lvl="1">
              <a:lnSpc>
                <a:spcPct val="100000"/>
              </a:lnSpc>
              <a:spcBef>
                <a:spcPts val="260"/>
              </a:spcBef>
              <a:buClr>
                <a:srgbClr val="3E762B"/>
              </a:buClr>
              <a:buFont typeface="Wingdings"/>
              <a:buChar char=""/>
            </a:pPr>
            <a:endParaRPr sz="1200">
              <a:latin typeface="Times New Roman"/>
              <a:cs typeface="Times New Roman"/>
            </a:endParaRPr>
          </a:p>
          <a:p>
            <a:pPr marL="431800" indent="-169545">
              <a:lnSpc>
                <a:spcPct val="100000"/>
              </a:lnSpc>
              <a:buFont typeface="Wingdings"/>
              <a:buChar char=""/>
              <a:tabLst>
                <a:tab pos="431800" algn="l"/>
              </a:tabLst>
            </a:pPr>
            <a:r>
              <a:rPr sz="1300" b="1" dirty="0">
                <a:solidFill>
                  <a:srgbClr val="3E762B"/>
                </a:solidFill>
                <a:latin typeface="Times New Roman"/>
                <a:cs typeface="Times New Roman"/>
              </a:rPr>
              <a:t>Part</a:t>
            </a:r>
            <a:r>
              <a:rPr sz="1300" b="1" spc="-20" dirty="0">
                <a:solidFill>
                  <a:srgbClr val="3E762B"/>
                </a:solidFill>
                <a:latin typeface="Times New Roman"/>
                <a:cs typeface="Times New Roman"/>
              </a:rPr>
              <a:t> </a:t>
            </a:r>
            <a:r>
              <a:rPr sz="1300" b="1" dirty="0">
                <a:solidFill>
                  <a:srgbClr val="3E762B"/>
                </a:solidFill>
                <a:latin typeface="Times New Roman"/>
                <a:cs typeface="Times New Roman"/>
              </a:rPr>
              <a:t>3:</a:t>
            </a:r>
            <a:r>
              <a:rPr sz="1300" b="1" spc="-45" dirty="0">
                <a:solidFill>
                  <a:srgbClr val="3E762B"/>
                </a:solidFill>
                <a:latin typeface="Times New Roman"/>
                <a:cs typeface="Times New Roman"/>
              </a:rPr>
              <a:t> </a:t>
            </a:r>
            <a:r>
              <a:rPr sz="1300" b="1" spc="-10" dirty="0">
                <a:solidFill>
                  <a:srgbClr val="3E762B"/>
                </a:solidFill>
                <a:latin typeface="Times New Roman"/>
                <a:cs typeface="Times New Roman"/>
              </a:rPr>
              <a:t>Timing</a:t>
            </a:r>
            <a:r>
              <a:rPr sz="1300" b="1" spc="-55" dirty="0">
                <a:solidFill>
                  <a:srgbClr val="3E762B"/>
                </a:solidFill>
                <a:latin typeface="Times New Roman"/>
                <a:cs typeface="Times New Roman"/>
              </a:rPr>
              <a:t> </a:t>
            </a:r>
            <a:r>
              <a:rPr sz="1300" b="1" dirty="0">
                <a:solidFill>
                  <a:srgbClr val="3E762B"/>
                </a:solidFill>
                <a:latin typeface="Times New Roman"/>
                <a:cs typeface="Times New Roman"/>
              </a:rPr>
              <a:t>Analysis</a:t>
            </a:r>
            <a:r>
              <a:rPr sz="1300" b="1" spc="-15" dirty="0">
                <a:solidFill>
                  <a:srgbClr val="3E762B"/>
                </a:solidFill>
                <a:latin typeface="Times New Roman"/>
                <a:cs typeface="Times New Roman"/>
              </a:rPr>
              <a:t> </a:t>
            </a:r>
            <a:r>
              <a:rPr sz="1300" b="1" dirty="0">
                <a:solidFill>
                  <a:srgbClr val="3E762B"/>
                </a:solidFill>
                <a:latin typeface="Times New Roman"/>
                <a:cs typeface="Times New Roman"/>
              </a:rPr>
              <a:t>/</a:t>
            </a:r>
            <a:r>
              <a:rPr sz="1300" b="1" spc="-25" dirty="0">
                <a:solidFill>
                  <a:srgbClr val="3E762B"/>
                </a:solidFill>
                <a:latin typeface="Times New Roman"/>
                <a:cs typeface="Times New Roman"/>
              </a:rPr>
              <a:t> </a:t>
            </a:r>
            <a:r>
              <a:rPr sz="1300" b="1" dirty="0">
                <a:solidFill>
                  <a:srgbClr val="3E762B"/>
                </a:solidFill>
                <a:latin typeface="Times New Roman"/>
                <a:cs typeface="Times New Roman"/>
              </a:rPr>
              <a:t>Clock</a:t>
            </a:r>
            <a:r>
              <a:rPr sz="1300" b="1" spc="-15" dirty="0">
                <a:solidFill>
                  <a:srgbClr val="3E762B"/>
                </a:solidFill>
                <a:latin typeface="Times New Roman"/>
                <a:cs typeface="Times New Roman"/>
              </a:rPr>
              <a:t> </a:t>
            </a:r>
            <a:r>
              <a:rPr sz="1300" b="1" spc="-10" dirty="0">
                <a:solidFill>
                  <a:srgbClr val="3E762B"/>
                </a:solidFill>
                <a:latin typeface="Times New Roman"/>
                <a:cs typeface="Times New Roman"/>
              </a:rPr>
              <a:t>Parameters</a:t>
            </a:r>
            <a:endParaRPr sz="13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1370838" y="6712458"/>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6" name="object 6"/>
          <p:cNvSpPr txBox="1"/>
          <p:nvPr/>
        </p:nvSpPr>
        <p:spPr>
          <a:xfrm>
            <a:off x="496823" y="4966715"/>
            <a:ext cx="5862955" cy="3188335"/>
          </a:xfrm>
          <a:prstGeom prst="rect">
            <a:avLst/>
          </a:prstGeom>
          <a:ln w="6096">
            <a:solidFill>
              <a:srgbClr val="FFFFFF"/>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1135"/>
              </a:spcBef>
            </a:pPr>
            <a:endParaRPr sz="3600">
              <a:latin typeface="Times New Roman"/>
              <a:cs typeface="Times New Roman"/>
            </a:endParaRPr>
          </a:p>
          <a:p>
            <a:pPr marL="635" algn="ctr">
              <a:lnSpc>
                <a:spcPct val="100000"/>
              </a:lnSpc>
            </a:pPr>
            <a:r>
              <a:rPr sz="3600" b="1" dirty="0">
                <a:solidFill>
                  <a:srgbClr val="FFFFFF"/>
                </a:solidFill>
                <a:latin typeface="Times New Roman"/>
                <a:cs typeface="Times New Roman"/>
              </a:rPr>
              <a:t>Pipeline</a:t>
            </a:r>
            <a:r>
              <a:rPr sz="3600" b="1" spc="120" dirty="0">
                <a:solidFill>
                  <a:srgbClr val="FFFFFF"/>
                </a:solidFill>
                <a:latin typeface="Times New Roman"/>
                <a:cs typeface="Times New Roman"/>
              </a:rPr>
              <a:t> </a:t>
            </a:r>
            <a:r>
              <a:rPr sz="3600" b="1" spc="-10" dirty="0">
                <a:solidFill>
                  <a:srgbClr val="FFFFFF"/>
                </a:solidFill>
                <a:latin typeface="Times New Roman"/>
                <a:cs typeface="Times New Roman"/>
              </a:rPr>
              <a:t>Hazards</a:t>
            </a:r>
            <a:endParaRPr sz="36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pic>
          <p:nvPicPr>
            <p:cNvPr id="5" name="object 5"/>
            <p:cNvPicPr/>
            <p:nvPr/>
          </p:nvPicPr>
          <p:blipFill>
            <a:blip r:embed="rId3" cstate="print"/>
            <a:stretch>
              <a:fillRect/>
            </a:stretch>
          </p:blipFill>
          <p:spPr>
            <a:xfrm>
              <a:off x="1028700" y="1098804"/>
              <a:ext cx="4800600" cy="3076956"/>
            </a:xfrm>
            <a:prstGeom prst="rect">
              <a:avLst/>
            </a:prstGeom>
          </p:spPr>
        </p:pic>
      </p:grpSp>
      <p:sp>
        <p:nvSpPr>
          <p:cNvPr id="6" name="object 6"/>
          <p:cNvSpPr txBox="1"/>
          <p:nvPr/>
        </p:nvSpPr>
        <p:spPr>
          <a:xfrm>
            <a:off x="496823" y="990600"/>
            <a:ext cx="5862955" cy="3188335"/>
          </a:xfrm>
          <a:prstGeom prst="rect">
            <a:avLst/>
          </a:prstGeom>
        </p:spPr>
        <p:txBody>
          <a:bodyPr vert="horz" wrap="square" lIns="0" tIns="0" rIns="0" bIns="0" rtlCol="0">
            <a:spAutoFit/>
          </a:bodyPr>
          <a:lstStyle/>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pPr>
            <a:endParaRPr sz="2200">
              <a:latin typeface="Times New Roman"/>
              <a:cs typeface="Times New Roman"/>
            </a:endParaRPr>
          </a:p>
          <a:p>
            <a:pPr>
              <a:lnSpc>
                <a:spcPct val="100000"/>
              </a:lnSpc>
              <a:spcBef>
                <a:spcPts val="1235"/>
              </a:spcBef>
            </a:pPr>
            <a:endParaRPr sz="2200">
              <a:latin typeface="Times New Roman"/>
              <a:cs typeface="Times New Roman"/>
            </a:endParaRPr>
          </a:p>
          <a:p>
            <a:pPr marL="312420">
              <a:lnSpc>
                <a:spcPct val="100000"/>
              </a:lnSpc>
            </a:pPr>
            <a:r>
              <a:rPr sz="2200" dirty="0">
                <a:solidFill>
                  <a:srgbClr val="3E762B"/>
                </a:solidFill>
                <a:latin typeface="Georgia"/>
                <a:cs typeface="Georgia"/>
              </a:rPr>
              <a:t>RISC</a:t>
            </a:r>
            <a:r>
              <a:rPr sz="2200" spc="-60" dirty="0">
                <a:solidFill>
                  <a:srgbClr val="3E762B"/>
                </a:solidFill>
                <a:latin typeface="Georgia"/>
                <a:cs typeface="Georgia"/>
              </a:rPr>
              <a:t> </a:t>
            </a:r>
            <a:r>
              <a:rPr sz="2200" spc="-10" dirty="0">
                <a:solidFill>
                  <a:srgbClr val="3E762B"/>
                </a:solidFill>
                <a:latin typeface="Georgia"/>
                <a:cs typeface="Georgia"/>
              </a:rPr>
              <a:t>Pipelining</a:t>
            </a:r>
            <a:endParaRPr sz="2200">
              <a:latin typeface="Georgia"/>
              <a:cs typeface="Georgia"/>
            </a:endParaRPr>
          </a:p>
        </p:txBody>
      </p:sp>
      <p:grpSp>
        <p:nvGrpSpPr>
          <p:cNvPr id="7" name="object 7"/>
          <p:cNvGrpSpPr/>
          <p:nvPr/>
        </p:nvGrpSpPr>
        <p:grpSpPr>
          <a:xfrm>
            <a:off x="381000" y="4844796"/>
            <a:ext cx="6096000" cy="3429000"/>
            <a:chOff x="381000" y="4844796"/>
            <a:chExt cx="6096000" cy="3429000"/>
          </a:xfrm>
        </p:grpSpPr>
        <p:sp>
          <p:nvSpPr>
            <p:cNvPr id="8" name="object 8"/>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9" name="object 9"/>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0" name="object 10"/>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1" name="object 11"/>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Pipeline</a:t>
            </a:r>
            <a:r>
              <a:rPr sz="2200" spc="-105" dirty="0">
                <a:latin typeface="Georgia"/>
                <a:cs typeface="Georgia"/>
              </a:rPr>
              <a:t> </a:t>
            </a:r>
            <a:r>
              <a:rPr sz="2200" spc="-10" dirty="0">
                <a:latin typeface="Georgia"/>
                <a:cs typeface="Georgia"/>
              </a:rPr>
              <a:t>Hazards</a:t>
            </a:r>
            <a:endParaRPr sz="2200" dirty="0">
              <a:latin typeface="Georgia"/>
              <a:cs typeface="Georgia"/>
            </a:endParaRPr>
          </a:p>
          <a:p>
            <a:pPr marL="463550" marR="354965" indent="-201295">
              <a:lnSpc>
                <a:spcPct val="100000"/>
              </a:lnSpc>
              <a:spcBef>
                <a:spcPts val="1510"/>
              </a:spcBef>
              <a:buClr>
                <a:srgbClr val="3E762B"/>
              </a:buClr>
              <a:buFont typeface="Wingdings"/>
              <a:buChar char=""/>
              <a:tabLst>
                <a:tab pos="463550" algn="l"/>
              </a:tabLst>
            </a:pPr>
            <a:r>
              <a:rPr sz="1400" b="1" dirty="0">
                <a:latin typeface="Times New Roman"/>
                <a:cs typeface="Times New Roman"/>
              </a:rPr>
              <a:t>Hazards:</a:t>
            </a:r>
            <a:r>
              <a:rPr sz="1400" b="1" spc="-50" dirty="0">
                <a:latin typeface="Times New Roman"/>
                <a:cs typeface="Times New Roman"/>
              </a:rPr>
              <a:t> </a:t>
            </a:r>
            <a:r>
              <a:rPr sz="1400" dirty="0">
                <a:latin typeface="Times New Roman"/>
                <a:cs typeface="Times New Roman"/>
              </a:rPr>
              <a:t>situations</a:t>
            </a:r>
            <a:r>
              <a:rPr sz="1400" spc="-15" dirty="0">
                <a:latin typeface="Times New Roman"/>
                <a:cs typeface="Times New Roman"/>
              </a:rPr>
              <a:t> </a:t>
            </a:r>
            <a:r>
              <a:rPr sz="1400" dirty="0">
                <a:latin typeface="Times New Roman"/>
                <a:cs typeface="Times New Roman"/>
              </a:rPr>
              <a:t>that</a:t>
            </a:r>
            <a:r>
              <a:rPr sz="1400" spc="-60" dirty="0">
                <a:latin typeface="Times New Roman"/>
                <a:cs typeface="Times New Roman"/>
              </a:rPr>
              <a:t> </a:t>
            </a:r>
            <a:r>
              <a:rPr sz="1400" dirty="0">
                <a:latin typeface="Times New Roman"/>
                <a:cs typeface="Times New Roman"/>
              </a:rPr>
              <a:t>prevent</a:t>
            </a:r>
            <a:r>
              <a:rPr sz="1400" spc="-45" dirty="0">
                <a:latin typeface="Times New Roman"/>
                <a:cs typeface="Times New Roman"/>
              </a:rPr>
              <a:t> </a:t>
            </a:r>
            <a:r>
              <a:rPr sz="1400" dirty="0">
                <a:latin typeface="Times New Roman"/>
                <a:cs typeface="Times New Roman"/>
              </a:rPr>
              <a:t>the</a:t>
            </a:r>
            <a:r>
              <a:rPr sz="1400" spc="-40" dirty="0">
                <a:latin typeface="Times New Roman"/>
                <a:cs typeface="Times New Roman"/>
              </a:rPr>
              <a:t> </a:t>
            </a:r>
            <a:r>
              <a:rPr sz="1400" dirty="0">
                <a:latin typeface="Times New Roman"/>
                <a:cs typeface="Times New Roman"/>
              </a:rPr>
              <a:t>next</a:t>
            </a:r>
            <a:r>
              <a:rPr sz="1400" spc="-35" dirty="0">
                <a:latin typeface="Times New Roman"/>
                <a:cs typeface="Times New Roman"/>
              </a:rPr>
              <a:t> </a:t>
            </a:r>
            <a:r>
              <a:rPr sz="1400" dirty="0">
                <a:latin typeface="Times New Roman"/>
                <a:cs typeface="Times New Roman"/>
              </a:rPr>
              <a:t>instruction</a:t>
            </a:r>
            <a:r>
              <a:rPr sz="1400" spc="-15" dirty="0">
                <a:latin typeface="Times New Roman"/>
                <a:cs typeface="Times New Roman"/>
              </a:rPr>
              <a:t> </a:t>
            </a:r>
            <a:r>
              <a:rPr sz="1400" dirty="0">
                <a:latin typeface="Times New Roman"/>
                <a:cs typeface="Times New Roman"/>
              </a:rPr>
              <a:t>from</a:t>
            </a:r>
            <a:r>
              <a:rPr sz="1400" spc="-50" dirty="0">
                <a:latin typeface="Times New Roman"/>
                <a:cs typeface="Times New Roman"/>
              </a:rPr>
              <a:t> </a:t>
            </a:r>
            <a:r>
              <a:rPr sz="1400" dirty="0">
                <a:latin typeface="Times New Roman"/>
                <a:cs typeface="Times New Roman"/>
              </a:rPr>
              <a:t>executing</a:t>
            </a:r>
            <a:r>
              <a:rPr sz="1400" spc="-15" dirty="0">
                <a:latin typeface="Times New Roman"/>
                <a:cs typeface="Times New Roman"/>
              </a:rPr>
              <a:t> </a:t>
            </a:r>
            <a:r>
              <a:rPr sz="1400" spc="-25" dirty="0">
                <a:latin typeface="Times New Roman"/>
                <a:cs typeface="Times New Roman"/>
              </a:rPr>
              <a:t>in </a:t>
            </a:r>
            <a:r>
              <a:rPr sz="1400" dirty="0">
                <a:latin typeface="Times New Roman"/>
                <a:cs typeface="Times New Roman"/>
              </a:rPr>
              <a:t>the</a:t>
            </a:r>
            <a:r>
              <a:rPr sz="1400" spc="-45" dirty="0">
                <a:latin typeface="Times New Roman"/>
                <a:cs typeface="Times New Roman"/>
              </a:rPr>
              <a:t> </a:t>
            </a:r>
            <a:r>
              <a:rPr sz="1400" dirty="0">
                <a:latin typeface="Times New Roman"/>
                <a:cs typeface="Times New Roman"/>
              </a:rPr>
              <a:t>designated</a:t>
            </a:r>
            <a:r>
              <a:rPr sz="1400" spc="-60" dirty="0">
                <a:latin typeface="Times New Roman"/>
                <a:cs typeface="Times New Roman"/>
              </a:rPr>
              <a:t> </a:t>
            </a:r>
            <a:r>
              <a:rPr sz="1400" dirty="0">
                <a:latin typeface="Times New Roman"/>
                <a:cs typeface="Times New Roman"/>
              </a:rPr>
              <a:t>clock</a:t>
            </a:r>
            <a:r>
              <a:rPr sz="1400" spc="-40" dirty="0">
                <a:latin typeface="Times New Roman"/>
                <a:cs typeface="Times New Roman"/>
              </a:rPr>
              <a:t> </a:t>
            </a:r>
            <a:r>
              <a:rPr sz="1400" spc="-10" dirty="0">
                <a:latin typeface="Times New Roman"/>
                <a:cs typeface="Times New Roman"/>
              </a:rPr>
              <a:t>cycle.</a:t>
            </a:r>
            <a:endParaRPr sz="1400" dirty="0">
              <a:latin typeface="Times New Roman"/>
              <a:cs typeface="Times New Roman"/>
            </a:endParaRPr>
          </a:p>
          <a:p>
            <a:pPr>
              <a:lnSpc>
                <a:spcPct val="100000"/>
              </a:lnSpc>
              <a:spcBef>
                <a:spcPts val="780"/>
              </a:spcBef>
              <a:buFont typeface="Wingdings"/>
              <a:buChar char=""/>
            </a:pPr>
            <a:endParaRPr sz="1400" dirty="0">
              <a:latin typeface="Times New Roman"/>
              <a:cs typeface="Times New Roman"/>
            </a:endParaRPr>
          </a:p>
          <a:p>
            <a:pPr marL="490220" indent="-227965">
              <a:lnSpc>
                <a:spcPct val="100000"/>
              </a:lnSpc>
              <a:buFont typeface="Wingdings"/>
              <a:buChar char=""/>
              <a:tabLst>
                <a:tab pos="490220" algn="l"/>
              </a:tabLst>
            </a:pPr>
            <a:r>
              <a:rPr sz="1600" b="1" u="sng" dirty="0">
                <a:solidFill>
                  <a:srgbClr val="3E762B"/>
                </a:solidFill>
                <a:uFill>
                  <a:solidFill>
                    <a:srgbClr val="3E762B"/>
                  </a:solidFill>
                </a:uFill>
                <a:latin typeface="Times New Roman"/>
                <a:cs typeface="Times New Roman"/>
              </a:rPr>
              <a:t>3</a:t>
            </a:r>
            <a:r>
              <a:rPr sz="1600" b="1" u="sng" spc="-25" dirty="0">
                <a:solidFill>
                  <a:srgbClr val="3E762B"/>
                </a:solidFill>
                <a:uFill>
                  <a:solidFill>
                    <a:srgbClr val="3E762B"/>
                  </a:solidFill>
                </a:uFill>
                <a:latin typeface="Times New Roman"/>
                <a:cs typeface="Times New Roman"/>
              </a:rPr>
              <a:t> </a:t>
            </a:r>
            <a:r>
              <a:rPr sz="1600" b="1" u="sng" dirty="0">
                <a:solidFill>
                  <a:srgbClr val="3E762B"/>
                </a:solidFill>
                <a:uFill>
                  <a:solidFill>
                    <a:srgbClr val="3E762B"/>
                  </a:solidFill>
                </a:uFill>
                <a:latin typeface="Times New Roman"/>
                <a:cs typeface="Times New Roman"/>
              </a:rPr>
              <a:t>classes</a:t>
            </a:r>
            <a:r>
              <a:rPr sz="1600" b="1" u="sng" spc="-20" dirty="0">
                <a:solidFill>
                  <a:srgbClr val="3E762B"/>
                </a:solidFill>
                <a:uFill>
                  <a:solidFill>
                    <a:srgbClr val="3E762B"/>
                  </a:solidFill>
                </a:uFill>
                <a:latin typeface="Times New Roman"/>
                <a:cs typeface="Times New Roman"/>
              </a:rPr>
              <a:t> </a:t>
            </a:r>
            <a:r>
              <a:rPr sz="1600" b="1" u="sng" dirty="0">
                <a:solidFill>
                  <a:srgbClr val="3E762B"/>
                </a:solidFill>
                <a:uFill>
                  <a:solidFill>
                    <a:srgbClr val="3E762B"/>
                  </a:solidFill>
                </a:uFill>
                <a:latin typeface="Times New Roman"/>
                <a:cs typeface="Times New Roman"/>
              </a:rPr>
              <a:t>of</a:t>
            </a:r>
            <a:r>
              <a:rPr sz="1600" b="1" u="sng" spc="-35" dirty="0">
                <a:solidFill>
                  <a:srgbClr val="3E762B"/>
                </a:solidFill>
                <a:uFill>
                  <a:solidFill>
                    <a:srgbClr val="3E762B"/>
                  </a:solidFill>
                </a:uFill>
                <a:latin typeface="Times New Roman"/>
                <a:cs typeface="Times New Roman"/>
              </a:rPr>
              <a:t> </a:t>
            </a:r>
            <a:r>
              <a:rPr sz="1600" b="1" u="sng" spc="-10" dirty="0">
                <a:solidFill>
                  <a:srgbClr val="3E762B"/>
                </a:solidFill>
                <a:uFill>
                  <a:solidFill>
                    <a:srgbClr val="3E762B"/>
                  </a:solidFill>
                </a:uFill>
                <a:latin typeface="Times New Roman"/>
                <a:cs typeface="Times New Roman"/>
              </a:rPr>
              <a:t>hazards:</a:t>
            </a:r>
            <a:endParaRPr sz="1600" dirty="0">
              <a:latin typeface="Times New Roman"/>
              <a:cs typeface="Times New Roman"/>
            </a:endParaRPr>
          </a:p>
          <a:p>
            <a:pPr marL="822325" lvl="1" indent="-102870">
              <a:lnSpc>
                <a:spcPct val="100000"/>
              </a:lnSpc>
              <a:spcBef>
                <a:spcPts val="1150"/>
              </a:spcBef>
              <a:buFont typeface="Times New Roman"/>
              <a:buChar char="-"/>
              <a:tabLst>
                <a:tab pos="822325" algn="l"/>
              </a:tabLst>
            </a:pPr>
            <a:r>
              <a:rPr sz="1400" b="1" dirty="0">
                <a:latin typeface="Times New Roman"/>
                <a:cs typeface="Times New Roman"/>
              </a:rPr>
              <a:t>Structural</a:t>
            </a:r>
            <a:r>
              <a:rPr sz="1400" b="1" spc="-25" dirty="0">
                <a:latin typeface="Times New Roman"/>
                <a:cs typeface="Times New Roman"/>
              </a:rPr>
              <a:t> </a:t>
            </a:r>
            <a:r>
              <a:rPr sz="1400" b="1" dirty="0">
                <a:latin typeface="Times New Roman"/>
                <a:cs typeface="Times New Roman"/>
              </a:rPr>
              <a:t>hazard</a:t>
            </a:r>
            <a:r>
              <a:rPr sz="1400" b="1" spc="-20" dirty="0">
                <a:latin typeface="Times New Roman"/>
                <a:cs typeface="Times New Roman"/>
              </a:rPr>
              <a:t> </a:t>
            </a:r>
            <a:r>
              <a:rPr sz="1400" dirty="0">
                <a:latin typeface="Times New Roman"/>
                <a:cs typeface="Times New Roman"/>
              </a:rPr>
              <a:t>–</a:t>
            </a:r>
            <a:r>
              <a:rPr sz="1400" spc="5" dirty="0">
                <a:latin typeface="Times New Roman"/>
                <a:cs typeface="Times New Roman"/>
              </a:rPr>
              <a:t> </a:t>
            </a:r>
            <a:r>
              <a:rPr sz="1400" dirty="0">
                <a:latin typeface="Times New Roman"/>
                <a:cs typeface="Times New Roman"/>
              </a:rPr>
              <a:t>resource</a:t>
            </a:r>
            <a:r>
              <a:rPr sz="1400" spc="-40" dirty="0">
                <a:latin typeface="Times New Roman"/>
                <a:cs typeface="Times New Roman"/>
              </a:rPr>
              <a:t> </a:t>
            </a:r>
            <a:r>
              <a:rPr sz="1400" spc="-10" dirty="0">
                <a:latin typeface="Times New Roman"/>
                <a:cs typeface="Times New Roman"/>
              </a:rPr>
              <a:t>conflicts</a:t>
            </a:r>
            <a:endParaRPr sz="1400" dirty="0">
              <a:latin typeface="Times New Roman"/>
              <a:cs typeface="Times New Roman"/>
            </a:endParaRPr>
          </a:p>
          <a:p>
            <a:pPr marL="822325" lvl="1" indent="-102870">
              <a:lnSpc>
                <a:spcPct val="100000"/>
              </a:lnSpc>
              <a:spcBef>
                <a:spcPts val="1440"/>
              </a:spcBef>
              <a:buFont typeface="Times New Roman"/>
              <a:buChar char="-"/>
              <a:tabLst>
                <a:tab pos="822325" algn="l"/>
              </a:tabLst>
            </a:pPr>
            <a:r>
              <a:rPr sz="1400" b="1" dirty="0">
                <a:latin typeface="Times New Roman"/>
                <a:cs typeface="Times New Roman"/>
              </a:rPr>
              <a:t>Data hazard</a:t>
            </a:r>
            <a:r>
              <a:rPr sz="1400" b="1" spc="-25" dirty="0">
                <a:latin typeface="Times New Roman"/>
                <a:cs typeface="Times New Roman"/>
              </a:rPr>
              <a:t> </a:t>
            </a:r>
            <a:r>
              <a:rPr sz="1400" dirty="0">
                <a:latin typeface="Times New Roman"/>
                <a:cs typeface="Times New Roman"/>
              </a:rPr>
              <a:t>–</a:t>
            </a:r>
            <a:r>
              <a:rPr sz="1400" spc="-10" dirty="0">
                <a:latin typeface="Times New Roman"/>
                <a:cs typeface="Times New Roman"/>
              </a:rPr>
              <a:t> </a:t>
            </a:r>
            <a:r>
              <a:rPr sz="1400" dirty="0">
                <a:latin typeface="Times New Roman"/>
                <a:cs typeface="Times New Roman"/>
              </a:rPr>
              <a:t>data</a:t>
            </a:r>
            <a:r>
              <a:rPr sz="1400" spc="-35" dirty="0">
                <a:latin typeface="Times New Roman"/>
                <a:cs typeface="Times New Roman"/>
              </a:rPr>
              <a:t> </a:t>
            </a:r>
            <a:r>
              <a:rPr sz="1400" spc="-10" dirty="0">
                <a:latin typeface="Times New Roman"/>
                <a:cs typeface="Times New Roman"/>
              </a:rPr>
              <a:t>dependency</a:t>
            </a:r>
            <a:endParaRPr sz="1400" dirty="0">
              <a:latin typeface="Times New Roman"/>
              <a:cs typeface="Times New Roman"/>
            </a:endParaRPr>
          </a:p>
          <a:p>
            <a:pPr marL="822325" lvl="1" indent="-102870">
              <a:lnSpc>
                <a:spcPct val="100000"/>
              </a:lnSpc>
              <a:spcBef>
                <a:spcPts val="1440"/>
              </a:spcBef>
              <a:buFont typeface="Times New Roman"/>
              <a:buChar char="-"/>
              <a:tabLst>
                <a:tab pos="822325" algn="l"/>
              </a:tabLst>
            </a:pPr>
            <a:r>
              <a:rPr sz="1400" b="1" dirty="0">
                <a:latin typeface="Times New Roman"/>
                <a:cs typeface="Times New Roman"/>
              </a:rPr>
              <a:t>Control</a:t>
            </a:r>
            <a:r>
              <a:rPr sz="1400" b="1" spc="-35" dirty="0">
                <a:latin typeface="Times New Roman"/>
                <a:cs typeface="Times New Roman"/>
              </a:rPr>
              <a:t> </a:t>
            </a:r>
            <a:r>
              <a:rPr sz="1400" b="1" dirty="0">
                <a:latin typeface="Times New Roman"/>
                <a:cs typeface="Times New Roman"/>
              </a:rPr>
              <a:t>hazard</a:t>
            </a:r>
            <a:r>
              <a:rPr sz="1400" b="1" spc="-10" dirty="0">
                <a:latin typeface="Times New Roman"/>
                <a:cs typeface="Times New Roman"/>
              </a:rPr>
              <a:t> </a:t>
            </a:r>
            <a:r>
              <a:rPr sz="1400" dirty="0">
                <a:latin typeface="Times New Roman"/>
                <a:cs typeface="Times New Roman"/>
              </a:rPr>
              <a:t>–</a:t>
            </a:r>
            <a:r>
              <a:rPr sz="1400" spc="-15" dirty="0">
                <a:latin typeface="Times New Roman"/>
                <a:cs typeface="Times New Roman"/>
              </a:rPr>
              <a:t> </a:t>
            </a:r>
            <a:r>
              <a:rPr sz="1400" dirty="0">
                <a:latin typeface="Times New Roman"/>
                <a:cs typeface="Times New Roman"/>
              </a:rPr>
              <a:t>PC</a:t>
            </a:r>
            <a:r>
              <a:rPr sz="1400" spc="-5" dirty="0">
                <a:latin typeface="Times New Roman"/>
                <a:cs typeface="Times New Roman"/>
              </a:rPr>
              <a:t> </a:t>
            </a:r>
            <a:r>
              <a:rPr sz="1400" dirty="0">
                <a:latin typeface="Times New Roman"/>
                <a:cs typeface="Times New Roman"/>
              </a:rPr>
              <a:t>changes</a:t>
            </a:r>
            <a:r>
              <a:rPr sz="1400" spc="-55" dirty="0">
                <a:latin typeface="Times New Roman"/>
                <a:cs typeface="Times New Roman"/>
              </a:rPr>
              <a:t> </a:t>
            </a:r>
            <a:r>
              <a:rPr sz="1400" dirty="0">
                <a:latin typeface="Times New Roman"/>
                <a:cs typeface="Times New Roman"/>
              </a:rPr>
              <a:t>(e.g.,</a:t>
            </a:r>
            <a:r>
              <a:rPr sz="1400" spc="-10" dirty="0">
                <a:latin typeface="Times New Roman"/>
                <a:cs typeface="Times New Roman"/>
              </a:rPr>
              <a:t> branches)</a:t>
            </a:r>
            <a:endParaRPr sz="14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1.</a:t>
            </a:r>
            <a:r>
              <a:rPr spc="-75" dirty="0"/>
              <a:t> </a:t>
            </a:r>
            <a:r>
              <a:rPr dirty="0"/>
              <a:t>Structural</a:t>
            </a:r>
            <a:r>
              <a:rPr spc="-45" dirty="0"/>
              <a:t> </a:t>
            </a:r>
            <a:r>
              <a:rPr spc="-10" dirty="0"/>
              <a:t>Hazard</a:t>
            </a:r>
          </a:p>
        </p:txBody>
      </p:sp>
      <p:sp>
        <p:nvSpPr>
          <p:cNvPr id="3" name="object 3"/>
          <p:cNvSpPr txBox="1"/>
          <p:nvPr/>
        </p:nvSpPr>
        <p:spPr>
          <a:xfrm>
            <a:off x="3829558" y="2796920"/>
            <a:ext cx="1005205" cy="787400"/>
          </a:xfrm>
          <a:prstGeom prst="rect">
            <a:avLst/>
          </a:prstGeom>
        </p:spPr>
        <p:txBody>
          <a:bodyPr vert="horz" wrap="square" lIns="0" tIns="12700" rIns="0" bIns="0" rtlCol="0">
            <a:spAutoFit/>
          </a:bodyPr>
          <a:lstStyle/>
          <a:p>
            <a:pPr marL="156845" marR="161925" algn="ctr">
              <a:lnSpc>
                <a:spcPct val="139200"/>
              </a:lnSpc>
              <a:spcBef>
                <a:spcPts val="100"/>
              </a:spcBef>
            </a:pPr>
            <a:r>
              <a:rPr sz="1200" dirty="0">
                <a:latin typeface="Times New Roman"/>
                <a:cs typeface="Times New Roman"/>
              </a:rPr>
              <a:t>data</a:t>
            </a:r>
            <a:r>
              <a:rPr sz="1200" spc="-35" dirty="0">
                <a:latin typeface="Times New Roman"/>
                <a:cs typeface="Times New Roman"/>
              </a:rPr>
              <a:t> </a:t>
            </a:r>
            <a:r>
              <a:rPr sz="1200" spc="-10" dirty="0">
                <a:latin typeface="Times New Roman"/>
                <a:cs typeface="Times New Roman"/>
              </a:rPr>
              <a:t>access </a:t>
            </a:r>
            <a:r>
              <a:rPr sz="1200" spc="-25" dirty="0">
                <a:latin typeface="Times New Roman"/>
                <a:cs typeface="Times New Roman"/>
              </a:rPr>
              <a:t>vs</a:t>
            </a:r>
            <a:endParaRPr sz="1200">
              <a:latin typeface="Times New Roman"/>
              <a:cs typeface="Times New Roman"/>
            </a:endParaRPr>
          </a:p>
          <a:p>
            <a:pPr marR="5080" algn="ctr">
              <a:lnSpc>
                <a:spcPct val="100000"/>
              </a:lnSpc>
              <a:spcBef>
                <a:spcPts val="550"/>
              </a:spcBef>
            </a:pPr>
            <a:r>
              <a:rPr sz="1200" dirty="0">
                <a:latin typeface="Times New Roman"/>
                <a:cs typeface="Times New Roman"/>
              </a:rPr>
              <a:t>instruction</a:t>
            </a:r>
            <a:r>
              <a:rPr sz="1200" spc="-75" dirty="0">
                <a:latin typeface="Times New Roman"/>
                <a:cs typeface="Times New Roman"/>
              </a:rPr>
              <a:t> </a:t>
            </a:r>
            <a:r>
              <a:rPr sz="1200" spc="-10" dirty="0">
                <a:latin typeface="Times New Roman"/>
                <a:cs typeface="Times New Roman"/>
              </a:rPr>
              <a:t>fetch</a:t>
            </a:r>
            <a:endParaRPr sz="1200">
              <a:latin typeface="Times New Roman"/>
              <a:cs typeface="Times New Roman"/>
            </a:endParaRPr>
          </a:p>
        </p:txBody>
      </p:sp>
      <p:pic>
        <p:nvPicPr>
          <p:cNvPr id="4" name="object 4"/>
          <p:cNvPicPr/>
          <p:nvPr/>
        </p:nvPicPr>
        <p:blipFill>
          <a:blip r:embed="rId2" cstate="print"/>
          <a:stretch>
            <a:fillRect/>
          </a:stretch>
        </p:blipFill>
        <p:spPr>
          <a:xfrm>
            <a:off x="1752600" y="1918716"/>
            <a:ext cx="1923288" cy="2261616"/>
          </a:xfrm>
          <a:prstGeom prst="rect">
            <a:avLst/>
          </a:prstGeom>
        </p:spPr>
      </p:pic>
      <p:sp>
        <p:nvSpPr>
          <p:cNvPr id="5" name="object 5"/>
          <p:cNvSpPr txBox="1"/>
          <p:nvPr/>
        </p:nvSpPr>
        <p:spPr>
          <a:xfrm>
            <a:off x="1085088" y="3887851"/>
            <a:ext cx="69659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FF0000"/>
                </a:solidFill>
                <a:latin typeface="Verdana"/>
                <a:cs typeface="Verdana"/>
              </a:rPr>
              <a:t>Instr</a:t>
            </a:r>
            <a:r>
              <a:rPr sz="1200" spc="-20" dirty="0">
                <a:solidFill>
                  <a:srgbClr val="FF0000"/>
                </a:solidFill>
                <a:latin typeface="Verdana"/>
                <a:cs typeface="Verdana"/>
              </a:rPr>
              <a:t> </a:t>
            </a:r>
            <a:r>
              <a:rPr sz="1200" spc="-25" dirty="0">
                <a:solidFill>
                  <a:srgbClr val="FF0000"/>
                </a:solidFill>
                <a:latin typeface="Verdana"/>
                <a:cs typeface="Verdana"/>
              </a:rPr>
              <a:t>i+3</a:t>
            </a:r>
            <a:endParaRPr sz="1200">
              <a:latin typeface="Verdana"/>
              <a:cs typeface="Verdana"/>
            </a:endParaRPr>
          </a:p>
        </p:txBody>
      </p:sp>
      <p:sp>
        <p:nvSpPr>
          <p:cNvPr id="6" name="object 6"/>
          <p:cNvSpPr txBox="1"/>
          <p:nvPr/>
        </p:nvSpPr>
        <p:spPr>
          <a:xfrm>
            <a:off x="1085088" y="2832608"/>
            <a:ext cx="697230" cy="811530"/>
          </a:xfrm>
          <a:prstGeom prst="rect">
            <a:avLst/>
          </a:prstGeom>
        </p:spPr>
        <p:txBody>
          <a:bodyPr vert="horz" wrap="square" lIns="0" tIns="12700" rIns="0" bIns="0" rtlCol="0">
            <a:spAutoFit/>
          </a:bodyPr>
          <a:lstStyle/>
          <a:p>
            <a:pPr>
              <a:lnSpc>
                <a:spcPct val="100000"/>
              </a:lnSpc>
              <a:spcBef>
                <a:spcPts val="100"/>
              </a:spcBef>
            </a:pPr>
            <a:r>
              <a:rPr sz="1200" dirty="0">
                <a:latin typeface="Verdana"/>
                <a:cs typeface="Verdana"/>
              </a:rPr>
              <a:t>Instr</a:t>
            </a:r>
            <a:r>
              <a:rPr sz="1200" spc="-20" dirty="0">
                <a:latin typeface="Verdana"/>
                <a:cs typeface="Verdana"/>
              </a:rPr>
              <a:t> </a:t>
            </a:r>
            <a:r>
              <a:rPr sz="1200" spc="-25" dirty="0">
                <a:latin typeface="Verdana"/>
                <a:cs typeface="Verdana"/>
              </a:rPr>
              <a:t>i+1</a:t>
            </a:r>
            <a:endParaRPr sz="1200">
              <a:latin typeface="Verdana"/>
              <a:cs typeface="Verdana"/>
            </a:endParaRPr>
          </a:p>
          <a:p>
            <a:pPr>
              <a:lnSpc>
                <a:spcPct val="100000"/>
              </a:lnSpc>
            </a:pPr>
            <a:endParaRPr sz="1200">
              <a:latin typeface="Verdana"/>
              <a:cs typeface="Verdana"/>
            </a:endParaRPr>
          </a:p>
          <a:p>
            <a:pPr>
              <a:lnSpc>
                <a:spcPct val="100000"/>
              </a:lnSpc>
              <a:spcBef>
                <a:spcPts val="390"/>
              </a:spcBef>
            </a:pPr>
            <a:endParaRPr sz="1200">
              <a:latin typeface="Verdana"/>
              <a:cs typeface="Verdana"/>
            </a:endParaRPr>
          </a:p>
          <a:p>
            <a:pPr>
              <a:lnSpc>
                <a:spcPct val="100000"/>
              </a:lnSpc>
            </a:pPr>
            <a:r>
              <a:rPr sz="1200" dirty="0">
                <a:latin typeface="Verdana"/>
                <a:cs typeface="Verdana"/>
              </a:rPr>
              <a:t>Instr</a:t>
            </a:r>
            <a:r>
              <a:rPr sz="1200" spc="-20" dirty="0">
                <a:latin typeface="Verdana"/>
                <a:cs typeface="Verdana"/>
              </a:rPr>
              <a:t> </a:t>
            </a:r>
            <a:r>
              <a:rPr sz="1200" spc="-25" dirty="0">
                <a:latin typeface="Verdana"/>
                <a:cs typeface="Verdana"/>
              </a:rPr>
              <a:t>i+2</a:t>
            </a:r>
            <a:endParaRPr sz="1200">
              <a:latin typeface="Verdana"/>
              <a:cs typeface="Verdana"/>
            </a:endParaRPr>
          </a:p>
        </p:txBody>
      </p:sp>
      <p:sp>
        <p:nvSpPr>
          <p:cNvPr id="7" name="object 7"/>
          <p:cNvSpPr/>
          <p:nvPr/>
        </p:nvSpPr>
        <p:spPr>
          <a:xfrm>
            <a:off x="3408426" y="3599307"/>
            <a:ext cx="472440" cy="249554"/>
          </a:xfrm>
          <a:custGeom>
            <a:avLst/>
            <a:gdLst/>
            <a:ahLst/>
            <a:cxnLst/>
            <a:rect l="l" t="t" r="r" b="b"/>
            <a:pathLst>
              <a:path w="472439" h="249554">
                <a:moveTo>
                  <a:pt x="39243" y="195960"/>
                </a:moveTo>
                <a:lnTo>
                  <a:pt x="0" y="249554"/>
                </a:lnTo>
                <a:lnTo>
                  <a:pt x="66421" y="248792"/>
                </a:lnTo>
                <a:lnTo>
                  <a:pt x="59691" y="235712"/>
                </a:lnTo>
                <a:lnTo>
                  <a:pt x="48513" y="235712"/>
                </a:lnTo>
                <a:lnTo>
                  <a:pt x="39497" y="218058"/>
                </a:lnTo>
                <a:lnTo>
                  <a:pt x="48284" y="213537"/>
                </a:lnTo>
                <a:lnTo>
                  <a:pt x="39243" y="195960"/>
                </a:lnTo>
                <a:close/>
              </a:path>
              <a:path w="472439" h="249554">
                <a:moveTo>
                  <a:pt x="48284" y="213537"/>
                </a:moveTo>
                <a:lnTo>
                  <a:pt x="39497" y="218058"/>
                </a:lnTo>
                <a:lnTo>
                  <a:pt x="48513" y="235712"/>
                </a:lnTo>
                <a:lnTo>
                  <a:pt x="57351" y="231163"/>
                </a:lnTo>
                <a:lnTo>
                  <a:pt x="48284" y="213537"/>
                </a:lnTo>
                <a:close/>
              </a:path>
              <a:path w="472439" h="249554">
                <a:moveTo>
                  <a:pt x="57351" y="231163"/>
                </a:moveTo>
                <a:lnTo>
                  <a:pt x="48513" y="235712"/>
                </a:lnTo>
                <a:lnTo>
                  <a:pt x="59691" y="235712"/>
                </a:lnTo>
                <a:lnTo>
                  <a:pt x="57351" y="231163"/>
                </a:lnTo>
                <a:close/>
              </a:path>
              <a:path w="472439" h="249554">
                <a:moveTo>
                  <a:pt x="463296" y="0"/>
                </a:moveTo>
                <a:lnTo>
                  <a:pt x="48284" y="213537"/>
                </a:lnTo>
                <a:lnTo>
                  <a:pt x="57351" y="231163"/>
                </a:lnTo>
                <a:lnTo>
                  <a:pt x="472439" y="17525"/>
                </a:lnTo>
                <a:lnTo>
                  <a:pt x="463296" y="0"/>
                </a:lnTo>
                <a:close/>
              </a:path>
            </a:pathLst>
          </a:custGeom>
          <a:solidFill>
            <a:srgbClr val="FF0000"/>
          </a:solidFill>
        </p:spPr>
        <p:txBody>
          <a:bodyPr wrap="square" lIns="0" tIns="0" rIns="0" bIns="0" rtlCol="0"/>
          <a:lstStyle/>
          <a:p>
            <a:endParaRPr/>
          </a:p>
        </p:txBody>
      </p:sp>
      <p:sp>
        <p:nvSpPr>
          <p:cNvPr id="8" name="object 8"/>
          <p:cNvSpPr txBox="1"/>
          <p:nvPr/>
        </p:nvSpPr>
        <p:spPr>
          <a:xfrm>
            <a:off x="746861" y="1601851"/>
            <a:ext cx="2916555" cy="836294"/>
          </a:xfrm>
          <a:prstGeom prst="rect">
            <a:avLst/>
          </a:prstGeom>
        </p:spPr>
        <p:txBody>
          <a:bodyPr vert="horz" wrap="square" lIns="0" tIns="12700" rIns="0" bIns="0" rtlCol="0">
            <a:spAutoFit/>
          </a:bodyPr>
          <a:lstStyle/>
          <a:p>
            <a:pPr marL="182245" indent="-169545">
              <a:lnSpc>
                <a:spcPct val="100000"/>
              </a:lnSpc>
              <a:spcBef>
                <a:spcPts val="100"/>
              </a:spcBef>
              <a:buClr>
                <a:srgbClr val="3E762B"/>
              </a:buClr>
              <a:buFont typeface="Wingdings"/>
              <a:buChar char=""/>
              <a:tabLst>
                <a:tab pos="182245" algn="l"/>
              </a:tabLst>
            </a:pPr>
            <a:r>
              <a:rPr sz="1200" b="1" dirty="0">
                <a:latin typeface="Times New Roman"/>
                <a:cs typeface="Times New Roman"/>
              </a:rPr>
              <a:t>Example:</a:t>
            </a:r>
            <a:r>
              <a:rPr sz="1200" b="1" spc="-25" dirty="0">
                <a:latin typeface="Times New Roman"/>
                <a:cs typeface="Times New Roman"/>
              </a:rPr>
              <a:t> </a:t>
            </a:r>
            <a:r>
              <a:rPr sz="1200" dirty="0">
                <a:latin typeface="Times New Roman"/>
                <a:cs typeface="Times New Roman"/>
              </a:rPr>
              <a:t>1</a:t>
            </a:r>
            <a:r>
              <a:rPr sz="1200" spc="-25"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dirty="0">
                <a:latin typeface="Times New Roman"/>
                <a:cs typeface="Times New Roman"/>
              </a:rPr>
              <a:t>port,</a:t>
            </a:r>
            <a:r>
              <a:rPr sz="1200" spc="55"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spc="-10" dirty="0">
                <a:latin typeface="Times New Roman"/>
                <a:cs typeface="Times New Roman"/>
              </a:rPr>
              <a:t>conflict</a:t>
            </a:r>
            <a:endParaRPr sz="1200">
              <a:latin typeface="Times New Roman"/>
              <a:cs typeface="Times New Roman"/>
            </a:endParaRPr>
          </a:p>
          <a:p>
            <a:pPr>
              <a:lnSpc>
                <a:spcPct val="100000"/>
              </a:lnSpc>
              <a:spcBef>
                <a:spcPts val="459"/>
              </a:spcBef>
            </a:pPr>
            <a:endParaRPr sz="1200">
              <a:latin typeface="Times New Roman"/>
              <a:cs typeface="Times New Roman"/>
            </a:endParaRPr>
          </a:p>
          <a:p>
            <a:pPr marR="5080" algn="r">
              <a:lnSpc>
                <a:spcPct val="100000"/>
              </a:lnSpc>
            </a:pPr>
            <a:r>
              <a:rPr sz="1200" spc="-25" dirty="0">
                <a:latin typeface="Verdana"/>
                <a:cs typeface="Verdana"/>
              </a:rPr>
              <a:t>MEM</a:t>
            </a:r>
            <a:endParaRPr sz="1200">
              <a:latin typeface="Verdana"/>
              <a:cs typeface="Verdana"/>
            </a:endParaRPr>
          </a:p>
          <a:p>
            <a:pPr marL="337820">
              <a:lnSpc>
                <a:spcPct val="100000"/>
              </a:lnSpc>
              <a:spcBef>
                <a:spcPts val="225"/>
              </a:spcBef>
            </a:pPr>
            <a:r>
              <a:rPr sz="1200" spc="-20" dirty="0">
                <a:solidFill>
                  <a:srgbClr val="00CC00"/>
                </a:solidFill>
                <a:latin typeface="Verdana"/>
                <a:cs typeface="Verdana"/>
              </a:rPr>
              <a:t>Load</a:t>
            </a:r>
            <a:endParaRPr sz="1200">
              <a:latin typeface="Verdana"/>
              <a:cs typeface="Verdana"/>
            </a:endParaRPr>
          </a:p>
        </p:txBody>
      </p:sp>
      <p:sp>
        <p:nvSpPr>
          <p:cNvPr id="9" name="object 9"/>
          <p:cNvSpPr txBox="1"/>
          <p:nvPr/>
        </p:nvSpPr>
        <p:spPr>
          <a:xfrm>
            <a:off x="3266185" y="3706748"/>
            <a:ext cx="164465" cy="208279"/>
          </a:xfrm>
          <a:prstGeom prst="rect">
            <a:avLst/>
          </a:prstGeom>
        </p:spPr>
        <p:txBody>
          <a:bodyPr vert="horz" wrap="square" lIns="0" tIns="12700" rIns="0" bIns="0" rtlCol="0">
            <a:spAutoFit/>
          </a:bodyPr>
          <a:lstStyle/>
          <a:p>
            <a:pPr>
              <a:lnSpc>
                <a:spcPct val="100000"/>
              </a:lnSpc>
              <a:spcBef>
                <a:spcPts val="100"/>
              </a:spcBef>
            </a:pPr>
            <a:r>
              <a:rPr sz="1200" spc="-25" dirty="0">
                <a:latin typeface="Verdana"/>
                <a:cs typeface="Verdana"/>
              </a:rPr>
              <a:t>IF</a:t>
            </a:r>
            <a:endParaRPr sz="1200">
              <a:latin typeface="Verdana"/>
              <a:cs typeface="Verdana"/>
            </a:endParaRPr>
          </a:p>
        </p:txBody>
      </p:sp>
      <p:grpSp>
        <p:nvGrpSpPr>
          <p:cNvPr id="10" name="object 10"/>
          <p:cNvGrpSpPr/>
          <p:nvPr/>
        </p:nvGrpSpPr>
        <p:grpSpPr>
          <a:xfrm>
            <a:off x="3148583" y="1909572"/>
            <a:ext cx="979805" cy="2281555"/>
            <a:chOff x="3148583" y="1909572"/>
            <a:chExt cx="979805" cy="2281555"/>
          </a:xfrm>
        </p:grpSpPr>
        <p:sp>
          <p:nvSpPr>
            <p:cNvPr id="11" name="object 11"/>
            <p:cNvSpPr/>
            <p:nvPr/>
          </p:nvSpPr>
          <p:spPr>
            <a:xfrm>
              <a:off x="3158489" y="1919478"/>
              <a:ext cx="530860" cy="2261870"/>
            </a:xfrm>
            <a:custGeom>
              <a:avLst/>
              <a:gdLst/>
              <a:ahLst/>
              <a:cxnLst/>
              <a:rect l="l" t="t" r="r" b="b"/>
              <a:pathLst>
                <a:path w="530860" h="2261870">
                  <a:moveTo>
                    <a:pt x="0" y="88392"/>
                  </a:moveTo>
                  <a:lnTo>
                    <a:pt x="6953" y="54006"/>
                  </a:lnTo>
                  <a:lnTo>
                    <a:pt x="25908" y="25908"/>
                  </a:lnTo>
                  <a:lnTo>
                    <a:pt x="54006" y="6953"/>
                  </a:lnTo>
                  <a:lnTo>
                    <a:pt x="88392" y="0"/>
                  </a:lnTo>
                  <a:lnTo>
                    <a:pt x="441960" y="0"/>
                  </a:lnTo>
                  <a:lnTo>
                    <a:pt x="476345" y="6953"/>
                  </a:lnTo>
                  <a:lnTo>
                    <a:pt x="504443" y="25907"/>
                  </a:lnTo>
                  <a:lnTo>
                    <a:pt x="523398" y="54006"/>
                  </a:lnTo>
                  <a:lnTo>
                    <a:pt x="530351" y="88392"/>
                  </a:lnTo>
                  <a:lnTo>
                    <a:pt x="530351" y="2173224"/>
                  </a:lnTo>
                  <a:lnTo>
                    <a:pt x="523398" y="2207609"/>
                  </a:lnTo>
                  <a:lnTo>
                    <a:pt x="504443" y="2235708"/>
                  </a:lnTo>
                  <a:lnTo>
                    <a:pt x="476345" y="2254662"/>
                  </a:lnTo>
                  <a:lnTo>
                    <a:pt x="441960" y="2261616"/>
                  </a:lnTo>
                  <a:lnTo>
                    <a:pt x="88392" y="2261616"/>
                  </a:lnTo>
                  <a:lnTo>
                    <a:pt x="54006" y="2254662"/>
                  </a:lnTo>
                  <a:lnTo>
                    <a:pt x="25907" y="2235708"/>
                  </a:lnTo>
                  <a:lnTo>
                    <a:pt x="6953" y="2207609"/>
                  </a:lnTo>
                  <a:lnTo>
                    <a:pt x="0" y="2173224"/>
                  </a:lnTo>
                  <a:lnTo>
                    <a:pt x="0" y="88392"/>
                  </a:lnTo>
                  <a:close/>
                </a:path>
              </a:pathLst>
            </a:custGeom>
            <a:ln w="19812">
              <a:solidFill>
                <a:srgbClr val="FF0000"/>
              </a:solidFill>
            </a:ln>
          </p:spPr>
          <p:txBody>
            <a:bodyPr wrap="square" lIns="0" tIns="0" rIns="0" bIns="0" rtlCol="0"/>
            <a:lstStyle/>
            <a:p>
              <a:endParaRPr/>
            </a:p>
          </p:txBody>
        </p:sp>
        <p:sp>
          <p:nvSpPr>
            <p:cNvPr id="12" name="object 12"/>
            <p:cNvSpPr/>
            <p:nvPr/>
          </p:nvSpPr>
          <p:spPr>
            <a:xfrm>
              <a:off x="3470909" y="2492502"/>
              <a:ext cx="657860" cy="412750"/>
            </a:xfrm>
            <a:custGeom>
              <a:avLst/>
              <a:gdLst/>
              <a:ahLst/>
              <a:cxnLst/>
              <a:rect l="l" t="t" r="r" b="b"/>
              <a:pathLst>
                <a:path w="657860" h="412750">
                  <a:moveTo>
                    <a:pt x="55741" y="22836"/>
                  </a:moveTo>
                  <a:lnTo>
                    <a:pt x="45309" y="39714"/>
                  </a:lnTo>
                  <a:lnTo>
                    <a:pt x="647064" y="412242"/>
                  </a:lnTo>
                  <a:lnTo>
                    <a:pt x="657478" y="395477"/>
                  </a:lnTo>
                  <a:lnTo>
                    <a:pt x="55741" y="22836"/>
                  </a:lnTo>
                  <a:close/>
                </a:path>
                <a:path w="657860" h="412750">
                  <a:moveTo>
                    <a:pt x="0" y="0"/>
                  </a:moveTo>
                  <a:lnTo>
                    <a:pt x="34925" y="56515"/>
                  </a:lnTo>
                  <a:lnTo>
                    <a:pt x="45309" y="39714"/>
                  </a:lnTo>
                  <a:lnTo>
                    <a:pt x="36956" y="34544"/>
                  </a:lnTo>
                  <a:lnTo>
                    <a:pt x="47370" y="17652"/>
                  </a:lnTo>
                  <a:lnTo>
                    <a:pt x="58945" y="17652"/>
                  </a:lnTo>
                  <a:lnTo>
                    <a:pt x="66166" y="5969"/>
                  </a:lnTo>
                  <a:lnTo>
                    <a:pt x="0" y="0"/>
                  </a:lnTo>
                  <a:close/>
                </a:path>
                <a:path w="657860" h="412750">
                  <a:moveTo>
                    <a:pt x="47370" y="17652"/>
                  </a:moveTo>
                  <a:lnTo>
                    <a:pt x="36956" y="34544"/>
                  </a:lnTo>
                  <a:lnTo>
                    <a:pt x="45309" y="39714"/>
                  </a:lnTo>
                  <a:lnTo>
                    <a:pt x="55741" y="22836"/>
                  </a:lnTo>
                  <a:lnTo>
                    <a:pt x="47370" y="17652"/>
                  </a:lnTo>
                  <a:close/>
                </a:path>
                <a:path w="657860" h="412750">
                  <a:moveTo>
                    <a:pt x="58945" y="17652"/>
                  </a:moveTo>
                  <a:lnTo>
                    <a:pt x="47370" y="17652"/>
                  </a:lnTo>
                  <a:lnTo>
                    <a:pt x="55741" y="22836"/>
                  </a:lnTo>
                  <a:lnTo>
                    <a:pt x="58945" y="17652"/>
                  </a:lnTo>
                  <a:close/>
                </a:path>
              </a:pathLst>
            </a:custGeom>
            <a:solidFill>
              <a:srgbClr val="00CC00"/>
            </a:solidFill>
          </p:spPr>
          <p:txBody>
            <a:bodyPr wrap="square" lIns="0" tIns="0" rIns="0" bIns="0" rtlCol="0"/>
            <a:lstStyle/>
            <a:p>
              <a:endParaRPr/>
            </a:p>
          </p:txBody>
        </p:sp>
      </p:grpSp>
      <p:grpSp>
        <p:nvGrpSpPr>
          <p:cNvPr id="13" name="object 13"/>
          <p:cNvGrpSpPr/>
          <p:nvPr/>
        </p:nvGrpSpPr>
        <p:grpSpPr>
          <a:xfrm>
            <a:off x="381000" y="4844796"/>
            <a:ext cx="6096000" cy="3429000"/>
            <a:chOff x="381000" y="4844796"/>
            <a:chExt cx="6096000" cy="3429000"/>
          </a:xfrm>
        </p:grpSpPr>
        <p:sp>
          <p:nvSpPr>
            <p:cNvPr id="14" name="object 1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5" name="object 1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6" name="object 1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7" name="object 1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1.</a:t>
            </a:r>
            <a:r>
              <a:rPr sz="2200" spc="-75" dirty="0">
                <a:latin typeface="Georgia"/>
                <a:cs typeface="Georgia"/>
              </a:rPr>
              <a:t> </a:t>
            </a:r>
            <a:r>
              <a:rPr sz="2200" dirty="0">
                <a:latin typeface="Georgia"/>
                <a:cs typeface="Georgia"/>
              </a:rPr>
              <a:t>Structural</a:t>
            </a:r>
            <a:r>
              <a:rPr sz="2200" spc="-45" dirty="0">
                <a:latin typeface="Georgia"/>
                <a:cs typeface="Georgia"/>
              </a:rPr>
              <a:t> </a:t>
            </a:r>
            <a:r>
              <a:rPr sz="2200" spc="-10" dirty="0">
                <a:latin typeface="Georgia"/>
                <a:cs typeface="Georgia"/>
              </a:rPr>
              <a:t>Hazard</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2335"/>
              </a:spcBef>
            </a:pPr>
            <a:endParaRPr sz="2200">
              <a:latin typeface="Georgia"/>
              <a:cs typeface="Georgia"/>
            </a:endParaRPr>
          </a:p>
          <a:p>
            <a:pPr marL="181610" algn="ctr">
              <a:lnSpc>
                <a:spcPct val="100000"/>
              </a:lnSpc>
            </a:pPr>
            <a:r>
              <a:rPr sz="1200" dirty="0">
                <a:latin typeface="Times New Roman"/>
                <a:cs typeface="Times New Roman"/>
              </a:rPr>
              <a:t>After</a:t>
            </a:r>
            <a:r>
              <a:rPr sz="1200" spc="-20" dirty="0">
                <a:latin typeface="Times New Roman"/>
                <a:cs typeface="Times New Roman"/>
              </a:rPr>
              <a:t> </a:t>
            </a:r>
            <a:r>
              <a:rPr sz="1200" dirty="0">
                <a:latin typeface="Times New Roman"/>
                <a:cs typeface="Times New Roman"/>
              </a:rPr>
              <a:t>each</a:t>
            </a:r>
            <a:r>
              <a:rPr sz="1200" spc="-10" dirty="0">
                <a:latin typeface="Times New Roman"/>
                <a:cs typeface="Times New Roman"/>
              </a:rPr>
              <a:t> </a:t>
            </a:r>
            <a:r>
              <a:rPr sz="1200" dirty="0">
                <a:latin typeface="Times New Roman"/>
                <a:cs typeface="Times New Roman"/>
              </a:rPr>
              <a:t>Load/Store</a:t>
            </a:r>
            <a:r>
              <a:rPr sz="1200" spc="-10" dirty="0">
                <a:latin typeface="Times New Roman"/>
                <a:cs typeface="Times New Roman"/>
              </a:rPr>
              <a:t> </a:t>
            </a:r>
            <a:r>
              <a:rPr sz="1200" dirty="0">
                <a:latin typeface="Times New Roman"/>
                <a:cs typeface="Times New Roman"/>
              </a:rPr>
              <a:t>instruction,</a:t>
            </a:r>
            <a:r>
              <a:rPr sz="1200" spc="-30" dirty="0">
                <a:latin typeface="Times New Roman"/>
                <a:cs typeface="Times New Roman"/>
              </a:rPr>
              <a:t> </a:t>
            </a:r>
            <a:r>
              <a:rPr sz="1200" dirty="0">
                <a:latin typeface="Times New Roman"/>
                <a:cs typeface="Times New Roman"/>
              </a:rPr>
              <a:t>Stop</a:t>
            </a:r>
            <a:r>
              <a:rPr sz="1200" spc="-30" dirty="0">
                <a:latin typeface="Times New Roman"/>
                <a:cs typeface="Times New Roman"/>
              </a:rPr>
              <a:t> </a:t>
            </a:r>
            <a:r>
              <a:rPr sz="1200" spc="-10" dirty="0">
                <a:latin typeface="Times New Roman"/>
                <a:cs typeface="Times New Roman"/>
              </a:rPr>
              <a:t>(instruction</a:t>
            </a:r>
            <a:r>
              <a:rPr sz="1200" spc="-35" dirty="0">
                <a:latin typeface="Times New Roman"/>
                <a:cs typeface="Times New Roman"/>
              </a:rPr>
              <a:t> </a:t>
            </a:r>
            <a:r>
              <a:rPr sz="1200" dirty="0">
                <a:latin typeface="Times New Roman"/>
                <a:cs typeface="Times New Roman"/>
              </a:rPr>
              <a:t>i+3)</a:t>
            </a:r>
            <a:r>
              <a:rPr sz="1200" spc="-15"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one</a:t>
            </a:r>
            <a:r>
              <a:rPr sz="1200" spc="-20" dirty="0">
                <a:latin typeface="Times New Roman"/>
                <a:cs typeface="Times New Roman"/>
              </a:rPr>
              <a:t> </a:t>
            </a:r>
            <a:r>
              <a:rPr sz="1200" dirty="0">
                <a:latin typeface="Times New Roman"/>
                <a:cs typeface="Times New Roman"/>
              </a:rPr>
              <a:t>clock</a:t>
            </a:r>
            <a:r>
              <a:rPr sz="1200" spc="-15" dirty="0">
                <a:latin typeface="Times New Roman"/>
                <a:cs typeface="Times New Roman"/>
              </a:rPr>
              <a:t> </a:t>
            </a:r>
            <a:r>
              <a:rPr sz="1200" spc="-10" dirty="0">
                <a:latin typeface="Times New Roman"/>
                <a:cs typeface="Times New Roman"/>
              </a:rPr>
              <a:t>cycle</a:t>
            </a:r>
            <a:endParaRPr sz="1200">
              <a:latin typeface="Times New Roman"/>
              <a:cs typeface="Times New Roman"/>
            </a:endParaRPr>
          </a:p>
        </p:txBody>
      </p:sp>
      <p:grpSp>
        <p:nvGrpSpPr>
          <p:cNvPr id="18" name="object 18"/>
          <p:cNvGrpSpPr/>
          <p:nvPr/>
        </p:nvGrpSpPr>
        <p:grpSpPr>
          <a:xfrm>
            <a:off x="955547" y="5775959"/>
            <a:ext cx="4572000" cy="1799589"/>
            <a:chOff x="955547" y="5775959"/>
            <a:chExt cx="4572000" cy="1799589"/>
          </a:xfrm>
        </p:grpSpPr>
        <p:pic>
          <p:nvPicPr>
            <p:cNvPr id="19" name="object 19"/>
            <p:cNvPicPr/>
            <p:nvPr/>
          </p:nvPicPr>
          <p:blipFill>
            <a:blip r:embed="rId3" cstate="print"/>
            <a:stretch>
              <a:fillRect/>
            </a:stretch>
          </p:blipFill>
          <p:spPr>
            <a:xfrm>
              <a:off x="955547" y="5775959"/>
              <a:ext cx="4572000" cy="1444752"/>
            </a:xfrm>
            <a:prstGeom prst="rect">
              <a:avLst/>
            </a:prstGeom>
          </p:spPr>
        </p:pic>
        <p:sp>
          <p:nvSpPr>
            <p:cNvPr id="20" name="object 20"/>
            <p:cNvSpPr/>
            <p:nvPr/>
          </p:nvSpPr>
          <p:spPr>
            <a:xfrm>
              <a:off x="956309" y="7162037"/>
              <a:ext cx="3810000" cy="0"/>
            </a:xfrm>
            <a:custGeom>
              <a:avLst/>
              <a:gdLst/>
              <a:ahLst/>
              <a:cxnLst/>
              <a:rect l="l" t="t" r="r" b="b"/>
              <a:pathLst>
                <a:path w="3810000">
                  <a:moveTo>
                    <a:pt x="0" y="0"/>
                  </a:moveTo>
                  <a:lnTo>
                    <a:pt x="3810000" y="0"/>
                  </a:lnTo>
                </a:path>
              </a:pathLst>
            </a:custGeom>
            <a:ln w="19812">
              <a:solidFill>
                <a:srgbClr val="FF0000"/>
              </a:solidFill>
            </a:ln>
          </p:spPr>
          <p:txBody>
            <a:bodyPr wrap="square" lIns="0" tIns="0" rIns="0" bIns="0" rtlCol="0"/>
            <a:lstStyle/>
            <a:p>
              <a:endParaRPr/>
            </a:p>
          </p:txBody>
        </p:sp>
        <p:sp>
          <p:nvSpPr>
            <p:cNvPr id="21" name="object 21"/>
            <p:cNvSpPr/>
            <p:nvPr/>
          </p:nvSpPr>
          <p:spPr>
            <a:xfrm>
              <a:off x="5223509" y="7162037"/>
              <a:ext cx="190500" cy="0"/>
            </a:xfrm>
            <a:custGeom>
              <a:avLst/>
              <a:gdLst/>
              <a:ahLst/>
              <a:cxnLst/>
              <a:rect l="l" t="t" r="r" b="b"/>
              <a:pathLst>
                <a:path w="190500">
                  <a:moveTo>
                    <a:pt x="0" y="0"/>
                  </a:moveTo>
                  <a:lnTo>
                    <a:pt x="190500" y="0"/>
                  </a:lnTo>
                </a:path>
              </a:pathLst>
            </a:custGeom>
            <a:ln w="19812">
              <a:solidFill>
                <a:srgbClr val="00CC00"/>
              </a:solidFill>
            </a:ln>
          </p:spPr>
          <p:txBody>
            <a:bodyPr wrap="square" lIns="0" tIns="0" rIns="0" bIns="0" rtlCol="0"/>
            <a:lstStyle/>
            <a:p>
              <a:endParaRPr/>
            </a:p>
          </p:txBody>
        </p:sp>
        <p:sp>
          <p:nvSpPr>
            <p:cNvPr id="22" name="object 22"/>
            <p:cNvSpPr/>
            <p:nvPr/>
          </p:nvSpPr>
          <p:spPr>
            <a:xfrm>
              <a:off x="4112259" y="7172705"/>
              <a:ext cx="481965" cy="402590"/>
            </a:xfrm>
            <a:custGeom>
              <a:avLst/>
              <a:gdLst/>
              <a:ahLst/>
              <a:cxnLst/>
              <a:rect l="l" t="t" r="r" b="b"/>
              <a:pathLst>
                <a:path w="481964" h="402590">
                  <a:moveTo>
                    <a:pt x="429730" y="30359"/>
                  </a:moveTo>
                  <a:lnTo>
                    <a:pt x="0" y="387096"/>
                  </a:lnTo>
                  <a:lnTo>
                    <a:pt x="12700" y="402336"/>
                  </a:lnTo>
                  <a:lnTo>
                    <a:pt x="442405" y="45620"/>
                  </a:lnTo>
                  <a:lnTo>
                    <a:pt x="429730" y="30359"/>
                  </a:lnTo>
                  <a:close/>
                </a:path>
                <a:path w="481964" h="402590">
                  <a:moveTo>
                    <a:pt x="471264" y="24003"/>
                  </a:moveTo>
                  <a:lnTo>
                    <a:pt x="437388" y="24003"/>
                  </a:lnTo>
                  <a:lnTo>
                    <a:pt x="450088" y="39243"/>
                  </a:lnTo>
                  <a:lnTo>
                    <a:pt x="442405" y="45620"/>
                  </a:lnTo>
                  <a:lnTo>
                    <a:pt x="455040" y="60833"/>
                  </a:lnTo>
                  <a:lnTo>
                    <a:pt x="471264" y="24003"/>
                  </a:lnTo>
                  <a:close/>
                </a:path>
                <a:path w="481964" h="402590">
                  <a:moveTo>
                    <a:pt x="437388" y="24003"/>
                  </a:moveTo>
                  <a:lnTo>
                    <a:pt x="429730" y="30359"/>
                  </a:lnTo>
                  <a:lnTo>
                    <a:pt x="442405" y="45620"/>
                  </a:lnTo>
                  <a:lnTo>
                    <a:pt x="450088" y="39243"/>
                  </a:lnTo>
                  <a:lnTo>
                    <a:pt x="437388" y="24003"/>
                  </a:lnTo>
                  <a:close/>
                </a:path>
                <a:path w="481964" h="402590">
                  <a:moveTo>
                    <a:pt x="481838" y="0"/>
                  </a:moveTo>
                  <a:lnTo>
                    <a:pt x="417067" y="15113"/>
                  </a:lnTo>
                  <a:lnTo>
                    <a:pt x="429730" y="30359"/>
                  </a:lnTo>
                  <a:lnTo>
                    <a:pt x="437388" y="24003"/>
                  </a:lnTo>
                  <a:lnTo>
                    <a:pt x="471264" y="24003"/>
                  </a:lnTo>
                  <a:lnTo>
                    <a:pt x="481838" y="0"/>
                  </a:lnTo>
                  <a:close/>
                </a:path>
              </a:pathLst>
            </a:custGeom>
            <a:solidFill>
              <a:srgbClr val="FF0000"/>
            </a:solidFill>
          </p:spPr>
          <p:txBody>
            <a:bodyPr wrap="square" lIns="0" tIns="0" rIns="0" bIns="0" rtlCol="0"/>
            <a:lstStyle/>
            <a:p>
              <a:endParaRPr/>
            </a:p>
          </p:txBody>
        </p:sp>
      </p:gr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489584" indent="-260985">
              <a:lnSpc>
                <a:spcPct val="100000"/>
              </a:lnSpc>
              <a:spcBef>
                <a:spcPts val="900"/>
              </a:spcBef>
              <a:buAutoNum type="arabicPeriod"/>
              <a:tabLst>
                <a:tab pos="489584" algn="l"/>
              </a:tabLst>
            </a:pPr>
            <a:r>
              <a:rPr sz="2200" dirty="0">
                <a:latin typeface="Georgia"/>
                <a:cs typeface="Georgia"/>
              </a:rPr>
              <a:t>Structural</a:t>
            </a:r>
            <a:r>
              <a:rPr sz="2200" spc="-105" dirty="0">
                <a:latin typeface="Georgia"/>
                <a:cs typeface="Georgia"/>
              </a:rPr>
              <a:t> </a:t>
            </a:r>
            <a:r>
              <a:rPr sz="2200" spc="-10" dirty="0">
                <a:latin typeface="Georgia"/>
                <a:cs typeface="Georgia"/>
              </a:rPr>
              <a:t>Hazard</a:t>
            </a:r>
            <a:endParaRPr sz="2200">
              <a:latin typeface="Georgia"/>
              <a:cs typeface="Georgia"/>
            </a:endParaRPr>
          </a:p>
          <a:p>
            <a:pPr marL="442595" lvl="1" indent="-182245">
              <a:lnSpc>
                <a:spcPct val="100000"/>
              </a:lnSpc>
              <a:spcBef>
                <a:spcPts val="1305"/>
              </a:spcBef>
              <a:buClr>
                <a:srgbClr val="3E762B"/>
              </a:buClr>
              <a:buSzPct val="93750"/>
              <a:buFont typeface="Wingdings"/>
              <a:buChar char=""/>
              <a:tabLst>
                <a:tab pos="442595" algn="l"/>
              </a:tabLst>
            </a:pPr>
            <a:r>
              <a:rPr sz="1600" b="1" dirty="0">
                <a:latin typeface="Times New Roman"/>
                <a:cs typeface="Times New Roman"/>
              </a:rPr>
              <a:t>Root</a:t>
            </a:r>
            <a:r>
              <a:rPr sz="1600" b="1" spc="-55" dirty="0">
                <a:latin typeface="Times New Roman"/>
                <a:cs typeface="Times New Roman"/>
              </a:rPr>
              <a:t> </a:t>
            </a:r>
            <a:r>
              <a:rPr sz="1600" b="1" dirty="0">
                <a:latin typeface="Times New Roman"/>
                <a:cs typeface="Times New Roman"/>
              </a:rPr>
              <a:t>Cause:</a:t>
            </a:r>
            <a:r>
              <a:rPr sz="1600" b="1" spc="-35" dirty="0">
                <a:latin typeface="Times New Roman"/>
                <a:cs typeface="Times New Roman"/>
              </a:rPr>
              <a:t> </a:t>
            </a:r>
            <a:r>
              <a:rPr sz="1600" dirty="0">
                <a:latin typeface="Times New Roman"/>
                <a:cs typeface="Times New Roman"/>
              </a:rPr>
              <a:t>resource</a:t>
            </a:r>
            <a:r>
              <a:rPr sz="1600" spc="-30" dirty="0">
                <a:latin typeface="Times New Roman"/>
                <a:cs typeface="Times New Roman"/>
              </a:rPr>
              <a:t> </a:t>
            </a:r>
            <a:r>
              <a:rPr sz="1600" dirty="0">
                <a:latin typeface="Times New Roman"/>
                <a:cs typeface="Times New Roman"/>
              </a:rPr>
              <a:t>conflicts/lack</a:t>
            </a:r>
            <a:r>
              <a:rPr sz="1600" spc="-50" dirty="0">
                <a:latin typeface="Times New Roman"/>
                <a:cs typeface="Times New Roman"/>
              </a:rPr>
              <a:t> </a:t>
            </a:r>
            <a:r>
              <a:rPr sz="1600" dirty="0">
                <a:latin typeface="Times New Roman"/>
                <a:cs typeface="Times New Roman"/>
              </a:rPr>
              <a:t>of</a:t>
            </a:r>
            <a:r>
              <a:rPr sz="1600" spc="-50" dirty="0">
                <a:latin typeface="Times New Roman"/>
                <a:cs typeface="Times New Roman"/>
              </a:rPr>
              <a:t> </a:t>
            </a:r>
            <a:r>
              <a:rPr sz="1600" spc="-10" dirty="0">
                <a:latin typeface="Times New Roman"/>
                <a:cs typeface="Times New Roman"/>
              </a:rPr>
              <a:t>resources</a:t>
            </a:r>
            <a:endParaRPr sz="1600">
              <a:latin typeface="Times New Roman"/>
              <a:cs typeface="Times New Roman"/>
            </a:endParaRPr>
          </a:p>
          <a:p>
            <a:pPr lvl="1">
              <a:lnSpc>
                <a:spcPct val="100000"/>
              </a:lnSpc>
              <a:spcBef>
                <a:spcPts val="1090"/>
              </a:spcBef>
              <a:buClr>
                <a:srgbClr val="3E762B"/>
              </a:buClr>
              <a:buFont typeface="Wingdings"/>
              <a:buChar char=""/>
            </a:pPr>
            <a:endParaRPr sz="1600">
              <a:latin typeface="Times New Roman"/>
              <a:cs typeface="Times New Roman"/>
            </a:endParaRPr>
          </a:p>
          <a:p>
            <a:pPr marL="443230" lvl="1" indent="-182880">
              <a:lnSpc>
                <a:spcPct val="100000"/>
              </a:lnSpc>
              <a:spcBef>
                <a:spcPts val="5"/>
              </a:spcBef>
              <a:buClr>
                <a:srgbClr val="3E762B"/>
              </a:buClr>
              <a:buSzPct val="93750"/>
              <a:buFont typeface="Wingdings"/>
              <a:buChar char=""/>
              <a:tabLst>
                <a:tab pos="443230" algn="l"/>
              </a:tabLst>
            </a:pPr>
            <a:r>
              <a:rPr sz="1600" b="1" spc="-10" dirty="0">
                <a:latin typeface="Times New Roman"/>
                <a:cs typeface="Times New Roman"/>
              </a:rPr>
              <a:t>Solution</a:t>
            </a:r>
            <a:endParaRPr sz="1600">
              <a:latin typeface="Times New Roman"/>
              <a:cs typeface="Times New Roman"/>
            </a:endParaRPr>
          </a:p>
          <a:p>
            <a:pPr marL="852805" lvl="2" indent="-133350">
              <a:lnSpc>
                <a:spcPct val="100000"/>
              </a:lnSpc>
              <a:spcBef>
                <a:spcPts val="480"/>
              </a:spcBef>
              <a:buChar char="-"/>
              <a:tabLst>
                <a:tab pos="852805" algn="l"/>
              </a:tabLst>
            </a:pPr>
            <a:r>
              <a:rPr sz="1800" b="1" dirty="0">
                <a:solidFill>
                  <a:srgbClr val="3E762B"/>
                </a:solidFill>
                <a:latin typeface="Times New Roman"/>
                <a:cs typeface="Times New Roman"/>
              </a:rPr>
              <a:t>stall</a:t>
            </a:r>
            <a:r>
              <a:rPr sz="1800" b="1" spc="-85" dirty="0">
                <a:solidFill>
                  <a:srgbClr val="3E762B"/>
                </a:solidFill>
                <a:latin typeface="Times New Roman"/>
                <a:cs typeface="Times New Roman"/>
              </a:rPr>
              <a:t> </a:t>
            </a:r>
            <a:r>
              <a:rPr sz="1600" dirty="0">
                <a:latin typeface="Times New Roman"/>
                <a:cs typeface="Times New Roman"/>
              </a:rPr>
              <a:t>one</a:t>
            </a:r>
            <a:r>
              <a:rPr sz="1600" spc="-35" dirty="0">
                <a:latin typeface="Times New Roman"/>
                <a:cs typeface="Times New Roman"/>
              </a:rPr>
              <a:t> </a:t>
            </a:r>
            <a:r>
              <a:rPr sz="1600" dirty="0">
                <a:latin typeface="Times New Roman"/>
                <a:cs typeface="Times New Roman"/>
              </a:rPr>
              <a:t>instruction</a:t>
            </a:r>
            <a:r>
              <a:rPr sz="1600" spc="-45" dirty="0">
                <a:latin typeface="Times New Roman"/>
                <a:cs typeface="Times New Roman"/>
              </a:rPr>
              <a:t> </a:t>
            </a:r>
            <a:r>
              <a:rPr sz="1600" dirty="0">
                <a:latin typeface="Times New Roman"/>
                <a:cs typeface="Times New Roman"/>
              </a:rPr>
              <a:t>until</a:t>
            </a:r>
            <a:r>
              <a:rPr sz="1600" spc="-35"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required</a:t>
            </a:r>
            <a:r>
              <a:rPr sz="1600" spc="-25" dirty="0">
                <a:latin typeface="Times New Roman"/>
                <a:cs typeface="Times New Roman"/>
              </a:rPr>
              <a:t> </a:t>
            </a:r>
            <a:r>
              <a:rPr sz="1600" dirty="0">
                <a:latin typeface="Times New Roman"/>
                <a:cs typeface="Times New Roman"/>
              </a:rPr>
              <a:t>unit</a:t>
            </a:r>
            <a:r>
              <a:rPr sz="1600" spc="-50" dirty="0">
                <a:latin typeface="Times New Roman"/>
                <a:cs typeface="Times New Roman"/>
              </a:rPr>
              <a:t> </a:t>
            </a:r>
            <a:r>
              <a:rPr sz="1600" dirty="0">
                <a:latin typeface="Times New Roman"/>
                <a:cs typeface="Times New Roman"/>
              </a:rPr>
              <a:t>is</a:t>
            </a:r>
            <a:r>
              <a:rPr sz="1600" spc="-20" dirty="0">
                <a:latin typeface="Times New Roman"/>
                <a:cs typeface="Times New Roman"/>
              </a:rPr>
              <a:t> </a:t>
            </a:r>
            <a:r>
              <a:rPr sz="1600" spc="-10" dirty="0">
                <a:latin typeface="Times New Roman"/>
                <a:cs typeface="Times New Roman"/>
              </a:rPr>
              <a:t>available</a:t>
            </a:r>
            <a:endParaRPr sz="1600">
              <a:latin typeface="Times New Roman"/>
              <a:cs typeface="Times New Roman"/>
            </a:endParaRPr>
          </a:p>
          <a:p>
            <a:pPr marL="852805" lvl="2" indent="-133350">
              <a:lnSpc>
                <a:spcPct val="100000"/>
              </a:lnSpc>
              <a:spcBef>
                <a:spcPts val="480"/>
              </a:spcBef>
              <a:buSzPct val="112500"/>
              <a:buChar char="-"/>
              <a:tabLst>
                <a:tab pos="852805" algn="l"/>
              </a:tabLst>
            </a:pPr>
            <a:r>
              <a:rPr sz="1600" b="1" dirty="0">
                <a:solidFill>
                  <a:srgbClr val="3E762B"/>
                </a:solidFill>
                <a:latin typeface="Times New Roman"/>
                <a:cs typeface="Times New Roman"/>
              </a:rPr>
              <a:t>Add</a:t>
            </a:r>
            <a:r>
              <a:rPr sz="1600" b="1" spc="-5" dirty="0">
                <a:solidFill>
                  <a:srgbClr val="3E762B"/>
                </a:solidFill>
                <a:latin typeface="Times New Roman"/>
                <a:cs typeface="Times New Roman"/>
              </a:rPr>
              <a:t> </a:t>
            </a:r>
            <a:r>
              <a:rPr sz="1600" b="1" spc="-10" dirty="0">
                <a:solidFill>
                  <a:srgbClr val="3E762B"/>
                </a:solidFill>
                <a:latin typeface="Times New Roman"/>
                <a:cs typeface="Times New Roman"/>
              </a:rPr>
              <a:t>Resources</a:t>
            </a:r>
            <a:endParaRPr sz="16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307335" y="5585460"/>
              <a:ext cx="3657600" cy="2520696"/>
            </a:xfrm>
            <a:prstGeom prst="rect">
              <a:avLst/>
            </a:prstGeom>
          </p:spPr>
        </p:pic>
      </p:grpSp>
      <p:sp>
        <p:nvSpPr>
          <p:cNvPr id="8" name="object 8"/>
          <p:cNvSpPr txBox="1"/>
          <p:nvPr/>
        </p:nvSpPr>
        <p:spPr>
          <a:xfrm>
            <a:off x="627887" y="5743447"/>
            <a:ext cx="1211580" cy="1196340"/>
          </a:xfrm>
          <a:prstGeom prst="rect">
            <a:avLst/>
          </a:prstGeom>
        </p:spPr>
        <p:txBody>
          <a:bodyPr vert="horz" wrap="square" lIns="0" tIns="13335" rIns="0" bIns="0" rtlCol="0">
            <a:spAutoFit/>
          </a:bodyPr>
          <a:lstStyle/>
          <a:p>
            <a:pPr>
              <a:lnSpc>
                <a:spcPct val="100000"/>
              </a:lnSpc>
              <a:spcBef>
                <a:spcPts val="105"/>
              </a:spcBef>
              <a:tabLst>
                <a:tab pos="439420" algn="l"/>
              </a:tabLst>
            </a:pPr>
            <a:r>
              <a:rPr sz="1100" spc="-25" dirty="0">
                <a:latin typeface="Verdana"/>
                <a:cs typeface="Verdana"/>
              </a:rPr>
              <a:t>ADD</a:t>
            </a:r>
            <a:r>
              <a:rPr sz="110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dirty="0">
                <a:latin typeface="Verdana"/>
                <a:cs typeface="Verdana"/>
              </a:rPr>
              <a:t>R2,</a:t>
            </a:r>
            <a:r>
              <a:rPr sz="1100" spc="-15" dirty="0">
                <a:latin typeface="Verdana"/>
                <a:cs typeface="Verdana"/>
              </a:rPr>
              <a:t> </a:t>
            </a:r>
            <a:r>
              <a:rPr sz="1100" spc="-25" dirty="0">
                <a:latin typeface="Verdana"/>
                <a:cs typeface="Verdana"/>
              </a:rPr>
              <a:t>R3</a:t>
            </a:r>
            <a:endParaRPr sz="1100">
              <a:latin typeface="Verdana"/>
              <a:cs typeface="Verdana"/>
            </a:endParaRPr>
          </a:p>
          <a:p>
            <a:pPr marR="5080">
              <a:lnSpc>
                <a:spcPts val="4210"/>
              </a:lnSpc>
              <a:tabLst>
                <a:tab pos="439420" algn="l"/>
              </a:tabLst>
            </a:pPr>
            <a:r>
              <a:rPr sz="1100" spc="-25" dirty="0">
                <a:latin typeface="Verdana"/>
                <a:cs typeface="Verdana"/>
              </a:rPr>
              <a:t>SUB</a:t>
            </a:r>
            <a:r>
              <a:rPr sz="1100" dirty="0">
                <a:latin typeface="Verdana"/>
                <a:cs typeface="Verdana"/>
              </a:rPr>
              <a:t>	R4,</a:t>
            </a:r>
            <a:r>
              <a:rPr sz="1100" spc="-15" dirty="0">
                <a:latin typeface="Verdana"/>
                <a:cs typeface="Verdana"/>
              </a:rPr>
              <a:t> </a:t>
            </a:r>
            <a:r>
              <a:rPr sz="1100" dirty="0">
                <a:solidFill>
                  <a:srgbClr val="FF00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R5 AND</a:t>
            </a:r>
            <a:r>
              <a:rPr sz="1100" dirty="0">
                <a:latin typeface="Verdana"/>
                <a:cs typeface="Verdana"/>
              </a:rPr>
              <a:t>	R6,</a:t>
            </a:r>
            <a:r>
              <a:rPr sz="1100" spc="-15" dirty="0">
                <a:latin typeface="Verdana"/>
                <a:cs typeface="Verdana"/>
              </a:rPr>
              <a:t> </a:t>
            </a:r>
            <a:r>
              <a:rPr sz="1100" dirty="0">
                <a:solidFill>
                  <a:srgbClr val="FF00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R7</a:t>
            </a:r>
            <a:endParaRPr sz="1100">
              <a:latin typeface="Verdana"/>
              <a:cs typeface="Verdana"/>
            </a:endParaRPr>
          </a:p>
        </p:txBody>
      </p:sp>
      <p:sp>
        <p:nvSpPr>
          <p:cNvPr id="9" name="object 9"/>
          <p:cNvSpPr txBox="1"/>
          <p:nvPr/>
        </p:nvSpPr>
        <p:spPr>
          <a:xfrm>
            <a:off x="627887" y="7280529"/>
            <a:ext cx="1211580" cy="193675"/>
          </a:xfrm>
          <a:prstGeom prst="rect">
            <a:avLst/>
          </a:prstGeom>
        </p:spPr>
        <p:txBody>
          <a:bodyPr vert="horz" wrap="square" lIns="0" tIns="12700" rIns="0" bIns="0" rtlCol="0">
            <a:spAutoFit/>
          </a:bodyPr>
          <a:lstStyle/>
          <a:p>
            <a:pPr>
              <a:lnSpc>
                <a:spcPct val="100000"/>
              </a:lnSpc>
              <a:spcBef>
                <a:spcPts val="100"/>
              </a:spcBef>
              <a:tabLst>
                <a:tab pos="439420" algn="l"/>
              </a:tabLst>
            </a:pPr>
            <a:r>
              <a:rPr sz="1100" spc="-25" dirty="0">
                <a:latin typeface="Verdana"/>
                <a:cs typeface="Verdana"/>
              </a:rPr>
              <a:t>OR</a:t>
            </a:r>
            <a:r>
              <a:rPr sz="1100" dirty="0">
                <a:latin typeface="Verdana"/>
                <a:cs typeface="Verdana"/>
              </a:rPr>
              <a:t>	R8,</a:t>
            </a:r>
            <a:r>
              <a:rPr sz="1100" spc="-1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R9</a:t>
            </a:r>
            <a:endParaRPr sz="1100">
              <a:latin typeface="Verdana"/>
              <a:cs typeface="Verdana"/>
            </a:endParaRPr>
          </a:p>
        </p:txBody>
      </p:sp>
      <p:sp>
        <p:nvSpPr>
          <p:cNvPr id="10" name="object 10"/>
          <p:cNvSpPr txBox="1"/>
          <p:nvPr/>
        </p:nvSpPr>
        <p:spPr>
          <a:xfrm>
            <a:off x="627887" y="7748422"/>
            <a:ext cx="1387475" cy="193675"/>
          </a:xfrm>
          <a:prstGeom prst="rect">
            <a:avLst/>
          </a:prstGeom>
        </p:spPr>
        <p:txBody>
          <a:bodyPr vert="horz" wrap="square" lIns="0" tIns="12700" rIns="0" bIns="0" rtlCol="0">
            <a:spAutoFit/>
          </a:bodyPr>
          <a:lstStyle/>
          <a:p>
            <a:pPr>
              <a:lnSpc>
                <a:spcPct val="100000"/>
              </a:lnSpc>
              <a:spcBef>
                <a:spcPts val="100"/>
              </a:spcBef>
              <a:tabLst>
                <a:tab pos="439420" algn="l"/>
              </a:tabLst>
            </a:pPr>
            <a:r>
              <a:rPr sz="1100" spc="-25" dirty="0">
                <a:latin typeface="Verdana"/>
                <a:cs typeface="Verdana"/>
              </a:rPr>
              <a:t>XOR</a:t>
            </a:r>
            <a:r>
              <a:rPr sz="1100" dirty="0">
                <a:latin typeface="Verdana"/>
                <a:cs typeface="Verdana"/>
              </a:rPr>
              <a:t>	R10,</a:t>
            </a:r>
            <a:r>
              <a:rPr sz="1100" spc="-2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20" dirty="0">
                <a:latin typeface="Verdana"/>
                <a:cs typeface="Verdana"/>
              </a:rPr>
              <a:t> </a:t>
            </a:r>
            <a:r>
              <a:rPr sz="1100" spc="-25" dirty="0">
                <a:latin typeface="Verdana"/>
                <a:cs typeface="Verdana"/>
              </a:rPr>
              <a:t>R11</a:t>
            </a:r>
            <a:endParaRPr sz="1100">
              <a:latin typeface="Verdana"/>
              <a:cs typeface="Verdana"/>
            </a:endParaRPr>
          </a:p>
        </p:txBody>
      </p:sp>
      <p:sp>
        <p:nvSpPr>
          <p:cNvPr id="11" name="object 11"/>
          <p:cNvSpPr txBox="1"/>
          <p:nvPr/>
        </p:nvSpPr>
        <p:spPr>
          <a:xfrm>
            <a:off x="4830190" y="5509386"/>
            <a:ext cx="217170" cy="208279"/>
          </a:xfrm>
          <a:prstGeom prst="rect">
            <a:avLst/>
          </a:prstGeom>
        </p:spPr>
        <p:txBody>
          <a:bodyPr vert="horz" wrap="square" lIns="0" tIns="12700" rIns="0" bIns="0" rtlCol="0">
            <a:spAutoFit/>
          </a:bodyPr>
          <a:lstStyle/>
          <a:p>
            <a:pPr>
              <a:lnSpc>
                <a:spcPct val="100000"/>
              </a:lnSpc>
              <a:spcBef>
                <a:spcPts val="100"/>
              </a:spcBef>
            </a:pPr>
            <a:r>
              <a:rPr sz="1200" spc="-25" dirty="0">
                <a:solidFill>
                  <a:srgbClr val="00CC00"/>
                </a:solidFill>
                <a:latin typeface="Verdana"/>
                <a:cs typeface="Verdana"/>
              </a:rPr>
              <a:t>R1</a:t>
            </a:r>
            <a:endParaRPr sz="1200">
              <a:latin typeface="Verdana"/>
              <a:cs typeface="Verdana"/>
            </a:endParaRPr>
          </a:p>
        </p:txBody>
      </p:sp>
      <p:grpSp>
        <p:nvGrpSpPr>
          <p:cNvPr id="12" name="object 12"/>
          <p:cNvGrpSpPr/>
          <p:nvPr/>
        </p:nvGrpSpPr>
        <p:grpSpPr>
          <a:xfrm>
            <a:off x="3755897" y="5892165"/>
            <a:ext cx="1838960" cy="1881505"/>
            <a:chOff x="3755897" y="5892165"/>
            <a:chExt cx="1838960" cy="1881505"/>
          </a:xfrm>
        </p:grpSpPr>
        <p:sp>
          <p:nvSpPr>
            <p:cNvPr id="13" name="object 13"/>
            <p:cNvSpPr/>
            <p:nvPr/>
          </p:nvSpPr>
          <p:spPr>
            <a:xfrm>
              <a:off x="3755898" y="5892165"/>
              <a:ext cx="1227455" cy="878205"/>
            </a:xfrm>
            <a:custGeom>
              <a:avLst/>
              <a:gdLst/>
              <a:ahLst/>
              <a:cxnLst/>
              <a:rect l="l" t="t" r="r" b="b"/>
              <a:pathLst>
                <a:path w="1227454" h="878204">
                  <a:moveTo>
                    <a:pt x="1227201" y="15494"/>
                  </a:moveTo>
                  <a:lnTo>
                    <a:pt x="1219200" y="9525"/>
                  </a:lnTo>
                  <a:lnTo>
                    <a:pt x="1216533" y="0"/>
                  </a:lnTo>
                  <a:lnTo>
                    <a:pt x="54737" y="318071"/>
                  </a:lnTo>
                  <a:lnTo>
                    <a:pt x="49530" y="298958"/>
                  </a:lnTo>
                  <a:lnTo>
                    <a:pt x="0" y="343281"/>
                  </a:lnTo>
                  <a:lnTo>
                    <a:pt x="65151" y="356235"/>
                  </a:lnTo>
                  <a:lnTo>
                    <a:pt x="60642" y="339725"/>
                  </a:lnTo>
                  <a:lnTo>
                    <a:pt x="59931" y="337121"/>
                  </a:lnTo>
                  <a:lnTo>
                    <a:pt x="1193952" y="26695"/>
                  </a:lnTo>
                  <a:lnTo>
                    <a:pt x="599109" y="824699"/>
                  </a:lnTo>
                  <a:lnTo>
                    <a:pt x="583184" y="812800"/>
                  </a:lnTo>
                  <a:lnTo>
                    <a:pt x="571500" y="878205"/>
                  </a:lnTo>
                  <a:lnTo>
                    <a:pt x="630809" y="848360"/>
                  </a:lnTo>
                  <a:lnTo>
                    <a:pt x="625525" y="844423"/>
                  </a:lnTo>
                  <a:lnTo>
                    <a:pt x="614972" y="836536"/>
                  </a:lnTo>
                  <a:lnTo>
                    <a:pt x="1227201" y="15494"/>
                  </a:lnTo>
                  <a:close/>
                </a:path>
              </a:pathLst>
            </a:custGeom>
            <a:solidFill>
              <a:srgbClr val="FF0000"/>
            </a:solidFill>
          </p:spPr>
          <p:txBody>
            <a:bodyPr wrap="square" lIns="0" tIns="0" rIns="0" bIns="0" rtlCol="0"/>
            <a:lstStyle/>
            <a:p>
              <a:endParaRPr/>
            </a:p>
          </p:txBody>
        </p:sp>
        <p:sp>
          <p:nvSpPr>
            <p:cNvPr id="14" name="object 14"/>
            <p:cNvSpPr/>
            <p:nvPr/>
          </p:nvSpPr>
          <p:spPr>
            <a:xfrm>
              <a:off x="4945380" y="5898642"/>
              <a:ext cx="649605" cy="1874520"/>
            </a:xfrm>
            <a:custGeom>
              <a:avLst/>
              <a:gdLst/>
              <a:ahLst/>
              <a:cxnLst/>
              <a:rect l="l" t="t" r="r" b="b"/>
              <a:pathLst>
                <a:path w="649604" h="1874520">
                  <a:moveTo>
                    <a:pt x="649224" y="1808861"/>
                  </a:moveTo>
                  <a:lnTo>
                    <a:pt x="630288" y="1814995"/>
                  </a:lnTo>
                  <a:lnTo>
                    <a:pt x="39116" y="0"/>
                  </a:lnTo>
                  <a:lnTo>
                    <a:pt x="29718" y="3048"/>
                  </a:lnTo>
                  <a:lnTo>
                    <a:pt x="19812" y="3048"/>
                  </a:lnTo>
                  <a:lnTo>
                    <a:pt x="19812" y="1313688"/>
                  </a:lnTo>
                  <a:lnTo>
                    <a:pt x="0" y="1313688"/>
                  </a:lnTo>
                  <a:lnTo>
                    <a:pt x="29718" y="1373124"/>
                  </a:lnTo>
                  <a:lnTo>
                    <a:pt x="54483" y="1323594"/>
                  </a:lnTo>
                  <a:lnTo>
                    <a:pt x="59436" y="1313688"/>
                  </a:lnTo>
                  <a:lnTo>
                    <a:pt x="39624" y="1313688"/>
                  </a:lnTo>
                  <a:lnTo>
                    <a:pt x="39624" y="65366"/>
                  </a:lnTo>
                  <a:lnTo>
                    <a:pt x="611492" y="1821078"/>
                  </a:lnTo>
                  <a:lnTo>
                    <a:pt x="592709" y="1827149"/>
                  </a:lnTo>
                  <a:lnTo>
                    <a:pt x="639318" y="1874520"/>
                  </a:lnTo>
                  <a:lnTo>
                    <a:pt x="645960" y="1830451"/>
                  </a:lnTo>
                  <a:lnTo>
                    <a:pt x="649224" y="1808861"/>
                  </a:lnTo>
                  <a:close/>
                </a:path>
              </a:pathLst>
            </a:custGeom>
            <a:solidFill>
              <a:srgbClr val="00CC00"/>
            </a:solidFill>
          </p:spPr>
          <p:txBody>
            <a:bodyPr wrap="square" lIns="0" tIns="0" rIns="0" bIns="0" rtlCol="0"/>
            <a:lstStyle/>
            <a:p>
              <a:endParaRPr/>
            </a:p>
          </p:txBody>
        </p:sp>
      </p:grpSp>
      <p:sp>
        <p:nvSpPr>
          <p:cNvPr id="15" name="object 15"/>
          <p:cNvSpPr txBox="1"/>
          <p:nvPr/>
        </p:nvSpPr>
        <p:spPr>
          <a:xfrm>
            <a:off x="2308732" y="7284466"/>
            <a:ext cx="970280" cy="643255"/>
          </a:xfrm>
          <a:prstGeom prst="rect">
            <a:avLst/>
          </a:prstGeom>
        </p:spPr>
        <p:txBody>
          <a:bodyPr vert="horz" wrap="square" lIns="0" tIns="81280" rIns="0" bIns="0" rtlCol="0">
            <a:spAutoFit/>
          </a:bodyPr>
          <a:lstStyle/>
          <a:p>
            <a:pPr marL="25400">
              <a:lnSpc>
                <a:spcPct val="100000"/>
              </a:lnSpc>
              <a:spcBef>
                <a:spcPts val="640"/>
              </a:spcBef>
            </a:pPr>
            <a:r>
              <a:rPr sz="900" dirty="0">
                <a:latin typeface="Verdana"/>
                <a:cs typeface="Verdana"/>
              </a:rPr>
              <a:t>No</a:t>
            </a:r>
            <a:r>
              <a:rPr sz="900" spc="-20" dirty="0">
                <a:latin typeface="Verdana"/>
                <a:cs typeface="Verdana"/>
              </a:rPr>
              <a:t> </a:t>
            </a:r>
            <a:r>
              <a:rPr sz="900" spc="-10" dirty="0">
                <a:latin typeface="Verdana"/>
                <a:cs typeface="Verdana"/>
              </a:rPr>
              <a:t>hazard</a:t>
            </a:r>
            <a:endParaRPr sz="900">
              <a:latin typeface="Verdana"/>
              <a:cs typeface="Verdana"/>
            </a:endParaRPr>
          </a:p>
          <a:p>
            <a:pPr marL="25400" marR="30480">
              <a:lnSpc>
                <a:spcPts val="1620"/>
              </a:lnSpc>
              <a:spcBef>
                <a:spcPts val="100"/>
              </a:spcBef>
            </a:pPr>
            <a:r>
              <a:rPr sz="900" dirty="0">
                <a:latin typeface="Verdana"/>
                <a:cs typeface="Verdana"/>
              </a:rPr>
              <a:t>1</a:t>
            </a:r>
            <a:r>
              <a:rPr sz="900" baseline="27777" dirty="0">
                <a:latin typeface="Verdana"/>
                <a:cs typeface="Verdana"/>
              </a:rPr>
              <a:t>st</a:t>
            </a:r>
            <a:r>
              <a:rPr sz="900" spc="97" baseline="27777" dirty="0">
                <a:latin typeface="Verdana"/>
                <a:cs typeface="Verdana"/>
              </a:rPr>
              <a:t> </a:t>
            </a:r>
            <a:r>
              <a:rPr sz="900" dirty="0">
                <a:latin typeface="Verdana"/>
                <a:cs typeface="Verdana"/>
              </a:rPr>
              <a:t>half</a:t>
            </a:r>
            <a:r>
              <a:rPr sz="900" spc="-35" dirty="0">
                <a:latin typeface="Verdana"/>
                <a:cs typeface="Verdana"/>
              </a:rPr>
              <a:t> </a:t>
            </a:r>
            <a:r>
              <a:rPr sz="900" dirty="0">
                <a:latin typeface="Verdana"/>
                <a:cs typeface="Verdana"/>
              </a:rPr>
              <a:t>cycle:</a:t>
            </a:r>
            <a:r>
              <a:rPr sz="900" spc="-30" dirty="0">
                <a:latin typeface="Verdana"/>
                <a:cs typeface="Verdana"/>
              </a:rPr>
              <a:t> </a:t>
            </a:r>
            <a:r>
              <a:rPr sz="900" spc="-50" dirty="0">
                <a:latin typeface="Verdana"/>
                <a:cs typeface="Verdana"/>
              </a:rPr>
              <a:t>w </a:t>
            </a:r>
            <a:r>
              <a:rPr sz="900" dirty="0">
                <a:latin typeface="Verdana"/>
                <a:cs typeface="Verdana"/>
              </a:rPr>
              <a:t>2</a:t>
            </a:r>
            <a:r>
              <a:rPr sz="900" baseline="27777" dirty="0">
                <a:latin typeface="Verdana"/>
                <a:cs typeface="Verdana"/>
              </a:rPr>
              <a:t>nd</a:t>
            </a:r>
            <a:r>
              <a:rPr sz="900" spc="142" baseline="27777" dirty="0">
                <a:latin typeface="Verdana"/>
                <a:cs typeface="Verdana"/>
              </a:rPr>
              <a:t> </a:t>
            </a:r>
            <a:r>
              <a:rPr sz="900" dirty="0">
                <a:latin typeface="Verdana"/>
                <a:cs typeface="Verdana"/>
              </a:rPr>
              <a:t>half</a:t>
            </a:r>
            <a:r>
              <a:rPr sz="900" spc="-10" dirty="0">
                <a:latin typeface="Verdana"/>
                <a:cs typeface="Verdana"/>
              </a:rPr>
              <a:t> cycle:</a:t>
            </a:r>
            <a:r>
              <a:rPr sz="900" spc="-20" dirty="0">
                <a:latin typeface="Verdana"/>
                <a:cs typeface="Verdana"/>
              </a:rPr>
              <a:t> </a:t>
            </a:r>
            <a:r>
              <a:rPr sz="900" spc="-50" dirty="0">
                <a:latin typeface="Verdana"/>
                <a:cs typeface="Verdana"/>
              </a:rPr>
              <a:t>r</a:t>
            </a:r>
            <a:endParaRPr sz="900">
              <a:latin typeface="Verdana"/>
              <a:cs typeface="Verdana"/>
            </a:endParaRPr>
          </a:p>
        </p:txBody>
      </p:sp>
      <p:sp>
        <p:nvSpPr>
          <p:cNvPr id="16" name="object 16"/>
          <p:cNvSpPr/>
          <p:nvPr/>
        </p:nvSpPr>
        <p:spPr>
          <a:xfrm>
            <a:off x="2052066" y="7236714"/>
            <a:ext cx="1282065" cy="803275"/>
          </a:xfrm>
          <a:custGeom>
            <a:avLst/>
            <a:gdLst/>
            <a:ahLst/>
            <a:cxnLst/>
            <a:rect l="l" t="t" r="r" b="b"/>
            <a:pathLst>
              <a:path w="1282064" h="803275">
                <a:moveTo>
                  <a:pt x="190500" y="207518"/>
                </a:moveTo>
                <a:lnTo>
                  <a:pt x="198415" y="168241"/>
                </a:lnTo>
                <a:lnTo>
                  <a:pt x="220011" y="136191"/>
                </a:lnTo>
                <a:lnTo>
                  <a:pt x="252061" y="114595"/>
                </a:lnTo>
                <a:lnTo>
                  <a:pt x="291338" y="106680"/>
                </a:lnTo>
                <a:lnTo>
                  <a:pt x="1180845" y="106680"/>
                </a:lnTo>
                <a:lnTo>
                  <a:pt x="1220122" y="114595"/>
                </a:lnTo>
                <a:lnTo>
                  <a:pt x="1252172" y="136191"/>
                </a:lnTo>
                <a:lnTo>
                  <a:pt x="1273768" y="168241"/>
                </a:lnTo>
                <a:lnTo>
                  <a:pt x="1281683" y="207518"/>
                </a:lnTo>
                <a:lnTo>
                  <a:pt x="1281683" y="610870"/>
                </a:lnTo>
                <a:lnTo>
                  <a:pt x="1273768" y="650119"/>
                </a:lnTo>
                <a:lnTo>
                  <a:pt x="1252172" y="682172"/>
                </a:lnTo>
                <a:lnTo>
                  <a:pt x="1220122" y="703783"/>
                </a:lnTo>
                <a:lnTo>
                  <a:pt x="1180845" y="711708"/>
                </a:lnTo>
                <a:lnTo>
                  <a:pt x="291338" y="711708"/>
                </a:lnTo>
                <a:lnTo>
                  <a:pt x="252061" y="703783"/>
                </a:lnTo>
                <a:lnTo>
                  <a:pt x="220011" y="682172"/>
                </a:lnTo>
                <a:lnTo>
                  <a:pt x="198415" y="650119"/>
                </a:lnTo>
                <a:lnTo>
                  <a:pt x="190500" y="610870"/>
                </a:lnTo>
                <a:lnTo>
                  <a:pt x="190500" y="207518"/>
                </a:lnTo>
                <a:close/>
              </a:path>
              <a:path w="1282064" h="803275">
                <a:moveTo>
                  <a:pt x="0" y="0"/>
                </a:moveTo>
                <a:lnTo>
                  <a:pt x="34718" y="1160"/>
                </a:lnTo>
                <a:lnTo>
                  <a:pt x="63055" y="4333"/>
                </a:lnTo>
                <a:lnTo>
                  <a:pt x="82153" y="9054"/>
                </a:lnTo>
                <a:lnTo>
                  <a:pt x="89153" y="14859"/>
                </a:lnTo>
                <a:lnTo>
                  <a:pt x="89153" y="386715"/>
                </a:lnTo>
                <a:lnTo>
                  <a:pt x="96154" y="392519"/>
                </a:lnTo>
                <a:lnTo>
                  <a:pt x="115252" y="397240"/>
                </a:lnTo>
                <a:lnTo>
                  <a:pt x="143589" y="400413"/>
                </a:lnTo>
                <a:lnTo>
                  <a:pt x="178307" y="401574"/>
                </a:lnTo>
                <a:lnTo>
                  <a:pt x="143589" y="402734"/>
                </a:lnTo>
                <a:lnTo>
                  <a:pt x="115252" y="405907"/>
                </a:lnTo>
                <a:lnTo>
                  <a:pt x="96154" y="410628"/>
                </a:lnTo>
                <a:lnTo>
                  <a:pt x="89153" y="416433"/>
                </a:lnTo>
                <a:lnTo>
                  <a:pt x="89153" y="788289"/>
                </a:lnTo>
                <a:lnTo>
                  <a:pt x="82153" y="794071"/>
                </a:lnTo>
                <a:lnTo>
                  <a:pt x="63055" y="798795"/>
                </a:lnTo>
                <a:lnTo>
                  <a:pt x="34718" y="801979"/>
                </a:lnTo>
                <a:lnTo>
                  <a:pt x="0" y="803148"/>
                </a:lnTo>
              </a:path>
            </a:pathLst>
          </a:custGeom>
          <a:ln w="19812">
            <a:solidFill>
              <a:srgbClr val="00CC00"/>
            </a:solidFill>
          </a:ln>
        </p:spPr>
        <p:txBody>
          <a:bodyPr wrap="square" lIns="0" tIns="0" rIns="0" bIns="0" rtlCol="0"/>
          <a:lstStyle/>
          <a:p>
            <a:endParaRPr/>
          </a:p>
        </p:txBody>
      </p:sp>
      <p:sp>
        <p:nvSpPr>
          <p:cNvPr id="17" name="object 17"/>
          <p:cNvSpPr txBox="1"/>
          <p:nvPr/>
        </p:nvSpPr>
        <p:spPr>
          <a:xfrm>
            <a:off x="725423" y="5069586"/>
            <a:ext cx="1872614" cy="36068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2.</a:t>
            </a:r>
            <a:r>
              <a:rPr sz="2200" spc="-35" dirty="0">
                <a:latin typeface="Georgia"/>
                <a:cs typeface="Georgia"/>
              </a:rPr>
              <a:t> </a:t>
            </a:r>
            <a:r>
              <a:rPr sz="2200" dirty="0">
                <a:latin typeface="Georgia"/>
                <a:cs typeface="Georgia"/>
              </a:rPr>
              <a:t>Data</a:t>
            </a:r>
            <a:r>
              <a:rPr sz="2200" spc="-10" dirty="0">
                <a:latin typeface="Georgia"/>
                <a:cs typeface="Georgia"/>
              </a:rPr>
              <a:t> Hazard</a:t>
            </a:r>
            <a:endParaRPr sz="22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2.</a:t>
            </a:r>
            <a:r>
              <a:rPr spc="-35" dirty="0"/>
              <a:t> </a:t>
            </a:r>
            <a:r>
              <a:rPr dirty="0"/>
              <a:t>Data</a:t>
            </a:r>
            <a:r>
              <a:rPr spc="-10" dirty="0"/>
              <a:t> Hazard</a:t>
            </a:r>
          </a:p>
        </p:txBody>
      </p:sp>
      <p:sp>
        <p:nvSpPr>
          <p:cNvPr id="3" name="object 3"/>
          <p:cNvSpPr txBox="1"/>
          <p:nvPr/>
        </p:nvSpPr>
        <p:spPr>
          <a:xfrm>
            <a:off x="641604" y="1806956"/>
            <a:ext cx="1456690" cy="2164080"/>
          </a:xfrm>
          <a:prstGeom prst="rect">
            <a:avLst/>
          </a:prstGeom>
        </p:spPr>
        <p:txBody>
          <a:bodyPr vert="horz" wrap="square" lIns="0" tIns="12700" rIns="0" bIns="0" rtlCol="0">
            <a:spAutoFit/>
          </a:bodyPr>
          <a:lstStyle/>
          <a:p>
            <a:pPr>
              <a:lnSpc>
                <a:spcPct val="100000"/>
              </a:lnSpc>
              <a:spcBef>
                <a:spcPts val="100"/>
              </a:spcBef>
              <a:tabLst>
                <a:tab pos="508634" algn="l"/>
              </a:tabLst>
            </a:pPr>
            <a:r>
              <a:rPr sz="1100" spc="-25" dirty="0">
                <a:latin typeface="Verdana"/>
                <a:cs typeface="Verdana"/>
              </a:rPr>
              <a:t>ADD</a:t>
            </a:r>
            <a:r>
              <a:rPr sz="110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dirty="0">
                <a:latin typeface="Verdana"/>
                <a:cs typeface="Verdana"/>
              </a:rPr>
              <a:t>R2,</a:t>
            </a:r>
            <a:r>
              <a:rPr sz="1100" spc="-15" dirty="0">
                <a:latin typeface="Verdana"/>
                <a:cs typeface="Verdana"/>
              </a:rPr>
              <a:t> </a:t>
            </a:r>
            <a:r>
              <a:rPr sz="1100" spc="-25" dirty="0">
                <a:latin typeface="Verdana"/>
                <a:cs typeface="Verdana"/>
              </a:rPr>
              <a:t>R3</a:t>
            </a:r>
            <a:endParaRPr sz="1100">
              <a:latin typeface="Verdana"/>
              <a:cs typeface="Verdana"/>
            </a:endParaRPr>
          </a:p>
          <a:p>
            <a:pPr>
              <a:lnSpc>
                <a:spcPct val="100000"/>
              </a:lnSpc>
              <a:spcBef>
                <a:spcPts val="965"/>
              </a:spcBef>
            </a:pPr>
            <a:endParaRPr sz="1100">
              <a:latin typeface="Verdana"/>
              <a:cs typeface="Verdana"/>
            </a:endParaRPr>
          </a:p>
          <a:p>
            <a:pPr>
              <a:lnSpc>
                <a:spcPct val="100000"/>
              </a:lnSpc>
              <a:tabLst>
                <a:tab pos="508634" algn="l"/>
              </a:tabLst>
            </a:pPr>
            <a:r>
              <a:rPr sz="1100" spc="-25" dirty="0">
                <a:latin typeface="Verdana"/>
                <a:cs typeface="Verdana"/>
              </a:rPr>
              <a:t>SUB</a:t>
            </a:r>
            <a:r>
              <a:rPr sz="1100" dirty="0">
                <a:latin typeface="Verdana"/>
                <a:cs typeface="Verdana"/>
              </a:rPr>
              <a:t>	R4,</a:t>
            </a:r>
            <a:r>
              <a:rPr sz="1100" spc="-1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R5</a:t>
            </a:r>
            <a:endParaRPr sz="1100">
              <a:latin typeface="Verdana"/>
              <a:cs typeface="Verdana"/>
            </a:endParaRPr>
          </a:p>
          <a:p>
            <a:pPr>
              <a:lnSpc>
                <a:spcPct val="100000"/>
              </a:lnSpc>
            </a:pPr>
            <a:endParaRPr sz="1100">
              <a:latin typeface="Verdana"/>
              <a:cs typeface="Verdana"/>
            </a:endParaRPr>
          </a:p>
          <a:p>
            <a:pPr>
              <a:lnSpc>
                <a:spcPct val="100000"/>
              </a:lnSpc>
              <a:spcBef>
                <a:spcPts val="145"/>
              </a:spcBef>
            </a:pPr>
            <a:endParaRPr sz="1100">
              <a:latin typeface="Verdana"/>
              <a:cs typeface="Verdana"/>
            </a:endParaRPr>
          </a:p>
          <a:p>
            <a:pPr>
              <a:lnSpc>
                <a:spcPct val="100000"/>
              </a:lnSpc>
              <a:tabLst>
                <a:tab pos="508634" algn="l"/>
              </a:tabLst>
            </a:pPr>
            <a:r>
              <a:rPr sz="1100" spc="-25" dirty="0">
                <a:latin typeface="Verdana"/>
                <a:cs typeface="Verdana"/>
              </a:rPr>
              <a:t>AND</a:t>
            </a:r>
            <a:r>
              <a:rPr sz="1100" dirty="0">
                <a:latin typeface="Verdana"/>
                <a:cs typeface="Verdana"/>
              </a:rPr>
              <a:t>	R6,</a:t>
            </a:r>
            <a:r>
              <a:rPr sz="1100" spc="-15" dirty="0">
                <a:latin typeface="Verdana"/>
                <a:cs typeface="Verdana"/>
              </a:rPr>
              <a:t> </a:t>
            </a:r>
            <a:r>
              <a:rPr sz="1100" dirty="0">
                <a:solidFill>
                  <a:srgbClr val="FF00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R7</a:t>
            </a:r>
            <a:endParaRPr sz="1100">
              <a:latin typeface="Verdana"/>
              <a:cs typeface="Verdana"/>
            </a:endParaRPr>
          </a:p>
          <a:p>
            <a:pPr marR="5080">
              <a:lnSpc>
                <a:spcPct val="274200"/>
              </a:lnSpc>
              <a:spcBef>
                <a:spcPts val="515"/>
              </a:spcBef>
              <a:tabLst>
                <a:tab pos="508634" algn="l"/>
              </a:tabLst>
            </a:pPr>
            <a:r>
              <a:rPr sz="1100" spc="-25" dirty="0">
                <a:latin typeface="Verdana"/>
                <a:cs typeface="Verdana"/>
              </a:rPr>
              <a:t>OR</a:t>
            </a:r>
            <a:r>
              <a:rPr sz="1100" dirty="0">
                <a:latin typeface="Verdana"/>
                <a:cs typeface="Verdana"/>
              </a:rPr>
              <a:t>	R8,</a:t>
            </a:r>
            <a:r>
              <a:rPr sz="1100" spc="-1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R9 XOR</a:t>
            </a:r>
            <a:r>
              <a:rPr sz="1100" dirty="0">
                <a:latin typeface="Verdana"/>
                <a:cs typeface="Verdana"/>
              </a:rPr>
              <a:t>	R10,</a:t>
            </a:r>
            <a:r>
              <a:rPr sz="1100" spc="-2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20" dirty="0">
                <a:latin typeface="Verdana"/>
                <a:cs typeface="Verdana"/>
              </a:rPr>
              <a:t> </a:t>
            </a:r>
            <a:r>
              <a:rPr sz="1100" spc="-25" dirty="0">
                <a:latin typeface="Verdana"/>
                <a:cs typeface="Verdana"/>
              </a:rPr>
              <a:t>R11</a:t>
            </a:r>
            <a:endParaRPr sz="1100">
              <a:latin typeface="Verdana"/>
              <a:cs typeface="Verdana"/>
            </a:endParaRPr>
          </a:p>
        </p:txBody>
      </p:sp>
      <p:pic>
        <p:nvPicPr>
          <p:cNvPr id="4" name="object 4"/>
          <p:cNvPicPr/>
          <p:nvPr/>
        </p:nvPicPr>
        <p:blipFill>
          <a:blip r:embed="rId2" cstate="print"/>
          <a:stretch>
            <a:fillRect/>
          </a:stretch>
        </p:blipFill>
        <p:spPr>
          <a:xfrm>
            <a:off x="2313432" y="1613916"/>
            <a:ext cx="3659124" cy="2520695"/>
          </a:xfrm>
          <a:prstGeom prst="rect">
            <a:avLst/>
          </a:prstGeom>
        </p:spPr>
      </p:pic>
      <p:sp>
        <p:nvSpPr>
          <p:cNvPr id="5" name="object 5"/>
          <p:cNvSpPr txBox="1"/>
          <p:nvPr/>
        </p:nvSpPr>
        <p:spPr>
          <a:xfrm>
            <a:off x="4837810" y="1536953"/>
            <a:ext cx="249554" cy="239395"/>
          </a:xfrm>
          <a:prstGeom prst="rect">
            <a:avLst/>
          </a:prstGeom>
        </p:spPr>
        <p:txBody>
          <a:bodyPr vert="horz" wrap="square" lIns="0" tIns="12700" rIns="0" bIns="0" rtlCol="0">
            <a:spAutoFit/>
          </a:bodyPr>
          <a:lstStyle/>
          <a:p>
            <a:pPr>
              <a:lnSpc>
                <a:spcPct val="100000"/>
              </a:lnSpc>
              <a:spcBef>
                <a:spcPts val="100"/>
              </a:spcBef>
            </a:pPr>
            <a:r>
              <a:rPr sz="1400" spc="-25" dirty="0">
                <a:solidFill>
                  <a:srgbClr val="00CC00"/>
                </a:solidFill>
                <a:latin typeface="Verdana"/>
                <a:cs typeface="Verdana"/>
              </a:rPr>
              <a:t>R1</a:t>
            </a:r>
            <a:endParaRPr sz="1400">
              <a:latin typeface="Verdana"/>
              <a:cs typeface="Verdana"/>
            </a:endParaRPr>
          </a:p>
        </p:txBody>
      </p:sp>
      <p:sp>
        <p:nvSpPr>
          <p:cNvPr id="6" name="object 6"/>
          <p:cNvSpPr/>
          <p:nvPr/>
        </p:nvSpPr>
        <p:spPr>
          <a:xfrm>
            <a:off x="4020820" y="1893316"/>
            <a:ext cx="170180" cy="438150"/>
          </a:xfrm>
          <a:custGeom>
            <a:avLst/>
            <a:gdLst/>
            <a:ahLst/>
            <a:cxnLst/>
            <a:rect l="l" t="t" r="r" b="b"/>
            <a:pathLst>
              <a:path w="170179" h="438150">
                <a:moveTo>
                  <a:pt x="132736" y="384859"/>
                </a:moveTo>
                <a:lnTo>
                  <a:pt x="114045" y="391413"/>
                </a:lnTo>
                <a:lnTo>
                  <a:pt x="161797" y="437641"/>
                </a:lnTo>
                <a:lnTo>
                  <a:pt x="167321" y="394207"/>
                </a:lnTo>
                <a:lnTo>
                  <a:pt x="136016" y="394207"/>
                </a:lnTo>
                <a:lnTo>
                  <a:pt x="132736" y="384859"/>
                </a:lnTo>
                <a:close/>
              </a:path>
              <a:path w="170179" h="438150">
                <a:moveTo>
                  <a:pt x="151426" y="378305"/>
                </a:moveTo>
                <a:lnTo>
                  <a:pt x="132736" y="384859"/>
                </a:lnTo>
                <a:lnTo>
                  <a:pt x="136016" y="394207"/>
                </a:lnTo>
                <a:lnTo>
                  <a:pt x="154685" y="387603"/>
                </a:lnTo>
                <a:lnTo>
                  <a:pt x="151426" y="378305"/>
                </a:lnTo>
                <a:close/>
              </a:path>
              <a:path w="170179" h="438150">
                <a:moveTo>
                  <a:pt x="170179" y="371728"/>
                </a:moveTo>
                <a:lnTo>
                  <a:pt x="151426" y="378305"/>
                </a:lnTo>
                <a:lnTo>
                  <a:pt x="154685" y="387603"/>
                </a:lnTo>
                <a:lnTo>
                  <a:pt x="136016" y="394207"/>
                </a:lnTo>
                <a:lnTo>
                  <a:pt x="167321" y="394207"/>
                </a:lnTo>
                <a:lnTo>
                  <a:pt x="170179" y="371728"/>
                </a:lnTo>
                <a:close/>
              </a:path>
              <a:path w="170179" h="438150">
                <a:moveTo>
                  <a:pt x="18795" y="0"/>
                </a:moveTo>
                <a:lnTo>
                  <a:pt x="0" y="6603"/>
                </a:lnTo>
                <a:lnTo>
                  <a:pt x="132736" y="384859"/>
                </a:lnTo>
                <a:lnTo>
                  <a:pt x="151426" y="378305"/>
                </a:lnTo>
                <a:lnTo>
                  <a:pt x="18795" y="0"/>
                </a:lnTo>
                <a:close/>
              </a:path>
            </a:pathLst>
          </a:custGeom>
          <a:solidFill>
            <a:srgbClr val="00CC00"/>
          </a:solidFill>
        </p:spPr>
        <p:txBody>
          <a:bodyPr wrap="square" lIns="0" tIns="0" rIns="0" bIns="0" rtlCol="0"/>
          <a:lstStyle/>
          <a:p>
            <a:endParaRPr/>
          </a:p>
        </p:txBody>
      </p:sp>
      <p:sp>
        <p:nvSpPr>
          <p:cNvPr id="7" name="object 7"/>
          <p:cNvSpPr txBox="1"/>
          <p:nvPr/>
        </p:nvSpPr>
        <p:spPr>
          <a:xfrm>
            <a:off x="3752977" y="1533271"/>
            <a:ext cx="742315" cy="239395"/>
          </a:xfrm>
          <a:prstGeom prst="rect">
            <a:avLst/>
          </a:prstGeom>
        </p:spPr>
        <p:txBody>
          <a:bodyPr vert="horz" wrap="square" lIns="0" tIns="12700" rIns="0" bIns="0" rtlCol="0">
            <a:spAutoFit/>
          </a:bodyPr>
          <a:lstStyle/>
          <a:p>
            <a:pPr>
              <a:lnSpc>
                <a:spcPct val="100000"/>
              </a:lnSpc>
              <a:spcBef>
                <a:spcPts val="100"/>
              </a:spcBef>
            </a:pPr>
            <a:r>
              <a:rPr sz="1400" spc="-10" dirty="0">
                <a:solidFill>
                  <a:srgbClr val="00CC00"/>
                </a:solidFill>
                <a:latin typeface="Verdana"/>
                <a:cs typeface="Verdana"/>
              </a:rPr>
              <a:t>EX/MEM</a:t>
            </a:r>
            <a:endParaRPr sz="1400">
              <a:latin typeface="Verdana"/>
              <a:cs typeface="Verdana"/>
            </a:endParaRPr>
          </a:p>
        </p:txBody>
      </p:sp>
      <p:grpSp>
        <p:nvGrpSpPr>
          <p:cNvPr id="8" name="object 8"/>
          <p:cNvGrpSpPr/>
          <p:nvPr/>
        </p:nvGrpSpPr>
        <p:grpSpPr>
          <a:xfrm>
            <a:off x="381000" y="4844796"/>
            <a:ext cx="6096000" cy="3429000"/>
            <a:chOff x="381000" y="4844796"/>
            <a:chExt cx="6096000" cy="3429000"/>
          </a:xfrm>
        </p:grpSpPr>
        <p:sp>
          <p:nvSpPr>
            <p:cNvPr id="9" name="object 9"/>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0" name="object 10"/>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1" name="object 11"/>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2" name="object 12"/>
          <p:cNvSpPr txBox="1"/>
          <p:nvPr/>
        </p:nvSpPr>
        <p:spPr>
          <a:xfrm>
            <a:off x="725423" y="5069586"/>
            <a:ext cx="1872614" cy="36068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2.</a:t>
            </a:r>
            <a:r>
              <a:rPr sz="2200" spc="-35" dirty="0">
                <a:latin typeface="Georgia"/>
                <a:cs typeface="Georgia"/>
              </a:rPr>
              <a:t> </a:t>
            </a:r>
            <a:r>
              <a:rPr sz="2200" dirty="0">
                <a:latin typeface="Georgia"/>
                <a:cs typeface="Georgia"/>
              </a:rPr>
              <a:t>Data</a:t>
            </a:r>
            <a:r>
              <a:rPr sz="2200" spc="-10" dirty="0">
                <a:latin typeface="Georgia"/>
                <a:cs typeface="Georgia"/>
              </a:rPr>
              <a:t> Hazard</a:t>
            </a:r>
            <a:endParaRPr sz="2200">
              <a:latin typeface="Georgia"/>
              <a:cs typeface="Georgia"/>
            </a:endParaRPr>
          </a:p>
        </p:txBody>
      </p:sp>
      <p:sp>
        <p:nvSpPr>
          <p:cNvPr id="13" name="object 13"/>
          <p:cNvSpPr txBox="1"/>
          <p:nvPr/>
        </p:nvSpPr>
        <p:spPr>
          <a:xfrm>
            <a:off x="641604" y="5783402"/>
            <a:ext cx="1280795" cy="194310"/>
          </a:xfrm>
          <a:prstGeom prst="rect">
            <a:avLst/>
          </a:prstGeom>
        </p:spPr>
        <p:txBody>
          <a:bodyPr vert="horz" wrap="square" lIns="0" tIns="13335" rIns="0" bIns="0" rtlCol="0">
            <a:spAutoFit/>
          </a:bodyPr>
          <a:lstStyle/>
          <a:p>
            <a:pPr>
              <a:lnSpc>
                <a:spcPct val="100000"/>
              </a:lnSpc>
              <a:spcBef>
                <a:spcPts val="105"/>
              </a:spcBef>
              <a:tabLst>
                <a:tab pos="508634" algn="l"/>
              </a:tabLst>
            </a:pPr>
            <a:r>
              <a:rPr sz="1100" spc="-25" dirty="0">
                <a:latin typeface="Verdana"/>
                <a:cs typeface="Verdana"/>
              </a:rPr>
              <a:t>ADD</a:t>
            </a:r>
            <a:r>
              <a:rPr sz="110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20" dirty="0">
                <a:latin typeface="Verdana"/>
                <a:cs typeface="Verdana"/>
              </a:rPr>
              <a:t> </a:t>
            </a:r>
            <a:r>
              <a:rPr sz="1100" dirty="0">
                <a:latin typeface="Verdana"/>
                <a:cs typeface="Verdana"/>
              </a:rPr>
              <a:t>R2,</a:t>
            </a:r>
            <a:r>
              <a:rPr sz="1100" spc="-20" dirty="0">
                <a:latin typeface="Verdana"/>
                <a:cs typeface="Verdana"/>
              </a:rPr>
              <a:t> </a:t>
            </a:r>
            <a:r>
              <a:rPr sz="1100" spc="-25" dirty="0">
                <a:latin typeface="Verdana"/>
                <a:cs typeface="Verdana"/>
              </a:rPr>
              <a:t>R3</a:t>
            </a:r>
            <a:endParaRPr sz="1100">
              <a:latin typeface="Verdana"/>
              <a:cs typeface="Verdana"/>
            </a:endParaRPr>
          </a:p>
        </p:txBody>
      </p:sp>
      <p:sp>
        <p:nvSpPr>
          <p:cNvPr id="14" name="object 14"/>
          <p:cNvSpPr txBox="1"/>
          <p:nvPr/>
        </p:nvSpPr>
        <p:spPr>
          <a:xfrm>
            <a:off x="641604" y="6243320"/>
            <a:ext cx="1280795" cy="719455"/>
          </a:xfrm>
          <a:prstGeom prst="rect">
            <a:avLst/>
          </a:prstGeom>
        </p:spPr>
        <p:txBody>
          <a:bodyPr vert="horz" wrap="square" lIns="0" tIns="12700" rIns="0" bIns="0" rtlCol="0">
            <a:spAutoFit/>
          </a:bodyPr>
          <a:lstStyle/>
          <a:p>
            <a:pPr>
              <a:lnSpc>
                <a:spcPct val="100000"/>
              </a:lnSpc>
              <a:spcBef>
                <a:spcPts val="100"/>
              </a:spcBef>
              <a:tabLst>
                <a:tab pos="508634" algn="l"/>
              </a:tabLst>
            </a:pPr>
            <a:r>
              <a:rPr sz="1100" spc="-25" dirty="0">
                <a:latin typeface="Verdana"/>
                <a:cs typeface="Verdana"/>
              </a:rPr>
              <a:t>SUB</a:t>
            </a:r>
            <a:r>
              <a:rPr sz="1100" dirty="0">
                <a:latin typeface="Verdana"/>
                <a:cs typeface="Verdana"/>
              </a:rPr>
              <a:t>	R4,</a:t>
            </a:r>
            <a:r>
              <a:rPr sz="1100" spc="-1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R5</a:t>
            </a:r>
            <a:endParaRPr sz="1100">
              <a:latin typeface="Verdana"/>
              <a:cs typeface="Verdana"/>
            </a:endParaRPr>
          </a:p>
          <a:p>
            <a:pPr>
              <a:lnSpc>
                <a:spcPct val="100000"/>
              </a:lnSpc>
            </a:pPr>
            <a:endParaRPr sz="1100">
              <a:latin typeface="Verdana"/>
              <a:cs typeface="Verdana"/>
            </a:endParaRPr>
          </a:p>
          <a:p>
            <a:pPr>
              <a:lnSpc>
                <a:spcPct val="100000"/>
              </a:lnSpc>
              <a:spcBef>
                <a:spcPts val="145"/>
              </a:spcBef>
            </a:pPr>
            <a:endParaRPr sz="1100">
              <a:latin typeface="Verdana"/>
              <a:cs typeface="Verdana"/>
            </a:endParaRPr>
          </a:p>
          <a:p>
            <a:pPr>
              <a:lnSpc>
                <a:spcPct val="100000"/>
              </a:lnSpc>
              <a:tabLst>
                <a:tab pos="508634" algn="l"/>
              </a:tabLst>
            </a:pPr>
            <a:r>
              <a:rPr sz="1100" spc="-25" dirty="0">
                <a:latin typeface="Verdana"/>
                <a:cs typeface="Verdana"/>
              </a:rPr>
              <a:t>AND</a:t>
            </a:r>
            <a:r>
              <a:rPr sz="1100" dirty="0">
                <a:latin typeface="Verdana"/>
                <a:cs typeface="Verdana"/>
              </a:rPr>
              <a:t>	R6,</a:t>
            </a:r>
            <a:r>
              <a:rPr sz="1100" spc="-1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R7</a:t>
            </a:r>
            <a:endParaRPr sz="1100">
              <a:latin typeface="Verdana"/>
              <a:cs typeface="Verdana"/>
            </a:endParaRPr>
          </a:p>
        </p:txBody>
      </p:sp>
      <p:pic>
        <p:nvPicPr>
          <p:cNvPr id="15" name="object 15"/>
          <p:cNvPicPr/>
          <p:nvPr/>
        </p:nvPicPr>
        <p:blipFill>
          <a:blip r:embed="rId2" cstate="print"/>
          <a:stretch>
            <a:fillRect/>
          </a:stretch>
        </p:blipFill>
        <p:spPr>
          <a:xfrm>
            <a:off x="2334767" y="5599176"/>
            <a:ext cx="3657600" cy="2474976"/>
          </a:xfrm>
          <a:prstGeom prst="rect">
            <a:avLst/>
          </a:prstGeom>
        </p:spPr>
      </p:pic>
      <p:sp>
        <p:nvSpPr>
          <p:cNvPr id="16" name="object 16"/>
          <p:cNvSpPr txBox="1"/>
          <p:nvPr/>
        </p:nvSpPr>
        <p:spPr>
          <a:xfrm>
            <a:off x="5058790" y="5717285"/>
            <a:ext cx="249554" cy="239395"/>
          </a:xfrm>
          <a:prstGeom prst="rect">
            <a:avLst/>
          </a:prstGeom>
        </p:spPr>
        <p:txBody>
          <a:bodyPr vert="horz" wrap="square" lIns="0" tIns="13335" rIns="0" bIns="0" rtlCol="0">
            <a:spAutoFit/>
          </a:bodyPr>
          <a:lstStyle/>
          <a:p>
            <a:pPr>
              <a:lnSpc>
                <a:spcPct val="100000"/>
              </a:lnSpc>
              <a:spcBef>
                <a:spcPts val="105"/>
              </a:spcBef>
            </a:pPr>
            <a:r>
              <a:rPr sz="1400" spc="-25" dirty="0">
                <a:solidFill>
                  <a:srgbClr val="00CC00"/>
                </a:solidFill>
                <a:latin typeface="Verdana"/>
                <a:cs typeface="Verdana"/>
              </a:rPr>
              <a:t>R1</a:t>
            </a:r>
            <a:endParaRPr sz="1400">
              <a:latin typeface="Verdana"/>
              <a:cs typeface="Verdana"/>
            </a:endParaRPr>
          </a:p>
        </p:txBody>
      </p:sp>
      <p:sp>
        <p:nvSpPr>
          <p:cNvPr id="17" name="object 17"/>
          <p:cNvSpPr/>
          <p:nvPr/>
        </p:nvSpPr>
        <p:spPr>
          <a:xfrm>
            <a:off x="4688078" y="5840348"/>
            <a:ext cx="217804" cy="954405"/>
          </a:xfrm>
          <a:custGeom>
            <a:avLst/>
            <a:gdLst/>
            <a:ahLst/>
            <a:cxnLst/>
            <a:rect l="l" t="t" r="r" b="b"/>
            <a:pathLst>
              <a:path w="217804" h="954404">
                <a:moveTo>
                  <a:pt x="178776" y="898067"/>
                </a:moveTo>
                <a:lnTo>
                  <a:pt x="159385" y="901953"/>
                </a:lnTo>
                <a:lnTo>
                  <a:pt x="200151" y="954405"/>
                </a:lnTo>
                <a:lnTo>
                  <a:pt x="212888" y="907795"/>
                </a:lnTo>
                <a:lnTo>
                  <a:pt x="180721" y="907795"/>
                </a:lnTo>
                <a:lnTo>
                  <a:pt x="178776" y="898067"/>
                </a:lnTo>
                <a:close/>
              </a:path>
              <a:path w="217804" h="954404">
                <a:moveTo>
                  <a:pt x="198213" y="894171"/>
                </a:moveTo>
                <a:lnTo>
                  <a:pt x="178776" y="898067"/>
                </a:lnTo>
                <a:lnTo>
                  <a:pt x="180721" y="907795"/>
                </a:lnTo>
                <a:lnTo>
                  <a:pt x="200151" y="903858"/>
                </a:lnTo>
                <a:lnTo>
                  <a:pt x="198213" y="894171"/>
                </a:lnTo>
                <a:close/>
              </a:path>
              <a:path w="217804" h="954404">
                <a:moveTo>
                  <a:pt x="217677" y="890269"/>
                </a:moveTo>
                <a:lnTo>
                  <a:pt x="198213" y="894171"/>
                </a:lnTo>
                <a:lnTo>
                  <a:pt x="200151" y="903858"/>
                </a:lnTo>
                <a:lnTo>
                  <a:pt x="180721" y="907795"/>
                </a:lnTo>
                <a:lnTo>
                  <a:pt x="212888" y="907795"/>
                </a:lnTo>
                <a:lnTo>
                  <a:pt x="217677" y="890269"/>
                </a:lnTo>
                <a:close/>
              </a:path>
              <a:path w="217804" h="954404">
                <a:moveTo>
                  <a:pt x="19304" y="0"/>
                </a:moveTo>
                <a:lnTo>
                  <a:pt x="0" y="3810"/>
                </a:lnTo>
                <a:lnTo>
                  <a:pt x="178776" y="898067"/>
                </a:lnTo>
                <a:lnTo>
                  <a:pt x="198213" y="894171"/>
                </a:lnTo>
                <a:lnTo>
                  <a:pt x="19304" y="0"/>
                </a:lnTo>
                <a:close/>
              </a:path>
            </a:pathLst>
          </a:custGeom>
          <a:solidFill>
            <a:srgbClr val="00CC00"/>
          </a:solidFill>
        </p:spPr>
        <p:txBody>
          <a:bodyPr wrap="square" lIns="0" tIns="0" rIns="0" bIns="0" rtlCol="0"/>
          <a:lstStyle/>
          <a:p>
            <a:endParaRPr/>
          </a:p>
        </p:txBody>
      </p:sp>
      <p:sp>
        <p:nvSpPr>
          <p:cNvPr id="18" name="object 18"/>
          <p:cNvSpPr txBox="1"/>
          <p:nvPr/>
        </p:nvSpPr>
        <p:spPr>
          <a:xfrm>
            <a:off x="4230623" y="5510910"/>
            <a:ext cx="807085" cy="239395"/>
          </a:xfrm>
          <a:prstGeom prst="rect">
            <a:avLst/>
          </a:prstGeom>
        </p:spPr>
        <p:txBody>
          <a:bodyPr vert="horz" wrap="square" lIns="0" tIns="13335" rIns="0" bIns="0" rtlCol="0">
            <a:spAutoFit/>
          </a:bodyPr>
          <a:lstStyle/>
          <a:p>
            <a:pPr>
              <a:lnSpc>
                <a:spcPct val="100000"/>
              </a:lnSpc>
              <a:spcBef>
                <a:spcPts val="105"/>
              </a:spcBef>
            </a:pPr>
            <a:r>
              <a:rPr sz="1400" spc="-10" dirty="0">
                <a:solidFill>
                  <a:srgbClr val="00CC00"/>
                </a:solidFill>
                <a:latin typeface="Verdana"/>
                <a:cs typeface="Verdana"/>
              </a:rPr>
              <a:t>MEM/WB</a:t>
            </a:r>
            <a:endParaRPr sz="1400">
              <a:latin typeface="Verdana"/>
              <a:cs typeface="Verdana"/>
            </a:endParaRPr>
          </a:p>
        </p:txBody>
      </p:sp>
      <p:sp>
        <p:nvSpPr>
          <p:cNvPr id="19" name="object 19"/>
          <p:cNvSpPr txBox="1"/>
          <p:nvPr/>
        </p:nvSpPr>
        <p:spPr>
          <a:xfrm>
            <a:off x="628904" y="7293237"/>
            <a:ext cx="233045" cy="196215"/>
          </a:xfrm>
          <a:prstGeom prst="rect">
            <a:avLst/>
          </a:prstGeom>
        </p:spPr>
        <p:txBody>
          <a:bodyPr vert="horz" wrap="square" lIns="0" tIns="13970" rIns="0" bIns="0" rtlCol="0">
            <a:spAutoFit/>
          </a:bodyPr>
          <a:lstStyle/>
          <a:p>
            <a:pPr marL="12700">
              <a:lnSpc>
                <a:spcPct val="100000"/>
              </a:lnSpc>
              <a:spcBef>
                <a:spcPts val="110"/>
              </a:spcBef>
            </a:pPr>
            <a:r>
              <a:rPr sz="1100" spc="-25" dirty="0">
                <a:latin typeface="Verdana"/>
                <a:cs typeface="Verdana"/>
              </a:rPr>
              <a:t>OR</a:t>
            </a:r>
            <a:endParaRPr sz="1100">
              <a:latin typeface="Verdana"/>
              <a:cs typeface="Verdana"/>
            </a:endParaRPr>
          </a:p>
        </p:txBody>
      </p:sp>
      <p:sp>
        <p:nvSpPr>
          <p:cNvPr id="20" name="object 20"/>
          <p:cNvSpPr txBox="1"/>
          <p:nvPr/>
        </p:nvSpPr>
        <p:spPr>
          <a:xfrm>
            <a:off x="1138224" y="7293237"/>
            <a:ext cx="783590" cy="196215"/>
          </a:xfrm>
          <a:prstGeom prst="rect">
            <a:avLst/>
          </a:prstGeom>
        </p:spPr>
        <p:txBody>
          <a:bodyPr vert="horz" wrap="square" lIns="0" tIns="13970" rIns="0" bIns="0" rtlCol="0">
            <a:spAutoFit/>
          </a:bodyPr>
          <a:lstStyle/>
          <a:p>
            <a:pPr marL="12700">
              <a:lnSpc>
                <a:spcPct val="100000"/>
              </a:lnSpc>
              <a:spcBef>
                <a:spcPts val="110"/>
              </a:spcBef>
            </a:pPr>
            <a:r>
              <a:rPr sz="1100" dirty="0">
                <a:latin typeface="Verdana"/>
                <a:cs typeface="Verdana"/>
              </a:rPr>
              <a:t>R8,</a:t>
            </a:r>
            <a:r>
              <a:rPr sz="1100" spc="-2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R9</a:t>
            </a:r>
            <a:endParaRPr sz="1100">
              <a:latin typeface="Verdana"/>
              <a:cs typeface="Verdana"/>
            </a:endParaRPr>
          </a:p>
        </p:txBody>
      </p:sp>
      <p:sp>
        <p:nvSpPr>
          <p:cNvPr id="21" name="object 21"/>
          <p:cNvSpPr txBox="1"/>
          <p:nvPr/>
        </p:nvSpPr>
        <p:spPr>
          <a:xfrm>
            <a:off x="628904" y="7752850"/>
            <a:ext cx="328930" cy="196215"/>
          </a:xfrm>
          <a:prstGeom prst="rect">
            <a:avLst/>
          </a:prstGeom>
        </p:spPr>
        <p:txBody>
          <a:bodyPr vert="horz" wrap="square" lIns="0" tIns="13970" rIns="0" bIns="0" rtlCol="0">
            <a:spAutoFit/>
          </a:bodyPr>
          <a:lstStyle/>
          <a:p>
            <a:pPr marL="12700">
              <a:lnSpc>
                <a:spcPct val="100000"/>
              </a:lnSpc>
              <a:spcBef>
                <a:spcPts val="110"/>
              </a:spcBef>
            </a:pPr>
            <a:r>
              <a:rPr sz="1100" spc="-25" dirty="0">
                <a:latin typeface="Verdana"/>
                <a:cs typeface="Verdana"/>
              </a:rPr>
              <a:t>XOR</a:t>
            </a:r>
            <a:endParaRPr sz="1100">
              <a:latin typeface="Verdana"/>
              <a:cs typeface="Verdana"/>
            </a:endParaRPr>
          </a:p>
        </p:txBody>
      </p:sp>
      <p:sp>
        <p:nvSpPr>
          <p:cNvPr id="22" name="object 22"/>
          <p:cNvSpPr txBox="1"/>
          <p:nvPr/>
        </p:nvSpPr>
        <p:spPr>
          <a:xfrm>
            <a:off x="1138224" y="7752850"/>
            <a:ext cx="960119" cy="196215"/>
          </a:xfrm>
          <a:prstGeom prst="rect">
            <a:avLst/>
          </a:prstGeom>
        </p:spPr>
        <p:txBody>
          <a:bodyPr vert="horz" wrap="square" lIns="0" tIns="13970" rIns="0" bIns="0" rtlCol="0">
            <a:spAutoFit/>
          </a:bodyPr>
          <a:lstStyle/>
          <a:p>
            <a:pPr marL="12700">
              <a:lnSpc>
                <a:spcPct val="100000"/>
              </a:lnSpc>
              <a:spcBef>
                <a:spcPts val="110"/>
              </a:spcBef>
            </a:pPr>
            <a:r>
              <a:rPr sz="1100" dirty="0">
                <a:latin typeface="Verdana"/>
                <a:cs typeface="Verdana"/>
              </a:rPr>
              <a:t>R10,</a:t>
            </a:r>
            <a:r>
              <a:rPr sz="1100" spc="-2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20" dirty="0">
                <a:latin typeface="Verdana"/>
                <a:cs typeface="Verdana"/>
              </a:rPr>
              <a:t> </a:t>
            </a:r>
            <a:r>
              <a:rPr sz="1100" spc="-25" dirty="0">
                <a:latin typeface="Verdana"/>
                <a:cs typeface="Verdana"/>
              </a:rPr>
              <a:t>R11</a:t>
            </a:r>
            <a:endParaRPr sz="1100">
              <a:latin typeface="Verdana"/>
              <a:cs typeface="Verdana"/>
            </a:endParaRPr>
          </a:p>
        </p:txBody>
      </p:sp>
      <p:sp>
        <p:nvSpPr>
          <p:cNvPr id="23" name="object 23"/>
          <p:cNvSpPr txBox="1"/>
          <p:nvPr/>
        </p:nvSpPr>
        <p:spPr>
          <a:xfrm>
            <a:off x="6674611" y="8933180"/>
            <a:ext cx="102870" cy="177800"/>
          </a:xfrm>
          <a:prstGeom prst="rect">
            <a:avLst/>
          </a:prstGeom>
        </p:spPr>
        <p:txBody>
          <a:bodyPr vert="horz" wrap="square" lIns="0" tIns="0" rIns="0" bIns="0" rtlCol="0">
            <a:spAutoFit/>
          </a:bodyPr>
          <a:lstStyle/>
          <a:p>
            <a:pPr marL="12700">
              <a:lnSpc>
                <a:spcPts val="1240"/>
              </a:lnSpc>
            </a:pPr>
            <a:r>
              <a:rPr sz="1200" spc="-50" dirty="0">
                <a:latin typeface="Calibri"/>
                <a:cs typeface="Calibri"/>
              </a:rPr>
              <a:t>6</a:t>
            </a:r>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9760" y="1952244"/>
            <a:ext cx="4434840" cy="2185416"/>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2.</a:t>
            </a:r>
            <a:r>
              <a:rPr spc="-35" dirty="0"/>
              <a:t> </a:t>
            </a:r>
            <a:r>
              <a:rPr dirty="0"/>
              <a:t>Data</a:t>
            </a:r>
            <a:r>
              <a:rPr spc="-10" dirty="0"/>
              <a:t> Hazard</a:t>
            </a:r>
          </a:p>
        </p:txBody>
      </p:sp>
      <p:sp>
        <p:nvSpPr>
          <p:cNvPr id="4" name="object 4"/>
          <p:cNvSpPr txBox="1"/>
          <p:nvPr/>
        </p:nvSpPr>
        <p:spPr>
          <a:xfrm>
            <a:off x="713943" y="1574418"/>
            <a:ext cx="4982210" cy="208279"/>
          </a:xfrm>
          <a:prstGeom prst="rect">
            <a:avLst/>
          </a:prstGeom>
        </p:spPr>
        <p:txBody>
          <a:bodyPr vert="horz" wrap="square" lIns="0" tIns="12700" rIns="0" bIns="0" rtlCol="0">
            <a:spAutoFit/>
          </a:bodyPr>
          <a:lstStyle/>
          <a:p>
            <a:pPr marL="182245" indent="-169545">
              <a:lnSpc>
                <a:spcPct val="100000"/>
              </a:lnSpc>
              <a:spcBef>
                <a:spcPts val="100"/>
              </a:spcBef>
              <a:buClr>
                <a:srgbClr val="3E762B"/>
              </a:buClr>
              <a:buFont typeface="Wingdings"/>
              <a:buChar char=""/>
              <a:tabLst>
                <a:tab pos="182245" algn="l"/>
              </a:tabLst>
            </a:pPr>
            <a:r>
              <a:rPr sz="1200" dirty="0">
                <a:latin typeface="Times New Roman"/>
                <a:cs typeface="Times New Roman"/>
              </a:rPr>
              <a:t>forward</a:t>
            </a:r>
            <a:r>
              <a:rPr sz="1200" spc="-20" dirty="0">
                <a:latin typeface="Times New Roman"/>
                <a:cs typeface="Times New Roman"/>
              </a:rPr>
              <a:t> </a:t>
            </a:r>
            <a:r>
              <a:rPr sz="1200" dirty="0">
                <a:latin typeface="Times New Roman"/>
                <a:cs typeface="Times New Roman"/>
              </a:rPr>
              <a:t>results</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b="1" dirty="0">
                <a:latin typeface="Times New Roman"/>
                <a:cs typeface="Times New Roman"/>
              </a:rPr>
              <a:t>not</a:t>
            </a:r>
            <a:r>
              <a:rPr sz="1200" b="1" spc="-15" dirty="0">
                <a:latin typeface="Times New Roman"/>
                <a:cs typeface="Times New Roman"/>
              </a:rPr>
              <a:t> </a:t>
            </a:r>
            <a:r>
              <a:rPr sz="1200" b="1" dirty="0">
                <a:latin typeface="Times New Roman"/>
                <a:cs typeface="Times New Roman"/>
              </a:rPr>
              <a:t>only</a:t>
            </a:r>
            <a:r>
              <a:rPr sz="1200" b="1" spc="-75" dirty="0">
                <a:latin typeface="Times New Roman"/>
                <a:cs typeface="Times New Roman"/>
              </a:rPr>
              <a:t> </a:t>
            </a:r>
            <a:r>
              <a:rPr sz="1200" b="1" dirty="0">
                <a:latin typeface="Times New Roman"/>
                <a:cs typeface="Times New Roman"/>
              </a:rPr>
              <a:t>ALU</a:t>
            </a:r>
            <a:r>
              <a:rPr sz="1200" b="1" spc="-10" dirty="0">
                <a:latin typeface="Times New Roman"/>
                <a:cs typeface="Times New Roman"/>
              </a:rPr>
              <a:t> </a:t>
            </a:r>
            <a:r>
              <a:rPr sz="1200" dirty="0">
                <a:latin typeface="Times New Roman"/>
                <a:cs typeface="Times New Roman"/>
              </a:rPr>
              <a:t>inputs</a:t>
            </a:r>
            <a:r>
              <a:rPr sz="1200" spc="-35" dirty="0">
                <a:latin typeface="Times New Roman"/>
                <a:cs typeface="Times New Roman"/>
              </a:rPr>
              <a:t> </a:t>
            </a:r>
            <a:r>
              <a:rPr sz="1200" dirty="0">
                <a:latin typeface="Times New Roman"/>
                <a:cs typeface="Times New Roman"/>
              </a:rPr>
              <a:t>but</a:t>
            </a:r>
            <a:r>
              <a:rPr sz="1200" spc="-25" dirty="0">
                <a:latin typeface="Times New Roman"/>
                <a:cs typeface="Times New Roman"/>
              </a:rPr>
              <a:t> </a:t>
            </a:r>
            <a:r>
              <a:rPr sz="1200" dirty="0">
                <a:latin typeface="Times New Roman"/>
                <a:cs typeface="Times New Roman"/>
              </a:rPr>
              <a:t>also</a:t>
            </a:r>
            <a:r>
              <a:rPr sz="1200" spc="-20" dirty="0">
                <a:latin typeface="Times New Roman"/>
                <a:cs typeface="Times New Roman"/>
              </a:rPr>
              <a:t> </a:t>
            </a:r>
            <a:r>
              <a:rPr sz="1200" dirty="0">
                <a:latin typeface="Times New Roman"/>
                <a:cs typeface="Times New Roman"/>
              </a:rPr>
              <a:t>other</a:t>
            </a:r>
            <a:r>
              <a:rPr sz="1200" spc="-15" dirty="0">
                <a:latin typeface="Times New Roman"/>
                <a:cs typeface="Times New Roman"/>
              </a:rPr>
              <a:t> </a:t>
            </a:r>
            <a:r>
              <a:rPr sz="1200" dirty="0">
                <a:latin typeface="Times New Roman"/>
                <a:cs typeface="Times New Roman"/>
              </a:rPr>
              <a:t>types</a:t>
            </a:r>
            <a:r>
              <a:rPr sz="1200" spc="1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spc="-10" dirty="0">
                <a:latin typeface="Times New Roman"/>
                <a:cs typeface="Times New Roman"/>
              </a:rPr>
              <a:t>functional</a:t>
            </a:r>
            <a:r>
              <a:rPr sz="1200" spc="-15" dirty="0">
                <a:latin typeface="Times New Roman"/>
                <a:cs typeface="Times New Roman"/>
              </a:rPr>
              <a:t> </a:t>
            </a:r>
            <a:r>
              <a:rPr sz="1200" spc="-10" dirty="0">
                <a:latin typeface="Times New Roman"/>
                <a:cs typeface="Times New Roman"/>
              </a:rPr>
              <a:t>units</a:t>
            </a:r>
            <a:endParaRPr sz="1200">
              <a:latin typeface="Times New Roman"/>
              <a:cs typeface="Times New Roman"/>
            </a:endParaRPr>
          </a:p>
        </p:txBody>
      </p:sp>
      <p:sp>
        <p:nvSpPr>
          <p:cNvPr id="5" name="object 5"/>
          <p:cNvSpPr txBox="1"/>
          <p:nvPr/>
        </p:nvSpPr>
        <p:spPr>
          <a:xfrm>
            <a:off x="745540" y="2165731"/>
            <a:ext cx="1155065" cy="193675"/>
          </a:xfrm>
          <a:prstGeom prst="rect">
            <a:avLst/>
          </a:prstGeom>
        </p:spPr>
        <p:txBody>
          <a:bodyPr vert="horz" wrap="square" lIns="0" tIns="12700" rIns="0" bIns="0" rtlCol="0">
            <a:spAutoFit/>
          </a:bodyPr>
          <a:lstStyle/>
          <a:p>
            <a:pPr>
              <a:lnSpc>
                <a:spcPct val="100000"/>
              </a:lnSpc>
              <a:spcBef>
                <a:spcPts val="100"/>
              </a:spcBef>
            </a:pPr>
            <a:r>
              <a:rPr sz="1100" dirty="0">
                <a:latin typeface="Verdana"/>
                <a:cs typeface="Verdana"/>
              </a:rPr>
              <a:t>ADD</a:t>
            </a:r>
            <a:r>
              <a:rPr sz="1100" spc="165"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5" dirty="0">
                <a:latin typeface="Verdana"/>
                <a:cs typeface="Verdana"/>
              </a:rPr>
              <a:t> </a:t>
            </a:r>
            <a:r>
              <a:rPr sz="1100" dirty="0">
                <a:latin typeface="Verdana"/>
                <a:cs typeface="Verdana"/>
              </a:rPr>
              <a:t>R2,</a:t>
            </a:r>
            <a:r>
              <a:rPr sz="1100" spc="-15" dirty="0">
                <a:latin typeface="Verdana"/>
                <a:cs typeface="Verdana"/>
              </a:rPr>
              <a:t> </a:t>
            </a:r>
            <a:r>
              <a:rPr sz="1100" spc="-25" dirty="0">
                <a:latin typeface="Verdana"/>
                <a:cs typeface="Verdana"/>
              </a:rPr>
              <a:t>R3</a:t>
            </a:r>
            <a:endParaRPr sz="1100">
              <a:latin typeface="Verdana"/>
              <a:cs typeface="Verdana"/>
            </a:endParaRPr>
          </a:p>
        </p:txBody>
      </p:sp>
      <p:sp>
        <p:nvSpPr>
          <p:cNvPr id="6" name="object 6"/>
          <p:cNvSpPr txBox="1"/>
          <p:nvPr/>
        </p:nvSpPr>
        <p:spPr>
          <a:xfrm>
            <a:off x="745540" y="2889631"/>
            <a:ext cx="1085215" cy="193675"/>
          </a:xfrm>
          <a:prstGeom prst="rect">
            <a:avLst/>
          </a:prstGeom>
        </p:spPr>
        <p:txBody>
          <a:bodyPr vert="horz" wrap="square" lIns="0" tIns="13335" rIns="0" bIns="0" rtlCol="0">
            <a:spAutoFit/>
          </a:bodyPr>
          <a:lstStyle/>
          <a:p>
            <a:pPr>
              <a:lnSpc>
                <a:spcPct val="100000"/>
              </a:lnSpc>
              <a:spcBef>
                <a:spcPts val="105"/>
              </a:spcBef>
              <a:tabLst>
                <a:tab pos="383540" algn="l"/>
              </a:tabLst>
            </a:pPr>
            <a:r>
              <a:rPr sz="1100" spc="-25" dirty="0">
                <a:latin typeface="Verdana"/>
                <a:cs typeface="Verdana"/>
              </a:rPr>
              <a:t>LD</a:t>
            </a:r>
            <a:r>
              <a:rPr sz="1100" dirty="0">
                <a:latin typeface="Verdana"/>
                <a:cs typeface="Verdana"/>
              </a:rPr>
              <a:t>	</a:t>
            </a:r>
            <a:r>
              <a:rPr sz="1100" dirty="0">
                <a:solidFill>
                  <a:srgbClr val="006FC0"/>
                </a:solidFill>
                <a:latin typeface="Verdana"/>
                <a:cs typeface="Verdana"/>
              </a:rPr>
              <a:t>R4</a:t>
            </a:r>
            <a:r>
              <a:rPr sz="1100" dirty="0">
                <a:latin typeface="Verdana"/>
                <a:cs typeface="Verdana"/>
              </a:rPr>
              <a:t>,</a:t>
            </a:r>
            <a:r>
              <a:rPr sz="1100" spc="-20" dirty="0">
                <a:latin typeface="Verdana"/>
                <a:cs typeface="Verdana"/>
              </a:rPr>
              <a:t> 0(</a:t>
            </a:r>
            <a:r>
              <a:rPr sz="1100" spc="-20" dirty="0">
                <a:solidFill>
                  <a:srgbClr val="00CC00"/>
                </a:solidFill>
                <a:latin typeface="Verdana"/>
                <a:cs typeface="Verdana"/>
              </a:rPr>
              <a:t>R1</a:t>
            </a:r>
            <a:r>
              <a:rPr sz="1100" spc="-20" dirty="0">
                <a:latin typeface="Verdana"/>
                <a:cs typeface="Verdana"/>
              </a:rPr>
              <a:t>)</a:t>
            </a:r>
            <a:endParaRPr sz="1100">
              <a:latin typeface="Verdana"/>
              <a:cs typeface="Verdana"/>
            </a:endParaRPr>
          </a:p>
        </p:txBody>
      </p:sp>
      <p:sp>
        <p:nvSpPr>
          <p:cNvPr id="7" name="object 7"/>
          <p:cNvSpPr txBox="1"/>
          <p:nvPr/>
        </p:nvSpPr>
        <p:spPr>
          <a:xfrm>
            <a:off x="745540" y="3651884"/>
            <a:ext cx="1174115" cy="193675"/>
          </a:xfrm>
          <a:prstGeom prst="rect">
            <a:avLst/>
          </a:prstGeom>
        </p:spPr>
        <p:txBody>
          <a:bodyPr vert="horz" wrap="square" lIns="0" tIns="13335" rIns="0" bIns="0" rtlCol="0">
            <a:spAutoFit/>
          </a:bodyPr>
          <a:lstStyle/>
          <a:p>
            <a:pPr>
              <a:lnSpc>
                <a:spcPct val="100000"/>
              </a:lnSpc>
              <a:spcBef>
                <a:spcPts val="105"/>
              </a:spcBef>
              <a:tabLst>
                <a:tab pos="383540" algn="l"/>
              </a:tabLst>
            </a:pPr>
            <a:r>
              <a:rPr sz="1100" spc="-25" dirty="0">
                <a:latin typeface="Verdana"/>
                <a:cs typeface="Verdana"/>
              </a:rPr>
              <a:t>SD</a:t>
            </a:r>
            <a:r>
              <a:rPr sz="1100" dirty="0">
                <a:latin typeface="Verdana"/>
                <a:cs typeface="Verdana"/>
              </a:rPr>
              <a:t>	</a:t>
            </a:r>
            <a:r>
              <a:rPr sz="1100" dirty="0">
                <a:solidFill>
                  <a:srgbClr val="006FC0"/>
                </a:solidFill>
                <a:latin typeface="Verdana"/>
                <a:cs typeface="Verdana"/>
              </a:rPr>
              <a:t>R4</a:t>
            </a:r>
            <a:r>
              <a:rPr sz="1100" dirty="0">
                <a:latin typeface="Verdana"/>
                <a:cs typeface="Verdana"/>
              </a:rPr>
              <a:t>,</a:t>
            </a:r>
            <a:r>
              <a:rPr sz="1100" spc="-10" dirty="0">
                <a:latin typeface="Verdana"/>
                <a:cs typeface="Verdana"/>
              </a:rPr>
              <a:t> 12(</a:t>
            </a:r>
            <a:r>
              <a:rPr sz="1100" spc="-10" dirty="0">
                <a:solidFill>
                  <a:srgbClr val="00CC00"/>
                </a:solidFill>
                <a:latin typeface="Verdana"/>
                <a:cs typeface="Verdana"/>
              </a:rPr>
              <a:t>R1</a:t>
            </a:r>
            <a:r>
              <a:rPr sz="1100" spc="-10" dirty="0">
                <a:latin typeface="Verdana"/>
                <a:cs typeface="Verdana"/>
              </a:rPr>
              <a:t>)</a:t>
            </a:r>
            <a:endParaRPr sz="1100">
              <a:latin typeface="Verdana"/>
              <a:cs typeface="Verdana"/>
            </a:endParaRPr>
          </a:p>
        </p:txBody>
      </p:sp>
      <p:grpSp>
        <p:nvGrpSpPr>
          <p:cNvPr id="8" name="object 8"/>
          <p:cNvGrpSpPr/>
          <p:nvPr/>
        </p:nvGrpSpPr>
        <p:grpSpPr>
          <a:xfrm>
            <a:off x="3975100" y="2372486"/>
            <a:ext cx="1732280" cy="1384935"/>
            <a:chOff x="3975100" y="2372486"/>
            <a:chExt cx="1732280" cy="1384935"/>
          </a:xfrm>
        </p:grpSpPr>
        <p:sp>
          <p:nvSpPr>
            <p:cNvPr id="9" name="object 9"/>
            <p:cNvSpPr/>
            <p:nvPr/>
          </p:nvSpPr>
          <p:spPr>
            <a:xfrm>
              <a:off x="3975100" y="2372486"/>
              <a:ext cx="960755" cy="1308735"/>
            </a:xfrm>
            <a:custGeom>
              <a:avLst/>
              <a:gdLst/>
              <a:ahLst/>
              <a:cxnLst/>
              <a:rect l="l" t="t" r="r" b="b"/>
              <a:pathLst>
                <a:path w="960754" h="1308735">
                  <a:moveTo>
                    <a:pt x="205232" y="519176"/>
                  </a:moveTo>
                  <a:lnTo>
                    <a:pt x="186410" y="525272"/>
                  </a:lnTo>
                  <a:lnTo>
                    <a:pt x="18796" y="10287"/>
                  </a:lnTo>
                  <a:lnTo>
                    <a:pt x="0" y="16383"/>
                  </a:lnTo>
                  <a:lnTo>
                    <a:pt x="167500" y="531393"/>
                  </a:lnTo>
                  <a:lnTo>
                    <a:pt x="148717" y="537464"/>
                  </a:lnTo>
                  <a:lnTo>
                    <a:pt x="195326" y="584835"/>
                  </a:lnTo>
                  <a:lnTo>
                    <a:pt x="201968" y="540766"/>
                  </a:lnTo>
                  <a:lnTo>
                    <a:pt x="205232" y="519176"/>
                  </a:lnTo>
                  <a:close/>
                </a:path>
                <a:path w="960754" h="1308735">
                  <a:moveTo>
                    <a:pt x="960374" y="1246378"/>
                  </a:moveTo>
                  <a:lnTo>
                    <a:pt x="940714" y="1248587"/>
                  </a:lnTo>
                  <a:lnTo>
                    <a:pt x="799465" y="0"/>
                  </a:lnTo>
                  <a:lnTo>
                    <a:pt x="779780" y="2286"/>
                  </a:lnTo>
                  <a:lnTo>
                    <a:pt x="921029" y="1250784"/>
                  </a:lnTo>
                  <a:lnTo>
                    <a:pt x="901319" y="1252982"/>
                  </a:lnTo>
                  <a:lnTo>
                    <a:pt x="937514" y="1308735"/>
                  </a:lnTo>
                  <a:lnTo>
                    <a:pt x="955154" y="1260602"/>
                  </a:lnTo>
                  <a:lnTo>
                    <a:pt x="960374" y="1246378"/>
                  </a:lnTo>
                  <a:close/>
                </a:path>
              </a:pathLst>
            </a:custGeom>
            <a:solidFill>
              <a:srgbClr val="00CC00"/>
            </a:solidFill>
          </p:spPr>
          <p:txBody>
            <a:bodyPr wrap="square" lIns="0" tIns="0" rIns="0" bIns="0" rtlCol="0"/>
            <a:lstStyle/>
            <a:p>
              <a:endParaRPr/>
            </a:p>
          </p:txBody>
        </p:sp>
        <p:sp>
          <p:nvSpPr>
            <p:cNvPr id="10" name="object 10"/>
            <p:cNvSpPr/>
            <p:nvPr/>
          </p:nvSpPr>
          <p:spPr>
            <a:xfrm>
              <a:off x="5497322" y="3034156"/>
              <a:ext cx="209550" cy="723265"/>
            </a:xfrm>
            <a:custGeom>
              <a:avLst/>
              <a:gdLst/>
              <a:ahLst/>
              <a:cxnLst/>
              <a:rect l="l" t="t" r="r" b="b"/>
              <a:pathLst>
                <a:path w="209550" h="723264">
                  <a:moveTo>
                    <a:pt x="171123" y="668165"/>
                  </a:moveTo>
                  <a:lnTo>
                    <a:pt x="152018" y="673100"/>
                  </a:lnTo>
                  <a:lnTo>
                    <a:pt x="195579" y="723264"/>
                  </a:lnTo>
                  <a:lnTo>
                    <a:pt x="205348" y="677798"/>
                  </a:lnTo>
                  <a:lnTo>
                    <a:pt x="173608" y="677798"/>
                  </a:lnTo>
                  <a:lnTo>
                    <a:pt x="171123" y="668165"/>
                  </a:lnTo>
                  <a:close/>
                </a:path>
                <a:path w="209550" h="723264">
                  <a:moveTo>
                    <a:pt x="190302" y="663212"/>
                  </a:moveTo>
                  <a:lnTo>
                    <a:pt x="171123" y="668165"/>
                  </a:lnTo>
                  <a:lnTo>
                    <a:pt x="173608" y="677798"/>
                  </a:lnTo>
                  <a:lnTo>
                    <a:pt x="192786" y="672845"/>
                  </a:lnTo>
                  <a:lnTo>
                    <a:pt x="190302" y="663212"/>
                  </a:lnTo>
                  <a:close/>
                </a:path>
                <a:path w="209550" h="723264">
                  <a:moveTo>
                    <a:pt x="209550" y="658240"/>
                  </a:moveTo>
                  <a:lnTo>
                    <a:pt x="190302" y="663212"/>
                  </a:lnTo>
                  <a:lnTo>
                    <a:pt x="192786" y="672845"/>
                  </a:lnTo>
                  <a:lnTo>
                    <a:pt x="173608" y="677798"/>
                  </a:lnTo>
                  <a:lnTo>
                    <a:pt x="205348" y="677798"/>
                  </a:lnTo>
                  <a:lnTo>
                    <a:pt x="209550" y="658240"/>
                  </a:lnTo>
                  <a:close/>
                </a:path>
                <a:path w="209550" h="723264">
                  <a:moveTo>
                    <a:pt x="19303" y="0"/>
                  </a:moveTo>
                  <a:lnTo>
                    <a:pt x="0" y="4825"/>
                  </a:lnTo>
                  <a:lnTo>
                    <a:pt x="171123" y="668165"/>
                  </a:lnTo>
                  <a:lnTo>
                    <a:pt x="190302" y="663212"/>
                  </a:lnTo>
                  <a:lnTo>
                    <a:pt x="19303" y="0"/>
                  </a:lnTo>
                  <a:close/>
                </a:path>
              </a:pathLst>
            </a:custGeom>
            <a:solidFill>
              <a:srgbClr val="6B9F24"/>
            </a:solidFill>
          </p:spPr>
          <p:txBody>
            <a:bodyPr wrap="square" lIns="0" tIns="0" rIns="0" bIns="0" rtlCol="0"/>
            <a:lstStyle/>
            <a:p>
              <a:endParaRPr/>
            </a:p>
          </p:txBody>
        </p:sp>
      </p:grpSp>
      <p:sp>
        <p:nvSpPr>
          <p:cNvPr id="11" name="object 11"/>
          <p:cNvSpPr txBox="1"/>
          <p:nvPr/>
        </p:nvSpPr>
        <p:spPr>
          <a:xfrm>
            <a:off x="3881882" y="2165731"/>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CC00"/>
                </a:solidFill>
                <a:latin typeface="Verdana"/>
                <a:cs typeface="Verdana"/>
              </a:rPr>
              <a:t>R1</a:t>
            </a:r>
            <a:endParaRPr sz="1200">
              <a:latin typeface="Verdana"/>
              <a:cs typeface="Verdana"/>
            </a:endParaRPr>
          </a:p>
        </p:txBody>
      </p:sp>
      <p:sp>
        <p:nvSpPr>
          <p:cNvPr id="12" name="object 12"/>
          <p:cNvSpPr txBox="1"/>
          <p:nvPr/>
        </p:nvSpPr>
        <p:spPr>
          <a:xfrm>
            <a:off x="4030726" y="2927730"/>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CC00"/>
                </a:solidFill>
                <a:latin typeface="Verdana"/>
                <a:cs typeface="Verdana"/>
              </a:rPr>
              <a:t>R1</a:t>
            </a:r>
            <a:endParaRPr sz="1200">
              <a:latin typeface="Verdana"/>
              <a:cs typeface="Verdana"/>
            </a:endParaRPr>
          </a:p>
        </p:txBody>
      </p:sp>
      <p:sp>
        <p:nvSpPr>
          <p:cNvPr id="13" name="object 13"/>
          <p:cNvSpPr txBox="1"/>
          <p:nvPr/>
        </p:nvSpPr>
        <p:spPr>
          <a:xfrm>
            <a:off x="4773421" y="3689984"/>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CC00"/>
                </a:solidFill>
                <a:latin typeface="Verdana"/>
                <a:cs typeface="Verdana"/>
              </a:rPr>
              <a:t>R1</a:t>
            </a:r>
            <a:endParaRPr sz="1200">
              <a:latin typeface="Verdana"/>
              <a:cs typeface="Verdana"/>
            </a:endParaRPr>
          </a:p>
        </p:txBody>
      </p:sp>
      <p:sp>
        <p:nvSpPr>
          <p:cNvPr id="14" name="object 14"/>
          <p:cNvSpPr txBox="1"/>
          <p:nvPr/>
        </p:nvSpPr>
        <p:spPr>
          <a:xfrm>
            <a:off x="4661915" y="2165731"/>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CC00"/>
                </a:solidFill>
                <a:latin typeface="Verdana"/>
                <a:cs typeface="Verdana"/>
              </a:rPr>
              <a:t>R1</a:t>
            </a:r>
            <a:endParaRPr sz="1200">
              <a:latin typeface="Verdana"/>
              <a:cs typeface="Verdana"/>
            </a:endParaRPr>
          </a:p>
        </p:txBody>
      </p:sp>
      <p:sp>
        <p:nvSpPr>
          <p:cNvPr id="15" name="object 15"/>
          <p:cNvSpPr txBox="1"/>
          <p:nvPr/>
        </p:nvSpPr>
        <p:spPr>
          <a:xfrm>
            <a:off x="5391022" y="2702814"/>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6FC0"/>
                </a:solidFill>
                <a:latin typeface="Verdana"/>
                <a:cs typeface="Verdana"/>
              </a:rPr>
              <a:t>R4</a:t>
            </a:r>
            <a:endParaRPr sz="1200">
              <a:latin typeface="Verdana"/>
              <a:cs typeface="Verdana"/>
            </a:endParaRPr>
          </a:p>
        </p:txBody>
      </p:sp>
      <p:sp>
        <p:nvSpPr>
          <p:cNvPr id="16" name="object 16"/>
          <p:cNvSpPr txBox="1"/>
          <p:nvPr/>
        </p:nvSpPr>
        <p:spPr>
          <a:xfrm>
            <a:off x="5479034" y="3728084"/>
            <a:ext cx="240029"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006FC0"/>
                </a:solidFill>
                <a:latin typeface="Verdana"/>
                <a:cs typeface="Verdana"/>
              </a:rPr>
              <a:t>R4</a:t>
            </a:r>
            <a:endParaRPr sz="1200">
              <a:latin typeface="Verdana"/>
              <a:cs typeface="Verdana"/>
            </a:endParaRPr>
          </a:p>
        </p:txBody>
      </p:sp>
      <p:grpSp>
        <p:nvGrpSpPr>
          <p:cNvPr id="17" name="object 17"/>
          <p:cNvGrpSpPr/>
          <p:nvPr/>
        </p:nvGrpSpPr>
        <p:grpSpPr>
          <a:xfrm>
            <a:off x="381000" y="4844796"/>
            <a:ext cx="6096000" cy="3429000"/>
            <a:chOff x="381000" y="4844796"/>
            <a:chExt cx="6096000" cy="3429000"/>
          </a:xfrm>
        </p:grpSpPr>
        <p:sp>
          <p:nvSpPr>
            <p:cNvPr id="18" name="object 18"/>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9" name="object 19"/>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20" name="object 20"/>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21" name="object 21"/>
          <p:cNvSpPr txBox="1"/>
          <p:nvPr/>
        </p:nvSpPr>
        <p:spPr>
          <a:xfrm>
            <a:off x="725423" y="5069586"/>
            <a:ext cx="2030730" cy="696595"/>
          </a:xfrm>
          <a:prstGeom prst="rect">
            <a:avLst/>
          </a:prstGeom>
        </p:spPr>
        <p:txBody>
          <a:bodyPr vert="horz" wrap="square" lIns="0" tIns="12065" rIns="0" bIns="0" rtlCol="0">
            <a:spAutoFit/>
          </a:bodyPr>
          <a:lstStyle/>
          <a:p>
            <a:pPr marL="296545" indent="-296545">
              <a:lnSpc>
                <a:spcPct val="100000"/>
              </a:lnSpc>
              <a:spcBef>
                <a:spcPts val="95"/>
              </a:spcBef>
              <a:buAutoNum type="arabicPeriod" startAt="2"/>
              <a:tabLst>
                <a:tab pos="296545" algn="l"/>
              </a:tabLst>
            </a:pPr>
            <a:r>
              <a:rPr sz="2200" dirty="0">
                <a:latin typeface="Georgia"/>
                <a:cs typeface="Georgia"/>
              </a:rPr>
              <a:t>Data</a:t>
            </a:r>
            <a:r>
              <a:rPr sz="2200" spc="-45" dirty="0">
                <a:latin typeface="Georgia"/>
                <a:cs typeface="Georgia"/>
              </a:rPr>
              <a:t> </a:t>
            </a:r>
            <a:r>
              <a:rPr sz="2200" spc="-10" dirty="0">
                <a:latin typeface="Georgia"/>
                <a:cs typeface="Georgia"/>
              </a:rPr>
              <a:t>Hazard</a:t>
            </a:r>
            <a:endParaRPr sz="2200">
              <a:latin typeface="Georgia"/>
              <a:cs typeface="Georgia"/>
            </a:endParaRPr>
          </a:p>
          <a:p>
            <a:pPr marL="203200" lvl="1" indent="-169545">
              <a:lnSpc>
                <a:spcPct val="100000"/>
              </a:lnSpc>
              <a:spcBef>
                <a:spcPts val="1205"/>
              </a:spcBef>
              <a:buClr>
                <a:srgbClr val="3E762B"/>
              </a:buClr>
              <a:buFont typeface="Wingdings"/>
              <a:buChar char=""/>
              <a:tabLst>
                <a:tab pos="203200" algn="l"/>
              </a:tabLst>
            </a:pPr>
            <a:r>
              <a:rPr sz="1200" b="1" dirty="0">
                <a:latin typeface="Times New Roman"/>
                <a:cs typeface="Times New Roman"/>
              </a:rPr>
              <a:t>Sometimes</a:t>
            </a:r>
            <a:r>
              <a:rPr sz="1200" b="1" spc="-10" dirty="0">
                <a:latin typeface="Times New Roman"/>
                <a:cs typeface="Times New Roman"/>
              </a:rPr>
              <a:t> </a:t>
            </a:r>
            <a:r>
              <a:rPr sz="1200" b="1" dirty="0">
                <a:latin typeface="Times New Roman"/>
                <a:cs typeface="Times New Roman"/>
              </a:rPr>
              <a:t>stall</a:t>
            </a:r>
            <a:r>
              <a:rPr sz="1200" b="1" spc="-40" dirty="0">
                <a:latin typeface="Times New Roman"/>
                <a:cs typeface="Times New Roman"/>
              </a:rPr>
              <a:t> </a:t>
            </a:r>
            <a:r>
              <a:rPr sz="1200" b="1" dirty="0">
                <a:latin typeface="Times New Roman"/>
                <a:cs typeface="Times New Roman"/>
              </a:rPr>
              <a:t>is</a:t>
            </a:r>
            <a:r>
              <a:rPr sz="1200" b="1" spc="-55" dirty="0">
                <a:latin typeface="Times New Roman"/>
                <a:cs typeface="Times New Roman"/>
              </a:rPr>
              <a:t> </a:t>
            </a:r>
            <a:r>
              <a:rPr sz="1200" b="1" spc="-10" dirty="0">
                <a:latin typeface="Times New Roman"/>
                <a:cs typeface="Times New Roman"/>
              </a:rPr>
              <a:t>necessary</a:t>
            </a:r>
            <a:endParaRPr sz="1200">
              <a:latin typeface="Times New Roman"/>
              <a:cs typeface="Times New Roman"/>
            </a:endParaRPr>
          </a:p>
        </p:txBody>
      </p:sp>
      <p:pic>
        <p:nvPicPr>
          <p:cNvPr id="22" name="object 22"/>
          <p:cNvPicPr/>
          <p:nvPr/>
        </p:nvPicPr>
        <p:blipFill>
          <a:blip r:embed="rId3" cstate="print"/>
          <a:stretch>
            <a:fillRect/>
          </a:stretch>
        </p:blipFill>
        <p:spPr>
          <a:xfrm>
            <a:off x="2307335" y="5998464"/>
            <a:ext cx="3933444" cy="1563624"/>
          </a:xfrm>
          <a:prstGeom prst="rect">
            <a:avLst/>
          </a:prstGeom>
        </p:spPr>
      </p:pic>
      <p:sp>
        <p:nvSpPr>
          <p:cNvPr id="23" name="object 23"/>
          <p:cNvSpPr txBox="1"/>
          <p:nvPr/>
        </p:nvSpPr>
        <p:spPr>
          <a:xfrm>
            <a:off x="4610989" y="7113269"/>
            <a:ext cx="217170" cy="208279"/>
          </a:xfrm>
          <a:prstGeom prst="rect">
            <a:avLst/>
          </a:prstGeom>
        </p:spPr>
        <p:txBody>
          <a:bodyPr vert="horz" wrap="square" lIns="0" tIns="12700" rIns="0" bIns="0" rtlCol="0">
            <a:spAutoFit/>
          </a:bodyPr>
          <a:lstStyle/>
          <a:p>
            <a:pPr>
              <a:lnSpc>
                <a:spcPct val="100000"/>
              </a:lnSpc>
              <a:spcBef>
                <a:spcPts val="100"/>
              </a:spcBef>
            </a:pPr>
            <a:r>
              <a:rPr sz="1200" spc="-25" dirty="0">
                <a:solidFill>
                  <a:srgbClr val="FF0000"/>
                </a:solidFill>
                <a:latin typeface="Verdana"/>
                <a:cs typeface="Verdana"/>
              </a:rPr>
              <a:t>R1</a:t>
            </a:r>
            <a:endParaRPr sz="1200">
              <a:latin typeface="Verdana"/>
              <a:cs typeface="Verdana"/>
            </a:endParaRPr>
          </a:p>
        </p:txBody>
      </p:sp>
      <p:grpSp>
        <p:nvGrpSpPr>
          <p:cNvPr id="24" name="object 24"/>
          <p:cNvGrpSpPr/>
          <p:nvPr/>
        </p:nvGrpSpPr>
        <p:grpSpPr>
          <a:xfrm>
            <a:off x="740663" y="6562343"/>
            <a:ext cx="1130300" cy="288925"/>
            <a:chOff x="740663" y="6562343"/>
            <a:chExt cx="1130300" cy="288925"/>
          </a:xfrm>
        </p:grpSpPr>
        <p:pic>
          <p:nvPicPr>
            <p:cNvPr id="25" name="object 25"/>
            <p:cNvPicPr/>
            <p:nvPr/>
          </p:nvPicPr>
          <p:blipFill>
            <a:blip r:embed="rId4" cstate="print"/>
            <a:stretch>
              <a:fillRect/>
            </a:stretch>
          </p:blipFill>
          <p:spPr>
            <a:xfrm>
              <a:off x="740663" y="6562343"/>
              <a:ext cx="259829" cy="285750"/>
            </a:xfrm>
            <a:prstGeom prst="rect">
              <a:avLst/>
            </a:prstGeom>
          </p:spPr>
        </p:pic>
        <p:pic>
          <p:nvPicPr>
            <p:cNvPr id="26" name="object 26"/>
            <p:cNvPicPr/>
            <p:nvPr/>
          </p:nvPicPr>
          <p:blipFill>
            <a:blip r:embed="rId5" cstate="print"/>
            <a:stretch>
              <a:fillRect/>
            </a:stretch>
          </p:blipFill>
          <p:spPr>
            <a:xfrm>
              <a:off x="829055" y="6562343"/>
              <a:ext cx="252234" cy="285750"/>
            </a:xfrm>
            <a:prstGeom prst="rect">
              <a:avLst/>
            </a:prstGeom>
          </p:spPr>
        </p:pic>
        <p:pic>
          <p:nvPicPr>
            <p:cNvPr id="27" name="object 27"/>
            <p:cNvPicPr/>
            <p:nvPr/>
          </p:nvPicPr>
          <p:blipFill>
            <a:blip r:embed="rId6" cstate="print"/>
            <a:stretch>
              <a:fillRect/>
            </a:stretch>
          </p:blipFill>
          <p:spPr>
            <a:xfrm>
              <a:off x="954023" y="6565391"/>
              <a:ext cx="294894" cy="285750"/>
            </a:xfrm>
            <a:prstGeom prst="rect">
              <a:avLst/>
            </a:prstGeom>
          </p:spPr>
        </p:pic>
        <p:pic>
          <p:nvPicPr>
            <p:cNvPr id="28" name="object 28"/>
            <p:cNvPicPr/>
            <p:nvPr/>
          </p:nvPicPr>
          <p:blipFill>
            <a:blip r:embed="rId7" cstate="print"/>
            <a:stretch>
              <a:fillRect/>
            </a:stretch>
          </p:blipFill>
          <p:spPr>
            <a:xfrm>
              <a:off x="1123188" y="6562343"/>
              <a:ext cx="424421" cy="285750"/>
            </a:xfrm>
            <a:prstGeom prst="rect">
              <a:avLst/>
            </a:prstGeom>
          </p:spPr>
        </p:pic>
        <p:pic>
          <p:nvPicPr>
            <p:cNvPr id="29" name="object 29"/>
            <p:cNvPicPr/>
            <p:nvPr/>
          </p:nvPicPr>
          <p:blipFill>
            <a:blip r:embed="rId8" cstate="print"/>
            <a:stretch>
              <a:fillRect/>
            </a:stretch>
          </p:blipFill>
          <p:spPr>
            <a:xfrm>
              <a:off x="1376172" y="6562343"/>
              <a:ext cx="252234" cy="285750"/>
            </a:xfrm>
            <a:prstGeom prst="rect">
              <a:avLst/>
            </a:prstGeom>
          </p:spPr>
        </p:pic>
        <p:pic>
          <p:nvPicPr>
            <p:cNvPr id="30" name="object 30"/>
            <p:cNvPicPr/>
            <p:nvPr/>
          </p:nvPicPr>
          <p:blipFill>
            <a:blip r:embed="rId9" cstate="print"/>
            <a:stretch>
              <a:fillRect/>
            </a:stretch>
          </p:blipFill>
          <p:spPr>
            <a:xfrm>
              <a:off x="1456944" y="6562343"/>
              <a:ext cx="275094" cy="285750"/>
            </a:xfrm>
            <a:prstGeom prst="rect">
              <a:avLst/>
            </a:prstGeom>
          </p:spPr>
        </p:pic>
        <p:pic>
          <p:nvPicPr>
            <p:cNvPr id="31" name="object 31"/>
            <p:cNvPicPr/>
            <p:nvPr/>
          </p:nvPicPr>
          <p:blipFill>
            <a:blip r:embed="rId10" cstate="print"/>
            <a:stretch>
              <a:fillRect/>
            </a:stretch>
          </p:blipFill>
          <p:spPr>
            <a:xfrm>
              <a:off x="1560575" y="6562343"/>
              <a:ext cx="252234" cy="285750"/>
            </a:xfrm>
            <a:prstGeom prst="rect">
              <a:avLst/>
            </a:prstGeom>
          </p:spPr>
        </p:pic>
        <p:pic>
          <p:nvPicPr>
            <p:cNvPr id="32" name="object 32"/>
            <p:cNvPicPr/>
            <p:nvPr/>
          </p:nvPicPr>
          <p:blipFill>
            <a:blip r:embed="rId11" cstate="print"/>
            <a:stretch>
              <a:fillRect/>
            </a:stretch>
          </p:blipFill>
          <p:spPr>
            <a:xfrm>
              <a:off x="1641347" y="6562343"/>
              <a:ext cx="229374" cy="285750"/>
            </a:xfrm>
            <a:prstGeom prst="rect">
              <a:avLst/>
            </a:prstGeom>
          </p:spPr>
        </p:pic>
      </p:grpSp>
      <p:sp>
        <p:nvSpPr>
          <p:cNvPr id="33" name="object 33"/>
          <p:cNvSpPr txBox="1"/>
          <p:nvPr/>
        </p:nvSpPr>
        <p:spPr>
          <a:xfrm>
            <a:off x="571500" y="6269172"/>
            <a:ext cx="1221105" cy="501650"/>
          </a:xfrm>
          <a:prstGeom prst="rect">
            <a:avLst/>
          </a:prstGeom>
        </p:spPr>
        <p:txBody>
          <a:bodyPr vert="horz" wrap="square" lIns="0" tIns="95250" rIns="0" bIns="0" rtlCol="0">
            <a:spAutoFit/>
          </a:bodyPr>
          <a:lstStyle/>
          <a:p>
            <a:pPr>
              <a:lnSpc>
                <a:spcPct val="100000"/>
              </a:lnSpc>
              <a:spcBef>
                <a:spcPts val="750"/>
              </a:spcBef>
              <a:tabLst>
                <a:tab pos="450215" algn="l"/>
              </a:tabLst>
            </a:pPr>
            <a:r>
              <a:rPr sz="1100" spc="-25" dirty="0">
                <a:latin typeface="Verdana"/>
                <a:cs typeface="Verdana"/>
              </a:rPr>
              <a:t>LD</a:t>
            </a:r>
            <a:r>
              <a:rPr sz="1100" dirty="0">
                <a:latin typeface="Verdana"/>
                <a:cs typeface="Verdana"/>
              </a:rPr>
              <a:t>	</a:t>
            </a:r>
            <a:r>
              <a:rPr sz="1100" dirty="0">
                <a:solidFill>
                  <a:srgbClr val="00CC00"/>
                </a:solidFill>
                <a:latin typeface="Verdana"/>
                <a:cs typeface="Verdana"/>
              </a:rPr>
              <a:t>R1</a:t>
            </a:r>
            <a:r>
              <a:rPr sz="1100" dirty="0">
                <a:latin typeface="Verdana"/>
                <a:cs typeface="Verdana"/>
              </a:rPr>
              <a:t>,</a:t>
            </a:r>
            <a:r>
              <a:rPr sz="1100" spc="-20" dirty="0">
                <a:latin typeface="Verdana"/>
                <a:cs typeface="Verdana"/>
              </a:rPr>
              <a:t> 0(R2)</a:t>
            </a:r>
            <a:endParaRPr sz="1100">
              <a:latin typeface="Verdana"/>
              <a:cs typeface="Verdana"/>
            </a:endParaRPr>
          </a:p>
          <a:p>
            <a:pPr marL="250190">
              <a:lnSpc>
                <a:spcPct val="100000"/>
              </a:lnSpc>
              <a:spcBef>
                <a:spcPts val="580"/>
              </a:spcBef>
            </a:pPr>
            <a:r>
              <a:rPr sz="1000" dirty="0">
                <a:solidFill>
                  <a:srgbClr val="00CC00"/>
                </a:solidFill>
                <a:latin typeface="Verdana"/>
                <a:cs typeface="Verdana"/>
              </a:rPr>
              <a:t>R1</a:t>
            </a:r>
            <a:r>
              <a:rPr sz="1000" spc="-15" dirty="0">
                <a:solidFill>
                  <a:srgbClr val="00CC00"/>
                </a:solidFill>
                <a:latin typeface="Verdana"/>
                <a:cs typeface="Verdana"/>
              </a:rPr>
              <a:t> </a:t>
            </a:r>
            <a:r>
              <a:rPr sz="1000" dirty="0">
                <a:latin typeface="Wingdings"/>
                <a:cs typeface="Wingdings"/>
              </a:rPr>
              <a:t></a:t>
            </a:r>
            <a:r>
              <a:rPr sz="1000" spc="90" dirty="0">
                <a:latin typeface="Times New Roman"/>
                <a:cs typeface="Times New Roman"/>
              </a:rPr>
              <a:t> </a:t>
            </a:r>
            <a:r>
              <a:rPr sz="1000" spc="-10" dirty="0">
                <a:latin typeface="Verdana"/>
                <a:cs typeface="Verdana"/>
              </a:rPr>
              <a:t>M[R2+0]</a:t>
            </a:r>
            <a:endParaRPr sz="1000">
              <a:latin typeface="Verdana"/>
              <a:cs typeface="Verdana"/>
            </a:endParaRPr>
          </a:p>
        </p:txBody>
      </p:sp>
      <p:sp>
        <p:nvSpPr>
          <p:cNvPr id="34" name="object 34"/>
          <p:cNvSpPr txBox="1"/>
          <p:nvPr/>
        </p:nvSpPr>
        <p:spPr>
          <a:xfrm>
            <a:off x="571500" y="7075169"/>
            <a:ext cx="1221740" cy="193675"/>
          </a:xfrm>
          <a:prstGeom prst="rect">
            <a:avLst/>
          </a:prstGeom>
        </p:spPr>
        <p:txBody>
          <a:bodyPr vert="horz" wrap="square" lIns="0" tIns="12700" rIns="0" bIns="0" rtlCol="0">
            <a:spAutoFit/>
          </a:bodyPr>
          <a:lstStyle/>
          <a:p>
            <a:pPr>
              <a:lnSpc>
                <a:spcPct val="100000"/>
              </a:lnSpc>
              <a:spcBef>
                <a:spcPts val="100"/>
              </a:spcBef>
              <a:tabLst>
                <a:tab pos="450215" algn="l"/>
              </a:tabLst>
            </a:pPr>
            <a:r>
              <a:rPr sz="1100" spc="-25" dirty="0">
                <a:latin typeface="Verdana"/>
                <a:cs typeface="Verdana"/>
              </a:rPr>
              <a:t>SUB</a:t>
            </a:r>
            <a:r>
              <a:rPr sz="1100" dirty="0">
                <a:latin typeface="Verdana"/>
                <a:cs typeface="Verdana"/>
              </a:rPr>
              <a:t>	R4,</a:t>
            </a:r>
            <a:r>
              <a:rPr sz="1100" spc="-15" dirty="0">
                <a:latin typeface="Verdana"/>
                <a:cs typeface="Verdana"/>
              </a:rPr>
              <a:t> </a:t>
            </a:r>
            <a:r>
              <a:rPr sz="1100" dirty="0">
                <a:solidFill>
                  <a:srgbClr val="FF0000"/>
                </a:solidFill>
                <a:latin typeface="Verdana"/>
                <a:cs typeface="Verdana"/>
              </a:rPr>
              <a:t>R1</a:t>
            </a:r>
            <a:r>
              <a:rPr sz="1100" dirty="0">
                <a:latin typeface="Verdana"/>
                <a:cs typeface="Verdana"/>
              </a:rPr>
              <a:t>,</a:t>
            </a:r>
            <a:r>
              <a:rPr sz="1100" spc="-15" dirty="0">
                <a:latin typeface="Verdana"/>
                <a:cs typeface="Verdana"/>
              </a:rPr>
              <a:t> </a:t>
            </a:r>
            <a:r>
              <a:rPr sz="1100" spc="-25" dirty="0">
                <a:latin typeface="Verdana"/>
                <a:cs typeface="Verdana"/>
              </a:rPr>
              <a:t>R5</a:t>
            </a:r>
            <a:endParaRPr sz="1100">
              <a:latin typeface="Verdana"/>
              <a:cs typeface="Verdana"/>
            </a:endParaRPr>
          </a:p>
        </p:txBody>
      </p:sp>
      <p:sp>
        <p:nvSpPr>
          <p:cNvPr id="35" name="object 35"/>
          <p:cNvSpPr/>
          <p:nvPr/>
        </p:nvSpPr>
        <p:spPr>
          <a:xfrm>
            <a:off x="4717541" y="6449695"/>
            <a:ext cx="617220" cy="654685"/>
          </a:xfrm>
          <a:custGeom>
            <a:avLst/>
            <a:gdLst/>
            <a:ahLst/>
            <a:cxnLst/>
            <a:rect l="l" t="t" r="r" b="b"/>
            <a:pathLst>
              <a:path w="617220" h="654684">
                <a:moveTo>
                  <a:pt x="19050" y="590803"/>
                </a:moveTo>
                <a:lnTo>
                  <a:pt x="0" y="654430"/>
                </a:lnTo>
                <a:lnTo>
                  <a:pt x="62357" y="631570"/>
                </a:lnTo>
                <a:lnTo>
                  <a:pt x="55476" y="625093"/>
                </a:lnTo>
                <a:lnTo>
                  <a:pt x="41148" y="625093"/>
                </a:lnTo>
                <a:lnTo>
                  <a:pt x="26670" y="611631"/>
                </a:lnTo>
                <a:lnTo>
                  <a:pt x="33484" y="604391"/>
                </a:lnTo>
                <a:lnTo>
                  <a:pt x="19050" y="590803"/>
                </a:lnTo>
                <a:close/>
              </a:path>
              <a:path w="617220" h="654684">
                <a:moveTo>
                  <a:pt x="33484" y="604391"/>
                </a:moveTo>
                <a:lnTo>
                  <a:pt x="26670" y="611631"/>
                </a:lnTo>
                <a:lnTo>
                  <a:pt x="41148" y="625093"/>
                </a:lnTo>
                <a:lnTo>
                  <a:pt x="47879" y="617942"/>
                </a:lnTo>
                <a:lnTo>
                  <a:pt x="33484" y="604391"/>
                </a:lnTo>
                <a:close/>
              </a:path>
              <a:path w="617220" h="654684">
                <a:moveTo>
                  <a:pt x="47879" y="617942"/>
                </a:moveTo>
                <a:lnTo>
                  <a:pt x="41148" y="625093"/>
                </a:lnTo>
                <a:lnTo>
                  <a:pt x="55476" y="625093"/>
                </a:lnTo>
                <a:lnTo>
                  <a:pt x="47879" y="617942"/>
                </a:lnTo>
                <a:close/>
              </a:path>
              <a:path w="617220" h="654684">
                <a:moveTo>
                  <a:pt x="602361" y="0"/>
                </a:moveTo>
                <a:lnTo>
                  <a:pt x="33484" y="604391"/>
                </a:lnTo>
                <a:lnTo>
                  <a:pt x="47879" y="617942"/>
                </a:lnTo>
                <a:lnTo>
                  <a:pt x="616838" y="13461"/>
                </a:lnTo>
                <a:lnTo>
                  <a:pt x="602361" y="0"/>
                </a:lnTo>
                <a:close/>
              </a:path>
            </a:pathLst>
          </a:custGeom>
          <a:solidFill>
            <a:srgbClr val="FF0000"/>
          </a:solidFill>
        </p:spPr>
        <p:txBody>
          <a:bodyPr wrap="square" lIns="0" tIns="0" rIns="0" bIns="0" rtlCol="0"/>
          <a:lstStyle/>
          <a:p>
            <a:endParaRPr/>
          </a:p>
        </p:txBody>
      </p:sp>
      <p:sp>
        <p:nvSpPr>
          <p:cNvPr id="36" name="object 36"/>
          <p:cNvSpPr txBox="1"/>
          <p:nvPr/>
        </p:nvSpPr>
        <p:spPr>
          <a:xfrm>
            <a:off x="5030470" y="5848350"/>
            <a:ext cx="688975" cy="558800"/>
          </a:xfrm>
          <a:prstGeom prst="rect">
            <a:avLst/>
          </a:prstGeom>
        </p:spPr>
        <p:txBody>
          <a:bodyPr vert="horz" wrap="square" lIns="0" tIns="12700" rIns="0" bIns="0" rtlCol="0">
            <a:spAutoFit/>
          </a:bodyPr>
          <a:lstStyle/>
          <a:p>
            <a:pPr marL="190500" marR="5080" indent="-190500">
              <a:lnSpc>
                <a:spcPct val="145800"/>
              </a:lnSpc>
              <a:spcBef>
                <a:spcPts val="100"/>
              </a:spcBef>
            </a:pPr>
            <a:r>
              <a:rPr sz="1200" spc="-20" dirty="0">
                <a:solidFill>
                  <a:srgbClr val="00CC00"/>
                </a:solidFill>
                <a:latin typeface="Verdana"/>
                <a:cs typeface="Verdana"/>
              </a:rPr>
              <a:t>MEM/WB </a:t>
            </a:r>
            <a:r>
              <a:rPr sz="1200" spc="-25" dirty="0">
                <a:solidFill>
                  <a:srgbClr val="00CC00"/>
                </a:solidFill>
                <a:latin typeface="Verdana"/>
                <a:cs typeface="Verdana"/>
              </a:rPr>
              <a:t>R1</a:t>
            </a:r>
            <a:endParaRPr sz="1200">
              <a:latin typeface="Verdana"/>
              <a:cs typeface="Verdana"/>
            </a:endParaRPr>
          </a:p>
        </p:txBody>
      </p:sp>
      <p:sp>
        <p:nvSpPr>
          <p:cNvPr id="38" name="object 38"/>
          <p:cNvSpPr txBox="1"/>
          <p:nvPr/>
        </p:nvSpPr>
        <p:spPr>
          <a:xfrm>
            <a:off x="6674611" y="8933180"/>
            <a:ext cx="102870" cy="177800"/>
          </a:xfrm>
          <a:prstGeom prst="rect">
            <a:avLst/>
          </a:prstGeom>
        </p:spPr>
        <p:txBody>
          <a:bodyPr vert="horz" wrap="square" lIns="0" tIns="0" rIns="0" bIns="0" rtlCol="0">
            <a:spAutoFit/>
          </a:bodyPr>
          <a:lstStyle/>
          <a:p>
            <a:pPr marL="12700">
              <a:lnSpc>
                <a:spcPts val="1240"/>
              </a:lnSpc>
            </a:pPr>
            <a:r>
              <a:rPr sz="1200" spc="-50" dirty="0">
                <a:latin typeface="Calibri"/>
                <a:cs typeface="Calibri"/>
              </a:rPr>
              <a:t>7</a:t>
            </a:r>
            <a:endParaRPr sz="1200">
              <a:latin typeface="Calibri"/>
              <a:cs typeface="Calibri"/>
            </a:endParaRPr>
          </a:p>
        </p:txBody>
      </p:sp>
      <p:sp>
        <p:nvSpPr>
          <p:cNvPr id="37" name="object 37"/>
          <p:cNvSpPr txBox="1"/>
          <p:nvPr/>
        </p:nvSpPr>
        <p:spPr>
          <a:xfrm>
            <a:off x="2239517" y="7780781"/>
            <a:ext cx="2971800" cy="231775"/>
          </a:xfrm>
          <a:prstGeom prst="rect">
            <a:avLst/>
          </a:prstGeom>
          <a:solidFill>
            <a:srgbClr val="FFFFFF"/>
          </a:solidFill>
          <a:ln w="19811">
            <a:solidFill>
              <a:srgbClr val="3E762B"/>
            </a:solidFill>
          </a:ln>
        </p:spPr>
        <p:txBody>
          <a:bodyPr vert="horz" wrap="square" lIns="0" tIns="19050" rIns="0" bIns="0" rtlCol="0">
            <a:spAutoFit/>
          </a:bodyPr>
          <a:lstStyle/>
          <a:p>
            <a:pPr marL="53340">
              <a:lnSpc>
                <a:spcPct val="100000"/>
              </a:lnSpc>
              <a:spcBef>
                <a:spcPts val="150"/>
              </a:spcBef>
            </a:pPr>
            <a:r>
              <a:rPr sz="1200" dirty="0">
                <a:latin typeface="Times New Roman"/>
                <a:cs typeface="Times New Roman"/>
              </a:rPr>
              <a:t>Forwarding</a:t>
            </a:r>
            <a:r>
              <a:rPr sz="1200" spc="-20" dirty="0">
                <a:latin typeface="Times New Roman"/>
                <a:cs typeface="Times New Roman"/>
              </a:rPr>
              <a:t> </a:t>
            </a:r>
            <a:r>
              <a:rPr sz="1200" dirty="0">
                <a:latin typeface="Times New Roman"/>
                <a:cs typeface="Times New Roman"/>
              </a:rPr>
              <a:t>cannot</a:t>
            </a:r>
            <a:r>
              <a:rPr sz="1200" spc="-3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backward.</a:t>
            </a:r>
            <a:r>
              <a:rPr sz="1200" spc="-15" dirty="0">
                <a:latin typeface="Times New Roman"/>
                <a:cs typeface="Times New Roman"/>
              </a:rPr>
              <a:t> </a:t>
            </a: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has</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spc="-10" dirty="0">
                <a:latin typeface="Times New Roman"/>
                <a:cs typeface="Times New Roman"/>
              </a:rPr>
              <a:t>stall.</a:t>
            </a:r>
            <a:endParaRPr sz="12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525145" indent="-296545">
              <a:lnSpc>
                <a:spcPct val="100000"/>
              </a:lnSpc>
              <a:spcBef>
                <a:spcPts val="900"/>
              </a:spcBef>
              <a:buAutoNum type="arabicPeriod" startAt="2"/>
              <a:tabLst>
                <a:tab pos="525145" algn="l"/>
              </a:tabLst>
            </a:pPr>
            <a:r>
              <a:rPr sz="2200" dirty="0">
                <a:latin typeface="Georgia"/>
                <a:cs typeface="Georgia"/>
              </a:rPr>
              <a:t>Data</a:t>
            </a:r>
            <a:r>
              <a:rPr sz="2200" spc="-45" dirty="0">
                <a:latin typeface="Georgia"/>
                <a:cs typeface="Georgia"/>
              </a:rPr>
              <a:t> </a:t>
            </a:r>
            <a:r>
              <a:rPr sz="2200" spc="-10" dirty="0">
                <a:latin typeface="Georgia"/>
                <a:cs typeface="Georgia"/>
              </a:rPr>
              <a:t>Hazard</a:t>
            </a:r>
            <a:endParaRPr sz="2200">
              <a:latin typeface="Georgia"/>
              <a:cs typeface="Georgia"/>
            </a:endParaRPr>
          </a:p>
          <a:p>
            <a:pPr marL="443230" lvl="1" indent="-182880">
              <a:lnSpc>
                <a:spcPct val="100000"/>
              </a:lnSpc>
              <a:spcBef>
                <a:spcPts val="1355"/>
              </a:spcBef>
              <a:buClr>
                <a:srgbClr val="3E762B"/>
              </a:buClr>
              <a:buSzPct val="93750"/>
              <a:buFont typeface="Wingdings"/>
              <a:buChar char=""/>
              <a:tabLst>
                <a:tab pos="443230" algn="l"/>
              </a:tabLst>
            </a:pPr>
            <a:r>
              <a:rPr sz="1600" b="1" dirty="0">
                <a:latin typeface="Times New Roman"/>
                <a:cs typeface="Times New Roman"/>
              </a:rPr>
              <a:t>Root</a:t>
            </a:r>
            <a:r>
              <a:rPr sz="1600" b="1" spc="-35" dirty="0">
                <a:latin typeface="Times New Roman"/>
                <a:cs typeface="Times New Roman"/>
              </a:rPr>
              <a:t> </a:t>
            </a:r>
            <a:r>
              <a:rPr sz="1600" b="1" dirty="0">
                <a:latin typeface="Times New Roman"/>
                <a:cs typeface="Times New Roman"/>
              </a:rPr>
              <a:t>Cause:</a:t>
            </a:r>
            <a:r>
              <a:rPr sz="1600" b="1" spc="-15" dirty="0">
                <a:latin typeface="Times New Roman"/>
                <a:cs typeface="Times New Roman"/>
              </a:rPr>
              <a:t> </a:t>
            </a:r>
            <a:r>
              <a:rPr sz="1600" dirty="0">
                <a:latin typeface="Times New Roman"/>
                <a:cs typeface="Times New Roman"/>
              </a:rPr>
              <a:t>data</a:t>
            </a:r>
            <a:r>
              <a:rPr sz="1600" spc="-20" dirty="0">
                <a:latin typeface="Times New Roman"/>
                <a:cs typeface="Times New Roman"/>
              </a:rPr>
              <a:t> </a:t>
            </a:r>
            <a:r>
              <a:rPr sz="1600" spc="-10" dirty="0">
                <a:latin typeface="Times New Roman"/>
                <a:cs typeface="Times New Roman"/>
              </a:rPr>
              <a:t>dependency</a:t>
            </a:r>
            <a:endParaRPr sz="1600">
              <a:latin typeface="Times New Roman"/>
              <a:cs typeface="Times New Roman"/>
            </a:endParaRPr>
          </a:p>
          <a:p>
            <a:pPr lvl="1">
              <a:lnSpc>
                <a:spcPct val="100000"/>
              </a:lnSpc>
              <a:spcBef>
                <a:spcPts val="1275"/>
              </a:spcBef>
              <a:buClr>
                <a:srgbClr val="3E762B"/>
              </a:buClr>
              <a:buFont typeface="Wingdings"/>
              <a:buChar char=""/>
            </a:pPr>
            <a:endParaRPr sz="1600">
              <a:latin typeface="Times New Roman"/>
              <a:cs typeface="Times New Roman"/>
            </a:endParaRPr>
          </a:p>
          <a:p>
            <a:pPr marL="443230" lvl="1" indent="-182880">
              <a:lnSpc>
                <a:spcPct val="100000"/>
              </a:lnSpc>
              <a:spcBef>
                <a:spcPts val="5"/>
              </a:spcBef>
              <a:buClr>
                <a:srgbClr val="3E762B"/>
              </a:buClr>
              <a:buSzPct val="93750"/>
              <a:buFont typeface="Wingdings"/>
              <a:buChar char=""/>
              <a:tabLst>
                <a:tab pos="443230" algn="l"/>
              </a:tabLst>
            </a:pPr>
            <a:r>
              <a:rPr sz="1600" b="1" spc="-10" dirty="0">
                <a:latin typeface="Times New Roman"/>
                <a:cs typeface="Times New Roman"/>
              </a:rPr>
              <a:t>Solution:</a:t>
            </a:r>
            <a:endParaRPr sz="1600">
              <a:latin typeface="Times New Roman"/>
              <a:cs typeface="Times New Roman"/>
            </a:endParaRPr>
          </a:p>
          <a:p>
            <a:pPr marL="665480" lvl="2" indent="-174625">
              <a:lnSpc>
                <a:spcPct val="100000"/>
              </a:lnSpc>
              <a:spcBef>
                <a:spcPts val="600"/>
              </a:spcBef>
              <a:buClr>
                <a:srgbClr val="3E762B"/>
              </a:buClr>
              <a:buFont typeface="Arial MT"/>
              <a:buChar char="•"/>
              <a:tabLst>
                <a:tab pos="665480" algn="l"/>
              </a:tabLst>
            </a:pPr>
            <a:r>
              <a:rPr sz="1600" spc="-10" dirty="0">
                <a:latin typeface="Times New Roman"/>
                <a:cs typeface="Times New Roman"/>
              </a:rPr>
              <a:t>Stall</a:t>
            </a:r>
            <a:endParaRPr sz="1600">
              <a:latin typeface="Times New Roman"/>
              <a:cs typeface="Times New Roman"/>
            </a:endParaRPr>
          </a:p>
          <a:p>
            <a:pPr marL="665480" lvl="2" indent="-174625">
              <a:lnSpc>
                <a:spcPct val="100000"/>
              </a:lnSpc>
              <a:spcBef>
                <a:spcPts val="600"/>
              </a:spcBef>
              <a:buClr>
                <a:srgbClr val="3E762B"/>
              </a:buClr>
              <a:buFont typeface="Arial MT"/>
              <a:buChar char="•"/>
              <a:tabLst>
                <a:tab pos="665480" algn="l"/>
              </a:tabLst>
            </a:pPr>
            <a:r>
              <a:rPr sz="1600" spc="-10" dirty="0">
                <a:latin typeface="Times New Roman"/>
                <a:cs typeface="Times New Roman"/>
              </a:rPr>
              <a:t>Forwarding</a:t>
            </a:r>
            <a:endParaRPr sz="1600">
              <a:latin typeface="Times New Roman"/>
              <a:cs typeface="Times New Roman"/>
            </a:endParaRPr>
          </a:p>
          <a:p>
            <a:pPr marL="665480" lvl="2" indent="-174625">
              <a:lnSpc>
                <a:spcPct val="100000"/>
              </a:lnSpc>
              <a:spcBef>
                <a:spcPts val="600"/>
              </a:spcBef>
              <a:buClr>
                <a:srgbClr val="3E762B"/>
              </a:buClr>
              <a:buFont typeface="Arial MT"/>
              <a:buChar char="•"/>
              <a:tabLst>
                <a:tab pos="665480" algn="l"/>
              </a:tabLst>
            </a:pPr>
            <a:r>
              <a:rPr sz="1600" dirty="0">
                <a:latin typeface="Times New Roman"/>
                <a:cs typeface="Times New Roman"/>
              </a:rPr>
              <a:t>Delay</a:t>
            </a:r>
            <a:r>
              <a:rPr sz="1600" spc="-30" dirty="0">
                <a:latin typeface="Times New Roman"/>
                <a:cs typeface="Times New Roman"/>
              </a:rPr>
              <a:t> </a:t>
            </a:r>
            <a:r>
              <a:rPr sz="1600" spc="-20" dirty="0">
                <a:latin typeface="Times New Roman"/>
                <a:cs typeface="Times New Roman"/>
              </a:rPr>
              <a:t>load</a:t>
            </a:r>
            <a:endParaRPr sz="16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524510" indent="-295910">
              <a:lnSpc>
                <a:spcPct val="100000"/>
              </a:lnSpc>
              <a:spcBef>
                <a:spcPts val="905"/>
              </a:spcBef>
              <a:buAutoNum type="arabicPeriod" startAt="2"/>
              <a:tabLst>
                <a:tab pos="524510" algn="l"/>
              </a:tabLst>
            </a:pPr>
            <a:r>
              <a:rPr sz="2200" dirty="0">
                <a:latin typeface="Georgia"/>
                <a:cs typeface="Georgia"/>
              </a:rPr>
              <a:t>Data</a:t>
            </a:r>
            <a:r>
              <a:rPr sz="2200" spc="-55" dirty="0">
                <a:latin typeface="Georgia"/>
                <a:cs typeface="Georgia"/>
              </a:rPr>
              <a:t> </a:t>
            </a:r>
            <a:r>
              <a:rPr sz="2200" dirty="0">
                <a:latin typeface="Georgia"/>
                <a:cs typeface="Georgia"/>
              </a:rPr>
              <a:t>Hazard:</a:t>
            </a:r>
            <a:r>
              <a:rPr sz="2200" spc="-55" dirty="0">
                <a:latin typeface="Georgia"/>
                <a:cs typeface="Georgia"/>
              </a:rPr>
              <a:t> </a:t>
            </a:r>
            <a:r>
              <a:rPr sz="2200" spc="-10" dirty="0">
                <a:latin typeface="Georgia"/>
                <a:cs typeface="Georgia"/>
              </a:rPr>
              <a:t>Solutions</a:t>
            </a:r>
            <a:endParaRPr sz="2200" dirty="0">
              <a:latin typeface="Georgia"/>
              <a:cs typeface="Georgia"/>
            </a:endParaRPr>
          </a:p>
          <a:p>
            <a:pPr marL="434975" lvl="1" indent="-172720">
              <a:lnSpc>
                <a:spcPct val="100000"/>
              </a:lnSpc>
              <a:spcBef>
                <a:spcPts val="1370"/>
              </a:spcBef>
              <a:buFont typeface="Wingdings"/>
              <a:buChar char=""/>
              <a:tabLst>
                <a:tab pos="434975" algn="l"/>
              </a:tabLst>
            </a:pPr>
            <a:r>
              <a:rPr sz="1200" b="1" dirty="0">
                <a:solidFill>
                  <a:srgbClr val="3E762B"/>
                </a:solidFill>
                <a:latin typeface="Times New Roman"/>
                <a:cs typeface="Times New Roman"/>
              </a:rPr>
              <a:t>Stall</a:t>
            </a:r>
            <a:r>
              <a:rPr sz="1200" b="1" spc="-60" dirty="0">
                <a:solidFill>
                  <a:srgbClr val="3E762B"/>
                </a:solidFill>
                <a:latin typeface="Times New Roman"/>
                <a:cs typeface="Times New Roman"/>
              </a:rPr>
              <a:t> </a:t>
            </a:r>
            <a:r>
              <a:rPr sz="1200" b="1" dirty="0">
                <a:solidFill>
                  <a:srgbClr val="3E762B"/>
                </a:solidFill>
                <a:latin typeface="Times New Roman"/>
                <a:cs typeface="Times New Roman"/>
              </a:rPr>
              <a:t>(hardware</a:t>
            </a:r>
            <a:r>
              <a:rPr sz="1200" b="1" spc="-50" dirty="0">
                <a:solidFill>
                  <a:srgbClr val="3E762B"/>
                </a:solidFill>
                <a:latin typeface="Times New Roman"/>
                <a:cs typeface="Times New Roman"/>
              </a:rPr>
              <a:t> </a:t>
            </a:r>
            <a:r>
              <a:rPr sz="1200" b="1" spc="-10" dirty="0">
                <a:solidFill>
                  <a:srgbClr val="3E762B"/>
                </a:solidFill>
                <a:latin typeface="Times New Roman"/>
                <a:cs typeface="Times New Roman"/>
              </a:rPr>
              <a:t>interlocks)</a:t>
            </a:r>
            <a:endParaRPr sz="1200" dirty="0">
              <a:latin typeface="Times New Roman"/>
              <a:cs typeface="Times New Roman"/>
            </a:endParaRPr>
          </a:p>
          <a:p>
            <a:pPr marL="662940" marR="830580"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The</a:t>
            </a:r>
            <a:r>
              <a:rPr sz="1200" spc="-60" dirty="0">
                <a:latin typeface="Times New Roman"/>
                <a:cs typeface="Times New Roman"/>
              </a:rPr>
              <a:t> </a:t>
            </a:r>
            <a:r>
              <a:rPr sz="1200" dirty="0">
                <a:latin typeface="Times New Roman"/>
                <a:cs typeface="Times New Roman"/>
              </a:rPr>
              <a:t>most</a:t>
            </a:r>
            <a:r>
              <a:rPr sz="1200" spc="-35" dirty="0">
                <a:latin typeface="Times New Roman"/>
                <a:cs typeface="Times New Roman"/>
              </a:rPr>
              <a:t> </a:t>
            </a:r>
            <a:r>
              <a:rPr sz="1200" dirty="0">
                <a:latin typeface="Times New Roman"/>
                <a:cs typeface="Times New Roman"/>
              </a:rPr>
              <a:t>straightforward method</a:t>
            </a:r>
            <a:r>
              <a:rPr sz="1200" spc="-4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insert</a:t>
            </a:r>
            <a:r>
              <a:rPr sz="1200" spc="-25" dirty="0">
                <a:latin typeface="Times New Roman"/>
                <a:cs typeface="Times New Roman"/>
              </a:rPr>
              <a:t> </a:t>
            </a:r>
            <a:r>
              <a:rPr sz="1200" dirty="0">
                <a:latin typeface="Times New Roman"/>
                <a:cs typeface="Times New Roman"/>
              </a:rPr>
              <a:t>hardware</a:t>
            </a:r>
            <a:r>
              <a:rPr sz="1200" spc="-20" dirty="0">
                <a:latin typeface="Times New Roman"/>
                <a:cs typeface="Times New Roman"/>
              </a:rPr>
              <a:t> </a:t>
            </a:r>
            <a:r>
              <a:rPr sz="1200" spc="-10" dirty="0">
                <a:latin typeface="Times New Roman"/>
                <a:cs typeface="Times New Roman"/>
              </a:rPr>
              <a:t>interlocks.</a:t>
            </a:r>
            <a:r>
              <a:rPr sz="1200" spc="-75" dirty="0">
                <a:latin typeface="Times New Roman"/>
                <a:cs typeface="Times New Roman"/>
              </a:rPr>
              <a:t> </a:t>
            </a:r>
            <a:r>
              <a:rPr sz="1200" spc="-25" dirty="0">
                <a:latin typeface="Times New Roman"/>
                <a:cs typeface="Times New Roman"/>
              </a:rPr>
              <a:t>An </a:t>
            </a:r>
            <a:r>
              <a:rPr sz="1200" dirty="0">
                <a:latin typeface="Times New Roman"/>
                <a:cs typeface="Times New Roman"/>
              </a:rPr>
              <a:t>interlock</a:t>
            </a:r>
            <a:r>
              <a:rPr sz="1200" spc="-3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circuit</a:t>
            </a:r>
            <a:r>
              <a:rPr sz="1200" spc="-40" dirty="0">
                <a:latin typeface="Times New Roman"/>
                <a:cs typeface="Times New Roman"/>
              </a:rPr>
              <a:t> </a:t>
            </a:r>
            <a:r>
              <a:rPr sz="1200" dirty="0">
                <a:latin typeface="Times New Roman"/>
                <a:cs typeface="Times New Roman"/>
              </a:rPr>
              <a:t>that</a:t>
            </a:r>
            <a:r>
              <a:rPr sz="1200" spc="-30" dirty="0">
                <a:latin typeface="Times New Roman"/>
                <a:cs typeface="Times New Roman"/>
              </a:rPr>
              <a:t> </a:t>
            </a:r>
            <a:r>
              <a:rPr sz="1200" dirty="0">
                <a:latin typeface="Times New Roman"/>
                <a:cs typeface="Times New Roman"/>
              </a:rPr>
              <a:t>detects</a:t>
            </a:r>
            <a:r>
              <a:rPr sz="1200" spc="-30" dirty="0">
                <a:latin typeface="Times New Roman"/>
                <a:cs typeface="Times New Roman"/>
              </a:rPr>
              <a:t> </a:t>
            </a:r>
            <a:r>
              <a:rPr sz="1200" dirty="0">
                <a:latin typeface="Times New Roman"/>
                <a:cs typeface="Times New Roman"/>
              </a:rPr>
              <a:t>instructions</a:t>
            </a:r>
            <a:r>
              <a:rPr sz="1200" spc="-45" dirty="0">
                <a:latin typeface="Times New Roman"/>
                <a:cs typeface="Times New Roman"/>
              </a:rPr>
              <a:t> </a:t>
            </a:r>
            <a:r>
              <a:rPr sz="1200" dirty="0">
                <a:latin typeface="Times New Roman"/>
                <a:cs typeface="Times New Roman"/>
              </a:rPr>
              <a:t>whose</a:t>
            </a:r>
            <a:r>
              <a:rPr sz="1200" spc="-30" dirty="0">
                <a:latin typeface="Times New Roman"/>
                <a:cs typeface="Times New Roman"/>
              </a:rPr>
              <a:t> </a:t>
            </a:r>
            <a:r>
              <a:rPr sz="1200" dirty="0">
                <a:latin typeface="Times New Roman"/>
                <a:cs typeface="Times New Roman"/>
              </a:rPr>
              <a:t>source</a:t>
            </a:r>
            <a:r>
              <a:rPr sz="1200" spc="-25" dirty="0">
                <a:latin typeface="Times New Roman"/>
                <a:cs typeface="Times New Roman"/>
              </a:rPr>
              <a:t> </a:t>
            </a:r>
            <a:r>
              <a:rPr sz="1200" dirty="0">
                <a:latin typeface="Times New Roman"/>
                <a:cs typeface="Times New Roman"/>
              </a:rPr>
              <a:t>operands</a:t>
            </a:r>
            <a:r>
              <a:rPr sz="1200" spc="-20" dirty="0">
                <a:latin typeface="Times New Roman"/>
                <a:cs typeface="Times New Roman"/>
              </a:rPr>
              <a:t> </a:t>
            </a:r>
            <a:r>
              <a:rPr sz="1200" spc="-25" dirty="0">
                <a:latin typeface="Times New Roman"/>
                <a:cs typeface="Times New Roman"/>
              </a:rPr>
              <a:t>are </a:t>
            </a:r>
            <a:r>
              <a:rPr sz="1200" dirty="0">
                <a:latin typeface="Times New Roman"/>
                <a:cs typeface="Times New Roman"/>
              </a:rPr>
              <a:t>destinations</a:t>
            </a:r>
            <a:r>
              <a:rPr sz="1200" spc="-4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instructions</a:t>
            </a:r>
            <a:r>
              <a:rPr sz="1200" spc="-30" dirty="0">
                <a:latin typeface="Times New Roman"/>
                <a:cs typeface="Times New Roman"/>
              </a:rPr>
              <a:t> </a:t>
            </a:r>
            <a:r>
              <a:rPr sz="1200" dirty="0">
                <a:latin typeface="Times New Roman"/>
                <a:cs typeface="Times New Roman"/>
              </a:rPr>
              <a:t>farther</a:t>
            </a:r>
            <a:r>
              <a:rPr sz="1200" spc="-20" dirty="0">
                <a:latin typeface="Times New Roman"/>
                <a:cs typeface="Times New Roman"/>
              </a:rPr>
              <a:t> </a:t>
            </a:r>
            <a:r>
              <a:rPr sz="1200" dirty="0">
                <a:latin typeface="Times New Roman"/>
                <a:cs typeface="Times New Roman"/>
              </a:rPr>
              <a:t>up</a:t>
            </a:r>
            <a:r>
              <a:rPr sz="1200" spc="-30" dirty="0">
                <a:latin typeface="Times New Roman"/>
                <a:cs typeface="Times New Roman"/>
              </a:rPr>
              <a:t> </a:t>
            </a:r>
            <a:r>
              <a:rPr sz="1200" dirty="0">
                <a:latin typeface="Times New Roman"/>
                <a:cs typeface="Times New Roman"/>
              </a:rPr>
              <a:t>in</a:t>
            </a:r>
            <a:r>
              <a:rPr sz="1200" spc="-4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spc="-10" dirty="0">
                <a:latin typeface="Times New Roman"/>
                <a:cs typeface="Times New Roman"/>
              </a:rPr>
              <a:t>pipeline.</a:t>
            </a:r>
            <a:endParaRPr sz="1200" dirty="0">
              <a:latin typeface="Times New Roman"/>
              <a:cs typeface="Times New Roman"/>
            </a:endParaRPr>
          </a:p>
          <a:p>
            <a:pPr marL="662940" marR="933450"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Detection</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situation</a:t>
            </a:r>
            <a:r>
              <a:rPr sz="1200" spc="-50" dirty="0">
                <a:latin typeface="Times New Roman"/>
                <a:cs typeface="Times New Roman"/>
              </a:rPr>
              <a:t> </a:t>
            </a:r>
            <a:r>
              <a:rPr sz="1200" dirty="0">
                <a:latin typeface="Times New Roman"/>
                <a:cs typeface="Times New Roman"/>
              </a:rPr>
              <a:t>causes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instruction</a:t>
            </a:r>
            <a:r>
              <a:rPr sz="1200" spc="-40" dirty="0">
                <a:latin typeface="Times New Roman"/>
                <a:cs typeface="Times New Roman"/>
              </a:rPr>
              <a:t> </a:t>
            </a:r>
            <a:r>
              <a:rPr sz="1200" dirty="0">
                <a:latin typeface="Times New Roman"/>
                <a:cs typeface="Times New Roman"/>
              </a:rPr>
              <a:t>whose</a:t>
            </a:r>
            <a:r>
              <a:rPr sz="1200" spc="-30" dirty="0">
                <a:latin typeface="Times New Roman"/>
                <a:cs typeface="Times New Roman"/>
              </a:rPr>
              <a:t> </a:t>
            </a:r>
            <a:r>
              <a:rPr sz="1200" dirty="0">
                <a:latin typeface="Times New Roman"/>
                <a:cs typeface="Times New Roman"/>
              </a:rPr>
              <a:t>source</a:t>
            </a:r>
            <a:r>
              <a:rPr sz="1200" spc="-2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spc="-25" dirty="0">
                <a:latin typeface="Times New Roman"/>
                <a:cs typeface="Times New Roman"/>
              </a:rPr>
              <a:t>not </a:t>
            </a:r>
            <a:r>
              <a:rPr sz="1200" dirty="0">
                <a:latin typeface="Times New Roman"/>
                <a:cs typeface="Times New Roman"/>
              </a:rPr>
              <a:t>available</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delayed</a:t>
            </a:r>
            <a:r>
              <a:rPr sz="1200" spc="-5" dirty="0">
                <a:latin typeface="Times New Roman"/>
                <a:cs typeface="Times New Roman"/>
              </a:rPr>
              <a:t> </a:t>
            </a:r>
            <a:r>
              <a:rPr sz="1200" dirty="0">
                <a:latin typeface="Times New Roman"/>
                <a:cs typeface="Times New Roman"/>
              </a:rPr>
              <a:t>by</a:t>
            </a:r>
            <a:r>
              <a:rPr sz="1200" spc="-40" dirty="0">
                <a:latin typeface="Times New Roman"/>
                <a:cs typeface="Times New Roman"/>
              </a:rPr>
              <a:t> </a:t>
            </a:r>
            <a:r>
              <a:rPr sz="1200" dirty="0">
                <a:latin typeface="Times New Roman"/>
                <a:cs typeface="Times New Roman"/>
              </a:rPr>
              <a:t>enough</a:t>
            </a:r>
            <a:r>
              <a:rPr sz="1200" spc="-20" dirty="0">
                <a:latin typeface="Times New Roman"/>
                <a:cs typeface="Times New Roman"/>
              </a:rPr>
              <a:t> </a:t>
            </a:r>
            <a:r>
              <a:rPr sz="1200" dirty="0">
                <a:latin typeface="Times New Roman"/>
                <a:cs typeface="Times New Roman"/>
              </a:rPr>
              <a:t>clock</a:t>
            </a:r>
            <a:r>
              <a:rPr sz="1200" spc="-30" dirty="0">
                <a:latin typeface="Times New Roman"/>
                <a:cs typeface="Times New Roman"/>
              </a:rPr>
              <a:t> </a:t>
            </a:r>
            <a:r>
              <a:rPr sz="1200" dirty="0">
                <a:latin typeface="Times New Roman"/>
                <a:cs typeface="Times New Roman"/>
              </a:rPr>
              <a:t>cycles</a:t>
            </a:r>
            <a:r>
              <a:rPr sz="1200" spc="-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resolve</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conflict.</a:t>
            </a:r>
            <a:endParaRPr sz="1200" dirty="0">
              <a:latin typeface="Times New Roman"/>
              <a:cs typeface="Times New Roman"/>
            </a:endParaRPr>
          </a:p>
          <a:p>
            <a:pPr marL="662940" marR="627380"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This</a:t>
            </a:r>
            <a:r>
              <a:rPr sz="1200" spc="-35" dirty="0">
                <a:latin typeface="Times New Roman"/>
                <a:cs typeface="Times New Roman"/>
              </a:rPr>
              <a:t> </a:t>
            </a:r>
            <a:r>
              <a:rPr sz="1200" dirty="0">
                <a:latin typeface="Times New Roman"/>
                <a:cs typeface="Times New Roman"/>
              </a:rPr>
              <a:t>approach</a:t>
            </a:r>
            <a:r>
              <a:rPr sz="1200" spc="-20" dirty="0">
                <a:latin typeface="Times New Roman"/>
                <a:cs typeface="Times New Roman"/>
              </a:rPr>
              <a:t> </a:t>
            </a:r>
            <a:r>
              <a:rPr sz="1200" dirty="0">
                <a:latin typeface="Times New Roman"/>
                <a:cs typeface="Times New Roman"/>
              </a:rPr>
              <a:t>maintains</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program</a:t>
            </a:r>
            <a:r>
              <a:rPr sz="1200" spc="-20" dirty="0">
                <a:latin typeface="Times New Roman"/>
                <a:cs typeface="Times New Roman"/>
              </a:rPr>
              <a:t> </a:t>
            </a:r>
            <a:r>
              <a:rPr sz="1200" dirty="0">
                <a:latin typeface="Times New Roman"/>
                <a:cs typeface="Times New Roman"/>
              </a:rPr>
              <a:t>sequence</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using</a:t>
            </a:r>
            <a:r>
              <a:rPr sz="1200" spc="-35" dirty="0">
                <a:latin typeface="Times New Roman"/>
                <a:cs typeface="Times New Roman"/>
              </a:rPr>
              <a:t> </a:t>
            </a:r>
            <a:r>
              <a:rPr sz="1200" dirty="0">
                <a:latin typeface="Times New Roman"/>
                <a:cs typeface="Times New Roman"/>
              </a:rPr>
              <a:t>hardware</a:t>
            </a:r>
            <a:r>
              <a:rPr sz="1200" spc="-2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10" dirty="0">
                <a:latin typeface="Times New Roman"/>
                <a:cs typeface="Times New Roman"/>
              </a:rPr>
              <a:t>insert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required</a:t>
            </a:r>
            <a:r>
              <a:rPr sz="1200" spc="-25" dirty="0">
                <a:latin typeface="Times New Roman"/>
                <a:cs typeface="Times New Roman"/>
              </a:rPr>
              <a:t> </a:t>
            </a:r>
            <a:r>
              <a:rPr sz="1200" spc="-10" dirty="0">
                <a:latin typeface="Times New Roman"/>
                <a:cs typeface="Times New Roman"/>
              </a:rPr>
              <a:t>delays.</a:t>
            </a:r>
            <a:endParaRPr sz="1200" dirty="0">
              <a:latin typeface="Times New Roman"/>
              <a:cs typeface="Times New Roman"/>
            </a:endParaRPr>
          </a:p>
          <a:p>
            <a:pPr marL="664210" lvl="2" indent="-173355">
              <a:lnSpc>
                <a:spcPct val="100000"/>
              </a:lnSpc>
              <a:spcBef>
                <a:spcPts val="600"/>
              </a:spcBef>
              <a:buClr>
                <a:srgbClr val="3E762B"/>
              </a:buClr>
              <a:buFont typeface="Arial MT"/>
              <a:buChar char="•"/>
              <a:tabLst>
                <a:tab pos="664210" algn="l"/>
              </a:tabLst>
            </a:pPr>
            <a:r>
              <a:rPr sz="1200" dirty="0">
                <a:latin typeface="Times New Roman"/>
                <a:cs typeface="Times New Roman"/>
              </a:rPr>
              <a:t>Sometime</a:t>
            </a:r>
            <a:r>
              <a:rPr sz="1200" spc="-45" dirty="0">
                <a:latin typeface="Times New Roman"/>
                <a:cs typeface="Times New Roman"/>
              </a:rPr>
              <a:t> </a:t>
            </a:r>
            <a:r>
              <a:rPr sz="1200" dirty="0">
                <a:latin typeface="Times New Roman"/>
                <a:cs typeface="Times New Roman"/>
              </a:rPr>
              <a:t>only</a:t>
            </a:r>
            <a:r>
              <a:rPr sz="1200" spc="-40" dirty="0">
                <a:latin typeface="Times New Roman"/>
                <a:cs typeface="Times New Roman"/>
              </a:rPr>
              <a:t> </a:t>
            </a:r>
            <a:r>
              <a:rPr sz="1200" dirty="0">
                <a:latin typeface="Times New Roman"/>
                <a:cs typeface="Times New Roman"/>
              </a:rPr>
              <a:t>stall</a:t>
            </a:r>
            <a:r>
              <a:rPr sz="1200" spc="-3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solve</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hazards</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524510" indent="-295910">
              <a:lnSpc>
                <a:spcPct val="100000"/>
              </a:lnSpc>
              <a:spcBef>
                <a:spcPts val="900"/>
              </a:spcBef>
              <a:buAutoNum type="arabicPeriod" startAt="2"/>
              <a:tabLst>
                <a:tab pos="524510" algn="l"/>
              </a:tabLst>
            </a:pPr>
            <a:r>
              <a:rPr sz="2200" dirty="0">
                <a:latin typeface="Georgia"/>
                <a:cs typeface="Georgia"/>
              </a:rPr>
              <a:t>Data</a:t>
            </a:r>
            <a:r>
              <a:rPr sz="2200" spc="-55" dirty="0">
                <a:latin typeface="Georgia"/>
                <a:cs typeface="Georgia"/>
              </a:rPr>
              <a:t> </a:t>
            </a:r>
            <a:r>
              <a:rPr sz="2200" dirty="0">
                <a:latin typeface="Georgia"/>
                <a:cs typeface="Georgia"/>
              </a:rPr>
              <a:t>Hazard:</a:t>
            </a:r>
            <a:r>
              <a:rPr sz="2200" spc="-55" dirty="0">
                <a:latin typeface="Georgia"/>
                <a:cs typeface="Georgia"/>
              </a:rPr>
              <a:t> </a:t>
            </a:r>
            <a:r>
              <a:rPr sz="2200" spc="-10" dirty="0">
                <a:latin typeface="Georgia"/>
                <a:cs typeface="Georgia"/>
              </a:rPr>
              <a:t>Solutions</a:t>
            </a:r>
            <a:endParaRPr sz="2200" dirty="0">
              <a:latin typeface="Georgia"/>
              <a:cs typeface="Georgia"/>
            </a:endParaRPr>
          </a:p>
          <a:p>
            <a:pPr marL="434975" lvl="1" indent="-172720">
              <a:lnSpc>
                <a:spcPct val="100000"/>
              </a:lnSpc>
              <a:spcBef>
                <a:spcPts val="1370"/>
              </a:spcBef>
              <a:buFont typeface="Wingdings"/>
              <a:buChar char=""/>
              <a:tabLst>
                <a:tab pos="434975" algn="l"/>
              </a:tabLst>
            </a:pPr>
            <a:r>
              <a:rPr sz="1200" b="1" dirty="0">
                <a:solidFill>
                  <a:srgbClr val="3E762B"/>
                </a:solidFill>
                <a:latin typeface="Times New Roman"/>
                <a:cs typeface="Times New Roman"/>
              </a:rPr>
              <a:t>Operand</a:t>
            </a:r>
            <a:r>
              <a:rPr sz="1200" b="1" spc="-30" dirty="0">
                <a:solidFill>
                  <a:srgbClr val="3E762B"/>
                </a:solidFill>
                <a:latin typeface="Times New Roman"/>
                <a:cs typeface="Times New Roman"/>
              </a:rPr>
              <a:t> </a:t>
            </a:r>
            <a:r>
              <a:rPr sz="1200" b="1" spc="-10" dirty="0">
                <a:solidFill>
                  <a:srgbClr val="3E762B"/>
                </a:solidFill>
                <a:latin typeface="Times New Roman"/>
                <a:cs typeface="Times New Roman"/>
              </a:rPr>
              <a:t>Forwarding</a:t>
            </a:r>
            <a:endParaRPr sz="1200" dirty="0">
              <a:latin typeface="Times New Roman"/>
              <a:cs typeface="Times New Roman"/>
            </a:endParaRPr>
          </a:p>
          <a:p>
            <a:pPr marL="662940" marR="619125"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It</a:t>
            </a:r>
            <a:r>
              <a:rPr sz="1200" spc="-10" dirty="0">
                <a:latin typeface="Times New Roman"/>
                <a:cs typeface="Times New Roman"/>
              </a:rPr>
              <a:t> </a:t>
            </a:r>
            <a:r>
              <a:rPr sz="1200" dirty="0">
                <a:latin typeface="Times New Roman"/>
                <a:cs typeface="Times New Roman"/>
              </a:rPr>
              <a:t>uses</a:t>
            </a:r>
            <a:r>
              <a:rPr sz="1200" spc="-25" dirty="0">
                <a:latin typeface="Times New Roman"/>
                <a:cs typeface="Times New Roman"/>
              </a:rPr>
              <a:t> </a:t>
            </a:r>
            <a:r>
              <a:rPr sz="1200" dirty="0">
                <a:latin typeface="Times New Roman"/>
                <a:cs typeface="Times New Roman"/>
              </a:rPr>
              <a:t>special</a:t>
            </a:r>
            <a:r>
              <a:rPr sz="1200" spc="-30" dirty="0">
                <a:latin typeface="Times New Roman"/>
                <a:cs typeface="Times New Roman"/>
              </a:rPr>
              <a:t> </a:t>
            </a:r>
            <a:r>
              <a:rPr sz="1200" dirty="0">
                <a:latin typeface="Times New Roman"/>
                <a:cs typeface="Times New Roman"/>
              </a:rPr>
              <a:t>hardware</a:t>
            </a:r>
            <a:r>
              <a:rPr sz="1200" spc="-1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detect</a:t>
            </a:r>
            <a:r>
              <a:rPr sz="1200" spc="-3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conflict</a:t>
            </a:r>
            <a:r>
              <a:rPr sz="1200" spc="-3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then</a:t>
            </a:r>
            <a:r>
              <a:rPr sz="1200" spc="-30" dirty="0">
                <a:latin typeface="Times New Roman"/>
                <a:cs typeface="Times New Roman"/>
              </a:rPr>
              <a:t> </a:t>
            </a:r>
            <a:r>
              <a:rPr sz="1200" dirty="0">
                <a:latin typeface="Times New Roman"/>
                <a:cs typeface="Times New Roman"/>
              </a:rPr>
              <a:t>avoid</a:t>
            </a:r>
            <a:r>
              <a:rPr sz="1200" spc="-3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dirty="0">
                <a:latin typeface="Times New Roman"/>
                <a:cs typeface="Times New Roman"/>
              </a:rPr>
              <a:t>routing</a:t>
            </a:r>
            <a:r>
              <a:rPr sz="1200" spc="-30" dirty="0">
                <a:latin typeface="Times New Roman"/>
                <a:cs typeface="Times New Roman"/>
              </a:rPr>
              <a:t> </a:t>
            </a:r>
            <a:r>
              <a:rPr sz="1200" spc="-25" dirty="0">
                <a:latin typeface="Times New Roman"/>
                <a:cs typeface="Times New Roman"/>
              </a:rPr>
              <a:t>the </a:t>
            </a:r>
            <a:r>
              <a:rPr sz="1200" dirty="0">
                <a:latin typeface="Times New Roman"/>
                <a:cs typeface="Times New Roman"/>
              </a:rPr>
              <a:t>data</a:t>
            </a:r>
            <a:r>
              <a:rPr sz="1200" spc="-40" dirty="0">
                <a:latin typeface="Times New Roman"/>
                <a:cs typeface="Times New Roman"/>
              </a:rPr>
              <a:t> </a:t>
            </a:r>
            <a:r>
              <a:rPr sz="1200" dirty="0">
                <a:latin typeface="Times New Roman"/>
                <a:cs typeface="Times New Roman"/>
              </a:rPr>
              <a:t>through</a:t>
            </a:r>
            <a:r>
              <a:rPr sz="1200" spc="-30" dirty="0">
                <a:latin typeface="Times New Roman"/>
                <a:cs typeface="Times New Roman"/>
              </a:rPr>
              <a:t> </a:t>
            </a:r>
            <a:r>
              <a:rPr sz="1200" dirty="0">
                <a:latin typeface="Times New Roman"/>
                <a:cs typeface="Times New Roman"/>
              </a:rPr>
              <a:t>special</a:t>
            </a:r>
            <a:r>
              <a:rPr sz="1200" spc="-35" dirty="0">
                <a:latin typeface="Times New Roman"/>
                <a:cs typeface="Times New Roman"/>
              </a:rPr>
              <a:t> </a:t>
            </a:r>
            <a:r>
              <a:rPr sz="1200" dirty="0">
                <a:latin typeface="Times New Roman"/>
                <a:cs typeface="Times New Roman"/>
              </a:rPr>
              <a:t>paths</a:t>
            </a:r>
            <a:r>
              <a:rPr sz="1200" spc="-40" dirty="0">
                <a:latin typeface="Times New Roman"/>
                <a:cs typeface="Times New Roman"/>
              </a:rPr>
              <a:t> </a:t>
            </a:r>
            <a:r>
              <a:rPr sz="1200" dirty="0">
                <a:latin typeface="Times New Roman"/>
                <a:cs typeface="Times New Roman"/>
              </a:rPr>
              <a:t>between</a:t>
            </a:r>
            <a:r>
              <a:rPr sz="1200" spc="-30" dirty="0">
                <a:latin typeface="Times New Roman"/>
                <a:cs typeface="Times New Roman"/>
              </a:rPr>
              <a:t> </a:t>
            </a:r>
            <a:r>
              <a:rPr sz="1200" dirty="0">
                <a:latin typeface="Times New Roman"/>
                <a:cs typeface="Times New Roman"/>
              </a:rPr>
              <a:t>pipeline</a:t>
            </a:r>
            <a:r>
              <a:rPr sz="1200" spc="-50" dirty="0">
                <a:latin typeface="Times New Roman"/>
                <a:cs typeface="Times New Roman"/>
              </a:rPr>
              <a:t> </a:t>
            </a:r>
            <a:r>
              <a:rPr sz="1200" spc="-10" dirty="0">
                <a:latin typeface="Times New Roman"/>
                <a:cs typeface="Times New Roman"/>
              </a:rPr>
              <a:t>segments.</a:t>
            </a:r>
            <a:endParaRPr sz="1200" dirty="0">
              <a:latin typeface="Times New Roman"/>
              <a:cs typeface="Times New Roman"/>
            </a:endParaRPr>
          </a:p>
          <a:p>
            <a:pPr marL="662940" marR="720725"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example,</a:t>
            </a:r>
            <a:r>
              <a:rPr sz="1200" spc="-3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hardware</a:t>
            </a:r>
            <a:r>
              <a:rPr sz="1200" spc="-10" dirty="0">
                <a:latin typeface="Times New Roman"/>
                <a:cs typeface="Times New Roman"/>
              </a:rPr>
              <a:t> </a:t>
            </a:r>
            <a:r>
              <a:rPr sz="1200" dirty="0">
                <a:latin typeface="Times New Roman"/>
                <a:cs typeface="Times New Roman"/>
              </a:rPr>
              <a:t>checks</a:t>
            </a:r>
            <a:r>
              <a:rPr sz="1200" spc="-1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destination</a:t>
            </a:r>
            <a:r>
              <a:rPr sz="1200" spc="-30" dirty="0">
                <a:latin typeface="Times New Roman"/>
                <a:cs typeface="Times New Roman"/>
              </a:rPr>
              <a:t> </a:t>
            </a:r>
            <a:r>
              <a:rPr sz="1200" dirty="0">
                <a:latin typeface="Times New Roman"/>
                <a:cs typeface="Times New Roman"/>
              </a:rPr>
              <a:t>operand,</a:t>
            </a:r>
            <a:r>
              <a:rPr sz="1200" spc="-2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if</a:t>
            </a:r>
            <a:r>
              <a:rPr sz="1200" spc="-20" dirty="0">
                <a:latin typeface="Times New Roman"/>
                <a:cs typeface="Times New Roman"/>
              </a:rPr>
              <a:t> </a:t>
            </a:r>
            <a:r>
              <a:rPr sz="1200" dirty="0">
                <a:latin typeface="Times New Roman"/>
                <a:cs typeface="Times New Roman"/>
              </a:rPr>
              <a:t>it</a:t>
            </a:r>
            <a:r>
              <a:rPr sz="1200" spc="-25" dirty="0">
                <a:latin typeface="Times New Roman"/>
                <a:cs typeface="Times New Roman"/>
              </a:rPr>
              <a:t> is </a:t>
            </a:r>
            <a:r>
              <a:rPr sz="1200" dirty="0">
                <a:latin typeface="Times New Roman"/>
                <a:cs typeface="Times New Roman"/>
              </a:rPr>
              <a:t>needed</a:t>
            </a:r>
            <a:r>
              <a:rPr sz="1200" spc="-2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source</a:t>
            </a:r>
            <a:r>
              <a:rPr sz="1200" spc="-25"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next</a:t>
            </a:r>
            <a:r>
              <a:rPr sz="1200" spc="-35" dirty="0">
                <a:latin typeface="Times New Roman"/>
                <a:cs typeface="Times New Roman"/>
              </a:rPr>
              <a:t> </a:t>
            </a:r>
            <a:r>
              <a:rPr sz="1200" dirty="0">
                <a:latin typeface="Times New Roman"/>
                <a:cs typeface="Times New Roman"/>
              </a:rPr>
              <a:t>instruction,</a:t>
            </a:r>
            <a:r>
              <a:rPr sz="1200" spc="-40" dirty="0">
                <a:latin typeface="Times New Roman"/>
                <a:cs typeface="Times New Roman"/>
              </a:rPr>
              <a:t> </a:t>
            </a:r>
            <a:r>
              <a:rPr sz="1200" dirty="0">
                <a:latin typeface="Times New Roman"/>
                <a:cs typeface="Times New Roman"/>
              </a:rPr>
              <a:t>it</a:t>
            </a:r>
            <a:r>
              <a:rPr sz="1200" spc="-35" dirty="0">
                <a:latin typeface="Times New Roman"/>
                <a:cs typeface="Times New Roman"/>
              </a:rPr>
              <a:t> </a:t>
            </a:r>
            <a:r>
              <a:rPr sz="1200" dirty="0">
                <a:latin typeface="Times New Roman"/>
                <a:cs typeface="Times New Roman"/>
              </a:rPr>
              <a:t>passes</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result</a:t>
            </a:r>
            <a:r>
              <a:rPr sz="1200" spc="-35" dirty="0">
                <a:latin typeface="Times New Roman"/>
                <a:cs typeface="Times New Roman"/>
              </a:rPr>
              <a:t> </a:t>
            </a:r>
            <a:r>
              <a:rPr sz="1200" dirty="0">
                <a:latin typeface="Times New Roman"/>
                <a:cs typeface="Times New Roman"/>
              </a:rPr>
              <a:t>directly</a:t>
            </a:r>
            <a:r>
              <a:rPr sz="1200" spc="-30" dirty="0">
                <a:latin typeface="Times New Roman"/>
                <a:cs typeface="Times New Roman"/>
              </a:rPr>
              <a:t> </a:t>
            </a:r>
            <a:r>
              <a:rPr sz="1200" spc="-20" dirty="0">
                <a:latin typeface="Times New Roman"/>
                <a:cs typeface="Times New Roman"/>
              </a:rPr>
              <a:t>into </a:t>
            </a:r>
            <a:r>
              <a:rPr sz="1200" spc="-10" dirty="0">
                <a:latin typeface="Times New Roman"/>
                <a:cs typeface="Times New Roman"/>
              </a:rPr>
              <a:t>the</a:t>
            </a:r>
            <a:r>
              <a:rPr sz="1200" spc="-75" dirty="0">
                <a:latin typeface="Times New Roman"/>
                <a:cs typeface="Times New Roman"/>
              </a:rPr>
              <a:t> </a:t>
            </a:r>
            <a:r>
              <a:rPr sz="1200" dirty="0">
                <a:latin typeface="Times New Roman"/>
                <a:cs typeface="Times New Roman"/>
              </a:rPr>
              <a:t>ALU</a:t>
            </a:r>
            <a:r>
              <a:rPr sz="1200" spc="-5" dirty="0">
                <a:latin typeface="Times New Roman"/>
                <a:cs typeface="Times New Roman"/>
              </a:rPr>
              <a:t> </a:t>
            </a:r>
            <a:r>
              <a:rPr sz="1200" spc="-10" dirty="0">
                <a:latin typeface="Times New Roman"/>
                <a:cs typeface="Times New Roman"/>
              </a:rPr>
              <a:t>input.</a:t>
            </a:r>
            <a:endParaRPr sz="1200" dirty="0">
              <a:latin typeface="Times New Roman"/>
              <a:cs typeface="Times New Roman"/>
            </a:endParaRPr>
          </a:p>
          <a:p>
            <a:pPr marL="662940" marR="813435"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This</a:t>
            </a:r>
            <a:r>
              <a:rPr sz="1200" spc="-30" dirty="0">
                <a:latin typeface="Times New Roman"/>
                <a:cs typeface="Times New Roman"/>
              </a:rPr>
              <a:t> </a:t>
            </a:r>
            <a:r>
              <a:rPr sz="1200" dirty="0">
                <a:latin typeface="Times New Roman"/>
                <a:cs typeface="Times New Roman"/>
              </a:rPr>
              <a:t>method</a:t>
            </a:r>
            <a:r>
              <a:rPr sz="1200" spc="-40" dirty="0">
                <a:latin typeface="Times New Roman"/>
                <a:cs typeface="Times New Roman"/>
              </a:rPr>
              <a:t> </a:t>
            </a:r>
            <a:r>
              <a:rPr sz="1200" dirty="0">
                <a:latin typeface="Times New Roman"/>
                <a:cs typeface="Times New Roman"/>
              </a:rPr>
              <a:t>requires</a:t>
            </a:r>
            <a:r>
              <a:rPr sz="1200" spc="-20" dirty="0">
                <a:latin typeface="Times New Roman"/>
                <a:cs typeface="Times New Roman"/>
              </a:rPr>
              <a:t> </a:t>
            </a:r>
            <a:r>
              <a:rPr sz="1200" dirty="0">
                <a:latin typeface="Times New Roman"/>
                <a:cs typeface="Times New Roman"/>
              </a:rPr>
              <a:t>additional</a:t>
            </a:r>
            <a:r>
              <a:rPr sz="1200" spc="-40" dirty="0">
                <a:latin typeface="Times New Roman"/>
                <a:cs typeface="Times New Roman"/>
              </a:rPr>
              <a:t> </a:t>
            </a:r>
            <a:r>
              <a:rPr sz="1200" dirty="0">
                <a:latin typeface="Times New Roman"/>
                <a:cs typeface="Times New Roman"/>
              </a:rPr>
              <a:t>hardware</a:t>
            </a:r>
            <a:r>
              <a:rPr sz="1200" spc="-20" dirty="0">
                <a:latin typeface="Times New Roman"/>
                <a:cs typeface="Times New Roman"/>
              </a:rPr>
              <a:t> </a:t>
            </a:r>
            <a:r>
              <a:rPr sz="1200" dirty="0">
                <a:latin typeface="Times New Roman"/>
                <a:cs typeface="Times New Roman"/>
              </a:rPr>
              <a:t>paths</a:t>
            </a:r>
            <a:r>
              <a:rPr sz="1200" spc="-30" dirty="0">
                <a:latin typeface="Times New Roman"/>
                <a:cs typeface="Times New Roman"/>
              </a:rPr>
              <a:t> </a:t>
            </a:r>
            <a:r>
              <a:rPr sz="1200" dirty="0">
                <a:latin typeface="Times New Roman"/>
                <a:cs typeface="Times New Roman"/>
              </a:rPr>
              <a:t>through</a:t>
            </a:r>
            <a:r>
              <a:rPr sz="1200" spc="-15" dirty="0">
                <a:latin typeface="Times New Roman"/>
                <a:cs typeface="Times New Roman"/>
              </a:rPr>
              <a:t> </a:t>
            </a:r>
            <a:r>
              <a:rPr sz="1200" spc="-10" dirty="0">
                <a:latin typeface="Times New Roman"/>
                <a:cs typeface="Times New Roman"/>
              </a:rPr>
              <a:t>multiplexers</a:t>
            </a:r>
            <a:r>
              <a:rPr sz="1200" spc="-60" dirty="0">
                <a:latin typeface="Times New Roman"/>
                <a:cs typeface="Times New Roman"/>
              </a:rPr>
              <a:t> </a:t>
            </a:r>
            <a:r>
              <a:rPr sz="1200" spc="-25" dirty="0">
                <a:latin typeface="Times New Roman"/>
                <a:cs typeface="Times New Roman"/>
              </a:rPr>
              <a:t>as </a:t>
            </a:r>
            <a:r>
              <a:rPr sz="1200" dirty="0">
                <a:latin typeface="Times New Roman"/>
                <a:cs typeface="Times New Roman"/>
              </a:rPr>
              <a:t>well</a:t>
            </a:r>
            <a:r>
              <a:rPr sz="1200" spc="-3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circuit</a:t>
            </a:r>
            <a:r>
              <a:rPr sz="1200" spc="-25" dirty="0">
                <a:latin typeface="Times New Roman"/>
                <a:cs typeface="Times New Roman"/>
              </a:rPr>
              <a:t> </a:t>
            </a:r>
            <a:r>
              <a:rPr sz="1200" dirty="0">
                <a:latin typeface="Times New Roman"/>
                <a:cs typeface="Times New Roman"/>
              </a:rPr>
              <a:t>that</a:t>
            </a:r>
            <a:r>
              <a:rPr sz="1200" spc="-45" dirty="0">
                <a:latin typeface="Times New Roman"/>
                <a:cs typeface="Times New Roman"/>
              </a:rPr>
              <a:t> </a:t>
            </a:r>
            <a:r>
              <a:rPr sz="1200" dirty="0">
                <a:latin typeface="Times New Roman"/>
                <a:cs typeface="Times New Roman"/>
              </a:rPr>
              <a:t>detects</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conflict.</a:t>
            </a:r>
            <a:endParaRPr sz="1200" dirty="0">
              <a:latin typeface="Times New Roman"/>
              <a:cs typeface="Times New Roman"/>
            </a:endParaRPr>
          </a:p>
          <a:p>
            <a:pPr marL="664210" lvl="2" indent="-173355">
              <a:lnSpc>
                <a:spcPct val="100000"/>
              </a:lnSpc>
              <a:spcBef>
                <a:spcPts val="600"/>
              </a:spcBef>
              <a:buClr>
                <a:srgbClr val="3E762B"/>
              </a:buClr>
              <a:buFont typeface="Arial MT"/>
              <a:buChar char="•"/>
              <a:tabLst>
                <a:tab pos="664210" algn="l"/>
              </a:tabLst>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same</a:t>
            </a:r>
            <a:r>
              <a:rPr sz="1200" spc="-40" dirty="0">
                <a:latin typeface="Times New Roman"/>
                <a:cs typeface="Times New Roman"/>
              </a:rPr>
              <a:t> </a:t>
            </a:r>
            <a:r>
              <a:rPr sz="1200" spc="-10" dirty="0">
                <a:latin typeface="Times New Roman"/>
                <a:cs typeface="Times New Roman"/>
              </a:rPr>
              <a:t>way,</a:t>
            </a:r>
            <a:r>
              <a:rPr sz="1200" spc="15" dirty="0">
                <a:latin typeface="Times New Roman"/>
                <a:cs typeface="Times New Roman"/>
              </a:rPr>
              <a:t> </a:t>
            </a:r>
            <a:r>
              <a:rPr sz="1200" dirty="0">
                <a:latin typeface="Times New Roman"/>
                <a:cs typeface="Times New Roman"/>
              </a:rPr>
              <a:t>it</a:t>
            </a:r>
            <a:r>
              <a:rPr sz="1200" spc="-50" dirty="0">
                <a:latin typeface="Times New Roman"/>
                <a:cs typeface="Times New Roman"/>
              </a:rPr>
              <a:t> </a:t>
            </a:r>
            <a:r>
              <a:rPr sz="1200" dirty="0">
                <a:latin typeface="Times New Roman"/>
                <a:cs typeface="Times New Roman"/>
              </a:rPr>
              <a:t>directly</a:t>
            </a:r>
            <a:r>
              <a:rPr sz="1200" spc="-50" dirty="0">
                <a:latin typeface="Times New Roman"/>
                <a:cs typeface="Times New Roman"/>
              </a:rPr>
              <a:t> </a:t>
            </a:r>
            <a:r>
              <a:rPr sz="1200" dirty="0">
                <a:latin typeface="Times New Roman"/>
                <a:cs typeface="Times New Roman"/>
              </a:rPr>
              <a:t>feeds</a:t>
            </a:r>
            <a:r>
              <a:rPr sz="1200" spc="-30" dirty="0">
                <a:latin typeface="Times New Roman"/>
                <a:cs typeface="Times New Roman"/>
              </a:rPr>
              <a:t> </a:t>
            </a: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other</a:t>
            </a:r>
            <a:r>
              <a:rPr sz="1200" spc="-50" dirty="0">
                <a:latin typeface="Times New Roman"/>
                <a:cs typeface="Times New Roman"/>
              </a:rPr>
              <a:t> </a:t>
            </a:r>
            <a:r>
              <a:rPr sz="1200" dirty="0">
                <a:latin typeface="Times New Roman"/>
                <a:cs typeface="Times New Roman"/>
              </a:rPr>
              <a:t>functional</a:t>
            </a:r>
            <a:r>
              <a:rPr sz="1200" spc="-35" dirty="0">
                <a:latin typeface="Times New Roman"/>
                <a:cs typeface="Times New Roman"/>
              </a:rPr>
              <a:t> </a:t>
            </a:r>
            <a:r>
              <a:rPr sz="1200" spc="-10" dirty="0">
                <a:latin typeface="Times New Roman"/>
                <a:cs typeface="Times New Roman"/>
              </a:rPr>
              <a:t>unit.</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524510" indent="-295910">
              <a:lnSpc>
                <a:spcPct val="100000"/>
              </a:lnSpc>
              <a:spcBef>
                <a:spcPts val="905"/>
              </a:spcBef>
              <a:buAutoNum type="arabicPeriod" startAt="2"/>
              <a:tabLst>
                <a:tab pos="524510" algn="l"/>
              </a:tabLst>
            </a:pPr>
            <a:r>
              <a:rPr sz="2200" dirty="0">
                <a:latin typeface="Georgia"/>
                <a:cs typeface="Georgia"/>
              </a:rPr>
              <a:t>Data</a:t>
            </a:r>
            <a:r>
              <a:rPr sz="2200" spc="-55" dirty="0">
                <a:latin typeface="Georgia"/>
                <a:cs typeface="Georgia"/>
              </a:rPr>
              <a:t> </a:t>
            </a:r>
            <a:r>
              <a:rPr sz="2200" dirty="0">
                <a:latin typeface="Georgia"/>
                <a:cs typeface="Georgia"/>
              </a:rPr>
              <a:t>Hazard:</a:t>
            </a:r>
            <a:r>
              <a:rPr sz="2200" spc="-55" dirty="0">
                <a:latin typeface="Georgia"/>
                <a:cs typeface="Georgia"/>
              </a:rPr>
              <a:t> </a:t>
            </a:r>
            <a:r>
              <a:rPr sz="2200" spc="-10" dirty="0">
                <a:latin typeface="Georgia"/>
                <a:cs typeface="Georgia"/>
              </a:rPr>
              <a:t>Solutions</a:t>
            </a:r>
            <a:endParaRPr sz="2200" dirty="0">
              <a:latin typeface="Georgia"/>
              <a:cs typeface="Georgia"/>
            </a:endParaRPr>
          </a:p>
          <a:p>
            <a:pPr marL="434975" lvl="1" indent="-172720">
              <a:lnSpc>
                <a:spcPct val="100000"/>
              </a:lnSpc>
              <a:spcBef>
                <a:spcPts val="1370"/>
              </a:spcBef>
              <a:buFont typeface="Wingdings"/>
              <a:buChar char=""/>
              <a:tabLst>
                <a:tab pos="434975" algn="l"/>
              </a:tabLst>
            </a:pPr>
            <a:r>
              <a:rPr sz="1200" b="1" dirty="0">
                <a:solidFill>
                  <a:srgbClr val="3E762B"/>
                </a:solidFill>
                <a:latin typeface="Times New Roman"/>
                <a:cs typeface="Times New Roman"/>
              </a:rPr>
              <a:t>Delayed</a:t>
            </a:r>
            <a:r>
              <a:rPr sz="1200" b="1" spc="-55" dirty="0">
                <a:solidFill>
                  <a:srgbClr val="3E762B"/>
                </a:solidFill>
                <a:latin typeface="Times New Roman"/>
                <a:cs typeface="Times New Roman"/>
              </a:rPr>
              <a:t> </a:t>
            </a:r>
            <a:r>
              <a:rPr sz="1200" b="1" spc="-20" dirty="0">
                <a:solidFill>
                  <a:srgbClr val="3E762B"/>
                </a:solidFill>
                <a:latin typeface="Times New Roman"/>
                <a:cs typeface="Times New Roman"/>
              </a:rPr>
              <a:t>load</a:t>
            </a:r>
            <a:endParaRPr sz="1200" dirty="0">
              <a:latin typeface="Times New Roman"/>
              <a:cs typeface="Times New Roman"/>
            </a:endParaRPr>
          </a:p>
          <a:p>
            <a:pPr marL="662940" marR="554355"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It</a:t>
            </a:r>
            <a:r>
              <a:rPr sz="1200" spc="-10" dirty="0">
                <a:latin typeface="Times New Roman"/>
                <a:cs typeface="Times New Roman"/>
              </a:rPr>
              <a:t> </a:t>
            </a:r>
            <a:r>
              <a:rPr sz="1200" dirty="0">
                <a:latin typeface="Times New Roman"/>
                <a:cs typeface="Times New Roman"/>
              </a:rPr>
              <a:t>gives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responsibility</a:t>
            </a:r>
            <a:r>
              <a:rPr sz="1200" spc="-40" dirty="0">
                <a:latin typeface="Times New Roman"/>
                <a:cs typeface="Times New Roman"/>
              </a:rPr>
              <a:t> </a:t>
            </a:r>
            <a:r>
              <a:rPr sz="1200" dirty="0">
                <a:latin typeface="Times New Roman"/>
                <a:cs typeface="Times New Roman"/>
              </a:rPr>
              <a:t>for</a:t>
            </a:r>
            <a:r>
              <a:rPr sz="1200" spc="-40" dirty="0">
                <a:latin typeface="Times New Roman"/>
                <a:cs typeface="Times New Roman"/>
              </a:rPr>
              <a:t> </a:t>
            </a:r>
            <a:r>
              <a:rPr sz="1200" dirty="0">
                <a:latin typeface="Times New Roman"/>
                <a:cs typeface="Times New Roman"/>
              </a:rPr>
              <a:t>solving</a:t>
            </a:r>
            <a:r>
              <a:rPr sz="1200" spc="-3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conflict</a:t>
            </a:r>
            <a:r>
              <a:rPr sz="1200" spc="-40" dirty="0">
                <a:latin typeface="Times New Roman"/>
                <a:cs typeface="Times New Roman"/>
              </a:rPr>
              <a:t> </a:t>
            </a:r>
            <a:r>
              <a:rPr sz="1200" dirty="0">
                <a:latin typeface="Times New Roman"/>
                <a:cs typeface="Times New Roman"/>
              </a:rPr>
              <a:t>problems</a:t>
            </a:r>
            <a:r>
              <a:rPr sz="1200" spc="-3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b="1" spc="-10" dirty="0">
                <a:latin typeface="Times New Roman"/>
                <a:cs typeface="Times New Roman"/>
              </a:rPr>
              <a:t>compiler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translates</a:t>
            </a:r>
            <a:r>
              <a:rPr sz="1200" spc="-1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10" dirty="0">
                <a:latin typeface="Times New Roman"/>
                <a:cs typeface="Times New Roman"/>
              </a:rPr>
              <a:t> programming</a:t>
            </a:r>
            <a:r>
              <a:rPr sz="1200" spc="-15" dirty="0">
                <a:latin typeface="Times New Roman"/>
                <a:cs typeface="Times New Roman"/>
              </a:rPr>
              <a:t> </a:t>
            </a:r>
            <a:r>
              <a:rPr sz="1200" dirty="0">
                <a:latin typeface="Times New Roman"/>
                <a:cs typeface="Times New Roman"/>
              </a:rPr>
              <a:t>language</a:t>
            </a:r>
            <a:r>
              <a:rPr sz="1200" spc="-10" dirty="0">
                <a:latin typeface="Times New Roman"/>
                <a:cs typeface="Times New Roman"/>
              </a:rPr>
              <a:t> </a:t>
            </a:r>
            <a:r>
              <a:rPr sz="1200" dirty="0">
                <a:latin typeface="Times New Roman"/>
                <a:cs typeface="Times New Roman"/>
              </a:rPr>
              <a:t>into</a:t>
            </a:r>
            <a:r>
              <a:rPr sz="1200" spc="-2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machine </a:t>
            </a:r>
            <a:r>
              <a:rPr sz="1200" dirty="0">
                <a:latin typeface="Times New Roman"/>
                <a:cs typeface="Times New Roman"/>
              </a:rPr>
              <a:t>language</a:t>
            </a:r>
            <a:r>
              <a:rPr sz="1200" spc="-60" dirty="0">
                <a:latin typeface="Times New Roman"/>
                <a:cs typeface="Times New Roman"/>
              </a:rPr>
              <a:t> </a:t>
            </a:r>
            <a:r>
              <a:rPr sz="1200" spc="-10" dirty="0">
                <a:latin typeface="Times New Roman"/>
                <a:cs typeface="Times New Roman"/>
              </a:rPr>
              <a:t>program.</a:t>
            </a:r>
            <a:endParaRPr sz="1200" dirty="0">
              <a:latin typeface="Times New Roman"/>
              <a:cs typeface="Times New Roman"/>
            </a:endParaRPr>
          </a:p>
          <a:p>
            <a:pPr marL="662940" marR="655955" lvl="2" indent="-172720">
              <a:lnSpc>
                <a:spcPct val="100000"/>
              </a:lnSpc>
              <a:spcBef>
                <a:spcPts val="600"/>
              </a:spcBef>
              <a:buClr>
                <a:srgbClr val="3E762B"/>
              </a:buClr>
              <a:buFont typeface="Arial MT"/>
              <a:buChar char="•"/>
              <a:tabLst>
                <a:tab pos="662940" algn="l"/>
              </a:tabLst>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compiler</a:t>
            </a:r>
            <a:r>
              <a:rPr sz="1200" spc="-40" dirty="0">
                <a:latin typeface="Times New Roman"/>
                <a:cs typeface="Times New Roman"/>
              </a:rPr>
              <a:t> </a:t>
            </a:r>
            <a:r>
              <a:rPr sz="1200" dirty="0">
                <a:latin typeface="Times New Roman"/>
                <a:cs typeface="Times New Roman"/>
              </a:rPr>
              <a:t>for</a:t>
            </a:r>
            <a:r>
              <a:rPr sz="1200" spc="-30" dirty="0">
                <a:latin typeface="Times New Roman"/>
                <a:cs typeface="Times New Roman"/>
              </a:rPr>
              <a:t> </a:t>
            </a:r>
            <a:r>
              <a:rPr sz="1200" dirty="0">
                <a:latin typeface="Times New Roman"/>
                <a:cs typeface="Times New Roman"/>
              </a:rPr>
              <a:t>such</a:t>
            </a:r>
            <a:r>
              <a:rPr sz="1200" spc="-25" dirty="0">
                <a:latin typeface="Times New Roman"/>
                <a:cs typeface="Times New Roman"/>
              </a:rPr>
              <a:t> </a:t>
            </a:r>
            <a:r>
              <a:rPr sz="1200" dirty="0">
                <a:latin typeface="Times New Roman"/>
                <a:cs typeface="Times New Roman"/>
              </a:rPr>
              <a:t>computers</a:t>
            </a:r>
            <a:r>
              <a:rPr sz="1200" spc="-30"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designed</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detect</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data</a:t>
            </a:r>
            <a:r>
              <a:rPr sz="1200" spc="-30" dirty="0">
                <a:latin typeface="Times New Roman"/>
                <a:cs typeface="Times New Roman"/>
              </a:rPr>
              <a:t> </a:t>
            </a:r>
            <a:r>
              <a:rPr sz="1200" dirty="0">
                <a:latin typeface="Times New Roman"/>
                <a:cs typeface="Times New Roman"/>
              </a:rPr>
              <a:t>conflict</a:t>
            </a:r>
            <a:r>
              <a:rPr sz="1200" spc="-30" dirty="0">
                <a:latin typeface="Times New Roman"/>
                <a:cs typeface="Times New Roman"/>
              </a:rPr>
              <a:t> </a:t>
            </a:r>
            <a:r>
              <a:rPr sz="1200" spc="-25" dirty="0">
                <a:latin typeface="Times New Roman"/>
                <a:cs typeface="Times New Roman"/>
              </a:rPr>
              <a:t>and </a:t>
            </a:r>
            <a:r>
              <a:rPr sz="1200" dirty="0">
                <a:latin typeface="Times New Roman"/>
                <a:cs typeface="Times New Roman"/>
              </a:rPr>
              <a:t>reorder</a:t>
            </a:r>
            <a:r>
              <a:rPr sz="1200" spc="-1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instructions</a:t>
            </a:r>
            <a:r>
              <a:rPr sz="1200" spc="-30" dirty="0">
                <a:latin typeface="Times New Roman"/>
                <a:cs typeface="Times New Roman"/>
              </a:rPr>
              <a:t> </a:t>
            </a:r>
            <a:r>
              <a:rPr sz="1200" dirty="0">
                <a:latin typeface="Times New Roman"/>
                <a:cs typeface="Times New Roman"/>
              </a:rPr>
              <a:t>as</a:t>
            </a:r>
            <a:r>
              <a:rPr sz="1200" spc="-25" dirty="0">
                <a:latin typeface="Times New Roman"/>
                <a:cs typeface="Times New Roman"/>
              </a:rPr>
              <a:t> </a:t>
            </a:r>
            <a:r>
              <a:rPr sz="1200" dirty="0">
                <a:latin typeface="Times New Roman"/>
                <a:cs typeface="Times New Roman"/>
              </a:rPr>
              <a:t>necessary</a:t>
            </a:r>
            <a:r>
              <a:rPr sz="1200" spc="-20"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delay</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loading</a:t>
            </a:r>
            <a:r>
              <a:rPr sz="1200" spc="-25"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conflicting </a:t>
            </a:r>
            <a:r>
              <a:rPr sz="1200" dirty="0">
                <a:latin typeface="Times New Roman"/>
                <a:cs typeface="Times New Roman"/>
              </a:rPr>
              <a:t>data</a:t>
            </a:r>
            <a:r>
              <a:rPr sz="1200" spc="-35"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inserting</a:t>
            </a:r>
            <a:r>
              <a:rPr sz="1200" spc="-35" dirty="0">
                <a:latin typeface="Times New Roman"/>
                <a:cs typeface="Times New Roman"/>
              </a:rPr>
              <a:t> </a:t>
            </a:r>
            <a:r>
              <a:rPr sz="1200" spc="-10" dirty="0">
                <a:latin typeface="Times New Roman"/>
                <a:cs typeface="Times New Roman"/>
              </a:rPr>
              <a:t>no-</a:t>
            </a:r>
            <a:r>
              <a:rPr sz="1200" dirty="0">
                <a:latin typeface="Times New Roman"/>
                <a:cs typeface="Times New Roman"/>
              </a:rPr>
              <a:t>operation</a:t>
            </a:r>
            <a:r>
              <a:rPr sz="1200" spc="-30" dirty="0">
                <a:latin typeface="Times New Roman"/>
                <a:cs typeface="Times New Roman"/>
              </a:rPr>
              <a:t> </a:t>
            </a:r>
            <a:r>
              <a:rPr sz="1200" spc="-10" dirty="0">
                <a:latin typeface="Times New Roman"/>
                <a:cs typeface="Times New Roman"/>
              </a:rPr>
              <a:t>instructions.</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524510" indent="-295910">
              <a:lnSpc>
                <a:spcPct val="100000"/>
              </a:lnSpc>
              <a:spcBef>
                <a:spcPts val="900"/>
              </a:spcBef>
              <a:buAutoNum type="arabicPeriod" startAt="3"/>
              <a:tabLst>
                <a:tab pos="524510" algn="l"/>
              </a:tabLst>
            </a:pPr>
            <a:r>
              <a:rPr sz="2200" dirty="0">
                <a:latin typeface="Georgia"/>
                <a:cs typeface="Georgia"/>
              </a:rPr>
              <a:t>Control</a:t>
            </a:r>
            <a:r>
              <a:rPr sz="2200" spc="-85" dirty="0">
                <a:latin typeface="Georgia"/>
                <a:cs typeface="Georgia"/>
              </a:rPr>
              <a:t> </a:t>
            </a:r>
            <a:r>
              <a:rPr sz="2200" spc="-10" dirty="0">
                <a:latin typeface="Georgia"/>
                <a:cs typeface="Georgia"/>
              </a:rPr>
              <a:t>Hazard</a:t>
            </a:r>
            <a:endParaRPr sz="2200" dirty="0">
              <a:latin typeface="Georgia"/>
              <a:cs typeface="Georgia"/>
            </a:endParaRPr>
          </a:p>
          <a:p>
            <a:pPr marL="490220" lvl="1" indent="-227965">
              <a:lnSpc>
                <a:spcPct val="100000"/>
              </a:lnSpc>
              <a:spcBef>
                <a:spcPts val="1400"/>
              </a:spcBef>
              <a:buClr>
                <a:srgbClr val="3E762B"/>
              </a:buClr>
              <a:buFont typeface="Wingdings"/>
              <a:buChar char=""/>
              <a:tabLst>
                <a:tab pos="490220" algn="l"/>
              </a:tabLst>
            </a:pPr>
            <a:r>
              <a:rPr sz="1400" b="1" dirty="0">
                <a:latin typeface="Times New Roman"/>
                <a:cs typeface="Times New Roman"/>
              </a:rPr>
              <a:t>Branches</a:t>
            </a:r>
            <a:r>
              <a:rPr sz="1400" b="1" spc="-40" dirty="0">
                <a:latin typeface="Times New Roman"/>
                <a:cs typeface="Times New Roman"/>
              </a:rPr>
              <a:t> </a:t>
            </a:r>
            <a:r>
              <a:rPr sz="1400" dirty="0">
                <a:latin typeface="Times New Roman"/>
                <a:cs typeface="Times New Roman"/>
              </a:rPr>
              <a:t>and</a:t>
            </a:r>
            <a:r>
              <a:rPr sz="1400" spc="-25" dirty="0">
                <a:latin typeface="Times New Roman"/>
                <a:cs typeface="Times New Roman"/>
              </a:rPr>
              <a:t> </a:t>
            </a:r>
            <a:r>
              <a:rPr sz="1400" spc="-20" dirty="0">
                <a:latin typeface="Times New Roman"/>
                <a:cs typeface="Times New Roman"/>
              </a:rPr>
              <a:t>jumps</a:t>
            </a:r>
            <a:endParaRPr sz="1400" dirty="0">
              <a:latin typeface="Times New Roman"/>
              <a:cs typeface="Times New Roman"/>
            </a:endParaRPr>
          </a:p>
          <a:p>
            <a:pPr marL="490220" lvl="1" indent="-227965">
              <a:lnSpc>
                <a:spcPct val="100000"/>
              </a:lnSpc>
              <a:spcBef>
                <a:spcPts val="600"/>
              </a:spcBef>
              <a:buClr>
                <a:srgbClr val="3E762B"/>
              </a:buClr>
              <a:buFont typeface="Wingdings"/>
              <a:buChar char=""/>
              <a:tabLst>
                <a:tab pos="490220" algn="l"/>
              </a:tabLst>
            </a:pPr>
            <a:r>
              <a:rPr sz="1400" b="1" dirty="0">
                <a:latin typeface="Times New Roman"/>
                <a:cs typeface="Times New Roman"/>
              </a:rPr>
              <a:t>Branch</a:t>
            </a:r>
            <a:r>
              <a:rPr sz="1400" b="1" spc="-40" dirty="0">
                <a:latin typeface="Times New Roman"/>
                <a:cs typeface="Times New Roman"/>
              </a:rPr>
              <a:t> </a:t>
            </a:r>
            <a:r>
              <a:rPr sz="1400" b="1" dirty="0">
                <a:latin typeface="Times New Roman"/>
                <a:cs typeface="Times New Roman"/>
              </a:rPr>
              <a:t>Hazard:</a:t>
            </a:r>
            <a:r>
              <a:rPr sz="1400" b="1" spc="-30" dirty="0">
                <a:latin typeface="Times New Roman"/>
                <a:cs typeface="Times New Roman"/>
              </a:rPr>
              <a:t> </a:t>
            </a:r>
            <a:r>
              <a:rPr sz="1400" dirty="0">
                <a:latin typeface="Times New Roman"/>
                <a:cs typeface="Times New Roman"/>
              </a:rPr>
              <a:t>a</a:t>
            </a:r>
            <a:r>
              <a:rPr sz="1400" spc="-5" dirty="0">
                <a:latin typeface="Times New Roman"/>
                <a:cs typeface="Times New Roman"/>
              </a:rPr>
              <a:t> </a:t>
            </a:r>
            <a:r>
              <a:rPr sz="1400" dirty="0">
                <a:latin typeface="Times New Roman"/>
                <a:cs typeface="Times New Roman"/>
              </a:rPr>
              <a:t>branch</a:t>
            </a:r>
            <a:r>
              <a:rPr sz="1400" spc="-45" dirty="0">
                <a:latin typeface="Times New Roman"/>
                <a:cs typeface="Times New Roman"/>
              </a:rPr>
              <a:t> </a:t>
            </a:r>
            <a:r>
              <a:rPr sz="1400" dirty="0">
                <a:latin typeface="Times New Roman"/>
                <a:cs typeface="Times New Roman"/>
              </a:rPr>
              <a:t>may</a:t>
            </a:r>
            <a:r>
              <a:rPr sz="1400" spc="10" dirty="0">
                <a:latin typeface="Times New Roman"/>
                <a:cs typeface="Times New Roman"/>
              </a:rPr>
              <a:t> </a:t>
            </a:r>
            <a:r>
              <a:rPr sz="1400" dirty="0">
                <a:latin typeface="Times New Roman"/>
                <a:cs typeface="Times New Roman"/>
              </a:rPr>
              <a:t>or</a:t>
            </a:r>
            <a:r>
              <a:rPr sz="1400" spc="-10" dirty="0">
                <a:latin typeface="Times New Roman"/>
                <a:cs typeface="Times New Roman"/>
              </a:rPr>
              <a:t> </a:t>
            </a:r>
            <a:r>
              <a:rPr sz="1400" dirty="0">
                <a:latin typeface="Times New Roman"/>
                <a:cs typeface="Times New Roman"/>
              </a:rPr>
              <a:t>may</a:t>
            </a:r>
            <a:r>
              <a:rPr sz="1400" spc="-10" dirty="0">
                <a:latin typeface="Times New Roman"/>
                <a:cs typeface="Times New Roman"/>
              </a:rPr>
              <a:t> </a:t>
            </a:r>
            <a:r>
              <a:rPr sz="1400" dirty="0">
                <a:latin typeface="Times New Roman"/>
                <a:cs typeface="Times New Roman"/>
              </a:rPr>
              <a:t>not</a:t>
            </a:r>
            <a:r>
              <a:rPr sz="1400" spc="-30" dirty="0">
                <a:latin typeface="Times New Roman"/>
                <a:cs typeface="Times New Roman"/>
              </a:rPr>
              <a:t> </a:t>
            </a:r>
            <a:r>
              <a:rPr sz="1400" dirty="0">
                <a:latin typeface="Times New Roman"/>
                <a:cs typeface="Times New Roman"/>
              </a:rPr>
              <a:t>change</a:t>
            </a:r>
            <a:r>
              <a:rPr sz="1400" spc="-50" dirty="0">
                <a:latin typeface="Times New Roman"/>
                <a:cs typeface="Times New Roman"/>
              </a:rPr>
              <a:t> </a:t>
            </a:r>
            <a:r>
              <a:rPr sz="1400" spc="-25" dirty="0">
                <a:latin typeface="Times New Roman"/>
                <a:cs typeface="Times New Roman"/>
              </a:rPr>
              <a:t>PC</a:t>
            </a:r>
            <a:endParaRPr sz="1400" dirty="0">
              <a:latin typeface="Times New Roman"/>
              <a:cs typeface="Times New Roman"/>
            </a:endParaRPr>
          </a:p>
          <a:p>
            <a:pPr>
              <a:lnSpc>
                <a:spcPct val="100000"/>
              </a:lnSpc>
              <a:spcBef>
                <a:spcPts val="1270"/>
              </a:spcBef>
            </a:pPr>
            <a:endParaRPr sz="1400" dirty="0">
              <a:latin typeface="Times New Roman"/>
              <a:cs typeface="Times New Roman"/>
            </a:endParaRPr>
          </a:p>
          <a:p>
            <a:pPr marL="719455">
              <a:lnSpc>
                <a:spcPct val="100000"/>
              </a:lnSpc>
            </a:pPr>
            <a:r>
              <a:rPr sz="1400" b="1" spc="-20" dirty="0">
                <a:latin typeface="Times New Roman"/>
                <a:cs typeface="Times New Roman"/>
              </a:rPr>
              <a:t>Taken</a:t>
            </a:r>
            <a:r>
              <a:rPr sz="1400" b="1" spc="-15" dirty="0">
                <a:latin typeface="Times New Roman"/>
                <a:cs typeface="Times New Roman"/>
              </a:rPr>
              <a:t> </a:t>
            </a:r>
            <a:r>
              <a:rPr sz="1400" b="1" dirty="0">
                <a:latin typeface="Times New Roman"/>
                <a:cs typeface="Times New Roman"/>
              </a:rPr>
              <a:t>branch:</a:t>
            </a:r>
            <a:r>
              <a:rPr sz="1400" b="1" spc="-35" dirty="0">
                <a:latin typeface="Times New Roman"/>
                <a:cs typeface="Times New Roman"/>
              </a:rPr>
              <a:t> </a:t>
            </a:r>
            <a:r>
              <a:rPr sz="1400" b="1" dirty="0">
                <a:latin typeface="Times New Roman"/>
                <a:cs typeface="Times New Roman"/>
              </a:rPr>
              <a:t>changes</a:t>
            </a:r>
            <a:r>
              <a:rPr sz="1400" b="1" spc="-40" dirty="0">
                <a:latin typeface="Times New Roman"/>
                <a:cs typeface="Times New Roman"/>
              </a:rPr>
              <a:t> </a:t>
            </a:r>
            <a:r>
              <a:rPr sz="1400" b="1" dirty="0">
                <a:latin typeface="Times New Roman"/>
                <a:cs typeface="Times New Roman"/>
              </a:rPr>
              <a:t>PC</a:t>
            </a:r>
            <a:r>
              <a:rPr sz="1400" b="1" spc="-10" dirty="0">
                <a:latin typeface="Times New Roman"/>
                <a:cs typeface="Times New Roman"/>
              </a:rPr>
              <a:t> </a:t>
            </a:r>
            <a:r>
              <a:rPr sz="1400" dirty="0">
                <a:latin typeface="Times New Roman"/>
                <a:cs typeface="Times New Roman"/>
              </a:rPr>
              <a:t>to</a:t>
            </a:r>
            <a:r>
              <a:rPr sz="1400" spc="-40" dirty="0">
                <a:latin typeface="Times New Roman"/>
                <a:cs typeface="Times New Roman"/>
              </a:rPr>
              <a:t> </a:t>
            </a:r>
            <a:r>
              <a:rPr sz="1400" dirty="0">
                <a:latin typeface="Times New Roman"/>
                <a:cs typeface="Times New Roman"/>
              </a:rPr>
              <a:t>its</a:t>
            </a:r>
            <a:r>
              <a:rPr sz="1400" spc="-40" dirty="0">
                <a:latin typeface="Times New Roman"/>
                <a:cs typeface="Times New Roman"/>
              </a:rPr>
              <a:t> </a:t>
            </a:r>
            <a:r>
              <a:rPr sz="1400" dirty="0">
                <a:latin typeface="Times New Roman"/>
                <a:cs typeface="Times New Roman"/>
              </a:rPr>
              <a:t>target</a:t>
            </a:r>
            <a:r>
              <a:rPr sz="1400" spc="-40" dirty="0">
                <a:latin typeface="Times New Roman"/>
                <a:cs typeface="Times New Roman"/>
              </a:rPr>
              <a:t> </a:t>
            </a:r>
            <a:r>
              <a:rPr sz="1400" spc="-10" dirty="0">
                <a:latin typeface="Times New Roman"/>
                <a:cs typeface="Times New Roman"/>
              </a:rPr>
              <a:t>address</a:t>
            </a:r>
            <a:endParaRPr sz="1400" dirty="0">
              <a:latin typeface="Times New Roman"/>
              <a:cs typeface="Times New Roman"/>
            </a:endParaRPr>
          </a:p>
          <a:p>
            <a:pPr marL="719455">
              <a:lnSpc>
                <a:spcPct val="100000"/>
              </a:lnSpc>
              <a:spcBef>
                <a:spcPts val="600"/>
              </a:spcBef>
            </a:pPr>
            <a:r>
              <a:rPr sz="1400" b="1" dirty="0">
                <a:latin typeface="Times New Roman"/>
                <a:cs typeface="Times New Roman"/>
              </a:rPr>
              <a:t>Untaken</a:t>
            </a:r>
            <a:r>
              <a:rPr sz="1400" b="1" spc="15" dirty="0">
                <a:latin typeface="Times New Roman"/>
                <a:cs typeface="Times New Roman"/>
              </a:rPr>
              <a:t> </a:t>
            </a:r>
            <a:r>
              <a:rPr sz="1400" b="1" dirty="0">
                <a:latin typeface="Times New Roman"/>
                <a:cs typeface="Times New Roman"/>
              </a:rPr>
              <a:t>branch:</a:t>
            </a:r>
            <a:r>
              <a:rPr sz="1400" b="1" spc="-15" dirty="0">
                <a:latin typeface="Times New Roman"/>
                <a:cs typeface="Times New Roman"/>
              </a:rPr>
              <a:t> </a:t>
            </a:r>
            <a:r>
              <a:rPr sz="1400" dirty="0">
                <a:latin typeface="Times New Roman"/>
                <a:cs typeface="Times New Roman"/>
              </a:rPr>
              <a:t>falls</a:t>
            </a:r>
            <a:r>
              <a:rPr sz="1400" spc="-30" dirty="0">
                <a:latin typeface="Times New Roman"/>
                <a:cs typeface="Times New Roman"/>
              </a:rPr>
              <a:t> </a:t>
            </a:r>
            <a:r>
              <a:rPr sz="1400" dirty="0">
                <a:latin typeface="Times New Roman"/>
                <a:cs typeface="Times New Roman"/>
              </a:rPr>
              <a:t>through</a:t>
            </a:r>
            <a:r>
              <a:rPr sz="1400" spc="-40" dirty="0">
                <a:latin typeface="Times New Roman"/>
                <a:cs typeface="Times New Roman"/>
              </a:rPr>
              <a:t> </a:t>
            </a:r>
            <a:r>
              <a:rPr sz="1400" dirty="0">
                <a:latin typeface="Times New Roman"/>
                <a:cs typeface="Times New Roman"/>
              </a:rPr>
              <a:t>(</a:t>
            </a:r>
            <a:r>
              <a:rPr sz="1400" b="1" dirty="0">
                <a:latin typeface="Times New Roman"/>
                <a:cs typeface="Times New Roman"/>
              </a:rPr>
              <a:t>in-line</a:t>
            </a:r>
            <a:r>
              <a:rPr sz="1400" b="1" spc="-35" dirty="0">
                <a:latin typeface="Times New Roman"/>
                <a:cs typeface="Times New Roman"/>
              </a:rPr>
              <a:t> </a:t>
            </a:r>
            <a:r>
              <a:rPr sz="1400" b="1" spc="-10" dirty="0">
                <a:latin typeface="Times New Roman"/>
                <a:cs typeface="Times New Roman"/>
              </a:rPr>
              <a:t>addressing</a:t>
            </a:r>
            <a:r>
              <a:rPr sz="1400" spc="-10" dirty="0">
                <a:latin typeface="Times New Roman"/>
                <a:cs typeface="Times New Roman"/>
              </a:rPr>
              <a:t>)</a:t>
            </a:r>
            <a:endParaRPr sz="14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524510" indent="-295910">
              <a:lnSpc>
                <a:spcPct val="100000"/>
              </a:lnSpc>
              <a:spcBef>
                <a:spcPts val="905"/>
              </a:spcBef>
              <a:buAutoNum type="arabicPeriod" startAt="3"/>
              <a:tabLst>
                <a:tab pos="524510" algn="l"/>
              </a:tabLst>
            </a:pPr>
            <a:r>
              <a:rPr sz="2200" dirty="0">
                <a:latin typeface="Georgia"/>
                <a:cs typeface="Georgia"/>
              </a:rPr>
              <a:t>Branch</a:t>
            </a:r>
            <a:r>
              <a:rPr sz="2200" spc="-100" dirty="0">
                <a:latin typeface="Georgia"/>
                <a:cs typeface="Georgia"/>
              </a:rPr>
              <a:t> </a:t>
            </a:r>
            <a:r>
              <a:rPr sz="2200" dirty="0">
                <a:latin typeface="Georgia"/>
                <a:cs typeface="Georgia"/>
              </a:rPr>
              <a:t>Hazard:</a:t>
            </a:r>
            <a:r>
              <a:rPr sz="2200" spc="-75" dirty="0">
                <a:latin typeface="Georgia"/>
                <a:cs typeface="Georgia"/>
              </a:rPr>
              <a:t> </a:t>
            </a:r>
            <a:r>
              <a:rPr sz="2200" spc="-10" dirty="0">
                <a:latin typeface="Georgia"/>
                <a:cs typeface="Georgia"/>
              </a:rPr>
              <a:t>Solutions</a:t>
            </a:r>
            <a:endParaRPr sz="2200" dirty="0">
              <a:latin typeface="Georgia"/>
              <a:cs typeface="Georgia"/>
            </a:endParaRPr>
          </a:p>
          <a:p>
            <a:pPr marL="490855" marR="339090" lvl="1" indent="-228600">
              <a:lnSpc>
                <a:spcPct val="100000"/>
              </a:lnSpc>
              <a:spcBef>
                <a:spcPts val="1290"/>
              </a:spcBef>
              <a:buFont typeface="Wingdings"/>
              <a:buChar char=""/>
              <a:tabLst>
                <a:tab pos="490855" algn="l"/>
              </a:tabLst>
            </a:pPr>
            <a:r>
              <a:rPr sz="1400" b="1" spc="-10" dirty="0">
                <a:solidFill>
                  <a:srgbClr val="3E762B"/>
                </a:solidFill>
                <a:latin typeface="Times New Roman"/>
                <a:cs typeface="Times New Roman"/>
              </a:rPr>
              <a:t>Freeze</a:t>
            </a:r>
            <a:r>
              <a:rPr sz="1400" b="1" spc="-20" dirty="0">
                <a:solidFill>
                  <a:srgbClr val="3E762B"/>
                </a:solidFill>
                <a:latin typeface="Times New Roman"/>
                <a:cs typeface="Times New Roman"/>
              </a:rPr>
              <a:t> </a:t>
            </a:r>
            <a:r>
              <a:rPr sz="1400" b="1" dirty="0">
                <a:solidFill>
                  <a:srgbClr val="3E762B"/>
                </a:solidFill>
                <a:latin typeface="Times New Roman"/>
                <a:cs typeface="Times New Roman"/>
              </a:rPr>
              <a:t>the</a:t>
            </a:r>
            <a:r>
              <a:rPr sz="1400" b="1" spc="10" dirty="0">
                <a:solidFill>
                  <a:srgbClr val="3E762B"/>
                </a:solidFill>
                <a:latin typeface="Times New Roman"/>
                <a:cs typeface="Times New Roman"/>
              </a:rPr>
              <a:t> </a:t>
            </a:r>
            <a:r>
              <a:rPr sz="1400" b="1" dirty="0">
                <a:solidFill>
                  <a:srgbClr val="3E762B"/>
                </a:solidFill>
                <a:latin typeface="Times New Roman"/>
                <a:cs typeface="Times New Roman"/>
              </a:rPr>
              <a:t>pipeline,</a:t>
            </a:r>
            <a:r>
              <a:rPr sz="1400" b="1" spc="-20" dirty="0">
                <a:solidFill>
                  <a:srgbClr val="3E762B"/>
                </a:solidFill>
                <a:latin typeface="Times New Roman"/>
                <a:cs typeface="Times New Roman"/>
              </a:rPr>
              <a:t> </a:t>
            </a:r>
            <a:r>
              <a:rPr sz="1400" dirty="0">
                <a:latin typeface="Times New Roman"/>
                <a:cs typeface="Times New Roman"/>
              </a:rPr>
              <a:t>hold</a:t>
            </a:r>
            <a:r>
              <a:rPr sz="1400" spc="-30" dirty="0">
                <a:latin typeface="Times New Roman"/>
                <a:cs typeface="Times New Roman"/>
              </a:rPr>
              <a:t> </a:t>
            </a:r>
            <a:r>
              <a:rPr sz="1400" dirty="0">
                <a:latin typeface="Times New Roman"/>
                <a:cs typeface="Times New Roman"/>
              </a:rPr>
              <a:t>or</a:t>
            </a:r>
            <a:r>
              <a:rPr sz="1400" spc="10" dirty="0">
                <a:latin typeface="Times New Roman"/>
                <a:cs typeface="Times New Roman"/>
              </a:rPr>
              <a:t> </a:t>
            </a:r>
            <a:r>
              <a:rPr sz="1400" dirty="0">
                <a:latin typeface="Times New Roman"/>
                <a:cs typeface="Times New Roman"/>
              </a:rPr>
              <a:t>delete</a:t>
            </a:r>
            <a:r>
              <a:rPr sz="1400" spc="-10" dirty="0">
                <a:latin typeface="Times New Roman"/>
                <a:cs typeface="Times New Roman"/>
              </a:rPr>
              <a:t> instructions</a:t>
            </a:r>
            <a:r>
              <a:rPr sz="1400" spc="-35" dirty="0">
                <a:latin typeface="Times New Roman"/>
                <a:cs typeface="Times New Roman"/>
              </a:rPr>
              <a:t> </a:t>
            </a:r>
            <a:r>
              <a:rPr sz="1400" dirty="0">
                <a:latin typeface="Times New Roman"/>
                <a:cs typeface="Times New Roman"/>
              </a:rPr>
              <a:t>after</a:t>
            </a:r>
            <a:r>
              <a:rPr sz="1400" spc="-10" dirty="0">
                <a:latin typeface="Times New Roman"/>
                <a:cs typeface="Times New Roman"/>
              </a:rPr>
              <a:t> </a:t>
            </a:r>
            <a:r>
              <a:rPr sz="1400" dirty="0">
                <a:latin typeface="Times New Roman"/>
                <a:cs typeface="Times New Roman"/>
              </a:rPr>
              <a:t>the</a:t>
            </a:r>
            <a:r>
              <a:rPr sz="1400" spc="-5" dirty="0">
                <a:latin typeface="Times New Roman"/>
                <a:cs typeface="Times New Roman"/>
              </a:rPr>
              <a:t> </a:t>
            </a:r>
            <a:r>
              <a:rPr sz="1400" dirty="0">
                <a:latin typeface="Times New Roman"/>
                <a:cs typeface="Times New Roman"/>
              </a:rPr>
              <a:t>branch</a:t>
            </a:r>
            <a:r>
              <a:rPr sz="1400" spc="-30" dirty="0">
                <a:latin typeface="Times New Roman"/>
                <a:cs typeface="Times New Roman"/>
              </a:rPr>
              <a:t> </a:t>
            </a:r>
            <a:r>
              <a:rPr sz="1400" dirty="0">
                <a:latin typeface="Times New Roman"/>
                <a:cs typeface="Times New Roman"/>
              </a:rPr>
              <a:t>till</a:t>
            </a:r>
            <a:r>
              <a:rPr sz="1400" spc="-25" dirty="0">
                <a:latin typeface="Times New Roman"/>
                <a:cs typeface="Times New Roman"/>
              </a:rPr>
              <a:t> the </a:t>
            </a:r>
            <a:r>
              <a:rPr sz="1400" dirty="0">
                <a:latin typeface="Times New Roman"/>
                <a:cs typeface="Times New Roman"/>
              </a:rPr>
              <a:t>branch</a:t>
            </a:r>
            <a:r>
              <a:rPr sz="1400" spc="-50" dirty="0">
                <a:latin typeface="Times New Roman"/>
                <a:cs typeface="Times New Roman"/>
              </a:rPr>
              <a:t> </a:t>
            </a:r>
            <a:r>
              <a:rPr sz="1400" dirty="0">
                <a:latin typeface="Times New Roman"/>
                <a:cs typeface="Times New Roman"/>
              </a:rPr>
              <a:t>destination</a:t>
            </a:r>
            <a:r>
              <a:rPr sz="1400" spc="-55" dirty="0">
                <a:latin typeface="Times New Roman"/>
                <a:cs typeface="Times New Roman"/>
              </a:rPr>
              <a:t> </a:t>
            </a:r>
            <a:r>
              <a:rPr sz="1400" dirty="0">
                <a:latin typeface="Times New Roman"/>
                <a:cs typeface="Times New Roman"/>
              </a:rPr>
              <a:t>is</a:t>
            </a:r>
            <a:r>
              <a:rPr sz="1400" spc="-30" dirty="0">
                <a:latin typeface="Times New Roman"/>
                <a:cs typeface="Times New Roman"/>
              </a:rPr>
              <a:t> </a:t>
            </a:r>
            <a:r>
              <a:rPr sz="1400" spc="-10" dirty="0">
                <a:latin typeface="Times New Roman"/>
                <a:cs typeface="Times New Roman"/>
              </a:rPr>
              <a:t>known.</a:t>
            </a:r>
            <a:endParaRPr sz="1400" dirty="0">
              <a:latin typeface="Times New Roman"/>
              <a:cs typeface="Times New Roman"/>
            </a:endParaRPr>
          </a:p>
          <a:p>
            <a:pPr marL="490220" lvl="1" indent="-227965">
              <a:lnSpc>
                <a:spcPct val="100000"/>
              </a:lnSpc>
              <a:spcBef>
                <a:spcPts val="1560"/>
              </a:spcBef>
              <a:buFont typeface="Wingdings"/>
              <a:buChar char=""/>
              <a:tabLst>
                <a:tab pos="490220" algn="l"/>
              </a:tabLst>
            </a:pPr>
            <a:r>
              <a:rPr sz="1400" b="1" dirty="0">
                <a:solidFill>
                  <a:srgbClr val="3E762B"/>
                </a:solidFill>
                <a:latin typeface="Times New Roman"/>
                <a:cs typeface="Times New Roman"/>
              </a:rPr>
              <a:t>Branch</a:t>
            </a:r>
            <a:r>
              <a:rPr sz="1400" b="1" spc="-55" dirty="0">
                <a:solidFill>
                  <a:srgbClr val="3E762B"/>
                </a:solidFill>
                <a:latin typeface="Times New Roman"/>
                <a:cs typeface="Times New Roman"/>
              </a:rPr>
              <a:t> </a:t>
            </a:r>
            <a:r>
              <a:rPr sz="1400" b="1" spc="-10" dirty="0">
                <a:solidFill>
                  <a:srgbClr val="3E762B"/>
                </a:solidFill>
                <a:latin typeface="Times New Roman"/>
                <a:cs typeface="Times New Roman"/>
              </a:rPr>
              <a:t>prediction</a:t>
            </a:r>
            <a:endParaRPr sz="1400" dirty="0">
              <a:latin typeface="Times New Roman"/>
              <a:cs typeface="Times New Roman"/>
            </a:endParaRPr>
          </a:p>
          <a:p>
            <a:pPr marL="718820" lvl="2" indent="-110489">
              <a:lnSpc>
                <a:spcPct val="100000"/>
              </a:lnSpc>
              <a:spcBef>
                <a:spcPts val="600"/>
              </a:spcBef>
              <a:buFont typeface="Arial MT"/>
              <a:buChar char="•"/>
              <a:tabLst>
                <a:tab pos="718820" algn="l"/>
              </a:tabLst>
            </a:pPr>
            <a:r>
              <a:rPr sz="1400" b="1" spc="-10" dirty="0">
                <a:solidFill>
                  <a:srgbClr val="3E762B"/>
                </a:solidFill>
                <a:latin typeface="Times New Roman"/>
                <a:cs typeface="Times New Roman"/>
              </a:rPr>
              <a:t>Predicted-</a:t>
            </a:r>
            <a:r>
              <a:rPr sz="1400" b="1" dirty="0">
                <a:solidFill>
                  <a:srgbClr val="3E762B"/>
                </a:solidFill>
                <a:latin typeface="Times New Roman"/>
                <a:cs typeface="Times New Roman"/>
              </a:rPr>
              <a:t>untaken, </a:t>
            </a:r>
            <a:r>
              <a:rPr sz="1400" dirty="0">
                <a:latin typeface="Times New Roman"/>
                <a:cs typeface="Times New Roman"/>
              </a:rPr>
              <a:t>treat</a:t>
            </a:r>
            <a:r>
              <a:rPr sz="1400" spc="-20" dirty="0">
                <a:latin typeface="Times New Roman"/>
                <a:cs typeface="Times New Roman"/>
              </a:rPr>
              <a:t> </a:t>
            </a:r>
            <a:r>
              <a:rPr sz="1400" dirty="0">
                <a:latin typeface="Times New Roman"/>
                <a:cs typeface="Times New Roman"/>
              </a:rPr>
              <a:t>every</a:t>
            </a:r>
            <a:r>
              <a:rPr sz="1400" spc="-10" dirty="0">
                <a:latin typeface="Times New Roman"/>
                <a:cs typeface="Times New Roman"/>
              </a:rPr>
              <a:t> </a:t>
            </a:r>
            <a:r>
              <a:rPr sz="1400" dirty="0">
                <a:latin typeface="Times New Roman"/>
                <a:cs typeface="Times New Roman"/>
              </a:rPr>
              <a:t>branch</a:t>
            </a:r>
            <a:r>
              <a:rPr sz="1400" spc="-30" dirty="0">
                <a:latin typeface="Times New Roman"/>
                <a:cs typeface="Times New Roman"/>
              </a:rPr>
              <a:t> </a:t>
            </a:r>
            <a:r>
              <a:rPr sz="1400" dirty="0">
                <a:latin typeface="Times New Roman"/>
                <a:cs typeface="Times New Roman"/>
              </a:rPr>
              <a:t>as </a:t>
            </a:r>
            <a:r>
              <a:rPr sz="1400" spc="-10" dirty="0">
                <a:latin typeface="Times New Roman"/>
                <a:cs typeface="Times New Roman"/>
              </a:rPr>
              <a:t>untaken.</a:t>
            </a:r>
            <a:endParaRPr sz="1400" dirty="0">
              <a:latin typeface="Times New Roman"/>
              <a:cs typeface="Times New Roman"/>
            </a:endParaRPr>
          </a:p>
          <a:p>
            <a:pPr marL="718820" lvl="2" indent="-110489">
              <a:lnSpc>
                <a:spcPct val="100000"/>
              </a:lnSpc>
              <a:spcBef>
                <a:spcPts val="600"/>
              </a:spcBef>
              <a:buFont typeface="Arial MT"/>
              <a:buChar char="•"/>
              <a:tabLst>
                <a:tab pos="718820" algn="l"/>
              </a:tabLst>
            </a:pPr>
            <a:r>
              <a:rPr sz="1400" b="1" spc="-10" dirty="0">
                <a:solidFill>
                  <a:srgbClr val="3E762B"/>
                </a:solidFill>
                <a:latin typeface="Times New Roman"/>
                <a:cs typeface="Times New Roman"/>
              </a:rPr>
              <a:t>Predicted-</a:t>
            </a:r>
            <a:r>
              <a:rPr sz="1400" b="1" dirty="0">
                <a:solidFill>
                  <a:srgbClr val="3E762B"/>
                </a:solidFill>
                <a:latin typeface="Times New Roman"/>
                <a:cs typeface="Times New Roman"/>
              </a:rPr>
              <a:t>taken, </a:t>
            </a:r>
            <a:r>
              <a:rPr sz="1400" dirty="0">
                <a:latin typeface="Times New Roman"/>
                <a:cs typeface="Times New Roman"/>
              </a:rPr>
              <a:t>treat</a:t>
            </a:r>
            <a:r>
              <a:rPr sz="1400" spc="-15" dirty="0">
                <a:latin typeface="Times New Roman"/>
                <a:cs typeface="Times New Roman"/>
              </a:rPr>
              <a:t> </a:t>
            </a:r>
            <a:r>
              <a:rPr sz="1400" dirty="0">
                <a:latin typeface="Times New Roman"/>
                <a:cs typeface="Times New Roman"/>
              </a:rPr>
              <a:t>every</a:t>
            </a:r>
            <a:r>
              <a:rPr sz="1400" spc="-10" dirty="0">
                <a:latin typeface="Times New Roman"/>
                <a:cs typeface="Times New Roman"/>
              </a:rPr>
              <a:t> </a:t>
            </a:r>
            <a:r>
              <a:rPr sz="1400" dirty="0">
                <a:latin typeface="Times New Roman"/>
                <a:cs typeface="Times New Roman"/>
              </a:rPr>
              <a:t>branch</a:t>
            </a:r>
            <a:r>
              <a:rPr sz="1400" spc="-30" dirty="0">
                <a:latin typeface="Times New Roman"/>
                <a:cs typeface="Times New Roman"/>
              </a:rPr>
              <a:t> </a:t>
            </a:r>
            <a:r>
              <a:rPr sz="1400" dirty="0">
                <a:latin typeface="Times New Roman"/>
                <a:cs typeface="Times New Roman"/>
              </a:rPr>
              <a:t>as </a:t>
            </a:r>
            <a:r>
              <a:rPr sz="1400" spc="-10" dirty="0">
                <a:latin typeface="Times New Roman"/>
                <a:cs typeface="Times New Roman"/>
              </a:rPr>
              <a:t>taken.</a:t>
            </a:r>
            <a:endParaRPr sz="1400" dirty="0">
              <a:latin typeface="Times New Roman"/>
              <a:cs typeface="Times New Roman"/>
            </a:endParaRPr>
          </a:p>
          <a:p>
            <a:pPr marL="490220" lvl="1" indent="-227965">
              <a:lnSpc>
                <a:spcPct val="100000"/>
              </a:lnSpc>
              <a:spcBef>
                <a:spcPts val="1560"/>
              </a:spcBef>
              <a:buFont typeface="Wingdings"/>
              <a:buChar char=""/>
              <a:tabLst>
                <a:tab pos="490220" algn="l"/>
              </a:tabLst>
            </a:pPr>
            <a:r>
              <a:rPr sz="1400" b="1" dirty="0">
                <a:solidFill>
                  <a:srgbClr val="3E762B"/>
                </a:solidFill>
                <a:latin typeface="Times New Roman"/>
                <a:cs typeface="Times New Roman"/>
              </a:rPr>
              <a:t>Delayed</a:t>
            </a:r>
            <a:r>
              <a:rPr sz="1400" b="1" spc="-40" dirty="0">
                <a:solidFill>
                  <a:srgbClr val="3E762B"/>
                </a:solidFill>
                <a:latin typeface="Times New Roman"/>
                <a:cs typeface="Times New Roman"/>
              </a:rPr>
              <a:t> </a:t>
            </a:r>
            <a:r>
              <a:rPr sz="1400" b="1" spc="-10" dirty="0">
                <a:solidFill>
                  <a:srgbClr val="3E762B"/>
                </a:solidFill>
                <a:latin typeface="Times New Roman"/>
                <a:cs typeface="Times New Roman"/>
              </a:rPr>
              <a:t>branch</a:t>
            </a:r>
            <a:endParaRPr sz="1400" dirty="0">
              <a:latin typeface="Times New Roman"/>
              <a:cs typeface="Times New Roman"/>
            </a:endParaRPr>
          </a:p>
          <a:p>
            <a:pPr marL="490220" lvl="1" indent="-227965">
              <a:lnSpc>
                <a:spcPct val="100000"/>
              </a:lnSpc>
              <a:spcBef>
                <a:spcPts val="1565"/>
              </a:spcBef>
              <a:buFont typeface="Wingdings"/>
              <a:buChar char=""/>
              <a:tabLst>
                <a:tab pos="490220" algn="l"/>
              </a:tabLst>
            </a:pPr>
            <a:r>
              <a:rPr sz="1400" b="1" dirty="0">
                <a:solidFill>
                  <a:srgbClr val="3E762B"/>
                </a:solidFill>
                <a:latin typeface="Times New Roman"/>
                <a:cs typeface="Times New Roman"/>
              </a:rPr>
              <a:t>Prefetch</a:t>
            </a:r>
            <a:r>
              <a:rPr sz="1400" b="1" spc="-35" dirty="0">
                <a:solidFill>
                  <a:srgbClr val="3E762B"/>
                </a:solidFill>
                <a:latin typeface="Times New Roman"/>
                <a:cs typeface="Times New Roman"/>
              </a:rPr>
              <a:t> </a:t>
            </a:r>
            <a:r>
              <a:rPr sz="1400" b="1" dirty="0">
                <a:solidFill>
                  <a:srgbClr val="3E762B"/>
                </a:solidFill>
                <a:latin typeface="Times New Roman"/>
                <a:cs typeface="Times New Roman"/>
              </a:rPr>
              <a:t>target</a:t>
            </a:r>
            <a:r>
              <a:rPr sz="1400" b="1" spc="-40" dirty="0">
                <a:solidFill>
                  <a:srgbClr val="3E762B"/>
                </a:solidFill>
                <a:latin typeface="Times New Roman"/>
                <a:cs typeface="Times New Roman"/>
              </a:rPr>
              <a:t> </a:t>
            </a:r>
            <a:r>
              <a:rPr sz="1400" b="1" spc="-10" dirty="0">
                <a:solidFill>
                  <a:srgbClr val="3E762B"/>
                </a:solidFill>
                <a:latin typeface="Times New Roman"/>
                <a:cs typeface="Times New Roman"/>
              </a:rPr>
              <a:t>Instruction</a:t>
            </a:r>
            <a:endParaRPr sz="14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523875" indent="-295275">
              <a:lnSpc>
                <a:spcPct val="100000"/>
              </a:lnSpc>
              <a:spcBef>
                <a:spcPts val="900"/>
              </a:spcBef>
              <a:buAutoNum type="arabicPeriod" startAt="3"/>
              <a:tabLst>
                <a:tab pos="523875" algn="l"/>
              </a:tabLst>
            </a:pPr>
            <a:r>
              <a:rPr sz="2200" dirty="0">
                <a:latin typeface="Georgia"/>
                <a:cs typeface="Georgia"/>
              </a:rPr>
              <a:t>Branch</a:t>
            </a:r>
            <a:r>
              <a:rPr sz="2200" spc="-100" dirty="0">
                <a:latin typeface="Georgia"/>
                <a:cs typeface="Georgia"/>
              </a:rPr>
              <a:t> </a:t>
            </a:r>
            <a:r>
              <a:rPr sz="2200" dirty="0">
                <a:latin typeface="Georgia"/>
                <a:cs typeface="Georgia"/>
              </a:rPr>
              <a:t>Hazard:</a:t>
            </a:r>
            <a:r>
              <a:rPr sz="2200" spc="-75" dirty="0">
                <a:latin typeface="Georgia"/>
                <a:cs typeface="Georgia"/>
              </a:rPr>
              <a:t> </a:t>
            </a:r>
            <a:r>
              <a:rPr sz="2200" spc="-10" dirty="0">
                <a:latin typeface="Georgia"/>
                <a:cs typeface="Georgia"/>
              </a:rPr>
              <a:t>Solutions</a:t>
            </a:r>
            <a:endParaRPr sz="2200" dirty="0">
              <a:latin typeface="Georgia"/>
              <a:cs typeface="Georgia"/>
            </a:endParaRPr>
          </a:p>
          <a:p>
            <a:pPr marL="493395" lvl="1" indent="-231140">
              <a:lnSpc>
                <a:spcPct val="100000"/>
              </a:lnSpc>
              <a:spcBef>
                <a:spcPts val="1320"/>
              </a:spcBef>
              <a:buFont typeface="Wingdings"/>
              <a:buChar char=""/>
              <a:tabLst>
                <a:tab pos="493395" algn="l"/>
              </a:tabLst>
            </a:pPr>
            <a:r>
              <a:rPr sz="1600" b="1" dirty="0">
                <a:solidFill>
                  <a:srgbClr val="3E762B"/>
                </a:solidFill>
                <a:latin typeface="Times New Roman"/>
                <a:cs typeface="Times New Roman"/>
              </a:rPr>
              <a:t>Branch</a:t>
            </a:r>
            <a:r>
              <a:rPr sz="1600" b="1" spc="-45" dirty="0">
                <a:solidFill>
                  <a:srgbClr val="3E762B"/>
                </a:solidFill>
                <a:latin typeface="Times New Roman"/>
                <a:cs typeface="Times New Roman"/>
              </a:rPr>
              <a:t> </a:t>
            </a:r>
            <a:r>
              <a:rPr sz="1600" b="1" spc="-10" dirty="0">
                <a:solidFill>
                  <a:srgbClr val="3E762B"/>
                </a:solidFill>
                <a:latin typeface="Times New Roman"/>
                <a:cs typeface="Times New Roman"/>
              </a:rPr>
              <a:t>prediction</a:t>
            </a:r>
            <a:endParaRPr sz="1600" dirty="0">
              <a:latin typeface="Times New Roman"/>
              <a:cs typeface="Times New Roman"/>
            </a:endParaRPr>
          </a:p>
          <a:p>
            <a:pPr marL="662940" marR="741045" lvl="2" indent="-172720">
              <a:lnSpc>
                <a:spcPct val="110000"/>
              </a:lnSpc>
              <a:spcBef>
                <a:spcPts val="650"/>
              </a:spcBef>
              <a:buClr>
                <a:srgbClr val="3E762B"/>
              </a:buClr>
              <a:buFont typeface="Arial MT"/>
              <a:buChar char="•"/>
              <a:tabLst>
                <a:tab pos="662940"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pipeline</a:t>
            </a:r>
            <a:r>
              <a:rPr sz="1200" spc="-65" dirty="0">
                <a:latin typeface="Times New Roman"/>
                <a:cs typeface="Times New Roman"/>
              </a:rPr>
              <a:t> </a:t>
            </a:r>
            <a:r>
              <a:rPr sz="1200" dirty="0">
                <a:latin typeface="Times New Roman"/>
                <a:cs typeface="Times New Roman"/>
              </a:rPr>
              <a:t>with</a:t>
            </a:r>
            <a:r>
              <a:rPr sz="1200" spc="-30" dirty="0">
                <a:latin typeface="Times New Roman"/>
                <a:cs typeface="Times New Roman"/>
              </a:rPr>
              <a:t> </a:t>
            </a:r>
            <a:r>
              <a:rPr sz="1200" dirty="0">
                <a:latin typeface="Times New Roman"/>
                <a:cs typeface="Times New Roman"/>
              </a:rPr>
              <a:t>branch</a:t>
            </a:r>
            <a:r>
              <a:rPr sz="1200" spc="-25" dirty="0">
                <a:latin typeface="Times New Roman"/>
                <a:cs typeface="Times New Roman"/>
              </a:rPr>
              <a:t> </a:t>
            </a:r>
            <a:r>
              <a:rPr sz="1200" dirty="0">
                <a:latin typeface="Times New Roman"/>
                <a:cs typeface="Times New Roman"/>
              </a:rPr>
              <a:t>prediction</a:t>
            </a:r>
            <a:r>
              <a:rPr sz="1200" spc="-40" dirty="0">
                <a:latin typeface="Times New Roman"/>
                <a:cs typeface="Times New Roman"/>
              </a:rPr>
              <a:t> </a:t>
            </a:r>
            <a:r>
              <a:rPr sz="1200" dirty="0">
                <a:latin typeface="Times New Roman"/>
                <a:cs typeface="Times New Roman"/>
              </a:rPr>
              <a:t>uses</a:t>
            </a:r>
            <a:r>
              <a:rPr sz="1200" spc="-25" dirty="0">
                <a:latin typeface="Times New Roman"/>
                <a:cs typeface="Times New Roman"/>
              </a:rPr>
              <a:t> </a:t>
            </a:r>
            <a:r>
              <a:rPr sz="1200" dirty="0">
                <a:latin typeface="Times New Roman"/>
                <a:cs typeface="Times New Roman"/>
              </a:rPr>
              <a:t>some</a:t>
            </a:r>
            <a:r>
              <a:rPr sz="1200" spc="-30" dirty="0">
                <a:latin typeface="Times New Roman"/>
                <a:cs typeface="Times New Roman"/>
              </a:rPr>
              <a:t> </a:t>
            </a:r>
            <a:r>
              <a:rPr sz="1200" dirty="0">
                <a:latin typeface="Times New Roman"/>
                <a:cs typeface="Times New Roman"/>
              </a:rPr>
              <a:t>additional</a:t>
            </a:r>
            <a:r>
              <a:rPr sz="1200" spc="-50" dirty="0">
                <a:latin typeface="Times New Roman"/>
                <a:cs typeface="Times New Roman"/>
              </a:rPr>
              <a:t> </a:t>
            </a:r>
            <a:r>
              <a:rPr sz="1200" dirty="0">
                <a:latin typeface="Times New Roman"/>
                <a:cs typeface="Times New Roman"/>
              </a:rPr>
              <a:t>logic</a:t>
            </a:r>
            <a:r>
              <a:rPr sz="1200" spc="-30"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guess</a:t>
            </a:r>
            <a:r>
              <a:rPr sz="1200" spc="-20" dirty="0">
                <a:latin typeface="Times New Roman"/>
                <a:cs typeface="Times New Roman"/>
              </a:rPr>
              <a:t> </a:t>
            </a:r>
            <a:r>
              <a:rPr sz="1200" spc="-25" dirty="0">
                <a:latin typeface="Times New Roman"/>
                <a:cs typeface="Times New Roman"/>
              </a:rPr>
              <a:t>the </a:t>
            </a:r>
            <a:r>
              <a:rPr sz="1200" dirty="0">
                <a:latin typeface="Times New Roman"/>
                <a:cs typeface="Times New Roman"/>
              </a:rPr>
              <a:t>outcome</a:t>
            </a:r>
            <a:r>
              <a:rPr sz="1200" spc="-4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conditional</a:t>
            </a:r>
            <a:r>
              <a:rPr sz="1200" spc="-45" dirty="0">
                <a:latin typeface="Times New Roman"/>
                <a:cs typeface="Times New Roman"/>
              </a:rPr>
              <a:t> </a:t>
            </a:r>
            <a:r>
              <a:rPr sz="1200" dirty="0">
                <a:latin typeface="Times New Roman"/>
                <a:cs typeface="Times New Roman"/>
              </a:rPr>
              <a:t>branch</a:t>
            </a:r>
            <a:r>
              <a:rPr sz="1200" spc="-20" dirty="0">
                <a:latin typeface="Times New Roman"/>
                <a:cs typeface="Times New Roman"/>
              </a:rPr>
              <a:t> </a:t>
            </a:r>
            <a:r>
              <a:rPr sz="1200" dirty="0">
                <a:latin typeface="Times New Roman"/>
                <a:cs typeface="Times New Roman"/>
              </a:rPr>
              <a:t>instruction</a:t>
            </a:r>
            <a:r>
              <a:rPr sz="1200" spc="-45" dirty="0">
                <a:latin typeface="Times New Roman"/>
                <a:cs typeface="Times New Roman"/>
              </a:rPr>
              <a:t> </a:t>
            </a:r>
            <a:r>
              <a:rPr sz="1200" dirty="0">
                <a:latin typeface="Times New Roman"/>
                <a:cs typeface="Times New Roman"/>
              </a:rPr>
              <a:t>before</a:t>
            </a:r>
            <a:r>
              <a:rPr sz="1200" spc="-25"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is</a:t>
            </a:r>
            <a:r>
              <a:rPr sz="1200" spc="-40" dirty="0">
                <a:latin typeface="Times New Roman"/>
                <a:cs typeface="Times New Roman"/>
              </a:rPr>
              <a:t> </a:t>
            </a:r>
            <a:r>
              <a:rPr sz="1200" spc="-10" dirty="0">
                <a:latin typeface="Times New Roman"/>
                <a:cs typeface="Times New Roman"/>
              </a:rPr>
              <a:t>executed.</a:t>
            </a:r>
            <a:endParaRPr sz="1200" dirty="0">
              <a:latin typeface="Times New Roman"/>
              <a:cs typeface="Times New Roman"/>
            </a:endParaRPr>
          </a:p>
          <a:p>
            <a:pPr marL="662940" marR="443865" lvl="2" indent="-172720">
              <a:lnSpc>
                <a:spcPct val="110000"/>
              </a:lnSpc>
              <a:spcBef>
                <a:spcPts val="600"/>
              </a:spcBef>
              <a:buClr>
                <a:srgbClr val="3E762B"/>
              </a:buClr>
              <a:buFont typeface="Arial MT"/>
              <a:buChar char="•"/>
              <a:tabLst>
                <a:tab pos="662940" algn="l"/>
              </a:tabLst>
            </a:pP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pipeline</a:t>
            </a:r>
            <a:r>
              <a:rPr sz="1200" spc="-35" dirty="0">
                <a:latin typeface="Times New Roman"/>
                <a:cs typeface="Times New Roman"/>
              </a:rPr>
              <a:t> </a:t>
            </a:r>
            <a:r>
              <a:rPr sz="1200" dirty="0">
                <a:latin typeface="Times New Roman"/>
                <a:cs typeface="Times New Roman"/>
              </a:rPr>
              <a:t>then</a:t>
            </a:r>
            <a:r>
              <a:rPr sz="1200" spc="-50" dirty="0">
                <a:latin typeface="Times New Roman"/>
                <a:cs typeface="Times New Roman"/>
              </a:rPr>
              <a:t> </a:t>
            </a:r>
            <a:r>
              <a:rPr sz="1200" dirty="0">
                <a:latin typeface="Times New Roman"/>
                <a:cs typeface="Times New Roman"/>
              </a:rPr>
              <a:t>begins</a:t>
            </a:r>
            <a:r>
              <a:rPr sz="1200" spc="-25" dirty="0">
                <a:latin typeface="Times New Roman"/>
                <a:cs typeface="Times New Roman"/>
              </a:rPr>
              <a:t> </a:t>
            </a:r>
            <a:r>
              <a:rPr sz="1200" dirty="0">
                <a:latin typeface="Times New Roman"/>
                <a:cs typeface="Times New Roman"/>
              </a:rPr>
              <a:t>prefetching</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instruction</a:t>
            </a:r>
            <a:r>
              <a:rPr sz="1200" spc="-45" dirty="0">
                <a:latin typeface="Times New Roman"/>
                <a:cs typeface="Times New Roman"/>
              </a:rPr>
              <a:t> </a:t>
            </a:r>
            <a:r>
              <a:rPr sz="1200" dirty="0">
                <a:latin typeface="Times New Roman"/>
                <a:cs typeface="Times New Roman"/>
              </a:rPr>
              <a:t>stream</a:t>
            </a:r>
            <a:r>
              <a:rPr sz="1200" spc="-35" dirty="0">
                <a:latin typeface="Times New Roman"/>
                <a:cs typeface="Times New Roman"/>
              </a:rPr>
              <a:t> </a:t>
            </a:r>
            <a:r>
              <a:rPr sz="1200" dirty="0">
                <a:latin typeface="Times New Roman"/>
                <a:cs typeface="Times New Roman"/>
              </a:rPr>
              <a:t>from</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spc="-10" dirty="0">
                <a:latin typeface="Times New Roman"/>
                <a:cs typeface="Times New Roman"/>
              </a:rPr>
              <a:t>predicted path.</a:t>
            </a:r>
            <a:endParaRPr sz="1200" dirty="0">
              <a:latin typeface="Times New Roman"/>
              <a:cs typeface="Times New Roman"/>
            </a:endParaRPr>
          </a:p>
          <a:p>
            <a:pPr marL="664210" lvl="2" indent="-173355">
              <a:lnSpc>
                <a:spcPct val="100000"/>
              </a:lnSpc>
              <a:spcBef>
                <a:spcPts val="745"/>
              </a:spcBef>
              <a:buClr>
                <a:srgbClr val="3E762B"/>
              </a:buClr>
              <a:buFont typeface="Arial MT"/>
              <a:buChar char="•"/>
              <a:tabLst>
                <a:tab pos="664210"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correct</a:t>
            </a:r>
            <a:r>
              <a:rPr sz="1200" spc="-45" dirty="0">
                <a:latin typeface="Times New Roman"/>
                <a:cs typeface="Times New Roman"/>
              </a:rPr>
              <a:t> </a:t>
            </a:r>
            <a:r>
              <a:rPr sz="1200" dirty="0">
                <a:latin typeface="Times New Roman"/>
                <a:cs typeface="Times New Roman"/>
              </a:rPr>
              <a:t>prediction</a:t>
            </a:r>
            <a:r>
              <a:rPr sz="1200" spc="-35" dirty="0">
                <a:latin typeface="Times New Roman"/>
                <a:cs typeface="Times New Roman"/>
              </a:rPr>
              <a:t> </a:t>
            </a:r>
            <a:r>
              <a:rPr sz="1200" dirty="0">
                <a:latin typeface="Times New Roman"/>
                <a:cs typeface="Times New Roman"/>
              </a:rPr>
              <a:t>eliminates</a:t>
            </a:r>
            <a:r>
              <a:rPr sz="1200" spc="-50" dirty="0">
                <a:latin typeface="Times New Roman"/>
                <a:cs typeface="Times New Roman"/>
              </a:rPr>
              <a:t> </a:t>
            </a: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wasted</a:t>
            </a:r>
            <a:r>
              <a:rPr sz="1200" spc="-30" dirty="0">
                <a:latin typeface="Times New Roman"/>
                <a:cs typeface="Times New Roman"/>
              </a:rPr>
              <a:t> </a:t>
            </a:r>
            <a:r>
              <a:rPr sz="1200" dirty="0">
                <a:latin typeface="Times New Roman"/>
                <a:cs typeface="Times New Roman"/>
              </a:rPr>
              <a:t>time</a:t>
            </a:r>
            <a:r>
              <a:rPr sz="1200" spc="-45" dirty="0">
                <a:latin typeface="Times New Roman"/>
                <a:cs typeface="Times New Roman"/>
              </a:rPr>
              <a:t> </a:t>
            </a:r>
            <a:r>
              <a:rPr sz="1200" dirty="0">
                <a:latin typeface="Times New Roman"/>
                <a:cs typeface="Times New Roman"/>
              </a:rPr>
              <a:t>caused</a:t>
            </a:r>
            <a:r>
              <a:rPr sz="1200" spc="-30" dirty="0">
                <a:latin typeface="Times New Roman"/>
                <a:cs typeface="Times New Roman"/>
              </a:rPr>
              <a:t> </a:t>
            </a:r>
            <a:r>
              <a:rPr sz="1200" dirty="0">
                <a:latin typeface="Times New Roman"/>
                <a:cs typeface="Times New Roman"/>
              </a:rPr>
              <a:t>by</a:t>
            </a:r>
            <a:r>
              <a:rPr sz="1200" spc="-35" dirty="0">
                <a:latin typeface="Times New Roman"/>
                <a:cs typeface="Times New Roman"/>
              </a:rPr>
              <a:t> </a:t>
            </a:r>
            <a:r>
              <a:rPr sz="1200" dirty="0">
                <a:latin typeface="Times New Roman"/>
                <a:cs typeface="Times New Roman"/>
              </a:rPr>
              <a:t>branch</a:t>
            </a:r>
            <a:r>
              <a:rPr sz="1200" spc="-30" dirty="0">
                <a:latin typeface="Times New Roman"/>
                <a:cs typeface="Times New Roman"/>
              </a:rPr>
              <a:t> </a:t>
            </a:r>
            <a:r>
              <a:rPr sz="1200" spc="-10" dirty="0">
                <a:latin typeface="Times New Roman"/>
                <a:cs typeface="Times New Roman"/>
              </a:rPr>
              <a:t>penalties.</a:t>
            </a:r>
            <a:endParaRPr sz="12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523875" indent="-295275">
              <a:lnSpc>
                <a:spcPct val="100000"/>
              </a:lnSpc>
              <a:spcBef>
                <a:spcPts val="905"/>
              </a:spcBef>
              <a:buAutoNum type="arabicPeriod" startAt="3"/>
              <a:tabLst>
                <a:tab pos="523875" algn="l"/>
              </a:tabLst>
            </a:pPr>
            <a:r>
              <a:rPr sz="2200" dirty="0">
                <a:latin typeface="Georgia"/>
                <a:cs typeface="Georgia"/>
              </a:rPr>
              <a:t>Branch</a:t>
            </a:r>
            <a:r>
              <a:rPr sz="2200" spc="-100" dirty="0">
                <a:latin typeface="Georgia"/>
                <a:cs typeface="Georgia"/>
              </a:rPr>
              <a:t> </a:t>
            </a:r>
            <a:r>
              <a:rPr sz="2200" dirty="0">
                <a:latin typeface="Georgia"/>
                <a:cs typeface="Georgia"/>
              </a:rPr>
              <a:t>Hazard:</a:t>
            </a:r>
            <a:r>
              <a:rPr sz="2200" spc="-75" dirty="0">
                <a:latin typeface="Georgia"/>
                <a:cs typeface="Georgia"/>
              </a:rPr>
              <a:t> </a:t>
            </a:r>
            <a:r>
              <a:rPr sz="2200" spc="-10" dirty="0">
                <a:latin typeface="Georgia"/>
                <a:cs typeface="Georgia"/>
              </a:rPr>
              <a:t>Solutions</a:t>
            </a:r>
            <a:endParaRPr sz="2200" dirty="0">
              <a:latin typeface="Georgia"/>
              <a:cs typeface="Georgia"/>
            </a:endParaRPr>
          </a:p>
          <a:p>
            <a:pPr marL="493395" lvl="1" indent="-231140">
              <a:lnSpc>
                <a:spcPct val="100000"/>
              </a:lnSpc>
              <a:spcBef>
                <a:spcPts val="1320"/>
              </a:spcBef>
              <a:buFont typeface="Wingdings"/>
              <a:buChar char=""/>
              <a:tabLst>
                <a:tab pos="493395" algn="l"/>
              </a:tabLst>
            </a:pPr>
            <a:r>
              <a:rPr sz="1600" b="1" dirty="0">
                <a:solidFill>
                  <a:srgbClr val="3E762B"/>
                </a:solidFill>
                <a:latin typeface="Times New Roman"/>
                <a:cs typeface="Times New Roman"/>
              </a:rPr>
              <a:t>Delayed</a:t>
            </a:r>
            <a:r>
              <a:rPr sz="1600" b="1" spc="-55" dirty="0">
                <a:solidFill>
                  <a:srgbClr val="3E762B"/>
                </a:solidFill>
                <a:latin typeface="Times New Roman"/>
                <a:cs typeface="Times New Roman"/>
              </a:rPr>
              <a:t> </a:t>
            </a:r>
            <a:r>
              <a:rPr sz="1600" b="1" spc="-10" dirty="0">
                <a:solidFill>
                  <a:srgbClr val="3E762B"/>
                </a:solidFill>
                <a:latin typeface="Times New Roman"/>
                <a:cs typeface="Times New Roman"/>
              </a:rPr>
              <a:t>branch</a:t>
            </a:r>
            <a:endParaRPr sz="1600" dirty="0">
              <a:latin typeface="Times New Roman"/>
              <a:cs typeface="Times New Roman"/>
            </a:endParaRPr>
          </a:p>
          <a:p>
            <a:pPr marL="662940" marR="246379" lvl="2" indent="-172720">
              <a:lnSpc>
                <a:spcPct val="110000"/>
              </a:lnSpc>
              <a:spcBef>
                <a:spcPts val="650"/>
              </a:spcBef>
              <a:buClr>
                <a:srgbClr val="3E762B"/>
              </a:buClr>
              <a:buFont typeface="Arial MT"/>
              <a:buChar char="•"/>
              <a:tabLst>
                <a:tab pos="662940" algn="l"/>
              </a:tabLst>
            </a:pP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this</a:t>
            </a:r>
            <a:r>
              <a:rPr sz="1200" spc="-40" dirty="0">
                <a:latin typeface="Times New Roman"/>
                <a:cs typeface="Times New Roman"/>
              </a:rPr>
              <a:t> </a:t>
            </a:r>
            <a:r>
              <a:rPr sz="1200" dirty="0">
                <a:latin typeface="Times New Roman"/>
                <a:cs typeface="Times New Roman"/>
              </a:rPr>
              <a:t>procedure,</a:t>
            </a:r>
            <a:r>
              <a:rPr sz="1200" spc="-3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b="1" dirty="0">
                <a:latin typeface="Times New Roman"/>
                <a:cs typeface="Times New Roman"/>
              </a:rPr>
              <a:t>compiler</a:t>
            </a:r>
            <a:r>
              <a:rPr sz="1200" b="1" spc="-35" dirty="0">
                <a:latin typeface="Times New Roman"/>
                <a:cs typeface="Times New Roman"/>
              </a:rPr>
              <a:t> </a:t>
            </a:r>
            <a:r>
              <a:rPr sz="1200" dirty="0">
                <a:latin typeface="Times New Roman"/>
                <a:cs typeface="Times New Roman"/>
              </a:rPr>
              <a:t>detects</a:t>
            </a:r>
            <a:r>
              <a:rPr sz="1200" spc="-40" dirty="0">
                <a:latin typeface="Times New Roman"/>
                <a:cs typeface="Times New Roman"/>
              </a:rPr>
              <a:t> </a:t>
            </a:r>
            <a:r>
              <a:rPr sz="1200" dirty="0">
                <a:latin typeface="Times New Roman"/>
                <a:cs typeface="Times New Roman"/>
              </a:rPr>
              <a:t>the</a:t>
            </a:r>
            <a:r>
              <a:rPr sz="1200" spc="-45" dirty="0">
                <a:latin typeface="Times New Roman"/>
                <a:cs typeface="Times New Roman"/>
              </a:rPr>
              <a:t> </a:t>
            </a:r>
            <a:r>
              <a:rPr sz="1200" dirty="0">
                <a:latin typeface="Times New Roman"/>
                <a:cs typeface="Times New Roman"/>
              </a:rPr>
              <a:t>branch</a:t>
            </a:r>
            <a:r>
              <a:rPr sz="1200" spc="-30" dirty="0">
                <a:latin typeface="Times New Roman"/>
                <a:cs typeface="Times New Roman"/>
              </a:rPr>
              <a:t> </a:t>
            </a:r>
            <a:r>
              <a:rPr sz="1200" dirty="0">
                <a:latin typeface="Times New Roman"/>
                <a:cs typeface="Times New Roman"/>
              </a:rPr>
              <a:t>instructions</a:t>
            </a:r>
            <a:r>
              <a:rPr sz="1200" spc="-55" dirty="0">
                <a:latin typeface="Times New Roman"/>
                <a:cs typeface="Times New Roman"/>
              </a:rPr>
              <a:t> </a:t>
            </a:r>
            <a:r>
              <a:rPr sz="1200" dirty="0">
                <a:latin typeface="Times New Roman"/>
                <a:cs typeface="Times New Roman"/>
              </a:rPr>
              <a:t>and</a:t>
            </a:r>
            <a:r>
              <a:rPr sz="1200" spc="-40" dirty="0">
                <a:latin typeface="Times New Roman"/>
                <a:cs typeface="Times New Roman"/>
              </a:rPr>
              <a:t> </a:t>
            </a:r>
            <a:r>
              <a:rPr sz="1200" dirty="0">
                <a:latin typeface="Times New Roman"/>
                <a:cs typeface="Times New Roman"/>
              </a:rPr>
              <a:t>rearranges</a:t>
            </a:r>
            <a:r>
              <a:rPr sz="1200" spc="-15" dirty="0">
                <a:latin typeface="Times New Roman"/>
                <a:cs typeface="Times New Roman"/>
              </a:rPr>
              <a:t> </a:t>
            </a:r>
            <a:r>
              <a:rPr sz="1200" spc="-25" dirty="0">
                <a:latin typeface="Times New Roman"/>
                <a:cs typeface="Times New Roman"/>
              </a:rPr>
              <a:t>the </a:t>
            </a:r>
            <a:r>
              <a:rPr sz="1200" dirty="0">
                <a:latin typeface="Times New Roman"/>
                <a:cs typeface="Times New Roman"/>
              </a:rPr>
              <a:t>machine</a:t>
            </a:r>
            <a:r>
              <a:rPr sz="1200" spc="-40" dirty="0">
                <a:latin typeface="Times New Roman"/>
                <a:cs typeface="Times New Roman"/>
              </a:rPr>
              <a:t> </a:t>
            </a:r>
            <a:r>
              <a:rPr sz="1200" dirty="0">
                <a:latin typeface="Times New Roman"/>
                <a:cs typeface="Times New Roman"/>
              </a:rPr>
              <a:t>language</a:t>
            </a:r>
            <a:r>
              <a:rPr sz="1200" spc="-25" dirty="0">
                <a:latin typeface="Times New Roman"/>
                <a:cs typeface="Times New Roman"/>
              </a:rPr>
              <a:t> </a:t>
            </a:r>
            <a:r>
              <a:rPr sz="1200" dirty="0">
                <a:latin typeface="Times New Roman"/>
                <a:cs typeface="Times New Roman"/>
              </a:rPr>
              <a:t>code</a:t>
            </a:r>
            <a:r>
              <a:rPr sz="1200" spc="-35" dirty="0">
                <a:latin typeface="Times New Roman"/>
                <a:cs typeface="Times New Roman"/>
              </a:rPr>
              <a:t> </a:t>
            </a:r>
            <a:r>
              <a:rPr sz="1200" dirty="0">
                <a:latin typeface="Times New Roman"/>
                <a:cs typeface="Times New Roman"/>
              </a:rPr>
              <a:t>sequence</a:t>
            </a:r>
            <a:r>
              <a:rPr sz="1200" spc="-35" dirty="0">
                <a:latin typeface="Times New Roman"/>
                <a:cs typeface="Times New Roman"/>
              </a:rPr>
              <a:t> </a:t>
            </a:r>
            <a:r>
              <a:rPr sz="1200" dirty="0">
                <a:latin typeface="Times New Roman"/>
                <a:cs typeface="Times New Roman"/>
              </a:rPr>
              <a:t>by</a:t>
            </a:r>
            <a:r>
              <a:rPr sz="1200" spc="-45" dirty="0">
                <a:latin typeface="Times New Roman"/>
                <a:cs typeface="Times New Roman"/>
              </a:rPr>
              <a:t> </a:t>
            </a:r>
            <a:r>
              <a:rPr sz="1200" dirty="0">
                <a:latin typeface="Times New Roman"/>
                <a:cs typeface="Times New Roman"/>
              </a:rPr>
              <a:t>inserting</a:t>
            </a:r>
            <a:r>
              <a:rPr sz="1200" spc="-45" dirty="0">
                <a:latin typeface="Times New Roman"/>
                <a:cs typeface="Times New Roman"/>
              </a:rPr>
              <a:t> </a:t>
            </a:r>
            <a:r>
              <a:rPr sz="1200" dirty="0">
                <a:latin typeface="Times New Roman"/>
                <a:cs typeface="Times New Roman"/>
              </a:rPr>
              <a:t>useful</a:t>
            </a:r>
            <a:r>
              <a:rPr sz="1200" spc="-35" dirty="0">
                <a:latin typeface="Times New Roman"/>
                <a:cs typeface="Times New Roman"/>
              </a:rPr>
              <a:t> </a:t>
            </a:r>
            <a:r>
              <a:rPr sz="1200" dirty="0">
                <a:latin typeface="Times New Roman"/>
                <a:cs typeface="Times New Roman"/>
              </a:rPr>
              <a:t>instructions</a:t>
            </a:r>
            <a:r>
              <a:rPr sz="1200" spc="-5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keep</a:t>
            </a:r>
            <a:r>
              <a:rPr sz="1200" spc="-35" dirty="0">
                <a:latin typeface="Times New Roman"/>
                <a:cs typeface="Times New Roman"/>
              </a:rPr>
              <a:t> </a:t>
            </a:r>
            <a:r>
              <a:rPr sz="1200" spc="-25" dirty="0">
                <a:latin typeface="Times New Roman"/>
                <a:cs typeface="Times New Roman"/>
              </a:rPr>
              <a:t>the </a:t>
            </a:r>
            <a:r>
              <a:rPr sz="1200" dirty="0">
                <a:latin typeface="Times New Roman"/>
                <a:cs typeface="Times New Roman"/>
              </a:rPr>
              <a:t>pipeline</a:t>
            </a:r>
            <a:r>
              <a:rPr sz="1200" spc="-60" dirty="0">
                <a:latin typeface="Times New Roman"/>
                <a:cs typeface="Times New Roman"/>
              </a:rPr>
              <a:t> </a:t>
            </a:r>
            <a:r>
              <a:rPr sz="1200" dirty="0">
                <a:latin typeface="Times New Roman"/>
                <a:cs typeface="Times New Roman"/>
              </a:rPr>
              <a:t>operating</a:t>
            </a:r>
            <a:r>
              <a:rPr sz="1200" spc="-50" dirty="0">
                <a:latin typeface="Times New Roman"/>
                <a:cs typeface="Times New Roman"/>
              </a:rPr>
              <a:t> </a:t>
            </a:r>
            <a:r>
              <a:rPr sz="1200" dirty="0">
                <a:latin typeface="Times New Roman"/>
                <a:cs typeface="Times New Roman"/>
              </a:rPr>
              <a:t>without</a:t>
            </a:r>
            <a:r>
              <a:rPr sz="1200" spc="-45" dirty="0">
                <a:latin typeface="Times New Roman"/>
                <a:cs typeface="Times New Roman"/>
              </a:rPr>
              <a:t> </a:t>
            </a:r>
            <a:r>
              <a:rPr sz="1200" spc="-10" dirty="0">
                <a:latin typeface="Times New Roman"/>
                <a:cs typeface="Times New Roman"/>
              </a:rPr>
              <a:t>interruptions.</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524510" indent="-295910">
              <a:lnSpc>
                <a:spcPct val="100000"/>
              </a:lnSpc>
              <a:spcBef>
                <a:spcPts val="900"/>
              </a:spcBef>
              <a:buAutoNum type="arabicPeriod" startAt="3"/>
              <a:tabLst>
                <a:tab pos="524510" algn="l"/>
              </a:tabLst>
            </a:pPr>
            <a:r>
              <a:rPr sz="2200" dirty="0">
                <a:latin typeface="Georgia"/>
                <a:cs typeface="Georgia"/>
              </a:rPr>
              <a:t>Branch</a:t>
            </a:r>
            <a:r>
              <a:rPr sz="2200" spc="-100" dirty="0">
                <a:latin typeface="Georgia"/>
                <a:cs typeface="Georgia"/>
              </a:rPr>
              <a:t> </a:t>
            </a:r>
            <a:r>
              <a:rPr sz="2200" dirty="0">
                <a:latin typeface="Georgia"/>
                <a:cs typeface="Georgia"/>
              </a:rPr>
              <a:t>Hazard:</a:t>
            </a:r>
            <a:r>
              <a:rPr sz="2200" spc="-75" dirty="0">
                <a:latin typeface="Georgia"/>
                <a:cs typeface="Georgia"/>
              </a:rPr>
              <a:t> </a:t>
            </a:r>
            <a:r>
              <a:rPr sz="2200" spc="-10" dirty="0">
                <a:latin typeface="Georgia"/>
                <a:cs typeface="Georgia"/>
              </a:rPr>
              <a:t>Solutions</a:t>
            </a:r>
            <a:endParaRPr sz="2200" dirty="0">
              <a:latin typeface="Georgia"/>
              <a:cs typeface="Georgia"/>
            </a:endParaRPr>
          </a:p>
          <a:p>
            <a:pPr marL="490220" lvl="1" indent="-227965">
              <a:lnSpc>
                <a:spcPct val="100000"/>
              </a:lnSpc>
              <a:spcBef>
                <a:spcPts val="1290"/>
              </a:spcBef>
              <a:buFont typeface="Wingdings"/>
              <a:buChar char=""/>
              <a:tabLst>
                <a:tab pos="490220" algn="l"/>
              </a:tabLst>
            </a:pPr>
            <a:r>
              <a:rPr sz="1400" b="1" dirty="0">
                <a:solidFill>
                  <a:srgbClr val="3E762B"/>
                </a:solidFill>
                <a:latin typeface="Times New Roman"/>
                <a:cs typeface="Times New Roman"/>
              </a:rPr>
              <a:t>Prefetch</a:t>
            </a:r>
            <a:r>
              <a:rPr sz="1400" b="1" spc="-35" dirty="0">
                <a:solidFill>
                  <a:srgbClr val="3E762B"/>
                </a:solidFill>
                <a:latin typeface="Times New Roman"/>
                <a:cs typeface="Times New Roman"/>
              </a:rPr>
              <a:t> </a:t>
            </a:r>
            <a:r>
              <a:rPr sz="1400" b="1" dirty="0">
                <a:solidFill>
                  <a:srgbClr val="3E762B"/>
                </a:solidFill>
                <a:latin typeface="Times New Roman"/>
                <a:cs typeface="Times New Roman"/>
              </a:rPr>
              <a:t>target</a:t>
            </a:r>
            <a:r>
              <a:rPr sz="1400" b="1" spc="-40" dirty="0">
                <a:solidFill>
                  <a:srgbClr val="3E762B"/>
                </a:solidFill>
                <a:latin typeface="Times New Roman"/>
                <a:cs typeface="Times New Roman"/>
              </a:rPr>
              <a:t> </a:t>
            </a:r>
            <a:r>
              <a:rPr sz="1400" b="1" spc="-10" dirty="0">
                <a:solidFill>
                  <a:srgbClr val="3E762B"/>
                </a:solidFill>
                <a:latin typeface="Times New Roman"/>
                <a:cs typeface="Times New Roman"/>
              </a:rPr>
              <a:t>Instruction</a:t>
            </a:r>
            <a:endParaRPr sz="1400" dirty="0">
              <a:latin typeface="Times New Roman"/>
              <a:cs typeface="Times New Roman"/>
            </a:endParaRPr>
          </a:p>
          <a:p>
            <a:pPr marL="659765" marR="379730" lvl="2" indent="-169545">
              <a:lnSpc>
                <a:spcPct val="100000"/>
              </a:lnSpc>
              <a:spcBef>
                <a:spcPts val="315"/>
              </a:spcBef>
              <a:buClr>
                <a:srgbClr val="3E762B"/>
              </a:buClr>
              <a:buFont typeface="Arial MT"/>
              <a:buChar char="•"/>
              <a:tabLst>
                <a:tab pos="662940" algn="l"/>
              </a:tabLst>
            </a:pPr>
            <a:r>
              <a:rPr sz="1100" dirty="0">
                <a:latin typeface="Times New Roman"/>
                <a:cs typeface="Times New Roman"/>
              </a:rPr>
              <a:t>Prefetch</a:t>
            </a:r>
            <a:r>
              <a:rPr sz="1100" spc="-20" dirty="0">
                <a:latin typeface="Times New Roman"/>
                <a:cs typeface="Times New Roman"/>
              </a:rPr>
              <a:t> </a:t>
            </a:r>
            <a:r>
              <a:rPr sz="1100" dirty="0">
                <a:latin typeface="Times New Roman"/>
                <a:cs typeface="Times New Roman"/>
              </a:rPr>
              <a:t>the target instruction</a:t>
            </a:r>
            <a:r>
              <a:rPr sz="1100" spc="-3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addition</a:t>
            </a:r>
            <a:r>
              <a:rPr sz="1100" spc="-35"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the instruction</a:t>
            </a:r>
            <a:r>
              <a:rPr sz="1100" spc="-35" dirty="0">
                <a:latin typeface="Times New Roman"/>
                <a:cs typeface="Times New Roman"/>
              </a:rPr>
              <a:t> </a:t>
            </a:r>
            <a:r>
              <a:rPr sz="1100" dirty="0">
                <a:latin typeface="Times New Roman"/>
                <a:cs typeface="Times New Roman"/>
              </a:rPr>
              <a:t>following</a:t>
            </a:r>
            <a:r>
              <a:rPr sz="1100" spc="-30" dirty="0">
                <a:latin typeface="Times New Roman"/>
                <a:cs typeface="Times New Roman"/>
              </a:rPr>
              <a:t> </a:t>
            </a:r>
            <a:r>
              <a:rPr sz="1100" dirty="0">
                <a:latin typeface="Times New Roman"/>
                <a:cs typeface="Times New Roman"/>
              </a:rPr>
              <a:t>the branch.</a:t>
            </a:r>
            <a:r>
              <a:rPr sz="1100" spc="-10" dirty="0">
                <a:latin typeface="Times New Roman"/>
                <a:cs typeface="Times New Roman"/>
              </a:rPr>
              <a:t> </a:t>
            </a:r>
            <a:r>
              <a:rPr sz="1100" spc="-20" dirty="0">
                <a:latin typeface="Times New Roman"/>
                <a:cs typeface="Times New Roman"/>
              </a:rPr>
              <a:t>Both 	</a:t>
            </a:r>
            <a:r>
              <a:rPr sz="1100" dirty="0">
                <a:latin typeface="Times New Roman"/>
                <a:cs typeface="Times New Roman"/>
              </a:rPr>
              <a:t>are</a:t>
            </a:r>
            <a:r>
              <a:rPr sz="1100" spc="-10" dirty="0">
                <a:latin typeface="Times New Roman"/>
                <a:cs typeface="Times New Roman"/>
              </a:rPr>
              <a:t> </a:t>
            </a:r>
            <a:r>
              <a:rPr sz="1100" dirty="0">
                <a:latin typeface="Times New Roman"/>
                <a:cs typeface="Times New Roman"/>
              </a:rPr>
              <a:t>saved</a:t>
            </a:r>
            <a:r>
              <a:rPr sz="1100" spc="-5" dirty="0">
                <a:latin typeface="Times New Roman"/>
                <a:cs typeface="Times New Roman"/>
              </a:rPr>
              <a:t> </a:t>
            </a:r>
            <a:r>
              <a:rPr sz="1100" dirty="0">
                <a:latin typeface="Times New Roman"/>
                <a:cs typeface="Times New Roman"/>
              </a:rPr>
              <a:t>until</a:t>
            </a:r>
            <a:r>
              <a:rPr sz="1100" spc="-2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branch</a:t>
            </a:r>
            <a:r>
              <a:rPr sz="1100" spc="-10" dirty="0">
                <a:latin typeface="Times New Roman"/>
                <a:cs typeface="Times New Roman"/>
              </a:rPr>
              <a:t> </a:t>
            </a:r>
            <a:r>
              <a:rPr sz="1100" dirty="0">
                <a:latin typeface="Times New Roman"/>
                <a:cs typeface="Times New Roman"/>
              </a:rPr>
              <a:t>is</a:t>
            </a:r>
            <a:r>
              <a:rPr sz="1100" spc="-20" dirty="0">
                <a:latin typeface="Times New Roman"/>
                <a:cs typeface="Times New Roman"/>
              </a:rPr>
              <a:t> </a:t>
            </a:r>
            <a:r>
              <a:rPr sz="1100" spc="-10" dirty="0">
                <a:latin typeface="Times New Roman"/>
                <a:cs typeface="Times New Roman"/>
              </a:rPr>
              <a:t>executed.</a:t>
            </a:r>
            <a:endParaRPr sz="1100" dirty="0">
              <a:latin typeface="Times New Roman"/>
              <a:cs typeface="Times New Roman"/>
            </a:endParaRPr>
          </a:p>
          <a:p>
            <a:pPr marL="659765" marR="255270" lvl="2" indent="-169545">
              <a:lnSpc>
                <a:spcPct val="100000"/>
              </a:lnSpc>
              <a:spcBef>
                <a:spcPts val="300"/>
              </a:spcBef>
              <a:buClr>
                <a:srgbClr val="3E762B"/>
              </a:buClr>
              <a:buFont typeface="Arial MT"/>
              <a:buChar char="•"/>
              <a:tabLst>
                <a:tab pos="662940" algn="l"/>
              </a:tabLst>
            </a:pPr>
            <a:r>
              <a:rPr sz="1100" dirty="0">
                <a:latin typeface="Times New Roman"/>
                <a:cs typeface="Times New Roman"/>
              </a:rPr>
              <a:t>If</a:t>
            </a:r>
            <a:r>
              <a:rPr sz="1100" spc="2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branch</a:t>
            </a:r>
            <a:r>
              <a:rPr sz="1100" spc="-5" dirty="0">
                <a:latin typeface="Times New Roman"/>
                <a:cs typeface="Times New Roman"/>
              </a:rPr>
              <a:t> </a:t>
            </a:r>
            <a:r>
              <a:rPr sz="1100" dirty="0">
                <a:latin typeface="Times New Roman"/>
                <a:cs typeface="Times New Roman"/>
              </a:rPr>
              <a:t>condition</a:t>
            </a:r>
            <a:r>
              <a:rPr sz="1100" spc="-3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successful,</a:t>
            </a:r>
            <a:r>
              <a:rPr sz="1100" spc="-3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pipeline</a:t>
            </a:r>
            <a:r>
              <a:rPr sz="1100" spc="-30" dirty="0">
                <a:latin typeface="Times New Roman"/>
                <a:cs typeface="Times New Roman"/>
              </a:rPr>
              <a:t> </a:t>
            </a:r>
            <a:r>
              <a:rPr sz="1100" dirty="0">
                <a:latin typeface="Times New Roman"/>
                <a:cs typeface="Times New Roman"/>
              </a:rPr>
              <a:t>continues</a:t>
            </a:r>
            <a:r>
              <a:rPr sz="1100" spc="-25" dirty="0">
                <a:latin typeface="Times New Roman"/>
                <a:cs typeface="Times New Roman"/>
              </a:rPr>
              <a:t> </a:t>
            </a:r>
            <a:r>
              <a:rPr sz="1100" dirty="0">
                <a:latin typeface="Times New Roman"/>
                <a:cs typeface="Times New Roman"/>
              </a:rPr>
              <a:t>from</a:t>
            </a:r>
            <a:r>
              <a:rPr sz="1100" spc="-1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branch</a:t>
            </a:r>
            <a:r>
              <a:rPr sz="1100" spc="-5" dirty="0">
                <a:latin typeface="Times New Roman"/>
                <a:cs typeface="Times New Roman"/>
              </a:rPr>
              <a:t> </a:t>
            </a:r>
            <a:r>
              <a:rPr sz="1100" spc="-10" dirty="0">
                <a:latin typeface="Times New Roman"/>
                <a:cs typeface="Times New Roman"/>
              </a:rPr>
              <a:t>target 	</a:t>
            </a:r>
            <a:r>
              <a:rPr sz="1100" dirty="0">
                <a:latin typeface="Times New Roman"/>
                <a:cs typeface="Times New Roman"/>
              </a:rPr>
              <a:t>instruction.</a:t>
            </a:r>
            <a:r>
              <a:rPr sz="1100" spc="-90" dirty="0">
                <a:latin typeface="Times New Roman"/>
                <a:cs typeface="Times New Roman"/>
              </a:rPr>
              <a:t> </a:t>
            </a:r>
            <a:r>
              <a:rPr sz="1100" dirty="0">
                <a:latin typeface="Times New Roman"/>
                <a:cs typeface="Times New Roman"/>
              </a:rPr>
              <a:t>An</a:t>
            </a:r>
            <a:r>
              <a:rPr sz="1100" spc="10" dirty="0">
                <a:latin typeface="Times New Roman"/>
                <a:cs typeface="Times New Roman"/>
              </a:rPr>
              <a:t> </a:t>
            </a:r>
            <a:r>
              <a:rPr sz="1100" dirty="0">
                <a:latin typeface="Times New Roman"/>
                <a:cs typeface="Times New Roman"/>
              </a:rPr>
              <a:t>extension</a:t>
            </a:r>
            <a:r>
              <a:rPr sz="1100" spc="-30" dirty="0">
                <a:latin typeface="Times New Roman"/>
                <a:cs typeface="Times New Roman"/>
              </a:rPr>
              <a:t> </a:t>
            </a:r>
            <a:r>
              <a:rPr sz="1100" dirty="0">
                <a:latin typeface="Times New Roman"/>
                <a:cs typeface="Times New Roman"/>
              </a:rPr>
              <a:t>of this procedure</a:t>
            </a:r>
            <a:r>
              <a:rPr sz="1100" spc="-25" dirty="0">
                <a:latin typeface="Times New Roman"/>
                <a:cs typeface="Times New Roman"/>
              </a:rPr>
              <a:t> </a:t>
            </a:r>
            <a:r>
              <a:rPr sz="1100" dirty="0">
                <a:latin typeface="Times New Roman"/>
                <a:cs typeface="Times New Roman"/>
              </a:rPr>
              <a:t>is to</a:t>
            </a:r>
            <a:r>
              <a:rPr sz="1100" spc="-5" dirty="0">
                <a:latin typeface="Times New Roman"/>
                <a:cs typeface="Times New Roman"/>
              </a:rPr>
              <a:t> </a:t>
            </a:r>
            <a:r>
              <a:rPr sz="1100" dirty="0">
                <a:latin typeface="Times New Roman"/>
                <a:cs typeface="Times New Roman"/>
              </a:rPr>
              <a:t>continue</a:t>
            </a:r>
            <a:r>
              <a:rPr sz="1100" spc="-15" dirty="0">
                <a:latin typeface="Times New Roman"/>
                <a:cs typeface="Times New Roman"/>
              </a:rPr>
              <a:t> </a:t>
            </a:r>
            <a:r>
              <a:rPr sz="1100" dirty="0">
                <a:latin typeface="Times New Roman"/>
                <a:cs typeface="Times New Roman"/>
              </a:rPr>
              <a:t>fetching</a:t>
            </a:r>
            <a:r>
              <a:rPr sz="1100" spc="-30" dirty="0">
                <a:latin typeface="Times New Roman"/>
                <a:cs typeface="Times New Roman"/>
              </a:rPr>
              <a:t> </a:t>
            </a:r>
            <a:r>
              <a:rPr sz="1100" dirty="0">
                <a:latin typeface="Times New Roman"/>
                <a:cs typeface="Times New Roman"/>
              </a:rPr>
              <a:t>instructions</a:t>
            </a:r>
            <a:r>
              <a:rPr sz="1100" spc="-25" dirty="0">
                <a:latin typeface="Times New Roman"/>
                <a:cs typeface="Times New Roman"/>
              </a:rPr>
              <a:t> </a:t>
            </a:r>
            <a:r>
              <a:rPr sz="1100" dirty="0">
                <a:latin typeface="Times New Roman"/>
                <a:cs typeface="Times New Roman"/>
              </a:rPr>
              <a:t>from</a:t>
            </a:r>
            <a:r>
              <a:rPr sz="1100" spc="-10" dirty="0">
                <a:latin typeface="Times New Roman"/>
                <a:cs typeface="Times New Roman"/>
              </a:rPr>
              <a:t> </a:t>
            </a:r>
            <a:r>
              <a:rPr sz="1100" spc="-20" dirty="0">
                <a:latin typeface="Times New Roman"/>
                <a:cs typeface="Times New Roman"/>
              </a:rPr>
              <a:t>both 	</a:t>
            </a:r>
            <a:r>
              <a:rPr sz="1100" dirty="0">
                <a:latin typeface="Times New Roman"/>
                <a:cs typeface="Times New Roman"/>
              </a:rPr>
              <a:t>places</a:t>
            </a:r>
            <a:r>
              <a:rPr sz="1100" spc="-15" dirty="0">
                <a:latin typeface="Times New Roman"/>
                <a:cs typeface="Times New Roman"/>
              </a:rPr>
              <a:t> </a:t>
            </a:r>
            <a:r>
              <a:rPr sz="1100" dirty="0">
                <a:latin typeface="Times New Roman"/>
                <a:cs typeface="Times New Roman"/>
              </a:rPr>
              <a:t>until</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branch</a:t>
            </a:r>
            <a:r>
              <a:rPr sz="1100" spc="-15" dirty="0">
                <a:latin typeface="Times New Roman"/>
                <a:cs typeface="Times New Roman"/>
              </a:rPr>
              <a:t> </a:t>
            </a:r>
            <a:r>
              <a:rPr sz="1100" dirty="0">
                <a:latin typeface="Times New Roman"/>
                <a:cs typeface="Times New Roman"/>
              </a:rPr>
              <a:t>decision</a:t>
            </a:r>
            <a:r>
              <a:rPr sz="1100" spc="-30"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spc="-10" dirty="0">
                <a:latin typeface="Times New Roman"/>
                <a:cs typeface="Times New Roman"/>
              </a:rPr>
              <a:t>made.</a:t>
            </a:r>
            <a:r>
              <a:rPr sz="1100" spc="-50" dirty="0">
                <a:latin typeface="Times New Roman"/>
                <a:cs typeface="Times New Roman"/>
              </a:rPr>
              <a:t> </a:t>
            </a:r>
            <a:r>
              <a:rPr sz="1100" dirty="0">
                <a:latin typeface="Times New Roman"/>
                <a:cs typeface="Times New Roman"/>
              </a:rPr>
              <a:t>At</a:t>
            </a:r>
            <a:r>
              <a:rPr sz="1100" spc="10" dirty="0">
                <a:latin typeface="Times New Roman"/>
                <a:cs typeface="Times New Roman"/>
              </a:rPr>
              <a:t> </a:t>
            </a:r>
            <a:r>
              <a:rPr sz="1100" dirty="0">
                <a:latin typeface="Times New Roman"/>
                <a:cs typeface="Times New Roman"/>
              </a:rPr>
              <a:t>that</a:t>
            </a:r>
            <a:r>
              <a:rPr sz="1100" spc="-10" dirty="0">
                <a:latin typeface="Times New Roman"/>
                <a:cs typeface="Times New Roman"/>
              </a:rPr>
              <a:t> </a:t>
            </a:r>
            <a:r>
              <a:rPr sz="1100" dirty="0">
                <a:latin typeface="Times New Roman"/>
                <a:cs typeface="Times New Roman"/>
              </a:rPr>
              <a:t>time</a:t>
            </a:r>
            <a:r>
              <a:rPr sz="1100" spc="10" dirty="0">
                <a:latin typeface="Times New Roman"/>
                <a:cs typeface="Times New Roman"/>
              </a:rPr>
              <a:t> </a:t>
            </a:r>
            <a:r>
              <a:rPr sz="1100" dirty="0">
                <a:latin typeface="Times New Roman"/>
                <a:cs typeface="Times New Roman"/>
              </a:rPr>
              <a:t>control</a:t>
            </a:r>
            <a:r>
              <a:rPr sz="1100" spc="-15" dirty="0">
                <a:latin typeface="Times New Roman"/>
                <a:cs typeface="Times New Roman"/>
              </a:rPr>
              <a:t> </a:t>
            </a:r>
            <a:r>
              <a:rPr sz="1100" dirty="0">
                <a:latin typeface="Times New Roman"/>
                <a:cs typeface="Times New Roman"/>
              </a:rPr>
              <a:t>chooses</a:t>
            </a:r>
            <a:r>
              <a:rPr sz="1100" spc="-25" dirty="0">
                <a:latin typeface="Times New Roman"/>
                <a:cs typeface="Times New Roman"/>
              </a:rPr>
              <a:t> </a:t>
            </a:r>
            <a:r>
              <a:rPr sz="1100" dirty="0">
                <a:latin typeface="Times New Roman"/>
                <a:cs typeface="Times New Roman"/>
              </a:rPr>
              <a:t>the </a:t>
            </a:r>
            <a:r>
              <a:rPr sz="1100" spc="-10" dirty="0">
                <a:latin typeface="Times New Roman"/>
                <a:cs typeface="Times New Roman"/>
              </a:rPr>
              <a:t>instruction 	</a:t>
            </a:r>
            <a:r>
              <a:rPr sz="1100" dirty="0">
                <a:latin typeface="Times New Roman"/>
                <a:cs typeface="Times New Roman"/>
              </a:rPr>
              <a:t>stream</a:t>
            </a:r>
            <a:r>
              <a:rPr sz="1100" spc="-2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 correct</a:t>
            </a:r>
            <a:r>
              <a:rPr sz="1100" spc="-30" dirty="0">
                <a:latin typeface="Times New Roman"/>
                <a:cs typeface="Times New Roman"/>
              </a:rPr>
              <a:t> </a:t>
            </a:r>
            <a:r>
              <a:rPr sz="1100" dirty="0">
                <a:latin typeface="Times New Roman"/>
                <a:cs typeface="Times New Roman"/>
              </a:rPr>
              <a:t>program </a:t>
            </a:r>
            <a:r>
              <a:rPr sz="1100" spc="-20" dirty="0">
                <a:latin typeface="Times New Roman"/>
                <a:cs typeface="Times New Roman"/>
              </a:rPr>
              <a:t>flow.</a:t>
            </a:r>
            <a:endParaRPr sz="11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Pipeline</a:t>
            </a:r>
            <a:r>
              <a:rPr sz="2200" spc="-105" dirty="0">
                <a:latin typeface="Georgia"/>
                <a:cs typeface="Georgia"/>
              </a:rPr>
              <a:t> </a:t>
            </a:r>
            <a:r>
              <a:rPr sz="2200" spc="-10" dirty="0">
                <a:latin typeface="Georgia"/>
                <a:cs typeface="Georgia"/>
              </a:rPr>
              <a:t>Hazards</a:t>
            </a:r>
            <a:endParaRPr sz="2200">
              <a:latin typeface="Georgia"/>
              <a:cs typeface="Georgia"/>
            </a:endParaRPr>
          </a:p>
          <a:p>
            <a:pPr marL="476884" indent="-214629">
              <a:lnSpc>
                <a:spcPct val="100000"/>
              </a:lnSpc>
              <a:spcBef>
                <a:spcPts val="1510"/>
              </a:spcBef>
              <a:buClr>
                <a:srgbClr val="3E762B"/>
              </a:buClr>
              <a:buFont typeface="Wingdings"/>
              <a:buChar char=""/>
              <a:tabLst>
                <a:tab pos="476884" algn="l"/>
              </a:tabLst>
            </a:pPr>
            <a:r>
              <a:rPr sz="1400" dirty="0">
                <a:latin typeface="Times New Roman"/>
                <a:cs typeface="Times New Roman"/>
              </a:rPr>
              <a:t>Hazards</a:t>
            </a:r>
            <a:r>
              <a:rPr sz="1400" spc="-35" dirty="0">
                <a:latin typeface="Times New Roman"/>
                <a:cs typeface="Times New Roman"/>
              </a:rPr>
              <a:t> </a:t>
            </a:r>
            <a:r>
              <a:rPr sz="1400" dirty="0">
                <a:latin typeface="Times New Roman"/>
                <a:cs typeface="Times New Roman"/>
              </a:rPr>
              <a:t>solved</a:t>
            </a:r>
            <a:r>
              <a:rPr sz="1400" spc="-55" dirty="0">
                <a:latin typeface="Times New Roman"/>
                <a:cs typeface="Times New Roman"/>
              </a:rPr>
              <a:t> </a:t>
            </a:r>
            <a:r>
              <a:rPr sz="1400" spc="-25" dirty="0">
                <a:latin typeface="Times New Roman"/>
                <a:cs typeface="Times New Roman"/>
              </a:rPr>
              <a:t>by</a:t>
            </a:r>
            <a:endParaRPr sz="1400">
              <a:latin typeface="Times New Roman"/>
              <a:cs typeface="Times New Roman"/>
            </a:endParaRPr>
          </a:p>
          <a:p>
            <a:pPr marL="687070" lvl="1" indent="-150495">
              <a:lnSpc>
                <a:spcPct val="100000"/>
              </a:lnSpc>
              <a:spcBef>
                <a:spcPts val="600"/>
              </a:spcBef>
              <a:buClr>
                <a:srgbClr val="3E762B"/>
              </a:buClr>
              <a:buFont typeface="Wingdings"/>
              <a:buChar char=""/>
              <a:tabLst>
                <a:tab pos="687070" algn="l"/>
              </a:tabLst>
            </a:pPr>
            <a:r>
              <a:rPr sz="1400" dirty="0">
                <a:latin typeface="Times New Roman"/>
                <a:cs typeface="Times New Roman"/>
              </a:rPr>
              <a:t>Software</a:t>
            </a:r>
            <a:r>
              <a:rPr sz="1400" spc="-25" dirty="0">
                <a:latin typeface="Times New Roman"/>
                <a:cs typeface="Times New Roman"/>
              </a:rPr>
              <a:t> </a:t>
            </a:r>
            <a:r>
              <a:rPr sz="1400" spc="-10" dirty="0">
                <a:latin typeface="Times New Roman"/>
                <a:cs typeface="Times New Roman"/>
              </a:rPr>
              <a:t>Solution</a:t>
            </a:r>
            <a:endParaRPr sz="1400">
              <a:latin typeface="Times New Roman"/>
              <a:cs typeface="Times New Roman"/>
            </a:endParaRPr>
          </a:p>
          <a:p>
            <a:pPr marL="687070" lvl="1" indent="-150495">
              <a:lnSpc>
                <a:spcPct val="100000"/>
              </a:lnSpc>
              <a:spcBef>
                <a:spcPts val="600"/>
              </a:spcBef>
              <a:buClr>
                <a:srgbClr val="3E762B"/>
              </a:buClr>
              <a:buFont typeface="Wingdings"/>
              <a:buChar char=""/>
              <a:tabLst>
                <a:tab pos="687070" algn="l"/>
              </a:tabLst>
            </a:pPr>
            <a:r>
              <a:rPr sz="1400" dirty="0">
                <a:latin typeface="Times New Roman"/>
                <a:cs typeface="Times New Roman"/>
              </a:rPr>
              <a:t>Hardware</a:t>
            </a:r>
            <a:r>
              <a:rPr sz="1400" spc="-25" dirty="0">
                <a:latin typeface="Times New Roman"/>
                <a:cs typeface="Times New Roman"/>
              </a:rPr>
              <a:t> </a:t>
            </a:r>
            <a:r>
              <a:rPr sz="1400" spc="-10" dirty="0">
                <a:latin typeface="Times New Roman"/>
                <a:cs typeface="Times New Roman"/>
              </a:rPr>
              <a:t>Solution</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a:spLocks noGrp="1"/>
          </p:cNvSpPr>
          <p:nvPr>
            <p:ph type="title"/>
          </p:nvPr>
        </p:nvSpPr>
        <p:spPr>
          <a:xfrm>
            <a:off x="496823" y="990600"/>
            <a:ext cx="5862955" cy="3188335"/>
          </a:xfrm>
          <a:prstGeom prst="rect">
            <a:avLst/>
          </a:prstGeom>
          <a:ln w="6096">
            <a:solidFill>
              <a:srgbClr val="FFFFFF"/>
            </a:solidFill>
          </a:ln>
        </p:spPr>
        <p:txBody>
          <a:bodyPr vert="horz" wrap="square" lIns="0" tIns="356870" rIns="0" bIns="0" rtlCol="0">
            <a:spAutoFit/>
          </a:bodyPr>
          <a:lstStyle/>
          <a:p>
            <a:pPr>
              <a:lnSpc>
                <a:spcPct val="100000"/>
              </a:lnSpc>
              <a:spcBef>
                <a:spcPts val="2810"/>
              </a:spcBef>
            </a:pPr>
            <a:endParaRPr sz="3300">
              <a:latin typeface="Times New Roman"/>
              <a:cs typeface="Times New Roman"/>
            </a:endParaRPr>
          </a:p>
          <a:p>
            <a:pPr marL="1365885" marR="1153795" indent="-203200">
              <a:lnSpc>
                <a:spcPct val="85400"/>
              </a:lnSpc>
              <a:spcBef>
                <a:spcPts val="5"/>
              </a:spcBef>
            </a:pPr>
            <a:r>
              <a:rPr sz="3600" b="1" dirty="0">
                <a:solidFill>
                  <a:srgbClr val="FFFFFF"/>
                </a:solidFill>
                <a:latin typeface="Times New Roman"/>
                <a:cs typeface="Times New Roman"/>
              </a:rPr>
              <a:t>Timing</a:t>
            </a:r>
            <a:r>
              <a:rPr sz="3600" b="1" spc="50" dirty="0">
                <a:solidFill>
                  <a:srgbClr val="FFFFFF"/>
                </a:solidFill>
                <a:latin typeface="Times New Roman"/>
                <a:cs typeface="Times New Roman"/>
              </a:rPr>
              <a:t> </a:t>
            </a:r>
            <a:r>
              <a:rPr sz="3600" b="1" spc="-25" dirty="0">
                <a:solidFill>
                  <a:srgbClr val="FFFFFF"/>
                </a:solidFill>
                <a:latin typeface="Times New Roman"/>
                <a:cs typeface="Times New Roman"/>
              </a:rPr>
              <a:t>Analysis</a:t>
            </a:r>
            <a:r>
              <a:rPr sz="3600" b="1" spc="25" dirty="0">
                <a:solidFill>
                  <a:srgbClr val="FFFFFF"/>
                </a:solidFill>
                <a:latin typeface="Times New Roman"/>
                <a:cs typeface="Times New Roman"/>
              </a:rPr>
              <a:t> </a:t>
            </a:r>
            <a:r>
              <a:rPr sz="3300" b="1" spc="850" dirty="0">
                <a:solidFill>
                  <a:srgbClr val="FFFFFF"/>
                </a:solidFill>
                <a:latin typeface="Times New Roman"/>
                <a:cs typeface="Times New Roman"/>
              </a:rPr>
              <a:t>/ </a:t>
            </a:r>
            <a:r>
              <a:rPr sz="3300" b="1" dirty="0">
                <a:solidFill>
                  <a:srgbClr val="FFFFFF"/>
                </a:solidFill>
                <a:latin typeface="Times New Roman"/>
                <a:cs typeface="Times New Roman"/>
              </a:rPr>
              <a:t>Clock</a:t>
            </a:r>
            <a:r>
              <a:rPr sz="3300" b="1" spc="-190" dirty="0">
                <a:solidFill>
                  <a:srgbClr val="FFFFFF"/>
                </a:solidFill>
                <a:latin typeface="Times New Roman"/>
                <a:cs typeface="Times New Roman"/>
              </a:rPr>
              <a:t> </a:t>
            </a:r>
            <a:r>
              <a:rPr sz="3300" b="1" spc="-10" dirty="0">
                <a:solidFill>
                  <a:srgbClr val="FFFFFF"/>
                </a:solidFill>
                <a:latin typeface="Times New Roman"/>
                <a:cs typeface="Times New Roman"/>
              </a:rPr>
              <a:t>Parameters</a:t>
            </a:r>
            <a:endParaRPr sz="3300">
              <a:latin typeface="Times New Roman"/>
              <a:cs typeface="Times New Roman"/>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Clock</a:t>
            </a:r>
            <a:r>
              <a:rPr sz="2200" spc="-45" dirty="0">
                <a:latin typeface="Georgia"/>
                <a:cs typeface="Georgia"/>
              </a:rPr>
              <a:t> </a:t>
            </a:r>
            <a:r>
              <a:rPr sz="2200" spc="-10" dirty="0">
                <a:latin typeface="Georgia"/>
                <a:cs typeface="Georgia"/>
              </a:rPr>
              <a:t>Parameters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850"/>
              </a:spcBef>
            </a:pPr>
            <a:endParaRPr sz="2200">
              <a:latin typeface="Georgia"/>
              <a:cs typeface="Georgia"/>
            </a:endParaRPr>
          </a:p>
          <a:p>
            <a:pPr marL="490220" indent="-227965">
              <a:lnSpc>
                <a:spcPct val="100000"/>
              </a:lnSpc>
              <a:buFont typeface="Wingdings"/>
              <a:buChar char=""/>
              <a:tabLst>
                <a:tab pos="490220" algn="l"/>
              </a:tabLst>
            </a:pPr>
            <a:r>
              <a:rPr sz="1200" b="1" i="1" dirty="0">
                <a:solidFill>
                  <a:srgbClr val="3E762B"/>
                </a:solidFill>
                <a:latin typeface="Times New Roman"/>
                <a:cs typeface="Times New Roman"/>
              </a:rPr>
              <a:t>t</a:t>
            </a:r>
            <a:r>
              <a:rPr sz="1200" b="1" baseline="-20833" dirty="0">
                <a:solidFill>
                  <a:srgbClr val="3E762B"/>
                </a:solidFill>
                <a:latin typeface="Times New Roman"/>
                <a:cs typeface="Times New Roman"/>
              </a:rPr>
              <a:t>r</a:t>
            </a:r>
            <a:r>
              <a:rPr sz="1200" b="1" spc="82" baseline="-20833" dirty="0">
                <a:solidFill>
                  <a:srgbClr val="3E762B"/>
                </a:solidFill>
                <a:latin typeface="Times New Roman"/>
                <a:cs typeface="Times New Roman"/>
              </a:rPr>
              <a:t> </a:t>
            </a:r>
            <a:r>
              <a:rPr sz="1200" b="1" dirty="0">
                <a:solidFill>
                  <a:srgbClr val="3E762B"/>
                </a:solidFill>
                <a:latin typeface="Times New Roman"/>
                <a:cs typeface="Times New Roman"/>
              </a:rPr>
              <a:t>:</a:t>
            </a:r>
            <a:r>
              <a:rPr sz="1200" b="1" spc="260" dirty="0">
                <a:solidFill>
                  <a:srgbClr val="3E762B"/>
                </a:solidFill>
                <a:latin typeface="Times New Roman"/>
                <a:cs typeface="Times New Roman"/>
              </a:rPr>
              <a:t> </a:t>
            </a:r>
            <a:r>
              <a:rPr sz="1200" dirty="0">
                <a:latin typeface="Times New Roman"/>
                <a:cs typeface="Times New Roman"/>
              </a:rPr>
              <a:t>Rise</a:t>
            </a:r>
            <a:r>
              <a:rPr sz="1200" spc="-15" dirty="0">
                <a:latin typeface="Times New Roman"/>
                <a:cs typeface="Times New Roman"/>
              </a:rPr>
              <a:t> </a:t>
            </a:r>
            <a:r>
              <a:rPr sz="1200" dirty="0">
                <a:latin typeface="Times New Roman"/>
                <a:cs typeface="Times New Roman"/>
              </a:rPr>
              <a:t>time:</a:t>
            </a:r>
            <a:r>
              <a:rPr sz="1200" spc="-5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waveform</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rise</a:t>
            </a:r>
            <a:r>
              <a:rPr sz="1200" spc="-20"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10%</a:t>
            </a:r>
            <a:r>
              <a:rPr sz="1200" spc="-20" dirty="0">
                <a:latin typeface="Times New Roman"/>
                <a:cs typeface="Times New Roman"/>
              </a:rPr>
              <a:t> </a:t>
            </a:r>
            <a:r>
              <a:rPr sz="1200" dirty="0">
                <a:latin typeface="Times New Roman"/>
                <a:cs typeface="Times New Roman"/>
              </a:rPr>
              <a:t>to</a:t>
            </a:r>
            <a:r>
              <a:rPr sz="1200" spc="-20" dirty="0">
                <a:latin typeface="Times New Roman"/>
                <a:cs typeface="Times New Roman"/>
              </a:rPr>
              <a:t> </a:t>
            </a:r>
            <a:r>
              <a:rPr sz="1200" dirty="0">
                <a:latin typeface="Times New Roman"/>
                <a:cs typeface="Times New Roman"/>
              </a:rPr>
              <a:t>90%</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V</a:t>
            </a:r>
            <a:r>
              <a:rPr sz="1200" spc="-15" baseline="-20833" dirty="0">
                <a:latin typeface="Times New Roman"/>
                <a:cs typeface="Times New Roman"/>
              </a:rPr>
              <a:t>peak</a:t>
            </a:r>
            <a:endParaRPr sz="1200" baseline="-20833">
              <a:latin typeface="Times New Roman"/>
              <a:cs typeface="Times New Roman"/>
            </a:endParaRPr>
          </a:p>
          <a:p>
            <a:pPr>
              <a:lnSpc>
                <a:spcPct val="100000"/>
              </a:lnSpc>
              <a:spcBef>
                <a:spcPts val="300"/>
              </a:spcBef>
              <a:buClr>
                <a:srgbClr val="3E762B"/>
              </a:buClr>
              <a:buFont typeface="Wingdings"/>
              <a:buChar char=""/>
            </a:pPr>
            <a:endParaRPr sz="1200">
              <a:latin typeface="Times New Roman"/>
              <a:cs typeface="Times New Roman"/>
            </a:endParaRPr>
          </a:p>
          <a:p>
            <a:pPr marL="490220" indent="-227965">
              <a:lnSpc>
                <a:spcPct val="100000"/>
              </a:lnSpc>
              <a:buFont typeface="Wingdings"/>
              <a:buChar char=""/>
              <a:tabLst>
                <a:tab pos="490220" algn="l"/>
              </a:tabLst>
            </a:pPr>
            <a:r>
              <a:rPr sz="1200" b="1" i="1" dirty="0">
                <a:solidFill>
                  <a:srgbClr val="3E762B"/>
                </a:solidFill>
                <a:latin typeface="Times New Roman"/>
                <a:cs typeface="Times New Roman"/>
              </a:rPr>
              <a:t>t</a:t>
            </a:r>
            <a:r>
              <a:rPr sz="1200" b="1" baseline="-20833" dirty="0">
                <a:solidFill>
                  <a:srgbClr val="3E762B"/>
                </a:solidFill>
                <a:latin typeface="Times New Roman"/>
                <a:cs typeface="Times New Roman"/>
              </a:rPr>
              <a:t>f</a:t>
            </a:r>
            <a:r>
              <a:rPr sz="1200" b="1" spc="112" baseline="-20833" dirty="0">
                <a:solidFill>
                  <a:srgbClr val="3E762B"/>
                </a:solidFill>
                <a:latin typeface="Times New Roman"/>
                <a:cs typeface="Times New Roman"/>
              </a:rPr>
              <a:t> </a:t>
            </a:r>
            <a:r>
              <a:rPr sz="1200" b="1" dirty="0">
                <a:solidFill>
                  <a:srgbClr val="3E762B"/>
                </a:solidFill>
                <a:latin typeface="Times New Roman"/>
                <a:cs typeface="Times New Roman"/>
              </a:rPr>
              <a:t>:</a:t>
            </a:r>
            <a:r>
              <a:rPr sz="1200" b="1" spc="-20" dirty="0">
                <a:solidFill>
                  <a:srgbClr val="3E762B"/>
                </a:solidFill>
                <a:latin typeface="Times New Roman"/>
                <a:cs typeface="Times New Roman"/>
              </a:rPr>
              <a:t> </a:t>
            </a:r>
            <a:r>
              <a:rPr sz="1200" dirty="0">
                <a:latin typeface="Times New Roman"/>
                <a:cs typeface="Times New Roman"/>
              </a:rPr>
              <a:t>Fall</a:t>
            </a:r>
            <a:r>
              <a:rPr sz="1200" spc="-10" dirty="0">
                <a:latin typeface="Times New Roman"/>
                <a:cs typeface="Times New Roman"/>
              </a:rPr>
              <a:t> time:</a:t>
            </a:r>
            <a:r>
              <a:rPr sz="1200" spc="-6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time</a:t>
            </a:r>
            <a:r>
              <a:rPr sz="1200" spc="-3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waveform</a:t>
            </a:r>
            <a:r>
              <a:rPr sz="1200" spc="-1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drop</a:t>
            </a:r>
            <a:r>
              <a:rPr sz="1200" spc="-20" dirty="0">
                <a:latin typeface="Times New Roman"/>
                <a:cs typeface="Times New Roman"/>
              </a:rPr>
              <a:t> </a:t>
            </a:r>
            <a:r>
              <a:rPr sz="1200" dirty="0">
                <a:latin typeface="Times New Roman"/>
                <a:cs typeface="Times New Roman"/>
              </a:rPr>
              <a:t>from</a:t>
            </a:r>
            <a:r>
              <a:rPr sz="1200" spc="10" dirty="0">
                <a:latin typeface="Times New Roman"/>
                <a:cs typeface="Times New Roman"/>
              </a:rPr>
              <a:t> </a:t>
            </a:r>
            <a:r>
              <a:rPr sz="1200" dirty="0">
                <a:latin typeface="Times New Roman"/>
                <a:cs typeface="Times New Roman"/>
              </a:rPr>
              <a:t>90%</a:t>
            </a:r>
            <a:r>
              <a:rPr sz="1200" spc="-2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10%</a:t>
            </a:r>
            <a:r>
              <a:rPr sz="1200" spc="-20" dirty="0">
                <a:latin typeface="Times New Roman"/>
                <a:cs typeface="Times New Roman"/>
              </a:rPr>
              <a:t> </a:t>
            </a:r>
            <a:r>
              <a:rPr sz="1200" dirty="0">
                <a:latin typeface="Times New Roman"/>
                <a:cs typeface="Times New Roman"/>
              </a:rPr>
              <a:t>of</a:t>
            </a:r>
            <a:r>
              <a:rPr sz="1200" spc="-45" dirty="0">
                <a:latin typeface="Times New Roman"/>
                <a:cs typeface="Times New Roman"/>
              </a:rPr>
              <a:t> </a:t>
            </a:r>
            <a:r>
              <a:rPr sz="1200" spc="-10" dirty="0">
                <a:latin typeface="Times New Roman"/>
                <a:cs typeface="Times New Roman"/>
              </a:rPr>
              <a:t>V</a:t>
            </a:r>
            <a:r>
              <a:rPr sz="1200" spc="-15" baseline="-20833" dirty="0">
                <a:latin typeface="Times New Roman"/>
                <a:cs typeface="Times New Roman"/>
              </a:rPr>
              <a:t>peak</a:t>
            </a:r>
            <a:endParaRPr sz="1200" baseline="-20833">
              <a:latin typeface="Times New Roman"/>
              <a:cs typeface="Times New Roman"/>
            </a:endParaRPr>
          </a:p>
        </p:txBody>
      </p:sp>
      <p:pic>
        <p:nvPicPr>
          <p:cNvPr id="11" name="object 11"/>
          <p:cNvPicPr/>
          <p:nvPr/>
        </p:nvPicPr>
        <p:blipFill>
          <a:blip r:embed="rId2" cstate="print"/>
          <a:stretch>
            <a:fillRect/>
          </a:stretch>
        </p:blipFill>
        <p:spPr>
          <a:xfrm>
            <a:off x="2670048" y="5597652"/>
            <a:ext cx="3599688" cy="1600200"/>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Timing</a:t>
            </a:r>
            <a:r>
              <a:rPr sz="2200" spc="-95" dirty="0">
                <a:latin typeface="Georgia"/>
                <a:cs typeface="Georgia"/>
              </a:rPr>
              <a:t> </a:t>
            </a:r>
            <a:r>
              <a:rPr sz="2200" spc="-10" dirty="0">
                <a:latin typeface="Georgia"/>
                <a:cs typeface="Georgia"/>
              </a:rPr>
              <a:t>Definitions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450"/>
              </a:spcBef>
            </a:pPr>
            <a:endParaRPr sz="2200">
              <a:latin typeface="Georgia"/>
              <a:cs typeface="Georgia"/>
            </a:endParaRPr>
          </a:p>
          <a:p>
            <a:pPr marL="1470660">
              <a:lnSpc>
                <a:spcPct val="100000"/>
              </a:lnSpc>
              <a:spcBef>
                <a:spcPts val="5"/>
              </a:spcBef>
            </a:pPr>
            <a:r>
              <a:rPr sz="1800" spc="-37" baseline="13888" dirty="0">
                <a:latin typeface="Times New Roman"/>
                <a:cs typeface="Times New Roman"/>
              </a:rPr>
              <a:t>t</a:t>
            </a:r>
            <a:r>
              <a:rPr sz="800" spc="-25" dirty="0">
                <a:latin typeface="Times New Roman"/>
                <a:cs typeface="Times New Roman"/>
              </a:rPr>
              <a:t>pd</a:t>
            </a:r>
            <a:endParaRPr sz="800">
              <a:latin typeface="Times New Roman"/>
              <a:cs typeface="Times New Roman"/>
            </a:endParaRPr>
          </a:p>
          <a:p>
            <a:pPr>
              <a:lnSpc>
                <a:spcPct val="100000"/>
              </a:lnSpc>
              <a:spcBef>
                <a:spcPts val="290"/>
              </a:spcBef>
            </a:pPr>
            <a:endParaRPr sz="800">
              <a:latin typeface="Times New Roman"/>
              <a:cs typeface="Times New Roman"/>
            </a:endParaRPr>
          </a:p>
          <a:p>
            <a:pPr marL="262255">
              <a:lnSpc>
                <a:spcPct val="100000"/>
              </a:lnSpc>
              <a:spcBef>
                <a:spcPts val="5"/>
              </a:spcBef>
            </a:pPr>
            <a:r>
              <a:rPr sz="1600" b="1" dirty="0">
                <a:latin typeface="Times New Roman"/>
                <a:cs typeface="Times New Roman"/>
              </a:rPr>
              <a:t>t</a:t>
            </a:r>
            <a:r>
              <a:rPr sz="1575" b="1" baseline="-21164" dirty="0">
                <a:latin typeface="Times New Roman"/>
                <a:cs typeface="Times New Roman"/>
              </a:rPr>
              <a:t>pd</a:t>
            </a:r>
            <a:r>
              <a:rPr sz="1575" b="1" spc="7" baseline="-21164"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spc="-10" dirty="0">
                <a:latin typeface="Times New Roman"/>
                <a:cs typeface="Times New Roman"/>
              </a:rPr>
              <a:t>combinational</a:t>
            </a:r>
            <a:r>
              <a:rPr sz="1600" dirty="0">
                <a:latin typeface="Times New Roman"/>
                <a:cs typeface="Times New Roman"/>
              </a:rPr>
              <a:t> circuit</a:t>
            </a:r>
            <a:r>
              <a:rPr sz="1600" spc="10" dirty="0">
                <a:latin typeface="Times New Roman"/>
                <a:cs typeface="Times New Roman"/>
              </a:rPr>
              <a:t> </a:t>
            </a:r>
            <a:r>
              <a:rPr sz="1600" b="1" spc="-10" dirty="0">
                <a:latin typeface="Times New Roman"/>
                <a:cs typeface="Times New Roman"/>
              </a:rPr>
              <a:t>Propagation</a:t>
            </a:r>
            <a:r>
              <a:rPr sz="1600" b="1" spc="-30" dirty="0">
                <a:latin typeface="Times New Roman"/>
                <a:cs typeface="Times New Roman"/>
              </a:rPr>
              <a:t> </a:t>
            </a:r>
            <a:r>
              <a:rPr sz="1600" b="1" spc="-10" dirty="0">
                <a:latin typeface="Times New Roman"/>
                <a:cs typeface="Times New Roman"/>
              </a:rPr>
              <a:t>delay</a:t>
            </a:r>
            <a:endParaRPr sz="1600">
              <a:latin typeface="Times New Roman"/>
              <a:cs typeface="Times New Roman"/>
            </a:endParaRPr>
          </a:p>
        </p:txBody>
      </p:sp>
      <p:grpSp>
        <p:nvGrpSpPr>
          <p:cNvPr id="3" name="object 3"/>
          <p:cNvGrpSpPr/>
          <p:nvPr/>
        </p:nvGrpSpPr>
        <p:grpSpPr>
          <a:xfrm>
            <a:off x="774191" y="1808988"/>
            <a:ext cx="4749165" cy="1390015"/>
            <a:chOff x="774191" y="1808988"/>
            <a:chExt cx="4749165" cy="1390015"/>
          </a:xfrm>
        </p:grpSpPr>
        <p:sp>
          <p:nvSpPr>
            <p:cNvPr id="4" name="object 4"/>
            <p:cNvSpPr/>
            <p:nvPr/>
          </p:nvSpPr>
          <p:spPr>
            <a:xfrm>
              <a:off x="1790700" y="2963418"/>
              <a:ext cx="502920" cy="38100"/>
            </a:xfrm>
            <a:custGeom>
              <a:avLst/>
              <a:gdLst/>
              <a:ahLst/>
              <a:cxnLst/>
              <a:rect l="l" t="t" r="r" b="b"/>
              <a:pathLst>
                <a:path w="502919" h="38100">
                  <a:moveTo>
                    <a:pt x="38100" y="0"/>
                  </a:moveTo>
                  <a:lnTo>
                    <a:pt x="0" y="19050"/>
                  </a:lnTo>
                  <a:lnTo>
                    <a:pt x="38100" y="38100"/>
                  </a:lnTo>
                  <a:lnTo>
                    <a:pt x="38100" y="23622"/>
                  </a:lnTo>
                  <a:lnTo>
                    <a:pt x="31750" y="23622"/>
                  </a:lnTo>
                  <a:lnTo>
                    <a:pt x="31750" y="14478"/>
                  </a:lnTo>
                  <a:lnTo>
                    <a:pt x="38100" y="14478"/>
                  </a:lnTo>
                  <a:lnTo>
                    <a:pt x="38100" y="0"/>
                  </a:lnTo>
                  <a:close/>
                </a:path>
                <a:path w="502919" h="38100">
                  <a:moveTo>
                    <a:pt x="464819" y="0"/>
                  </a:moveTo>
                  <a:lnTo>
                    <a:pt x="464819" y="38100"/>
                  </a:lnTo>
                  <a:lnTo>
                    <a:pt x="493775" y="23622"/>
                  </a:lnTo>
                  <a:lnTo>
                    <a:pt x="471169" y="23622"/>
                  </a:lnTo>
                  <a:lnTo>
                    <a:pt x="471169" y="14478"/>
                  </a:lnTo>
                  <a:lnTo>
                    <a:pt x="493776" y="14478"/>
                  </a:lnTo>
                  <a:lnTo>
                    <a:pt x="464819" y="0"/>
                  </a:lnTo>
                  <a:close/>
                </a:path>
                <a:path w="502919" h="38100">
                  <a:moveTo>
                    <a:pt x="38100" y="14478"/>
                  </a:moveTo>
                  <a:lnTo>
                    <a:pt x="31750" y="14478"/>
                  </a:lnTo>
                  <a:lnTo>
                    <a:pt x="31750" y="23622"/>
                  </a:lnTo>
                  <a:lnTo>
                    <a:pt x="38100" y="23622"/>
                  </a:lnTo>
                  <a:lnTo>
                    <a:pt x="38100" y="14478"/>
                  </a:lnTo>
                  <a:close/>
                </a:path>
                <a:path w="502919" h="38100">
                  <a:moveTo>
                    <a:pt x="464819" y="14478"/>
                  </a:moveTo>
                  <a:lnTo>
                    <a:pt x="38100" y="14478"/>
                  </a:lnTo>
                  <a:lnTo>
                    <a:pt x="38100" y="23622"/>
                  </a:lnTo>
                  <a:lnTo>
                    <a:pt x="464819" y="23622"/>
                  </a:lnTo>
                  <a:lnTo>
                    <a:pt x="464819" y="14478"/>
                  </a:lnTo>
                  <a:close/>
                </a:path>
                <a:path w="502919" h="38100">
                  <a:moveTo>
                    <a:pt x="493776" y="14478"/>
                  </a:moveTo>
                  <a:lnTo>
                    <a:pt x="471169" y="14478"/>
                  </a:lnTo>
                  <a:lnTo>
                    <a:pt x="471169" y="23622"/>
                  </a:lnTo>
                  <a:lnTo>
                    <a:pt x="493775" y="23622"/>
                  </a:lnTo>
                  <a:lnTo>
                    <a:pt x="502919" y="19050"/>
                  </a:lnTo>
                  <a:lnTo>
                    <a:pt x="493776" y="14478"/>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774191" y="1808988"/>
              <a:ext cx="4748784" cy="1066799"/>
            </a:xfrm>
            <a:prstGeom prst="rect">
              <a:avLst/>
            </a:prstGeom>
          </p:spPr>
        </p:pic>
        <p:sp>
          <p:nvSpPr>
            <p:cNvPr id="6" name="object 6"/>
            <p:cNvSpPr/>
            <p:nvPr/>
          </p:nvSpPr>
          <p:spPr>
            <a:xfrm>
              <a:off x="1790700" y="2193036"/>
              <a:ext cx="504825" cy="1005840"/>
            </a:xfrm>
            <a:custGeom>
              <a:avLst/>
              <a:gdLst/>
              <a:ahLst/>
              <a:cxnLst/>
              <a:rect l="l" t="t" r="r" b="b"/>
              <a:pathLst>
                <a:path w="504825" h="1005839">
                  <a:moveTo>
                    <a:pt x="504444" y="0"/>
                  </a:moveTo>
                  <a:lnTo>
                    <a:pt x="504444" y="1005840"/>
                  </a:lnTo>
                </a:path>
                <a:path w="504825" h="1005839">
                  <a:moveTo>
                    <a:pt x="0" y="0"/>
                  </a:moveTo>
                  <a:lnTo>
                    <a:pt x="0" y="1005840"/>
                  </a:lnTo>
                </a:path>
              </a:pathLst>
            </a:custGeom>
            <a:ln w="6096">
              <a:solidFill>
                <a:srgbClr val="000000"/>
              </a:solidFill>
              <a:prstDash val="sysDot"/>
            </a:ln>
          </p:spPr>
          <p:txBody>
            <a:bodyPr wrap="square" lIns="0" tIns="0" rIns="0" bIns="0" rtlCol="0"/>
            <a:lstStyle/>
            <a:p>
              <a:endParaRPr/>
            </a:p>
          </p:txBody>
        </p:sp>
      </p:grpSp>
      <p:grpSp>
        <p:nvGrpSpPr>
          <p:cNvPr id="7" name="object 7"/>
          <p:cNvGrpSpPr/>
          <p:nvPr/>
        </p:nvGrpSpPr>
        <p:grpSpPr>
          <a:xfrm>
            <a:off x="381000" y="4844796"/>
            <a:ext cx="6096000" cy="3429000"/>
            <a:chOff x="381000" y="4844796"/>
            <a:chExt cx="6096000" cy="3429000"/>
          </a:xfrm>
        </p:grpSpPr>
        <p:sp>
          <p:nvSpPr>
            <p:cNvPr id="8" name="object 8"/>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9" name="object 9"/>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0" name="object 10"/>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1" name="object 11"/>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Latch</a:t>
            </a:r>
            <a:endParaRPr sz="2200">
              <a:latin typeface="Georgia"/>
              <a:cs typeface="Georgia"/>
            </a:endParaRPr>
          </a:p>
        </p:txBody>
      </p:sp>
      <p:grpSp>
        <p:nvGrpSpPr>
          <p:cNvPr id="12" name="object 12"/>
          <p:cNvGrpSpPr/>
          <p:nvPr/>
        </p:nvGrpSpPr>
        <p:grpSpPr>
          <a:xfrm>
            <a:off x="984503" y="5894832"/>
            <a:ext cx="4810125" cy="1508760"/>
            <a:chOff x="984503" y="5894832"/>
            <a:chExt cx="4810125" cy="1508760"/>
          </a:xfrm>
        </p:grpSpPr>
        <p:pic>
          <p:nvPicPr>
            <p:cNvPr id="13" name="object 13"/>
            <p:cNvPicPr/>
            <p:nvPr/>
          </p:nvPicPr>
          <p:blipFill>
            <a:blip r:embed="rId3" cstate="print"/>
            <a:stretch>
              <a:fillRect/>
            </a:stretch>
          </p:blipFill>
          <p:spPr>
            <a:xfrm>
              <a:off x="3083052" y="5894832"/>
              <a:ext cx="2711196" cy="1508759"/>
            </a:xfrm>
            <a:prstGeom prst="rect">
              <a:avLst/>
            </a:prstGeom>
          </p:spPr>
        </p:pic>
        <p:pic>
          <p:nvPicPr>
            <p:cNvPr id="14" name="object 14"/>
            <p:cNvPicPr/>
            <p:nvPr/>
          </p:nvPicPr>
          <p:blipFill>
            <a:blip r:embed="rId4" cstate="print"/>
            <a:stretch>
              <a:fillRect/>
            </a:stretch>
          </p:blipFill>
          <p:spPr>
            <a:xfrm>
              <a:off x="984503" y="6192012"/>
              <a:ext cx="1286256" cy="914400"/>
            </a:xfrm>
            <a:prstGeom prst="rect">
              <a:avLst/>
            </a:prstGeom>
          </p:spPr>
        </p:pic>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Register</a:t>
            </a:r>
            <a:endParaRPr sz="2200">
              <a:latin typeface="Georgia"/>
              <a:cs typeface="Georgia"/>
            </a:endParaRPr>
          </a:p>
        </p:txBody>
      </p:sp>
      <p:grpSp>
        <p:nvGrpSpPr>
          <p:cNvPr id="3" name="object 3"/>
          <p:cNvGrpSpPr/>
          <p:nvPr/>
        </p:nvGrpSpPr>
        <p:grpSpPr>
          <a:xfrm>
            <a:off x="608076" y="1606296"/>
            <a:ext cx="5710555" cy="2493645"/>
            <a:chOff x="608076" y="1606296"/>
            <a:chExt cx="5710555" cy="2493645"/>
          </a:xfrm>
        </p:grpSpPr>
        <p:pic>
          <p:nvPicPr>
            <p:cNvPr id="4" name="object 4"/>
            <p:cNvPicPr/>
            <p:nvPr/>
          </p:nvPicPr>
          <p:blipFill>
            <a:blip r:embed="rId2" cstate="print"/>
            <a:stretch>
              <a:fillRect/>
            </a:stretch>
          </p:blipFill>
          <p:spPr>
            <a:xfrm>
              <a:off x="1441704" y="2270760"/>
              <a:ext cx="4876800" cy="1828800"/>
            </a:xfrm>
            <a:prstGeom prst="rect">
              <a:avLst/>
            </a:prstGeom>
          </p:spPr>
        </p:pic>
        <p:pic>
          <p:nvPicPr>
            <p:cNvPr id="5" name="object 5"/>
            <p:cNvPicPr/>
            <p:nvPr/>
          </p:nvPicPr>
          <p:blipFill>
            <a:blip r:embed="rId3" cstate="print"/>
            <a:stretch>
              <a:fillRect/>
            </a:stretch>
          </p:blipFill>
          <p:spPr>
            <a:xfrm>
              <a:off x="608076" y="1606296"/>
              <a:ext cx="964692" cy="640079"/>
            </a:xfrm>
            <a:prstGeom prst="rect">
              <a:avLst/>
            </a:prstGeom>
          </p:spPr>
        </p:pic>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Register</a:t>
            </a:r>
            <a:r>
              <a:rPr sz="2200" spc="-50" dirty="0">
                <a:latin typeface="Georgia"/>
                <a:cs typeface="Georgia"/>
              </a:rPr>
              <a:t> </a:t>
            </a:r>
            <a:r>
              <a:rPr sz="2200" spc="-10" dirty="0">
                <a:latin typeface="Georgia"/>
                <a:cs typeface="Georgia"/>
              </a:rPr>
              <a:t>Parameters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1525"/>
              </a:spcBef>
            </a:pPr>
            <a:endParaRPr sz="2200">
              <a:latin typeface="Georgia"/>
              <a:cs typeface="Georgia"/>
            </a:endParaRPr>
          </a:p>
          <a:p>
            <a:pPr marL="434975" indent="-172720">
              <a:lnSpc>
                <a:spcPct val="100000"/>
              </a:lnSpc>
              <a:spcBef>
                <a:spcPts val="5"/>
              </a:spcBef>
              <a:buFont typeface="Wingdings"/>
              <a:buChar char=""/>
              <a:tabLst>
                <a:tab pos="434975" algn="l"/>
              </a:tabLst>
            </a:pPr>
            <a:r>
              <a:rPr sz="1200" b="1" i="1" dirty="0">
                <a:solidFill>
                  <a:srgbClr val="3E762B"/>
                </a:solidFill>
                <a:latin typeface="Times New Roman"/>
                <a:cs typeface="Times New Roman"/>
              </a:rPr>
              <a:t>t</a:t>
            </a:r>
            <a:r>
              <a:rPr sz="1200" b="1" baseline="-20833" dirty="0">
                <a:solidFill>
                  <a:srgbClr val="3E762B"/>
                </a:solidFill>
                <a:latin typeface="Times New Roman"/>
                <a:cs typeface="Times New Roman"/>
              </a:rPr>
              <a:t>cq</a:t>
            </a:r>
            <a:r>
              <a:rPr sz="1200" b="1" spc="89" baseline="-20833" dirty="0">
                <a:solidFill>
                  <a:srgbClr val="3E762B"/>
                </a:solidFill>
                <a:latin typeface="Times New Roman"/>
                <a:cs typeface="Times New Roman"/>
              </a:rPr>
              <a:t> </a:t>
            </a:r>
            <a:r>
              <a:rPr sz="1200" b="1" dirty="0">
                <a:solidFill>
                  <a:srgbClr val="3E762B"/>
                </a:solidFill>
                <a:latin typeface="Times New Roman"/>
                <a:cs typeface="Times New Roman"/>
              </a:rPr>
              <a:t>:</a:t>
            </a:r>
            <a:r>
              <a:rPr sz="1200" b="1" spc="-45" dirty="0">
                <a:solidFill>
                  <a:srgbClr val="3E762B"/>
                </a:solidFill>
                <a:latin typeface="Times New Roman"/>
                <a:cs typeface="Times New Roman"/>
              </a:rPr>
              <a:t> </a:t>
            </a:r>
            <a:r>
              <a:rPr sz="1200" spc="-10" dirty="0">
                <a:latin typeface="Times New Roman"/>
                <a:cs typeface="Times New Roman"/>
              </a:rPr>
              <a:t>Time</a:t>
            </a:r>
            <a:r>
              <a:rPr sz="1200" spc="-30" dirty="0">
                <a:latin typeface="Times New Roman"/>
                <a:cs typeface="Times New Roman"/>
              </a:rPr>
              <a:t> </a:t>
            </a:r>
            <a:r>
              <a:rPr sz="1200" dirty="0">
                <a:latin typeface="Times New Roman"/>
                <a:cs typeface="Times New Roman"/>
              </a:rPr>
              <a:t>after</a:t>
            </a:r>
            <a:r>
              <a:rPr sz="1200" spc="-15"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clock</a:t>
            </a:r>
            <a:r>
              <a:rPr sz="1200" spc="-20" dirty="0">
                <a:latin typeface="Times New Roman"/>
                <a:cs typeface="Times New Roman"/>
              </a:rPr>
              <a:t> </a:t>
            </a:r>
            <a:r>
              <a:rPr sz="1200" dirty="0">
                <a:latin typeface="Times New Roman"/>
                <a:cs typeface="Times New Roman"/>
              </a:rPr>
              <a:t>edge</a:t>
            </a:r>
            <a:r>
              <a:rPr sz="1200" spc="-20" dirty="0">
                <a:latin typeface="Times New Roman"/>
                <a:cs typeface="Times New Roman"/>
              </a:rPr>
              <a:t> </a:t>
            </a:r>
            <a:r>
              <a:rPr sz="1200" dirty="0">
                <a:latin typeface="Times New Roman"/>
                <a:cs typeface="Times New Roman"/>
              </a:rPr>
              <a:t>for</a:t>
            </a:r>
            <a:r>
              <a:rPr sz="1200" spc="-2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propagate</a:t>
            </a:r>
            <a:r>
              <a:rPr sz="1200" spc="-10" dirty="0">
                <a:latin typeface="Times New Roman"/>
                <a:cs typeface="Times New Roman"/>
              </a:rPr>
              <a:t> </a:t>
            </a:r>
            <a:r>
              <a:rPr sz="1200" dirty="0">
                <a:latin typeface="Times New Roman"/>
                <a:cs typeface="Times New Roman"/>
              </a:rPr>
              <a:t>from</a:t>
            </a:r>
            <a:r>
              <a:rPr sz="1200" spc="-15" dirty="0">
                <a:latin typeface="Times New Roman"/>
                <a:cs typeface="Times New Roman"/>
              </a:rPr>
              <a:t> </a:t>
            </a:r>
            <a:r>
              <a:rPr sz="1200" dirty="0">
                <a:latin typeface="Times New Roman"/>
                <a:cs typeface="Times New Roman"/>
              </a:rPr>
              <a:t>D</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Q.</a:t>
            </a:r>
            <a:endParaRPr sz="1200">
              <a:latin typeface="Times New Roman"/>
              <a:cs typeface="Times New Roman"/>
            </a:endParaRPr>
          </a:p>
          <a:p>
            <a:pPr>
              <a:lnSpc>
                <a:spcPct val="100000"/>
              </a:lnSpc>
              <a:spcBef>
                <a:spcPts val="1175"/>
              </a:spcBef>
              <a:buClr>
                <a:srgbClr val="3E762B"/>
              </a:buClr>
              <a:buFont typeface="Wingdings"/>
              <a:buChar char=""/>
            </a:pPr>
            <a:endParaRPr sz="1200">
              <a:latin typeface="Times New Roman"/>
              <a:cs typeface="Times New Roman"/>
            </a:endParaRPr>
          </a:p>
          <a:p>
            <a:pPr marL="441325" indent="-179070">
              <a:lnSpc>
                <a:spcPct val="100000"/>
              </a:lnSpc>
              <a:buFont typeface="Wingdings"/>
              <a:buChar char=""/>
              <a:tabLst>
                <a:tab pos="441325" algn="l"/>
              </a:tabLst>
            </a:pPr>
            <a:r>
              <a:rPr sz="1200" b="1" dirty="0">
                <a:solidFill>
                  <a:srgbClr val="3E762B"/>
                </a:solidFill>
                <a:latin typeface="Times New Roman"/>
                <a:cs typeface="Times New Roman"/>
              </a:rPr>
              <a:t>Setup</a:t>
            </a:r>
            <a:r>
              <a:rPr sz="1200" b="1" spc="-30" dirty="0">
                <a:solidFill>
                  <a:srgbClr val="3E762B"/>
                </a:solidFill>
                <a:latin typeface="Times New Roman"/>
                <a:cs typeface="Times New Roman"/>
              </a:rPr>
              <a:t> </a:t>
            </a:r>
            <a:r>
              <a:rPr sz="1200" b="1" dirty="0">
                <a:solidFill>
                  <a:srgbClr val="3E762B"/>
                </a:solidFill>
                <a:latin typeface="Times New Roman"/>
                <a:cs typeface="Times New Roman"/>
              </a:rPr>
              <a:t>time</a:t>
            </a:r>
            <a:r>
              <a:rPr sz="1200" dirty="0">
                <a:latin typeface="Times New Roman"/>
                <a:cs typeface="Times New Roman"/>
              </a:rPr>
              <a:t>:</a:t>
            </a:r>
            <a:r>
              <a:rPr sz="1200" spc="-35" dirty="0">
                <a:latin typeface="Times New Roman"/>
                <a:cs typeface="Times New Roman"/>
              </a:rPr>
              <a:t> </a:t>
            </a:r>
            <a:r>
              <a:rPr sz="1200" spc="-10" dirty="0">
                <a:latin typeface="Times New Roman"/>
                <a:cs typeface="Times New Roman"/>
              </a:rPr>
              <a:t>Time</a:t>
            </a:r>
            <a:r>
              <a:rPr sz="1200" spc="-3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must</a:t>
            </a:r>
            <a:r>
              <a:rPr sz="1200" spc="-40" dirty="0">
                <a:latin typeface="Times New Roman"/>
                <a:cs typeface="Times New Roman"/>
              </a:rPr>
              <a:t> </a:t>
            </a:r>
            <a:r>
              <a:rPr sz="1200" dirty="0">
                <a:latin typeface="Times New Roman"/>
                <a:cs typeface="Times New Roman"/>
              </a:rPr>
              <a:t>be</a:t>
            </a:r>
            <a:r>
              <a:rPr sz="1200" spc="-20" dirty="0">
                <a:latin typeface="Times New Roman"/>
                <a:cs typeface="Times New Roman"/>
              </a:rPr>
              <a:t> </a:t>
            </a:r>
            <a:r>
              <a:rPr sz="1200" dirty="0">
                <a:latin typeface="Times New Roman"/>
                <a:cs typeface="Times New Roman"/>
              </a:rPr>
              <a:t>stable</a:t>
            </a:r>
            <a:r>
              <a:rPr sz="1200" spc="-35" dirty="0">
                <a:latin typeface="Times New Roman"/>
                <a:cs typeface="Times New Roman"/>
              </a:rPr>
              <a:t> </a:t>
            </a:r>
            <a:r>
              <a:rPr sz="1200" dirty="0">
                <a:latin typeface="Times New Roman"/>
                <a:cs typeface="Times New Roman"/>
              </a:rPr>
              <a:t>at</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input</a:t>
            </a:r>
            <a:r>
              <a:rPr sz="1200" spc="-35" dirty="0">
                <a:latin typeface="Times New Roman"/>
                <a:cs typeface="Times New Roman"/>
              </a:rPr>
              <a:t> </a:t>
            </a:r>
            <a:r>
              <a:rPr sz="1200" dirty="0">
                <a:latin typeface="Times New Roman"/>
                <a:cs typeface="Times New Roman"/>
              </a:rPr>
              <a:t>before</a:t>
            </a:r>
            <a:r>
              <a:rPr sz="1200" spc="-1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dirty="0">
                <a:latin typeface="Times New Roman"/>
                <a:cs typeface="Times New Roman"/>
              </a:rPr>
              <a:t>edge</a:t>
            </a:r>
            <a:r>
              <a:rPr sz="1200" spc="-25" dirty="0">
                <a:latin typeface="Times New Roman"/>
                <a:cs typeface="Times New Roman"/>
              </a:rPr>
              <a:t> </a:t>
            </a:r>
            <a:r>
              <a:rPr sz="1200" spc="-10" dirty="0">
                <a:latin typeface="Times New Roman"/>
                <a:cs typeface="Times New Roman"/>
              </a:rPr>
              <a:t>comes.</a:t>
            </a:r>
            <a:endParaRPr sz="1200">
              <a:latin typeface="Times New Roman"/>
              <a:cs typeface="Times New Roman"/>
            </a:endParaRPr>
          </a:p>
          <a:p>
            <a:pPr>
              <a:lnSpc>
                <a:spcPct val="100000"/>
              </a:lnSpc>
              <a:spcBef>
                <a:spcPts val="1165"/>
              </a:spcBef>
              <a:buClr>
                <a:srgbClr val="3E762B"/>
              </a:buClr>
              <a:buFont typeface="Wingdings"/>
              <a:buChar char=""/>
            </a:pPr>
            <a:endParaRPr sz="1200">
              <a:latin typeface="Times New Roman"/>
              <a:cs typeface="Times New Roman"/>
            </a:endParaRPr>
          </a:p>
          <a:p>
            <a:pPr marL="441325" indent="-179070">
              <a:lnSpc>
                <a:spcPct val="100000"/>
              </a:lnSpc>
              <a:buFont typeface="Wingdings"/>
              <a:buChar char=""/>
              <a:tabLst>
                <a:tab pos="441325" algn="l"/>
              </a:tabLst>
            </a:pPr>
            <a:r>
              <a:rPr sz="1200" b="1" dirty="0">
                <a:solidFill>
                  <a:srgbClr val="3E762B"/>
                </a:solidFill>
                <a:latin typeface="Times New Roman"/>
                <a:cs typeface="Times New Roman"/>
              </a:rPr>
              <a:t>Hold</a:t>
            </a:r>
            <a:r>
              <a:rPr sz="1200" b="1" spc="-40" dirty="0">
                <a:solidFill>
                  <a:srgbClr val="3E762B"/>
                </a:solidFill>
                <a:latin typeface="Times New Roman"/>
                <a:cs typeface="Times New Roman"/>
              </a:rPr>
              <a:t> </a:t>
            </a:r>
            <a:r>
              <a:rPr sz="1200" b="1" dirty="0">
                <a:solidFill>
                  <a:srgbClr val="3E762B"/>
                </a:solidFill>
                <a:latin typeface="Times New Roman"/>
                <a:cs typeface="Times New Roman"/>
              </a:rPr>
              <a:t>time:</a:t>
            </a:r>
            <a:r>
              <a:rPr sz="1200" b="1" spc="-5" dirty="0">
                <a:solidFill>
                  <a:srgbClr val="3E762B"/>
                </a:solidFill>
                <a:latin typeface="Times New Roman"/>
                <a:cs typeface="Times New Roman"/>
              </a:rPr>
              <a:t> </a:t>
            </a:r>
            <a:r>
              <a:rPr sz="1200" spc="-10" dirty="0">
                <a:latin typeface="Times New Roman"/>
                <a:cs typeface="Times New Roman"/>
              </a:rPr>
              <a:t>Time</a:t>
            </a:r>
            <a:r>
              <a:rPr sz="1200" spc="-35" dirty="0">
                <a:latin typeface="Times New Roman"/>
                <a:cs typeface="Times New Roman"/>
              </a:rPr>
              <a:t> </a:t>
            </a:r>
            <a:r>
              <a:rPr sz="1200" dirty="0">
                <a:latin typeface="Times New Roman"/>
                <a:cs typeface="Times New Roman"/>
              </a:rPr>
              <a:t>data</a:t>
            </a:r>
            <a:r>
              <a:rPr sz="1200" spc="-25" dirty="0">
                <a:latin typeface="Times New Roman"/>
                <a:cs typeface="Times New Roman"/>
              </a:rPr>
              <a:t> </a:t>
            </a:r>
            <a:r>
              <a:rPr sz="1200" dirty="0">
                <a:latin typeface="Times New Roman"/>
                <a:cs typeface="Times New Roman"/>
              </a:rPr>
              <a:t>must</a:t>
            </a:r>
            <a:r>
              <a:rPr sz="1200" spc="-40" dirty="0">
                <a:latin typeface="Times New Roman"/>
                <a:cs typeface="Times New Roman"/>
              </a:rPr>
              <a:t> </a:t>
            </a:r>
            <a:r>
              <a:rPr sz="1200" dirty="0">
                <a:latin typeface="Times New Roman"/>
                <a:cs typeface="Times New Roman"/>
              </a:rPr>
              <a:t>be</a:t>
            </a:r>
            <a:r>
              <a:rPr sz="1200" spc="-35" dirty="0">
                <a:latin typeface="Times New Roman"/>
                <a:cs typeface="Times New Roman"/>
              </a:rPr>
              <a:t> </a:t>
            </a:r>
            <a:r>
              <a:rPr sz="1200" dirty="0">
                <a:latin typeface="Times New Roman"/>
                <a:cs typeface="Times New Roman"/>
              </a:rPr>
              <a:t>held</a:t>
            </a:r>
            <a:r>
              <a:rPr sz="1200" spc="-25" dirty="0">
                <a:latin typeface="Times New Roman"/>
                <a:cs typeface="Times New Roman"/>
              </a:rPr>
              <a:t> </a:t>
            </a:r>
            <a:r>
              <a:rPr sz="1200" dirty="0">
                <a:latin typeface="Times New Roman"/>
                <a:cs typeface="Times New Roman"/>
              </a:rPr>
              <a:t>stable</a:t>
            </a:r>
            <a:r>
              <a:rPr sz="1200" spc="-30" dirty="0">
                <a:latin typeface="Times New Roman"/>
                <a:cs typeface="Times New Roman"/>
              </a:rPr>
              <a:t> </a:t>
            </a:r>
            <a:r>
              <a:rPr sz="1200" dirty="0">
                <a:latin typeface="Times New Roman"/>
                <a:cs typeface="Times New Roman"/>
              </a:rPr>
              <a:t>at</a:t>
            </a:r>
            <a:r>
              <a:rPr sz="1200" spc="-30" dirty="0">
                <a:latin typeface="Times New Roman"/>
                <a:cs typeface="Times New Roman"/>
              </a:rPr>
              <a:t> </a:t>
            </a:r>
            <a:r>
              <a:rPr sz="1200" dirty="0">
                <a:latin typeface="Times New Roman"/>
                <a:cs typeface="Times New Roman"/>
              </a:rPr>
              <a:t>input</a:t>
            </a:r>
            <a:r>
              <a:rPr sz="1200" spc="-35"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dirty="0">
                <a:latin typeface="Times New Roman"/>
                <a:cs typeface="Times New Roman"/>
              </a:rPr>
              <a:t>edge</a:t>
            </a:r>
            <a:r>
              <a:rPr sz="1200" spc="-15" dirty="0">
                <a:latin typeface="Times New Roman"/>
                <a:cs typeface="Times New Roman"/>
              </a:rPr>
              <a:t> </a:t>
            </a:r>
            <a:r>
              <a:rPr sz="1200" spc="-10" dirty="0">
                <a:latin typeface="Times New Roman"/>
                <a:cs typeface="Times New Roman"/>
              </a:rPr>
              <a:t>comes.</a:t>
            </a:r>
            <a:endParaRPr sz="1200">
              <a:latin typeface="Times New Roman"/>
              <a:cs typeface="Times New Roman"/>
            </a:endParaRPr>
          </a:p>
        </p:txBody>
      </p:sp>
      <p:pic>
        <p:nvPicPr>
          <p:cNvPr id="11" name="object 11"/>
          <p:cNvPicPr/>
          <p:nvPr/>
        </p:nvPicPr>
        <p:blipFill>
          <a:blip r:embed="rId3" cstate="print"/>
          <a:stretch>
            <a:fillRect/>
          </a:stretch>
        </p:blipFill>
        <p:spPr>
          <a:xfrm>
            <a:off x="4924044" y="5625084"/>
            <a:ext cx="1280160" cy="850391"/>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974598" y="1855469"/>
              <a:ext cx="4596765" cy="1943100"/>
            </a:xfrm>
            <a:custGeom>
              <a:avLst/>
              <a:gdLst/>
              <a:ahLst/>
              <a:cxnLst/>
              <a:rect l="l" t="t" r="r" b="b"/>
              <a:pathLst>
                <a:path w="4596765" h="1943100">
                  <a:moveTo>
                    <a:pt x="0" y="1132331"/>
                  </a:moveTo>
                  <a:lnTo>
                    <a:pt x="207264" y="1132331"/>
                  </a:lnTo>
                </a:path>
                <a:path w="4596765" h="1943100">
                  <a:moveTo>
                    <a:pt x="207264" y="1132331"/>
                  </a:moveTo>
                  <a:lnTo>
                    <a:pt x="207264" y="832103"/>
                  </a:lnTo>
                </a:path>
                <a:path w="4596765" h="1943100">
                  <a:moveTo>
                    <a:pt x="207264" y="832103"/>
                  </a:moveTo>
                  <a:lnTo>
                    <a:pt x="620268" y="832103"/>
                  </a:lnTo>
                </a:path>
                <a:path w="4596765" h="1943100">
                  <a:moveTo>
                    <a:pt x="620268" y="1132331"/>
                  </a:moveTo>
                  <a:lnTo>
                    <a:pt x="620268" y="832103"/>
                  </a:lnTo>
                </a:path>
                <a:path w="4596765" h="1943100">
                  <a:moveTo>
                    <a:pt x="620268" y="1132331"/>
                  </a:moveTo>
                  <a:lnTo>
                    <a:pt x="4596384" y="1132331"/>
                  </a:lnTo>
                </a:path>
                <a:path w="4596765" h="1943100">
                  <a:moveTo>
                    <a:pt x="0" y="1943100"/>
                  </a:moveTo>
                  <a:lnTo>
                    <a:pt x="722376" y="1943100"/>
                  </a:lnTo>
                </a:path>
                <a:path w="4596765" h="1943100">
                  <a:moveTo>
                    <a:pt x="722376" y="1943100"/>
                  </a:moveTo>
                  <a:lnTo>
                    <a:pt x="722376" y="1644395"/>
                  </a:lnTo>
                </a:path>
                <a:path w="4596765" h="1943100">
                  <a:moveTo>
                    <a:pt x="722376" y="1644395"/>
                  </a:moveTo>
                  <a:lnTo>
                    <a:pt x="929640" y="1644395"/>
                  </a:lnTo>
                </a:path>
                <a:path w="4596765" h="1943100">
                  <a:moveTo>
                    <a:pt x="929640" y="1644395"/>
                  </a:moveTo>
                  <a:lnTo>
                    <a:pt x="1239012" y="1644395"/>
                  </a:lnTo>
                </a:path>
                <a:path w="4596765" h="1943100">
                  <a:moveTo>
                    <a:pt x="1239012" y="1644395"/>
                  </a:moveTo>
                  <a:lnTo>
                    <a:pt x="3150107" y="1644395"/>
                  </a:lnTo>
                </a:path>
                <a:path w="4596765" h="1943100">
                  <a:moveTo>
                    <a:pt x="3150107" y="1943100"/>
                  </a:moveTo>
                  <a:lnTo>
                    <a:pt x="3150107" y="1644395"/>
                  </a:lnTo>
                </a:path>
                <a:path w="4596765" h="1943100">
                  <a:moveTo>
                    <a:pt x="51815" y="298703"/>
                  </a:moveTo>
                  <a:lnTo>
                    <a:pt x="413004" y="298703"/>
                  </a:lnTo>
                </a:path>
                <a:path w="4596765" h="1943100">
                  <a:moveTo>
                    <a:pt x="413004" y="298703"/>
                  </a:moveTo>
                  <a:lnTo>
                    <a:pt x="413004" y="0"/>
                  </a:lnTo>
                </a:path>
                <a:path w="4596765" h="1943100">
                  <a:moveTo>
                    <a:pt x="413004" y="0"/>
                  </a:moveTo>
                  <a:lnTo>
                    <a:pt x="1652015" y="0"/>
                  </a:lnTo>
                </a:path>
                <a:path w="4596765" h="1943100">
                  <a:moveTo>
                    <a:pt x="1652015" y="298703"/>
                  </a:moveTo>
                  <a:lnTo>
                    <a:pt x="1652015" y="0"/>
                  </a:lnTo>
                </a:path>
                <a:path w="4596765" h="1943100">
                  <a:moveTo>
                    <a:pt x="1652015" y="298703"/>
                  </a:moveTo>
                  <a:lnTo>
                    <a:pt x="2891028" y="298703"/>
                  </a:lnTo>
                </a:path>
                <a:path w="4596765" h="1943100">
                  <a:moveTo>
                    <a:pt x="2891028" y="298703"/>
                  </a:moveTo>
                  <a:lnTo>
                    <a:pt x="2891028" y="0"/>
                  </a:lnTo>
                </a:path>
                <a:path w="4596765" h="1943100">
                  <a:moveTo>
                    <a:pt x="2891028" y="0"/>
                  </a:moveTo>
                  <a:lnTo>
                    <a:pt x="4131564" y="0"/>
                  </a:lnTo>
                </a:path>
                <a:path w="4596765" h="1943100">
                  <a:moveTo>
                    <a:pt x="4131564" y="298703"/>
                  </a:moveTo>
                  <a:lnTo>
                    <a:pt x="4131564" y="0"/>
                  </a:lnTo>
                </a:path>
                <a:path w="4596765" h="1943100">
                  <a:moveTo>
                    <a:pt x="4131564" y="298703"/>
                  </a:moveTo>
                  <a:lnTo>
                    <a:pt x="4596384" y="298703"/>
                  </a:lnTo>
                </a:path>
                <a:path w="4596765" h="1943100">
                  <a:moveTo>
                    <a:pt x="3150107" y="1943100"/>
                  </a:moveTo>
                  <a:lnTo>
                    <a:pt x="4596384" y="1943100"/>
                  </a:lnTo>
                </a:path>
              </a:pathLst>
            </a:custGeom>
            <a:ln w="13716">
              <a:solidFill>
                <a:srgbClr val="000000"/>
              </a:solidFill>
            </a:ln>
          </p:spPr>
          <p:txBody>
            <a:bodyPr wrap="square" lIns="0" tIns="0" rIns="0" bIns="0" rtlCol="0"/>
            <a:lstStyle/>
            <a:p>
              <a:endParaRPr/>
            </a:p>
          </p:txBody>
        </p:sp>
        <p:sp>
          <p:nvSpPr>
            <p:cNvPr id="4" name="object 4"/>
            <p:cNvSpPr/>
            <p:nvPr/>
          </p:nvSpPr>
          <p:spPr>
            <a:xfrm>
              <a:off x="1388363" y="3868674"/>
              <a:ext cx="306705" cy="38100"/>
            </a:xfrm>
            <a:custGeom>
              <a:avLst/>
              <a:gdLst/>
              <a:ahLst/>
              <a:cxnLst/>
              <a:rect l="l" t="t" r="r" b="b"/>
              <a:pathLst>
                <a:path w="306705" h="38100">
                  <a:moveTo>
                    <a:pt x="38100" y="0"/>
                  </a:moveTo>
                  <a:lnTo>
                    <a:pt x="0" y="19050"/>
                  </a:lnTo>
                  <a:lnTo>
                    <a:pt x="38100" y="38100"/>
                  </a:lnTo>
                  <a:lnTo>
                    <a:pt x="38100" y="23622"/>
                  </a:lnTo>
                  <a:lnTo>
                    <a:pt x="31750" y="23622"/>
                  </a:lnTo>
                  <a:lnTo>
                    <a:pt x="31750" y="14477"/>
                  </a:lnTo>
                  <a:lnTo>
                    <a:pt x="38100" y="14477"/>
                  </a:lnTo>
                  <a:lnTo>
                    <a:pt x="38100" y="0"/>
                  </a:lnTo>
                  <a:close/>
                </a:path>
                <a:path w="306705" h="38100">
                  <a:moveTo>
                    <a:pt x="268224" y="0"/>
                  </a:moveTo>
                  <a:lnTo>
                    <a:pt x="268224" y="38100"/>
                  </a:lnTo>
                  <a:lnTo>
                    <a:pt x="297179" y="23622"/>
                  </a:lnTo>
                  <a:lnTo>
                    <a:pt x="274574" y="23622"/>
                  </a:lnTo>
                  <a:lnTo>
                    <a:pt x="274574" y="14477"/>
                  </a:lnTo>
                  <a:lnTo>
                    <a:pt x="297179" y="14477"/>
                  </a:lnTo>
                  <a:lnTo>
                    <a:pt x="268224" y="0"/>
                  </a:lnTo>
                  <a:close/>
                </a:path>
                <a:path w="306705" h="38100">
                  <a:moveTo>
                    <a:pt x="38100" y="14477"/>
                  </a:moveTo>
                  <a:lnTo>
                    <a:pt x="31750" y="14477"/>
                  </a:lnTo>
                  <a:lnTo>
                    <a:pt x="31750" y="23622"/>
                  </a:lnTo>
                  <a:lnTo>
                    <a:pt x="38100" y="23622"/>
                  </a:lnTo>
                  <a:lnTo>
                    <a:pt x="38100" y="14477"/>
                  </a:lnTo>
                  <a:close/>
                </a:path>
                <a:path w="306705" h="38100">
                  <a:moveTo>
                    <a:pt x="268224" y="14477"/>
                  </a:moveTo>
                  <a:lnTo>
                    <a:pt x="38100" y="14477"/>
                  </a:lnTo>
                  <a:lnTo>
                    <a:pt x="38100" y="23622"/>
                  </a:lnTo>
                  <a:lnTo>
                    <a:pt x="268224" y="23622"/>
                  </a:lnTo>
                  <a:lnTo>
                    <a:pt x="268224" y="14477"/>
                  </a:lnTo>
                  <a:close/>
                </a:path>
                <a:path w="306705" h="38100">
                  <a:moveTo>
                    <a:pt x="297179" y="14477"/>
                  </a:moveTo>
                  <a:lnTo>
                    <a:pt x="274574" y="14477"/>
                  </a:lnTo>
                  <a:lnTo>
                    <a:pt x="274574" y="23622"/>
                  </a:lnTo>
                  <a:lnTo>
                    <a:pt x="297179" y="23622"/>
                  </a:lnTo>
                  <a:lnTo>
                    <a:pt x="306324" y="19050"/>
                  </a:lnTo>
                  <a:lnTo>
                    <a:pt x="297179" y="14477"/>
                  </a:lnTo>
                  <a:close/>
                </a:path>
              </a:pathLst>
            </a:custGeom>
            <a:solidFill>
              <a:srgbClr val="000000"/>
            </a:solidFill>
          </p:spPr>
          <p:txBody>
            <a:bodyPr wrap="square" lIns="0" tIns="0" rIns="0" bIns="0" rtlCol="0"/>
            <a:lstStyle/>
            <a:p>
              <a:endParaRPr/>
            </a:p>
          </p:txBody>
        </p:sp>
        <p:sp>
          <p:nvSpPr>
            <p:cNvPr id="5" name="object 5"/>
            <p:cNvSpPr/>
            <p:nvPr/>
          </p:nvSpPr>
          <p:spPr>
            <a:xfrm>
              <a:off x="1385316" y="1900427"/>
              <a:ext cx="0" cy="2194560"/>
            </a:xfrm>
            <a:custGeom>
              <a:avLst/>
              <a:gdLst/>
              <a:ahLst/>
              <a:cxnLst/>
              <a:rect l="l" t="t" r="r" b="b"/>
              <a:pathLst>
                <a:path h="2194560">
                  <a:moveTo>
                    <a:pt x="0" y="0"/>
                  </a:moveTo>
                  <a:lnTo>
                    <a:pt x="0" y="2194560"/>
                  </a:lnTo>
                </a:path>
              </a:pathLst>
            </a:custGeom>
            <a:ln w="9144">
              <a:solidFill>
                <a:srgbClr val="000000"/>
              </a:solidFill>
              <a:prstDash val="sysDot"/>
            </a:ln>
          </p:spPr>
          <p:txBody>
            <a:bodyPr wrap="square" lIns="0" tIns="0" rIns="0" bIns="0" rtlCol="0"/>
            <a:lstStyle/>
            <a:p>
              <a:endParaRPr/>
            </a:p>
          </p:txBody>
        </p:sp>
        <p:sp>
          <p:nvSpPr>
            <p:cNvPr id="6" name="object 6"/>
            <p:cNvSpPr/>
            <p:nvPr/>
          </p:nvSpPr>
          <p:spPr>
            <a:xfrm>
              <a:off x="1696211" y="3499103"/>
              <a:ext cx="0" cy="539750"/>
            </a:xfrm>
            <a:custGeom>
              <a:avLst/>
              <a:gdLst/>
              <a:ahLst/>
              <a:cxnLst/>
              <a:rect l="l" t="t" r="r" b="b"/>
              <a:pathLst>
                <a:path h="539750">
                  <a:moveTo>
                    <a:pt x="0" y="0"/>
                  </a:moveTo>
                  <a:lnTo>
                    <a:pt x="0" y="539496"/>
                  </a:lnTo>
                </a:path>
              </a:pathLst>
            </a:custGeom>
            <a:ln w="6096">
              <a:solidFill>
                <a:srgbClr val="000000"/>
              </a:solidFill>
              <a:prstDash val="sysDot"/>
            </a:ln>
          </p:spPr>
          <p:txBody>
            <a:bodyPr wrap="square" lIns="0" tIns="0" rIns="0" bIns="0" rtlCol="0"/>
            <a:lstStyle/>
            <a:p>
              <a:endParaRPr/>
            </a:p>
          </p:txBody>
        </p:sp>
        <p:sp>
          <p:nvSpPr>
            <p:cNvPr id="7" name="object 7"/>
            <p:cNvSpPr/>
            <p:nvPr/>
          </p:nvSpPr>
          <p:spPr>
            <a:xfrm>
              <a:off x="1377696" y="1732025"/>
              <a:ext cx="2486025" cy="852169"/>
            </a:xfrm>
            <a:custGeom>
              <a:avLst/>
              <a:gdLst/>
              <a:ahLst/>
              <a:cxnLst/>
              <a:rect l="l" t="t" r="r" b="b"/>
              <a:pathLst>
                <a:path w="2486025" h="852169">
                  <a:moveTo>
                    <a:pt x="214884" y="832878"/>
                  </a:moveTo>
                  <a:lnTo>
                    <a:pt x="205727" y="828294"/>
                  </a:lnTo>
                  <a:lnTo>
                    <a:pt x="176784" y="813828"/>
                  </a:lnTo>
                  <a:lnTo>
                    <a:pt x="176784" y="828294"/>
                  </a:lnTo>
                  <a:lnTo>
                    <a:pt x="45720" y="828294"/>
                  </a:lnTo>
                  <a:lnTo>
                    <a:pt x="45720" y="813828"/>
                  </a:lnTo>
                  <a:lnTo>
                    <a:pt x="7620" y="832878"/>
                  </a:lnTo>
                  <a:lnTo>
                    <a:pt x="45720" y="851928"/>
                  </a:lnTo>
                  <a:lnTo>
                    <a:pt x="45720" y="837450"/>
                  </a:lnTo>
                  <a:lnTo>
                    <a:pt x="176784" y="837450"/>
                  </a:lnTo>
                  <a:lnTo>
                    <a:pt x="176784" y="851928"/>
                  </a:lnTo>
                  <a:lnTo>
                    <a:pt x="205727" y="837450"/>
                  </a:lnTo>
                  <a:lnTo>
                    <a:pt x="214884" y="832878"/>
                  </a:lnTo>
                  <a:close/>
                </a:path>
                <a:path w="2486025" h="852169">
                  <a:moveTo>
                    <a:pt x="1176528" y="14478"/>
                  </a:moveTo>
                  <a:lnTo>
                    <a:pt x="38100" y="14478"/>
                  </a:lnTo>
                  <a:lnTo>
                    <a:pt x="38100" y="0"/>
                  </a:lnTo>
                  <a:lnTo>
                    <a:pt x="0" y="19050"/>
                  </a:lnTo>
                  <a:lnTo>
                    <a:pt x="38100" y="38100"/>
                  </a:lnTo>
                  <a:lnTo>
                    <a:pt x="38100" y="23622"/>
                  </a:lnTo>
                  <a:lnTo>
                    <a:pt x="1176528" y="23622"/>
                  </a:lnTo>
                  <a:lnTo>
                    <a:pt x="1176528" y="14478"/>
                  </a:lnTo>
                  <a:close/>
                </a:path>
                <a:path w="2486025" h="852169">
                  <a:moveTo>
                    <a:pt x="2485644" y="19050"/>
                  </a:moveTo>
                  <a:lnTo>
                    <a:pt x="2476487" y="14478"/>
                  </a:lnTo>
                  <a:lnTo>
                    <a:pt x="2447544" y="0"/>
                  </a:lnTo>
                  <a:lnTo>
                    <a:pt x="2447544" y="14478"/>
                  </a:lnTo>
                  <a:lnTo>
                    <a:pt x="1616964" y="14478"/>
                  </a:lnTo>
                  <a:lnTo>
                    <a:pt x="1616964" y="23622"/>
                  </a:lnTo>
                  <a:lnTo>
                    <a:pt x="2447544" y="23622"/>
                  </a:lnTo>
                  <a:lnTo>
                    <a:pt x="2447544" y="38100"/>
                  </a:lnTo>
                  <a:lnTo>
                    <a:pt x="2476487" y="23622"/>
                  </a:lnTo>
                  <a:lnTo>
                    <a:pt x="2485644" y="19050"/>
                  </a:lnTo>
                  <a:close/>
                </a:path>
              </a:pathLst>
            </a:custGeom>
            <a:solidFill>
              <a:srgbClr val="000000"/>
            </a:solidFill>
          </p:spPr>
          <p:txBody>
            <a:bodyPr wrap="square" lIns="0" tIns="0" rIns="0" bIns="0" rtlCol="0"/>
            <a:lstStyle/>
            <a:p>
              <a:endParaRPr/>
            </a:p>
          </p:txBody>
        </p:sp>
      </p:grpSp>
      <p:sp>
        <p:nvSpPr>
          <p:cNvPr id="8" name="object 8"/>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Register</a:t>
            </a:r>
            <a:r>
              <a:rPr sz="2200" spc="-50" dirty="0">
                <a:latin typeface="Georgia"/>
                <a:cs typeface="Georgia"/>
              </a:rPr>
              <a:t> </a:t>
            </a:r>
            <a:r>
              <a:rPr sz="2200" spc="-10" dirty="0">
                <a:latin typeface="Georgia"/>
                <a:cs typeface="Georgia"/>
              </a:rPr>
              <a:t>Parameters</a:t>
            </a:r>
            <a:endParaRPr sz="2200">
              <a:latin typeface="Georgia"/>
              <a:cs typeface="Georgia"/>
            </a:endParaRPr>
          </a:p>
          <a:p>
            <a:pPr marR="1342390" algn="ctr">
              <a:lnSpc>
                <a:spcPct val="100000"/>
              </a:lnSpc>
              <a:spcBef>
                <a:spcPts val="1310"/>
              </a:spcBef>
            </a:pPr>
            <a:r>
              <a:rPr sz="2100" spc="-15" baseline="13888" dirty="0">
                <a:latin typeface="Times New Roman"/>
                <a:cs typeface="Times New Roman"/>
              </a:rPr>
              <a:t>T</a:t>
            </a:r>
            <a:r>
              <a:rPr sz="900" spc="-10" dirty="0">
                <a:latin typeface="Times New Roman"/>
                <a:cs typeface="Times New Roman"/>
              </a:rPr>
              <a:t>period</a:t>
            </a:r>
            <a:endParaRPr sz="900">
              <a:latin typeface="Times New Roman"/>
              <a:cs typeface="Times New Roman"/>
            </a:endParaRPr>
          </a:p>
          <a:p>
            <a:pPr>
              <a:lnSpc>
                <a:spcPct val="100000"/>
              </a:lnSpc>
              <a:spcBef>
                <a:spcPts val="525"/>
              </a:spcBef>
            </a:pPr>
            <a:endParaRPr sz="900">
              <a:latin typeface="Times New Roman"/>
              <a:cs typeface="Times New Roman"/>
            </a:endParaRPr>
          </a:p>
          <a:p>
            <a:pPr marL="243204">
              <a:lnSpc>
                <a:spcPct val="100000"/>
              </a:lnSpc>
              <a:spcBef>
                <a:spcPts val="5"/>
              </a:spcBef>
            </a:pPr>
            <a:r>
              <a:rPr sz="1400" spc="-25" dirty="0">
                <a:latin typeface="Times New Roman"/>
                <a:cs typeface="Times New Roman"/>
              </a:rPr>
              <a:t>Clk</a:t>
            </a:r>
            <a:endParaRPr sz="1400">
              <a:latin typeface="Times New Roman"/>
              <a:cs typeface="Times New Roman"/>
            </a:endParaRPr>
          </a:p>
          <a:p>
            <a:pPr>
              <a:lnSpc>
                <a:spcPct val="100000"/>
              </a:lnSpc>
              <a:spcBef>
                <a:spcPts val="275"/>
              </a:spcBef>
            </a:pPr>
            <a:endParaRPr sz="1400">
              <a:latin typeface="Times New Roman"/>
              <a:cs typeface="Times New Roman"/>
            </a:endParaRPr>
          </a:p>
          <a:p>
            <a:pPr marL="1110615">
              <a:lnSpc>
                <a:spcPct val="100000"/>
              </a:lnSpc>
            </a:pPr>
            <a:r>
              <a:rPr sz="2100" spc="-15" baseline="13888" dirty="0">
                <a:latin typeface="Times New Roman"/>
                <a:cs typeface="Times New Roman"/>
              </a:rPr>
              <a:t>t</a:t>
            </a:r>
            <a:r>
              <a:rPr sz="900" spc="-10" dirty="0">
                <a:latin typeface="Times New Roman"/>
                <a:cs typeface="Times New Roman"/>
              </a:rPr>
              <a:t>hold</a:t>
            </a:r>
            <a:endParaRPr sz="900">
              <a:latin typeface="Times New Roman"/>
              <a:cs typeface="Times New Roman"/>
            </a:endParaRPr>
          </a:p>
          <a:p>
            <a:pPr>
              <a:lnSpc>
                <a:spcPct val="100000"/>
              </a:lnSpc>
              <a:spcBef>
                <a:spcPts val="315"/>
              </a:spcBef>
            </a:pPr>
            <a:endParaRPr sz="900">
              <a:latin typeface="Times New Roman"/>
              <a:cs typeface="Times New Roman"/>
            </a:endParaRPr>
          </a:p>
          <a:p>
            <a:pPr marL="236220">
              <a:lnSpc>
                <a:spcPct val="100000"/>
              </a:lnSpc>
            </a:pPr>
            <a:r>
              <a:rPr sz="1400" spc="-50" dirty="0">
                <a:latin typeface="Times New Roman"/>
                <a:cs typeface="Times New Roman"/>
              </a:rPr>
              <a:t>D</a:t>
            </a:r>
            <a:endParaRPr sz="1400">
              <a:latin typeface="Times New Roman"/>
              <a:cs typeface="Times New Roman"/>
            </a:endParaRPr>
          </a:p>
          <a:p>
            <a:pPr marL="708660">
              <a:lnSpc>
                <a:spcPct val="100000"/>
              </a:lnSpc>
              <a:spcBef>
                <a:spcPts val="505"/>
              </a:spcBef>
            </a:pPr>
            <a:r>
              <a:rPr sz="2100" spc="-37" baseline="13888" dirty="0">
                <a:latin typeface="Times New Roman"/>
                <a:cs typeface="Times New Roman"/>
              </a:rPr>
              <a:t>t</a:t>
            </a:r>
            <a:r>
              <a:rPr sz="900" spc="-25" dirty="0">
                <a:latin typeface="Times New Roman"/>
                <a:cs typeface="Times New Roman"/>
              </a:rPr>
              <a:t>su</a:t>
            </a: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525"/>
              </a:spcBef>
            </a:pPr>
            <a:endParaRPr sz="900">
              <a:latin typeface="Times New Roman"/>
              <a:cs typeface="Times New Roman"/>
            </a:endParaRPr>
          </a:p>
          <a:p>
            <a:pPr marL="287655">
              <a:lnSpc>
                <a:spcPct val="100000"/>
              </a:lnSpc>
            </a:pPr>
            <a:r>
              <a:rPr sz="1400" spc="-50" dirty="0">
                <a:latin typeface="Times New Roman"/>
                <a:cs typeface="Times New Roman"/>
              </a:rPr>
              <a:t>Q</a:t>
            </a:r>
            <a:endParaRPr sz="1400">
              <a:latin typeface="Times New Roman"/>
              <a:cs typeface="Times New Roman"/>
            </a:endParaRPr>
          </a:p>
          <a:p>
            <a:pPr marL="941705">
              <a:lnSpc>
                <a:spcPct val="100000"/>
              </a:lnSpc>
              <a:spcBef>
                <a:spcPts val="175"/>
              </a:spcBef>
            </a:pPr>
            <a:r>
              <a:rPr sz="2100" baseline="13888" dirty="0">
                <a:latin typeface="Times New Roman"/>
                <a:cs typeface="Times New Roman"/>
              </a:rPr>
              <a:t>t</a:t>
            </a:r>
            <a:r>
              <a:rPr sz="900" dirty="0">
                <a:latin typeface="Times New Roman"/>
                <a:cs typeface="Times New Roman"/>
              </a:rPr>
              <a:t>c-</a:t>
            </a:r>
            <a:r>
              <a:rPr sz="900" spc="-50" dirty="0">
                <a:latin typeface="Times New Roman"/>
                <a:cs typeface="Times New Roman"/>
              </a:rPr>
              <a:t>q</a:t>
            </a:r>
            <a:endParaRPr sz="900">
              <a:latin typeface="Times New Roman"/>
              <a:cs typeface="Times New Roman"/>
            </a:endParaRPr>
          </a:p>
        </p:txBody>
      </p:sp>
      <p:grpSp>
        <p:nvGrpSpPr>
          <p:cNvPr id="9" name="object 9"/>
          <p:cNvGrpSpPr/>
          <p:nvPr/>
        </p:nvGrpSpPr>
        <p:grpSpPr>
          <a:xfrm>
            <a:off x="1175003" y="1667255"/>
            <a:ext cx="2693035" cy="1499870"/>
            <a:chOff x="1175003" y="1667255"/>
            <a:chExt cx="2693035" cy="1499870"/>
          </a:xfrm>
        </p:grpSpPr>
        <p:sp>
          <p:nvSpPr>
            <p:cNvPr id="10" name="object 10"/>
            <p:cNvSpPr/>
            <p:nvPr/>
          </p:nvSpPr>
          <p:spPr>
            <a:xfrm>
              <a:off x="1181099" y="2807208"/>
              <a:ext cx="0" cy="360045"/>
            </a:xfrm>
            <a:custGeom>
              <a:avLst/>
              <a:gdLst/>
              <a:ahLst/>
              <a:cxnLst/>
              <a:rect l="l" t="t" r="r" b="b"/>
              <a:pathLst>
                <a:path h="360044">
                  <a:moveTo>
                    <a:pt x="0" y="0"/>
                  </a:moveTo>
                  <a:lnTo>
                    <a:pt x="0" y="359663"/>
                  </a:lnTo>
                </a:path>
              </a:pathLst>
            </a:custGeom>
            <a:ln w="6096">
              <a:solidFill>
                <a:srgbClr val="000000"/>
              </a:solidFill>
              <a:prstDash val="sysDot"/>
            </a:ln>
          </p:spPr>
          <p:txBody>
            <a:bodyPr wrap="square" lIns="0" tIns="0" rIns="0" bIns="0" rtlCol="0"/>
            <a:lstStyle/>
            <a:p>
              <a:endParaRPr/>
            </a:p>
          </p:txBody>
        </p:sp>
        <p:sp>
          <p:nvSpPr>
            <p:cNvPr id="11" name="object 11"/>
            <p:cNvSpPr/>
            <p:nvPr/>
          </p:nvSpPr>
          <p:spPr>
            <a:xfrm>
              <a:off x="1175003" y="3086861"/>
              <a:ext cx="205740" cy="38100"/>
            </a:xfrm>
            <a:custGeom>
              <a:avLst/>
              <a:gdLst/>
              <a:ahLst/>
              <a:cxnLst/>
              <a:rect l="l" t="t" r="r" b="b"/>
              <a:pathLst>
                <a:path w="205740" h="38100">
                  <a:moveTo>
                    <a:pt x="38100" y="0"/>
                  </a:moveTo>
                  <a:lnTo>
                    <a:pt x="0" y="19050"/>
                  </a:lnTo>
                  <a:lnTo>
                    <a:pt x="38100" y="38100"/>
                  </a:lnTo>
                  <a:lnTo>
                    <a:pt x="38100" y="23622"/>
                  </a:lnTo>
                  <a:lnTo>
                    <a:pt x="31750" y="23622"/>
                  </a:lnTo>
                  <a:lnTo>
                    <a:pt x="31750" y="14477"/>
                  </a:lnTo>
                  <a:lnTo>
                    <a:pt x="38100" y="14477"/>
                  </a:lnTo>
                  <a:lnTo>
                    <a:pt x="38100" y="0"/>
                  </a:lnTo>
                  <a:close/>
                </a:path>
                <a:path w="205740" h="38100">
                  <a:moveTo>
                    <a:pt x="167640" y="0"/>
                  </a:moveTo>
                  <a:lnTo>
                    <a:pt x="167640" y="38100"/>
                  </a:lnTo>
                  <a:lnTo>
                    <a:pt x="196595" y="23622"/>
                  </a:lnTo>
                  <a:lnTo>
                    <a:pt x="173990" y="23622"/>
                  </a:lnTo>
                  <a:lnTo>
                    <a:pt x="173990" y="14477"/>
                  </a:lnTo>
                  <a:lnTo>
                    <a:pt x="196595" y="14477"/>
                  </a:lnTo>
                  <a:lnTo>
                    <a:pt x="167640" y="0"/>
                  </a:lnTo>
                  <a:close/>
                </a:path>
                <a:path w="205740" h="38100">
                  <a:moveTo>
                    <a:pt x="38100" y="14477"/>
                  </a:moveTo>
                  <a:lnTo>
                    <a:pt x="31750" y="14477"/>
                  </a:lnTo>
                  <a:lnTo>
                    <a:pt x="31750" y="23622"/>
                  </a:lnTo>
                  <a:lnTo>
                    <a:pt x="38100" y="23622"/>
                  </a:lnTo>
                  <a:lnTo>
                    <a:pt x="38100" y="14477"/>
                  </a:lnTo>
                  <a:close/>
                </a:path>
                <a:path w="205740" h="38100">
                  <a:moveTo>
                    <a:pt x="167640" y="14477"/>
                  </a:moveTo>
                  <a:lnTo>
                    <a:pt x="38100" y="14477"/>
                  </a:lnTo>
                  <a:lnTo>
                    <a:pt x="38100" y="23622"/>
                  </a:lnTo>
                  <a:lnTo>
                    <a:pt x="167640" y="23622"/>
                  </a:lnTo>
                  <a:lnTo>
                    <a:pt x="167640" y="14477"/>
                  </a:lnTo>
                  <a:close/>
                </a:path>
                <a:path w="205740" h="38100">
                  <a:moveTo>
                    <a:pt x="196595" y="14477"/>
                  </a:moveTo>
                  <a:lnTo>
                    <a:pt x="173990" y="14477"/>
                  </a:lnTo>
                  <a:lnTo>
                    <a:pt x="173990" y="23622"/>
                  </a:lnTo>
                  <a:lnTo>
                    <a:pt x="196595" y="23622"/>
                  </a:lnTo>
                  <a:lnTo>
                    <a:pt x="205740" y="19050"/>
                  </a:lnTo>
                  <a:lnTo>
                    <a:pt x="196595" y="14477"/>
                  </a:lnTo>
                  <a:close/>
                </a:path>
              </a:pathLst>
            </a:custGeom>
            <a:solidFill>
              <a:srgbClr val="000000"/>
            </a:solidFill>
          </p:spPr>
          <p:txBody>
            <a:bodyPr wrap="square" lIns="0" tIns="0" rIns="0" bIns="0" rtlCol="0"/>
            <a:lstStyle/>
            <a:p>
              <a:endParaRPr/>
            </a:p>
          </p:txBody>
        </p:sp>
        <p:sp>
          <p:nvSpPr>
            <p:cNvPr id="12" name="object 12"/>
            <p:cNvSpPr/>
            <p:nvPr/>
          </p:nvSpPr>
          <p:spPr>
            <a:xfrm>
              <a:off x="1595627" y="1667255"/>
              <a:ext cx="2269490" cy="1187450"/>
            </a:xfrm>
            <a:custGeom>
              <a:avLst/>
              <a:gdLst/>
              <a:ahLst/>
              <a:cxnLst/>
              <a:rect l="l" t="t" r="r" b="b"/>
              <a:pathLst>
                <a:path w="2269490" h="1187450">
                  <a:moveTo>
                    <a:pt x="2269236" y="0"/>
                  </a:moveTo>
                  <a:lnTo>
                    <a:pt x="2269236" y="428244"/>
                  </a:lnTo>
                </a:path>
                <a:path w="2269490" h="1187450">
                  <a:moveTo>
                    <a:pt x="0" y="827532"/>
                  </a:moveTo>
                  <a:lnTo>
                    <a:pt x="0" y="1187196"/>
                  </a:lnTo>
                </a:path>
              </a:pathLst>
            </a:custGeom>
            <a:ln w="6096">
              <a:solidFill>
                <a:srgbClr val="000000"/>
              </a:solidFill>
              <a:prstDash val="sysDot"/>
            </a:ln>
          </p:spPr>
          <p:txBody>
            <a:bodyPr wrap="square" lIns="0" tIns="0" rIns="0" bIns="0" rtlCol="0"/>
            <a:lstStyle/>
            <a:p>
              <a:endParaRPr/>
            </a:p>
          </p:txBody>
        </p:sp>
      </p:grpSp>
      <p:grpSp>
        <p:nvGrpSpPr>
          <p:cNvPr id="13" name="object 13"/>
          <p:cNvGrpSpPr/>
          <p:nvPr/>
        </p:nvGrpSpPr>
        <p:grpSpPr>
          <a:xfrm>
            <a:off x="381000" y="4844796"/>
            <a:ext cx="6096000" cy="3429000"/>
            <a:chOff x="381000" y="4844796"/>
            <a:chExt cx="6096000" cy="3429000"/>
          </a:xfrm>
        </p:grpSpPr>
        <p:sp>
          <p:nvSpPr>
            <p:cNvPr id="14" name="object 1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5" name="object 1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6" name="object 1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7" name="object 1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Timing</a:t>
            </a:r>
            <a:r>
              <a:rPr sz="2200" spc="-95" dirty="0">
                <a:latin typeface="Georgia"/>
                <a:cs typeface="Georgia"/>
              </a:rPr>
              <a:t> </a:t>
            </a:r>
            <a:r>
              <a:rPr sz="2200" spc="-10" dirty="0">
                <a:latin typeface="Georgia"/>
                <a:cs typeface="Georgia"/>
              </a:rPr>
              <a:t>Definitions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450"/>
              </a:spcBef>
            </a:pPr>
            <a:endParaRPr sz="2200">
              <a:latin typeface="Georgia"/>
              <a:cs typeface="Georgia"/>
            </a:endParaRPr>
          </a:p>
          <a:p>
            <a:pPr marL="1470660">
              <a:lnSpc>
                <a:spcPct val="100000"/>
              </a:lnSpc>
              <a:spcBef>
                <a:spcPts val="5"/>
              </a:spcBef>
            </a:pPr>
            <a:r>
              <a:rPr sz="1800" spc="-37" baseline="13888" dirty="0">
                <a:latin typeface="Times New Roman"/>
                <a:cs typeface="Times New Roman"/>
              </a:rPr>
              <a:t>t</a:t>
            </a:r>
            <a:r>
              <a:rPr sz="800" spc="-25" dirty="0">
                <a:latin typeface="Times New Roman"/>
                <a:cs typeface="Times New Roman"/>
              </a:rPr>
              <a:t>pd</a:t>
            </a:r>
            <a:endParaRPr sz="800">
              <a:latin typeface="Times New Roman"/>
              <a:cs typeface="Times New Roman"/>
            </a:endParaRPr>
          </a:p>
          <a:p>
            <a:pPr>
              <a:lnSpc>
                <a:spcPct val="100000"/>
              </a:lnSpc>
              <a:spcBef>
                <a:spcPts val="290"/>
              </a:spcBef>
            </a:pPr>
            <a:endParaRPr sz="800">
              <a:latin typeface="Times New Roman"/>
              <a:cs typeface="Times New Roman"/>
            </a:endParaRPr>
          </a:p>
          <a:p>
            <a:pPr marL="262255">
              <a:lnSpc>
                <a:spcPct val="100000"/>
              </a:lnSpc>
              <a:spcBef>
                <a:spcPts val="5"/>
              </a:spcBef>
            </a:pPr>
            <a:r>
              <a:rPr sz="1600" b="1" dirty="0">
                <a:latin typeface="Times New Roman"/>
                <a:cs typeface="Times New Roman"/>
              </a:rPr>
              <a:t>t</a:t>
            </a:r>
            <a:r>
              <a:rPr sz="1575" b="1" baseline="-21164" dirty="0">
                <a:latin typeface="Times New Roman"/>
                <a:cs typeface="Times New Roman"/>
              </a:rPr>
              <a:t>pd</a:t>
            </a:r>
            <a:r>
              <a:rPr sz="1575" b="1" spc="7" baseline="-21164"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spc="-10" dirty="0">
                <a:latin typeface="Times New Roman"/>
                <a:cs typeface="Times New Roman"/>
              </a:rPr>
              <a:t>combinational</a:t>
            </a:r>
            <a:r>
              <a:rPr sz="1600" dirty="0">
                <a:latin typeface="Times New Roman"/>
                <a:cs typeface="Times New Roman"/>
              </a:rPr>
              <a:t> circuit</a:t>
            </a:r>
            <a:r>
              <a:rPr sz="1600" spc="10" dirty="0">
                <a:latin typeface="Times New Roman"/>
                <a:cs typeface="Times New Roman"/>
              </a:rPr>
              <a:t> </a:t>
            </a:r>
            <a:r>
              <a:rPr sz="1600" b="1" spc="-10" dirty="0">
                <a:latin typeface="Times New Roman"/>
                <a:cs typeface="Times New Roman"/>
              </a:rPr>
              <a:t>Propagation</a:t>
            </a:r>
            <a:r>
              <a:rPr sz="1600" b="1" spc="-30" dirty="0">
                <a:latin typeface="Times New Roman"/>
                <a:cs typeface="Times New Roman"/>
              </a:rPr>
              <a:t> </a:t>
            </a:r>
            <a:r>
              <a:rPr sz="1600" b="1" spc="-10" dirty="0">
                <a:latin typeface="Times New Roman"/>
                <a:cs typeface="Times New Roman"/>
              </a:rPr>
              <a:t>delay</a:t>
            </a:r>
            <a:endParaRPr sz="1600">
              <a:latin typeface="Times New Roman"/>
              <a:cs typeface="Times New Roman"/>
            </a:endParaRPr>
          </a:p>
        </p:txBody>
      </p:sp>
      <p:grpSp>
        <p:nvGrpSpPr>
          <p:cNvPr id="18" name="object 18"/>
          <p:cNvGrpSpPr/>
          <p:nvPr/>
        </p:nvGrpSpPr>
        <p:grpSpPr>
          <a:xfrm>
            <a:off x="774191" y="5785103"/>
            <a:ext cx="4749165" cy="1390015"/>
            <a:chOff x="774191" y="5785103"/>
            <a:chExt cx="4749165" cy="1390015"/>
          </a:xfrm>
        </p:grpSpPr>
        <p:sp>
          <p:nvSpPr>
            <p:cNvPr id="19" name="object 19"/>
            <p:cNvSpPr/>
            <p:nvPr/>
          </p:nvSpPr>
          <p:spPr>
            <a:xfrm>
              <a:off x="1790700" y="6939533"/>
              <a:ext cx="502920" cy="38100"/>
            </a:xfrm>
            <a:custGeom>
              <a:avLst/>
              <a:gdLst/>
              <a:ahLst/>
              <a:cxnLst/>
              <a:rect l="l" t="t" r="r" b="b"/>
              <a:pathLst>
                <a:path w="502919" h="38100">
                  <a:moveTo>
                    <a:pt x="38100" y="0"/>
                  </a:moveTo>
                  <a:lnTo>
                    <a:pt x="0" y="19050"/>
                  </a:lnTo>
                  <a:lnTo>
                    <a:pt x="38100" y="38100"/>
                  </a:lnTo>
                  <a:lnTo>
                    <a:pt x="38100" y="23622"/>
                  </a:lnTo>
                  <a:lnTo>
                    <a:pt x="31750" y="23622"/>
                  </a:lnTo>
                  <a:lnTo>
                    <a:pt x="31750" y="14478"/>
                  </a:lnTo>
                  <a:lnTo>
                    <a:pt x="38100" y="14478"/>
                  </a:lnTo>
                  <a:lnTo>
                    <a:pt x="38100" y="0"/>
                  </a:lnTo>
                  <a:close/>
                </a:path>
                <a:path w="502919" h="38100">
                  <a:moveTo>
                    <a:pt x="464819" y="0"/>
                  </a:moveTo>
                  <a:lnTo>
                    <a:pt x="464819" y="38100"/>
                  </a:lnTo>
                  <a:lnTo>
                    <a:pt x="493775" y="23622"/>
                  </a:lnTo>
                  <a:lnTo>
                    <a:pt x="471169" y="23622"/>
                  </a:lnTo>
                  <a:lnTo>
                    <a:pt x="471169" y="14478"/>
                  </a:lnTo>
                  <a:lnTo>
                    <a:pt x="493776" y="14478"/>
                  </a:lnTo>
                  <a:lnTo>
                    <a:pt x="464819" y="0"/>
                  </a:lnTo>
                  <a:close/>
                </a:path>
                <a:path w="502919" h="38100">
                  <a:moveTo>
                    <a:pt x="38100" y="14478"/>
                  </a:moveTo>
                  <a:lnTo>
                    <a:pt x="31750" y="14478"/>
                  </a:lnTo>
                  <a:lnTo>
                    <a:pt x="31750" y="23622"/>
                  </a:lnTo>
                  <a:lnTo>
                    <a:pt x="38100" y="23622"/>
                  </a:lnTo>
                  <a:lnTo>
                    <a:pt x="38100" y="14478"/>
                  </a:lnTo>
                  <a:close/>
                </a:path>
                <a:path w="502919" h="38100">
                  <a:moveTo>
                    <a:pt x="464819" y="14478"/>
                  </a:moveTo>
                  <a:lnTo>
                    <a:pt x="38100" y="14478"/>
                  </a:lnTo>
                  <a:lnTo>
                    <a:pt x="38100" y="23622"/>
                  </a:lnTo>
                  <a:lnTo>
                    <a:pt x="464819" y="23622"/>
                  </a:lnTo>
                  <a:lnTo>
                    <a:pt x="464819" y="14478"/>
                  </a:lnTo>
                  <a:close/>
                </a:path>
                <a:path w="502919" h="38100">
                  <a:moveTo>
                    <a:pt x="493776" y="14478"/>
                  </a:moveTo>
                  <a:lnTo>
                    <a:pt x="471169" y="14478"/>
                  </a:lnTo>
                  <a:lnTo>
                    <a:pt x="471169" y="23622"/>
                  </a:lnTo>
                  <a:lnTo>
                    <a:pt x="493775" y="23622"/>
                  </a:lnTo>
                  <a:lnTo>
                    <a:pt x="502919" y="19050"/>
                  </a:lnTo>
                  <a:lnTo>
                    <a:pt x="493776" y="14478"/>
                  </a:lnTo>
                  <a:close/>
                </a:path>
              </a:pathLst>
            </a:custGeom>
            <a:solidFill>
              <a:srgbClr val="000000"/>
            </a:solidFill>
          </p:spPr>
          <p:txBody>
            <a:bodyPr wrap="square" lIns="0" tIns="0" rIns="0" bIns="0" rtlCol="0"/>
            <a:lstStyle/>
            <a:p>
              <a:endParaRPr/>
            </a:p>
          </p:txBody>
        </p:sp>
        <p:pic>
          <p:nvPicPr>
            <p:cNvPr id="20" name="object 20"/>
            <p:cNvPicPr/>
            <p:nvPr/>
          </p:nvPicPr>
          <p:blipFill>
            <a:blip r:embed="rId2" cstate="print"/>
            <a:stretch>
              <a:fillRect/>
            </a:stretch>
          </p:blipFill>
          <p:spPr>
            <a:xfrm>
              <a:off x="774191" y="5785103"/>
              <a:ext cx="4748784" cy="1066800"/>
            </a:xfrm>
            <a:prstGeom prst="rect">
              <a:avLst/>
            </a:prstGeom>
          </p:spPr>
        </p:pic>
        <p:sp>
          <p:nvSpPr>
            <p:cNvPr id="21" name="object 21"/>
            <p:cNvSpPr/>
            <p:nvPr/>
          </p:nvSpPr>
          <p:spPr>
            <a:xfrm>
              <a:off x="1790700" y="6169151"/>
              <a:ext cx="504825" cy="1005840"/>
            </a:xfrm>
            <a:custGeom>
              <a:avLst/>
              <a:gdLst/>
              <a:ahLst/>
              <a:cxnLst/>
              <a:rect l="l" t="t" r="r" b="b"/>
              <a:pathLst>
                <a:path w="504825" h="1005840">
                  <a:moveTo>
                    <a:pt x="504444" y="0"/>
                  </a:moveTo>
                  <a:lnTo>
                    <a:pt x="504444" y="1005840"/>
                  </a:lnTo>
                </a:path>
                <a:path w="504825" h="1005840">
                  <a:moveTo>
                    <a:pt x="0" y="0"/>
                  </a:moveTo>
                  <a:lnTo>
                    <a:pt x="0" y="1005840"/>
                  </a:lnTo>
                </a:path>
              </a:pathLst>
            </a:custGeom>
            <a:ln w="6096">
              <a:solidFill>
                <a:srgbClr val="000000"/>
              </a:solidFill>
              <a:prstDash val="sysDot"/>
            </a:ln>
          </p:spPr>
          <p:txBody>
            <a:bodyPr wrap="square" lIns="0" tIns="0" rIns="0" bIns="0" rtlCol="0"/>
            <a:lstStyle/>
            <a:p>
              <a:endParaRPr/>
            </a:p>
          </p:txBody>
        </p:sp>
      </p:gr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Timing</a:t>
            </a:r>
            <a:r>
              <a:rPr sz="2200" spc="-95" dirty="0">
                <a:latin typeface="Georgia"/>
                <a:cs typeface="Georgia"/>
              </a:rPr>
              <a:t> </a:t>
            </a:r>
            <a:r>
              <a:rPr sz="2200" spc="-10" dirty="0">
                <a:latin typeface="Georgia"/>
                <a:cs typeface="Georgia"/>
              </a:rPr>
              <a:t>Definitions</a:t>
            </a:r>
            <a:endParaRPr sz="2200">
              <a:latin typeface="Georgia"/>
              <a:cs typeface="Georgia"/>
            </a:endParaRPr>
          </a:p>
        </p:txBody>
      </p:sp>
      <p:grpSp>
        <p:nvGrpSpPr>
          <p:cNvPr id="3" name="object 3"/>
          <p:cNvGrpSpPr/>
          <p:nvPr/>
        </p:nvGrpSpPr>
        <p:grpSpPr>
          <a:xfrm>
            <a:off x="679704" y="1639823"/>
            <a:ext cx="5407660" cy="2459990"/>
            <a:chOff x="679704" y="1639823"/>
            <a:chExt cx="5407660" cy="2459990"/>
          </a:xfrm>
        </p:grpSpPr>
        <p:pic>
          <p:nvPicPr>
            <p:cNvPr id="4" name="object 4"/>
            <p:cNvPicPr/>
            <p:nvPr/>
          </p:nvPicPr>
          <p:blipFill>
            <a:blip r:embed="rId2" cstate="print"/>
            <a:stretch>
              <a:fillRect/>
            </a:stretch>
          </p:blipFill>
          <p:spPr>
            <a:xfrm>
              <a:off x="2209800" y="1639823"/>
              <a:ext cx="3877055" cy="1595627"/>
            </a:xfrm>
            <a:prstGeom prst="rect">
              <a:avLst/>
            </a:prstGeom>
          </p:spPr>
        </p:pic>
        <p:pic>
          <p:nvPicPr>
            <p:cNvPr id="5" name="object 5"/>
            <p:cNvPicPr/>
            <p:nvPr/>
          </p:nvPicPr>
          <p:blipFill>
            <a:blip r:embed="rId3" cstate="print"/>
            <a:stretch>
              <a:fillRect/>
            </a:stretch>
          </p:blipFill>
          <p:spPr>
            <a:xfrm>
              <a:off x="679704" y="3371088"/>
              <a:ext cx="2485644" cy="728472"/>
            </a:xfrm>
            <a:prstGeom prst="rect">
              <a:avLst/>
            </a:prstGeom>
          </p:spPr>
        </p:pic>
      </p:gr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2209800" y="5615940"/>
              <a:ext cx="3877055" cy="1595628"/>
            </a:xfrm>
            <a:prstGeom prst="rect">
              <a:avLst/>
            </a:prstGeom>
          </p:spPr>
        </p:pic>
        <p:pic>
          <p:nvPicPr>
            <p:cNvPr id="11" name="object 11"/>
            <p:cNvPicPr/>
            <p:nvPr/>
          </p:nvPicPr>
          <p:blipFill>
            <a:blip r:embed="rId4" cstate="print"/>
            <a:stretch>
              <a:fillRect/>
            </a:stretch>
          </p:blipFill>
          <p:spPr>
            <a:xfrm>
              <a:off x="807719" y="7219188"/>
              <a:ext cx="1985772" cy="480059"/>
            </a:xfrm>
            <a:prstGeom prst="rect">
              <a:avLst/>
            </a:prstGeom>
          </p:spPr>
        </p:pic>
      </p:grpSp>
      <p:sp>
        <p:nvSpPr>
          <p:cNvPr id="12" name="object 12"/>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Timing</a:t>
            </a:r>
            <a:r>
              <a:rPr sz="2200" spc="-95" dirty="0">
                <a:latin typeface="Georgia"/>
                <a:cs typeface="Georgia"/>
              </a:rPr>
              <a:t> </a:t>
            </a:r>
            <a:r>
              <a:rPr sz="2200" spc="-10" dirty="0">
                <a:latin typeface="Georgia"/>
                <a:cs typeface="Georgia"/>
              </a:rPr>
              <a:t>Definitions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1739"/>
              </a:spcBef>
            </a:pPr>
            <a:endParaRPr sz="2200">
              <a:latin typeface="Georgia"/>
              <a:cs typeface="Georgia"/>
            </a:endParaRPr>
          </a:p>
          <a:p>
            <a:pPr marL="624205">
              <a:lnSpc>
                <a:spcPct val="100000"/>
              </a:lnSpc>
            </a:pPr>
            <a:r>
              <a:rPr sz="1200" dirty="0">
                <a:latin typeface="Corbel"/>
                <a:cs typeface="Corbel"/>
              </a:rPr>
              <a:t>No</a:t>
            </a:r>
            <a:r>
              <a:rPr sz="1200" spc="-15" dirty="0">
                <a:latin typeface="Corbel"/>
                <a:cs typeface="Corbel"/>
              </a:rPr>
              <a:t> </a:t>
            </a:r>
            <a:r>
              <a:rPr sz="1200" dirty="0">
                <a:latin typeface="Corbel"/>
                <a:cs typeface="Corbel"/>
              </a:rPr>
              <a:t>new</a:t>
            </a:r>
            <a:r>
              <a:rPr sz="1200" spc="-25" dirty="0">
                <a:latin typeface="Corbel"/>
                <a:cs typeface="Corbel"/>
              </a:rPr>
              <a:t> </a:t>
            </a:r>
            <a:r>
              <a:rPr sz="1200" dirty="0">
                <a:latin typeface="Corbel"/>
                <a:cs typeface="Corbel"/>
              </a:rPr>
              <a:t>data</a:t>
            </a:r>
            <a:r>
              <a:rPr sz="1200" spc="-10" dirty="0">
                <a:latin typeface="Corbel"/>
                <a:cs typeface="Corbel"/>
              </a:rPr>
              <a:t> </a:t>
            </a:r>
            <a:r>
              <a:rPr sz="1200" dirty="0">
                <a:latin typeface="Corbel"/>
                <a:cs typeface="Corbel"/>
              </a:rPr>
              <a:t>overwrites</a:t>
            </a:r>
            <a:r>
              <a:rPr sz="1200" spc="-15"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old</a:t>
            </a:r>
            <a:r>
              <a:rPr sz="1200" spc="-10" dirty="0">
                <a:latin typeface="Corbel"/>
                <a:cs typeface="Corbel"/>
              </a:rPr>
              <a:t> </a:t>
            </a:r>
            <a:r>
              <a:rPr sz="1200" dirty="0">
                <a:latin typeface="Corbel"/>
                <a:cs typeface="Corbel"/>
              </a:rPr>
              <a:t>data</a:t>
            </a:r>
            <a:r>
              <a:rPr sz="1200" spc="-15" dirty="0">
                <a:latin typeface="Corbel"/>
                <a:cs typeface="Corbel"/>
              </a:rPr>
              <a:t> </a:t>
            </a:r>
            <a:r>
              <a:rPr sz="1200" dirty="0">
                <a:latin typeface="Corbel"/>
                <a:cs typeface="Corbel"/>
              </a:rPr>
              <a:t>before</a:t>
            </a:r>
            <a:r>
              <a:rPr sz="1200" spc="-20"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register</a:t>
            </a:r>
            <a:r>
              <a:rPr sz="1200" spc="-20" dirty="0">
                <a:latin typeface="Corbel"/>
                <a:cs typeface="Corbel"/>
              </a:rPr>
              <a:t> </a:t>
            </a:r>
            <a:r>
              <a:rPr sz="1200" dirty="0">
                <a:latin typeface="Corbel"/>
                <a:cs typeface="Corbel"/>
              </a:rPr>
              <a:t>t</a:t>
            </a:r>
            <a:r>
              <a:rPr sz="1200" baseline="-20833" dirty="0">
                <a:latin typeface="Corbel"/>
                <a:cs typeface="Corbel"/>
              </a:rPr>
              <a:t>hold</a:t>
            </a:r>
            <a:r>
              <a:rPr sz="1200" spc="-30" baseline="-20833" dirty="0">
                <a:latin typeface="Corbel"/>
                <a:cs typeface="Corbel"/>
              </a:rPr>
              <a:t> </a:t>
            </a:r>
            <a:r>
              <a:rPr sz="1200" dirty="0">
                <a:latin typeface="Corbel"/>
                <a:cs typeface="Corbel"/>
              </a:rPr>
              <a:t>time</a:t>
            </a:r>
            <a:r>
              <a:rPr sz="1200" spc="-10" dirty="0">
                <a:latin typeface="Corbel"/>
                <a:cs typeface="Corbel"/>
              </a:rPr>
              <a:t> finishes</a:t>
            </a:r>
            <a:endParaRPr sz="1200">
              <a:latin typeface="Corbel"/>
              <a:cs typeface="Corbe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262255" marR="1371600">
              <a:lnSpc>
                <a:spcPts val="1190"/>
              </a:lnSpc>
              <a:spcBef>
                <a:spcPts val="1265"/>
              </a:spcBef>
            </a:pPr>
            <a:r>
              <a:rPr sz="1100" dirty="0">
                <a:latin typeface="Times New Roman"/>
                <a:cs typeface="Times New Roman"/>
              </a:rPr>
              <a:t>The following</a:t>
            </a:r>
            <a:r>
              <a:rPr sz="1100" spc="-35" dirty="0">
                <a:latin typeface="Times New Roman"/>
                <a:cs typeface="Times New Roman"/>
              </a:rPr>
              <a:t> </a:t>
            </a:r>
            <a:r>
              <a:rPr sz="1100" dirty="0">
                <a:latin typeface="Times New Roman"/>
                <a:cs typeface="Times New Roman"/>
              </a:rPr>
              <a:t>combinational</a:t>
            </a:r>
            <a:r>
              <a:rPr sz="1100" spc="-10" dirty="0">
                <a:latin typeface="Times New Roman"/>
                <a:cs typeface="Times New Roman"/>
              </a:rPr>
              <a:t> </a:t>
            </a:r>
            <a:r>
              <a:rPr sz="1100" dirty="0">
                <a:latin typeface="Times New Roman"/>
                <a:cs typeface="Times New Roman"/>
              </a:rPr>
              <a:t>circuit</a:t>
            </a:r>
            <a:r>
              <a:rPr sz="1100" spc="-25" dirty="0">
                <a:latin typeface="Times New Roman"/>
                <a:cs typeface="Times New Roman"/>
              </a:rPr>
              <a:t> </a:t>
            </a:r>
            <a:r>
              <a:rPr sz="1100" dirty="0">
                <a:latin typeface="Times New Roman"/>
                <a:cs typeface="Times New Roman"/>
              </a:rPr>
              <a:t>is pipelined</a:t>
            </a:r>
            <a:r>
              <a:rPr sz="1100" spc="-25" dirty="0">
                <a:latin typeface="Times New Roman"/>
                <a:cs typeface="Times New Roman"/>
              </a:rPr>
              <a:t> </a:t>
            </a:r>
            <a:r>
              <a:rPr sz="1100" dirty="0">
                <a:latin typeface="Times New Roman"/>
                <a:cs typeface="Times New Roman"/>
              </a:rPr>
              <a:t>at all its</a:t>
            </a:r>
            <a:r>
              <a:rPr sz="1100" spc="-10" dirty="0">
                <a:latin typeface="Times New Roman"/>
                <a:cs typeface="Times New Roman"/>
              </a:rPr>
              <a:t> </a:t>
            </a:r>
            <a:r>
              <a:rPr sz="1100" dirty="0">
                <a:latin typeface="Times New Roman"/>
                <a:cs typeface="Times New Roman"/>
              </a:rPr>
              <a:t>inputs</a:t>
            </a:r>
            <a:r>
              <a:rPr sz="1100" spc="-10" dirty="0">
                <a:latin typeface="Times New Roman"/>
                <a:cs typeface="Times New Roman"/>
              </a:rPr>
              <a:t> </a:t>
            </a:r>
            <a:r>
              <a:rPr sz="1100" dirty="0">
                <a:latin typeface="Times New Roman"/>
                <a:cs typeface="Times New Roman"/>
              </a:rPr>
              <a:t>and </a:t>
            </a:r>
            <a:r>
              <a:rPr sz="1100" spc="-10" dirty="0">
                <a:latin typeface="Times New Roman"/>
                <a:cs typeface="Times New Roman"/>
              </a:rPr>
              <a:t>output.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circuit</a:t>
            </a:r>
            <a:r>
              <a:rPr sz="1100" spc="-30" dirty="0">
                <a:latin typeface="Times New Roman"/>
                <a:cs typeface="Times New Roman"/>
              </a:rPr>
              <a:t> </a:t>
            </a:r>
            <a:r>
              <a:rPr sz="1100" dirty="0">
                <a:latin typeface="Times New Roman"/>
                <a:cs typeface="Times New Roman"/>
              </a:rPr>
              <a:t>uses</a:t>
            </a:r>
            <a:r>
              <a:rPr sz="1100" spc="-10" dirty="0">
                <a:latin typeface="Times New Roman"/>
                <a:cs typeface="Times New Roman"/>
              </a:rPr>
              <a:t> </a:t>
            </a:r>
            <a:r>
              <a:rPr sz="1100" dirty="0">
                <a:latin typeface="Times New Roman"/>
                <a:cs typeface="Times New Roman"/>
              </a:rPr>
              <a:t>one </a:t>
            </a:r>
            <a:r>
              <a:rPr sz="1100" spc="-10" dirty="0">
                <a:latin typeface="Times New Roman"/>
                <a:cs typeface="Times New Roman"/>
              </a:rPr>
              <a:t>clock.</a:t>
            </a:r>
            <a:endParaRPr sz="1100" dirty="0">
              <a:latin typeface="Times New Roman"/>
              <a:cs typeface="Times New Roman"/>
            </a:endParaRPr>
          </a:p>
          <a:p>
            <a:pPr marL="262255" marR="1179830" algn="just">
              <a:lnSpc>
                <a:spcPts val="1190"/>
              </a:lnSpc>
              <a:spcBef>
                <a:spcPts val="690"/>
              </a:spcBef>
            </a:pP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delays</a:t>
            </a:r>
            <a:r>
              <a:rPr sz="1100" spc="-2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combinational</a:t>
            </a:r>
            <a:r>
              <a:rPr sz="1100" spc="-30" dirty="0">
                <a:latin typeface="Times New Roman"/>
                <a:cs typeface="Times New Roman"/>
              </a:rPr>
              <a:t> </a:t>
            </a:r>
            <a:r>
              <a:rPr sz="1100" dirty="0">
                <a:latin typeface="Times New Roman"/>
                <a:cs typeface="Times New Roman"/>
              </a:rPr>
              <a:t>blocks:</a:t>
            </a:r>
            <a:r>
              <a:rPr sz="1100" spc="5" dirty="0">
                <a:latin typeface="Times New Roman"/>
                <a:cs typeface="Times New Roman"/>
              </a:rPr>
              <a:t> </a:t>
            </a:r>
            <a:r>
              <a:rPr sz="1100" spc="-10" dirty="0">
                <a:latin typeface="Times New Roman"/>
                <a:cs typeface="Times New Roman"/>
              </a:rPr>
              <a:t>2-</a:t>
            </a:r>
            <a:r>
              <a:rPr sz="1100" dirty="0">
                <a:latin typeface="Times New Roman"/>
                <a:cs typeface="Times New Roman"/>
              </a:rPr>
              <a:t>input</a:t>
            </a:r>
            <a:r>
              <a:rPr sz="1100" spc="10" dirty="0">
                <a:latin typeface="Times New Roman"/>
                <a:cs typeface="Times New Roman"/>
              </a:rPr>
              <a:t> </a:t>
            </a:r>
            <a:r>
              <a:rPr sz="1100" dirty="0">
                <a:latin typeface="Times New Roman"/>
                <a:cs typeface="Times New Roman"/>
              </a:rPr>
              <a:t>adder</a:t>
            </a:r>
            <a:r>
              <a:rPr sz="1100" spc="-2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2ns,</a:t>
            </a:r>
            <a:r>
              <a:rPr sz="1100" spc="-20" dirty="0">
                <a:latin typeface="Times New Roman"/>
                <a:cs typeface="Times New Roman"/>
              </a:rPr>
              <a:t> </a:t>
            </a:r>
            <a:r>
              <a:rPr sz="1100" spc="-10" dirty="0">
                <a:latin typeface="Times New Roman"/>
                <a:cs typeface="Times New Roman"/>
              </a:rPr>
              <a:t>3-</a:t>
            </a:r>
            <a:r>
              <a:rPr sz="1100" dirty="0">
                <a:latin typeface="Times New Roman"/>
                <a:cs typeface="Times New Roman"/>
              </a:rPr>
              <a:t>input</a:t>
            </a:r>
            <a:r>
              <a:rPr sz="1100" spc="15" dirty="0">
                <a:latin typeface="Times New Roman"/>
                <a:cs typeface="Times New Roman"/>
              </a:rPr>
              <a:t> </a:t>
            </a:r>
            <a:r>
              <a:rPr sz="1100" dirty="0">
                <a:latin typeface="Times New Roman"/>
                <a:cs typeface="Times New Roman"/>
              </a:rPr>
              <a:t>adder</a:t>
            </a:r>
            <a:r>
              <a:rPr sz="1100" spc="-2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spc="-20" dirty="0">
                <a:latin typeface="Times New Roman"/>
                <a:cs typeface="Times New Roman"/>
              </a:rPr>
              <a:t>3ns, </a:t>
            </a:r>
            <a:r>
              <a:rPr sz="1100" dirty="0">
                <a:latin typeface="Times New Roman"/>
                <a:cs typeface="Times New Roman"/>
              </a:rPr>
              <a:t>multiplier</a:t>
            </a:r>
            <a:r>
              <a:rPr sz="1100" spc="-2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5ns,</a:t>
            </a:r>
            <a:r>
              <a:rPr sz="1100" spc="-5" dirty="0">
                <a:latin typeface="Times New Roman"/>
                <a:cs typeface="Times New Roman"/>
              </a:rPr>
              <a:t> </a:t>
            </a:r>
            <a:r>
              <a:rPr sz="1100" dirty="0">
                <a:latin typeface="Times New Roman"/>
                <a:cs typeface="Times New Roman"/>
              </a:rPr>
              <a:t>absolute</a:t>
            </a:r>
            <a:r>
              <a:rPr sz="1100" spc="-3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3ns,</a:t>
            </a:r>
            <a:r>
              <a:rPr sz="1100" spc="-10" dirty="0">
                <a:latin typeface="Times New Roman"/>
                <a:cs typeface="Times New Roman"/>
              </a:rPr>
              <a:t> </a:t>
            </a:r>
            <a:r>
              <a:rPr sz="1100" dirty="0">
                <a:latin typeface="Times New Roman"/>
                <a:cs typeface="Times New Roman"/>
              </a:rPr>
              <a:t>square</a:t>
            </a:r>
            <a:r>
              <a:rPr sz="1100" spc="-25" dirty="0">
                <a:latin typeface="Times New Roman"/>
                <a:cs typeface="Times New Roman"/>
              </a:rPr>
              <a:t> </a:t>
            </a:r>
            <a:r>
              <a:rPr sz="1100" dirty="0">
                <a:latin typeface="Times New Roman"/>
                <a:cs typeface="Times New Roman"/>
              </a:rPr>
              <a:t>root</a:t>
            </a:r>
            <a:r>
              <a:rPr sz="1100" spc="-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7ns.</a:t>
            </a:r>
            <a:r>
              <a:rPr sz="1100" spc="-5" dirty="0">
                <a:latin typeface="Times New Roman"/>
                <a:cs typeface="Times New Roman"/>
              </a:rPr>
              <a:t> </a:t>
            </a:r>
            <a:r>
              <a:rPr sz="1100" dirty="0">
                <a:latin typeface="Times New Roman"/>
                <a:cs typeface="Times New Roman"/>
              </a:rPr>
              <a:t>Registers</a:t>
            </a:r>
            <a:r>
              <a:rPr sz="1100" spc="-20" dirty="0">
                <a:latin typeface="Times New Roman"/>
                <a:cs typeface="Times New Roman"/>
              </a:rPr>
              <a:t> </a:t>
            </a:r>
            <a:r>
              <a:rPr sz="1100" dirty="0">
                <a:latin typeface="Times New Roman"/>
                <a:cs typeface="Times New Roman"/>
              </a:rPr>
              <a:t>Setup</a:t>
            </a:r>
            <a:r>
              <a:rPr sz="1100" spc="-25" dirty="0">
                <a:latin typeface="Times New Roman"/>
                <a:cs typeface="Times New Roman"/>
              </a:rPr>
              <a:t> </a:t>
            </a:r>
            <a:r>
              <a:rPr sz="1100" dirty="0">
                <a:latin typeface="Times New Roman"/>
                <a:cs typeface="Times New Roman"/>
              </a:rPr>
              <a:t>time</a:t>
            </a:r>
            <a:r>
              <a:rPr sz="1100" spc="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spc="-20" dirty="0">
                <a:latin typeface="Times New Roman"/>
                <a:cs typeface="Times New Roman"/>
              </a:rPr>
              <a:t>1ns, </a:t>
            </a:r>
            <a:r>
              <a:rPr sz="1100" dirty="0">
                <a:latin typeface="Times New Roman"/>
                <a:cs typeface="Times New Roman"/>
              </a:rPr>
              <a:t>propagation(CQ)</a:t>
            </a:r>
            <a:r>
              <a:rPr sz="1100" spc="-50" dirty="0">
                <a:latin typeface="Times New Roman"/>
                <a:cs typeface="Times New Roman"/>
              </a:rPr>
              <a:t> </a:t>
            </a:r>
            <a:r>
              <a:rPr sz="1100" dirty="0">
                <a:latin typeface="Times New Roman"/>
                <a:cs typeface="Times New Roman"/>
              </a:rPr>
              <a:t>= </a:t>
            </a:r>
            <a:r>
              <a:rPr sz="1100" spc="-25" dirty="0">
                <a:latin typeface="Times New Roman"/>
                <a:cs typeface="Times New Roman"/>
              </a:rPr>
              <a:t>1ns</a:t>
            </a:r>
            <a:endParaRPr sz="1100" dirty="0">
              <a:latin typeface="Times New Roman"/>
              <a:cs typeface="Times New Roman"/>
            </a:endParaRPr>
          </a:p>
          <a:p>
            <a:pPr marL="451484" indent="-189230">
              <a:lnSpc>
                <a:spcPct val="100000"/>
              </a:lnSpc>
              <a:spcBef>
                <a:spcPts val="545"/>
              </a:spcBef>
              <a:buAutoNum type="alphaLcParenBoth"/>
              <a:tabLst>
                <a:tab pos="451484" algn="l"/>
              </a:tabLst>
            </a:pPr>
            <a:r>
              <a:rPr sz="1100" dirty="0">
                <a:latin typeface="Times New Roman"/>
                <a:cs typeface="Times New Roman"/>
              </a:rPr>
              <a:t>Identify</a:t>
            </a:r>
            <a:r>
              <a:rPr sz="1100" spc="-5"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rPr>
              <a:t>longest</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shortest</a:t>
            </a:r>
            <a:r>
              <a:rPr sz="1100" spc="-35" dirty="0">
                <a:latin typeface="Times New Roman"/>
                <a:cs typeface="Times New Roman"/>
              </a:rPr>
              <a:t> </a:t>
            </a:r>
            <a:r>
              <a:rPr sz="1100" dirty="0">
                <a:latin typeface="Times New Roman"/>
                <a:cs typeface="Times New Roman"/>
              </a:rPr>
              <a:t>combinational</a:t>
            </a:r>
            <a:r>
              <a:rPr sz="1100" spc="-25" dirty="0">
                <a:latin typeface="Times New Roman"/>
                <a:cs typeface="Times New Roman"/>
              </a:rPr>
              <a:t> </a:t>
            </a:r>
            <a:r>
              <a:rPr sz="1100" spc="-10" dirty="0">
                <a:latin typeface="Times New Roman"/>
                <a:cs typeface="Times New Roman"/>
              </a:rPr>
              <a:t>paths.</a:t>
            </a:r>
            <a:endParaRPr sz="1100" dirty="0">
              <a:latin typeface="Times New Roman"/>
              <a:cs typeface="Times New Roman"/>
            </a:endParaRPr>
          </a:p>
          <a:p>
            <a:pPr marL="459105" indent="-196850">
              <a:lnSpc>
                <a:spcPct val="100000"/>
              </a:lnSpc>
              <a:spcBef>
                <a:spcPts val="575"/>
              </a:spcBef>
              <a:buAutoNum type="alphaLcParenBoth"/>
              <a:tabLst>
                <a:tab pos="459105" algn="l"/>
              </a:tabLst>
            </a:pPr>
            <a:r>
              <a:rPr sz="1100" dirty="0">
                <a:latin typeface="Times New Roman"/>
                <a:cs typeface="Times New Roman"/>
              </a:rPr>
              <a:t>Find</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min.</a:t>
            </a:r>
            <a:r>
              <a:rPr sz="1100" spc="15" dirty="0">
                <a:latin typeface="Times New Roman"/>
                <a:cs typeface="Times New Roman"/>
              </a:rPr>
              <a:t> </a:t>
            </a:r>
            <a:r>
              <a:rPr sz="1100" dirty="0">
                <a:latin typeface="Times New Roman"/>
                <a:cs typeface="Times New Roman"/>
              </a:rPr>
              <a:t>clock</a:t>
            </a:r>
            <a:r>
              <a:rPr sz="1100" spc="-25" dirty="0">
                <a:latin typeface="Times New Roman"/>
                <a:cs typeface="Times New Roman"/>
              </a:rPr>
              <a:t> </a:t>
            </a:r>
            <a:r>
              <a:rPr sz="1100" dirty="0">
                <a:latin typeface="Times New Roman"/>
                <a:cs typeface="Times New Roman"/>
              </a:rPr>
              <a:t>period</a:t>
            </a:r>
            <a:r>
              <a:rPr sz="1100" spc="-20" dirty="0">
                <a:latin typeface="Times New Roman"/>
                <a:cs typeface="Times New Roman"/>
              </a:rPr>
              <a:t> </a:t>
            </a:r>
            <a:r>
              <a:rPr sz="1100" dirty="0">
                <a:latin typeface="Times New Roman"/>
                <a:cs typeface="Times New Roman"/>
              </a:rPr>
              <a:t>&amp;</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max.</a:t>
            </a:r>
            <a:r>
              <a:rPr sz="1100" spc="5" dirty="0">
                <a:latin typeface="Times New Roman"/>
                <a:cs typeface="Times New Roman"/>
              </a:rPr>
              <a:t> </a:t>
            </a:r>
            <a:r>
              <a:rPr sz="1100" spc="-10" dirty="0">
                <a:latin typeface="Times New Roman"/>
                <a:cs typeface="Times New Roman"/>
              </a:rPr>
              <a:t>freq.</a:t>
            </a:r>
            <a:endParaRPr sz="1100" dirty="0">
              <a:latin typeface="Times New Roman"/>
              <a:cs typeface="Times New Roman"/>
            </a:endParaRPr>
          </a:p>
          <a:p>
            <a:pPr marL="451484" indent="-189230">
              <a:lnSpc>
                <a:spcPct val="100000"/>
              </a:lnSpc>
              <a:spcBef>
                <a:spcPts val="565"/>
              </a:spcBef>
              <a:buAutoNum type="alphaLcParenBoth"/>
              <a:tabLst>
                <a:tab pos="451484" algn="l"/>
              </a:tabLst>
            </a:pPr>
            <a:r>
              <a:rPr sz="1100" dirty="0">
                <a:latin typeface="Times New Roman"/>
                <a:cs typeface="Times New Roman"/>
              </a:rPr>
              <a:t>Find</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condition</a:t>
            </a:r>
            <a:r>
              <a:rPr sz="1100" spc="-35" dirty="0">
                <a:latin typeface="Times New Roman"/>
                <a:cs typeface="Times New Roman"/>
              </a:rPr>
              <a:t> </a:t>
            </a:r>
            <a:r>
              <a:rPr sz="1100" dirty="0">
                <a:latin typeface="Times New Roman"/>
                <a:cs typeface="Times New Roman"/>
              </a:rPr>
              <a:t>on</a:t>
            </a:r>
            <a:r>
              <a:rPr sz="1100" spc="5" dirty="0">
                <a:latin typeface="Times New Roman"/>
                <a:cs typeface="Times New Roman"/>
              </a:rPr>
              <a:t> </a:t>
            </a:r>
            <a:r>
              <a:rPr sz="1100" dirty="0">
                <a:latin typeface="Times New Roman"/>
                <a:cs typeface="Times New Roman"/>
              </a:rPr>
              <a:t>hold</a:t>
            </a:r>
            <a:r>
              <a:rPr sz="1100" spc="-10" dirty="0">
                <a:latin typeface="Times New Roman"/>
                <a:cs typeface="Times New Roman"/>
              </a:rPr>
              <a:t> </a:t>
            </a:r>
            <a:r>
              <a:rPr sz="1100" spc="-20" dirty="0">
                <a:latin typeface="Times New Roman"/>
                <a:cs typeface="Times New Roman"/>
              </a:rPr>
              <a:t>time.</a:t>
            </a:r>
            <a:endParaRPr sz="1100" dirty="0">
              <a:latin typeface="Times New Roman"/>
              <a:cs typeface="Times New Roman"/>
            </a:endParaRPr>
          </a:p>
        </p:txBody>
      </p:sp>
      <p:pic>
        <p:nvPicPr>
          <p:cNvPr id="3" name="object 3"/>
          <p:cNvPicPr/>
          <p:nvPr/>
        </p:nvPicPr>
        <p:blipFill>
          <a:blip r:embed="rId3" cstate="print"/>
          <a:stretch>
            <a:fillRect/>
          </a:stretch>
        </p:blipFill>
        <p:spPr>
          <a:xfrm>
            <a:off x="3493896" y="2785872"/>
            <a:ext cx="2835275" cy="1371600"/>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700023" y="5069586"/>
            <a:ext cx="3256279" cy="991235"/>
          </a:xfrm>
          <a:prstGeom prst="rect">
            <a:avLst/>
          </a:prstGeom>
        </p:spPr>
        <p:txBody>
          <a:bodyPr vert="horz" wrap="square" lIns="0" tIns="12065" rIns="0" bIns="0" rtlCol="0">
            <a:spAutoFit/>
          </a:bodyPr>
          <a:lstStyle/>
          <a:p>
            <a:pPr marL="25400">
              <a:lnSpc>
                <a:spcPct val="100000"/>
              </a:lnSpc>
              <a:spcBef>
                <a:spcPts val="95"/>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59055">
              <a:lnSpc>
                <a:spcPct val="100000"/>
              </a:lnSpc>
              <a:spcBef>
                <a:spcPts val="1535"/>
              </a:spcBef>
            </a:pPr>
            <a:r>
              <a:rPr sz="1200" dirty="0">
                <a:latin typeface="Times New Roman"/>
                <a:cs typeface="Times New Roman"/>
              </a:rPr>
              <a:t>a)</a:t>
            </a:r>
            <a:r>
              <a:rPr sz="1200" spc="-5" dirty="0">
                <a:latin typeface="Times New Roman"/>
                <a:cs typeface="Times New Roman"/>
              </a:rPr>
              <a:t> </a:t>
            </a:r>
            <a:r>
              <a:rPr sz="1200" dirty="0">
                <a:latin typeface="Times New Roman"/>
                <a:cs typeface="Times New Roman"/>
              </a:rPr>
              <a:t>Longest</a:t>
            </a:r>
            <a:r>
              <a:rPr sz="1200" spc="20" dirty="0">
                <a:latin typeface="Times New Roman"/>
                <a:cs typeface="Times New Roman"/>
              </a:rPr>
              <a:t> </a:t>
            </a:r>
            <a:r>
              <a:rPr sz="1200" dirty="0">
                <a:latin typeface="Times New Roman"/>
                <a:cs typeface="Times New Roman"/>
              </a:rPr>
              <a:t>path</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t</a:t>
            </a:r>
            <a:r>
              <a:rPr sz="1200" baseline="-20833" dirty="0">
                <a:latin typeface="Times New Roman"/>
                <a:cs typeface="Times New Roman"/>
              </a:rPr>
              <a:t>pd_max</a:t>
            </a:r>
            <a:r>
              <a:rPr sz="1200" spc="82" baseline="-20833" dirty="0">
                <a:latin typeface="Times New Roman"/>
                <a:cs typeface="Times New Roman"/>
              </a:rPr>
              <a:t> </a:t>
            </a:r>
            <a:r>
              <a:rPr sz="1200" dirty="0">
                <a:latin typeface="Times New Roman"/>
                <a:cs typeface="Times New Roman"/>
              </a:rPr>
              <a:t>= 5</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2</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3</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3</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20</a:t>
            </a:r>
            <a:r>
              <a:rPr sz="1200" spc="-5" dirty="0">
                <a:latin typeface="Times New Roman"/>
                <a:cs typeface="Times New Roman"/>
              </a:rPr>
              <a:t> </a:t>
            </a:r>
            <a:r>
              <a:rPr sz="1200" spc="-25" dirty="0">
                <a:latin typeface="Times New Roman"/>
                <a:cs typeface="Times New Roman"/>
              </a:rPr>
              <a:t>ns</a:t>
            </a:r>
            <a:endParaRPr sz="1200" dirty="0">
              <a:latin typeface="Times New Roman"/>
              <a:cs typeface="Times New Roman"/>
            </a:endParaRPr>
          </a:p>
          <a:p>
            <a:pPr marL="211454">
              <a:lnSpc>
                <a:spcPct val="100000"/>
              </a:lnSpc>
              <a:spcBef>
                <a:spcPts val="555"/>
              </a:spcBef>
            </a:pPr>
            <a:r>
              <a:rPr sz="1200" dirty="0">
                <a:latin typeface="Times New Roman"/>
                <a:cs typeface="Times New Roman"/>
              </a:rPr>
              <a:t>Shortest</a:t>
            </a:r>
            <a:r>
              <a:rPr sz="1200" spc="-10" dirty="0">
                <a:latin typeface="Times New Roman"/>
                <a:cs typeface="Times New Roman"/>
              </a:rPr>
              <a:t> </a:t>
            </a:r>
            <a:r>
              <a:rPr sz="1200" dirty="0">
                <a:latin typeface="Times New Roman"/>
                <a:cs typeface="Times New Roman"/>
              </a:rPr>
              <a:t>path</a:t>
            </a:r>
            <a:r>
              <a:rPr sz="1200" spc="-2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t</a:t>
            </a:r>
            <a:r>
              <a:rPr sz="1200" baseline="-20833" dirty="0">
                <a:latin typeface="Times New Roman"/>
                <a:cs typeface="Times New Roman"/>
              </a:rPr>
              <a:t>pd_min</a:t>
            </a:r>
            <a:r>
              <a:rPr sz="1200" spc="97" baseline="-20833"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2</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2</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3</a:t>
            </a:r>
            <a:r>
              <a:rPr sz="1200" spc="-5" dirty="0">
                <a:latin typeface="Times New Roman"/>
                <a:cs typeface="Times New Roman"/>
              </a:rPr>
              <a:t> </a:t>
            </a:r>
            <a:r>
              <a:rPr sz="1200" dirty="0">
                <a:latin typeface="Times New Roman"/>
                <a:cs typeface="Times New Roman"/>
              </a:rPr>
              <a:t>= 7</a:t>
            </a:r>
            <a:r>
              <a:rPr sz="1200" spc="-10" dirty="0">
                <a:latin typeface="Times New Roman"/>
                <a:cs typeface="Times New Roman"/>
              </a:rPr>
              <a:t> </a:t>
            </a:r>
            <a:r>
              <a:rPr sz="1200" spc="-25" dirty="0">
                <a:latin typeface="Times New Roman"/>
                <a:cs typeface="Times New Roman"/>
              </a:rPr>
              <a:t>ns</a:t>
            </a:r>
            <a:endParaRPr sz="1200" dirty="0">
              <a:latin typeface="Times New Roman"/>
              <a:cs typeface="Times New Roman"/>
            </a:endParaRPr>
          </a:p>
        </p:txBody>
      </p:sp>
      <p:sp>
        <p:nvSpPr>
          <p:cNvPr id="9" name="object 9"/>
          <p:cNvSpPr/>
          <p:nvPr/>
        </p:nvSpPr>
        <p:spPr>
          <a:xfrm>
            <a:off x="2018157" y="6932549"/>
            <a:ext cx="257810" cy="10795"/>
          </a:xfrm>
          <a:custGeom>
            <a:avLst/>
            <a:gdLst/>
            <a:ahLst/>
            <a:cxnLst/>
            <a:rect l="l" t="t" r="r" b="b"/>
            <a:pathLst>
              <a:path w="257810" h="10795">
                <a:moveTo>
                  <a:pt x="257556" y="0"/>
                </a:moveTo>
                <a:lnTo>
                  <a:pt x="0" y="0"/>
                </a:lnTo>
                <a:lnTo>
                  <a:pt x="0" y="10667"/>
                </a:lnTo>
                <a:lnTo>
                  <a:pt x="257556" y="10667"/>
                </a:lnTo>
                <a:lnTo>
                  <a:pt x="257556" y="0"/>
                </a:lnTo>
                <a:close/>
              </a:path>
            </a:pathLst>
          </a:custGeom>
          <a:solidFill>
            <a:srgbClr val="000000"/>
          </a:solidFill>
        </p:spPr>
        <p:txBody>
          <a:bodyPr wrap="square" lIns="0" tIns="0" rIns="0" bIns="0" rtlCol="0"/>
          <a:lstStyle/>
          <a:p>
            <a:endParaRPr/>
          </a:p>
        </p:txBody>
      </p:sp>
      <p:sp>
        <p:nvSpPr>
          <p:cNvPr id="10" name="object 10"/>
          <p:cNvSpPr txBox="1"/>
          <p:nvPr/>
        </p:nvSpPr>
        <p:spPr>
          <a:xfrm>
            <a:off x="734160" y="6280785"/>
            <a:ext cx="3222141" cy="648896"/>
          </a:xfrm>
          <a:prstGeom prst="rect">
            <a:avLst/>
          </a:prstGeom>
        </p:spPr>
        <p:txBody>
          <a:bodyPr vert="horz" wrap="square" lIns="0" tIns="45720" rIns="0" bIns="0" rtlCol="0">
            <a:spAutoFit/>
          </a:bodyPr>
          <a:lstStyle/>
          <a:p>
            <a:pPr marL="25400">
              <a:lnSpc>
                <a:spcPct val="100000"/>
              </a:lnSpc>
              <a:spcBef>
                <a:spcPts val="360"/>
              </a:spcBef>
            </a:pPr>
            <a:r>
              <a:rPr sz="1800" baseline="13888" dirty="0">
                <a:latin typeface="Times New Roman"/>
                <a:cs typeface="Times New Roman"/>
              </a:rPr>
              <a:t>b)</a:t>
            </a:r>
            <a:r>
              <a:rPr sz="1800" spc="-82"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clk</a:t>
            </a:r>
            <a:r>
              <a:rPr sz="800" spc="60" dirty="0">
                <a:latin typeface="Times New Roman"/>
                <a:cs typeface="Times New Roman"/>
              </a:rPr>
              <a:t> </a:t>
            </a:r>
            <a:r>
              <a:rPr sz="1800" baseline="13888" dirty="0">
                <a:latin typeface="Times New Roman"/>
                <a:cs typeface="Times New Roman"/>
              </a:rPr>
              <a:t>&gt;</a:t>
            </a:r>
            <a:r>
              <a:rPr sz="1800" spc="-75"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cq</a:t>
            </a:r>
            <a:r>
              <a:rPr sz="800" spc="60" dirty="0">
                <a:latin typeface="Times New Roman"/>
                <a:cs typeface="Times New Roman"/>
              </a:rPr>
              <a:t> </a:t>
            </a:r>
            <a:r>
              <a:rPr sz="1800" baseline="13888" dirty="0">
                <a:latin typeface="Times New Roman"/>
                <a:cs typeface="Times New Roman"/>
              </a:rPr>
              <a:t>+</a:t>
            </a:r>
            <a:r>
              <a:rPr sz="1800" spc="-52"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setup</a:t>
            </a:r>
            <a:r>
              <a:rPr sz="800" spc="-35" dirty="0">
                <a:latin typeface="Times New Roman"/>
                <a:cs typeface="Times New Roman"/>
              </a:rPr>
              <a:t> </a:t>
            </a:r>
            <a:r>
              <a:rPr sz="1800" baseline="13888" dirty="0">
                <a:latin typeface="Times New Roman"/>
                <a:cs typeface="Times New Roman"/>
              </a:rPr>
              <a:t>+</a:t>
            </a:r>
            <a:r>
              <a:rPr sz="1800" spc="-75" baseline="13888" dirty="0">
                <a:latin typeface="Times New Roman"/>
                <a:cs typeface="Times New Roman"/>
              </a:rPr>
              <a:t> </a:t>
            </a:r>
            <a:r>
              <a:rPr sz="1800" spc="-37" baseline="13888" dirty="0">
                <a:latin typeface="Times New Roman"/>
                <a:cs typeface="Times New Roman"/>
              </a:rPr>
              <a:t>T</a:t>
            </a:r>
            <a:r>
              <a:rPr sz="800" spc="-25" dirty="0">
                <a:latin typeface="Times New Roman"/>
                <a:cs typeface="Times New Roman"/>
              </a:rPr>
              <a:t>pd</a:t>
            </a:r>
            <a:endParaRPr sz="800" dirty="0">
              <a:latin typeface="Times New Roman"/>
              <a:cs typeface="Times New Roman"/>
            </a:endParaRPr>
          </a:p>
          <a:p>
            <a:pPr marL="482600">
              <a:lnSpc>
                <a:spcPct val="100000"/>
              </a:lnSpc>
              <a:spcBef>
                <a:spcPts val="265"/>
              </a:spcBef>
            </a:pPr>
            <a:r>
              <a:rPr sz="1200" dirty="0">
                <a:latin typeface="Times New Roman"/>
                <a:cs typeface="Times New Roman"/>
              </a:rPr>
              <a:t>Min.</a:t>
            </a:r>
            <a:r>
              <a:rPr sz="1200" spc="-10" dirty="0">
                <a:latin typeface="Times New Roman"/>
                <a:cs typeface="Times New Roman"/>
              </a:rPr>
              <a:t> </a:t>
            </a:r>
            <a:r>
              <a:rPr sz="1200" dirty="0">
                <a:latin typeface="Times New Roman"/>
                <a:cs typeface="Times New Roman"/>
              </a:rPr>
              <a:t>clock</a:t>
            </a:r>
            <a:r>
              <a:rPr sz="1200" spc="-5" dirty="0">
                <a:latin typeface="Times New Roman"/>
                <a:cs typeface="Times New Roman"/>
              </a:rPr>
              <a:t> </a:t>
            </a:r>
            <a:r>
              <a:rPr sz="1200" dirty="0">
                <a:latin typeface="Times New Roman"/>
                <a:cs typeface="Times New Roman"/>
              </a:rPr>
              <a:t>period</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+ 1</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20</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22</a:t>
            </a:r>
            <a:r>
              <a:rPr sz="1200" spc="-5" dirty="0">
                <a:latin typeface="Times New Roman"/>
                <a:cs typeface="Times New Roman"/>
              </a:rPr>
              <a:t> </a:t>
            </a:r>
            <a:r>
              <a:rPr sz="1200" spc="-25" dirty="0">
                <a:latin typeface="Times New Roman"/>
                <a:cs typeface="Times New Roman"/>
              </a:rPr>
              <a:t>ns</a:t>
            </a:r>
            <a:endParaRPr sz="1200" dirty="0">
              <a:latin typeface="Times New Roman"/>
              <a:cs typeface="Times New Roman"/>
            </a:endParaRPr>
          </a:p>
          <a:p>
            <a:pPr marR="53340" algn="ctr">
              <a:lnSpc>
                <a:spcPct val="100000"/>
              </a:lnSpc>
              <a:spcBef>
                <a:spcPts val="459"/>
              </a:spcBef>
            </a:pPr>
            <a:r>
              <a:rPr sz="850" spc="-50" dirty="0">
                <a:latin typeface="Cambria Math"/>
                <a:cs typeface="Cambria Math"/>
              </a:rPr>
              <a:t>1</a:t>
            </a:r>
            <a:endParaRPr sz="850" dirty="0">
              <a:latin typeface="Cambria Math"/>
              <a:cs typeface="Cambria Math"/>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18</a:t>
            </a:fld>
            <a:endParaRPr spc="-25" dirty="0"/>
          </a:p>
        </p:txBody>
      </p:sp>
      <p:sp>
        <p:nvSpPr>
          <p:cNvPr id="11" name="object 11"/>
          <p:cNvSpPr txBox="1"/>
          <p:nvPr/>
        </p:nvSpPr>
        <p:spPr>
          <a:xfrm>
            <a:off x="2018664" y="6934580"/>
            <a:ext cx="266065" cy="159385"/>
          </a:xfrm>
          <a:prstGeom prst="rect">
            <a:avLst/>
          </a:prstGeom>
        </p:spPr>
        <p:txBody>
          <a:bodyPr vert="horz" wrap="square" lIns="0" tIns="15875" rIns="0" bIns="0" rtlCol="0">
            <a:spAutoFit/>
          </a:bodyPr>
          <a:lstStyle/>
          <a:p>
            <a:pPr>
              <a:lnSpc>
                <a:spcPct val="100000"/>
              </a:lnSpc>
              <a:spcBef>
                <a:spcPts val="125"/>
              </a:spcBef>
            </a:pPr>
            <a:r>
              <a:rPr sz="850" spc="-20" dirty="0">
                <a:latin typeface="Cambria Math"/>
                <a:cs typeface="Cambria Math"/>
              </a:rPr>
              <a:t>22𝑛𝑠</a:t>
            </a:r>
            <a:endParaRPr sz="850">
              <a:latin typeface="Cambria Math"/>
              <a:cs typeface="Cambria Math"/>
            </a:endParaRPr>
          </a:p>
        </p:txBody>
      </p:sp>
      <p:sp>
        <p:nvSpPr>
          <p:cNvPr id="12" name="object 12"/>
          <p:cNvSpPr txBox="1"/>
          <p:nvPr/>
        </p:nvSpPr>
        <p:spPr>
          <a:xfrm>
            <a:off x="1216761" y="6817232"/>
            <a:ext cx="1852295" cy="208279"/>
          </a:xfrm>
          <a:prstGeom prst="rect">
            <a:avLst/>
          </a:prstGeom>
        </p:spPr>
        <p:txBody>
          <a:bodyPr vert="horz" wrap="square" lIns="0" tIns="12700" rIns="0" bIns="0" rtlCol="0">
            <a:spAutoFit/>
          </a:bodyPr>
          <a:lstStyle/>
          <a:p>
            <a:pPr>
              <a:lnSpc>
                <a:spcPct val="100000"/>
              </a:lnSpc>
              <a:spcBef>
                <a:spcPts val="100"/>
              </a:spcBef>
              <a:tabLst>
                <a:tab pos="1097280" algn="l"/>
              </a:tabLst>
            </a:pPr>
            <a:r>
              <a:rPr sz="1200" dirty="0">
                <a:latin typeface="Times New Roman"/>
                <a:cs typeface="Times New Roman"/>
              </a:rPr>
              <a:t>Max.</a:t>
            </a:r>
            <a:r>
              <a:rPr sz="1200" spc="-35" dirty="0">
                <a:latin typeface="Times New Roman"/>
                <a:cs typeface="Times New Roman"/>
              </a:rPr>
              <a:t> </a:t>
            </a:r>
            <a:r>
              <a:rPr sz="1200" dirty="0">
                <a:latin typeface="Times New Roman"/>
                <a:cs typeface="Times New Roman"/>
              </a:rPr>
              <a:t>freq.</a:t>
            </a:r>
            <a:r>
              <a:rPr sz="1200" spc="-10" dirty="0">
                <a:latin typeface="Times New Roman"/>
                <a:cs typeface="Times New Roman"/>
              </a:rPr>
              <a:t> </a:t>
            </a:r>
            <a:r>
              <a:rPr sz="1200" spc="-50" dirty="0">
                <a:latin typeface="Times New Roman"/>
                <a:cs typeface="Times New Roman"/>
              </a:rPr>
              <a:t>=</a:t>
            </a:r>
            <a:r>
              <a:rPr sz="1200" dirty="0">
                <a:latin typeface="Times New Roman"/>
                <a:cs typeface="Times New Roman"/>
              </a:rPr>
              <a:t>	=</a:t>
            </a:r>
            <a:r>
              <a:rPr sz="1200" spc="-5" dirty="0">
                <a:latin typeface="Times New Roman"/>
                <a:cs typeface="Times New Roman"/>
              </a:rPr>
              <a:t> </a:t>
            </a:r>
            <a:r>
              <a:rPr sz="1200" dirty="0">
                <a:latin typeface="Times New Roman"/>
                <a:cs typeface="Times New Roman"/>
              </a:rPr>
              <a:t>45.5 </a:t>
            </a:r>
            <a:r>
              <a:rPr sz="1200" spc="-25" dirty="0">
                <a:latin typeface="Times New Roman"/>
                <a:cs typeface="Times New Roman"/>
              </a:rPr>
              <a:t>MHz</a:t>
            </a:r>
            <a:endParaRPr sz="1200" dirty="0">
              <a:latin typeface="Times New Roman"/>
              <a:cs typeface="Times New Roman"/>
            </a:endParaRPr>
          </a:p>
        </p:txBody>
      </p:sp>
      <p:sp>
        <p:nvSpPr>
          <p:cNvPr id="13" name="object 13"/>
          <p:cNvSpPr txBox="1"/>
          <p:nvPr/>
        </p:nvSpPr>
        <p:spPr>
          <a:xfrm>
            <a:off x="759561" y="7277861"/>
            <a:ext cx="130810" cy="208279"/>
          </a:xfrm>
          <a:prstGeom prst="rect">
            <a:avLst/>
          </a:prstGeom>
        </p:spPr>
        <p:txBody>
          <a:bodyPr vert="horz" wrap="square" lIns="0" tIns="12700" rIns="0" bIns="0" rtlCol="0">
            <a:spAutoFit/>
          </a:bodyPr>
          <a:lstStyle/>
          <a:p>
            <a:pPr>
              <a:lnSpc>
                <a:spcPct val="100000"/>
              </a:lnSpc>
              <a:spcBef>
                <a:spcPts val="100"/>
              </a:spcBef>
            </a:pPr>
            <a:r>
              <a:rPr sz="1200" spc="-25" dirty="0">
                <a:latin typeface="Times New Roman"/>
                <a:cs typeface="Times New Roman"/>
              </a:rPr>
              <a:t>c)</a:t>
            </a:r>
            <a:endParaRPr sz="1200">
              <a:latin typeface="Times New Roman"/>
              <a:cs typeface="Times New Roman"/>
            </a:endParaRPr>
          </a:p>
        </p:txBody>
      </p:sp>
      <p:sp>
        <p:nvSpPr>
          <p:cNvPr id="14" name="object 14"/>
          <p:cNvSpPr txBox="1"/>
          <p:nvPr/>
        </p:nvSpPr>
        <p:spPr>
          <a:xfrm>
            <a:off x="1191361" y="7280909"/>
            <a:ext cx="1763395" cy="458470"/>
          </a:xfrm>
          <a:prstGeom prst="rect">
            <a:avLst/>
          </a:prstGeom>
        </p:spPr>
        <p:txBody>
          <a:bodyPr vert="horz" wrap="square" lIns="0" tIns="46355" rIns="0" bIns="0" rtlCol="0">
            <a:spAutoFit/>
          </a:bodyPr>
          <a:lstStyle/>
          <a:p>
            <a:pPr marL="25400">
              <a:lnSpc>
                <a:spcPct val="100000"/>
              </a:lnSpc>
              <a:spcBef>
                <a:spcPts val="365"/>
              </a:spcBef>
            </a:pPr>
            <a:r>
              <a:rPr sz="1800" baseline="13888" dirty="0">
                <a:latin typeface="Times New Roman"/>
                <a:cs typeface="Times New Roman"/>
              </a:rPr>
              <a:t>T</a:t>
            </a:r>
            <a:r>
              <a:rPr sz="800" dirty="0">
                <a:latin typeface="Times New Roman"/>
                <a:cs typeface="Times New Roman"/>
              </a:rPr>
              <a:t>hold</a:t>
            </a:r>
            <a:r>
              <a:rPr sz="800" spc="80" dirty="0">
                <a:latin typeface="Times New Roman"/>
                <a:cs typeface="Times New Roman"/>
              </a:rPr>
              <a:t> </a:t>
            </a:r>
            <a:r>
              <a:rPr sz="1800" baseline="13888" dirty="0">
                <a:latin typeface="Times New Roman"/>
                <a:cs typeface="Times New Roman"/>
              </a:rPr>
              <a:t>&lt;</a:t>
            </a:r>
            <a:r>
              <a:rPr sz="1800" spc="330"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cq</a:t>
            </a:r>
            <a:r>
              <a:rPr sz="800" spc="65" dirty="0">
                <a:latin typeface="Times New Roman"/>
                <a:cs typeface="Times New Roman"/>
              </a:rPr>
              <a:t> </a:t>
            </a:r>
            <a:r>
              <a:rPr sz="1800" baseline="13888" dirty="0">
                <a:latin typeface="Times New Roman"/>
                <a:cs typeface="Times New Roman"/>
              </a:rPr>
              <a:t>+</a:t>
            </a:r>
            <a:r>
              <a:rPr sz="1800" spc="-37" baseline="13888" dirty="0">
                <a:latin typeface="Times New Roman"/>
                <a:cs typeface="Times New Roman"/>
              </a:rPr>
              <a:t> </a:t>
            </a:r>
            <a:r>
              <a:rPr sz="1800" spc="-15" baseline="13888" dirty="0">
                <a:latin typeface="Times New Roman"/>
                <a:cs typeface="Times New Roman"/>
              </a:rPr>
              <a:t>t</a:t>
            </a:r>
            <a:r>
              <a:rPr sz="800" spc="-10" dirty="0">
                <a:latin typeface="Times New Roman"/>
                <a:cs typeface="Times New Roman"/>
              </a:rPr>
              <a:t>pd_min</a:t>
            </a:r>
            <a:endParaRPr sz="800" dirty="0">
              <a:latin typeface="Times New Roman"/>
              <a:cs typeface="Times New Roman"/>
            </a:endParaRPr>
          </a:p>
          <a:p>
            <a:pPr marL="25400">
              <a:lnSpc>
                <a:spcPct val="100000"/>
              </a:lnSpc>
              <a:spcBef>
                <a:spcPts val="260"/>
              </a:spcBef>
            </a:pPr>
            <a:r>
              <a:rPr sz="1200" dirty="0">
                <a:latin typeface="Times New Roman"/>
                <a:cs typeface="Times New Roman"/>
              </a:rPr>
              <a:t>T</a:t>
            </a:r>
            <a:r>
              <a:rPr sz="1200" baseline="-20833" dirty="0">
                <a:latin typeface="Times New Roman"/>
                <a:cs typeface="Times New Roman"/>
              </a:rPr>
              <a:t>hold</a:t>
            </a:r>
            <a:r>
              <a:rPr sz="1200" spc="142" baseline="-20833" dirty="0">
                <a:latin typeface="Times New Roman"/>
                <a:cs typeface="Times New Roman"/>
              </a:rPr>
              <a:t> </a:t>
            </a:r>
            <a:r>
              <a:rPr sz="1200" dirty="0">
                <a:latin typeface="Times New Roman"/>
                <a:cs typeface="Times New Roman"/>
              </a:rPr>
              <a:t>&lt;</a:t>
            </a:r>
            <a:r>
              <a:rPr sz="1200" spc="-10" dirty="0">
                <a:latin typeface="Times New Roman"/>
                <a:cs typeface="Times New Roman"/>
              </a:rPr>
              <a:t> </a:t>
            </a:r>
            <a:r>
              <a:rPr sz="1200" dirty="0">
                <a:latin typeface="Times New Roman"/>
                <a:cs typeface="Times New Roman"/>
              </a:rPr>
              <a:t>1</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a:t>
            </a:r>
            <a:r>
              <a:rPr sz="1200" spc="-5" dirty="0">
                <a:latin typeface="Times New Roman"/>
                <a:cs typeface="Times New Roman"/>
              </a:rPr>
              <a:t> </a:t>
            </a:r>
            <a:r>
              <a:rPr sz="1200" dirty="0">
                <a:latin typeface="Times New Roman"/>
                <a:cs typeface="Times New Roman"/>
              </a:rPr>
              <a:t>→</a:t>
            </a:r>
            <a:r>
              <a:rPr sz="1200" spc="125" dirty="0">
                <a:latin typeface="Times New Roman"/>
                <a:cs typeface="Times New Roman"/>
              </a:rPr>
              <a:t>  </a:t>
            </a:r>
            <a:r>
              <a:rPr sz="1200" dirty="0">
                <a:latin typeface="Times New Roman"/>
                <a:cs typeface="Times New Roman"/>
              </a:rPr>
              <a:t>T</a:t>
            </a:r>
            <a:r>
              <a:rPr sz="1200" baseline="-20833" dirty="0">
                <a:latin typeface="Times New Roman"/>
                <a:cs typeface="Times New Roman"/>
              </a:rPr>
              <a:t>hold</a:t>
            </a:r>
            <a:r>
              <a:rPr sz="1200" spc="150" baseline="-20833" dirty="0">
                <a:latin typeface="Times New Roman"/>
                <a:cs typeface="Times New Roman"/>
              </a:rPr>
              <a:t> </a:t>
            </a:r>
            <a:r>
              <a:rPr sz="1200" dirty="0">
                <a:latin typeface="Times New Roman"/>
                <a:cs typeface="Times New Roman"/>
              </a:rPr>
              <a:t>&lt;</a:t>
            </a:r>
            <a:r>
              <a:rPr sz="1200" spc="-10" dirty="0">
                <a:latin typeface="Times New Roman"/>
                <a:cs typeface="Times New Roman"/>
              </a:rPr>
              <a:t> </a:t>
            </a:r>
            <a:r>
              <a:rPr sz="1200" spc="-25" dirty="0">
                <a:latin typeface="Times New Roman"/>
                <a:cs typeface="Times New Roman"/>
              </a:rPr>
              <a:t>8ns</a:t>
            </a:r>
            <a:endParaRPr sz="12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262255" marR="857250">
              <a:lnSpc>
                <a:spcPts val="1190"/>
              </a:lnSpc>
              <a:spcBef>
                <a:spcPts val="1864"/>
              </a:spcBef>
            </a:pP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combinational</a:t>
            </a:r>
            <a:r>
              <a:rPr sz="1100" spc="-20" dirty="0">
                <a:latin typeface="Times New Roman"/>
                <a:cs typeface="Times New Roman"/>
              </a:rPr>
              <a:t> </a:t>
            </a:r>
            <a:r>
              <a:rPr sz="1100" dirty="0">
                <a:latin typeface="Times New Roman"/>
                <a:cs typeface="Times New Roman"/>
              </a:rPr>
              <a:t>circuit</a:t>
            </a:r>
            <a:r>
              <a:rPr sz="1100" spc="-30" dirty="0">
                <a:latin typeface="Times New Roman"/>
                <a:cs typeface="Times New Roman"/>
              </a:rPr>
              <a:t> </a:t>
            </a:r>
            <a:r>
              <a:rPr sz="1100" dirty="0">
                <a:latin typeface="Times New Roman"/>
                <a:cs typeface="Times New Roman"/>
              </a:rPr>
              <a:t>below</a:t>
            </a:r>
            <a:r>
              <a:rPr sz="1100" spc="-15" dirty="0">
                <a:latin typeface="Times New Roman"/>
                <a:cs typeface="Times New Roman"/>
              </a:rPr>
              <a:t> </a:t>
            </a:r>
            <a:r>
              <a:rPr sz="1100" dirty="0">
                <a:latin typeface="Times New Roman"/>
                <a:cs typeface="Times New Roman"/>
              </a:rPr>
              <a:t>is pipelined</a:t>
            </a:r>
            <a:r>
              <a:rPr sz="1100" spc="-30" dirty="0">
                <a:latin typeface="Times New Roman"/>
                <a:cs typeface="Times New Roman"/>
              </a:rPr>
              <a:t> </a:t>
            </a:r>
            <a:r>
              <a:rPr sz="1100" dirty="0">
                <a:latin typeface="Times New Roman"/>
                <a:cs typeface="Times New Roman"/>
              </a:rPr>
              <a:t>at all its</a:t>
            </a:r>
            <a:r>
              <a:rPr sz="1100" spc="-15" dirty="0">
                <a:latin typeface="Times New Roman"/>
                <a:cs typeface="Times New Roman"/>
              </a:rPr>
              <a:t> </a:t>
            </a:r>
            <a:r>
              <a:rPr sz="1100" dirty="0">
                <a:latin typeface="Times New Roman"/>
                <a:cs typeface="Times New Roman"/>
              </a:rPr>
              <a:t>inputs</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output.</a:t>
            </a:r>
            <a:r>
              <a:rPr sz="1100" spc="-30"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spc="-10" dirty="0">
                <a:latin typeface="Times New Roman"/>
                <a:cs typeface="Times New Roman"/>
              </a:rPr>
              <a:t>circuit </a:t>
            </a:r>
            <a:r>
              <a:rPr sz="1100" dirty="0">
                <a:latin typeface="Times New Roman"/>
                <a:cs typeface="Times New Roman"/>
              </a:rPr>
              <a:t>uses</a:t>
            </a:r>
            <a:r>
              <a:rPr sz="1100" spc="-20" dirty="0">
                <a:latin typeface="Times New Roman"/>
                <a:cs typeface="Times New Roman"/>
              </a:rPr>
              <a:t> </a:t>
            </a:r>
            <a:r>
              <a:rPr sz="1100" dirty="0">
                <a:latin typeface="Times New Roman"/>
                <a:cs typeface="Times New Roman"/>
              </a:rPr>
              <a:t>one</a:t>
            </a:r>
            <a:r>
              <a:rPr sz="1100" spc="-10" dirty="0">
                <a:latin typeface="Times New Roman"/>
                <a:cs typeface="Times New Roman"/>
              </a:rPr>
              <a:t> </a:t>
            </a:r>
            <a:r>
              <a:rPr sz="1100" dirty="0">
                <a:latin typeface="Times New Roman"/>
                <a:cs typeface="Times New Roman"/>
              </a:rPr>
              <a:t>clock.</a:t>
            </a:r>
            <a:r>
              <a:rPr sz="1100" spc="-2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delays</a:t>
            </a:r>
            <a:r>
              <a:rPr sz="1100" spc="-2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combinational</a:t>
            </a:r>
            <a:r>
              <a:rPr sz="1100" spc="-30" dirty="0">
                <a:latin typeface="Times New Roman"/>
                <a:cs typeface="Times New Roman"/>
              </a:rPr>
              <a:t> </a:t>
            </a:r>
            <a:r>
              <a:rPr sz="1100" dirty="0">
                <a:latin typeface="Times New Roman"/>
                <a:cs typeface="Times New Roman"/>
              </a:rPr>
              <a:t>blocks:</a:t>
            </a:r>
            <a:r>
              <a:rPr sz="1100" spc="15" dirty="0">
                <a:latin typeface="Times New Roman"/>
                <a:cs typeface="Times New Roman"/>
              </a:rPr>
              <a:t> </a:t>
            </a:r>
            <a:r>
              <a:rPr sz="1100" spc="-10" dirty="0">
                <a:latin typeface="Times New Roman"/>
                <a:cs typeface="Times New Roman"/>
              </a:rPr>
              <a:t>2-</a:t>
            </a:r>
            <a:r>
              <a:rPr sz="1100" dirty="0">
                <a:latin typeface="Times New Roman"/>
                <a:cs typeface="Times New Roman"/>
              </a:rPr>
              <a:t>input</a:t>
            </a:r>
            <a:r>
              <a:rPr sz="1100" spc="5" dirty="0">
                <a:latin typeface="Times New Roman"/>
                <a:cs typeface="Times New Roman"/>
              </a:rPr>
              <a:t> </a:t>
            </a:r>
            <a:r>
              <a:rPr sz="1100" dirty="0">
                <a:latin typeface="Times New Roman"/>
                <a:cs typeface="Times New Roman"/>
              </a:rPr>
              <a:t>adder</a:t>
            </a:r>
            <a:r>
              <a:rPr sz="1100" spc="-1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2ns,</a:t>
            </a:r>
            <a:r>
              <a:rPr sz="1100" spc="-10" dirty="0">
                <a:latin typeface="Times New Roman"/>
                <a:cs typeface="Times New Roman"/>
              </a:rPr>
              <a:t> 3-input </a:t>
            </a:r>
            <a:r>
              <a:rPr sz="1100" dirty="0">
                <a:latin typeface="Times New Roman"/>
                <a:cs typeface="Times New Roman"/>
              </a:rPr>
              <a:t>adder</a:t>
            </a:r>
            <a:r>
              <a:rPr sz="1100" spc="-10"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3ns,</a:t>
            </a:r>
            <a:r>
              <a:rPr sz="1100" spc="-10" dirty="0">
                <a:latin typeface="Times New Roman"/>
                <a:cs typeface="Times New Roman"/>
              </a:rPr>
              <a:t> </a:t>
            </a:r>
            <a:r>
              <a:rPr sz="1100" dirty="0">
                <a:latin typeface="Times New Roman"/>
                <a:cs typeface="Times New Roman"/>
              </a:rPr>
              <a:t>multiplier</a:t>
            </a:r>
            <a:r>
              <a:rPr sz="1100" spc="-1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5ns,</a:t>
            </a:r>
            <a:r>
              <a:rPr sz="1100" spc="-10" dirty="0">
                <a:latin typeface="Times New Roman"/>
                <a:cs typeface="Times New Roman"/>
              </a:rPr>
              <a:t> </a:t>
            </a:r>
            <a:r>
              <a:rPr sz="1100" dirty="0">
                <a:latin typeface="Times New Roman"/>
                <a:cs typeface="Times New Roman"/>
              </a:rPr>
              <a:t>absolute</a:t>
            </a:r>
            <a:r>
              <a:rPr sz="1100" spc="-3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3ns,</a:t>
            </a:r>
            <a:r>
              <a:rPr sz="1100" spc="-10" dirty="0">
                <a:latin typeface="Times New Roman"/>
                <a:cs typeface="Times New Roman"/>
              </a:rPr>
              <a:t> </a:t>
            </a:r>
            <a:r>
              <a:rPr sz="1100" dirty="0">
                <a:latin typeface="Times New Roman"/>
                <a:cs typeface="Times New Roman"/>
              </a:rPr>
              <a:t>square</a:t>
            </a:r>
            <a:r>
              <a:rPr sz="1100" spc="-25" dirty="0">
                <a:latin typeface="Times New Roman"/>
                <a:cs typeface="Times New Roman"/>
              </a:rPr>
              <a:t> </a:t>
            </a:r>
            <a:r>
              <a:rPr sz="1100" dirty="0">
                <a:latin typeface="Times New Roman"/>
                <a:cs typeface="Times New Roman"/>
              </a:rPr>
              <a:t>root</a:t>
            </a:r>
            <a:r>
              <a:rPr sz="1100" spc="-1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7ns.</a:t>
            </a:r>
            <a:r>
              <a:rPr sz="1100" spc="-10" dirty="0">
                <a:latin typeface="Times New Roman"/>
                <a:cs typeface="Times New Roman"/>
              </a:rPr>
              <a:t> </a:t>
            </a:r>
            <a:r>
              <a:rPr sz="1100" dirty="0">
                <a:latin typeface="Times New Roman"/>
                <a:cs typeface="Times New Roman"/>
              </a:rPr>
              <a:t>Delays</a:t>
            </a:r>
            <a:r>
              <a:rPr sz="1100" spc="-10" dirty="0">
                <a:latin typeface="Times New Roman"/>
                <a:cs typeface="Times New Roman"/>
              </a:rPr>
              <a:t> </a:t>
            </a:r>
            <a:r>
              <a:rPr sz="1100" dirty="0">
                <a:latin typeface="Times New Roman"/>
                <a:cs typeface="Times New Roman"/>
              </a:rPr>
              <a:t>for</a:t>
            </a:r>
            <a:r>
              <a:rPr sz="1100" spc="-10" dirty="0">
                <a:latin typeface="Times New Roman"/>
                <a:cs typeface="Times New Roman"/>
              </a:rPr>
              <a:t> registers:</a:t>
            </a:r>
            <a:endParaRPr sz="1100" dirty="0">
              <a:latin typeface="Times New Roman"/>
              <a:cs typeface="Times New Roman"/>
            </a:endParaRPr>
          </a:p>
          <a:p>
            <a:pPr marL="262255">
              <a:lnSpc>
                <a:spcPts val="1165"/>
              </a:lnSpc>
            </a:pPr>
            <a:r>
              <a:rPr sz="1100" dirty="0">
                <a:latin typeface="Times New Roman"/>
                <a:cs typeface="Times New Roman"/>
              </a:rPr>
              <a:t>Setup</a:t>
            </a:r>
            <a:r>
              <a:rPr sz="1100" spc="-2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1ns,</a:t>
            </a:r>
            <a:r>
              <a:rPr sz="1100" spc="-15" dirty="0">
                <a:latin typeface="Times New Roman"/>
                <a:cs typeface="Times New Roman"/>
              </a:rPr>
              <a:t> </a:t>
            </a:r>
            <a:r>
              <a:rPr sz="1100" dirty="0">
                <a:latin typeface="Times New Roman"/>
                <a:cs typeface="Times New Roman"/>
              </a:rPr>
              <a:t>propagation(CQ)</a:t>
            </a:r>
            <a:r>
              <a:rPr sz="1100" spc="-2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spc="-25" dirty="0">
                <a:latin typeface="Times New Roman"/>
                <a:cs typeface="Times New Roman"/>
              </a:rPr>
              <a:t>1ns</a:t>
            </a:r>
            <a:endParaRPr sz="1100" dirty="0">
              <a:latin typeface="Times New Roman"/>
              <a:cs typeface="Times New Roman"/>
            </a:endParaRPr>
          </a:p>
          <a:p>
            <a:pPr marL="459105" indent="-196850">
              <a:lnSpc>
                <a:spcPct val="100000"/>
              </a:lnSpc>
              <a:spcBef>
                <a:spcPts val="565"/>
              </a:spcBef>
              <a:buAutoNum type="alphaLcParenBoth" startAt="4"/>
              <a:tabLst>
                <a:tab pos="459105" algn="l"/>
              </a:tabLst>
            </a:pPr>
            <a:r>
              <a:rPr sz="1100" dirty="0">
                <a:latin typeface="Times New Roman"/>
                <a:cs typeface="Times New Roman"/>
              </a:rPr>
              <a:t>Maximally</a:t>
            </a:r>
            <a:r>
              <a:rPr sz="1100" spc="-10" dirty="0">
                <a:latin typeface="Times New Roman"/>
                <a:cs typeface="Times New Roman"/>
              </a:rPr>
              <a:t> </a:t>
            </a:r>
            <a:r>
              <a:rPr sz="1100" dirty="0">
                <a:latin typeface="Times New Roman"/>
                <a:cs typeface="Times New Roman"/>
              </a:rPr>
              <a:t>pipeline</a:t>
            </a:r>
            <a:r>
              <a:rPr sz="1100" spc="-2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circuit</a:t>
            </a:r>
            <a:r>
              <a:rPr sz="1100" spc="-5" dirty="0">
                <a:latin typeface="Times New Roman"/>
                <a:cs typeface="Times New Roman"/>
              </a:rPr>
              <a:t> </a:t>
            </a:r>
            <a:r>
              <a:rPr sz="1100" dirty="0">
                <a:latin typeface="Times New Roman"/>
                <a:cs typeface="Times New Roman"/>
              </a:rPr>
              <a:t>(internal</a:t>
            </a:r>
            <a:r>
              <a:rPr sz="1100" spc="-30" dirty="0">
                <a:latin typeface="Times New Roman"/>
                <a:cs typeface="Times New Roman"/>
              </a:rPr>
              <a:t> </a:t>
            </a:r>
            <a:r>
              <a:rPr sz="1100" dirty="0">
                <a:latin typeface="Times New Roman"/>
                <a:cs typeface="Times New Roman"/>
              </a:rPr>
              <a:t>and</a:t>
            </a:r>
            <a:r>
              <a:rPr sz="1100" spc="15" dirty="0">
                <a:latin typeface="Times New Roman"/>
                <a:cs typeface="Times New Roman"/>
              </a:rPr>
              <a:t> </a:t>
            </a:r>
            <a:r>
              <a:rPr sz="1100" spc="-20" dirty="0">
                <a:latin typeface="Times New Roman"/>
                <a:cs typeface="Times New Roman"/>
              </a:rPr>
              <a:t>I/O).</a:t>
            </a:r>
            <a:endParaRPr sz="1100" dirty="0">
              <a:latin typeface="Times New Roman"/>
              <a:cs typeface="Times New Roman"/>
            </a:endParaRPr>
          </a:p>
          <a:p>
            <a:pPr marL="448945" indent="-186690">
              <a:lnSpc>
                <a:spcPct val="100000"/>
              </a:lnSpc>
              <a:spcBef>
                <a:spcPts val="565"/>
              </a:spcBef>
              <a:buAutoNum type="alphaLcParenBoth" startAt="4"/>
              <a:tabLst>
                <a:tab pos="448945" algn="l"/>
              </a:tabLst>
            </a:pPr>
            <a:r>
              <a:rPr sz="1100" dirty="0">
                <a:latin typeface="Times New Roman"/>
                <a:cs typeface="Times New Roman"/>
              </a:rPr>
              <a:t>What</a:t>
            </a:r>
            <a:r>
              <a:rPr sz="1100" spc="-5" dirty="0">
                <a:latin typeface="Times New Roman"/>
                <a:cs typeface="Times New Roman"/>
              </a:rPr>
              <a:t> </a:t>
            </a:r>
            <a:r>
              <a:rPr sz="1100" dirty="0">
                <a:latin typeface="Times New Roman"/>
                <a:cs typeface="Times New Roman"/>
              </a:rPr>
              <a:t>are</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period</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frequency</a:t>
            </a:r>
            <a:r>
              <a:rPr sz="1100" spc="-2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part</a:t>
            </a:r>
            <a:r>
              <a:rPr sz="1100" spc="-15" dirty="0">
                <a:latin typeface="Times New Roman"/>
                <a:cs typeface="Times New Roman"/>
              </a:rPr>
              <a:t> </a:t>
            </a:r>
            <a:r>
              <a:rPr sz="1100" spc="-20" dirty="0">
                <a:latin typeface="Times New Roman"/>
                <a:cs typeface="Times New Roman"/>
              </a:rPr>
              <a:t>(d)?</a:t>
            </a:r>
            <a:endParaRPr sz="1100" dirty="0">
              <a:latin typeface="Times New Roman"/>
              <a:cs typeface="Times New Roman"/>
            </a:endParaRPr>
          </a:p>
        </p:txBody>
      </p:sp>
      <p:pic>
        <p:nvPicPr>
          <p:cNvPr id="3" name="object 3"/>
          <p:cNvPicPr/>
          <p:nvPr/>
        </p:nvPicPr>
        <p:blipFill>
          <a:blip r:embed="rId3" cstate="print"/>
          <a:stretch>
            <a:fillRect/>
          </a:stretch>
        </p:blipFill>
        <p:spPr>
          <a:xfrm>
            <a:off x="3493896" y="2785872"/>
            <a:ext cx="2835275" cy="1371600"/>
          </a:xfrm>
          <a:prstGeom prst="rect">
            <a:avLst/>
          </a:prstGeom>
        </p:spPr>
      </p:pic>
      <p:grpSp>
        <p:nvGrpSpPr>
          <p:cNvPr id="4" name="object 4"/>
          <p:cNvGrpSpPr/>
          <p:nvPr/>
        </p:nvGrpSpPr>
        <p:grpSpPr>
          <a:xfrm>
            <a:off x="381000" y="4844796"/>
            <a:ext cx="6096000" cy="3689604"/>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8" name="object 8"/>
            <p:cNvPicPr/>
            <p:nvPr/>
          </p:nvPicPr>
          <p:blipFill>
            <a:blip r:embed="rId4" cstate="print"/>
            <a:stretch>
              <a:fillRect/>
            </a:stretch>
          </p:blipFill>
          <p:spPr>
            <a:xfrm>
              <a:off x="3048000" y="6649212"/>
              <a:ext cx="3304032" cy="1463040"/>
            </a:xfrm>
            <a:prstGeom prst="rect">
              <a:avLst/>
            </a:prstGeom>
          </p:spPr>
        </p:pic>
        <p:sp>
          <p:nvSpPr>
            <p:cNvPr id="9" name="object 9"/>
            <p:cNvSpPr/>
            <p:nvPr/>
          </p:nvSpPr>
          <p:spPr>
            <a:xfrm>
              <a:off x="2018157" y="6507352"/>
              <a:ext cx="189230" cy="10795"/>
            </a:xfrm>
            <a:custGeom>
              <a:avLst/>
              <a:gdLst/>
              <a:ahLst/>
              <a:cxnLst/>
              <a:rect l="l" t="t" r="r" b="b"/>
              <a:pathLst>
                <a:path w="189230" h="10795">
                  <a:moveTo>
                    <a:pt x="188975" y="0"/>
                  </a:moveTo>
                  <a:lnTo>
                    <a:pt x="0" y="0"/>
                  </a:lnTo>
                  <a:lnTo>
                    <a:pt x="0" y="10668"/>
                  </a:lnTo>
                  <a:lnTo>
                    <a:pt x="188975" y="10668"/>
                  </a:lnTo>
                  <a:lnTo>
                    <a:pt x="188975"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700023" y="5069586"/>
            <a:ext cx="2768600" cy="1433195"/>
          </a:xfrm>
          <a:prstGeom prst="rect">
            <a:avLst/>
          </a:prstGeom>
        </p:spPr>
        <p:txBody>
          <a:bodyPr vert="horz" wrap="square" lIns="0" tIns="12065" rIns="0" bIns="0" rtlCol="0">
            <a:spAutoFit/>
          </a:bodyPr>
          <a:lstStyle/>
          <a:p>
            <a:pPr marL="25400">
              <a:lnSpc>
                <a:spcPct val="100000"/>
              </a:lnSpc>
              <a:spcBef>
                <a:spcPts val="95"/>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222885" indent="-163830">
              <a:lnSpc>
                <a:spcPct val="100000"/>
              </a:lnSpc>
              <a:spcBef>
                <a:spcPts val="1535"/>
              </a:spcBef>
              <a:buAutoNum type="alphaLcParenR" startAt="4"/>
              <a:tabLst>
                <a:tab pos="222885" algn="l"/>
              </a:tabLst>
            </a:pPr>
            <a:r>
              <a:rPr sz="1200" dirty="0">
                <a:latin typeface="Times New Roman"/>
                <a:cs typeface="Times New Roman"/>
              </a:rPr>
              <a:t>6</a:t>
            </a:r>
            <a:r>
              <a:rPr sz="1200" spc="-20" dirty="0">
                <a:latin typeface="Times New Roman"/>
                <a:cs typeface="Times New Roman"/>
              </a:rPr>
              <a:t> </a:t>
            </a:r>
            <a:r>
              <a:rPr sz="1200" dirty="0">
                <a:latin typeface="Times New Roman"/>
                <a:cs typeface="Times New Roman"/>
              </a:rPr>
              <a:t>pipeline</a:t>
            </a:r>
            <a:r>
              <a:rPr sz="1200" spc="-20" dirty="0">
                <a:latin typeface="Times New Roman"/>
                <a:cs typeface="Times New Roman"/>
              </a:rPr>
              <a:t> </a:t>
            </a:r>
            <a:r>
              <a:rPr sz="1200" spc="-10" dirty="0">
                <a:latin typeface="Times New Roman"/>
                <a:cs typeface="Times New Roman"/>
              </a:rPr>
              <a:t>segments/stages</a:t>
            </a:r>
            <a:endParaRPr sz="1200" dirty="0">
              <a:latin typeface="Times New Roman"/>
              <a:cs typeface="Times New Roman"/>
            </a:endParaRPr>
          </a:p>
          <a:p>
            <a:pPr marL="212090" indent="-153035">
              <a:lnSpc>
                <a:spcPct val="100000"/>
              </a:lnSpc>
              <a:spcBef>
                <a:spcPts val="840"/>
              </a:spcBef>
              <a:buAutoNum type="alphaLcParenR" startAt="4"/>
              <a:tabLst>
                <a:tab pos="212090" algn="l"/>
              </a:tabLst>
            </a:pPr>
            <a:r>
              <a:rPr sz="1800" baseline="13888" dirty="0">
                <a:latin typeface="Times New Roman"/>
                <a:cs typeface="Times New Roman"/>
              </a:rPr>
              <a:t>T</a:t>
            </a:r>
            <a:r>
              <a:rPr sz="800" dirty="0">
                <a:latin typeface="Times New Roman"/>
                <a:cs typeface="Times New Roman"/>
              </a:rPr>
              <a:t>clk</a:t>
            </a:r>
            <a:r>
              <a:rPr sz="800" spc="65" dirty="0">
                <a:latin typeface="Times New Roman"/>
                <a:cs typeface="Times New Roman"/>
              </a:rPr>
              <a:t> </a:t>
            </a:r>
            <a:r>
              <a:rPr sz="1800" baseline="13888" dirty="0">
                <a:latin typeface="Times New Roman"/>
                <a:cs typeface="Times New Roman"/>
              </a:rPr>
              <a:t>&gt;</a:t>
            </a:r>
            <a:r>
              <a:rPr sz="1800" spc="-97"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cq</a:t>
            </a:r>
            <a:r>
              <a:rPr sz="800" spc="55" dirty="0">
                <a:latin typeface="Times New Roman"/>
                <a:cs typeface="Times New Roman"/>
              </a:rPr>
              <a:t> </a:t>
            </a:r>
            <a:r>
              <a:rPr sz="1800" baseline="13888" dirty="0">
                <a:latin typeface="Times New Roman"/>
                <a:cs typeface="Times New Roman"/>
              </a:rPr>
              <a:t>+</a:t>
            </a:r>
            <a:r>
              <a:rPr sz="1800" spc="-60"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setup</a:t>
            </a:r>
            <a:r>
              <a:rPr sz="800" spc="-30" dirty="0">
                <a:latin typeface="Times New Roman"/>
                <a:cs typeface="Times New Roman"/>
              </a:rPr>
              <a:t> </a:t>
            </a:r>
            <a:r>
              <a:rPr sz="1800" baseline="13888" dirty="0">
                <a:latin typeface="Times New Roman"/>
                <a:cs typeface="Times New Roman"/>
              </a:rPr>
              <a:t>+</a:t>
            </a:r>
            <a:r>
              <a:rPr sz="1800" spc="-89" baseline="13888" dirty="0">
                <a:latin typeface="Times New Roman"/>
                <a:cs typeface="Times New Roman"/>
              </a:rPr>
              <a:t> </a:t>
            </a:r>
            <a:r>
              <a:rPr sz="1800" spc="-37" baseline="13888" dirty="0">
                <a:latin typeface="Times New Roman"/>
                <a:cs typeface="Times New Roman"/>
              </a:rPr>
              <a:t>T</a:t>
            </a:r>
            <a:r>
              <a:rPr sz="800" spc="-25" dirty="0">
                <a:latin typeface="Times New Roman"/>
                <a:cs typeface="Times New Roman"/>
              </a:rPr>
              <a:t>pd</a:t>
            </a:r>
            <a:endParaRPr sz="800" dirty="0">
              <a:latin typeface="Times New Roman"/>
              <a:cs typeface="Times New Roman"/>
            </a:endParaRPr>
          </a:p>
          <a:p>
            <a:pPr marL="516255">
              <a:lnSpc>
                <a:spcPct val="100000"/>
              </a:lnSpc>
              <a:spcBef>
                <a:spcPts val="265"/>
              </a:spcBef>
            </a:pPr>
            <a:r>
              <a:rPr sz="1200" dirty="0">
                <a:latin typeface="Times New Roman"/>
                <a:cs typeface="Times New Roman"/>
              </a:rPr>
              <a:t>Min.</a:t>
            </a:r>
            <a:r>
              <a:rPr sz="1200" spc="-10" dirty="0">
                <a:latin typeface="Times New Roman"/>
                <a:cs typeface="Times New Roman"/>
              </a:rPr>
              <a:t> </a:t>
            </a:r>
            <a:r>
              <a:rPr sz="1200" dirty="0">
                <a:latin typeface="Times New Roman"/>
                <a:cs typeface="Times New Roman"/>
              </a:rPr>
              <a:t>clock</a:t>
            </a:r>
            <a:r>
              <a:rPr sz="1200" spc="-5" dirty="0">
                <a:latin typeface="Times New Roman"/>
                <a:cs typeface="Times New Roman"/>
              </a:rPr>
              <a:t> </a:t>
            </a:r>
            <a:r>
              <a:rPr sz="1200" dirty="0">
                <a:latin typeface="Times New Roman"/>
                <a:cs typeface="Times New Roman"/>
              </a:rPr>
              <a:t>period</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+ 1</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9</a:t>
            </a:r>
            <a:r>
              <a:rPr sz="1200" spc="-5" dirty="0">
                <a:latin typeface="Times New Roman"/>
                <a:cs typeface="Times New Roman"/>
              </a:rPr>
              <a:t> </a:t>
            </a:r>
            <a:r>
              <a:rPr sz="1200" spc="-25" dirty="0">
                <a:latin typeface="Times New Roman"/>
                <a:cs typeface="Times New Roman"/>
              </a:rPr>
              <a:t>ns</a:t>
            </a:r>
            <a:endParaRPr sz="1200" dirty="0">
              <a:latin typeface="Times New Roman"/>
              <a:cs typeface="Times New Roman"/>
            </a:endParaRPr>
          </a:p>
          <a:p>
            <a:pPr marL="57785" algn="ctr">
              <a:lnSpc>
                <a:spcPct val="100000"/>
              </a:lnSpc>
              <a:spcBef>
                <a:spcPts val="459"/>
              </a:spcBef>
            </a:pPr>
            <a:r>
              <a:rPr sz="850" spc="-50" dirty="0">
                <a:latin typeface="Cambria Math"/>
                <a:cs typeface="Cambria Math"/>
              </a:rPr>
              <a:t>1</a:t>
            </a:r>
            <a:endParaRPr sz="850" dirty="0">
              <a:latin typeface="Cambria Math"/>
              <a:cs typeface="Cambria Math"/>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19</a:t>
            </a:fld>
            <a:endParaRPr spc="-25" dirty="0"/>
          </a:p>
        </p:txBody>
      </p:sp>
      <p:sp>
        <p:nvSpPr>
          <p:cNvPr id="11" name="object 11"/>
          <p:cNvSpPr txBox="1"/>
          <p:nvPr/>
        </p:nvSpPr>
        <p:spPr>
          <a:xfrm>
            <a:off x="2018664" y="6509384"/>
            <a:ext cx="198755" cy="159385"/>
          </a:xfrm>
          <a:prstGeom prst="rect">
            <a:avLst/>
          </a:prstGeom>
        </p:spPr>
        <p:txBody>
          <a:bodyPr vert="horz" wrap="square" lIns="0" tIns="15875" rIns="0" bIns="0" rtlCol="0">
            <a:spAutoFit/>
          </a:bodyPr>
          <a:lstStyle/>
          <a:p>
            <a:pPr>
              <a:lnSpc>
                <a:spcPct val="100000"/>
              </a:lnSpc>
              <a:spcBef>
                <a:spcPts val="125"/>
              </a:spcBef>
            </a:pPr>
            <a:r>
              <a:rPr sz="850" spc="-25" dirty="0">
                <a:latin typeface="Cambria Math"/>
                <a:cs typeface="Cambria Math"/>
              </a:rPr>
              <a:t>9𝑛𝑠</a:t>
            </a:r>
            <a:endParaRPr sz="850">
              <a:latin typeface="Cambria Math"/>
              <a:cs typeface="Cambria Math"/>
            </a:endParaRPr>
          </a:p>
        </p:txBody>
      </p:sp>
      <p:sp>
        <p:nvSpPr>
          <p:cNvPr id="12" name="object 12"/>
          <p:cNvSpPr txBox="1"/>
          <p:nvPr/>
        </p:nvSpPr>
        <p:spPr>
          <a:xfrm>
            <a:off x="1216761" y="6392036"/>
            <a:ext cx="1732914" cy="208279"/>
          </a:xfrm>
          <a:prstGeom prst="rect">
            <a:avLst/>
          </a:prstGeom>
        </p:spPr>
        <p:txBody>
          <a:bodyPr vert="horz" wrap="square" lIns="0" tIns="12700" rIns="0" bIns="0" rtlCol="0">
            <a:spAutoFit/>
          </a:bodyPr>
          <a:lstStyle/>
          <a:p>
            <a:pPr>
              <a:lnSpc>
                <a:spcPct val="100000"/>
              </a:lnSpc>
              <a:spcBef>
                <a:spcPts val="100"/>
              </a:spcBef>
              <a:tabLst>
                <a:tab pos="1028700" algn="l"/>
              </a:tabLst>
            </a:pPr>
            <a:r>
              <a:rPr sz="1200" dirty="0">
                <a:latin typeface="Times New Roman"/>
                <a:cs typeface="Times New Roman"/>
              </a:rPr>
              <a:t>Max.</a:t>
            </a:r>
            <a:r>
              <a:rPr sz="1200" spc="-35" dirty="0">
                <a:latin typeface="Times New Roman"/>
                <a:cs typeface="Times New Roman"/>
              </a:rPr>
              <a:t> </a:t>
            </a:r>
            <a:r>
              <a:rPr sz="1200" dirty="0">
                <a:latin typeface="Times New Roman"/>
                <a:cs typeface="Times New Roman"/>
              </a:rPr>
              <a:t>freq.</a:t>
            </a:r>
            <a:r>
              <a:rPr sz="1200" spc="-10" dirty="0">
                <a:latin typeface="Times New Roman"/>
                <a:cs typeface="Times New Roman"/>
              </a:rPr>
              <a:t> </a:t>
            </a:r>
            <a:r>
              <a:rPr sz="1200" spc="-50" dirty="0">
                <a:latin typeface="Times New Roman"/>
                <a:cs typeface="Times New Roman"/>
              </a:rPr>
              <a:t>=</a:t>
            </a:r>
            <a:r>
              <a:rPr sz="1200" dirty="0">
                <a:latin typeface="Times New Roman"/>
                <a:cs typeface="Times New Roman"/>
              </a:rPr>
              <a:t>	=</a:t>
            </a:r>
            <a:r>
              <a:rPr sz="1200" spc="-25" dirty="0">
                <a:latin typeface="Times New Roman"/>
                <a:cs typeface="Times New Roman"/>
              </a:rPr>
              <a:t> </a:t>
            </a:r>
            <a:r>
              <a:rPr sz="1200" spc="-20" dirty="0">
                <a:latin typeface="Times New Roman"/>
                <a:cs typeface="Times New Roman"/>
              </a:rPr>
              <a:t>111 </a:t>
            </a:r>
            <a:r>
              <a:rPr sz="1200" spc="-25" dirty="0">
                <a:latin typeface="Times New Roman"/>
                <a:cs typeface="Times New Roman"/>
              </a:rPr>
              <a:t>MHz</a:t>
            </a:r>
            <a:endParaRPr sz="12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262255" marR="857250">
              <a:lnSpc>
                <a:spcPts val="1190"/>
              </a:lnSpc>
              <a:spcBef>
                <a:spcPts val="1864"/>
              </a:spcBef>
            </a:pP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combinational</a:t>
            </a:r>
            <a:r>
              <a:rPr sz="1100" spc="-20" dirty="0">
                <a:latin typeface="Times New Roman"/>
                <a:cs typeface="Times New Roman"/>
              </a:rPr>
              <a:t> </a:t>
            </a:r>
            <a:r>
              <a:rPr sz="1100" dirty="0">
                <a:latin typeface="Times New Roman"/>
                <a:cs typeface="Times New Roman"/>
              </a:rPr>
              <a:t>circuit</a:t>
            </a:r>
            <a:r>
              <a:rPr sz="1100" spc="-30" dirty="0">
                <a:latin typeface="Times New Roman"/>
                <a:cs typeface="Times New Roman"/>
              </a:rPr>
              <a:t> </a:t>
            </a:r>
            <a:r>
              <a:rPr sz="1100" dirty="0">
                <a:latin typeface="Times New Roman"/>
                <a:cs typeface="Times New Roman"/>
              </a:rPr>
              <a:t>below</a:t>
            </a:r>
            <a:r>
              <a:rPr sz="1100" spc="-15" dirty="0">
                <a:latin typeface="Times New Roman"/>
                <a:cs typeface="Times New Roman"/>
              </a:rPr>
              <a:t> </a:t>
            </a:r>
            <a:r>
              <a:rPr sz="1100" dirty="0">
                <a:latin typeface="Times New Roman"/>
                <a:cs typeface="Times New Roman"/>
              </a:rPr>
              <a:t>is pipelined</a:t>
            </a:r>
            <a:r>
              <a:rPr sz="1100" spc="-30" dirty="0">
                <a:latin typeface="Times New Roman"/>
                <a:cs typeface="Times New Roman"/>
              </a:rPr>
              <a:t> </a:t>
            </a:r>
            <a:r>
              <a:rPr sz="1100" dirty="0">
                <a:latin typeface="Times New Roman"/>
                <a:cs typeface="Times New Roman"/>
              </a:rPr>
              <a:t>at all its</a:t>
            </a:r>
            <a:r>
              <a:rPr sz="1100" spc="-15" dirty="0">
                <a:latin typeface="Times New Roman"/>
                <a:cs typeface="Times New Roman"/>
              </a:rPr>
              <a:t> </a:t>
            </a:r>
            <a:r>
              <a:rPr sz="1100" dirty="0">
                <a:latin typeface="Times New Roman"/>
                <a:cs typeface="Times New Roman"/>
              </a:rPr>
              <a:t>inputs</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output.</a:t>
            </a:r>
            <a:r>
              <a:rPr sz="1100" spc="-30"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spc="-10" dirty="0">
                <a:latin typeface="Times New Roman"/>
                <a:cs typeface="Times New Roman"/>
              </a:rPr>
              <a:t>circuit </a:t>
            </a:r>
            <a:r>
              <a:rPr sz="1100" dirty="0">
                <a:latin typeface="Times New Roman"/>
                <a:cs typeface="Times New Roman"/>
              </a:rPr>
              <a:t>uses</a:t>
            </a:r>
            <a:r>
              <a:rPr sz="1100" spc="-20" dirty="0">
                <a:latin typeface="Times New Roman"/>
                <a:cs typeface="Times New Roman"/>
              </a:rPr>
              <a:t> </a:t>
            </a:r>
            <a:r>
              <a:rPr sz="1100" dirty="0">
                <a:latin typeface="Times New Roman"/>
                <a:cs typeface="Times New Roman"/>
              </a:rPr>
              <a:t>one</a:t>
            </a:r>
            <a:r>
              <a:rPr sz="1100" spc="-10" dirty="0">
                <a:latin typeface="Times New Roman"/>
                <a:cs typeface="Times New Roman"/>
              </a:rPr>
              <a:t> </a:t>
            </a:r>
            <a:r>
              <a:rPr sz="1100" dirty="0">
                <a:latin typeface="Times New Roman"/>
                <a:cs typeface="Times New Roman"/>
              </a:rPr>
              <a:t>clock.</a:t>
            </a:r>
            <a:r>
              <a:rPr sz="1100" spc="-2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delays</a:t>
            </a:r>
            <a:r>
              <a:rPr sz="1100" spc="-2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combinational</a:t>
            </a:r>
            <a:r>
              <a:rPr sz="1100" spc="-30" dirty="0">
                <a:latin typeface="Times New Roman"/>
                <a:cs typeface="Times New Roman"/>
              </a:rPr>
              <a:t> </a:t>
            </a:r>
            <a:r>
              <a:rPr sz="1100" dirty="0">
                <a:latin typeface="Times New Roman"/>
                <a:cs typeface="Times New Roman"/>
              </a:rPr>
              <a:t>blocks:</a:t>
            </a:r>
            <a:r>
              <a:rPr sz="1100" spc="15" dirty="0">
                <a:latin typeface="Times New Roman"/>
                <a:cs typeface="Times New Roman"/>
              </a:rPr>
              <a:t> </a:t>
            </a:r>
            <a:r>
              <a:rPr sz="1100" spc="-10" dirty="0">
                <a:latin typeface="Times New Roman"/>
                <a:cs typeface="Times New Roman"/>
              </a:rPr>
              <a:t>2-</a:t>
            </a:r>
            <a:r>
              <a:rPr sz="1100" dirty="0">
                <a:latin typeface="Times New Roman"/>
                <a:cs typeface="Times New Roman"/>
              </a:rPr>
              <a:t>input</a:t>
            </a:r>
            <a:r>
              <a:rPr sz="1100" spc="5" dirty="0">
                <a:latin typeface="Times New Roman"/>
                <a:cs typeface="Times New Roman"/>
              </a:rPr>
              <a:t> </a:t>
            </a:r>
            <a:r>
              <a:rPr sz="1100" dirty="0">
                <a:latin typeface="Times New Roman"/>
                <a:cs typeface="Times New Roman"/>
              </a:rPr>
              <a:t>adder</a:t>
            </a:r>
            <a:r>
              <a:rPr sz="1100" spc="-1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2ns,</a:t>
            </a:r>
            <a:r>
              <a:rPr sz="1100" spc="-10" dirty="0">
                <a:latin typeface="Times New Roman"/>
                <a:cs typeface="Times New Roman"/>
              </a:rPr>
              <a:t> 3-input </a:t>
            </a:r>
            <a:r>
              <a:rPr sz="1100" dirty="0">
                <a:latin typeface="Times New Roman"/>
                <a:cs typeface="Times New Roman"/>
              </a:rPr>
              <a:t>adder</a:t>
            </a:r>
            <a:r>
              <a:rPr sz="1100" spc="-10"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3ns,</a:t>
            </a:r>
            <a:r>
              <a:rPr sz="1100" spc="-10" dirty="0">
                <a:latin typeface="Times New Roman"/>
                <a:cs typeface="Times New Roman"/>
              </a:rPr>
              <a:t> </a:t>
            </a:r>
            <a:r>
              <a:rPr sz="1100" dirty="0">
                <a:latin typeface="Times New Roman"/>
                <a:cs typeface="Times New Roman"/>
              </a:rPr>
              <a:t>multiplier</a:t>
            </a:r>
            <a:r>
              <a:rPr sz="1100" spc="-1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5ns,</a:t>
            </a:r>
            <a:r>
              <a:rPr sz="1100" spc="-10" dirty="0">
                <a:latin typeface="Times New Roman"/>
                <a:cs typeface="Times New Roman"/>
              </a:rPr>
              <a:t> </a:t>
            </a:r>
            <a:r>
              <a:rPr sz="1100" dirty="0">
                <a:latin typeface="Times New Roman"/>
                <a:cs typeface="Times New Roman"/>
              </a:rPr>
              <a:t>absolute</a:t>
            </a:r>
            <a:r>
              <a:rPr sz="1100" spc="-35" dirty="0">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3ns,</a:t>
            </a:r>
            <a:r>
              <a:rPr sz="1100" spc="-10" dirty="0">
                <a:latin typeface="Times New Roman"/>
                <a:cs typeface="Times New Roman"/>
              </a:rPr>
              <a:t> </a:t>
            </a:r>
            <a:r>
              <a:rPr sz="1100" dirty="0">
                <a:latin typeface="Times New Roman"/>
                <a:cs typeface="Times New Roman"/>
              </a:rPr>
              <a:t>square</a:t>
            </a:r>
            <a:r>
              <a:rPr sz="1100" spc="-25" dirty="0">
                <a:latin typeface="Times New Roman"/>
                <a:cs typeface="Times New Roman"/>
              </a:rPr>
              <a:t> </a:t>
            </a:r>
            <a:r>
              <a:rPr sz="1100" dirty="0">
                <a:latin typeface="Times New Roman"/>
                <a:cs typeface="Times New Roman"/>
              </a:rPr>
              <a:t>root</a:t>
            </a:r>
            <a:r>
              <a:rPr sz="1100" spc="-10"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7ns.</a:t>
            </a:r>
            <a:r>
              <a:rPr sz="1100" spc="-10" dirty="0">
                <a:latin typeface="Times New Roman"/>
                <a:cs typeface="Times New Roman"/>
              </a:rPr>
              <a:t> </a:t>
            </a:r>
            <a:r>
              <a:rPr sz="1100" dirty="0">
                <a:latin typeface="Times New Roman"/>
                <a:cs typeface="Times New Roman"/>
              </a:rPr>
              <a:t>Delays</a:t>
            </a:r>
            <a:r>
              <a:rPr sz="1100" spc="-10" dirty="0">
                <a:latin typeface="Times New Roman"/>
                <a:cs typeface="Times New Roman"/>
              </a:rPr>
              <a:t> </a:t>
            </a:r>
            <a:r>
              <a:rPr sz="1100" dirty="0">
                <a:latin typeface="Times New Roman"/>
                <a:cs typeface="Times New Roman"/>
              </a:rPr>
              <a:t>for</a:t>
            </a:r>
            <a:r>
              <a:rPr sz="1100" spc="-10" dirty="0">
                <a:latin typeface="Times New Roman"/>
                <a:cs typeface="Times New Roman"/>
              </a:rPr>
              <a:t> registers:</a:t>
            </a:r>
            <a:endParaRPr sz="1100" dirty="0">
              <a:latin typeface="Times New Roman"/>
              <a:cs typeface="Times New Roman"/>
            </a:endParaRPr>
          </a:p>
          <a:p>
            <a:pPr marL="262255">
              <a:lnSpc>
                <a:spcPts val="1165"/>
              </a:lnSpc>
            </a:pPr>
            <a:r>
              <a:rPr sz="1100" dirty="0">
                <a:latin typeface="Times New Roman"/>
                <a:cs typeface="Times New Roman"/>
              </a:rPr>
              <a:t>Setup</a:t>
            </a:r>
            <a:r>
              <a:rPr sz="1100" spc="-2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1ns,</a:t>
            </a:r>
            <a:r>
              <a:rPr sz="1100" spc="-15" dirty="0">
                <a:latin typeface="Times New Roman"/>
                <a:cs typeface="Times New Roman"/>
              </a:rPr>
              <a:t> </a:t>
            </a:r>
            <a:r>
              <a:rPr sz="1100" dirty="0">
                <a:latin typeface="Times New Roman"/>
                <a:cs typeface="Times New Roman"/>
              </a:rPr>
              <a:t>propagation(CQ)</a:t>
            </a:r>
            <a:r>
              <a:rPr sz="1100" spc="-2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spc="-25" dirty="0">
                <a:latin typeface="Times New Roman"/>
                <a:cs typeface="Times New Roman"/>
              </a:rPr>
              <a:t>1ns</a:t>
            </a:r>
            <a:endParaRPr sz="1100" dirty="0">
              <a:latin typeface="Times New Roman"/>
              <a:cs typeface="Times New Roman"/>
            </a:endParaRPr>
          </a:p>
          <a:p>
            <a:pPr marL="427990" indent="-165735">
              <a:lnSpc>
                <a:spcPct val="100000"/>
              </a:lnSpc>
              <a:spcBef>
                <a:spcPts val="565"/>
              </a:spcBef>
              <a:buAutoNum type="alphaLcParenBoth" startAt="6"/>
              <a:tabLst>
                <a:tab pos="427990" algn="l"/>
              </a:tabLst>
            </a:pPr>
            <a:r>
              <a:rPr sz="1100" dirty="0">
                <a:latin typeface="Times New Roman"/>
                <a:cs typeface="Times New Roman"/>
              </a:rPr>
              <a:t>As</a:t>
            </a:r>
            <a:r>
              <a:rPr sz="1100" spc="5" dirty="0">
                <a:latin typeface="Times New Roman"/>
                <a:cs typeface="Times New Roman"/>
              </a:rPr>
              <a:t> </a:t>
            </a:r>
            <a:r>
              <a:rPr sz="1100" dirty="0">
                <a:latin typeface="Times New Roman"/>
                <a:cs typeface="Times New Roman"/>
              </a:rPr>
              <a:t>optimal as possible</a:t>
            </a:r>
            <a:r>
              <a:rPr sz="1100" spc="-30" dirty="0">
                <a:latin typeface="Times New Roman"/>
                <a:cs typeface="Times New Roman"/>
              </a:rPr>
              <a:t> </a:t>
            </a:r>
            <a:r>
              <a:rPr sz="1100" dirty="0">
                <a:latin typeface="Times New Roman"/>
                <a:cs typeface="Times New Roman"/>
              </a:rPr>
              <a:t>pipeline</a:t>
            </a:r>
            <a:r>
              <a:rPr sz="1100" spc="-2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circuit,</a:t>
            </a:r>
            <a:r>
              <a:rPr sz="1100" spc="-30" dirty="0">
                <a:latin typeface="Times New Roman"/>
                <a:cs typeface="Times New Roman"/>
              </a:rPr>
              <a:t> </a:t>
            </a:r>
            <a:r>
              <a:rPr sz="1100" dirty="0">
                <a:latin typeface="Times New Roman"/>
                <a:cs typeface="Times New Roman"/>
              </a:rPr>
              <a:t>and show</a:t>
            </a:r>
            <a:r>
              <a:rPr sz="1100" spc="-10" dirty="0">
                <a:latin typeface="Times New Roman"/>
                <a:cs typeface="Times New Roman"/>
              </a:rPr>
              <a:t> </a:t>
            </a:r>
            <a:r>
              <a:rPr sz="1100" dirty="0">
                <a:latin typeface="Times New Roman"/>
                <a:cs typeface="Times New Roman"/>
              </a:rPr>
              <a:t>all registers</a:t>
            </a:r>
            <a:r>
              <a:rPr sz="1100" spc="-30" dirty="0">
                <a:latin typeface="Times New Roman"/>
                <a:cs typeface="Times New Roman"/>
              </a:rPr>
              <a:t> </a:t>
            </a:r>
            <a:r>
              <a:rPr sz="1100" dirty="0">
                <a:latin typeface="Times New Roman"/>
                <a:cs typeface="Times New Roman"/>
              </a:rPr>
              <a:t>on</a:t>
            </a:r>
            <a:r>
              <a:rPr sz="1100" spc="10" dirty="0">
                <a:latin typeface="Times New Roman"/>
                <a:cs typeface="Times New Roman"/>
              </a:rPr>
              <a:t> </a:t>
            </a:r>
            <a:r>
              <a:rPr sz="1100" dirty="0">
                <a:latin typeface="Times New Roman"/>
                <a:cs typeface="Times New Roman"/>
              </a:rPr>
              <a:t>the </a:t>
            </a:r>
            <a:r>
              <a:rPr sz="1100" spc="-10" dirty="0">
                <a:latin typeface="Times New Roman"/>
                <a:cs typeface="Times New Roman"/>
              </a:rPr>
              <a:t>circuit.</a:t>
            </a:r>
            <a:endParaRPr sz="1100" dirty="0">
              <a:latin typeface="Times New Roman"/>
              <a:cs typeface="Times New Roman"/>
            </a:endParaRPr>
          </a:p>
          <a:p>
            <a:pPr marL="457200" indent="-194945">
              <a:lnSpc>
                <a:spcPct val="100000"/>
              </a:lnSpc>
              <a:spcBef>
                <a:spcPts val="565"/>
              </a:spcBef>
              <a:buAutoNum type="alphaLcParenBoth" startAt="6"/>
              <a:tabLst>
                <a:tab pos="457200" algn="l"/>
              </a:tabLst>
            </a:pPr>
            <a:r>
              <a:rPr sz="1100" dirty="0">
                <a:latin typeface="Times New Roman"/>
                <a:cs typeface="Times New Roman"/>
              </a:rPr>
              <a:t>What</a:t>
            </a:r>
            <a:r>
              <a:rPr sz="1100" spc="-15" dirty="0">
                <a:latin typeface="Times New Roman"/>
                <a:cs typeface="Times New Roman"/>
              </a:rPr>
              <a:t> </a:t>
            </a:r>
            <a:r>
              <a:rPr sz="1100" dirty="0">
                <a:latin typeface="Times New Roman"/>
                <a:cs typeface="Times New Roman"/>
              </a:rPr>
              <a:t>are</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period</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frequency</a:t>
            </a:r>
            <a:r>
              <a:rPr sz="1100" spc="-15"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part</a:t>
            </a:r>
            <a:r>
              <a:rPr sz="1100" spc="-5" dirty="0">
                <a:latin typeface="Times New Roman"/>
                <a:cs typeface="Times New Roman"/>
              </a:rPr>
              <a:t> </a:t>
            </a:r>
            <a:r>
              <a:rPr sz="1100" spc="-20" dirty="0">
                <a:latin typeface="Times New Roman"/>
                <a:cs typeface="Times New Roman"/>
              </a:rPr>
              <a:t>(f)?</a:t>
            </a:r>
            <a:endParaRPr sz="1100" dirty="0">
              <a:latin typeface="Times New Roman"/>
              <a:cs typeface="Times New Roman"/>
            </a:endParaRPr>
          </a:p>
        </p:txBody>
      </p:sp>
      <p:pic>
        <p:nvPicPr>
          <p:cNvPr id="3" name="object 3"/>
          <p:cNvPicPr/>
          <p:nvPr/>
        </p:nvPicPr>
        <p:blipFill>
          <a:blip r:embed="rId3" cstate="print"/>
          <a:stretch>
            <a:fillRect/>
          </a:stretch>
        </p:blipFill>
        <p:spPr>
          <a:xfrm>
            <a:off x="3493896" y="2785872"/>
            <a:ext cx="2835275" cy="1371600"/>
          </a:xfrm>
          <a:prstGeom prst="rect">
            <a:avLst/>
          </a:prstGeom>
        </p:spPr>
      </p:pic>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8" name="object 8"/>
            <p:cNvSpPr/>
            <p:nvPr/>
          </p:nvSpPr>
          <p:spPr>
            <a:xfrm>
              <a:off x="2018157" y="6507352"/>
              <a:ext cx="189230" cy="10795"/>
            </a:xfrm>
            <a:custGeom>
              <a:avLst/>
              <a:gdLst/>
              <a:ahLst/>
              <a:cxnLst/>
              <a:rect l="l" t="t" r="r" b="b"/>
              <a:pathLst>
                <a:path w="189230" h="10795">
                  <a:moveTo>
                    <a:pt x="188975" y="0"/>
                  </a:moveTo>
                  <a:lnTo>
                    <a:pt x="0" y="0"/>
                  </a:lnTo>
                  <a:lnTo>
                    <a:pt x="0" y="10668"/>
                  </a:lnTo>
                  <a:lnTo>
                    <a:pt x="188975" y="10668"/>
                  </a:lnTo>
                  <a:lnTo>
                    <a:pt x="188975" y="0"/>
                  </a:lnTo>
                  <a:close/>
                </a:path>
              </a:pathLst>
            </a:custGeom>
            <a:solidFill>
              <a:srgbClr val="000000"/>
            </a:solidFill>
          </p:spPr>
          <p:txBody>
            <a:bodyPr wrap="square" lIns="0" tIns="0" rIns="0" bIns="0" rtlCol="0"/>
            <a:lstStyle/>
            <a:p>
              <a:endParaRPr/>
            </a:p>
          </p:txBody>
        </p:sp>
      </p:grpSp>
      <p:sp>
        <p:nvSpPr>
          <p:cNvPr id="9" name="object 9"/>
          <p:cNvSpPr txBox="1"/>
          <p:nvPr/>
        </p:nvSpPr>
        <p:spPr>
          <a:xfrm>
            <a:off x="700023" y="5069586"/>
            <a:ext cx="2768600" cy="1433195"/>
          </a:xfrm>
          <a:prstGeom prst="rect">
            <a:avLst/>
          </a:prstGeom>
        </p:spPr>
        <p:txBody>
          <a:bodyPr vert="horz" wrap="square" lIns="0" tIns="12065" rIns="0" bIns="0" rtlCol="0">
            <a:spAutoFit/>
          </a:bodyPr>
          <a:lstStyle/>
          <a:p>
            <a:pPr marL="25400">
              <a:lnSpc>
                <a:spcPct val="100000"/>
              </a:lnSpc>
              <a:spcBef>
                <a:spcPts val="95"/>
              </a:spcBef>
            </a:pPr>
            <a:r>
              <a:rPr sz="2200" dirty="0">
                <a:latin typeface="Georgia"/>
                <a:cs typeface="Georgia"/>
              </a:rPr>
              <a:t>Example</a:t>
            </a:r>
            <a:r>
              <a:rPr sz="2200" spc="-105" dirty="0">
                <a:latin typeface="Georgia"/>
                <a:cs typeface="Georgia"/>
              </a:rPr>
              <a:t> </a:t>
            </a:r>
            <a:r>
              <a:rPr sz="2200" spc="-50" dirty="0">
                <a:latin typeface="Georgia"/>
                <a:cs typeface="Georgia"/>
              </a:rPr>
              <a:t>1</a:t>
            </a:r>
            <a:endParaRPr sz="2200" dirty="0">
              <a:latin typeface="Georgia"/>
              <a:cs typeface="Georgia"/>
            </a:endParaRPr>
          </a:p>
          <a:p>
            <a:pPr marL="198120" indent="-139065">
              <a:lnSpc>
                <a:spcPct val="100000"/>
              </a:lnSpc>
              <a:spcBef>
                <a:spcPts val="1535"/>
              </a:spcBef>
              <a:buAutoNum type="alphaLcParenR" startAt="6"/>
              <a:tabLst>
                <a:tab pos="198120" algn="l"/>
              </a:tabLst>
            </a:pPr>
            <a:r>
              <a:rPr sz="1200" dirty="0">
                <a:latin typeface="Times New Roman"/>
                <a:cs typeface="Times New Roman"/>
              </a:rPr>
              <a:t>5</a:t>
            </a:r>
            <a:r>
              <a:rPr sz="1200" spc="-20" dirty="0">
                <a:latin typeface="Times New Roman"/>
                <a:cs typeface="Times New Roman"/>
              </a:rPr>
              <a:t> </a:t>
            </a:r>
            <a:r>
              <a:rPr sz="1200" dirty="0">
                <a:latin typeface="Times New Roman"/>
                <a:cs typeface="Times New Roman"/>
              </a:rPr>
              <a:t>pipeline</a:t>
            </a:r>
            <a:r>
              <a:rPr sz="1200" spc="-35" dirty="0">
                <a:latin typeface="Times New Roman"/>
                <a:cs typeface="Times New Roman"/>
              </a:rPr>
              <a:t> </a:t>
            </a:r>
            <a:r>
              <a:rPr sz="1200" spc="-10" dirty="0">
                <a:latin typeface="Times New Roman"/>
                <a:cs typeface="Times New Roman"/>
              </a:rPr>
              <a:t>segments/stages</a:t>
            </a:r>
            <a:endParaRPr sz="1200" dirty="0">
              <a:latin typeface="Times New Roman"/>
              <a:cs typeface="Times New Roman"/>
            </a:endParaRPr>
          </a:p>
          <a:p>
            <a:pPr marL="220979" indent="-161925">
              <a:lnSpc>
                <a:spcPct val="100000"/>
              </a:lnSpc>
              <a:spcBef>
                <a:spcPts val="840"/>
              </a:spcBef>
              <a:buAutoNum type="alphaLcParenR" startAt="6"/>
              <a:tabLst>
                <a:tab pos="220979" algn="l"/>
              </a:tabLst>
            </a:pPr>
            <a:r>
              <a:rPr sz="1800" baseline="13888" dirty="0">
                <a:latin typeface="Times New Roman"/>
                <a:cs typeface="Times New Roman"/>
              </a:rPr>
              <a:t>T</a:t>
            </a:r>
            <a:r>
              <a:rPr sz="800" dirty="0">
                <a:latin typeface="Times New Roman"/>
                <a:cs typeface="Times New Roman"/>
              </a:rPr>
              <a:t>clk</a:t>
            </a:r>
            <a:r>
              <a:rPr sz="800" spc="50" dirty="0">
                <a:latin typeface="Times New Roman"/>
                <a:cs typeface="Times New Roman"/>
              </a:rPr>
              <a:t> </a:t>
            </a:r>
            <a:r>
              <a:rPr sz="1800" baseline="13888" dirty="0">
                <a:latin typeface="Times New Roman"/>
                <a:cs typeface="Times New Roman"/>
              </a:rPr>
              <a:t>&gt;</a:t>
            </a:r>
            <a:r>
              <a:rPr sz="1800" spc="-75"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cq</a:t>
            </a:r>
            <a:r>
              <a:rPr sz="800" spc="55" dirty="0">
                <a:latin typeface="Times New Roman"/>
                <a:cs typeface="Times New Roman"/>
              </a:rPr>
              <a:t> </a:t>
            </a:r>
            <a:r>
              <a:rPr sz="1800" baseline="13888" dirty="0">
                <a:latin typeface="Times New Roman"/>
                <a:cs typeface="Times New Roman"/>
              </a:rPr>
              <a:t>+</a:t>
            </a:r>
            <a:r>
              <a:rPr sz="1800" spc="-60" baseline="13888" dirty="0">
                <a:latin typeface="Times New Roman"/>
                <a:cs typeface="Times New Roman"/>
              </a:rPr>
              <a:t> </a:t>
            </a:r>
            <a:r>
              <a:rPr sz="1800" baseline="13888" dirty="0">
                <a:latin typeface="Times New Roman"/>
                <a:cs typeface="Times New Roman"/>
              </a:rPr>
              <a:t>t</a:t>
            </a:r>
            <a:r>
              <a:rPr sz="800" dirty="0">
                <a:latin typeface="Times New Roman"/>
                <a:cs typeface="Times New Roman"/>
              </a:rPr>
              <a:t>setup</a:t>
            </a:r>
            <a:r>
              <a:rPr sz="800" spc="-35" dirty="0">
                <a:latin typeface="Times New Roman"/>
                <a:cs typeface="Times New Roman"/>
              </a:rPr>
              <a:t> </a:t>
            </a:r>
            <a:r>
              <a:rPr sz="1800" baseline="13888" dirty="0">
                <a:latin typeface="Times New Roman"/>
                <a:cs typeface="Times New Roman"/>
              </a:rPr>
              <a:t>+</a:t>
            </a:r>
            <a:r>
              <a:rPr sz="1800" spc="-82" baseline="13888" dirty="0">
                <a:latin typeface="Times New Roman"/>
                <a:cs typeface="Times New Roman"/>
              </a:rPr>
              <a:t> </a:t>
            </a:r>
            <a:r>
              <a:rPr sz="1800" spc="-37" baseline="13888" dirty="0">
                <a:latin typeface="Times New Roman"/>
                <a:cs typeface="Times New Roman"/>
              </a:rPr>
              <a:t>T</a:t>
            </a:r>
            <a:r>
              <a:rPr sz="800" spc="-25" dirty="0">
                <a:latin typeface="Times New Roman"/>
                <a:cs typeface="Times New Roman"/>
              </a:rPr>
              <a:t>pd</a:t>
            </a:r>
            <a:endParaRPr sz="800" dirty="0">
              <a:latin typeface="Times New Roman"/>
              <a:cs typeface="Times New Roman"/>
            </a:endParaRPr>
          </a:p>
          <a:p>
            <a:pPr marL="516255">
              <a:lnSpc>
                <a:spcPct val="100000"/>
              </a:lnSpc>
              <a:spcBef>
                <a:spcPts val="265"/>
              </a:spcBef>
            </a:pPr>
            <a:r>
              <a:rPr sz="1200" dirty="0">
                <a:latin typeface="Times New Roman"/>
                <a:cs typeface="Times New Roman"/>
              </a:rPr>
              <a:t>Min.</a:t>
            </a:r>
            <a:r>
              <a:rPr sz="1200" spc="-10" dirty="0">
                <a:latin typeface="Times New Roman"/>
                <a:cs typeface="Times New Roman"/>
              </a:rPr>
              <a:t> </a:t>
            </a:r>
            <a:r>
              <a:rPr sz="1200" dirty="0">
                <a:latin typeface="Times New Roman"/>
                <a:cs typeface="Times New Roman"/>
              </a:rPr>
              <a:t>clock</a:t>
            </a:r>
            <a:r>
              <a:rPr sz="1200" spc="-5" dirty="0">
                <a:latin typeface="Times New Roman"/>
                <a:cs typeface="Times New Roman"/>
              </a:rPr>
              <a:t> </a:t>
            </a:r>
            <a:r>
              <a:rPr sz="1200" dirty="0">
                <a:latin typeface="Times New Roman"/>
                <a:cs typeface="Times New Roman"/>
              </a:rPr>
              <a:t>period</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a:t>
            </a:r>
            <a:r>
              <a:rPr sz="1200" spc="-5" dirty="0">
                <a:latin typeface="Times New Roman"/>
                <a:cs typeface="Times New Roman"/>
              </a:rPr>
              <a:t> </a:t>
            </a:r>
            <a:r>
              <a:rPr sz="1200" dirty="0">
                <a:latin typeface="Times New Roman"/>
                <a:cs typeface="Times New Roman"/>
              </a:rPr>
              <a:t>+ 1</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a:t>
            </a:r>
            <a:r>
              <a:rPr sz="1200" spc="-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9</a:t>
            </a:r>
            <a:r>
              <a:rPr sz="1200" spc="-5" dirty="0">
                <a:latin typeface="Times New Roman"/>
                <a:cs typeface="Times New Roman"/>
              </a:rPr>
              <a:t> </a:t>
            </a:r>
            <a:r>
              <a:rPr sz="1200" spc="-25" dirty="0">
                <a:latin typeface="Times New Roman"/>
                <a:cs typeface="Times New Roman"/>
              </a:rPr>
              <a:t>ns</a:t>
            </a:r>
            <a:endParaRPr sz="1200" dirty="0">
              <a:latin typeface="Times New Roman"/>
              <a:cs typeface="Times New Roman"/>
            </a:endParaRPr>
          </a:p>
          <a:p>
            <a:pPr marL="57785" algn="ctr">
              <a:lnSpc>
                <a:spcPct val="100000"/>
              </a:lnSpc>
              <a:spcBef>
                <a:spcPts val="459"/>
              </a:spcBef>
            </a:pPr>
            <a:r>
              <a:rPr sz="850" spc="-50" dirty="0">
                <a:latin typeface="Cambria Math"/>
                <a:cs typeface="Cambria Math"/>
              </a:rPr>
              <a:t>1</a:t>
            </a:r>
            <a:endParaRPr sz="850" dirty="0">
              <a:latin typeface="Cambria Math"/>
              <a:cs typeface="Cambria Math"/>
            </a:endParaRPr>
          </a:p>
        </p:txBody>
      </p:sp>
      <p:sp>
        <p:nvSpPr>
          <p:cNvPr id="10" name="object 10"/>
          <p:cNvSpPr txBox="1"/>
          <p:nvPr/>
        </p:nvSpPr>
        <p:spPr>
          <a:xfrm>
            <a:off x="2018664" y="6509384"/>
            <a:ext cx="198755" cy="159385"/>
          </a:xfrm>
          <a:prstGeom prst="rect">
            <a:avLst/>
          </a:prstGeom>
        </p:spPr>
        <p:txBody>
          <a:bodyPr vert="horz" wrap="square" lIns="0" tIns="15875" rIns="0" bIns="0" rtlCol="0">
            <a:spAutoFit/>
          </a:bodyPr>
          <a:lstStyle/>
          <a:p>
            <a:pPr>
              <a:lnSpc>
                <a:spcPct val="100000"/>
              </a:lnSpc>
              <a:spcBef>
                <a:spcPts val="125"/>
              </a:spcBef>
            </a:pPr>
            <a:r>
              <a:rPr sz="850" spc="-25" dirty="0">
                <a:latin typeface="Cambria Math"/>
                <a:cs typeface="Cambria Math"/>
              </a:rPr>
              <a:t>9𝑛𝑠</a:t>
            </a:r>
            <a:endParaRPr sz="850">
              <a:latin typeface="Cambria Math"/>
              <a:cs typeface="Cambria Math"/>
            </a:endParaRPr>
          </a:p>
        </p:txBody>
      </p:sp>
      <p:sp>
        <p:nvSpPr>
          <p:cNvPr id="11" name="object 11"/>
          <p:cNvSpPr txBox="1"/>
          <p:nvPr/>
        </p:nvSpPr>
        <p:spPr>
          <a:xfrm>
            <a:off x="1216761" y="6392036"/>
            <a:ext cx="1732914" cy="208279"/>
          </a:xfrm>
          <a:prstGeom prst="rect">
            <a:avLst/>
          </a:prstGeom>
        </p:spPr>
        <p:txBody>
          <a:bodyPr vert="horz" wrap="square" lIns="0" tIns="12700" rIns="0" bIns="0" rtlCol="0">
            <a:spAutoFit/>
          </a:bodyPr>
          <a:lstStyle/>
          <a:p>
            <a:pPr>
              <a:lnSpc>
                <a:spcPct val="100000"/>
              </a:lnSpc>
              <a:spcBef>
                <a:spcPts val="100"/>
              </a:spcBef>
              <a:tabLst>
                <a:tab pos="1028700" algn="l"/>
              </a:tabLst>
            </a:pPr>
            <a:r>
              <a:rPr sz="1200" dirty="0">
                <a:latin typeface="Times New Roman"/>
                <a:cs typeface="Times New Roman"/>
              </a:rPr>
              <a:t>Max.</a:t>
            </a:r>
            <a:r>
              <a:rPr sz="1200" spc="-35" dirty="0">
                <a:latin typeface="Times New Roman"/>
                <a:cs typeface="Times New Roman"/>
              </a:rPr>
              <a:t> </a:t>
            </a:r>
            <a:r>
              <a:rPr sz="1200" dirty="0">
                <a:latin typeface="Times New Roman"/>
                <a:cs typeface="Times New Roman"/>
              </a:rPr>
              <a:t>freq.</a:t>
            </a:r>
            <a:r>
              <a:rPr sz="1200" spc="-10" dirty="0">
                <a:latin typeface="Times New Roman"/>
                <a:cs typeface="Times New Roman"/>
              </a:rPr>
              <a:t> </a:t>
            </a:r>
            <a:r>
              <a:rPr sz="1200" spc="-50" dirty="0">
                <a:latin typeface="Times New Roman"/>
                <a:cs typeface="Times New Roman"/>
              </a:rPr>
              <a:t>=</a:t>
            </a:r>
            <a:r>
              <a:rPr sz="1200" dirty="0">
                <a:latin typeface="Times New Roman"/>
                <a:cs typeface="Times New Roman"/>
              </a:rPr>
              <a:t>	=</a:t>
            </a:r>
            <a:r>
              <a:rPr sz="1200" spc="-25" dirty="0">
                <a:latin typeface="Times New Roman"/>
                <a:cs typeface="Times New Roman"/>
              </a:rPr>
              <a:t> </a:t>
            </a:r>
            <a:r>
              <a:rPr sz="1200" spc="-20" dirty="0">
                <a:latin typeface="Times New Roman"/>
                <a:cs typeface="Times New Roman"/>
              </a:rPr>
              <a:t>111 </a:t>
            </a:r>
            <a:r>
              <a:rPr sz="1200" spc="-25" dirty="0">
                <a:latin typeface="Times New Roman"/>
                <a:cs typeface="Times New Roman"/>
              </a:rPr>
              <a:t>MHz</a:t>
            </a:r>
            <a:endParaRPr sz="1200" dirty="0">
              <a:latin typeface="Times New Roman"/>
              <a:cs typeface="Times New Roman"/>
            </a:endParaRPr>
          </a:p>
        </p:txBody>
      </p:sp>
      <p:pic>
        <p:nvPicPr>
          <p:cNvPr id="12" name="object 12"/>
          <p:cNvPicPr/>
          <p:nvPr/>
        </p:nvPicPr>
        <p:blipFill>
          <a:blip r:embed="rId4" cstate="print"/>
          <a:stretch>
            <a:fillRect/>
          </a:stretch>
        </p:blipFill>
        <p:spPr>
          <a:xfrm>
            <a:off x="2837688" y="6618731"/>
            <a:ext cx="3520440" cy="1508760"/>
          </a:xfrm>
          <a:prstGeom prst="rect">
            <a:avLst/>
          </a:prstGeom>
        </p:spPr>
      </p:pic>
      <p:sp>
        <p:nvSpPr>
          <p:cNvPr id="13" name="object 13"/>
          <p:cNvSpPr txBox="1"/>
          <p:nvPr/>
        </p:nvSpPr>
        <p:spPr>
          <a:xfrm>
            <a:off x="610209" y="7063485"/>
            <a:ext cx="2171065" cy="784860"/>
          </a:xfrm>
          <a:prstGeom prst="rect">
            <a:avLst/>
          </a:prstGeom>
        </p:spPr>
        <p:txBody>
          <a:bodyPr vert="horz" wrap="square" lIns="0" tIns="82550" rIns="0" bIns="0" rtlCol="0">
            <a:spAutoFit/>
          </a:bodyPr>
          <a:lstStyle/>
          <a:p>
            <a:pPr>
              <a:lnSpc>
                <a:spcPct val="100000"/>
              </a:lnSpc>
              <a:spcBef>
                <a:spcPts val="650"/>
              </a:spcBef>
            </a:pPr>
            <a:r>
              <a:rPr sz="1200" b="1" u="sng" spc="-10" dirty="0">
                <a:uFill>
                  <a:solidFill>
                    <a:srgbClr val="000000"/>
                  </a:solidFill>
                </a:uFill>
                <a:latin typeface="Times New Roman"/>
                <a:cs typeface="Times New Roman"/>
              </a:rPr>
              <a:t>Advantages:</a:t>
            </a:r>
            <a:endParaRPr sz="1200" dirty="0">
              <a:latin typeface="Times New Roman"/>
              <a:cs typeface="Times New Roman"/>
            </a:endParaRPr>
          </a:p>
          <a:p>
            <a:pPr marL="87630" indent="-87630">
              <a:lnSpc>
                <a:spcPct val="100000"/>
              </a:lnSpc>
              <a:spcBef>
                <a:spcPts val="555"/>
              </a:spcBef>
              <a:buChar char="-"/>
              <a:tabLst>
                <a:tab pos="87630" algn="l"/>
              </a:tabLst>
            </a:pPr>
            <a:r>
              <a:rPr sz="1200" dirty="0">
                <a:latin typeface="Times New Roman"/>
                <a:cs typeface="Times New Roman"/>
              </a:rPr>
              <a:t>Decrease</a:t>
            </a:r>
            <a:r>
              <a:rPr sz="1200" spc="-60" dirty="0">
                <a:latin typeface="Times New Roman"/>
                <a:cs typeface="Times New Roman"/>
              </a:rPr>
              <a:t> </a:t>
            </a:r>
            <a:r>
              <a:rPr sz="1200" spc="-20" dirty="0">
                <a:latin typeface="Times New Roman"/>
                <a:cs typeface="Times New Roman"/>
              </a:rPr>
              <a:t>area</a:t>
            </a:r>
            <a:endParaRPr sz="1200" dirty="0">
              <a:latin typeface="Times New Roman"/>
              <a:cs typeface="Times New Roman"/>
            </a:endParaRPr>
          </a:p>
          <a:p>
            <a:pPr marL="87630" indent="-87630">
              <a:lnSpc>
                <a:spcPct val="100000"/>
              </a:lnSpc>
              <a:spcBef>
                <a:spcPts val="550"/>
              </a:spcBef>
              <a:buChar char="-"/>
              <a:tabLst>
                <a:tab pos="87630" algn="l"/>
              </a:tabLst>
            </a:pPr>
            <a:r>
              <a:rPr sz="1200" dirty="0">
                <a:latin typeface="Times New Roman"/>
                <a:cs typeface="Times New Roman"/>
              </a:rPr>
              <a:t>first</a:t>
            </a:r>
            <a:r>
              <a:rPr sz="1200" spc="-30" dirty="0">
                <a:latin typeface="Times New Roman"/>
                <a:cs typeface="Times New Roman"/>
              </a:rPr>
              <a:t> </a:t>
            </a:r>
            <a:r>
              <a:rPr sz="1200" dirty="0">
                <a:latin typeface="Times New Roman"/>
                <a:cs typeface="Times New Roman"/>
              </a:rPr>
              <a:t>operation</a:t>
            </a:r>
            <a:r>
              <a:rPr sz="1200" spc="-25" dirty="0">
                <a:latin typeface="Times New Roman"/>
                <a:cs typeface="Times New Roman"/>
              </a:rPr>
              <a:t> </a:t>
            </a:r>
            <a:r>
              <a:rPr sz="1200" dirty="0">
                <a:latin typeface="Times New Roman"/>
                <a:cs typeface="Times New Roman"/>
              </a:rPr>
              <a:t>after</a:t>
            </a:r>
            <a:r>
              <a:rPr sz="1200" spc="-20" dirty="0">
                <a:latin typeface="Times New Roman"/>
                <a:cs typeface="Times New Roman"/>
              </a:rPr>
              <a:t> </a:t>
            </a:r>
            <a:r>
              <a:rPr sz="1200" dirty="0">
                <a:latin typeface="Times New Roman"/>
                <a:cs typeface="Times New Roman"/>
              </a:rPr>
              <a:t>5</a:t>
            </a:r>
            <a:r>
              <a:rPr sz="1200" spc="-25" dirty="0">
                <a:latin typeface="Times New Roman"/>
                <a:cs typeface="Times New Roman"/>
              </a:rPr>
              <a:t> </a:t>
            </a:r>
            <a:r>
              <a:rPr sz="1200" dirty="0">
                <a:latin typeface="Times New Roman"/>
                <a:cs typeface="Times New Roman"/>
              </a:rPr>
              <a:t>clock</a:t>
            </a:r>
            <a:r>
              <a:rPr sz="1200" spc="-25" dirty="0">
                <a:latin typeface="Times New Roman"/>
                <a:cs typeface="Times New Roman"/>
              </a:rPr>
              <a:t> </a:t>
            </a:r>
            <a:r>
              <a:rPr sz="1200" spc="-10" dirty="0">
                <a:latin typeface="Times New Roman"/>
                <a:cs typeface="Times New Roman"/>
              </a:rPr>
              <a:t>cycles</a:t>
            </a:r>
            <a:endParaRPr sz="1200" dirty="0">
              <a:latin typeface="Times New Roman"/>
              <a:cs typeface="Times New Roman"/>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20</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1751</TotalTime>
  <Words>5156</Words>
  <Application>Microsoft Office PowerPoint</Application>
  <PresentationFormat>On-screen Show (4:3)</PresentationFormat>
  <Paragraphs>621</Paragraphs>
  <Slides>20</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Arial MT</vt:lpstr>
      <vt:lpstr>Calibri</vt:lpstr>
      <vt:lpstr>Cambria Math</vt:lpstr>
      <vt:lpstr>Corbel</vt:lpstr>
      <vt:lpstr>Georgia</vt:lpstr>
      <vt:lpstr>Times New Roman</vt:lpstr>
      <vt:lpstr>Verdana</vt:lpstr>
      <vt:lpstr>Wingdings</vt:lpstr>
      <vt:lpstr>Office Theme</vt:lpstr>
      <vt:lpstr>PowerPoint Presentation</vt:lpstr>
      <vt:lpstr>PowerPoint Presentation</vt:lpstr>
      <vt:lpstr>PowerPoint Presentation</vt:lpstr>
      <vt:lpstr>1. Structural Hazard</vt:lpstr>
      <vt:lpstr>PowerPoint Presentation</vt:lpstr>
      <vt:lpstr>2. Data Hazard</vt:lpstr>
      <vt:lpstr>2. Data Hazard</vt:lpstr>
      <vt:lpstr>PowerPoint Presentation</vt:lpstr>
      <vt:lpstr>PowerPoint Presentation</vt:lpstr>
      <vt:lpstr>PowerPoint Presentation</vt:lpstr>
      <vt:lpstr>PowerPoint Presentation</vt:lpstr>
      <vt:lpstr>PowerPoint Presentation</vt:lpstr>
      <vt:lpstr> Timing Analysis / Clock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Zahraa.Ismail</cp:lastModifiedBy>
  <cp:revision>7</cp:revision>
  <dcterms:created xsi:type="dcterms:W3CDTF">2025-11-27T09:00:52Z</dcterms:created>
  <dcterms:modified xsi:type="dcterms:W3CDTF">2026-03-12T08:42:07Z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2025-03-22T00:00:00Z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Microsoft® PowerPoint® 2016</vt:lpwstr>
  </property>
</Properties>
</file>