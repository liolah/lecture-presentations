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78" r:id="rId9"/>
    <p:sldId id="263" r:id="rId10"/>
    <p:sldId id="264" r:id="rId11"/>
    <p:sldId id="265" r:id="rId12"/>
    <p:sldId id="266" r:id="rId13"/>
    <p:sldId id="279" r:id="rId14"/>
    <p:sldId id="280" r:id="rId15"/>
    <p:sldId id="267" r:id="rId16"/>
    <p:sldId id="268" r:id="rId17"/>
    <p:sldId id="269" r:id="rId18"/>
    <p:sldId id="270" r:id="rId19"/>
    <p:sldId id="281" r:id="rId20"/>
    <p:sldId id="271" r:id="rId21"/>
    <p:sldId id="272" r:id="rId22"/>
    <p:sldId id="273" r:id="rId23"/>
    <p:sldId id="274" r:id="rId24"/>
    <p:sldId id="275" r:id="rId25"/>
    <p:sldId id="276" r:id="rId26"/>
    <p:sldId id="277" r:id="rId27"/>
  </p:sldIdLst>
  <p:sldSz cx="6858000" cy="9144000" type="screen4x3"/>
  <p:notesSz cx="6858000" cy="9144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01" autoAdjust="0"/>
  </p:normalViewPr>
  <p:slideViewPr>
    <p:cSldViewPr>
      <p:cViewPr varScale="1">
        <p:scale>
          <a:sx n="62" d="100"/>
          <a:sy n="62" d="100"/>
        </p:scale>
        <p:origin x="2658"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6D5CEE-EC47-4F93-9995-58C79B532EE4}" type="datetimeFigureOut">
              <a:rPr lang="en-US" smtClean="0"/>
              <a:t>1/31/2026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FA32C3-A3AF-4576-A0E1-E34E7F8E64E8}" type="slidenum">
              <a:rPr lang="en-US" smtClean="0"/>
              <a:t>‹#›</a:t>
            </a:fld>
            <a:endParaRPr lang="en-US"/>
          </a:p>
        </p:txBody>
      </p:sp>
    </p:spTree>
    <p:extLst>
      <p:ext uri="{BB962C8B-B14F-4D97-AF65-F5344CB8AC3E}">
        <p14:creationId xmlns:p14="http://schemas.microsoft.com/office/powerpoint/2010/main" val="316806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What is a CPU?</a:t>
            </a:r>
          </a:p>
          <a:p>
            <a:r>
              <a:rPr lang="en-US" sz="1200" b="0" i="0" kern="1200" dirty="0">
                <a:solidFill>
                  <a:schemeClr val="tx1"/>
                </a:solidFill>
                <a:effectLst/>
                <a:latin typeface="+mn-lt"/>
                <a:ea typeface="+mn-ea"/>
                <a:cs typeface="+mn-cs"/>
              </a:rPr>
              <a:t>Execution of instructions provided by computer programs is the responsibility of the central processing unit (CPU), which is frequently referred to as the brain of a computer. In addition to doing mathematical computations and interpreting these instructions, it is also responsible for controlling the flow of data to the various components of the computer system. When it comes down to it, the central processing unit (CPU) is the one that makes decisions and coordinates the activities that are necessary to finish processes such as running software, producing images, or interfacing with peripherals.</a:t>
            </a:r>
          </a:p>
          <a:p>
            <a:r>
              <a:rPr lang="en-US" sz="1200" b="0" i="0" kern="1200" dirty="0">
                <a:solidFill>
                  <a:schemeClr val="tx1"/>
                </a:solidFill>
                <a:effectLst/>
                <a:latin typeface="+mn-lt"/>
                <a:ea typeface="+mn-ea"/>
                <a:cs typeface="+mn-cs"/>
              </a:rPr>
              <a:t>This architecture of a central processing unit (CPU) determines how it executes these instructions and how it interacts with other components of the hardware, such as memory, storage devices, and input/output systems. The central processing units (CPUs) of today are incredibly powerful and come equipped with a number of advanced features that increase performance. These characteristics include cache memory, numerous cores, and high clock speeds.</a:t>
            </a:r>
          </a:p>
          <a:p>
            <a:br>
              <a:rPr lang="en-US" dirty="0"/>
            </a:br>
            <a:endParaRPr lang="en-US" dirty="0"/>
          </a:p>
          <a:p>
            <a:r>
              <a:rPr lang="en-US" sz="1200" b="1" i="0" kern="1200" dirty="0">
                <a:solidFill>
                  <a:schemeClr val="tx1"/>
                </a:solidFill>
                <a:effectLst/>
                <a:latin typeface="+mn-lt"/>
                <a:ea typeface="+mn-ea"/>
                <a:cs typeface="+mn-cs"/>
              </a:rPr>
              <a:t>The Main Components of a CPU</a:t>
            </a:r>
          </a:p>
          <a:p>
            <a:r>
              <a:rPr lang="en-US" sz="1200" b="0" i="0" kern="1200" dirty="0">
                <a:solidFill>
                  <a:schemeClr val="tx1"/>
                </a:solidFill>
                <a:effectLst/>
                <a:latin typeface="+mn-lt"/>
                <a:ea typeface="+mn-ea"/>
                <a:cs typeface="+mn-cs"/>
              </a:rPr>
              <a:t>A CPU is not just a single unit, but a complex structure made up of several smaller components that work together to execute tasks. The primary components of a CPU include the Control Unit (CU), the Arithmetic and Logic Unit (ALU), registers, cache memory, and the clock. Each of these parts plays a crucial role in ensuring that the CPU can efficiently carry out its operations.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Control Unit (CU)</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Control Unit</a:t>
            </a:r>
            <a:r>
              <a:rPr lang="en-US" sz="1200" b="0" i="0" kern="1200" dirty="0">
                <a:solidFill>
                  <a:schemeClr val="tx1"/>
                </a:solidFill>
                <a:effectLst/>
                <a:latin typeface="+mn-lt"/>
                <a:ea typeface="+mn-ea"/>
                <a:cs typeface="+mn-cs"/>
              </a:rPr>
              <a:t> is responsible for directing the entire CPU's operations. It coordinates the flow of data between the CPU’s various components and other parts of the computer system. The CU tells the </a:t>
            </a:r>
            <a:r>
              <a:rPr lang="en-US" sz="1200" b="1" i="0" kern="1200" dirty="0">
                <a:solidFill>
                  <a:schemeClr val="tx1"/>
                </a:solidFill>
                <a:effectLst/>
                <a:latin typeface="+mn-lt"/>
                <a:ea typeface="+mn-ea"/>
                <a:cs typeface="+mn-cs"/>
              </a:rPr>
              <a:t>Arithmetic and Logic Unit (ALU)</a:t>
            </a:r>
            <a:r>
              <a:rPr lang="en-US" sz="1200" b="0" i="0" kern="1200" dirty="0">
                <a:solidFill>
                  <a:schemeClr val="tx1"/>
                </a:solidFill>
                <a:effectLst/>
                <a:latin typeface="+mn-lt"/>
                <a:ea typeface="+mn-ea"/>
                <a:cs typeface="+mn-cs"/>
              </a:rPr>
              <a:t> what operation to perform, manages data flow between registers, and communicates with memory and I/O devices.</a:t>
            </a:r>
          </a:p>
          <a:p>
            <a:r>
              <a:rPr lang="en-US" sz="1200" b="0" i="0" kern="1200" dirty="0">
                <a:solidFill>
                  <a:schemeClr val="tx1"/>
                </a:solidFill>
                <a:effectLst/>
                <a:latin typeface="+mn-lt"/>
                <a:ea typeface="+mn-ea"/>
                <a:cs typeface="+mn-cs"/>
              </a:rPr>
              <a:t>When a program is running, the CU fetches instructions from the memory, decodes them to understand what action needs to be taken, and then executes those actions step by step. It generates control signals that guide the operation of the entire CPU.</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Arithmetic and Logic Unit (ALU)</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Arithmetic and Logic Unit (ALU)</a:t>
            </a:r>
            <a:r>
              <a:rPr lang="en-US" sz="1200" b="0" i="0" kern="1200" dirty="0">
                <a:solidFill>
                  <a:schemeClr val="tx1"/>
                </a:solidFill>
                <a:effectLst/>
                <a:latin typeface="+mn-lt"/>
                <a:ea typeface="+mn-ea"/>
                <a:cs typeface="+mn-cs"/>
              </a:rPr>
              <a:t> is where the actual computation happens. It performs all the arithmetic operations, such as addition, subtraction, multiplication, and division. It also handles logical operations like AND, OR, NOT, and comparison operations (e.g., greater than, less than, equal to). The ALU is essential for any kind of mathematical processing, data manipulation, or decision-making that the CPU needs to perform.</a:t>
            </a:r>
          </a:p>
          <a:p>
            <a:r>
              <a:rPr lang="en-US" sz="1200" b="0" i="0" kern="1200" dirty="0">
                <a:solidFill>
                  <a:schemeClr val="tx1"/>
                </a:solidFill>
                <a:effectLst/>
                <a:latin typeface="+mn-lt"/>
                <a:ea typeface="+mn-ea"/>
                <a:cs typeface="+mn-cs"/>
              </a:rPr>
              <a:t>In modern processors, there may also be a specialized </a:t>
            </a:r>
            <a:r>
              <a:rPr lang="en-US" sz="1200" b="1" i="0" kern="1200" dirty="0">
                <a:solidFill>
                  <a:schemeClr val="tx1"/>
                </a:solidFill>
                <a:effectLst/>
                <a:latin typeface="+mn-lt"/>
                <a:ea typeface="+mn-ea"/>
                <a:cs typeface="+mn-cs"/>
              </a:rPr>
              <a:t>Floating Point Unit (FPU)</a:t>
            </a:r>
            <a:r>
              <a:rPr lang="en-US" sz="1200" b="0" i="0" kern="1200" dirty="0">
                <a:solidFill>
                  <a:schemeClr val="tx1"/>
                </a:solidFill>
                <a:effectLst/>
                <a:latin typeface="+mn-lt"/>
                <a:ea typeface="+mn-ea"/>
                <a:cs typeface="+mn-cs"/>
              </a:rPr>
              <a:t>, which handles complex mathematical operations involving floating-point numbers (real numbers with decimals), like scientific calculations or 3D graphics rendering.</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Registers</a:t>
            </a:r>
          </a:p>
          <a:p>
            <a:r>
              <a:rPr lang="en-US" sz="1200" b="0" i="0" kern="1200" dirty="0">
                <a:solidFill>
                  <a:schemeClr val="tx1"/>
                </a:solidFill>
                <a:effectLst/>
                <a:latin typeface="+mn-lt"/>
                <a:ea typeface="+mn-ea"/>
                <a:cs typeface="+mn-cs"/>
              </a:rPr>
              <a:t>Registers are small, fast storage locations inside the CPU that hold data temporarily while it is being processed. Registers are crucial because they provide rapid access to data compared to accessing the main memory (RAM), which is slower. There are different types of registers with specific functions, such as the </a:t>
            </a:r>
            <a:r>
              <a:rPr lang="en-US" sz="1200" b="1" i="0" kern="1200" dirty="0">
                <a:solidFill>
                  <a:schemeClr val="tx1"/>
                </a:solidFill>
                <a:effectLst/>
                <a:latin typeface="+mn-lt"/>
                <a:ea typeface="+mn-ea"/>
                <a:cs typeface="+mn-cs"/>
              </a:rPr>
              <a:t>Program Counter (PC)</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Instruction Register (IR)</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Accumulator</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Status Registers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Program Counter (PC)</a:t>
            </a:r>
            <a:r>
              <a:rPr lang="en-US" sz="1200" b="0" i="0" kern="1200" dirty="0">
                <a:solidFill>
                  <a:schemeClr val="tx1"/>
                </a:solidFill>
                <a:effectLst/>
                <a:latin typeface="+mn-lt"/>
                <a:ea typeface="+mn-ea"/>
                <a:cs typeface="+mn-cs"/>
              </a:rPr>
              <a:t> holds the address of the next instruction to be fetched from memory, while the </a:t>
            </a:r>
            <a:r>
              <a:rPr lang="en-US" sz="1200" b="1" i="0" kern="1200" dirty="0">
                <a:solidFill>
                  <a:schemeClr val="tx1"/>
                </a:solidFill>
                <a:effectLst/>
                <a:latin typeface="+mn-lt"/>
                <a:ea typeface="+mn-ea"/>
                <a:cs typeface="+mn-cs"/>
              </a:rPr>
              <a:t>Instruction Register (IR)</a:t>
            </a:r>
            <a:r>
              <a:rPr lang="en-US" sz="1200" b="0" i="0" kern="1200" dirty="0">
                <a:solidFill>
                  <a:schemeClr val="tx1"/>
                </a:solidFill>
                <a:effectLst/>
                <a:latin typeface="+mn-lt"/>
                <a:ea typeface="+mn-ea"/>
                <a:cs typeface="+mn-cs"/>
              </a:rPr>
              <a:t> holds the current instruction being executed. Status registers store condition flags (e.g., zero, carry, overflow) that indicate the results of operations, which are important for branching decisions in a program.</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Cache Memory</a:t>
            </a:r>
          </a:p>
          <a:p>
            <a:r>
              <a:rPr lang="en-US" sz="1200" b="0" i="0" kern="1200" dirty="0">
                <a:solidFill>
                  <a:schemeClr val="tx1"/>
                </a:solidFill>
                <a:effectLst/>
                <a:latin typeface="+mn-lt"/>
                <a:ea typeface="+mn-ea"/>
                <a:cs typeface="+mn-cs"/>
              </a:rPr>
              <a:t>Cache memory is a small, ultra-fast memory located close to the CPU, designed to store frequently accessed data and instructions. Cache helps to speed up processing by reducing the time the CPU needs to fetch data from the slower main memory. There are typically multiple levels of cache: </a:t>
            </a:r>
            <a:r>
              <a:rPr lang="en-US" sz="1200" b="1" i="0" kern="1200" dirty="0">
                <a:solidFill>
                  <a:schemeClr val="tx1"/>
                </a:solidFill>
                <a:effectLst/>
                <a:latin typeface="+mn-lt"/>
                <a:ea typeface="+mn-ea"/>
                <a:cs typeface="+mn-cs"/>
              </a:rPr>
              <a:t>L1 cache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L2 cache</a:t>
            </a:r>
            <a:r>
              <a:rPr lang="en-US" sz="1200" b="0" i="0" kern="1200" dirty="0">
                <a:solidFill>
                  <a:schemeClr val="tx1"/>
                </a:solidFill>
                <a:effectLst/>
                <a:latin typeface="+mn-lt"/>
                <a:ea typeface="+mn-ea"/>
                <a:cs typeface="+mn-cs"/>
              </a:rPr>
              <a:t>, and sometimes </a:t>
            </a:r>
            <a:r>
              <a:rPr lang="en-US" sz="1200" b="1" i="0" kern="1200" dirty="0">
                <a:solidFill>
                  <a:schemeClr val="tx1"/>
                </a:solidFill>
                <a:effectLst/>
                <a:latin typeface="+mn-lt"/>
                <a:ea typeface="+mn-ea"/>
                <a:cs typeface="+mn-cs"/>
              </a:rPr>
              <a:t>L3 cache</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L1 cache</a:t>
            </a:r>
            <a:r>
              <a:rPr lang="en-US" sz="1200" b="0" i="0" kern="1200" dirty="0">
                <a:solidFill>
                  <a:schemeClr val="tx1"/>
                </a:solidFill>
                <a:effectLst/>
                <a:latin typeface="+mn-lt"/>
                <a:ea typeface="+mn-ea"/>
                <a:cs typeface="+mn-cs"/>
              </a:rPr>
              <a:t> is the smallest and fastest, located closest to the CPU cores. It holds the most frequently accessed data and instructions. </a:t>
            </a:r>
            <a:r>
              <a:rPr lang="en-US" sz="1200" b="1" i="0" kern="1200" dirty="0">
                <a:solidFill>
                  <a:schemeClr val="tx1"/>
                </a:solidFill>
                <a:effectLst/>
                <a:latin typeface="+mn-lt"/>
                <a:ea typeface="+mn-ea"/>
                <a:cs typeface="+mn-cs"/>
              </a:rPr>
              <a:t>L2 cache</a:t>
            </a:r>
            <a:r>
              <a:rPr lang="en-US" sz="1200" b="0" i="0" kern="1200" dirty="0">
                <a:solidFill>
                  <a:schemeClr val="tx1"/>
                </a:solidFill>
                <a:effectLst/>
                <a:latin typeface="+mn-lt"/>
                <a:ea typeface="+mn-ea"/>
                <a:cs typeface="+mn-cs"/>
              </a:rPr>
              <a:t> is larger but slightly slower and may be shared by multiple cores. </a:t>
            </a:r>
            <a:r>
              <a:rPr lang="en-US" sz="1200" b="1" i="0" kern="1200" dirty="0">
                <a:solidFill>
                  <a:schemeClr val="tx1"/>
                </a:solidFill>
                <a:effectLst/>
                <a:latin typeface="+mn-lt"/>
                <a:ea typeface="+mn-ea"/>
                <a:cs typeface="+mn-cs"/>
              </a:rPr>
              <a:t>L3 cache</a:t>
            </a:r>
            <a:r>
              <a:rPr lang="en-US" sz="1200" b="0" i="0" kern="1200" dirty="0">
                <a:solidFill>
                  <a:schemeClr val="tx1"/>
                </a:solidFill>
                <a:effectLst/>
                <a:latin typeface="+mn-lt"/>
                <a:ea typeface="+mn-ea"/>
                <a:cs typeface="+mn-cs"/>
              </a:rPr>
              <a:t>, which is often shared among all cores in multi-core processors, is the largest but the slowest.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Clock and Timing</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clock</a:t>
            </a:r>
            <a:r>
              <a:rPr lang="en-US" sz="1200" b="0" i="0" kern="1200" dirty="0">
                <a:solidFill>
                  <a:schemeClr val="tx1"/>
                </a:solidFill>
                <a:effectLst/>
                <a:latin typeface="+mn-lt"/>
                <a:ea typeface="+mn-ea"/>
                <a:cs typeface="+mn-cs"/>
              </a:rPr>
              <a:t> is a critical component that synchronizes all of the CPU's operations. It generates regular electrical pulses, known as clock cycles, which act as a timing mechanism to ensure that instructions are executed in the correct order. Each clock cycle is like a heartbeat for the CPU, and the speed at which it ticks is known as the </a:t>
            </a:r>
            <a:r>
              <a:rPr lang="en-US" sz="1200" b="1" i="0" kern="1200" dirty="0">
                <a:solidFill>
                  <a:schemeClr val="tx1"/>
                </a:solidFill>
                <a:effectLst/>
                <a:latin typeface="+mn-lt"/>
                <a:ea typeface="+mn-ea"/>
                <a:cs typeface="+mn-cs"/>
              </a:rPr>
              <a:t>clock speed</a:t>
            </a:r>
            <a:r>
              <a:rPr lang="en-US" sz="1200" b="0" i="0" kern="1200" dirty="0">
                <a:solidFill>
                  <a:schemeClr val="tx1"/>
                </a:solidFill>
                <a:effectLst/>
                <a:latin typeface="+mn-lt"/>
                <a:ea typeface="+mn-ea"/>
                <a:cs typeface="+mn-cs"/>
              </a:rPr>
              <a:t>, typically measured in gigahertz (GHz). Higher clock speeds generally result in faster processing, although other factors like the architecture and number of cores also influence performance.</a:t>
            </a:r>
          </a:p>
          <a:p>
            <a:br>
              <a:rPr lang="en-US" dirty="0"/>
            </a:br>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3</a:t>
            </a:fld>
            <a:endParaRPr lang="en-US"/>
          </a:p>
        </p:txBody>
      </p:sp>
    </p:spTree>
    <p:extLst>
      <p:ext uri="{BB962C8B-B14F-4D97-AF65-F5344CB8AC3E}">
        <p14:creationId xmlns:p14="http://schemas.microsoft.com/office/powerpoint/2010/main" val="671604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description summarizes the key aspects of an Instruction Set Architecture (ISA). Here’s a more structured breakdown of the components you mentioned:</a:t>
            </a:r>
          </a:p>
          <a:p>
            <a:r>
              <a:rPr lang="en-US" b="1" dirty="0"/>
              <a:t>Instruction Set Architecture (ISA)</a:t>
            </a:r>
          </a:p>
          <a:p>
            <a:r>
              <a:rPr lang="en-US" b="1" dirty="0"/>
              <a:t>Definition</a:t>
            </a:r>
            <a:r>
              <a:rPr lang="en-US" dirty="0"/>
              <a:t>:</a:t>
            </a:r>
            <a:br>
              <a:rPr lang="en-US" dirty="0"/>
            </a:br>
            <a:r>
              <a:rPr lang="en-US" dirty="0"/>
              <a:t>The ISA serves as the interface between hardware and software, providing a set of instructions that the processor can execute.</a:t>
            </a:r>
          </a:p>
          <a:p>
            <a:r>
              <a:rPr lang="en-US" b="1" dirty="0"/>
              <a:t>Components</a:t>
            </a:r>
            <a:r>
              <a:rPr lang="en-US" dirty="0"/>
              <a:t>:</a:t>
            </a:r>
          </a:p>
          <a:p>
            <a:pPr lvl="1"/>
            <a:r>
              <a:rPr lang="en-US" b="1" dirty="0"/>
              <a:t>Instruction Set</a:t>
            </a:r>
            <a:r>
              <a:rPr lang="en-US" dirty="0"/>
              <a:t>:</a:t>
            </a:r>
            <a:br>
              <a:rPr lang="en-US" dirty="0"/>
            </a:br>
            <a:r>
              <a:rPr lang="en-US" dirty="0"/>
              <a:t>All the instructions a processor can execute, which defines the capabilities and operations available.</a:t>
            </a:r>
          </a:p>
          <a:p>
            <a:pPr lvl="1"/>
            <a:r>
              <a:rPr lang="en-US" b="1" dirty="0"/>
              <a:t>Programmer Visible State</a:t>
            </a:r>
            <a:r>
              <a:rPr lang="en-US" dirty="0"/>
              <a:t>:</a:t>
            </a:r>
            <a:br>
              <a:rPr lang="en-US" dirty="0"/>
            </a:br>
            <a:r>
              <a:rPr lang="en-US" dirty="0"/>
              <a:t>The elements of the processor's state that can be accessed and manipulated by the programmer. This includes registers, flags, and memory configurations.</a:t>
            </a:r>
          </a:p>
          <a:p>
            <a:pPr lvl="1"/>
            <a:r>
              <a:rPr lang="en-US" b="1" dirty="0"/>
              <a:t>Data Types</a:t>
            </a:r>
            <a:r>
              <a:rPr lang="en-US" dirty="0"/>
              <a:t>:</a:t>
            </a:r>
            <a:br>
              <a:rPr lang="en-US" dirty="0"/>
            </a:br>
            <a:r>
              <a:rPr lang="en-US" dirty="0"/>
              <a:t>The basic data types that the ISA supports (e.g., integers, floating-point numbers, characters), which are critical for defining how data is processed and stored.</a:t>
            </a:r>
          </a:p>
          <a:p>
            <a:pPr lvl="1"/>
            <a:r>
              <a:rPr lang="en-US" b="1" dirty="0"/>
              <a:t>Instruction Semantics</a:t>
            </a:r>
            <a:r>
              <a:rPr lang="en-US" dirty="0"/>
              <a:t>:</a:t>
            </a:r>
          </a:p>
          <a:p>
            <a:pPr lvl="2"/>
            <a:r>
              <a:rPr lang="en-US" b="1" dirty="0"/>
              <a:t>Operations</a:t>
            </a:r>
            <a:r>
              <a:rPr lang="en-US" dirty="0"/>
              <a:t>: The functions that the instructions perform (e.g., addition, subtraction, data transfer).</a:t>
            </a:r>
          </a:p>
          <a:p>
            <a:pPr lvl="2"/>
            <a:r>
              <a:rPr lang="en-US" b="1" dirty="0"/>
              <a:t>Sequencing</a:t>
            </a:r>
            <a:r>
              <a:rPr lang="en-US" dirty="0"/>
              <a:t>: The order in which instructions are executed, which can affect the program flow.</a:t>
            </a:r>
          </a:p>
          <a:p>
            <a:pPr lvl="1"/>
            <a:r>
              <a:rPr lang="en-US" b="1" dirty="0"/>
              <a:t>Instruction Format</a:t>
            </a:r>
            <a:r>
              <a:rPr lang="en-US" dirty="0"/>
              <a:t>:</a:t>
            </a:r>
            <a:br>
              <a:rPr lang="en-US" dirty="0"/>
            </a:br>
            <a:r>
              <a:rPr lang="en-US" dirty="0"/>
              <a:t>The structure of each instruction, including:</a:t>
            </a:r>
          </a:p>
          <a:p>
            <a:pPr lvl="2"/>
            <a:r>
              <a:rPr lang="en-US" b="1" dirty="0"/>
              <a:t>Bit Encoding</a:t>
            </a:r>
            <a:r>
              <a:rPr lang="en-US" dirty="0"/>
              <a:t>: How different fields (such as opcode, operands) are represented in binary form.</a:t>
            </a:r>
          </a:p>
          <a:p>
            <a:r>
              <a:rPr lang="en-US" b="1" dirty="0"/>
              <a:t>Summary</a:t>
            </a:r>
          </a:p>
          <a:p>
            <a:r>
              <a:rPr lang="en-US" dirty="0"/>
              <a:t>The ISA is crucial for ensuring that software can effectively utilize the underlying hardware, providing a clear and consistent set of rules and structures for programming. It defines both how instructions are executed and the data types that can be used, making it fundamental to computer architecture.</a:t>
            </a:r>
          </a:p>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5</a:t>
            </a:fld>
            <a:endParaRPr lang="en-US"/>
          </a:p>
        </p:txBody>
      </p:sp>
    </p:spTree>
    <p:extLst>
      <p:ext uri="{BB962C8B-B14F-4D97-AF65-F5344CB8AC3E}">
        <p14:creationId xmlns:p14="http://schemas.microsoft.com/office/powerpoint/2010/main" val="2696189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Assembler</a:t>
            </a:r>
          </a:p>
          <a:p>
            <a:r>
              <a:rPr lang="en-US" b="1" dirty="0"/>
              <a:t>Function</a:t>
            </a:r>
            <a:r>
              <a:rPr lang="en-US" dirty="0"/>
              <a:t>:</a:t>
            </a:r>
          </a:p>
          <a:p>
            <a:pPr lvl="1"/>
            <a:r>
              <a:rPr lang="en-US" dirty="0"/>
              <a:t>Converts assembly language (a low-level programming language) directly into machine code (binary format that the CPU understands).</a:t>
            </a:r>
          </a:p>
          <a:p>
            <a:pPr lvl="1"/>
            <a:r>
              <a:rPr lang="en-US" dirty="0"/>
              <a:t>Each assembly language instruction corresponds closely to machine language instructions, making the translation straightforward.</a:t>
            </a:r>
          </a:p>
          <a:p>
            <a:r>
              <a:rPr lang="en-US" b="1" dirty="0"/>
              <a:t>Use Cases</a:t>
            </a:r>
            <a:r>
              <a:rPr lang="en-US" dirty="0"/>
              <a:t>:</a:t>
            </a:r>
          </a:p>
          <a:p>
            <a:pPr lvl="1"/>
            <a:r>
              <a:rPr lang="en-US" dirty="0"/>
              <a:t>Often used in systems programming, embedded systems, and performance-critical applications due to its proximity to machine hardware.</a:t>
            </a:r>
          </a:p>
          <a:p>
            <a:r>
              <a:rPr lang="en-US" b="1" dirty="0"/>
              <a:t>Advantages</a:t>
            </a:r>
            <a:r>
              <a:rPr lang="en-US" dirty="0"/>
              <a:t>:</a:t>
            </a:r>
          </a:p>
          <a:p>
            <a:pPr lvl="1"/>
            <a:r>
              <a:rPr lang="en-US" dirty="0"/>
              <a:t>Allows programmers to write code that can be optimized for specific hardware.</a:t>
            </a:r>
          </a:p>
          <a:p>
            <a:pPr lvl="1"/>
            <a:r>
              <a:rPr lang="en-US" dirty="0"/>
              <a:t>Generally results in very efficient object code.</a:t>
            </a:r>
          </a:p>
          <a:p>
            <a:r>
              <a:rPr lang="en-US" b="1" dirty="0"/>
              <a:t>Drawbacks</a:t>
            </a:r>
            <a:r>
              <a:rPr lang="en-US" dirty="0"/>
              <a:t>:</a:t>
            </a:r>
          </a:p>
          <a:p>
            <a:pPr lvl="1"/>
            <a:r>
              <a:rPr lang="en-US" dirty="0"/>
              <a:t>Assembly language is hardware-specific, making translation less portable across different systems.</a:t>
            </a:r>
          </a:p>
          <a:p>
            <a:pPr lvl="1"/>
            <a:r>
              <a:rPr lang="en-US" dirty="0"/>
              <a:t>Requires detailed knowledge of computer architecture.</a:t>
            </a:r>
          </a:p>
          <a:p>
            <a:endParaRPr lang="en-US" b="1" dirty="0"/>
          </a:p>
          <a:p>
            <a:r>
              <a:rPr lang="en-US" b="1" dirty="0"/>
              <a:t>Compiler</a:t>
            </a:r>
          </a:p>
          <a:p>
            <a:r>
              <a:rPr lang="en-US" b="1" dirty="0"/>
              <a:t>Function</a:t>
            </a:r>
            <a:r>
              <a:rPr lang="en-US" dirty="0"/>
              <a:t>:</a:t>
            </a:r>
          </a:p>
          <a:p>
            <a:pPr lvl="1"/>
            <a:r>
              <a:rPr lang="en-US" dirty="0"/>
              <a:t>Performs several steps to convert high-level programming languages (like C, C++, or Java) into object code: </a:t>
            </a:r>
          </a:p>
          <a:p>
            <a:pPr lvl="2"/>
            <a:r>
              <a:rPr lang="en-US" b="1" dirty="0"/>
              <a:t>Lexical Analysis</a:t>
            </a:r>
            <a:r>
              <a:rPr lang="en-US" dirty="0"/>
              <a:t>: Breaks the source code into tokens.</a:t>
            </a:r>
          </a:p>
          <a:p>
            <a:pPr lvl="2"/>
            <a:r>
              <a:rPr lang="en-US" b="1" dirty="0"/>
              <a:t>Syntax Analysis</a:t>
            </a:r>
            <a:r>
              <a:rPr lang="en-US" dirty="0"/>
              <a:t>: Ensures the code conforms to the grammar of the programming language.</a:t>
            </a:r>
          </a:p>
          <a:p>
            <a:pPr lvl="2"/>
            <a:r>
              <a:rPr lang="en-US" b="1" dirty="0"/>
              <a:t>Semantic Analysis</a:t>
            </a:r>
            <a:r>
              <a:rPr lang="en-US" dirty="0"/>
              <a:t>: Checks for semantic errors, ensuring the code makes logical sense.</a:t>
            </a:r>
          </a:p>
          <a:p>
            <a:pPr lvl="2"/>
            <a:r>
              <a:rPr lang="en-US" b="1" dirty="0"/>
              <a:t>Optimization</a:t>
            </a:r>
            <a:r>
              <a:rPr lang="en-US" dirty="0"/>
              <a:t>: Improves the code for performance (optional).</a:t>
            </a:r>
          </a:p>
          <a:p>
            <a:pPr lvl="2"/>
            <a:r>
              <a:rPr lang="en-US" b="1" dirty="0"/>
              <a:t>Code Generation</a:t>
            </a:r>
            <a:r>
              <a:rPr lang="en-US" dirty="0"/>
              <a:t>: Produces object code.</a:t>
            </a:r>
          </a:p>
          <a:p>
            <a:r>
              <a:rPr lang="en-US" b="1" dirty="0"/>
              <a:t>Use Cases</a:t>
            </a:r>
            <a:r>
              <a:rPr lang="en-US" dirty="0"/>
              <a:t>:</a:t>
            </a:r>
          </a:p>
          <a:p>
            <a:pPr lvl="1"/>
            <a:r>
              <a:rPr lang="en-US" dirty="0"/>
              <a:t>Used for software development where execution speed and performance are crucial, such as system applications, desktop software, and games.</a:t>
            </a:r>
          </a:p>
          <a:p>
            <a:r>
              <a:rPr lang="en-US" b="1" dirty="0"/>
              <a:t>Advantages</a:t>
            </a:r>
            <a:r>
              <a:rPr lang="en-US" dirty="0"/>
              <a:t>:</a:t>
            </a:r>
          </a:p>
          <a:p>
            <a:pPr lvl="1"/>
            <a:r>
              <a:rPr lang="en-US" dirty="0"/>
              <a:t>Produces fast executable programs since the translation occurs before execution.</a:t>
            </a:r>
          </a:p>
          <a:p>
            <a:pPr lvl="1"/>
            <a:r>
              <a:rPr lang="en-US" dirty="0"/>
              <a:t>Can optimize code for better performance.</a:t>
            </a:r>
          </a:p>
          <a:p>
            <a:r>
              <a:rPr lang="en-US" b="1" dirty="0"/>
              <a:t>Drawbacks</a:t>
            </a:r>
            <a:r>
              <a:rPr lang="en-US" dirty="0"/>
              <a:t>:</a:t>
            </a:r>
          </a:p>
          <a:p>
            <a:pPr lvl="1"/>
            <a:r>
              <a:rPr lang="en-US" dirty="0"/>
              <a:t>Longer initial compilation time can slow down development, especially during frequent changes.</a:t>
            </a:r>
          </a:p>
          <a:p>
            <a:pPr lvl="1"/>
            <a:r>
              <a:rPr lang="en-US" dirty="0"/>
              <a:t>Debugging can be harder since errors may not be caught until the entire program is compiled and executed.</a:t>
            </a:r>
          </a:p>
          <a:p>
            <a:endParaRPr lang="en-US" b="1" dirty="0"/>
          </a:p>
          <a:p>
            <a:r>
              <a:rPr lang="en-US" b="1" dirty="0"/>
              <a:t>Interpreter</a:t>
            </a:r>
          </a:p>
          <a:p>
            <a:r>
              <a:rPr lang="en-US" b="1" dirty="0"/>
              <a:t>Function</a:t>
            </a:r>
            <a:r>
              <a:rPr lang="en-US" dirty="0"/>
              <a:t>:</a:t>
            </a:r>
          </a:p>
          <a:p>
            <a:pPr lvl="1"/>
            <a:r>
              <a:rPr lang="en-US" dirty="0"/>
              <a:t>Translates high-level programming languages into machine code one instruction at a time, executing each instruction immediately after translation.</a:t>
            </a:r>
          </a:p>
          <a:p>
            <a:r>
              <a:rPr lang="en-US" b="1" dirty="0"/>
              <a:t>Use Cases</a:t>
            </a:r>
            <a:r>
              <a:rPr lang="en-US" dirty="0"/>
              <a:t>:</a:t>
            </a:r>
          </a:p>
          <a:p>
            <a:pPr lvl="1"/>
            <a:r>
              <a:rPr lang="en-US" dirty="0"/>
              <a:t>Commonly used in scripting languages (like Python, Ruby, and JavaScript), web development, and educational environments where ease of use and rapid feedback are essential.</a:t>
            </a:r>
          </a:p>
          <a:p>
            <a:r>
              <a:rPr lang="en-US" b="1" dirty="0"/>
              <a:t>Advantages</a:t>
            </a:r>
            <a:r>
              <a:rPr lang="en-US" dirty="0"/>
              <a:t>:</a:t>
            </a:r>
          </a:p>
          <a:p>
            <a:pPr lvl="1"/>
            <a:r>
              <a:rPr lang="en-US" dirty="0"/>
              <a:t>Immediate execution of code allows for quick testing and debugging.</a:t>
            </a:r>
          </a:p>
          <a:p>
            <a:pPr lvl="1"/>
            <a:r>
              <a:rPr lang="en-US" dirty="0"/>
              <a:t>Easier to work with during development, as changes can be tested without needing full recompilation.</a:t>
            </a:r>
          </a:p>
          <a:p>
            <a:r>
              <a:rPr lang="en-US" b="1" dirty="0"/>
              <a:t>Drawbacks</a:t>
            </a:r>
            <a:r>
              <a:rPr lang="en-US" dirty="0"/>
              <a:t>:</a:t>
            </a:r>
          </a:p>
          <a:p>
            <a:pPr lvl="1"/>
            <a:r>
              <a:rPr lang="en-US" dirty="0"/>
              <a:t>Generally slower than compiled code due to real-time translation.</a:t>
            </a:r>
          </a:p>
          <a:p>
            <a:pPr lvl="1"/>
            <a:r>
              <a:rPr lang="en-US" dirty="0"/>
              <a:t>Inefficient for running larger programs or applications, as the overhead of translation adds up.</a:t>
            </a:r>
          </a:p>
          <a:p>
            <a:endParaRPr lang="en-US" b="1" dirty="0"/>
          </a:p>
          <a:p>
            <a:endParaRPr lang="en-US" b="1" dirty="0"/>
          </a:p>
          <a:p>
            <a:r>
              <a:rPr lang="en-US" b="1" dirty="0"/>
              <a:t>Summary of Differences</a:t>
            </a:r>
          </a:p>
          <a:p>
            <a:r>
              <a:rPr lang="en-US" b="1" dirty="0"/>
              <a:t>Execution Method</a:t>
            </a:r>
            <a:r>
              <a:rPr lang="en-US" dirty="0"/>
              <a:t>:</a:t>
            </a:r>
          </a:p>
          <a:p>
            <a:pPr lvl="1"/>
            <a:r>
              <a:rPr lang="en-US" b="1" dirty="0"/>
              <a:t>Assembler</a:t>
            </a:r>
            <a:r>
              <a:rPr lang="en-US" dirty="0"/>
              <a:t>: One-to-one translation of instructions into machine code.</a:t>
            </a:r>
          </a:p>
          <a:p>
            <a:pPr lvl="1"/>
            <a:r>
              <a:rPr lang="en-US" b="1" dirty="0"/>
              <a:t>Compiler</a:t>
            </a:r>
            <a:r>
              <a:rPr lang="en-US" dirty="0"/>
              <a:t>: Translates the entire program before execution.</a:t>
            </a:r>
          </a:p>
          <a:p>
            <a:pPr lvl="1"/>
            <a:r>
              <a:rPr lang="en-US" b="1" dirty="0"/>
              <a:t>Interpreter</a:t>
            </a:r>
            <a:r>
              <a:rPr lang="en-US" dirty="0"/>
              <a:t>: Translates and executes one instruction at a time.</a:t>
            </a:r>
          </a:p>
          <a:p>
            <a:r>
              <a:rPr lang="en-US" b="1" dirty="0"/>
              <a:t>Speed</a:t>
            </a:r>
            <a:r>
              <a:rPr lang="en-US" dirty="0"/>
              <a:t>:</a:t>
            </a:r>
          </a:p>
          <a:p>
            <a:pPr lvl="1"/>
            <a:r>
              <a:rPr lang="en-US" b="1" dirty="0"/>
              <a:t>Compilers</a:t>
            </a:r>
            <a:r>
              <a:rPr lang="en-US" dirty="0"/>
              <a:t>: Faster execution after compilation.</a:t>
            </a:r>
          </a:p>
          <a:p>
            <a:pPr lvl="1"/>
            <a:r>
              <a:rPr lang="en-US" b="1" dirty="0"/>
              <a:t>Interpreters</a:t>
            </a:r>
            <a:r>
              <a:rPr lang="en-US" dirty="0"/>
              <a:t>: Slower due to real-time translation, but faster for iterative development.</a:t>
            </a:r>
          </a:p>
          <a:p>
            <a:r>
              <a:rPr lang="en-US" b="1" dirty="0"/>
              <a:t>Error Handling</a:t>
            </a:r>
            <a:r>
              <a:rPr lang="en-US" dirty="0"/>
              <a:t>:</a:t>
            </a:r>
          </a:p>
          <a:p>
            <a:pPr lvl="1"/>
            <a:r>
              <a:rPr lang="en-US" b="1" dirty="0"/>
              <a:t>Compilers</a:t>
            </a:r>
            <a:r>
              <a:rPr lang="en-US" dirty="0"/>
              <a:t>: Errors are reported after the entire code is compiled.</a:t>
            </a:r>
          </a:p>
          <a:p>
            <a:pPr lvl="1"/>
            <a:r>
              <a:rPr lang="en-US" b="1" dirty="0"/>
              <a:t>Interpreters</a:t>
            </a:r>
            <a:r>
              <a:rPr lang="en-US" dirty="0"/>
              <a:t>: Errors are caught and reported as each line is executed.</a:t>
            </a:r>
          </a:p>
          <a:p>
            <a:r>
              <a:rPr lang="en-US" dirty="0"/>
              <a:t>These distinctions highlight how each tool fits into different areas of programming and software development, providing unique benefits based on the specific needs of a project. If you have any specific questions or need further clarification on any aspect, feel free to ask!</a:t>
            </a:r>
          </a:p>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8</a:t>
            </a:fld>
            <a:endParaRPr lang="en-US"/>
          </a:p>
        </p:txBody>
      </p:sp>
    </p:spTree>
    <p:extLst>
      <p:ext uri="{BB962C8B-B14F-4D97-AF65-F5344CB8AC3E}">
        <p14:creationId xmlns:p14="http://schemas.microsoft.com/office/powerpoint/2010/main" val="3041985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Additional Notes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Overlapping Functions</a:t>
            </a:r>
            <a:r>
              <a:rPr kumimoji="0" lang="en-US" altLang="en-US" sz="1200" b="0" i="0" u="none" strike="noStrike" cap="none" normalizeH="0" baseline="0" dirty="0">
                <a:ln>
                  <a:noFill/>
                </a:ln>
                <a:solidFill>
                  <a:schemeClr val="tx1"/>
                </a:solidFill>
                <a:effectLst/>
                <a:latin typeface="Arial" panose="020B0604020202020204" pitchFamily="34" charset="0"/>
              </a:rPr>
              <a:t>: It's important to note that registers can often serve multiple purposes, and the distinction between categories may not always be clear-cut. For example, some general-purpose registers could also function as data or address registers, depending on the context.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Usage Variability</a:t>
            </a:r>
            <a:r>
              <a:rPr kumimoji="0" lang="en-US" altLang="en-US" sz="1200" b="0" i="0" u="none" strike="noStrike" cap="none" normalizeH="0" baseline="0" dirty="0">
                <a:ln>
                  <a:noFill/>
                </a:ln>
                <a:solidFill>
                  <a:schemeClr val="tx1"/>
                </a:solidFill>
                <a:effectLst/>
                <a:latin typeface="Arial" panose="020B0604020202020204" pitchFamily="34" charset="0"/>
              </a:rPr>
              <a:t>: The use of specific registers may vary depending on the architecture of the CPU (e.g., x86, ARM, MIPS), leading to variations in naming and functionality.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If you need more details on any specific register or category, feel free to ask!</a:t>
            </a:r>
          </a:p>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13</a:t>
            </a:fld>
            <a:endParaRPr lang="en-US"/>
          </a:p>
        </p:txBody>
      </p:sp>
    </p:spTree>
    <p:extLst>
      <p:ext uri="{BB962C8B-B14F-4D97-AF65-F5344CB8AC3E}">
        <p14:creationId xmlns:p14="http://schemas.microsoft.com/office/powerpoint/2010/main" val="2259128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18</a:t>
            </a:fld>
            <a:endParaRPr lang="en-US"/>
          </a:p>
        </p:txBody>
      </p:sp>
    </p:spTree>
    <p:extLst>
      <p:ext uri="{BB962C8B-B14F-4D97-AF65-F5344CB8AC3E}">
        <p14:creationId xmlns:p14="http://schemas.microsoft.com/office/powerpoint/2010/main" val="2441453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overview of overlapped register windows, including their purpose, functionality, and advantages in a structured format:</a:t>
            </a:r>
          </a:p>
          <a:p>
            <a:r>
              <a:rPr lang="en-US" b="1" dirty="0"/>
              <a:t>Overlapped Register Windows</a:t>
            </a:r>
          </a:p>
          <a:p>
            <a:r>
              <a:rPr lang="en-US" dirty="0" err="1"/>
              <a:t>FeatureDescription</a:t>
            </a:r>
            <a:r>
              <a:rPr lang="en-US" b="1" dirty="0" err="1"/>
              <a:t>Concept</a:t>
            </a:r>
            <a:r>
              <a:rPr lang="en-US" dirty="0" err="1"/>
              <a:t>Overlapped</a:t>
            </a:r>
            <a:r>
              <a:rPr lang="en-US" dirty="0"/>
              <a:t> register windows allow multiple procedures to share registers, minimizing the need to save and restore register values during procedure </a:t>
            </a:r>
            <a:r>
              <a:rPr lang="en-US" dirty="0" err="1"/>
              <a:t>calls.</a:t>
            </a:r>
            <a:r>
              <a:rPr lang="en-US" b="1" dirty="0" err="1"/>
              <a:t>Procedure</a:t>
            </a:r>
            <a:r>
              <a:rPr lang="en-US" b="1" dirty="0"/>
              <a:t> Call Process</a:t>
            </a:r>
            <a:r>
              <a:rPr lang="en-US" dirty="0"/>
              <a:t>1. </a:t>
            </a:r>
            <a:r>
              <a:rPr lang="en-US" b="1" dirty="0"/>
              <a:t>Save Register Values</a:t>
            </a:r>
            <a:r>
              <a:rPr lang="en-US" dirty="0"/>
              <a:t>: Typically, a procedure call saves current register values.2. </a:t>
            </a:r>
            <a:r>
              <a:rPr lang="en-US" b="1" dirty="0"/>
              <a:t>Pass Parameters</a:t>
            </a:r>
            <a:r>
              <a:rPr lang="en-US" dirty="0"/>
              <a:t>: Parameters needed for the procedure are passed.3. </a:t>
            </a:r>
            <a:r>
              <a:rPr lang="en-US" b="1" dirty="0"/>
              <a:t>Subroutine Execution</a:t>
            </a:r>
            <a:r>
              <a:rPr lang="en-US" dirty="0"/>
              <a:t>: The subroutine executes using its allocated registers.4. </a:t>
            </a:r>
            <a:r>
              <a:rPr lang="en-US" b="1" dirty="0"/>
              <a:t>Return</a:t>
            </a:r>
            <a:r>
              <a:rPr lang="en-US" dirty="0"/>
              <a:t>: After completing execution, results are passed back, and old register values are </a:t>
            </a:r>
            <a:r>
              <a:rPr lang="en-US" dirty="0" err="1"/>
              <a:t>restored.</a:t>
            </a:r>
            <a:r>
              <a:rPr lang="en-US" b="1" dirty="0" err="1"/>
              <a:t>Challenges</a:t>
            </a:r>
            <a:r>
              <a:rPr lang="en-US" b="1" dirty="0"/>
              <a:t> Addressed</a:t>
            </a:r>
            <a:r>
              <a:rPr lang="en-US" dirty="0"/>
              <a:t>- Saving and restoring registers can be time-consuming.- Using the memory stack for parameter storage incurs additional memory accesses, leading to </a:t>
            </a:r>
            <a:r>
              <a:rPr lang="en-US" dirty="0" err="1"/>
              <a:t>inefficiencies.</a:t>
            </a:r>
            <a:r>
              <a:rPr lang="en-US" b="1" dirty="0" err="1"/>
              <a:t>Implementation</a:t>
            </a:r>
            <a:r>
              <a:rPr lang="en-US" dirty="0"/>
              <a:t>- In systems with overlapped register windows, each procedure is allocated its own set of registers from the register file.- A pointer is used to manage the current window:- </a:t>
            </a:r>
            <a:r>
              <a:rPr lang="en-US" b="1" dirty="0"/>
              <a:t>Pointer Increment</a:t>
            </a:r>
            <a:r>
              <a:rPr lang="en-US" dirty="0"/>
              <a:t>: Activates a new window for a new procedure call.- </a:t>
            </a:r>
            <a:r>
              <a:rPr lang="en-US" b="1" dirty="0"/>
              <a:t>Pointer Decrement</a:t>
            </a:r>
            <a:r>
              <a:rPr lang="en-US" dirty="0"/>
              <a:t>: Activates the previous window upon </a:t>
            </a:r>
            <a:r>
              <a:rPr lang="en-US" dirty="0" err="1"/>
              <a:t>return.</a:t>
            </a:r>
            <a:r>
              <a:rPr lang="en-US" b="1" dirty="0" err="1"/>
              <a:t>Shared</a:t>
            </a:r>
            <a:r>
              <a:rPr lang="en-US" b="1" dirty="0"/>
              <a:t> Registers</a:t>
            </a:r>
            <a:r>
              <a:rPr lang="en-US" dirty="0"/>
              <a:t>- Adjacent procedure windows share overlapping registers, allowing for efficient parameter passing and result </a:t>
            </a:r>
            <a:r>
              <a:rPr lang="en-US" dirty="0" err="1"/>
              <a:t>retrieval.</a:t>
            </a:r>
            <a:r>
              <a:rPr lang="en-US" b="1" dirty="0" err="1"/>
              <a:t>Architecture</a:t>
            </a:r>
            <a:r>
              <a:rPr lang="en-US" b="1" dirty="0"/>
              <a:t> Impact</a:t>
            </a:r>
            <a:r>
              <a:rPr lang="en-US" dirty="0"/>
              <a:t>- Common in RISC (Reduced Instruction Set Computer) architectures, promoting efficient procedure call handling.</a:t>
            </a:r>
          </a:p>
          <a:p>
            <a:r>
              <a:rPr lang="en-US" b="1" dirty="0"/>
              <a:t>Advantages of Overlapped Register Windows</a:t>
            </a:r>
          </a:p>
          <a:p>
            <a:r>
              <a:rPr lang="en-US" b="1" dirty="0"/>
              <a:t>Efficiency</a:t>
            </a:r>
            <a:r>
              <a:rPr lang="en-US" dirty="0"/>
              <a:t>: Eliminates the overhead of saving and restoring registers, resulting in faster procedure calls and returns.</a:t>
            </a:r>
          </a:p>
          <a:p>
            <a:r>
              <a:rPr lang="en-US" b="1" dirty="0"/>
              <a:t>Reduced Memory Access</a:t>
            </a:r>
            <a:r>
              <a:rPr lang="en-US" dirty="0"/>
              <a:t>: Decreases reliance on memory for passing parameters, which can be slower than register access.</a:t>
            </a:r>
          </a:p>
          <a:p>
            <a:r>
              <a:rPr lang="en-US" b="1" dirty="0"/>
              <a:t>Simplified Context Switching</a:t>
            </a:r>
            <a:r>
              <a:rPr lang="en-US" dirty="0"/>
              <a:t>: Easier management of multiple procedure states without involved memory operations.</a:t>
            </a:r>
          </a:p>
          <a:p>
            <a:r>
              <a:rPr lang="en-US" b="1" dirty="0"/>
              <a:t>Summary</a:t>
            </a:r>
          </a:p>
          <a:p>
            <a:r>
              <a:rPr lang="en-US" dirty="0"/>
              <a:t>Overlapped register windows are a design feature in some RISC architectures aimed at optimizing procedure call performance. By sharing registers between procedures and managing them with a pointer, these systems enhance efficiency and streamline the process of passing parameters and results, addressing the common drawbacks associated with traditional calling conventions.</a:t>
            </a:r>
          </a:p>
          <a:p>
            <a:r>
              <a:rPr lang="en-US" dirty="0"/>
              <a:t>If you have more questions or need further elaboration on specific aspects, feel free to ask!</a:t>
            </a:r>
          </a:p>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19</a:t>
            </a:fld>
            <a:endParaRPr lang="en-US"/>
          </a:p>
        </p:txBody>
      </p:sp>
    </p:spTree>
    <p:extLst>
      <p:ext uri="{BB962C8B-B14F-4D97-AF65-F5344CB8AC3E}">
        <p14:creationId xmlns:p14="http://schemas.microsoft.com/office/powerpoint/2010/main" val="2733282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more detailed exploration of overlapped register windows, focusing on their functioning, advantages, and real-world implications in CPU design.</a:t>
            </a:r>
          </a:p>
          <a:p>
            <a:r>
              <a:rPr lang="en-US" b="1" dirty="0"/>
              <a:t>Overlapped Register Windows: In-Depth Description</a:t>
            </a:r>
          </a:p>
          <a:p>
            <a:r>
              <a:rPr lang="en-US" b="1" dirty="0"/>
              <a:t>Overview</a:t>
            </a:r>
          </a:p>
          <a:p>
            <a:r>
              <a:rPr lang="en-US" dirty="0"/>
              <a:t>Overlapped register windows are a feature primarily found in RISC (Reduced Instruction Set Computer) architectures, designed to enhance the efficiency of method or procedure calls. They aim to minimize the overhead of saving and restoring registers when a function is invoked and returned from.</a:t>
            </a:r>
          </a:p>
          <a:p>
            <a:r>
              <a:rPr lang="en-US" b="1" dirty="0"/>
              <a:t>Detailed Functionality</a:t>
            </a:r>
          </a:p>
          <a:p>
            <a:r>
              <a:rPr lang="en-US" b="1" dirty="0"/>
              <a:t>Register Allocation</a:t>
            </a:r>
            <a:r>
              <a:rPr lang="en-US" dirty="0"/>
              <a:t>:</a:t>
            </a:r>
          </a:p>
          <a:p>
            <a:pPr lvl="1"/>
            <a:r>
              <a:rPr lang="en-US" dirty="0"/>
              <a:t>When a procedure is called, instead of using the same set of registers used by the calling procedure, a new set (or window) of registers is allocated.</a:t>
            </a:r>
          </a:p>
          <a:p>
            <a:pPr lvl="1"/>
            <a:r>
              <a:rPr lang="en-US" dirty="0"/>
              <a:t>Each window consists of a defined number of registers that the current procedure can utilize without interference from other procedures.</a:t>
            </a:r>
          </a:p>
          <a:p>
            <a:r>
              <a:rPr lang="en-US" b="1" dirty="0"/>
              <a:t>Pointer Management</a:t>
            </a:r>
            <a:r>
              <a:rPr lang="en-US" dirty="0"/>
              <a:t>:</a:t>
            </a:r>
          </a:p>
          <a:p>
            <a:pPr lvl="1"/>
            <a:r>
              <a:rPr lang="en-US" dirty="0"/>
              <a:t>A dedicated pointer (often called the window pointer) keeps track of the current active register window.</a:t>
            </a:r>
          </a:p>
          <a:p>
            <a:pPr lvl="1"/>
            <a:r>
              <a:rPr lang="en-US" b="1" dirty="0"/>
              <a:t>Incrementing the Pointer</a:t>
            </a:r>
            <a:r>
              <a:rPr lang="en-US" dirty="0"/>
              <a:t>: When a new procedure is invoked, the pointer is incremented, transitioning to a new window. The new procedure has immediate access to its designated set of registers.</a:t>
            </a:r>
          </a:p>
          <a:p>
            <a:pPr lvl="1"/>
            <a:r>
              <a:rPr lang="en-US" b="1" dirty="0"/>
              <a:t>Decrementing the Pointer</a:t>
            </a:r>
            <a:r>
              <a:rPr lang="en-US" dirty="0"/>
              <a:t>: When the procedure completes and a return statement is executed, the pointer is decremented, reactivating the previous register window.</a:t>
            </a:r>
          </a:p>
          <a:p>
            <a:r>
              <a:rPr lang="en-US" b="1" dirty="0"/>
              <a:t>Overlapping Mechanism</a:t>
            </a:r>
            <a:r>
              <a:rPr lang="en-US" dirty="0"/>
              <a:t>:</a:t>
            </a:r>
          </a:p>
          <a:p>
            <a:pPr lvl="1"/>
            <a:r>
              <a:rPr lang="en-US" dirty="0"/>
              <a:t>Adjacent register windows share some registers, which facilitates the passing of parameters.</a:t>
            </a:r>
          </a:p>
          <a:p>
            <a:pPr lvl="1"/>
            <a:r>
              <a:rPr lang="en-US" dirty="0"/>
              <a:t>For instance, the last few registers of the previous window can be used by the new window, allowing parameters to be passed without requiring explicit memory operations or saving/restoring values.</a:t>
            </a:r>
          </a:p>
          <a:p>
            <a:r>
              <a:rPr lang="en-US" b="1" dirty="0"/>
              <a:t>Parameter Passing</a:t>
            </a:r>
          </a:p>
          <a:p>
            <a:r>
              <a:rPr lang="en-US" b="1" dirty="0"/>
              <a:t>Direct Access</a:t>
            </a:r>
            <a:r>
              <a:rPr lang="en-US" dirty="0"/>
              <a:t>: Shared registers enable direct parameter passing between the calling and called procedures. Instead of pushing parameters to a stack in memory, the last few registers of a calling procedure can be accessed directly by the called procedure.</a:t>
            </a:r>
          </a:p>
          <a:p>
            <a:r>
              <a:rPr lang="en-US" b="1" dirty="0"/>
              <a:t>Return Values</a:t>
            </a:r>
            <a:r>
              <a:rPr lang="en-US" dirty="0"/>
              <a:t>: Similarly, output values can be placed in the overlapping registers of the previous window, ensuring quick and efficient retrieval.</a:t>
            </a:r>
          </a:p>
          <a:p>
            <a:r>
              <a:rPr lang="en-US" b="1" dirty="0"/>
              <a:t>Advantages</a:t>
            </a:r>
          </a:p>
          <a:p>
            <a:r>
              <a:rPr lang="en-US" b="1" dirty="0"/>
              <a:t>Reduced Latency</a:t>
            </a:r>
            <a:r>
              <a:rPr lang="en-US" dirty="0"/>
              <a:t>:</a:t>
            </a:r>
          </a:p>
          <a:p>
            <a:pPr lvl="1"/>
            <a:r>
              <a:rPr lang="en-US" dirty="0"/>
              <a:t>Eliminates the time-consuming operations associated with saving and restoring registers across calls, thus speeding up execution time for frequently invoked procedures.</a:t>
            </a:r>
          </a:p>
          <a:p>
            <a:r>
              <a:rPr lang="en-US" b="1" dirty="0"/>
              <a:t>Improved Performance</a:t>
            </a:r>
            <a:r>
              <a:rPr lang="en-US" dirty="0"/>
              <a:t>:</a:t>
            </a:r>
          </a:p>
          <a:p>
            <a:pPr lvl="1"/>
            <a:r>
              <a:rPr lang="en-US" dirty="0"/>
              <a:t>The overlapping nature of the register windows reduces the need for memory access, which can be a bottleneck in performance. Register access is significantly faster than memory access.</a:t>
            </a:r>
          </a:p>
          <a:p>
            <a:r>
              <a:rPr lang="en-US" b="1" dirty="0"/>
              <a:t>Convenience in Function Calls</a:t>
            </a:r>
            <a:r>
              <a:rPr lang="en-US" dirty="0"/>
              <a:t>:</a:t>
            </a:r>
          </a:p>
          <a:p>
            <a:pPr lvl="1"/>
            <a:r>
              <a:rPr lang="en-US" dirty="0"/>
              <a:t>Simplifies the function calling conventions, making it easier for compilers to generate optimized code, as parameters and return values can be managed efficiently.</a:t>
            </a:r>
          </a:p>
          <a:p>
            <a:r>
              <a:rPr lang="en-US" b="1" dirty="0"/>
              <a:t>Context Switching</a:t>
            </a:r>
            <a:r>
              <a:rPr lang="en-US" dirty="0"/>
              <a:t>:</a:t>
            </a:r>
          </a:p>
          <a:p>
            <a:pPr lvl="1"/>
            <a:r>
              <a:rPr lang="en-US" dirty="0"/>
              <a:t>Facilitates quicker context switching, which is especially valuable in multi-threaded or multi-tasking environments where procedures are frequently called and returned.</a:t>
            </a:r>
          </a:p>
          <a:p>
            <a:r>
              <a:rPr lang="en-US" b="1" dirty="0"/>
              <a:t>Architectural Considerations</a:t>
            </a:r>
          </a:p>
          <a:p>
            <a:r>
              <a:rPr lang="en-US" dirty="0"/>
              <a:t>Modern RISC compilers and CPUs often leverage overlapped register windows to enhance the speed of function calls. This design can lead to substantial performance gains in applications with heavy computational workloads or recursive function calls.</a:t>
            </a:r>
          </a:p>
          <a:p>
            <a:r>
              <a:rPr lang="en-US" b="1" dirty="0"/>
              <a:t>Disadvantages to Consider</a:t>
            </a:r>
          </a:p>
          <a:p>
            <a:r>
              <a:rPr lang="en-US" b="1" dirty="0"/>
              <a:t>Complexity</a:t>
            </a:r>
            <a:r>
              <a:rPr lang="en-US" dirty="0"/>
              <a:t>: The architecture becomes more complex as it requires additional hardware logic to manage the register windows.</a:t>
            </a:r>
          </a:p>
          <a:p>
            <a:r>
              <a:rPr lang="en-US" b="1" dirty="0"/>
              <a:t>Limited Registers</a:t>
            </a:r>
            <a:r>
              <a:rPr lang="en-US" dirty="0"/>
              <a:t>: If too many nested procedure calls occur, the number of available registers may be exhausted, requiring a fallback to traditional stack-based parameter passing.</a:t>
            </a:r>
          </a:p>
          <a:p>
            <a:r>
              <a:rPr lang="en-US" b="1" dirty="0"/>
              <a:t>Real-World Examples</a:t>
            </a:r>
          </a:p>
          <a:p>
            <a:r>
              <a:rPr lang="en-US" b="1" dirty="0"/>
              <a:t>SPARC Architecture</a:t>
            </a:r>
            <a:r>
              <a:rPr lang="en-US" dirty="0"/>
              <a:t>: One of the most notable examples of a processor architecture using overlapped register windows is the SPARC (Scalable Processor Architecture). SPARC processors implemented this feature to improve function call efficiency.</a:t>
            </a:r>
          </a:p>
          <a:p>
            <a:r>
              <a:rPr lang="en-US" b="1" dirty="0"/>
              <a:t>Advantages Observed</a:t>
            </a:r>
            <a:r>
              <a:rPr lang="en-US" dirty="0"/>
              <a:t>: Systems utilizing this architecture often demonstrate improved throughput in scenarios involving high-frequency function calls, such as in scientific computations or real-time processing applications.</a:t>
            </a:r>
          </a:p>
          <a:p>
            <a:r>
              <a:rPr lang="en-US" b="1" dirty="0"/>
              <a:t>Summary</a:t>
            </a:r>
          </a:p>
          <a:p>
            <a:r>
              <a:rPr lang="en-US" dirty="0"/>
              <a:t>Overlapped register windows represent a significant strategy employed in RISC architectures to streamline procedure call handling. By managing groups of shared registers that actively reduce the need for saving and restoring values, this mechanism facilitates efficient processing, enhances performance, and simplifies parameter passing in function calls. While it introduces architectural complexity, the performance benefits can be substantial, particularly in compute-intensive or recursive applications.</a:t>
            </a:r>
          </a:p>
          <a:p>
            <a:r>
              <a:rPr lang="en-US" dirty="0"/>
              <a:t>If you have more specific aspects you'd like to delve into or if you have further questions, feel free to let me know!</a:t>
            </a:r>
          </a:p>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20</a:t>
            </a:fld>
            <a:endParaRPr lang="en-US"/>
          </a:p>
        </p:txBody>
      </p:sp>
    </p:spTree>
    <p:extLst>
      <p:ext uri="{BB962C8B-B14F-4D97-AF65-F5344CB8AC3E}">
        <p14:creationId xmlns:p14="http://schemas.microsoft.com/office/powerpoint/2010/main" val="136277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Register Stack Organization</a:t>
            </a:r>
          </a:p>
          <a:p>
            <a:r>
              <a:rPr lang="en-US" dirty="0"/>
              <a:t>Register stack organization is an architectural approach that complements the traditional stack data structure with the use of registers. This method enhances the efficiency of subroutine calls, parameter passing, and returns, providing a more effective way to manage data during procedure execution.</a:t>
            </a:r>
          </a:p>
          <a:p>
            <a:r>
              <a:rPr lang="en-US" b="1" dirty="0"/>
              <a:t>Key Features</a:t>
            </a:r>
          </a:p>
          <a:p>
            <a:r>
              <a:rPr lang="en-US" b="1" dirty="0"/>
              <a:t>Stack Behavior</a:t>
            </a:r>
            <a:r>
              <a:rPr lang="en-US" dirty="0"/>
              <a:t>:</a:t>
            </a:r>
          </a:p>
          <a:p>
            <a:pPr lvl="1"/>
            <a:r>
              <a:rPr lang="en-US" dirty="0"/>
              <a:t>The register stack functions similarly to a standard stack, utilizing Last In, First Out (LIFO) behavior. Each time a procedure is called, registers are pushed onto the stack, and they are popped off when returning from the procedure.</a:t>
            </a:r>
          </a:p>
          <a:p>
            <a:r>
              <a:rPr lang="en-US" b="1" dirty="0"/>
              <a:t>Procedure Calls and Returns</a:t>
            </a:r>
            <a:r>
              <a:rPr lang="en-US" dirty="0"/>
              <a:t>:</a:t>
            </a:r>
          </a:p>
          <a:p>
            <a:pPr lvl="1"/>
            <a:r>
              <a:rPr lang="en-US" b="1" dirty="0"/>
              <a:t>Pushing Registers</a:t>
            </a:r>
            <a:r>
              <a:rPr lang="en-US" dirty="0"/>
              <a:t>: When a subroutine is invoked, the current register values (from general-purpose registers) can be pushed onto the register stack.</a:t>
            </a:r>
          </a:p>
          <a:p>
            <a:pPr lvl="1"/>
            <a:r>
              <a:rPr lang="en-US" b="1" dirty="0"/>
              <a:t>Pop on Return</a:t>
            </a:r>
            <a:r>
              <a:rPr lang="en-US" dirty="0"/>
              <a:t>: When the subroutine completes, these registers are popped from the stack, restoring the previous state.</a:t>
            </a:r>
          </a:p>
          <a:p>
            <a:r>
              <a:rPr lang="en-US" b="1" dirty="0"/>
              <a:t>Dedicated Hardware</a:t>
            </a:r>
            <a:r>
              <a:rPr lang="en-US" dirty="0"/>
              <a:t>:</a:t>
            </a:r>
          </a:p>
          <a:p>
            <a:pPr lvl="1"/>
            <a:r>
              <a:rPr lang="en-US" dirty="0"/>
              <a:t>Typically, dedicated hardware manages the register stack, enabling fast push and pop operations without involving slower memory accesses.</a:t>
            </a:r>
          </a:p>
          <a:p>
            <a:r>
              <a:rPr lang="en-US" b="1" dirty="0"/>
              <a:t>Fixed or Variable Size</a:t>
            </a:r>
            <a:r>
              <a:rPr lang="en-US" dirty="0"/>
              <a:t>:</a:t>
            </a:r>
          </a:p>
          <a:p>
            <a:pPr lvl="1"/>
            <a:r>
              <a:rPr lang="en-US" dirty="0"/>
              <a:t>The register stack can be organized with a fixed number of registers or allow for a variable number based on the needs of the executing procedures.</a:t>
            </a:r>
          </a:p>
          <a:p>
            <a:r>
              <a:rPr lang="en-US" b="1" dirty="0"/>
              <a:t>Advantages</a:t>
            </a:r>
          </a:p>
          <a:p>
            <a:r>
              <a:rPr lang="en-US" b="1" dirty="0"/>
              <a:t>Speed</a:t>
            </a:r>
            <a:r>
              <a:rPr lang="en-US" dirty="0"/>
              <a:t>:</a:t>
            </a:r>
          </a:p>
          <a:p>
            <a:pPr lvl="1"/>
            <a:r>
              <a:rPr lang="en-US" dirty="0"/>
              <a:t>Operations involving registers are substantially faster than those involving main memory. Using a register stack eliminates the latency associated with memory access during procedure calls.</a:t>
            </a:r>
          </a:p>
          <a:p>
            <a:r>
              <a:rPr lang="en-US" b="1" dirty="0"/>
              <a:t>Reduced Overheads</a:t>
            </a:r>
            <a:r>
              <a:rPr lang="en-US" dirty="0"/>
              <a:t>:</a:t>
            </a:r>
          </a:p>
          <a:p>
            <a:pPr lvl="1"/>
            <a:r>
              <a:rPr lang="en-US" dirty="0"/>
              <a:t>By managing register values directly in the stack, the need for saving and restoring these values in memory is minimized, reducing overall procedure call overhead.</a:t>
            </a:r>
          </a:p>
          <a:p>
            <a:r>
              <a:rPr lang="en-US" b="1" dirty="0"/>
              <a:t>Efficient Parameter Handling</a:t>
            </a:r>
            <a:r>
              <a:rPr lang="en-US" dirty="0"/>
              <a:t>:</a:t>
            </a:r>
          </a:p>
          <a:p>
            <a:pPr lvl="1"/>
            <a:r>
              <a:rPr lang="en-US" dirty="0"/>
              <a:t>The register stack can effectively manage parameters to be passed to subordinate procedures, especially when multiple parameters need to be dealt with rapidly.</a:t>
            </a:r>
          </a:p>
          <a:p>
            <a:r>
              <a:rPr lang="en-US" b="1" dirty="0"/>
              <a:t>Applications</a:t>
            </a:r>
          </a:p>
          <a:p>
            <a:r>
              <a:rPr lang="en-US" b="1" dirty="0"/>
              <a:t>Embedded Systems</a:t>
            </a:r>
            <a:r>
              <a:rPr lang="en-US" dirty="0"/>
              <a:t>: Often used in embedded systems where efficiency and speed are critical.</a:t>
            </a:r>
          </a:p>
          <a:p>
            <a:r>
              <a:rPr lang="en-US" b="1" dirty="0"/>
              <a:t>Real-Time Systems</a:t>
            </a:r>
            <a:r>
              <a:rPr lang="en-US" dirty="0"/>
              <a:t>: Systems that require quick context switches benefit from register stack organization, as it allows for rapid access and restoration of execution contexts.</a:t>
            </a:r>
          </a:p>
          <a:p>
            <a:r>
              <a:rPr lang="en-US" b="1" dirty="0"/>
              <a:t>Recursive Functions</a:t>
            </a:r>
            <a:r>
              <a:rPr lang="en-US" dirty="0"/>
              <a:t>: In recursive function calls, a register stack can efficiently handle multiple instances of registers required for each level of recursion without requiring excessive memory management.</a:t>
            </a:r>
          </a:p>
          <a:p>
            <a:r>
              <a:rPr lang="en-US" b="1" dirty="0"/>
              <a:t>Disadvantages</a:t>
            </a:r>
          </a:p>
          <a:p>
            <a:r>
              <a:rPr lang="en-US" b="1" dirty="0"/>
              <a:t>Limited Register Capacity</a:t>
            </a:r>
            <a:r>
              <a:rPr lang="en-US" dirty="0"/>
              <a:t>:</a:t>
            </a:r>
          </a:p>
          <a:p>
            <a:pPr lvl="1"/>
            <a:r>
              <a:rPr lang="en-US" dirty="0"/>
              <a:t>The fixed size of the register stack can lead to overflow if too many subroutine calls occur (e.g., deep recursion), causing a need for fallbacks or error handling.</a:t>
            </a:r>
          </a:p>
          <a:p>
            <a:r>
              <a:rPr lang="en-US" b="1" dirty="0"/>
              <a:t>Complexity</a:t>
            </a:r>
            <a:r>
              <a:rPr lang="en-US" dirty="0"/>
              <a:t>:</a:t>
            </a:r>
          </a:p>
          <a:p>
            <a:pPr lvl="1"/>
            <a:r>
              <a:rPr lang="en-US" dirty="0"/>
              <a:t>The register stack implementation adds complexity to the CPU architecture, requiring more sophisticated control logic to manage stack operations.</a:t>
            </a:r>
          </a:p>
          <a:p>
            <a:r>
              <a:rPr lang="en-US" b="1" dirty="0"/>
              <a:t>Architectural Dependency</a:t>
            </a:r>
            <a:r>
              <a:rPr lang="en-US" dirty="0"/>
              <a:t>:</a:t>
            </a:r>
          </a:p>
          <a:p>
            <a:pPr lvl="1"/>
            <a:r>
              <a:rPr lang="en-US" dirty="0"/>
              <a:t>Different architectures may implement register stacks differently, making it less portable across systems.</a:t>
            </a:r>
          </a:p>
          <a:p>
            <a:r>
              <a:rPr lang="en-US" b="1" dirty="0"/>
              <a:t>Comparison with Traditional Stacks</a:t>
            </a:r>
          </a:p>
          <a:p>
            <a:r>
              <a:rPr lang="en-US" dirty="0" err="1"/>
              <a:t>FeatureRegister</a:t>
            </a:r>
            <a:r>
              <a:rPr lang="en-US" dirty="0"/>
              <a:t> Stack </a:t>
            </a:r>
            <a:r>
              <a:rPr lang="en-US" dirty="0" err="1"/>
              <a:t>OrganizationTraditional</a:t>
            </a:r>
            <a:r>
              <a:rPr lang="en-US" dirty="0"/>
              <a:t> Stack (Memory-based)</a:t>
            </a:r>
            <a:r>
              <a:rPr lang="en-US" b="1" dirty="0" err="1"/>
              <a:t>Speed</a:t>
            </a:r>
            <a:r>
              <a:rPr lang="en-US" dirty="0" err="1"/>
              <a:t>Very</a:t>
            </a:r>
            <a:r>
              <a:rPr lang="en-US" dirty="0"/>
              <a:t> fast due to register </a:t>
            </a:r>
            <a:r>
              <a:rPr lang="en-US" dirty="0" err="1"/>
              <a:t>access.Slower</a:t>
            </a:r>
            <a:r>
              <a:rPr lang="en-US" dirty="0"/>
              <a:t> due to memory access </a:t>
            </a:r>
            <a:r>
              <a:rPr lang="en-US" dirty="0" err="1"/>
              <a:t>delays.</a:t>
            </a:r>
            <a:r>
              <a:rPr lang="en-US" b="1" dirty="0" err="1"/>
              <a:t>Ease</a:t>
            </a:r>
            <a:r>
              <a:rPr lang="en-US" b="1" dirty="0"/>
              <a:t> of </a:t>
            </a:r>
            <a:r>
              <a:rPr lang="en-US" b="1" dirty="0" err="1"/>
              <a:t>Access</a:t>
            </a:r>
            <a:r>
              <a:rPr lang="en-US" dirty="0" err="1"/>
              <a:t>O</a:t>
            </a:r>
            <a:r>
              <a:rPr lang="en-US" dirty="0"/>
              <a:t>(1) access time for push/pop </a:t>
            </a:r>
            <a:r>
              <a:rPr lang="en-US" dirty="0" err="1"/>
              <a:t>operations.O</a:t>
            </a:r>
            <a:r>
              <a:rPr lang="en-US" dirty="0"/>
              <a:t>(n) access time based on stack </a:t>
            </a:r>
            <a:r>
              <a:rPr lang="en-US" dirty="0" err="1"/>
              <a:t>location.</a:t>
            </a:r>
            <a:r>
              <a:rPr lang="en-US" b="1" dirty="0" err="1"/>
              <a:t>Capacity</a:t>
            </a:r>
            <a:r>
              <a:rPr lang="en-US" dirty="0" err="1"/>
              <a:t>Limited</a:t>
            </a:r>
            <a:r>
              <a:rPr lang="en-US" dirty="0"/>
              <a:t> to the number of registers; may lead to </a:t>
            </a:r>
            <a:r>
              <a:rPr lang="en-US" dirty="0" err="1"/>
              <a:t>overflow.Larger</a:t>
            </a:r>
            <a:r>
              <a:rPr lang="en-US" dirty="0"/>
              <a:t> capacity, limited only by system </a:t>
            </a:r>
            <a:r>
              <a:rPr lang="en-US" dirty="0" err="1"/>
              <a:t>memory.</a:t>
            </a:r>
            <a:r>
              <a:rPr lang="en-US" b="1" dirty="0" err="1"/>
              <a:t>Management</a:t>
            </a:r>
            <a:r>
              <a:rPr lang="en-US" dirty="0" err="1"/>
              <a:t>Managed</a:t>
            </a:r>
            <a:r>
              <a:rPr lang="en-US" dirty="0"/>
              <a:t> through dedicated CPU </a:t>
            </a:r>
            <a:r>
              <a:rPr lang="en-US" dirty="0" err="1"/>
              <a:t>hardware.Managed</a:t>
            </a:r>
            <a:r>
              <a:rPr lang="en-US" dirty="0"/>
              <a:t> in software through memory </a:t>
            </a:r>
            <a:r>
              <a:rPr lang="en-US" dirty="0" err="1"/>
              <a:t>operations.</a:t>
            </a:r>
            <a:r>
              <a:rPr lang="en-US" b="1" dirty="0" err="1"/>
              <a:t>Application</a:t>
            </a:r>
            <a:r>
              <a:rPr lang="en-US" dirty="0" err="1"/>
              <a:t>Suitable</a:t>
            </a:r>
            <a:r>
              <a:rPr lang="en-US" dirty="0"/>
              <a:t> for high-performance applications requiring quick context </a:t>
            </a:r>
            <a:r>
              <a:rPr lang="en-US" dirty="0" err="1"/>
              <a:t>switches.General</a:t>
            </a:r>
            <a:r>
              <a:rPr lang="en-US" dirty="0"/>
              <a:t>-purpose applications and larger data.</a:t>
            </a:r>
          </a:p>
          <a:p>
            <a:r>
              <a:rPr lang="en-US" b="1" dirty="0"/>
              <a:t>Summary</a:t>
            </a:r>
          </a:p>
          <a:p>
            <a:r>
              <a:rPr lang="en-US" dirty="0"/>
              <a:t>Register stack organization is a powerful architectural tool that leverages the speed of registers to manage subroutine calls and returns efficiently. By organizing registers in a stack-like structure, it facilitates faster data accessibility and reduces procedural overhead while also enabling effective parameter management. Although there are challenges related to capacity and complexity, the benefits often outweigh these issues in systems requiring high performance and responsiveness.</a:t>
            </a:r>
          </a:p>
          <a:p>
            <a:r>
              <a:rPr lang="en-US" dirty="0"/>
              <a:t>If you need further elaboration on specific aspects or want to explore examples, feel free to ask!</a:t>
            </a:r>
          </a:p>
          <a:p>
            <a:endParaRPr lang="en-US" dirty="0"/>
          </a:p>
        </p:txBody>
      </p:sp>
      <p:sp>
        <p:nvSpPr>
          <p:cNvPr id="4" name="Slide Number Placeholder 3"/>
          <p:cNvSpPr>
            <a:spLocks noGrp="1"/>
          </p:cNvSpPr>
          <p:nvPr>
            <p:ph type="sldNum" sz="quarter" idx="5"/>
          </p:nvPr>
        </p:nvSpPr>
        <p:spPr/>
        <p:txBody>
          <a:bodyPr/>
          <a:lstStyle/>
          <a:p>
            <a:fld id="{F9FA32C3-A3AF-4576-A0E1-E34E7F8E64E8}" type="slidenum">
              <a:rPr lang="en-US" smtClean="0"/>
              <a:t>23</a:t>
            </a:fld>
            <a:endParaRPr lang="en-US"/>
          </a:p>
        </p:txBody>
      </p:sp>
    </p:spTree>
    <p:extLst>
      <p:ext uri="{BB962C8B-B14F-4D97-AF65-F5344CB8AC3E}">
        <p14:creationId xmlns:p14="http://schemas.microsoft.com/office/powerpoint/2010/main" val="972209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2834640"/>
            <a:ext cx="5829300" cy="192024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subTitle" idx="4"/>
          </p:nvPr>
        </p:nvSpPr>
        <p:spPr>
          <a:xfrm>
            <a:off x="1028700" y="5120640"/>
            <a:ext cx="4800600" cy="2286000"/>
          </a:xfrm>
          <a:prstGeom prst="rect">
            <a:avLst/>
          </a:prstGeom>
        </p:spPr>
        <p:txBody>
          <a:bodyPr wrap="square" lIns="0" tIns="0" rIns="0" bIns="0">
            <a:spAutoFit/>
          </a:bodyPr>
          <a:lstStyle>
            <a:lvl1pPr>
              <a:defRPr sz="1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1/31/2026</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200" b="0" i="0">
                <a:solidFill>
                  <a:schemeClr val="tx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1/31/2026</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7" name="bg object 17"/>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sp>
        <p:nvSpPr>
          <p:cNvPr id="18" name="bg object 18"/>
          <p:cNvSpPr/>
          <p:nvPr/>
        </p:nvSpPr>
        <p:spPr>
          <a:xfrm>
            <a:off x="662177" y="1538478"/>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sp>
        <p:nvSpPr>
          <p:cNvPr id="2" name="Holder 2"/>
          <p:cNvSpPr>
            <a:spLocks noGrp="1"/>
          </p:cNvSpPr>
          <p:nvPr>
            <p:ph type="title"/>
          </p:nvPr>
        </p:nvSpPr>
        <p:spPr>
          <a:xfrm>
            <a:off x="712723" y="1092835"/>
            <a:ext cx="4445635" cy="360680"/>
          </a:xfrm>
          <a:prstGeom prst="rect">
            <a:avLst/>
          </a:prstGeom>
        </p:spPr>
        <p:txBody>
          <a:bodyPr wrap="square" lIns="0" tIns="0" rIns="0" bIns="0">
            <a:spAutoFit/>
          </a:bodyPr>
          <a:lstStyle>
            <a:lvl1pPr>
              <a:defRPr sz="2200" b="0" i="0">
                <a:solidFill>
                  <a:schemeClr val="tx1"/>
                </a:solidFill>
                <a:latin typeface="Georgia"/>
                <a:cs typeface="Georgia"/>
              </a:defRPr>
            </a:lvl1pPr>
          </a:lstStyle>
          <a:p>
            <a:endParaRPr/>
          </a:p>
        </p:txBody>
      </p:sp>
      <p:sp>
        <p:nvSpPr>
          <p:cNvPr id="3" name="Holder 3"/>
          <p:cNvSpPr>
            <a:spLocks noGrp="1"/>
          </p:cNvSpPr>
          <p:nvPr>
            <p:ph type="body" idx="1"/>
          </p:nvPr>
        </p:nvSpPr>
        <p:spPr>
          <a:xfrm>
            <a:off x="746861" y="1600866"/>
            <a:ext cx="3510279" cy="2463165"/>
          </a:xfrm>
          <a:prstGeom prst="rect">
            <a:avLst/>
          </a:prstGeom>
        </p:spPr>
        <p:txBody>
          <a:bodyPr wrap="square" lIns="0" tIns="0" rIns="0" bIns="0">
            <a:spAutoFit/>
          </a:bodyPr>
          <a:lstStyle>
            <a:lvl1pPr>
              <a:defRPr sz="1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331720" y="8503920"/>
            <a:ext cx="219456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1/31/2026</a:t>
            </a:fld>
            <a:endParaRPr lang="en-US"/>
          </a:p>
        </p:txBody>
      </p:sp>
      <p:sp>
        <p:nvSpPr>
          <p:cNvPr id="6" name="Holder 6"/>
          <p:cNvSpPr>
            <a:spLocks noGrp="1"/>
          </p:cNvSpPr>
          <p:nvPr>
            <p:ph type="sldNum" sz="quarter" idx="7"/>
          </p:nvPr>
        </p:nvSpPr>
        <p:spPr>
          <a:xfrm>
            <a:off x="6571233" y="8933180"/>
            <a:ext cx="244475" cy="177800"/>
          </a:xfrm>
          <a:prstGeom prst="rect">
            <a:avLst/>
          </a:prstGeom>
        </p:spPr>
        <p:txBody>
          <a:bodyPr wrap="square" lIns="0" tIns="0" rIns="0" bIns="0">
            <a:spAutoFit/>
          </a:bodyPr>
          <a:lstStyle>
            <a:lvl1pPr>
              <a:defRPr sz="1200" b="0" i="0">
                <a:solidFill>
                  <a:schemeClr val="tx1"/>
                </a:solidFill>
                <a:latin typeface="Calibri"/>
                <a:cs typeface="Calibri"/>
              </a:defRPr>
            </a:lvl1pPr>
          </a:lstStyle>
          <a:p>
            <a:pPr marL="11557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image" Target="../media/image1.jpg"/><Relationship Id="rId1" Type="http://schemas.openxmlformats.org/officeDocument/2006/relationships/slideLayout" Target="../slideLayouts/slideLayout5.xml"/><Relationship Id="rId6" Type="http://schemas.openxmlformats.org/officeDocument/2006/relationships/image" Target="../media/image5.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3.jpg"/><Relationship Id="rId9"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2768707"/>
          </a:xfrm>
          <a:prstGeom prst="rect">
            <a:avLst/>
          </a:prstGeom>
          <a:ln w="6096">
            <a:solidFill>
              <a:srgbClr val="FFFFFF"/>
            </a:solidFill>
          </a:ln>
        </p:spPr>
        <p:txBody>
          <a:bodyPr vert="horz" wrap="square" lIns="0" tIns="194310" rIns="0" bIns="0" rtlCol="0">
            <a:spAutoFit/>
          </a:bodyPr>
          <a:lstStyle/>
          <a:p>
            <a:pPr>
              <a:lnSpc>
                <a:spcPct val="100000"/>
              </a:lnSpc>
              <a:spcBef>
                <a:spcPts val="1530"/>
              </a:spcBef>
            </a:pPr>
            <a:endParaRPr sz="3600" dirty="0">
              <a:latin typeface="Times New Roman"/>
              <a:cs typeface="Times New Roman"/>
            </a:endParaRPr>
          </a:p>
          <a:p>
            <a:pPr algn="ctr">
              <a:lnSpc>
                <a:spcPct val="100000"/>
              </a:lnSpc>
              <a:spcBef>
                <a:spcPts val="5"/>
              </a:spcBef>
            </a:pPr>
            <a:r>
              <a:rPr sz="3600" b="1" spc="-40" dirty="0">
                <a:solidFill>
                  <a:srgbClr val="FFFFFF"/>
                </a:solidFill>
                <a:latin typeface="Times New Roman"/>
                <a:cs typeface="Times New Roman"/>
              </a:rPr>
              <a:t>Computer</a:t>
            </a:r>
            <a:r>
              <a:rPr sz="3600" b="1" spc="-155" dirty="0">
                <a:solidFill>
                  <a:srgbClr val="FFFFFF"/>
                </a:solidFill>
                <a:latin typeface="Times New Roman"/>
                <a:cs typeface="Times New Roman"/>
              </a:rPr>
              <a:t> </a:t>
            </a:r>
            <a:r>
              <a:rPr sz="3600" b="1" spc="-10" dirty="0">
                <a:solidFill>
                  <a:srgbClr val="FFFFFF"/>
                </a:solidFill>
                <a:latin typeface="Times New Roman"/>
                <a:cs typeface="Times New Roman"/>
              </a:rPr>
              <a:t>Architecture</a:t>
            </a:r>
            <a:endParaRPr sz="3600" dirty="0">
              <a:latin typeface="Times New Roman"/>
              <a:cs typeface="Times New Roman"/>
            </a:endParaRPr>
          </a:p>
          <a:p>
            <a:pPr>
              <a:lnSpc>
                <a:spcPct val="100000"/>
              </a:lnSpc>
              <a:spcBef>
                <a:spcPts val="30"/>
              </a:spcBef>
            </a:pPr>
            <a:endParaRPr sz="3600" dirty="0">
              <a:latin typeface="Times New Roman"/>
              <a:cs typeface="Times New Roman"/>
            </a:endParaRPr>
          </a:p>
          <a:p>
            <a:pPr algn="ctr">
              <a:lnSpc>
                <a:spcPct val="100000"/>
              </a:lnSpc>
            </a:pPr>
            <a:endParaRPr sz="1600" dirty="0">
              <a:latin typeface="Corbel"/>
              <a:cs typeface="Corbel"/>
            </a:endParaRPr>
          </a:p>
          <a:p>
            <a:pPr marL="74295">
              <a:lnSpc>
                <a:spcPct val="100000"/>
              </a:lnSpc>
            </a:pPr>
            <a:r>
              <a:rPr sz="1400" u="sng" spc="-10" dirty="0">
                <a:uFill>
                  <a:solidFill>
                    <a:srgbClr val="000000"/>
                  </a:solidFill>
                </a:uFill>
                <a:latin typeface="Times New Roman"/>
                <a:cs typeface="Times New Roman"/>
              </a:rPr>
              <a:t>Reference:</a:t>
            </a:r>
            <a:endParaRPr sz="1400" dirty="0">
              <a:latin typeface="Times New Roman"/>
              <a:cs typeface="Times New Roman"/>
            </a:endParaRPr>
          </a:p>
          <a:p>
            <a:pPr marL="532130">
              <a:lnSpc>
                <a:spcPct val="100000"/>
              </a:lnSpc>
              <a:spcBef>
                <a:spcPts val="540"/>
              </a:spcBef>
            </a:pPr>
            <a:r>
              <a:rPr sz="1400" dirty="0">
                <a:latin typeface="Times New Roman"/>
                <a:cs typeface="Times New Roman"/>
              </a:rPr>
              <a:t>-</a:t>
            </a:r>
            <a:r>
              <a:rPr sz="1400" spc="-20" dirty="0">
                <a:latin typeface="Times New Roman"/>
                <a:cs typeface="Times New Roman"/>
              </a:rPr>
              <a:t> </a:t>
            </a:r>
            <a:r>
              <a:rPr sz="1400" dirty="0">
                <a:latin typeface="Times New Roman"/>
                <a:cs typeface="Times New Roman"/>
              </a:rPr>
              <a:t>Mano,</a:t>
            </a:r>
            <a:r>
              <a:rPr sz="1400" spc="-35" dirty="0">
                <a:latin typeface="Times New Roman"/>
                <a:cs typeface="Times New Roman"/>
              </a:rPr>
              <a:t> </a:t>
            </a:r>
            <a:r>
              <a:rPr sz="1400" dirty="0">
                <a:latin typeface="Times New Roman"/>
                <a:cs typeface="Times New Roman"/>
              </a:rPr>
              <a:t>“Computer</a:t>
            </a:r>
            <a:r>
              <a:rPr sz="1400" spc="-10" dirty="0">
                <a:latin typeface="Times New Roman"/>
                <a:cs typeface="Times New Roman"/>
              </a:rPr>
              <a:t> System</a:t>
            </a:r>
            <a:r>
              <a:rPr sz="1400" spc="-90" dirty="0">
                <a:latin typeface="Times New Roman"/>
                <a:cs typeface="Times New Roman"/>
              </a:rPr>
              <a:t> </a:t>
            </a:r>
            <a:r>
              <a:rPr sz="1400" dirty="0">
                <a:latin typeface="Times New Roman"/>
                <a:cs typeface="Times New Roman"/>
              </a:rPr>
              <a:t>Architecture”,</a:t>
            </a:r>
            <a:r>
              <a:rPr sz="1400" spc="-55" dirty="0">
                <a:latin typeface="Times New Roman"/>
                <a:cs typeface="Times New Roman"/>
              </a:rPr>
              <a:t> </a:t>
            </a:r>
            <a:r>
              <a:rPr sz="1400" dirty="0">
                <a:latin typeface="Times New Roman"/>
                <a:cs typeface="Times New Roman"/>
              </a:rPr>
              <a:t>Chapter</a:t>
            </a:r>
            <a:r>
              <a:rPr sz="1400" spc="-45" dirty="0">
                <a:latin typeface="Times New Roman"/>
                <a:cs typeface="Times New Roman"/>
              </a:rPr>
              <a:t> </a:t>
            </a:r>
            <a:r>
              <a:rPr sz="1400" spc="-50" dirty="0">
                <a:latin typeface="Times New Roman"/>
                <a:cs typeface="Times New Roman"/>
              </a:rPr>
              <a:t>8</a:t>
            </a:r>
            <a:endParaRPr sz="1400" dirty="0">
              <a:latin typeface="Times New Roman"/>
              <a:cs typeface="Times New Roman"/>
            </a:endParaRPr>
          </a:p>
          <a:p>
            <a:pPr marR="497840" algn="r">
              <a:lnSpc>
                <a:spcPct val="100000"/>
              </a:lnSpc>
              <a:spcBef>
                <a:spcPts val="585"/>
              </a:spcBef>
            </a:pPr>
            <a:r>
              <a:rPr sz="600" spc="-50" dirty="0">
                <a:solidFill>
                  <a:srgbClr val="FFFFFF"/>
                </a:solidFill>
                <a:latin typeface="Corbel"/>
                <a:cs typeface="Corbel"/>
              </a:rPr>
              <a:t>1</a:t>
            </a:r>
            <a:endParaRPr sz="600" dirty="0">
              <a:latin typeface="Corbel"/>
              <a:cs typeface="Corbel"/>
            </a:endParaRPr>
          </a:p>
        </p:txBody>
      </p:sp>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txBox="1"/>
          <p:nvPr/>
        </p:nvSpPr>
        <p:spPr>
          <a:xfrm>
            <a:off x="609600" y="5065776"/>
            <a:ext cx="4841875" cy="594360"/>
          </a:xfrm>
          <a:prstGeom prst="rect">
            <a:avLst/>
          </a:prstGeom>
          <a:solidFill>
            <a:srgbClr val="539E39"/>
          </a:solidFill>
          <a:ln w="9144">
            <a:solidFill>
              <a:srgbClr val="3A7327"/>
            </a:solidFill>
          </a:ln>
        </p:spPr>
        <p:txBody>
          <a:bodyPr vert="horz" wrap="square" lIns="0" tIns="0" rIns="0" bIns="0" rtlCol="0">
            <a:spAutoFit/>
          </a:bodyPr>
          <a:lstStyle/>
          <a:p>
            <a:pPr marL="115570">
              <a:lnSpc>
                <a:spcPts val="2245"/>
              </a:lnSpc>
            </a:pPr>
            <a:r>
              <a:rPr sz="2000" b="1" dirty="0">
                <a:solidFill>
                  <a:srgbClr val="FFFFFF"/>
                </a:solidFill>
                <a:latin typeface="Georgia"/>
                <a:cs typeface="Georgia"/>
              </a:rPr>
              <a:t>Computer</a:t>
            </a:r>
            <a:r>
              <a:rPr sz="2000" b="1" spc="-65" dirty="0">
                <a:solidFill>
                  <a:srgbClr val="FFFFFF"/>
                </a:solidFill>
                <a:latin typeface="Georgia"/>
                <a:cs typeface="Georgia"/>
              </a:rPr>
              <a:t> </a:t>
            </a:r>
            <a:r>
              <a:rPr sz="2000" b="1" dirty="0">
                <a:solidFill>
                  <a:srgbClr val="FFFFFF"/>
                </a:solidFill>
                <a:latin typeface="Georgia"/>
                <a:cs typeface="Georgia"/>
              </a:rPr>
              <a:t>Architecture</a:t>
            </a:r>
            <a:r>
              <a:rPr sz="2000" b="1" spc="-75" dirty="0">
                <a:solidFill>
                  <a:srgbClr val="FFFFFF"/>
                </a:solidFill>
                <a:latin typeface="Georgia"/>
                <a:cs typeface="Georgia"/>
              </a:rPr>
              <a:t> </a:t>
            </a:r>
            <a:r>
              <a:rPr sz="2000" b="1" spc="-10" dirty="0">
                <a:solidFill>
                  <a:srgbClr val="FFFFFF"/>
                </a:solidFill>
                <a:latin typeface="Georgia"/>
                <a:cs typeface="Georgia"/>
              </a:rPr>
              <a:t>Module</a:t>
            </a:r>
            <a:endParaRPr sz="2000">
              <a:latin typeface="Georgia"/>
              <a:cs typeface="Georgia"/>
            </a:endParaRPr>
          </a:p>
          <a:p>
            <a:pPr marL="115570">
              <a:lnSpc>
                <a:spcPct val="100000"/>
              </a:lnSpc>
            </a:pPr>
            <a:r>
              <a:rPr sz="2000" b="1" spc="-10" dirty="0">
                <a:solidFill>
                  <a:srgbClr val="FFFFFF"/>
                </a:solidFill>
                <a:latin typeface="Georgia"/>
                <a:cs typeface="Georgia"/>
              </a:rPr>
              <a:t>Content</a:t>
            </a:r>
            <a:endParaRPr sz="2000">
              <a:latin typeface="Georgia"/>
              <a:cs typeface="Georgia"/>
            </a:endParaRPr>
          </a:p>
        </p:txBody>
      </p:sp>
      <p:sp>
        <p:nvSpPr>
          <p:cNvPr id="9" name="object 9"/>
          <p:cNvSpPr txBox="1"/>
          <p:nvPr/>
        </p:nvSpPr>
        <p:spPr>
          <a:xfrm>
            <a:off x="6132957" y="7984837"/>
            <a:ext cx="88900" cy="152400"/>
          </a:xfrm>
          <a:prstGeom prst="rect">
            <a:avLst/>
          </a:prstGeom>
        </p:spPr>
        <p:txBody>
          <a:bodyPr vert="horz" wrap="square" lIns="0" tIns="0" rIns="0" bIns="0" rtlCol="0">
            <a:spAutoFit/>
          </a:bodyPr>
          <a:lstStyle/>
          <a:p>
            <a:pPr marL="12700">
              <a:lnSpc>
                <a:spcPts val="1040"/>
              </a:lnSpc>
            </a:pPr>
            <a:r>
              <a:rPr sz="1000" b="1" spc="-50" dirty="0">
                <a:solidFill>
                  <a:srgbClr val="3E762B"/>
                </a:solidFill>
                <a:latin typeface="Corbel"/>
                <a:cs typeface="Corbel"/>
              </a:rPr>
              <a:t>2</a:t>
            </a:r>
            <a:endParaRPr sz="100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1</a:t>
            </a:fld>
            <a:endParaRPr spc="-50" dirty="0"/>
          </a:p>
        </p:txBody>
      </p:sp>
      <p:sp>
        <p:nvSpPr>
          <p:cNvPr id="8" name="object 8"/>
          <p:cNvSpPr txBox="1"/>
          <p:nvPr/>
        </p:nvSpPr>
        <p:spPr>
          <a:xfrm>
            <a:off x="496823" y="4966715"/>
            <a:ext cx="5862955" cy="3188335"/>
          </a:xfrm>
          <a:prstGeom prst="rect">
            <a:avLst/>
          </a:prstGeom>
          <a:solidFill>
            <a:srgbClr val="FFFFFF"/>
          </a:solidFill>
        </p:spPr>
        <p:txBody>
          <a:bodyPr vert="horz" wrap="square" lIns="0" tIns="0" rIns="0" bIns="0" rtlCol="0">
            <a:spAutoFit/>
          </a:bodyPr>
          <a:lstStyle/>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695"/>
              </a:spcBef>
            </a:pPr>
            <a:endParaRPr sz="1100">
              <a:latin typeface="Times New Roman"/>
              <a:cs typeface="Times New Roman"/>
            </a:endParaRPr>
          </a:p>
          <a:p>
            <a:pPr marL="432434" indent="-170180">
              <a:lnSpc>
                <a:spcPts val="1235"/>
              </a:lnSpc>
              <a:buClr>
                <a:srgbClr val="3E762B"/>
              </a:buClr>
              <a:buFont typeface="Wingdings"/>
              <a:buChar char=""/>
              <a:tabLst>
                <a:tab pos="432434" algn="l"/>
              </a:tabLst>
            </a:pPr>
            <a:r>
              <a:rPr sz="1100" b="1" dirty="0">
                <a:latin typeface="Times New Roman"/>
                <a:cs typeface="Times New Roman"/>
              </a:rPr>
              <a:t>Central</a:t>
            </a:r>
            <a:r>
              <a:rPr sz="1100" b="1" spc="-20" dirty="0">
                <a:latin typeface="Times New Roman"/>
                <a:cs typeface="Times New Roman"/>
              </a:rPr>
              <a:t> </a:t>
            </a:r>
            <a:r>
              <a:rPr sz="1100" b="1" dirty="0">
                <a:latin typeface="Times New Roman"/>
                <a:cs typeface="Times New Roman"/>
              </a:rPr>
              <a:t>Processing</a:t>
            </a:r>
            <a:r>
              <a:rPr sz="1100" b="1" spc="-40" dirty="0">
                <a:latin typeface="Times New Roman"/>
                <a:cs typeface="Times New Roman"/>
              </a:rPr>
              <a:t> </a:t>
            </a:r>
            <a:r>
              <a:rPr sz="1100" b="1" spc="-10" dirty="0">
                <a:latin typeface="Times New Roman"/>
                <a:cs typeface="Times New Roman"/>
              </a:rPr>
              <a:t>Unit</a:t>
            </a:r>
            <a:r>
              <a:rPr sz="1100" b="1" spc="-65" dirty="0">
                <a:latin typeface="Times New Roman"/>
                <a:cs typeface="Times New Roman"/>
              </a:rPr>
              <a:t> </a:t>
            </a:r>
            <a:r>
              <a:rPr sz="1100" b="1" spc="-10" dirty="0">
                <a:latin typeface="Times New Roman"/>
                <a:cs typeface="Times New Roman"/>
              </a:rPr>
              <a:t>Architecture</a:t>
            </a:r>
            <a:endParaRPr sz="1100">
              <a:latin typeface="Times New Roman"/>
              <a:cs typeface="Times New Roman"/>
            </a:endParaRPr>
          </a:p>
          <a:p>
            <a:pPr marL="716915" marR="203200" lvl="1" indent="-109220">
              <a:lnSpc>
                <a:spcPct val="80000"/>
              </a:lnSpc>
              <a:spcBef>
                <a:spcPts val="180"/>
              </a:spcBef>
              <a:buClr>
                <a:srgbClr val="3E762B"/>
              </a:buClr>
              <a:buFont typeface="Arial MT"/>
              <a:buChar char="•"/>
              <a:tabLst>
                <a:tab pos="719455" algn="l"/>
              </a:tabLst>
            </a:pPr>
            <a:r>
              <a:rPr sz="1100" spc="-10" dirty="0">
                <a:latin typeface="Times New Roman"/>
                <a:cs typeface="Times New Roman"/>
              </a:rPr>
              <a:t>Design</a:t>
            </a:r>
            <a:r>
              <a:rPr sz="1100" spc="-75" dirty="0">
                <a:latin typeface="Times New Roman"/>
                <a:cs typeface="Times New Roman"/>
              </a:rPr>
              <a:t> </a:t>
            </a:r>
            <a:r>
              <a:rPr sz="1100" dirty="0">
                <a:latin typeface="Times New Roman"/>
                <a:cs typeface="Times New Roman"/>
              </a:rPr>
              <a:t>Approaches</a:t>
            </a:r>
            <a:r>
              <a:rPr sz="1100" spc="-20" dirty="0">
                <a:latin typeface="Times New Roman"/>
                <a:cs typeface="Times New Roman"/>
              </a:rPr>
              <a:t> </a:t>
            </a:r>
            <a:r>
              <a:rPr sz="1100" dirty="0">
                <a:latin typeface="Times New Roman"/>
                <a:cs typeface="Times New Roman"/>
              </a:rPr>
              <a:t>[Stack</a:t>
            </a:r>
            <a:r>
              <a:rPr sz="1100" spc="-15" dirty="0">
                <a:latin typeface="Times New Roman"/>
                <a:cs typeface="Times New Roman"/>
              </a:rPr>
              <a:t> </a:t>
            </a:r>
            <a:r>
              <a:rPr sz="1100" dirty="0">
                <a:latin typeface="Times New Roman"/>
                <a:cs typeface="Times New Roman"/>
              </a:rPr>
              <a:t>– Pipelining</a:t>
            </a:r>
            <a:r>
              <a:rPr sz="1100" spc="-3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Interrupt</a:t>
            </a:r>
            <a:r>
              <a:rPr sz="1100" spc="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Processor</a:t>
            </a:r>
            <a:r>
              <a:rPr sz="1100" spc="-20" dirty="0">
                <a:latin typeface="Times New Roman"/>
                <a:cs typeface="Times New Roman"/>
              </a:rPr>
              <a:t> </a:t>
            </a:r>
            <a:r>
              <a:rPr sz="1100" dirty="0">
                <a:latin typeface="Times New Roman"/>
                <a:cs typeface="Times New Roman"/>
              </a:rPr>
              <a:t>Organization</a:t>
            </a:r>
            <a:r>
              <a:rPr sz="1100" spc="-5"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spc="-10" dirty="0">
                <a:latin typeface="Times New Roman"/>
                <a:cs typeface="Times New Roman"/>
              </a:rPr>
              <a:t>Registers 	Organization]</a:t>
            </a:r>
            <a:endParaRPr sz="1100">
              <a:latin typeface="Times New Roman"/>
              <a:cs typeface="Times New Roman"/>
            </a:endParaRPr>
          </a:p>
          <a:p>
            <a:pPr marL="716915" marR="387985" lvl="1" indent="-109220">
              <a:lnSpc>
                <a:spcPts val="1060"/>
              </a:lnSpc>
              <a:spcBef>
                <a:spcPts val="290"/>
              </a:spcBef>
              <a:buClr>
                <a:srgbClr val="3E762B"/>
              </a:buClr>
              <a:buFont typeface="Arial MT"/>
              <a:buChar char="•"/>
              <a:tabLst>
                <a:tab pos="719455" algn="l"/>
              </a:tabLst>
            </a:pPr>
            <a:r>
              <a:rPr sz="1100" dirty="0">
                <a:latin typeface="Times New Roman"/>
                <a:cs typeface="Times New Roman"/>
              </a:rPr>
              <a:t>Instruction</a:t>
            </a:r>
            <a:r>
              <a:rPr sz="1100" spc="-25" dirty="0">
                <a:latin typeface="Times New Roman"/>
                <a:cs typeface="Times New Roman"/>
              </a:rPr>
              <a:t> </a:t>
            </a:r>
            <a:r>
              <a:rPr sz="1100" dirty="0">
                <a:latin typeface="Times New Roman"/>
                <a:cs typeface="Times New Roman"/>
              </a:rPr>
              <a:t>Set</a:t>
            </a:r>
            <a:r>
              <a:rPr sz="1100" spc="-70" dirty="0">
                <a:latin typeface="Times New Roman"/>
                <a:cs typeface="Times New Roman"/>
              </a:rPr>
              <a:t> </a:t>
            </a:r>
            <a:r>
              <a:rPr sz="1100" dirty="0">
                <a:latin typeface="Times New Roman"/>
                <a:cs typeface="Times New Roman"/>
              </a:rPr>
              <a:t>Architecture</a:t>
            </a:r>
            <a:r>
              <a:rPr sz="1100" spc="-35" dirty="0">
                <a:latin typeface="Times New Roman"/>
                <a:cs typeface="Times New Roman"/>
              </a:rPr>
              <a:t> </a:t>
            </a:r>
            <a:r>
              <a:rPr sz="1100" dirty="0">
                <a:latin typeface="Times New Roman"/>
                <a:cs typeface="Times New Roman"/>
              </a:rPr>
              <a:t>[Instruction</a:t>
            </a:r>
            <a:r>
              <a:rPr sz="1100" spc="-25" dirty="0">
                <a:latin typeface="Times New Roman"/>
                <a:cs typeface="Times New Roman"/>
              </a:rPr>
              <a:t> </a:t>
            </a:r>
            <a:r>
              <a:rPr sz="1100" dirty="0">
                <a:latin typeface="Times New Roman"/>
                <a:cs typeface="Times New Roman"/>
              </a:rPr>
              <a:t>Format</a:t>
            </a:r>
            <a:r>
              <a:rPr sz="1100" spc="30" dirty="0">
                <a:latin typeface="Times New Roman"/>
                <a:cs typeface="Times New Roman"/>
              </a:rPr>
              <a:t> </a:t>
            </a:r>
            <a:r>
              <a:rPr sz="1100" dirty="0">
                <a:latin typeface="Times New Roman"/>
                <a:cs typeface="Times New Roman"/>
              </a:rPr>
              <a:t>–</a:t>
            </a:r>
            <a:r>
              <a:rPr sz="1100" spc="-75" dirty="0">
                <a:latin typeface="Times New Roman"/>
                <a:cs typeface="Times New Roman"/>
              </a:rPr>
              <a:t> </a:t>
            </a:r>
            <a:r>
              <a:rPr sz="1100" dirty="0">
                <a:latin typeface="Times New Roman"/>
                <a:cs typeface="Times New Roman"/>
              </a:rPr>
              <a:t>Addressing</a:t>
            </a:r>
            <a:r>
              <a:rPr sz="1100" spc="-40" dirty="0">
                <a:latin typeface="Times New Roman"/>
                <a:cs typeface="Times New Roman"/>
              </a:rPr>
              <a:t> </a:t>
            </a:r>
            <a:r>
              <a:rPr sz="1100" dirty="0">
                <a:latin typeface="Times New Roman"/>
                <a:cs typeface="Times New Roman"/>
              </a:rPr>
              <a:t>modes</a:t>
            </a:r>
            <a:r>
              <a:rPr sz="1100" spc="10" dirty="0">
                <a:latin typeface="Times New Roman"/>
                <a:cs typeface="Times New Roman"/>
              </a:rPr>
              <a:t> </a:t>
            </a:r>
            <a:r>
              <a:rPr sz="1100" dirty="0">
                <a:latin typeface="Times New Roman"/>
                <a:cs typeface="Times New Roman"/>
              </a:rPr>
              <a:t>– Data</a:t>
            </a:r>
            <a:r>
              <a:rPr sz="1100" spc="-35" dirty="0">
                <a:latin typeface="Times New Roman"/>
                <a:cs typeface="Times New Roman"/>
              </a:rPr>
              <a:t> </a:t>
            </a:r>
            <a:r>
              <a:rPr sz="1100" spc="-10" dirty="0">
                <a:latin typeface="Times New Roman"/>
                <a:cs typeface="Times New Roman"/>
              </a:rPr>
              <a:t>Transfer 	</a:t>
            </a:r>
            <a:r>
              <a:rPr sz="1100" dirty="0">
                <a:latin typeface="Times New Roman"/>
                <a:cs typeface="Times New Roman"/>
              </a:rPr>
              <a:t>and</a:t>
            </a:r>
            <a:r>
              <a:rPr sz="1100" spc="-10" dirty="0">
                <a:latin typeface="Times New Roman"/>
                <a:cs typeface="Times New Roman"/>
              </a:rPr>
              <a:t> Manipulation]</a:t>
            </a:r>
            <a:endParaRPr sz="1100">
              <a:latin typeface="Times New Roman"/>
              <a:cs typeface="Times New Roman"/>
            </a:endParaRPr>
          </a:p>
          <a:p>
            <a:pPr marL="717550" lvl="1" indent="-107950">
              <a:lnSpc>
                <a:spcPct val="100000"/>
              </a:lnSpc>
              <a:spcBef>
                <a:spcPts val="40"/>
              </a:spcBef>
              <a:buClr>
                <a:srgbClr val="3E762B"/>
              </a:buClr>
              <a:buFont typeface="Arial MT"/>
              <a:buChar char="•"/>
              <a:tabLst>
                <a:tab pos="717550" algn="l"/>
              </a:tabLst>
            </a:pPr>
            <a:r>
              <a:rPr sz="1100" dirty="0">
                <a:latin typeface="Times New Roman"/>
                <a:cs typeface="Times New Roman"/>
              </a:rPr>
              <a:t>Example</a:t>
            </a:r>
            <a:r>
              <a:rPr sz="1100" spc="-15" dirty="0">
                <a:latin typeface="Times New Roman"/>
                <a:cs typeface="Times New Roman"/>
              </a:rPr>
              <a:t> </a:t>
            </a:r>
            <a:r>
              <a:rPr sz="1100" dirty="0">
                <a:latin typeface="Times New Roman"/>
                <a:cs typeface="Times New Roman"/>
              </a:rPr>
              <a:t>architectures</a:t>
            </a:r>
            <a:r>
              <a:rPr sz="1100" spc="-55" dirty="0">
                <a:latin typeface="Times New Roman"/>
                <a:cs typeface="Times New Roman"/>
              </a:rPr>
              <a:t> </a:t>
            </a:r>
            <a:r>
              <a:rPr sz="1100" dirty="0">
                <a:latin typeface="Times New Roman"/>
                <a:cs typeface="Times New Roman"/>
              </a:rPr>
              <a:t>(e.g.</a:t>
            </a:r>
            <a:r>
              <a:rPr sz="1100" spc="-10" dirty="0">
                <a:latin typeface="Times New Roman"/>
                <a:cs typeface="Times New Roman"/>
              </a:rPr>
              <a:t> </a:t>
            </a:r>
            <a:r>
              <a:rPr sz="1100" dirty="0">
                <a:latin typeface="Times New Roman"/>
                <a:cs typeface="Times New Roman"/>
              </a:rPr>
              <a:t>CISC,</a:t>
            </a:r>
            <a:r>
              <a:rPr sz="1100" spc="5" dirty="0">
                <a:latin typeface="Times New Roman"/>
                <a:cs typeface="Times New Roman"/>
              </a:rPr>
              <a:t> </a:t>
            </a:r>
            <a:r>
              <a:rPr sz="1100" spc="-20" dirty="0">
                <a:latin typeface="Times New Roman"/>
                <a:cs typeface="Times New Roman"/>
              </a:rPr>
              <a:t>RISC)</a:t>
            </a:r>
            <a:endParaRPr sz="1100">
              <a:latin typeface="Times New Roman"/>
              <a:cs typeface="Times New Roman"/>
            </a:endParaRPr>
          </a:p>
          <a:p>
            <a:pPr marL="431165" indent="-168910">
              <a:lnSpc>
                <a:spcPct val="100000"/>
              </a:lnSpc>
              <a:spcBef>
                <a:spcPts val="635"/>
              </a:spcBef>
              <a:buClr>
                <a:srgbClr val="3E762B"/>
              </a:buClr>
              <a:buFont typeface="Wingdings"/>
              <a:buChar char=""/>
              <a:tabLst>
                <a:tab pos="431165" algn="l"/>
              </a:tabLst>
            </a:pPr>
            <a:r>
              <a:rPr sz="1100" b="1" dirty="0">
                <a:latin typeface="Times New Roman"/>
                <a:cs typeface="Times New Roman"/>
              </a:rPr>
              <a:t>Timing,</a:t>
            </a:r>
            <a:r>
              <a:rPr sz="1100" b="1" spc="-10" dirty="0">
                <a:latin typeface="Times New Roman"/>
                <a:cs typeface="Times New Roman"/>
              </a:rPr>
              <a:t> </a:t>
            </a:r>
            <a:r>
              <a:rPr sz="1100" b="1" dirty="0">
                <a:latin typeface="Times New Roman"/>
                <a:cs typeface="Times New Roman"/>
              </a:rPr>
              <a:t>Clock</a:t>
            </a:r>
            <a:r>
              <a:rPr sz="1100" b="1" spc="-5" dirty="0">
                <a:latin typeface="Times New Roman"/>
                <a:cs typeface="Times New Roman"/>
              </a:rPr>
              <a:t> </a:t>
            </a:r>
            <a:r>
              <a:rPr sz="1100" b="1" dirty="0">
                <a:latin typeface="Times New Roman"/>
                <a:cs typeface="Times New Roman"/>
              </a:rPr>
              <a:t>Parameters,</a:t>
            </a:r>
            <a:r>
              <a:rPr sz="1100" b="1" spc="-25" dirty="0">
                <a:latin typeface="Times New Roman"/>
                <a:cs typeface="Times New Roman"/>
              </a:rPr>
              <a:t> </a:t>
            </a:r>
            <a:r>
              <a:rPr sz="1100" b="1" dirty="0">
                <a:latin typeface="Times New Roman"/>
                <a:cs typeface="Times New Roman"/>
              </a:rPr>
              <a:t>and</a:t>
            </a:r>
            <a:r>
              <a:rPr sz="1100" b="1" spc="-5" dirty="0">
                <a:latin typeface="Times New Roman"/>
                <a:cs typeface="Times New Roman"/>
              </a:rPr>
              <a:t> </a:t>
            </a:r>
            <a:r>
              <a:rPr sz="1100" b="1" spc="-10" dirty="0">
                <a:latin typeface="Times New Roman"/>
                <a:cs typeface="Times New Roman"/>
              </a:rPr>
              <a:t>Processor</a:t>
            </a:r>
            <a:r>
              <a:rPr sz="1100" b="1" spc="-55" dirty="0">
                <a:latin typeface="Times New Roman"/>
                <a:cs typeface="Times New Roman"/>
              </a:rPr>
              <a:t> </a:t>
            </a:r>
            <a:r>
              <a:rPr sz="1100" b="1" spc="-10" dirty="0">
                <a:latin typeface="Times New Roman"/>
                <a:cs typeface="Times New Roman"/>
              </a:rPr>
              <a:t>Performance</a:t>
            </a:r>
            <a:endParaRPr sz="1100">
              <a:latin typeface="Times New Roman"/>
              <a:cs typeface="Times New Roman"/>
            </a:endParaRPr>
          </a:p>
          <a:p>
            <a:pPr marL="168275" marR="4262755" indent="-168275" algn="r">
              <a:lnSpc>
                <a:spcPts val="1240"/>
              </a:lnSpc>
              <a:spcBef>
                <a:spcPts val="434"/>
              </a:spcBef>
              <a:buClr>
                <a:srgbClr val="3E762B"/>
              </a:buClr>
              <a:buFont typeface="Wingdings"/>
              <a:buChar char=""/>
              <a:tabLst>
                <a:tab pos="168275" algn="l"/>
              </a:tabLst>
            </a:pPr>
            <a:r>
              <a:rPr sz="1100" b="1" dirty="0">
                <a:latin typeface="Times New Roman"/>
                <a:cs typeface="Times New Roman"/>
              </a:rPr>
              <a:t>Memory</a:t>
            </a:r>
            <a:r>
              <a:rPr sz="1100" b="1" spc="-25" dirty="0">
                <a:latin typeface="Times New Roman"/>
                <a:cs typeface="Times New Roman"/>
              </a:rPr>
              <a:t> </a:t>
            </a:r>
            <a:r>
              <a:rPr sz="1100" b="1" spc="-10" dirty="0">
                <a:latin typeface="Times New Roman"/>
                <a:cs typeface="Times New Roman"/>
              </a:rPr>
              <a:t>Hierarchy</a:t>
            </a:r>
            <a:endParaRPr sz="1100">
              <a:latin typeface="Times New Roman"/>
              <a:cs typeface="Times New Roman"/>
            </a:endParaRPr>
          </a:p>
          <a:p>
            <a:pPr marL="107950" marR="4324985" lvl="1" indent="-107950" algn="r">
              <a:lnSpc>
                <a:spcPts val="1240"/>
              </a:lnSpc>
              <a:buClr>
                <a:srgbClr val="3E762B"/>
              </a:buClr>
              <a:buFont typeface="Arial MT"/>
              <a:buChar char="•"/>
              <a:tabLst>
                <a:tab pos="107950" algn="l"/>
              </a:tabLst>
            </a:pPr>
            <a:r>
              <a:rPr sz="1100" dirty="0">
                <a:latin typeface="Times New Roman"/>
                <a:cs typeface="Times New Roman"/>
              </a:rPr>
              <a:t>Main</a:t>
            </a:r>
            <a:r>
              <a:rPr sz="1100" spc="-20" dirty="0">
                <a:latin typeface="Times New Roman"/>
                <a:cs typeface="Times New Roman"/>
              </a:rPr>
              <a:t> </a:t>
            </a:r>
            <a:r>
              <a:rPr sz="1100" spc="-10" dirty="0">
                <a:latin typeface="Times New Roman"/>
                <a:cs typeface="Times New Roman"/>
              </a:rPr>
              <a:t>Memory</a:t>
            </a:r>
            <a:endParaRPr sz="1100">
              <a:latin typeface="Times New Roman"/>
              <a:cs typeface="Times New Roman"/>
            </a:endParaRPr>
          </a:p>
          <a:p>
            <a:pPr marL="107950" marR="4269740" lvl="1" indent="-107950" algn="r">
              <a:lnSpc>
                <a:spcPct val="100000"/>
              </a:lnSpc>
              <a:spcBef>
                <a:spcPts val="35"/>
              </a:spcBef>
              <a:buClr>
                <a:srgbClr val="3E762B"/>
              </a:buClr>
              <a:buFont typeface="Arial MT"/>
              <a:buChar char="•"/>
              <a:tabLst>
                <a:tab pos="107950" algn="l"/>
              </a:tabLst>
            </a:pPr>
            <a:r>
              <a:rPr sz="1100" dirty="0">
                <a:latin typeface="Times New Roman"/>
                <a:cs typeface="Times New Roman"/>
              </a:rPr>
              <a:t>Cache</a:t>
            </a:r>
            <a:r>
              <a:rPr sz="1100" spc="-25" dirty="0">
                <a:latin typeface="Times New Roman"/>
                <a:cs typeface="Times New Roman"/>
              </a:rPr>
              <a:t> </a:t>
            </a:r>
            <a:r>
              <a:rPr sz="1100" spc="-10" dirty="0">
                <a:latin typeface="Times New Roman"/>
                <a:cs typeface="Times New Roman"/>
              </a:rPr>
              <a:t>Memory</a:t>
            </a:r>
            <a:endParaRPr sz="1100">
              <a:latin typeface="Times New Roman"/>
              <a:cs typeface="Times New Roman"/>
            </a:endParaRPr>
          </a:p>
          <a:p>
            <a:pPr marL="107950" marR="4232275" lvl="1" indent="-107950" algn="r">
              <a:lnSpc>
                <a:spcPct val="100000"/>
              </a:lnSpc>
              <a:spcBef>
                <a:spcPts val="35"/>
              </a:spcBef>
              <a:buClr>
                <a:srgbClr val="3E762B"/>
              </a:buClr>
              <a:buFont typeface="Arial MT"/>
              <a:buChar char="•"/>
              <a:tabLst>
                <a:tab pos="107950" algn="l"/>
              </a:tabLst>
            </a:pPr>
            <a:r>
              <a:rPr sz="1100" spc="-10" dirty="0">
                <a:latin typeface="Times New Roman"/>
                <a:cs typeface="Times New Roman"/>
              </a:rPr>
              <a:t>Virtual</a:t>
            </a:r>
            <a:r>
              <a:rPr sz="1100" spc="-25" dirty="0">
                <a:latin typeface="Times New Roman"/>
                <a:cs typeface="Times New Roman"/>
              </a:rPr>
              <a:t> </a:t>
            </a:r>
            <a:r>
              <a:rPr sz="1100" spc="-10" dirty="0">
                <a:latin typeface="Times New Roman"/>
                <a:cs typeface="Times New Roman"/>
              </a:rPr>
              <a:t>Memory</a:t>
            </a:r>
            <a:endParaRPr sz="1100">
              <a:latin typeface="Times New Roman"/>
              <a:cs typeface="Times New Roman"/>
            </a:endParaRPr>
          </a:p>
          <a:p>
            <a:pPr marL="432434" indent="-170180">
              <a:lnSpc>
                <a:spcPct val="100000"/>
              </a:lnSpc>
              <a:spcBef>
                <a:spcPts val="530"/>
              </a:spcBef>
              <a:buClr>
                <a:srgbClr val="3E762B"/>
              </a:buClr>
              <a:buFont typeface="Wingdings"/>
              <a:buChar char=""/>
              <a:tabLst>
                <a:tab pos="432434" algn="l"/>
              </a:tabLst>
            </a:pPr>
            <a:r>
              <a:rPr sz="1100" b="1" dirty="0">
                <a:latin typeface="Times New Roman"/>
                <a:cs typeface="Times New Roman"/>
              </a:rPr>
              <a:t>IOs</a:t>
            </a:r>
            <a:r>
              <a:rPr sz="1100" b="1" spc="-15" dirty="0">
                <a:latin typeface="Times New Roman"/>
                <a:cs typeface="Times New Roman"/>
              </a:rPr>
              <a:t> </a:t>
            </a:r>
            <a:r>
              <a:rPr sz="1100" b="1" dirty="0">
                <a:latin typeface="Times New Roman"/>
                <a:cs typeface="Times New Roman"/>
              </a:rPr>
              <a:t>and</a:t>
            </a:r>
            <a:r>
              <a:rPr sz="1100" b="1" spc="5" dirty="0">
                <a:latin typeface="Times New Roman"/>
                <a:cs typeface="Times New Roman"/>
              </a:rPr>
              <a:t> </a:t>
            </a:r>
            <a:r>
              <a:rPr sz="1100" b="1" dirty="0">
                <a:latin typeface="Times New Roman"/>
                <a:cs typeface="Times New Roman"/>
              </a:rPr>
              <a:t>memory</a:t>
            </a:r>
            <a:r>
              <a:rPr sz="1100" b="1" spc="-15" dirty="0">
                <a:latin typeface="Times New Roman"/>
                <a:cs typeface="Times New Roman"/>
              </a:rPr>
              <a:t> </a:t>
            </a:r>
            <a:r>
              <a:rPr sz="1100" b="1" spc="-10" dirty="0">
                <a:latin typeface="Times New Roman"/>
                <a:cs typeface="Times New Roman"/>
              </a:rPr>
              <a:t>interfacing</a:t>
            </a:r>
            <a:endParaRPr sz="1100">
              <a:latin typeface="Times New Roman"/>
              <a:cs typeface="Times New Roman"/>
            </a:endParaRPr>
          </a:p>
          <a:p>
            <a:pPr marL="432434" indent="-170180">
              <a:lnSpc>
                <a:spcPct val="100000"/>
              </a:lnSpc>
              <a:spcBef>
                <a:spcPts val="300"/>
              </a:spcBef>
              <a:buClr>
                <a:srgbClr val="3E762B"/>
              </a:buClr>
              <a:buFont typeface="Wingdings"/>
              <a:buChar char=""/>
              <a:tabLst>
                <a:tab pos="432434" algn="l"/>
              </a:tabLst>
            </a:pPr>
            <a:r>
              <a:rPr sz="1100" dirty="0">
                <a:latin typeface="Times New Roman"/>
                <a:cs typeface="Times New Roman"/>
              </a:rPr>
              <a:t>Hardware</a:t>
            </a:r>
            <a:r>
              <a:rPr sz="1100" spc="-45" dirty="0">
                <a:latin typeface="Times New Roman"/>
                <a:cs typeface="Times New Roman"/>
              </a:rPr>
              <a:t> </a:t>
            </a:r>
            <a:r>
              <a:rPr sz="1100" dirty="0">
                <a:latin typeface="Times New Roman"/>
                <a:cs typeface="Times New Roman"/>
              </a:rPr>
              <a:t>Description</a:t>
            </a:r>
            <a:r>
              <a:rPr sz="1100" spc="-50" dirty="0">
                <a:latin typeface="Times New Roman"/>
                <a:cs typeface="Times New Roman"/>
              </a:rPr>
              <a:t> </a:t>
            </a:r>
            <a:r>
              <a:rPr sz="1100" dirty="0">
                <a:latin typeface="Times New Roman"/>
                <a:cs typeface="Times New Roman"/>
              </a:rPr>
              <a:t>Languages</a:t>
            </a:r>
            <a:r>
              <a:rPr sz="1100" spc="-20" dirty="0">
                <a:latin typeface="Times New Roman"/>
                <a:cs typeface="Times New Roman"/>
              </a:rPr>
              <a:t> </a:t>
            </a:r>
            <a:r>
              <a:rPr sz="1100" dirty="0">
                <a:latin typeface="Times New Roman"/>
                <a:cs typeface="Times New Roman"/>
              </a:rPr>
              <a:t>(VHDL)</a:t>
            </a:r>
            <a:r>
              <a:rPr sz="1100" spc="-25" dirty="0">
                <a:latin typeface="Times New Roman"/>
                <a:cs typeface="Times New Roman"/>
              </a:rPr>
              <a:t> </a:t>
            </a:r>
            <a:r>
              <a:rPr sz="1100" dirty="0">
                <a:latin typeface="Times New Roman"/>
                <a:cs typeface="Times New Roman"/>
              </a:rPr>
              <a:t>in</a:t>
            </a:r>
            <a:r>
              <a:rPr sz="1100" spc="-30" dirty="0">
                <a:latin typeface="Times New Roman"/>
                <a:cs typeface="Times New Roman"/>
              </a:rPr>
              <a:t> </a:t>
            </a:r>
            <a:r>
              <a:rPr sz="1100" spc="-20" dirty="0">
                <a:latin typeface="Times New Roman"/>
                <a:cs typeface="Times New Roman"/>
              </a:rPr>
              <a:t>Lab.</a:t>
            </a:r>
            <a:endParaRPr sz="11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grpSp>
      <p:sp>
        <p:nvSpPr>
          <p:cNvPr id="5" name="object 5"/>
          <p:cNvSpPr txBox="1"/>
          <p:nvPr/>
        </p:nvSpPr>
        <p:spPr>
          <a:xfrm>
            <a:off x="609600" y="1089660"/>
            <a:ext cx="4841875" cy="594360"/>
          </a:xfrm>
          <a:prstGeom prst="rect">
            <a:avLst/>
          </a:prstGeom>
          <a:solidFill>
            <a:srgbClr val="539E39"/>
          </a:solidFill>
          <a:ln w="9144">
            <a:solidFill>
              <a:srgbClr val="3A7327"/>
            </a:solidFill>
          </a:ln>
        </p:spPr>
        <p:txBody>
          <a:bodyPr vert="horz" wrap="square" lIns="0" tIns="0" rIns="0" bIns="0" rtlCol="0">
            <a:spAutoFit/>
          </a:bodyPr>
          <a:lstStyle/>
          <a:p>
            <a:pPr marL="115570">
              <a:lnSpc>
                <a:spcPts val="2240"/>
              </a:lnSpc>
            </a:pPr>
            <a:r>
              <a:rPr sz="2000" b="1" dirty="0">
                <a:solidFill>
                  <a:srgbClr val="FFFFFF"/>
                </a:solidFill>
                <a:latin typeface="Georgia"/>
                <a:cs typeface="Georgia"/>
              </a:rPr>
              <a:t>Computer</a:t>
            </a:r>
            <a:r>
              <a:rPr sz="2000" b="1" spc="-35" dirty="0">
                <a:solidFill>
                  <a:srgbClr val="FFFFFF"/>
                </a:solidFill>
                <a:latin typeface="Georgia"/>
                <a:cs typeface="Georgia"/>
              </a:rPr>
              <a:t> </a:t>
            </a:r>
            <a:r>
              <a:rPr sz="2000" b="1" dirty="0">
                <a:solidFill>
                  <a:srgbClr val="FFFFFF"/>
                </a:solidFill>
                <a:latin typeface="Georgia"/>
                <a:cs typeface="Georgia"/>
              </a:rPr>
              <a:t>Architecture</a:t>
            </a:r>
            <a:r>
              <a:rPr sz="2000" b="1" spc="-40" dirty="0">
                <a:solidFill>
                  <a:srgbClr val="FFFFFF"/>
                </a:solidFill>
                <a:latin typeface="Georgia"/>
                <a:cs typeface="Georgia"/>
              </a:rPr>
              <a:t> </a:t>
            </a:r>
            <a:r>
              <a:rPr sz="2000" b="1" spc="-10" dirty="0">
                <a:solidFill>
                  <a:srgbClr val="FFFFFF"/>
                </a:solidFill>
                <a:latin typeface="Georgia"/>
                <a:cs typeface="Georgia"/>
              </a:rPr>
              <a:t>Module</a:t>
            </a:r>
            <a:endParaRPr sz="2000">
              <a:latin typeface="Georgia"/>
              <a:cs typeface="Georgia"/>
            </a:endParaRPr>
          </a:p>
          <a:p>
            <a:pPr marL="115570">
              <a:lnSpc>
                <a:spcPct val="100000"/>
              </a:lnSpc>
            </a:pPr>
            <a:r>
              <a:rPr sz="2000" b="1" spc="-10" dirty="0">
                <a:solidFill>
                  <a:srgbClr val="FFFFFF"/>
                </a:solidFill>
                <a:latin typeface="Georgia"/>
                <a:cs typeface="Georgia"/>
              </a:rPr>
              <a:t>Assessment</a:t>
            </a:r>
            <a:endParaRPr sz="2000">
              <a:latin typeface="Georgia"/>
              <a:cs typeface="Georgia"/>
            </a:endParaRPr>
          </a:p>
        </p:txBody>
      </p:sp>
      <p:sp>
        <p:nvSpPr>
          <p:cNvPr id="6" name="object 6"/>
          <p:cNvSpPr txBox="1"/>
          <p:nvPr/>
        </p:nvSpPr>
        <p:spPr>
          <a:xfrm>
            <a:off x="6147180" y="3975861"/>
            <a:ext cx="74930" cy="177800"/>
          </a:xfrm>
          <a:prstGeom prst="rect">
            <a:avLst/>
          </a:prstGeom>
        </p:spPr>
        <p:txBody>
          <a:bodyPr vert="horz" wrap="square" lIns="0" tIns="12065" rIns="0" bIns="0" rtlCol="0">
            <a:spAutoFit/>
          </a:bodyPr>
          <a:lstStyle/>
          <a:p>
            <a:pPr>
              <a:lnSpc>
                <a:spcPct val="100000"/>
              </a:lnSpc>
              <a:spcBef>
                <a:spcPts val="95"/>
              </a:spcBef>
            </a:pPr>
            <a:r>
              <a:rPr sz="1000" b="1" spc="-50" dirty="0">
                <a:solidFill>
                  <a:srgbClr val="3E762B"/>
                </a:solidFill>
                <a:latin typeface="Corbel"/>
                <a:cs typeface="Corbel"/>
              </a:rPr>
              <a:t>3</a:t>
            </a:r>
            <a:endParaRPr sz="1000">
              <a:latin typeface="Corbel"/>
              <a:cs typeface="Corbel"/>
            </a:endParaRPr>
          </a:p>
        </p:txBody>
      </p:sp>
      <p:sp>
        <p:nvSpPr>
          <p:cNvPr id="7" name="object 7"/>
          <p:cNvSpPr txBox="1"/>
          <p:nvPr/>
        </p:nvSpPr>
        <p:spPr>
          <a:xfrm>
            <a:off x="759561" y="1799996"/>
            <a:ext cx="2023263" cy="944489"/>
          </a:xfrm>
          <a:prstGeom prst="rect">
            <a:avLst/>
          </a:prstGeom>
        </p:spPr>
        <p:txBody>
          <a:bodyPr vert="horz" wrap="square" lIns="0" tIns="76835" rIns="0" bIns="0" rtlCol="0">
            <a:spAutoFit/>
          </a:bodyPr>
          <a:lstStyle/>
          <a:p>
            <a:pPr marL="231140" indent="-231140">
              <a:lnSpc>
                <a:spcPct val="100000"/>
              </a:lnSpc>
              <a:spcBef>
                <a:spcPts val="605"/>
              </a:spcBef>
              <a:buClr>
                <a:srgbClr val="3E762B"/>
              </a:buClr>
              <a:buFont typeface="Wingdings"/>
              <a:buChar char=""/>
              <a:tabLst>
                <a:tab pos="231140" algn="l"/>
              </a:tabLst>
            </a:pPr>
            <a:r>
              <a:rPr sz="1600" spc="-10" dirty="0">
                <a:latin typeface="Times New Roman"/>
                <a:cs typeface="Times New Roman"/>
              </a:rPr>
              <a:t>In-</a:t>
            </a:r>
            <a:r>
              <a:rPr sz="1600" dirty="0">
                <a:latin typeface="Times New Roman"/>
                <a:cs typeface="Times New Roman"/>
              </a:rPr>
              <a:t>class</a:t>
            </a:r>
            <a:r>
              <a:rPr sz="1600" spc="-15" dirty="0">
                <a:latin typeface="Times New Roman"/>
                <a:cs typeface="Times New Roman"/>
              </a:rPr>
              <a:t> </a:t>
            </a:r>
            <a:r>
              <a:rPr sz="1600" spc="-20" dirty="0">
                <a:latin typeface="Times New Roman"/>
                <a:cs typeface="Times New Roman"/>
              </a:rPr>
              <a:t>test</a:t>
            </a:r>
            <a:endParaRPr sz="1600" dirty="0">
              <a:latin typeface="Times New Roman"/>
              <a:cs typeface="Times New Roman"/>
            </a:endParaRPr>
          </a:p>
          <a:p>
            <a:pPr marL="231140" indent="-231140">
              <a:lnSpc>
                <a:spcPct val="100000"/>
              </a:lnSpc>
              <a:spcBef>
                <a:spcPts val="500"/>
              </a:spcBef>
              <a:buClr>
                <a:srgbClr val="3E762B"/>
              </a:buClr>
              <a:buFont typeface="Wingdings"/>
              <a:buChar char=""/>
              <a:tabLst>
                <a:tab pos="231140" algn="l"/>
              </a:tabLst>
            </a:pPr>
            <a:r>
              <a:rPr sz="1600" dirty="0">
                <a:latin typeface="Times New Roman"/>
                <a:cs typeface="Times New Roman"/>
              </a:rPr>
              <a:t>Lab</a:t>
            </a:r>
            <a:r>
              <a:rPr lang="en-US" sz="1600" dirty="0">
                <a:latin typeface="Times New Roman"/>
                <a:cs typeface="Times New Roman"/>
              </a:rPr>
              <a:t> exam /Project</a:t>
            </a:r>
            <a:endParaRPr lang="en-US" sz="1600" spc="-20" dirty="0">
              <a:latin typeface="Times New Roman"/>
              <a:cs typeface="Times New Roman"/>
            </a:endParaRPr>
          </a:p>
          <a:p>
            <a:pPr marL="231140" indent="-231140">
              <a:lnSpc>
                <a:spcPct val="100000"/>
              </a:lnSpc>
              <a:spcBef>
                <a:spcPts val="500"/>
              </a:spcBef>
              <a:buClr>
                <a:srgbClr val="3E762B"/>
              </a:buClr>
              <a:buFont typeface="Wingdings"/>
              <a:buChar char=""/>
              <a:tabLst>
                <a:tab pos="231140" algn="l"/>
              </a:tabLst>
            </a:pPr>
            <a:r>
              <a:rPr sz="1600" dirty="0">
                <a:latin typeface="Times New Roman"/>
                <a:cs typeface="Times New Roman"/>
              </a:rPr>
              <a:t>Unseen</a:t>
            </a:r>
            <a:r>
              <a:rPr sz="1600" spc="-20" dirty="0">
                <a:latin typeface="Times New Roman"/>
                <a:cs typeface="Times New Roman"/>
              </a:rPr>
              <a:t> Exam</a:t>
            </a:r>
            <a:endParaRPr sz="1600" dirty="0">
              <a:latin typeface="Times New Roman"/>
              <a:cs typeface="Times New Roman"/>
            </a:endParaRPr>
          </a:p>
        </p:txBody>
      </p:sp>
      <p:sp>
        <p:nvSpPr>
          <p:cNvPr id="8" name="object 8"/>
          <p:cNvSpPr txBox="1"/>
          <p:nvPr/>
        </p:nvSpPr>
        <p:spPr>
          <a:xfrm>
            <a:off x="3046222" y="1799996"/>
            <a:ext cx="386080" cy="949325"/>
          </a:xfrm>
          <a:prstGeom prst="rect">
            <a:avLst/>
          </a:prstGeom>
        </p:spPr>
        <p:txBody>
          <a:bodyPr vert="horz" wrap="square" lIns="0" tIns="76835" rIns="0" bIns="0" rtlCol="0">
            <a:spAutoFit/>
          </a:bodyPr>
          <a:lstStyle/>
          <a:p>
            <a:pPr>
              <a:lnSpc>
                <a:spcPct val="100000"/>
              </a:lnSpc>
              <a:spcBef>
                <a:spcPts val="605"/>
              </a:spcBef>
            </a:pPr>
            <a:r>
              <a:rPr sz="1600" spc="-25" dirty="0">
                <a:latin typeface="Times New Roman"/>
                <a:cs typeface="Times New Roman"/>
              </a:rPr>
              <a:t>20%</a:t>
            </a:r>
            <a:endParaRPr sz="1600">
              <a:latin typeface="Times New Roman"/>
              <a:cs typeface="Times New Roman"/>
            </a:endParaRPr>
          </a:p>
          <a:p>
            <a:pPr>
              <a:lnSpc>
                <a:spcPct val="100000"/>
              </a:lnSpc>
              <a:spcBef>
                <a:spcPts val="500"/>
              </a:spcBef>
            </a:pPr>
            <a:r>
              <a:rPr sz="1600" spc="-25" dirty="0">
                <a:latin typeface="Times New Roman"/>
                <a:cs typeface="Times New Roman"/>
              </a:rPr>
              <a:t>20%</a:t>
            </a:r>
            <a:endParaRPr sz="1600">
              <a:latin typeface="Times New Roman"/>
              <a:cs typeface="Times New Roman"/>
            </a:endParaRPr>
          </a:p>
          <a:p>
            <a:pPr>
              <a:lnSpc>
                <a:spcPct val="100000"/>
              </a:lnSpc>
              <a:spcBef>
                <a:spcPts val="505"/>
              </a:spcBef>
            </a:pPr>
            <a:r>
              <a:rPr sz="1600" spc="-25" dirty="0">
                <a:latin typeface="Times New Roman"/>
                <a:cs typeface="Times New Roman"/>
              </a:rPr>
              <a:t>60%</a:t>
            </a:r>
            <a:endParaRPr sz="1600">
              <a:latin typeface="Times New Roman"/>
              <a:cs typeface="Times New Roman"/>
            </a:endParaRPr>
          </a:p>
        </p:txBody>
      </p:sp>
      <p:grpSp>
        <p:nvGrpSpPr>
          <p:cNvPr id="9" name="object 9"/>
          <p:cNvGrpSpPr/>
          <p:nvPr/>
        </p:nvGrpSpPr>
        <p:grpSpPr>
          <a:xfrm>
            <a:off x="381000" y="4844796"/>
            <a:ext cx="6096000" cy="3429000"/>
            <a:chOff x="381000" y="4844796"/>
            <a:chExt cx="6096000" cy="3429000"/>
          </a:xfrm>
        </p:grpSpPr>
        <p:sp>
          <p:nvSpPr>
            <p:cNvPr id="10" name="object 10"/>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11" name="object 11"/>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2" name="object 12"/>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13" name="object 13"/>
            <p:cNvPicPr/>
            <p:nvPr/>
          </p:nvPicPr>
          <p:blipFill>
            <a:blip r:embed="rId2" cstate="print"/>
            <a:stretch>
              <a:fillRect/>
            </a:stretch>
          </p:blipFill>
          <p:spPr>
            <a:xfrm>
              <a:off x="4317491" y="5547360"/>
              <a:ext cx="1991867" cy="914400"/>
            </a:xfrm>
            <a:prstGeom prst="rect">
              <a:avLst/>
            </a:prstGeom>
          </p:spPr>
        </p:pic>
      </p:grpSp>
      <p:sp>
        <p:nvSpPr>
          <p:cNvPr id="14" name="object 14"/>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Computing</a:t>
            </a:r>
            <a:r>
              <a:rPr sz="2200" spc="-75" dirty="0">
                <a:latin typeface="Georgia"/>
                <a:cs typeface="Georgia"/>
              </a:rPr>
              <a:t> </a:t>
            </a:r>
            <a:r>
              <a:rPr sz="2200" dirty="0">
                <a:latin typeface="Georgia"/>
                <a:cs typeface="Georgia"/>
              </a:rPr>
              <a:t>Devices</a:t>
            </a:r>
            <a:r>
              <a:rPr sz="2200" spc="-65" dirty="0">
                <a:latin typeface="Georgia"/>
                <a:cs typeface="Georgia"/>
              </a:rPr>
              <a:t> </a:t>
            </a:r>
            <a:r>
              <a:rPr sz="2200" spc="-25" dirty="0">
                <a:latin typeface="Georgia"/>
                <a:cs typeface="Georgia"/>
              </a:rPr>
              <a:t>now</a:t>
            </a:r>
            <a:endParaRPr sz="2200">
              <a:latin typeface="Georgia"/>
              <a:cs typeface="Georgia"/>
            </a:endParaRPr>
          </a:p>
        </p:txBody>
      </p:sp>
      <p:grpSp>
        <p:nvGrpSpPr>
          <p:cNvPr id="15" name="object 15"/>
          <p:cNvGrpSpPr/>
          <p:nvPr/>
        </p:nvGrpSpPr>
        <p:grpSpPr>
          <a:xfrm>
            <a:off x="664463" y="5606796"/>
            <a:ext cx="5671185" cy="2501265"/>
            <a:chOff x="664463" y="5606796"/>
            <a:chExt cx="5671185" cy="2501265"/>
          </a:xfrm>
        </p:grpSpPr>
        <p:pic>
          <p:nvPicPr>
            <p:cNvPr id="16" name="object 16"/>
            <p:cNvPicPr/>
            <p:nvPr/>
          </p:nvPicPr>
          <p:blipFill>
            <a:blip r:embed="rId3" cstate="print"/>
            <a:stretch>
              <a:fillRect/>
            </a:stretch>
          </p:blipFill>
          <p:spPr>
            <a:xfrm>
              <a:off x="664463" y="5606796"/>
              <a:ext cx="1095756" cy="914399"/>
            </a:xfrm>
            <a:prstGeom prst="rect">
              <a:avLst/>
            </a:prstGeom>
          </p:spPr>
        </p:pic>
        <p:pic>
          <p:nvPicPr>
            <p:cNvPr id="17" name="object 17"/>
            <p:cNvPicPr/>
            <p:nvPr/>
          </p:nvPicPr>
          <p:blipFill>
            <a:blip r:embed="rId4" cstate="print"/>
            <a:stretch>
              <a:fillRect/>
            </a:stretch>
          </p:blipFill>
          <p:spPr>
            <a:xfrm>
              <a:off x="1889760" y="5721096"/>
              <a:ext cx="553212" cy="685799"/>
            </a:xfrm>
            <a:prstGeom prst="rect">
              <a:avLst/>
            </a:prstGeom>
          </p:spPr>
        </p:pic>
        <p:pic>
          <p:nvPicPr>
            <p:cNvPr id="18" name="object 18"/>
            <p:cNvPicPr/>
            <p:nvPr/>
          </p:nvPicPr>
          <p:blipFill>
            <a:blip r:embed="rId5" cstate="print"/>
            <a:stretch>
              <a:fillRect/>
            </a:stretch>
          </p:blipFill>
          <p:spPr>
            <a:xfrm>
              <a:off x="2348484" y="6827520"/>
              <a:ext cx="1275588" cy="1280159"/>
            </a:xfrm>
            <a:prstGeom prst="rect">
              <a:avLst/>
            </a:prstGeom>
          </p:spPr>
        </p:pic>
        <p:pic>
          <p:nvPicPr>
            <p:cNvPr id="19" name="object 19"/>
            <p:cNvPicPr/>
            <p:nvPr/>
          </p:nvPicPr>
          <p:blipFill>
            <a:blip r:embed="rId6" cstate="print"/>
            <a:stretch>
              <a:fillRect/>
            </a:stretch>
          </p:blipFill>
          <p:spPr>
            <a:xfrm>
              <a:off x="716279" y="6954012"/>
              <a:ext cx="957071" cy="1143000"/>
            </a:xfrm>
            <a:prstGeom prst="rect">
              <a:avLst/>
            </a:prstGeom>
          </p:spPr>
        </p:pic>
        <p:pic>
          <p:nvPicPr>
            <p:cNvPr id="20" name="object 20"/>
            <p:cNvPicPr/>
            <p:nvPr/>
          </p:nvPicPr>
          <p:blipFill>
            <a:blip r:embed="rId7" cstate="print"/>
            <a:stretch>
              <a:fillRect/>
            </a:stretch>
          </p:blipFill>
          <p:spPr>
            <a:xfrm>
              <a:off x="2782824" y="5742432"/>
              <a:ext cx="1694688" cy="777239"/>
            </a:xfrm>
            <a:prstGeom prst="rect">
              <a:avLst/>
            </a:prstGeom>
          </p:spPr>
        </p:pic>
        <p:pic>
          <p:nvPicPr>
            <p:cNvPr id="21" name="object 21"/>
            <p:cNvPicPr/>
            <p:nvPr/>
          </p:nvPicPr>
          <p:blipFill>
            <a:blip r:embed="rId8" cstate="print"/>
            <a:stretch>
              <a:fillRect/>
            </a:stretch>
          </p:blipFill>
          <p:spPr>
            <a:xfrm>
              <a:off x="4968240" y="7048500"/>
              <a:ext cx="1367027" cy="1051560"/>
            </a:xfrm>
            <a:prstGeom prst="rect">
              <a:avLst/>
            </a:prstGeom>
          </p:spPr>
        </p:pic>
        <p:pic>
          <p:nvPicPr>
            <p:cNvPr id="22" name="object 22"/>
            <p:cNvPicPr/>
            <p:nvPr/>
          </p:nvPicPr>
          <p:blipFill>
            <a:blip r:embed="rId9" cstate="print"/>
            <a:stretch>
              <a:fillRect/>
            </a:stretch>
          </p:blipFill>
          <p:spPr>
            <a:xfrm>
              <a:off x="3809999" y="6656832"/>
              <a:ext cx="1014984" cy="571500"/>
            </a:xfrm>
            <a:prstGeom prst="rect">
              <a:avLst/>
            </a:prstGeom>
          </p:spPr>
        </p:pic>
        <p:pic>
          <p:nvPicPr>
            <p:cNvPr id="23" name="object 23"/>
            <p:cNvPicPr/>
            <p:nvPr/>
          </p:nvPicPr>
          <p:blipFill>
            <a:blip r:embed="rId10" cstate="print"/>
            <a:stretch>
              <a:fillRect/>
            </a:stretch>
          </p:blipFill>
          <p:spPr>
            <a:xfrm>
              <a:off x="1501139" y="6627876"/>
              <a:ext cx="728472" cy="656844"/>
            </a:xfrm>
            <a:prstGeom prst="rect">
              <a:avLst/>
            </a:prstGeom>
          </p:spPr>
        </p:pic>
      </p:grpSp>
      <p:sp>
        <p:nvSpPr>
          <p:cNvPr id="24" name="object 24"/>
          <p:cNvSpPr txBox="1"/>
          <p:nvPr/>
        </p:nvSpPr>
        <p:spPr>
          <a:xfrm>
            <a:off x="6132957" y="7984837"/>
            <a:ext cx="88900" cy="152400"/>
          </a:xfrm>
          <a:prstGeom prst="rect">
            <a:avLst/>
          </a:prstGeom>
        </p:spPr>
        <p:txBody>
          <a:bodyPr vert="horz" wrap="square" lIns="0" tIns="0" rIns="0" bIns="0" rtlCol="0">
            <a:spAutoFit/>
          </a:bodyPr>
          <a:lstStyle/>
          <a:p>
            <a:pPr marL="12700">
              <a:lnSpc>
                <a:spcPts val="1040"/>
              </a:lnSpc>
            </a:pPr>
            <a:r>
              <a:rPr sz="1000" b="1" spc="-50" dirty="0">
                <a:solidFill>
                  <a:srgbClr val="3E762B"/>
                </a:solidFill>
                <a:latin typeface="Corbel"/>
                <a:cs typeface="Corbel"/>
              </a:rPr>
              <a:t>2</a:t>
            </a:r>
            <a:endParaRPr sz="1000">
              <a:latin typeface="Corbel"/>
              <a:cs typeface="Corbel"/>
            </a:endParaRPr>
          </a:p>
        </p:txBody>
      </p:sp>
      <p:sp>
        <p:nvSpPr>
          <p:cNvPr id="25" name="object 25"/>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CPU</a:t>
            </a:r>
            <a:r>
              <a:rPr spc="-45" dirty="0"/>
              <a:t> </a:t>
            </a:r>
            <a:r>
              <a:rPr spc="-10" dirty="0"/>
              <a:t>Architecture:</a:t>
            </a:r>
            <a:r>
              <a:rPr spc="-25" dirty="0"/>
              <a:t> </a:t>
            </a:r>
            <a:r>
              <a:rPr dirty="0"/>
              <a:t>Key</a:t>
            </a:r>
            <a:r>
              <a:rPr spc="-45" dirty="0"/>
              <a:t> </a:t>
            </a:r>
            <a:r>
              <a:rPr spc="-10" dirty="0"/>
              <a:t>Components</a:t>
            </a:r>
          </a:p>
        </p:txBody>
      </p:sp>
      <p:sp>
        <p:nvSpPr>
          <p:cNvPr id="3" name="object 3"/>
          <p:cNvSpPr txBox="1">
            <a:spLocks noGrp="1"/>
          </p:cNvSpPr>
          <p:nvPr>
            <p:ph type="body" idx="1"/>
          </p:nvPr>
        </p:nvSpPr>
        <p:spPr>
          <a:prstGeom prst="rect">
            <a:avLst/>
          </a:prstGeom>
        </p:spPr>
        <p:txBody>
          <a:bodyPr vert="horz" wrap="square" lIns="0" tIns="28575" rIns="0" bIns="0" rtlCol="0">
            <a:spAutoFit/>
          </a:bodyPr>
          <a:lstStyle/>
          <a:p>
            <a:pPr marL="182880" indent="-171450">
              <a:lnSpc>
                <a:spcPct val="100000"/>
              </a:lnSpc>
              <a:spcBef>
                <a:spcPts val="225"/>
              </a:spcBef>
              <a:buClr>
                <a:srgbClr val="3E762B"/>
              </a:buClr>
              <a:buFont typeface="Wingdings"/>
              <a:buChar char=""/>
              <a:tabLst>
                <a:tab pos="182880" algn="l"/>
              </a:tabLst>
            </a:pPr>
            <a:r>
              <a:rPr dirty="0"/>
              <a:t>Execution</a:t>
            </a:r>
            <a:r>
              <a:rPr spc="-50" dirty="0"/>
              <a:t> </a:t>
            </a:r>
            <a:r>
              <a:rPr dirty="0"/>
              <a:t>(Processing)</a:t>
            </a:r>
            <a:r>
              <a:rPr spc="-80" dirty="0"/>
              <a:t> </a:t>
            </a:r>
            <a:r>
              <a:rPr spc="-10" dirty="0"/>
              <a:t>Components</a:t>
            </a:r>
          </a:p>
          <a:p>
            <a:pPr marL="241300" indent="-91440">
              <a:lnSpc>
                <a:spcPct val="100000"/>
              </a:lnSpc>
              <a:spcBef>
                <a:spcPts val="100"/>
              </a:spcBef>
              <a:buClr>
                <a:srgbClr val="3E762B"/>
              </a:buClr>
              <a:buFont typeface="Arial MT"/>
              <a:buChar char="•"/>
              <a:tabLst>
                <a:tab pos="241300" algn="l"/>
              </a:tabLst>
            </a:pPr>
            <a:r>
              <a:rPr sz="1200" dirty="0"/>
              <a:t>Arithmetic</a:t>
            </a:r>
            <a:r>
              <a:rPr sz="1200" spc="-75" dirty="0"/>
              <a:t> </a:t>
            </a:r>
            <a:r>
              <a:rPr sz="1200" dirty="0"/>
              <a:t>Logic</a:t>
            </a:r>
            <a:r>
              <a:rPr sz="1200" spc="-40" dirty="0"/>
              <a:t> </a:t>
            </a:r>
            <a:r>
              <a:rPr sz="1200" spc="-10" dirty="0"/>
              <a:t>Unit(ALU)</a:t>
            </a:r>
            <a:endParaRPr sz="1200"/>
          </a:p>
          <a:p>
            <a:pPr marL="377825" lvl="1" indent="-90805">
              <a:lnSpc>
                <a:spcPct val="100000"/>
              </a:lnSpc>
              <a:spcBef>
                <a:spcPts val="310"/>
              </a:spcBef>
              <a:buClr>
                <a:srgbClr val="3E762B"/>
              </a:buClr>
              <a:buFont typeface="Wingdings"/>
              <a:buChar char=""/>
              <a:tabLst>
                <a:tab pos="377825" algn="l"/>
              </a:tabLst>
            </a:pPr>
            <a:r>
              <a:rPr sz="1000" dirty="0">
                <a:latin typeface="Times New Roman"/>
                <a:cs typeface="Times New Roman"/>
              </a:rPr>
              <a:t>Arithmetic</a:t>
            </a:r>
            <a:r>
              <a:rPr sz="1000" spc="20" dirty="0">
                <a:latin typeface="Times New Roman"/>
                <a:cs typeface="Times New Roman"/>
              </a:rPr>
              <a:t> </a:t>
            </a:r>
            <a:r>
              <a:rPr sz="1000" spc="-10" dirty="0">
                <a:latin typeface="Times New Roman"/>
                <a:cs typeface="Times New Roman"/>
              </a:rPr>
              <a:t>calculations,</a:t>
            </a:r>
            <a:r>
              <a:rPr sz="1000" spc="-5" dirty="0">
                <a:latin typeface="Times New Roman"/>
                <a:cs typeface="Times New Roman"/>
              </a:rPr>
              <a:t> </a:t>
            </a:r>
            <a:r>
              <a:rPr sz="1000" dirty="0">
                <a:latin typeface="Times New Roman"/>
                <a:cs typeface="Times New Roman"/>
              </a:rPr>
              <a:t>Logical </a:t>
            </a:r>
            <a:r>
              <a:rPr sz="1000" spc="-10" dirty="0">
                <a:latin typeface="Times New Roman"/>
                <a:cs typeface="Times New Roman"/>
              </a:rPr>
              <a:t>computations,</a:t>
            </a:r>
            <a:r>
              <a:rPr sz="1000" spc="15" dirty="0">
                <a:latin typeface="Times New Roman"/>
                <a:cs typeface="Times New Roman"/>
              </a:rPr>
              <a:t> </a:t>
            </a:r>
            <a:r>
              <a:rPr sz="1000" spc="-10" dirty="0">
                <a:latin typeface="Times New Roman"/>
                <a:cs typeface="Times New Roman"/>
              </a:rPr>
              <a:t>Shifts/Rotates</a:t>
            </a:r>
            <a:endParaRPr sz="1000">
              <a:latin typeface="Times New Roman"/>
              <a:cs typeface="Times New Roman"/>
            </a:endParaRPr>
          </a:p>
          <a:p>
            <a:pPr marL="182880" indent="-171450">
              <a:lnSpc>
                <a:spcPct val="100000"/>
              </a:lnSpc>
              <a:spcBef>
                <a:spcPts val="885"/>
              </a:spcBef>
              <a:buClr>
                <a:srgbClr val="3E762B"/>
              </a:buClr>
              <a:buFont typeface="Wingdings"/>
              <a:buChar char=""/>
              <a:tabLst>
                <a:tab pos="182880" algn="l"/>
              </a:tabLst>
            </a:pPr>
            <a:r>
              <a:rPr dirty="0"/>
              <a:t>Storage</a:t>
            </a:r>
            <a:r>
              <a:rPr spc="-45" dirty="0"/>
              <a:t> </a:t>
            </a:r>
            <a:r>
              <a:rPr spc="-10" dirty="0"/>
              <a:t>Components</a:t>
            </a:r>
          </a:p>
          <a:p>
            <a:pPr marL="240029" indent="-90170">
              <a:lnSpc>
                <a:spcPct val="100000"/>
              </a:lnSpc>
              <a:spcBef>
                <a:spcPts val="95"/>
              </a:spcBef>
              <a:buFont typeface="Arial MT"/>
              <a:buChar char="•"/>
              <a:tabLst>
                <a:tab pos="240029" algn="l"/>
              </a:tabLst>
            </a:pPr>
            <a:r>
              <a:rPr b="1" spc="-10" dirty="0">
                <a:solidFill>
                  <a:srgbClr val="3E762B"/>
                </a:solidFill>
                <a:latin typeface="Times New Roman"/>
                <a:cs typeface="Times New Roman"/>
              </a:rPr>
              <a:t>Registers</a:t>
            </a:r>
          </a:p>
          <a:p>
            <a:pPr marL="241300" indent="-91440">
              <a:lnSpc>
                <a:spcPct val="100000"/>
              </a:lnSpc>
              <a:spcBef>
                <a:spcPts val="309"/>
              </a:spcBef>
              <a:buClr>
                <a:srgbClr val="3E762B"/>
              </a:buClr>
              <a:buFont typeface="Arial MT"/>
              <a:buChar char="•"/>
              <a:tabLst>
                <a:tab pos="241300" algn="l"/>
              </a:tabLst>
            </a:pPr>
            <a:r>
              <a:rPr sz="1200" spc="-10" dirty="0"/>
              <a:t>Flags</a:t>
            </a:r>
            <a:endParaRPr sz="1200"/>
          </a:p>
          <a:p>
            <a:pPr marL="182880" indent="-171450">
              <a:lnSpc>
                <a:spcPct val="100000"/>
              </a:lnSpc>
              <a:spcBef>
                <a:spcPts val="890"/>
              </a:spcBef>
              <a:buClr>
                <a:srgbClr val="3E762B"/>
              </a:buClr>
              <a:buFont typeface="Wingdings"/>
              <a:buChar char=""/>
              <a:tabLst>
                <a:tab pos="182880" algn="l"/>
              </a:tabLst>
            </a:pPr>
            <a:r>
              <a:rPr dirty="0"/>
              <a:t>Control</a:t>
            </a:r>
            <a:r>
              <a:rPr spc="-50" dirty="0"/>
              <a:t> </a:t>
            </a:r>
            <a:r>
              <a:rPr spc="-10" dirty="0"/>
              <a:t>Components</a:t>
            </a:r>
          </a:p>
          <a:p>
            <a:pPr marL="241300" indent="-91440">
              <a:lnSpc>
                <a:spcPct val="100000"/>
              </a:lnSpc>
              <a:spcBef>
                <a:spcPts val="120"/>
              </a:spcBef>
              <a:buClr>
                <a:srgbClr val="3E762B"/>
              </a:buClr>
              <a:buFont typeface="Arial MT"/>
              <a:buChar char="•"/>
              <a:tabLst>
                <a:tab pos="241300" algn="l"/>
              </a:tabLst>
            </a:pPr>
            <a:r>
              <a:rPr sz="1200" dirty="0"/>
              <a:t>Control</a:t>
            </a:r>
            <a:r>
              <a:rPr sz="1200" spc="-45" dirty="0"/>
              <a:t> </a:t>
            </a:r>
            <a:r>
              <a:rPr sz="1200" spc="-20" dirty="0"/>
              <a:t>Unit</a:t>
            </a:r>
            <a:endParaRPr sz="1200"/>
          </a:p>
          <a:p>
            <a:pPr marL="182880" indent="-171450">
              <a:lnSpc>
                <a:spcPct val="100000"/>
              </a:lnSpc>
              <a:spcBef>
                <a:spcPts val="890"/>
              </a:spcBef>
              <a:buClr>
                <a:srgbClr val="3E762B"/>
              </a:buClr>
              <a:buFont typeface="Wingdings"/>
              <a:buChar char=""/>
              <a:tabLst>
                <a:tab pos="182880" algn="l"/>
              </a:tabLst>
            </a:pPr>
            <a:r>
              <a:rPr dirty="0"/>
              <a:t>Transfer</a:t>
            </a:r>
            <a:r>
              <a:rPr spc="-85" dirty="0"/>
              <a:t> </a:t>
            </a:r>
            <a:r>
              <a:rPr spc="-10" dirty="0"/>
              <a:t>Components</a:t>
            </a:r>
          </a:p>
          <a:p>
            <a:pPr marL="241300" indent="-91440">
              <a:lnSpc>
                <a:spcPct val="100000"/>
              </a:lnSpc>
              <a:spcBef>
                <a:spcPts val="105"/>
              </a:spcBef>
              <a:buClr>
                <a:srgbClr val="3E762B"/>
              </a:buClr>
              <a:buFont typeface="Arial MT"/>
              <a:buChar char="•"/>
              <a:tabLst>
                <a:tab pos="241300" algn="l"/>
              </a:tabLst>
            </a:pPr>
            <a:r>
              <a:rPr sz="1200" spc="-25" dirty="0"/>
              <a:t>Bus</a:t>
            </a:r>
            <a:endParaRPr sz="1200"/>
          </a:p>
        </p:txBody>
      </p:sp>
      <p:pic>
        <p:nvPicPr>
          <p:cNvPr id="4" name="object 4"/>
          <p:cNvPicPr/>
          <p:nvPr/>
        </p:nvPicPr>
        <p:blipFill>
          <a:blip r:embed="rId3" cstate="print"/>
          <a:stretch>
            <a:fillRect/>
          </a:stretch>
        </p:blipFill>
        <p:spPr>
          <a:xfrm>
            <a:off x="3784091" y="2340864"/>
            <a:ext cx="2409443" cy="1737360"/>
          </a:xfrm>
          <a:prstGeom prst="rect">
            <a:avLst/>
          </a:prstGeom>
        </p:spPr>
      </p:pic>
      <p:sp>
        <p:nvSpPr>
          <p:cNvPr id="5" name="object 5"/>
          <p:cNvSpPr txBox="1"/>
          <p:nvPr/>
        </p:nvSpPr>
        <p:spPr>
          <a:xfrm>
            <a:off x="6145657" y="3975861"/>
            <a:ext cx="74930" cy="177800"/>
          </a:xfrm>
          <a:prstGeom prst="rect">
            <a:avLst/>
          </a:prstGeom>
        </p:spPr>
        <p:txBody>
          <a:bodyPr vert="horz" wrap="square" lIns="0" tIns="12065" rIns="0" bIns="0" rtlCol="0">
            <a:spAutoFit/>
          </a:bodyPr>
          <a:lstStyle/>
          <a:p>
            <a:pPr>
              <a:lnSpc>
                <a:spcPct val="100000"/>
              </a:lnSpc>
              <a:spcBef>
                <a:spcPts val="95"/>
              </a:spcBef>
            </a:pPr>
            <a:r>
              <a:rPr sz="1000" b="1" spc="-50" dirty="0">
                <a:solidFill>
                  <a:srgbClr val="3E762B"/>
                </a:solidFill>
                <a:latin typeface="Corbel"/>
                <a:cs typeface="Corbel"/>
              </a:rPr>
              <a:t>5</a:t>
            </a:r>
            <a:endParaRPr sz="1000">
              <a:latin typeface="Corbel"/>
              <a:cs typeface="Corbel"/>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CPU</a:t>
            </a:r>
            <a:r>
              <a:rPr sz="2200" spc="-60" dirty="0">
                <a:latin typeface="Georgia"/>
                <a:cs typeface="Georgia"/>
              </a:rPr>
              <a:t> </a:t>
            </a:r>
            <a:r>
              <a:rPr sz="2200" dirty="0">
                <a:latin typeface="Georgia"/>
                <a:cs typeface="Georgia"/>
              </a:rPr>
              <a:t>with</a:t>
            </a:r>
            <a:r>
              <a:rPr sz="2200" spc="-45" dirty="0">
                <a:latin typeface="Georgia"/>
                <a:cs typeface="Georgia"/>
              </a:rPr>
              <a:t> </a:t>
            </a:r>
            <a:r>
              <a:rPr sz="2200" dirty="0">
                <a:latin typeface="Georgia"/>
                <a:cs typeface="Georgia"/>
              </a:rPr>
              <a:t>System</a:t>
            </a:r>
            <a:r>
              <a:rPr sz="2200" spc="-45" dirty="0">
                <a:latin typeface="Georgia"/>
                <a:cs typeface="Georgia"/>
              </a:rPr>
              <a:t> </a:t>
            </a:r>
            <a:r>
              <a:rPr sz="2200" spc="-25" dirty="0">
                <a:latin typeface="Georgia"/>
                <a:cs typeface="Georgia"/>
              </a:rPr>
              <a:t>Bus</a:t>
            </a:r>
            <a:endParaRPr sz="2200">
              <a:latin typeface="Georgia"/>
              <a:cs typeface="Georgia"/>
            </a:endParaRPr>
          </a:p>
        </p:txBody>
      </p:sp>
      <p:pic>
        <p:nvPicPr>
          <p:cNvPr id="11" name="object 11"/>
          <p:cNvPicPr/>
          <p:nvPr/>
        </p:nvPicPr>
        <p:blipFill>
          <a:blip r:embed="rId4" cstate="print"/>
          <a:stretch>
            <a:fillRect/>
          </a:stretch>
        </p:blipFill>
        <p:spPr>
          <a:xfrm>
            <a:off x="1889760" y="5632703"/>
            <a:ext cx="3078480" cy="2468880"/>
          </a:xfrm>
          <a:prstGeom prst="rect">
            <a:avLst/>
          </a:prstGeom>
        </p:spPr>
      </p:pic>
      <p:sp>
        <p:nvSpPr>
          <p:cNvPr id="12" name="object 12"/>
          <p:cNvSpPr txBox="1"/>
          <p:nvPr/>
        </p:nvSpPr>
        <p:spPr>
          <a:xfrm>
            <a:off x="6125336" y="7984837"/>
            <a:ext cx="95250" cy="152400"/>
          </a:xfrm>
          <a:prstGeom prst="rect">
            <a:avLst/>
          </a:prstGeom>
        </p:spPr>
        <p:txBody>
          <a:bodyPr vert="horz" wrap="square" lIns="0" tIns="0" rIns="0" bIns="0" rtlCol="0">
            <a:spAutoFit/>
          </a:bodyPr>
          <a:lstStyle/>
          <a:p>
            <a:pPr marL="12700">
              <a:lnSpc>
                <a:spcPts val="1040"/>
              </a:lnSpc>
            </a:pPr>
            <a:r>
              <a:rPr sz="1000" b="1" spc="-50" dirty="0">
                <a:solidFill>
                  <a:srgbClr val="3E762B"/>
                </a:solidFill>
                <a:latin typeface="Corbel"/>
                <a:cs typeface="Corbel"/>
              </a:rPr>
              <a:t>6</a:t>
            </a:r>
            <a:endParaRPr sz="1000">
              <a:latin typeface="Corbel"/>
              <a:cs typeface="Corbel"/>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40180" y="1656588"/>
            <a:ext cx="2528316" cy="2285999"/>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Abstraction</a:t>
            </a:r>
            <a:r>
              <a:rPr sz="2200" spc="-90" dirty="0">
                <a:latin typeface="Georgia"/>
                <a:cs typeface="Georgia"/>
              </a:rPr>
              <a:t> </a:t>
            </a:r>
            <a:r>
              <a:rPr sz="2200" spc="-10" dirty="0">
                <a:latin typeface="Georgia"/>
                <a:cs typeface="Georgia"/>
              </a:rPr>
              <a:t>layers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60"/>
              </a:spcBef>
            </a:pPr>
            <a:endParaRPr sz="2200">
              <a:latin typeface="Georgia"/>
              <a:cs typeface="Georgia"/>
            </a:endParaRPr>
          </a:p>
          <a:p>
            <a:pPr marR="144145" algn="r">
              <a:lnSpc>
                <a:spcPct val="100000"/>
              </a:lnSpc>
              <a:spcBef>
                <a:spcPts val="5"/>
              </a:spcBef>
            </a:pPr>
            <a:r>
              <a:rPr sz="1000" b="1" spc="-50" dirty="0">
                <a:solidFill>
                  <a:srgbClr val="3E762B"/>
                </a:solidFill>
                <a:latin typeface="Corbel"/>
                <a:cs typeface="Corbel"/>
              </a:rPr>
              <a:t>7</a:t>
            </a:r>
            <a:endParaRPr sz="1000">
              <a:latin typeface="Corbel"/>
              <a:cs typeface="Corbel"/>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Abstraction</a:t>
            </a:r>
            <a:r>
              <a:rPr sz="2200" spc="-90" dirty="0">
                <a:latin typeface="Georgia"/>
                <a:cs typeface="Georgia"/>
              </a:rPr>
              <a:t> </a:t>
            </a:r>
            <a:r>
              <a:rPr sz="2200" spc="-10" dirty="0">
                <a:latin typeface="Georgia"/>
                <a:cs typeface="Georgia"/>
              </a:rPr>
              <a:t>layers</a:t>
            </a:r>
            <a:endParaRPr sz="2200">
              <a:latin typeface="Georgia"/>
              <a:cs typeface="Georgia"/>
            </a:endParaRPr>
          </a:p>
        </p:txBody>
      </p:sp>
      <p:pic>
        <p:nvPicPr>
          <p:cNvPr id="9" name="object 9"/>
          <p:cNvPicPr/>
          <p:nvPr/>
        </p:nvPicPr>
        <p:blipFill>
          <a:blip r:embed="rId3" cstate="print"/>
          <a:stretch>
            <a:fillRect/>
          </a:stretch>
        </p:blipFill>
        <p:spPr>
          <a:xfrm>
            <a:off x="1429511" y="5626608"/>
            <a:ext cx="3681984" cy="2331719"/>
          </a:xfrm>
          <a:prstGeom prst="rect">
            <a:avLst/>
          </a:prstGeom>
        </p:spPr>
      </p:pic>
      <p:sp>
        <p:nvSpPr>
          <p:cNvPr id="10" name="object 10"/>
          <p:cNvSpPr txBox="1"/>
          <p:nvPr/>
        </p:nvSpPr>
        <p:spPr>
          <a:xfrm>
            <a:off x="6125336" y="7984837"/>
            <a:ext cx="95250" cy="152400"/>
          </a:xfrm>
          <a:prstGeom prst="rect">
            <a:avLst/>
          </a:prstGeom>
        </p:spPr>
        <p:txBody>
          <a:bodyPr vert="horz" wrap="square" lIns="0" tIns="0" rIns="0" bIns="0" rtlCol="0">
            <a:spAutoFit/>
          </a:bodyPr>
          <a:lstStyle/>
          <a:p>
            <a:pPr marL="12700">
              <a:lnSpc>
                <a:spcPts val="1040"/>
              </a:lnSpc>
            </a:pPr>
            <a:r>
              <a:rPr sz="1000" b="1" spc="-50" dirty="0">
                <a:solidFill>
                  <a:srgbClr val="3E762B"/>
                </a:solidFill>
                <a:latin typeface="Corbel"/>
                <a:cs typeface="Corbel"/>
              </a:rPr>
              <a:t>6</a:t>
            </a:r>
            <a:endParaRPr sz="1000">
              <a:latin typeface="Corbel"/>
              <a:cs typeface="Corbel"/>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38036" y="4020987"/>
            <a:ext cx="69850" cy="127000"/>
          </a:xfrm>
          <a:prstGeom prst="rect">
            <a:avLst/>
          </a:prstGeom>
        </p:spPr>
        <p:txBody>
          <a:bodyPr vert="horz" wrap="square" lIns="0" tIns="0" rIns="0" bIns="0" rtlCol="0">
            <a:spAutoFit/>
          </a:bodyPr>
          <a:lstStyle/>
          <a:p>
            <a:pPr>
              <a:lnSpc>
                <a:spcPts val="940"/>
              </a:lnSpc>
            </a:pPr>
            <a:r>
              <a:rPr sz="1000" b="1" spc="-50" dirty="0">
                <a:solidFill>
                  <a:srgbClr val="3E762B"/>
                </a:solidFill>
                <a:latin typeface="Corbel"/>
                <a:cs typeface="Corbel"/>
              </a:rPr>
              <a:t>9</a:t>
            </a:r>
            <a:endParaRPr sz="1000">
              <a:latin typeface="Corbel"/>
              <a:cs typeface="Corbel"/>
            </a:endParaRPr>
          </a:p>
        </p:txBody>
      </p:sp>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Abstraction</a:t>
            </a:r>
            <a:r>
              <a:rPr sz="2200" spc="-90" dirty="0">
                <a:latin typeface="Georgia"/>
                <a:cs typeface="Georgia"/>
              </a:rPr>
              <a:t> </a:t>
            </a:r>
            <a:r>
              <a:rPr sz="2200" spc="-10" dirty="0">
                <a:latin typeface="Georgia"/>
                <a:cs typeface="Georgia"/>
              </a:rPr>
              <a:t>layers</a:t>
            </a:r>
            <a:endParaRPr sz="2200">
              <a:latin typeface="Georgia"/>
              <a:cs typeface="Georgia"/>
            </a:endParaRPr>
          </a:p>
          <a:p>
            <a:pPr marL="431800" indent="-169545">
              <a:lnSpc>
                <a:spcPct val="100000"/>
              </a:lnSpc>
              <a:spcBef>
                <a:spcPts val="1700"/>
              </a:spcBef>
              <a:buClr>
                <a:srgbClr val="3E762B"/>
              </a:buClr>
              <a:buFont typeface="Wingdings"/>
              <a:buChar char=""/>
              <a:tabLst>
                <a:tab pos="431800" algn="l"/>
              </a:tabLst>
            </a:pPr>
            <a:r>
              <a:rPr sz="1200" dirty="0">
                <a:latin typeface="Times New Roman"/>
                <a:cs typeface="Times New Roman"/>
              </a:rPr>
              <a:t>ISA:</a:t>
            </a:r>
            <a:r>
              <a:rPr sz="1200" spc="-20" dirty="0">
                <a:latin typeface="Times New Roman"/>
                <a:cs typeface="Times New Roman"/>
              </a:rPr>
              <a:t> </a:t>
            </a:r>
            <a:r>
              <a:rPr sz="1200" dirty="0">
                <a:latin typeface="Times New Roman"/>
                <a:cs typeface="Times New Roman"/>
              </a:rPr>
              <a:t>definition</a:t>
            </a:r>
            <a:r>
              <a:rPr sz="1200" spc="-50" dirty="0">
                <a:latin typeface="Times New Roman"/>
                <a:cs typeface="Times New Roman"/>
              </a:rPr>
              <a:t> </a:t>
            </a:r>
            <a:r>
              <a:rPr sz="1200" dirty="0">
                <a:latin typeface="Times New Roman"/>
                <a:cs typeface="Times New Roman"/>
              </a:rPr>
              <a:t>between</a:t>
            </a:r>
            <a:r>
              <a:rPr sz="1200" spc="-30" dirty="0">
                <a:latin typeface="Times New Roman"/>
                <a:cs typeface="Times New Roman"/>
              </a:rPr>
              <a:t> </a:t>
            </a:r>
            <a:r>
              <a:rPr sz="1200" dirty="0">
                <a:latin typeface="Times New Roman"/>
                <a:cs typeface="Times New Roman"/>
              </a:rPr>
              <a:t>software</a:t>
            </a:r>
            <a:r>
              <a:rPr sz="1200" spc="-35" dirty="0">
                <a:latin typeface="Times New Roman"/>
                <a:cs typeface="Times New Roman"/>
              </a:rPr>
              <a:t> </a:t>
            </a:r>
            <a:r>
              <a:rPr sz="1200" dirty="0">
                <a:latin typeface="Times New Roman"/>
                <a:cs typeface="Times New Roman"/>
              </a:rPr>
              <a:t>and</a:t>
            </a:r>
            <a:r>
              <a:rPr sz="1200" spc="-35" dirty="0">
                <a:latin typeface="Times New Roman"/>
                <a:cs typeface="Times New Roman"/>
              </a:rPr>
              <a:t> </a:t>
            </a:r>
            <a:r>
              <a:rPr sz="1200" spc="-10" dirty="0">
                <a:latin typeface="Times New Roman"/>
                <a:cs typeface="Times New Roman"/>
              </a:rPr>
              <a:t>hardware</a:t>
            </a:r>
            <a:endParaRPr sz="1200">
              <a:latin typeface="Times New Roman"/>
              <a:cs typeface="Times New Roman"/>
            </a:endParaRPr>
          </a:p>
          <a:p>
            <a:pPr marL="431800" indent="-169545">
              <a:lnSpc>
                <a:spcPct val="100000"/>
              </a:lnSpc>
              <a:spcBef>
                <a:spcPts val="555"/>
              </a:spcBef>
              <a:buClr>
                <a:srgbClr val="3E762B"/>
              </a:buClr>
              <a:buFont typeface="Wingdings"/>
              <a:buChar char=""/>
              <a:tabLst>
                <a:tab pos="431800" algn="l"/>
              </a:tabLst>
            </a:pPr>
            <a:r>
              <a:rPr sz="1200" spc="-20" dirty="0">
                <a:latin typeface="Times New Roman"/>
                <a:cs typeface="Times New Roman"/>
              </a:rPr>
              <a:t>RTL:</a:t>
            </a:r>
            <a:r>
              <a:rPr sz="1200" spc="-35" dirty="0">
                <a:latin typeface="Times New Roman"/>
                <a:cs typeface="Times New Roman"/>
              </a:rPr>
              <a:t> </a:t>
            </a:r>
            <a:r>
              <a:rPr sz="1200" spc="-10" dirty="0">
                <a:latin typeface="Times New Roman"/>
                <a:cs typeface="Times New Roman"/>
              </a:rPr>
              <a:t>Hardware</a:t>
            </a:r>
            <a:endParaRPr sz="1200">
              <a:latin typeface="Times New Roman"/>
              <a:cs typeface="Times New Roman"/>
            </a:endParaRPr>
          </a:p>
          <a:p>
            <a:pPr marL="431800" indent="-169545">
              <a:lnSpc>
                <a:spcPct val="100000"/>
              </a:lnSpc>
              <a:spcBef>
                <a:spcPts val="550"/>
              </a:spcBef>
              <a:buClr>
                <a:srgbClr val="3E762B"/>
              </a:buClr>
              <a:buFont typeface="Wingdings"/>
              <a:buChar char=""/>
              <a:tabLst>
                <a:tab pos="431800" algn="l"/>
              </a:tabLst>
            </a:pPr>
            <a:r>
              <a:rPr sz="1200" spc="-10" dirty="0">
                <a:latin typeface="Times New Roman"/>
                <a:cs typeface="Times New Roman"/>
              </a:rPr>
              <a:t>Microarchitecture:</a:t>
            </a:r>
            <a:r>
              <a:rPr sz="1200" spc="55" dirty="0">
                <a:latin typeface="Times New Roman"/>
                <a:cs typeface="Times New Roman"/>
              </a:rPr>
              <a:t> </a:t>
            </a:r>
            <a:r>
              <a:rPr sz="1200" spc="-10" dirty="0">
                <a:latin typeface="Times New Roman"/>
                <a:cs typeface="Times New Roman"/>
              </a:rPr>
              <a:t>Microoperations</a:t>
            </a:r>
            <a:endParaRPr sz="1200">
              <a:latin typeface="Times New Roman"/>
              <a:cs typeface="Times New Roman"/>
            </a:endParaRPr>
          </a:p>
        </p:txBody>
      </p:sp>
      <p:pic>
        <p:nvPicPr>
          <p:cNvPr id="4" name="object 4"/>
          <p:cNvPicPr/>
          <p:nvPr/>
        </p:nvPicPr>
        <p:blipFill>
          <a:blip r:embed="rId3" cstate="print"/>
          <a:stretch>
            <a:fillRect/>
          </a:stretch>
        </p:blipFill>
        <p:spPr>
          <a:xfrm>
            <a:off x="3736847" y="1844039"/>
            <a:ext cx="2519172" cy="2331719"/>
          </a:xfrm>
          <a:prstGeom prst="rect">
            <a:avLst/>
          </a:prstGeom>
        </p:spPr>
      </p:pic>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9" name="object 9"/>
          <p:cNvSpPr txBox="1"/>
          <p:nvPr/>
        </p:nvSpPr>
        <p:spPr>
          <a:xfrm>
            <a:off x="496823" y="4966715"/>
            <a:ext cx="5862955" cy="3188335"/>
          </a:xfrm>
          <a:prstGeom prst="rect">
            <a:avLst/>
          </a:prstGeom>
        </p:spPr>
        <p:txBody>
          <a:bodyPr vert="horz" wrap="square" lIns="0" tIns="100965" rIns="0" bIns="0" rtlCol="0">
            <a:spAutoFit/>
          </a:bodyPr>
          <a:lstStyle/>
          <a:p>
            <a:pPr marL="228600">
              <a:lnSpc>
                <a:spcPct val="100000"/>
              </a:lnSpc>
              <a:spcBef>
                <a:spcPts val="795"/>
              </a:spcBef>
            </a:pPr>
            <a:r>
              <a:rPr sz="2200" spc="-10" dirty="0">
                <a:latin typeface="Georgia"/>
                <a:cs typeface="Georgia"/>
              </a:rPr>
              <a:t>Instruction</a:t>
            </a:r>
            <a:r>
              <a:rPr sz="2200" spc="-25" dirty="0">
                <a:latin typeface="Georgia"/>
                <a:cs typeface="Georgia"/>
              </a:rPr>
              <a:t> </a:t>
            </a:r>
            <a:r>
              <a:rPr sz="2200" dirty="0">
                <a:latin typeface="Georgia"/>
                <a:cs typeface="Georgia"/>
              </a:rPr>
              <a:t>Set</a:t>
            </a:r>
            <a:r>
              <a:rPr sz="2200" spc="-50" dirty="0">
                <a:latin typeface="Georgia"/>
                <a:cs typeface="Georgia"/>
              </a:rPr>
              <a:t> </a:t>
            </a:r>
            <a:r>
              <a:rPr sz="2200" spc="-10" dirty="0">
                <a:latin typeface="Georgia"/>
                <a:cs typeface="Georgia"/>
              </a:rPr>
              <a:t>Architecture</a:t>
            </a:r>
            <a:r>
              <a:rPr sz="2200" spc="-40" dirty="0">
                <a:latin typeface="Georgia"/>
                <a:cs typeface="Georgia"/>
              </a:rPr>
              <a:t> </a:t>
            </a:r>
            <a:r>
              <a:rPr sz="2200" spc="-10" dirty="0">
                <a:latin typeface="Georgia"/>
                <a:cs typeface="Georgia"/>
              </a:rPr>
              <a:t>(ISA)</a:t>
            </a:r>
            <a:endParaRPr sz="2200" dirty="0">
              <a:latin typeface="Georgia"/>
              <a:cs typeface="Georgia"/>
            </a:endParaRPr>
          </a:p>
          <a:p>
            <a:pPr marL="432434" indent="-171450">
              <a:lnSpc>
                <a:spcPct val="100000"/>
              </a:lnSpc>
              <a:spcBef>
                <a:spcPts val="1945"/>
              </a:spcBef>
              <a:buFont typeface="Wingdings"/>
              <a:buChar char=""/>
              <a:tabLst>
                <a:tab pos="432434" algn="l"/>
              </a:tabLst>
            </a:pPr>
            <a:r>
              <a:rPr sz="1400" b="1" dirty="0">
                <a:solidFill>
                  <a:srgbClr val="3E762B"/>
                </a:solidFill>
                <a:latin typeface="Times New Roman"/>
                <a:cs typeface="Times New Roman"/>
              </a:rPr>
              <a:t>ISA</a:t>
            </a:r>
            <a:r>
              <a:rPr sz="1400" b="1" spc="-75" dirty="0">
                <a:solidFill>
                  <a:srgbClr val="3E762B"/>
                </a:solidFill>
                <a:latin typeface="Times New Roman"/>
                <a:cs typeface="Times New Roman"/>
              </a:rPr>
              <a:t> </a:t>
            </a:r>
            <a:r>
              <a:rPr sz="1400" b="1" dirty="0">
                <a:solidFill>
                  <a:srgbClr val="3E762B"/>
                </a:solidFill>
                <a:latin typeface="Times New Roman"/>
                <a:cs typeface="Times New Roman"/>
              </a:rPr>
              <a:t>is</a:t>
            </a:r>
            <a:r>
              <a:rPr sz="1400" b="1" spc="-10" dirty="0">
                <a:solidFill>
                  <a:srgbClr val="3E762B"/>
                </a:solidFill>
                <a:latin typeface="Times New Roman"/>
                <a:cs typeface="Times New Roman"/>
              </a:rPr>
              <a:t> </a:t>
            </a:r>
            <a:r>
              <a:rPr sz="1400" b="1" dirty="0">
                <a:solidFill>
                  <a:srgbClr val="3E762B"/>
                </a:solidFill>
                <a:latin typeface="Times New Roman"/>
                <a:cs typeface="Times New Roman"/>
              </a:rPr>
              <a:t>the</a:t>
            </a:r>
            <a:r>
              <a:rPr sz="1400" b="1" spc="15" dirty="0">
                <a:solidFill>
                  <a:srgbClr val="3E762B"/>
                </a:solidFill>
                <a:latin typeface="Times New Roman"/>
                <a:cs typeface="Times New Roman"/>
              </a:rPr>
              <a:t> </a:t>
            </a:r>
            <a:r>
              <a:rPr sz="1400" b="1" spc="-10" dirty="0">
                <a:solidFill>
                  <a:srgbClr val="3E762B"/>
                </a:solidFill>
                <a:latin typeface="Times New Roman"/>
                <a:cs typeface="Times New Roman"/>
              </a:rPr>
              <a:t>hardware/software</a:t>
            </a:r>
            <a:r>
              <a:rPr sz="1400" b="1" spc="-30" dirty="0">
                <a:solidFill>
                  <a:srgbClr val="3E762B"/>
                </a:solidFill>
                <a:latin typeface="Times New Roman"/>
                <a:cs typeface="Times New Roman"/>
              </a:rPr>
              <a:t> </a:t>
            </a:r>
            <a:r>
              <a:rPr sz="1400" b="1" spc="-10" dirty="0">
                <a:solidFill>
                  <a:srgbClr val="3E762B"/>
                </a:solidFill>
                <a:latin typeface="Times New Roman"/>
                <a:cs typeface="Times New Roman"/>
              </a:rPr>
              <a:t>interface</a:t>
            </a:r>
            <a:endParaRPr sz="1400" dirty="0">
              <a:latin typeface="Times New Roman"/>
              <a:cs typeface="Times New Roman"/>
            </a:endParaRPr>
          </a:p>
          <a:p>
            <a:pPr marL="662305" lvl="1" indent="-171450">
              <a:lnSpc>
                <a:spcPct val="100000"/>
              </a:lnSpc>
              <a:spcBef>
                <a:spcPts val="610"/>
              </a:spcBef>
              <a:buClr>
                <a:srgbClr val="3E762B"/>
              </a:buClr>
              <a:buFont typeface="Wingdings"/>
              <a:buChar char=""/>
              <a:tabLst>
                <a:tab pos="662305" algn="l"/>
              </a:tabLst>
            </a:pPr>
            <a:r>
              <a:rPr sz="1200" dirty="0">
                <a:latin typeface="Times New Roman"/>
                <a:cs typeface="Times New Roman"/>
              </a:rPr>
              <a:t>Define</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instruction</a:t>
            </a:r>
            <a:r>
              <a:rPr sz="1200" spc="-45" dirty="0">
                <a:latin typeface="Times New Roman"/>
                <a:cs typeface="Times New Roman"/>
              </a:rPr>
              <a:t> </a:t>
            </a:r>
            <a:r>
              <a:rPr sz="1200" dirty="0">
                <a:latin typeface="Times New Roman"/>
                <a:cs typeface="Times New Roman"/>
              </a:rPr>
              <a:t>set:</a:t>
            </a:r>
            <a:r>
              <a:rPr sz="1200" spc="-40" dirty="0">
                <a:latin typeface="Times New Roman"/>
                <a:cs typeface="Times New Roman"/>
              </a:rPr>
              <a:t> </a:t>
            </a:r>
            <a:r>
              <a:rPr sz="1200" dirty="0">
                <a:latin typeface="Times New Roman"/>
                <a:cs typeface="Times New Roman"/>
              </a:rPr>
              <a:t>all</a:t>
            </a:r>
            <a:r>
              <a:rPr sz="1200" spc="-3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instructions</a:t>
            </a:r>
            <a:r>
              <a:rPr sz="1200" spc="-45"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processor</a:t>
            </a:r>
            <a:r>
              <a:rPr sz="1200" spc="-25"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spc="-10" dirty="0">
                <a:latin typeface="Times New Roman"/>
                <a:cs typeface="Times New Roman"/>
              </a:rPr>
              <a:t>execute</a:t>
            </a:r>
            <a:endParaRPr sz="1200" dirty="0">
              <a:latin typeface="Times New Roman"/>
              <a:cs typeface="Times New Roman"/>
            </a:endParaRPr>
          </a:p>
          <a:p>
            <a:pPr marL="662305" lvl="1" indent="-171450">
              <a:lnSpc>
                <a:spcPct val="100000"/>
              </a:lnSpc>
              <a:spcBef>
                <a:spcPts val="600"/>
              </a:spcBef>
              <a:buClr>
                <a:srgbClr val="3E762B"/>
              </a:buClr>
              <a:buFont typeface="Wingdings"/>
              <a:buChar char=""/>
              <a:tabLst>
                <a:tab pos="662305" algn="l"/>
              </a:tabLst>
            </a:pPr>
            <a:r>
              <a:rPr sz="1200" dirty="0">
                <a:latin typeface="Times New Roman"/>
                <a:cs typeface="Times New Roman"/>
              </a:rPr>
              <a:t>Defines</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set</a:t>
            </a:r>
            <a:r>
              <a:rPr sz="1200" spc="-35" dirty="0">
                <a:latin typeface="Times New Roman"/>
                <a:cs typeface="Times New Roman"/>
              </a:rPr>
              <a:t> </a:t>
            </a:r>
            <a:r>
              <a:rPr sz="1200" dirty="0">
                <a:latin typeface="Times New Roman"/>
                <a:cs typeface="Times New Roman"/>
              </a:rPr>
              <a:t>of</a:t>
            </a:r>
            <a:r>
              <a:rPr sz="1200" spc="-40" dirty="0">
                <a:latin typeface="Times New Roman"/>
                <a:cs typeface="Times New Roman"/>
              </a:rPr>
              <a:t> </a:t>
            </a:r>
            <a:r>
              <a:rPr sz="1200" dirty="0">
                <a:latin typeface="Times New Roman"/>
                <a:cs typeface="Times New Roman"/>
              </a:rPr>
              <a:t>programmer</a:t>
            </a:r>
            <a:r>
              <a:rPr sz="1200" spc="-20" dirty="0">
                <a:latin typeface="Times New Roman"/>
                <a:cs typeface="Times New Roman"/>
              </a:rPr>
              <a:t> </a:t>
            </a:r>
            <a:r>
              <a:rPr sz="1200" dirty="0">
                <a:latin typeface="Times New Roman"/>
                <a:cs typeface="Times New Roman"/>
              </a:rPr>
              <a:t>visible</a:t>
            </a:r>
            <a:r>
              <a:rPr sz="1200" spc="-50" dirty="0">
                <a:latin typeface="Times New Roman"/>
                <a:cs typeface="Times New Roman"/>
              </a:rPr>
              <a:t> </a:t>
            </a:r>
            <a:r>
              <a:rPr sz="1200" spc="-10" dirty="0">
                <a:latin typeface="Times New Roman"/>
                <a:cs typeface="Times New Roman"/>
              </a:rPr>
              <a:t>state</a:t>
            </a:r>
            <a:endParaRPr sz="1200" dirty="0">
              <a:latin typeface="Times New Roman"/>
              <a:cs typeface="Times New Roman"/>
            </a:endParaRPr>
          </a:p>
          <a:p>
            <a:pPr marL="662305" lvl="1" indent="-171450">
              <a:lnSpc>
                <a:spcPct val="100000"/>
              </a:lnSpc>
              <a:spcBef>
                <a:spcPts val="600"/>
              </a:spcBef>
              <a:buClr>
                <a:srgbClr val="3E762B"/>
              </a:buClr>
              <a:buFont typeface="Wingdings"/>
              <a:buChar char=""/>
              <a:tabLst>
                <a:tab pos="662305" algn="l"/>
              </a:tabLst>
            </a:pPr>
            <a:r>
              <a:rPr sz="1200" dirty="0">
                <a:latin typeface="Times New Roman"/>
                <a:cs typeface="Times New Roman"/>
              </a:rPr>
              <a:t>Defines</a:t>
            </a:r>
            <a:r>
              <a:rPr sz="1200" spc="-35" dirty="0">
                <a:latin typeface="Times New Roman"/>
                <a:cs typeface="Times New Roman"/>
              </a:rPr>
              <a:t> </a:t>
            </a:r>
            <a:r>
              <a:rPr sz="1200" dirty="0">
                <a:latin typeface="Times New Roman"/>
                <a:cs typeface="Times New Roman"/>
              </a:rPr>
              <a:t>data</a:t>
            </a:r>
            <a:r>
              <a:rPr sz="1200" spc="-45" dirty="0">
                <a:latin typeface="Times New Roman"/>
                <a:cs typeface="Times New Roman"/>
              </a:rPr>
              <a:t> </a:t>
            </a:r>
            <a:r>
              <a:rPr sz="1200" spc="-20" dirty="0">
                <a:latin typeface="Times New Roman"/>
                <a:cs typeface="Times New Roman"/>
              </a:rPr>
              <a:t>types</a:t>
            </a:r>
            <a:endParaRPr sz="1200" dirty="0">
              <a:latin typeface="Times New Roman"/>
              <a:cs typeface="Times New Roman"/>
            </a:endParaRPr>
          </a:p>
          <a:p>
            <a:pPr marL="662940" lvl="1" indent="-172085">
              <a:lnSpc>
                <a:spcPct val="100000"/>
              </a:lnSpc>
              <a:spcBef>
                <a:spcPts val="600"/>
              </a:spcBef>
              <a:buClr>
                <a:srgbClr val="3E762B"/>
              </a:buClr>
              <a:buFont typeface="Wingdings"/>
              <a:buChar char=""/>
              <a:tabLst>
                <a:tab pos="662940" algn="l"/>
              </a:tabLst>
            </a:pPr>
            <a:r>
              <a:rPr sz="1200" dirty="0">
                <a:latin typeface="Times New Roman"/>
                <a:cs typeface="Times New Roman"/>
              </a:rPr>
              <a:t>Defines</a:t>
            </a:r>
            <a:r>
              <a:rPr sz="1200" spc="-20" dirty="0">
                <a:latin typeface="Times New Roman"/>
                <a:cs typeface="Times New Roman"/>
              </a:rPr>
              <a:t> </a:t>
            </a:r>
            <a:r>
              <a:rPr sz="1200" spc="-10" dirty="0">
                <a:latin typeface="Times New Roman"/>
                <a:cs typeface="Times New Roman"/>
              </a:rPr>
              <a:t>instruction</a:t>
            </a:r>
            <a:r>
              <a:rPr sz="1200" spc="-35" dirty="0">
                <a:latin typeface="Times New Roman"/>
                <a:cs typeface="Times New Roman"/>
              </a:rPr>
              <a:t> </a:t>
            </a:r>
            <a:r>
              <a:rPr sz="1200" dirty="0">
                <a:latin typeface="Times New Roman"/>
                <a:cs typeface="Times New Roman"/>
              </a:rPr>
              <a:t>semantics</a:t>
            </a:r>
            <a:r>
              <a:rPr sz="1200" spc="-30" dirty="0">
                <a:latin typeface="Times New Roman"/>
                <a:cs typeface="Times New Roman"/>
              </a:rPr>
              <a:t> </a:t>
            </a:r>
            <a:r>
              <a:rPr sz="1200" dirty="0">
                <a:latin typeface="Times New Roman"/>
                <a:cs typeface="Times New Roman"/>
              </a:rPr>
              <a:t>(operations,</a:t>
            </a:r>
            <a:r>
              <a:rPr sz="1200" spc="-25" dirty="0">
                <a:latin typeface="Times New Roman"/>
                <a:cs typeface="Times New Roman"/>
              </a:rPr>
              <a:t> </a:t>
            </a:r>
            <a:r>
              <a:rPr sz="1200" spc="-10" dirty="0">
                <a:latin typeface="Times New Roman"/>
                <a:cs typeface="Times New Roman"/>
              </a:rPr>
              <a:t>sequencing)</a:t>
            </a:r>
            <a:endParaRPr sz="1200" dirty="0">
              <a:latin typeface="Times New Roman"/>
              <a:cs typeface="Times New Roman"/>
            </a:endParaRPr>
          </a:p>
          <a:p>
            <a:pPr marL="662305" lvl="1" indent="-171450">
              <a:lnSpc>
                <a:spcPct val="100000"/>
              </a:lnSpc>
              <a:spcBef>
                <a:spcPts val="600"/>
              </a:spcBef>
              <a:buClr>
                <a:srgbClr val="3E762B"/>
              </a:buClr>
              <a:buFont typeface="Wingdings"/>
              <a:buChar char=""/>
              <a:tabLst>
                <a:tab pos="662305" algn="l"/>
              </a:tabLst>
            </a:pPr>
            <a:r>
              <a:rPr sz="1200" dirty="0">
                <a:latin typeface="Times New Roman"/>
                <a:cs typeface="Times New Roman"/>
              </a:rPr>
              <a:t>Defines</a:t>
            </a:r>
            <a:r>
              <a:rPr sz="1200" spc="-35" dirty="0">
                <a:latin typeface="Times New Roman"/>
                <a:cs typeface="Times New Roman"/>
              </a:rPr>
              <a:t> </a:t>
            </a:r>
            <a:r>
              <a:rPr sz="1200" dirty="0">
                <a:latin typeface="Times New Roman"/>
                <a:cs typeface="Times New Roman"/>
              </a:rPr>
              <a:t>instruction</a:t>
            </a:r>
            <a:r>
              <a:rPr sz="1200" spc="-60" dirty="0">
                <a:latin typeface="Times New Roman"/>
                <a:cs typeface="Times New Roman"/>
              </a:rPr>
              <a:t> </a:t>
            </a:r>
            <a:r>
              <a:rPr sz="1200" dirty="0">
                <a:latin typeface="Times New Roman"/>
                <a:cs typeface="Times New Roman"/>
              </a:rPr>
              <a:t>format</a:t>
            </a:r>
            <a:r>
              <a:rPr sz="1200" spc="-40" dirty="0">
                <a:latin typeface="Times New Roman"/>
                <a:cs typeface="Times New Roman"/>
              </a:rPr>
              <a:t> </a:t>
            </a:r>
            <a:r>
              <a:rPr sz="1200" dirty="0">
                <a:latin typeface="Times New Roman"/>
                <a:cs typeface="Times New Roman"/>
              </a:rPr>
              <a:t>(bit</a:t>
            </a:r>
            <a:r>
              <a:rPr sz="1200" spc="-45" dirty="0">
                <a:latin typeface="Times New Roman"/>
                <a:cs typeface="Times New Roman"/>
              </a:rPr>
              <a:t> </a:t>
            </a:r>
            <a:r>
              <a:rPr sz="1200" spc="-10" dirty="0">
                <a:latin typeface="Times New Roman"/>
                <a:cs typeface="Times New Roman"/>
              </a:rPr>
              <a:t>encoding)</a:t>
            </a: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85"/>
              </a:spcBef>
            </a:pPr>
            <a:endParaRPr sz="1200" dirty="0">
              <a:latin typeface="Times New Roman"/>
              <a:cs typeface="Times New Roman"/>
            </a:endParaRPr>
          </a:p>
          <a:p>
            <a:pPr marL="262255">
              <a:lnSpc>
                <a:spcPct val="100000"/>
              </a:lnSpc>
            </a:pPr>
            <a:r>
              <a:rPr sz="1200" b="1" i="1" dirty="0">
                <a:latin typeface="Times New Roman"/>
                <a:cs typeface="Times New Roman"/>
              </a:rPr>
              <a:t>ISA</a:t>
            </a:r>
            <a:r>
              <a:rPr sz="1200" b="1" i="1" spc="-75" dirty="0">
                <a:latin typeface="Times New Roman"/>
                <a:cs typeface="Times New Roman"/>
              </a:rPr>
              <a:t> </a:t>
            </a:r>
            <a:r>
              <a:rPr sz="1200" b="1" i="1" dirty="0">
                <a:latin typeface="Times New Roman"/>
                <a:cs typeface="Times New Roman"/>
              </a:rPr>
              <a:t>must</a:t>
            </a:r>
            <a:r>
              <a:rPr sz="1200" b="1" i="1" spc="-45" dirty="0">
                <a:latin typeface="Times New Roman"/>
                <a:cs typeface="Times New Roman"/>
              </a:rPr>
              <a:t> </a:t>
            </a:r>
            <a:r>
              <a:rPr sz="1200" b="1" i="1" dirty="0">
                <a:latin typeface="Times New Roman"/>
                <a:cs typeface="Times New Roman"/>
              </a:rPr>
              <a:t>satisfy</a:t>
            </a:r>
            <a:r>
              <a:rPr sz="1200" b="1" i="1" spc="-20" dirty="0">
                <a:latin typeface="Times New Roman"/>
                <a:cs typeface="Times New Roman"/>
              </a:rPr>
              <a:t> </a:t>
            </a:r>
            <a:r>
              <a:rPr sz="1200" b="1" i="1" dirty="0">
                <a:latin typeface="Times New Roman"/>
                <a:cs typeface="Times New Roman"/>
              </a:rPr>
              <a:t>the</a:t>
            </a:r>
            <a:r>
              <a:rPr sz="1200" b="1" i="1" spc="-35" dirty="0">
                <a:latin typeface="Times New Roman"/>
                <a:cs typeface="Times New Roman"/>
              </a:rPr>
              <a:t> </a:t>
            </a:r>
            <a:r>
              <a:rPr sz="1200" b="1" i="1" dirty="0">
                <a:latin typeface="Times New Roman"/>
                <a:cs typeface="Times New Roman"/>
              </a:rPr>
              <a:t>needs of</a:t>
            </a:r>
            <a:r>
              <a:rPr sz="1200" b="1" i="1" spc="-15" dirty="0">
                <a:latin typeface="Times New Roman"/>
                <a:cs typeface="Times New Roman"/>
              </a:rPr>
              <a:t> </a:t>
            </a:r>
            <a:r>
              <a:rPr sz="1200" b="1" i="1" dirty="0">
                <a:latin typeface="Times New Roman"/>
                <a:cs typeface="Times New Roman"/>
              </a:rPr>
              <a:t>the</a:t>
            </a:r>
            <a:r>
              <a:rPr sz="1200" b="1" i="1" spc="-15" dirty="0">
                <a:latin typeface="Times New Roman"/>
                <a:cs typeface="Times New Roman"/>
              </a:rPr>
              <a:t> </a:t>
            </a:r>
            <a:r>
              <a:rPr sz="1200" b="1" i="1" dirty="0">
                <a:latin typeface="Times New Roman"/>
                <a:cs typeface="Times New Roman"/>
              </a:rPr>
              <a:t>software:</a:t>
            </a:r>
            <a:r>
              <a:rPr sz="1200" b="1" i="1" spc="-15" dirty="0">
                <a:latin typeface="Times New Roman"/>
                <a:cs typeface="Times New Roman"/>
              </a:rPr>
              <a:t> </a:t>
            </a:r>
            <a:r>
              <a:rPr sz="1200" b="1" i="1" spc="-10" dirty="0">
                <a:latin typeface="Times New Roman"/>
                <a:cs typeface="Times New Roman"/>
              </a:rPr>
              <a:t>assembler, compiler,</a:t>
            </a:r>
            <a:r>
              <a:rPr sz="1200" b="1" i="1" spc="-35" dirty="0">
                <a:latin typeface="Times New Roman"/>
                <a:cs typeface="Times New Roman"/>
              </a:rPr>
              <a:t> </a:t>
            </a:r>
            <a:r>
              <a:rPr sz="1200" b="1" i="1" spc="-25" dirty="0">
                <a:latin typeface="Times New Roman"/>
                <a:cs typeface="Times New Roman"/>
              </a:rPr>
              <a:t>OS</a:t>
            </a:r>
            <a:endParaRPr sz="1200" dirty="0">
              <a:latin typeface="Times New Roman"/>
              <a:cs typeface="Times New Roman"/>
            </a:endParaRPr>
          </a:p>
        </p:txBody>
      </p:sp>
      <p:sp>
        <p:nvSpPr>
          <p:cNvPr id="10" name="object 10"/>
          <p:cNvSpPr txBox="1"/>
          <p:nvPr/>
        </p:nvSpPr>
        <p:spPr>
          <a:xfrm>
            <a:off x="6067425" y="7984837"/>
            <a:ext cx="153035"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10</a:t>
            </a:r>
            <a:endParaRPr sz="1000">
              <a:latin typeface="Corbel"/>
              <a:cs typeface="Corbel"/>
            </a:endParaRPr>
          </a:p>
        </p:txBody>
      </p:sp>
      <p:sp>
        <p:nvSpPr>
          <p:cNvPr id="11" name="object 11"/>
          <p:cNvSpPr txBox="1"/>
          <p:nvPr/>
        </p:nvSpPr>
        <p:spPr>
          <a:xfrm>
            <a:off x="6674611" y="8933180"/>
            <a:ext cx="102870" cy="177800"/>
          </a:xfrm>
          <a:prstGeom prst="rect">
            <a:avLst/>
          </a:prstGeom>
        </p:spPr>
        <p:txBody>
          <a:bodyPr vert="horz" wrap="square" lIns="0" tIns="0" rIns="0" bIns="0" rtlCol="0">
            <a:spAutoFit/>
          </a:bodyPr>
          <a:lstStyle/>
          <a:p>
            <a:pPr marL="12700">
              <a:lnSpc>
                <a:spcPts val="1240"/>
              </a:lnSpc>
            </a:pPr>
            <a:r>
              <a:rPr sz="1200" spc="-50" dirty="0">
                <a:latin typeface="Calibri"/>
                <a:cs typeface="Calibri"/>
              </a:rPr>
              <a:t>5</a:t>
            </a:r>
            <a:endParaRPr sz="12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29055" y="1633728"/>
            <a:ext cx="4590288" cy="2286000"/>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Translators</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60"/>
              </a:spcBef>
            </a:pPr>
            <a:endParaRPr sz="2200">
              <a:latin typeface="Georgia"/>
              <a:cs typeface="Georgia"/>
            </a:endParaRPr>
          </a:p>
          <a:p>
            <a:pPr marR="143510" algn="r">
              <a:lnSpc>
                <a:spcPct val="100000"/>
              </a:lnSpc>
              <a:spcBef>
                <a:spcPts val="5"/>
              </a:spcBef>
            </a:pPr>
            <a:r>
              <a:rPr sz="1000" b="1" spc="-25" dirty="0">
                <a:solidFill>
                  <a:srgbClr val="3E762B"/>
                </a:solidFill>
                <a:latin typeface="Corbel"/>
                <a:cs typeface="Corbel"/>
              </a:rPr>
              <a:t>11</a:t>
            </a:r>
            <a:endParaRPr sz="1000">
              <a:latin typeface="Corbel"/>
              <a:cs typeface="Corbel"/>
            </a:endParaRPr>
          </a:p>
        </p:txBody>
      </p:sp>
      <p:grpSp>
        <p:nvGrpSpPr>
          <p:cNvPr id="4" name="object 4"/>
          <p:cNvGrpSpPr/>
          <p:nvPr/>
        </p:nvGrpSpPr>
        <p:grpSpPr>
          <a:xfrm>
            <a:off x="381000" y="4844796"/>
            <a:ext cx="6096000" cy="3429000"/>
            <a:chOff x="381000" y="4844796"/>
            <a:chExt cx="6096000" cy="3429000"/>
          </a:xfrm>
        </p:grpSpPr>
        <p:sp>
          <p:nvSpPr>
            <p:cNvPr id="5" name="object 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7" name="object 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 name="object 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Translators</a:t>
            </a:r>
            <a:endParaRPr sz="2200" dirty="0">
              <a:latin typeface="Georgia"/>
              <a:cs typeface="Georgia"/>
            </a:endParaRPr>
          </a:p>
          <a:p>
            <a:pPr marL="262255">
              <a:lnSpc>
                <a:spcPct val="100000"/>
              </a:lnSpc>
              <a:spcBef>
                <a:spcPts val="1510"/>
              </a:spcBef>
            </a:pPr>
            <a:r>
              <a:rPr sz="1400" b="1" u="sng" spc="-10" dirty="0">
                <a:uFill>
                  <a:solidFill>
                    <a:srgbClr val="000000"/>
                  </a:solidFill>
                </a:uFill>
                <a:latin typeface="Times New Roman"/>
                <a:cs typeface="Times New Roman"/>
              </a:rPr>
              <a:t>Assembler</a:t>
            </a:r>
            <a:endParaRPr sz="1400" dirty="0">
              <a:latin typeface="Times New Roman"/>
              <a:cs typeface="Times New Roman"/>
            </a:endParaRPr>
          </a:p>
          <a:p>
            <a:pPr marL="434975" marR="1043940" indent="-172720">
              <a:lnSpc>
                <a:spcPct val="100000"/>
              </a:lnSpc>
              <a:spcBef>
                <a:spcPts val="610"/>
              </a:spcBef>
              <a:buClr>
                <a:srgbClr val="3E762B"/>
              </a:buClr>
              <a:buFont typeface="Wingdings"/>
              <a:buChar char=""/>
              <a:tabLst>
                <a:tab pos="436245" algn="l"/>
              </a:tabLst>
            </a:pPr>
            <a:r>
              <a:rPr sz="1200" dirty="0">
                <a:latin typeface="Times New Roman"/>
                <a:cs typeface="Times New Roman"/>
              </a:rPr>
              <a:t>Assembler:</a:t>
            </a:r>
            <a:r>
              <a:rPr sz="1200" spc="-45" dirty="0">
                <a:latin typeface="Times New Roman"/>
                <a:cs typeface="Times New Roman"/>
              </a:rPr>
              <a:t> </a:t>
            </a:r>
            <a:r>
              <a:rPr sz="1200" dirty="0">
                <a:latin typeface="Times New Roman"/>
                <a:cs typeface="Times New Roman"/>
              </a:rPr>
              <a:t>a</a:t>
            </a:r>
            <a:r>
              <a:rPr sz="1200" spc="-50" dirty="0">
                <a:latin typeface="Times New Roman"/>
                <a:cs typeface="Times New Roman"/>
              </a:rPr>
              <a:t> </a:t>
            </a:r>
            <a:r>
              <a:rPr sz="1200" dirty="0">
                <a:latin typeface="Times New Roman"/>
                <a:cs typeface="Times New Roman"/>
              </a:rPr>
              <a:t>computer</a:t>
            </a:r>
            <a:r>
              <a:rPr sz="1200" spc="-35" dirty="0">
                <a:latin typeface="Times New Roman"/>
                <a:cs typeface="Times New Roman"/>
              </a:rPr>
              <a:t> </a:t>
            </a:r>
            <a:r>
              <a:rPr sz="1200" dirty="0">
                <a:latin typeface="Times New Roman"/>
                <a:cs typeface="Times New Roman"/>
              </a:rPr>
              <a:t>program</a:t>
            </a:r>
            <a:r>
              <a:rPr sz="1200" spc="-35" dirty="0">
                <a:latin typeface="Times New Roman"/>
                <a:cs typeface="Times New Roman"/>
              </a:rPr>
              <a:t> </a:t>
            </a:r>
            <a:r>
              <a:rPr sz="1200" dirty="0">
                <a:latin typeface="Times New Roman"/>
                <a:cs typeface="Times New Roman"/>
              </a:rPr>
              <a:t>that</a:t>
            </a:r>
            <a:r>
              <a:rPr sz="1200" spc="-40" dirty="0">
                <a:latin typeface="Times New Roman"/>
                <a:cs typeface="Times New Roman"/>
              </a:rPr>
              <a:t> </a:t>
            </a:r>
            <a:r>
              <a:rPr sz="1200" dirty="0">
                <a:latin typeface="Times New Roman"/>
                <a:cs typeface="Times New Roman"/>
              </a:rPr>
              <a:t>translates</a:t>
            </a:r>
            <a:r>
              <a:rPr sz="1200" spc="-45" dirty="0">
                <a:latin typeface="Times New Roman"/>
                <a:cs typeface="Times New Roman"/>
              </a:rPr>
              <a:t> </a:t>
            </a:r>
            <a:r>
              <a:rPr sz="1200" dirty="0">
                <a:latin typeface="Times New Roman"/>
                <a:cs typeface="Times New Roman"/>
              </a:rPr>
              <a:t>assembly</a:t>
            </a:r>
            <a:r>
              <a:rPr sz="1200" spc="-40" dirty="0">
                <a:latin typeface="Times New Roman"/>
                <a:cs typeface="Times New Roman"/>
              </a:rPr>
              <a:t> </a:t>
            </a:r>
            <a:r>
              <a:rPr sz="1200" dirty="0">
                <a:latin typeface="Times New Roman"/>
                <a:cs typeface="Times New Roman"/>
              </a:rPr>
              <a:t>language</a:t>
            </a:r>
            <a:r>
              <a:rPr sz="1200" spc="-3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spc="-25" dirty="0">
                <a:latin typeface="Times New Roman"/>
                <a:cs typeface="Times New Roman"/>
              </a:rPr>
              <a:t>an 	</a:t>
            </a:r>
            <a:r>
              <a:rPr sz="1200" dirty="0">
                <a:latin typeface="Times New Roman"/>
                <a:cs typeface="Times New Roman"/>
              </a:rPr>
              <a:t>object</a:t>
            </a:r>
            <a:r>
              <a:rPr sz="1200" spc="-40" dirty="0">
                <a:latin typeface="Times New Roman"/>
                <a:cs typeface="Times New Roman"/>
              </a:rPr>
              <a:t> </a:t>
            </a:r>
            <a:r>
              <a:rPr sz="1200" dirty="0">
                <a:latin typeface="Times New Roman"/>
                <a:cs typeface="Times New Roman"/>
              </a:rPr>
              <a:t>file</a:t>
            </a:r>
            <a:r>
              <a:rPr sz="1200" spc="-45" dirty="0">
                <a:latin typeface="Times New Roman"/>
                <a:cs typeface="Times New Roman"/>
              </a:rPr>
              <a:t> </a:t>
            </a:r>
            <a:r>
              <a:rPr sz="1200" dirty="0">
                <a:latin typeface="Times New Roman"/>
                <a:cs typeface="Times New Roman"/>
              </a:rPr>
              <a:t>or</a:t>
            </a:r>
            <a:r>
              <a:rPr sz="1200" spc="-40" dirty="0">
                <a:latin typeface="Times New Roman"/>
                <a:cs typeface="Times New Roman"/>
              </a:rPr>
              <a:t> </a:t>
            </a:r>
            <a:r>
              <a:rPr sz="1200" dirty="0">
                <a:latin typeface="Times New Roman"/>
                <a:cs typeface="Times New Roman"/>
              </a:rPr>
              <a:t>machine</a:t>
            </a:r>
            <a:r>
              <a:rPr sz="1200" spc="-40" dirty="0">
                <a:latin typeface="Times New Roman"/>
                <a:cs typeface="Times New Roman"/>
              </a:rPr>
              <a:t> </a:t>
            </a:r>
            <a:r>
              <a:rPr sz="1200" dirty="0">
                <a:latin typeface="Times New Roman"/>
                <a:cs typeface="Times New Roman"/>
              </a:rPr>
              <a:t>language</a:t>
            </a:r>
            <a:r>
              <a:rPr sz="1200" spc="-25" dirty="0">
                <a:latin typeface="Times New Roman"/>
                <a:cs typeface="Times New Roman"/>
              </a:rPr>
              <a:t> </a:t>
            </a:r>
            <a:r>
              <a:rPr sz="1200" spc="-10" dirty="0">
                <a:latin typeface="Times New Roman"/>
                <a:cs typeface="Times New Roman"/>
              </a:rPr>
              <a:t>format.</a:t>
            </a:r>
            <a:endParaRPr sz="1200" dirty="0">
              <a:latin typeface="Times New Roman"/>
              <a:cs typeface="Times New Roman"/>
            </a:endParaRPr>
          </a:p>
          <a:p>
            <a:pPr>
              <a:lnSpc>
                <a:spcPct val="100000"/>
              </a:lnSpc>
              <a:spcBef>
                <a:spcPts val="409"/>
              </a:spcBef>
              <a:buClr>
                <a:srgbClr val="3E762B"/>
              </a:buClr>
              <a:buFont typeface="Wingdings"/>
              <a:buChar char=""/>
            </a:pPr>
            <a:endParaRPr sz="1200" dirty="0">
              <a:latin typeface="Times New Roman"/>
              <a:cs typeface="Times New Roman"/>
            </a:endParaRPr>
          </a:p>
          <a:p>
            <a:pPr marL="262255">
              <a:lnSpc>
                <a:spcPct val="100000"/>
              </a:lnSpc>
            </a:pPr>
            <a:r>
              <a:rPr sz="1400" b="1" u="sng" spc="-10" dirty="0">
                <a:uFill>
                  <a:solidFill>
                    <a:srgbClr val="000000"/>
                  </a:solidFill>
                </a:uFill>
                <a:latin typeface="Times New Roman"/>
                <a:cs typeface="Times New Roman"/>
              </a:rPr>
              <a:t>Compiler</a:t>
            </a:r>
            <a:endParaRPr sz="1400" dirty="0">
              <a:latin typeface="Times New Roman"/>
              <a:cs typeface="Times New Roman"/>
            </a:endParaRPr>
          </a:p>
          <a:p>
            <a:pPr marL="434975" marR="752475" indent="-172720">
              <a:lnSpc>
                <a:spcPct val="100000"/>
              </a:lnSpc>
              <a:spcBef>
                <a:spcPts val="610"/>
              </a:spcBef>
              <a:buClr>
                <a:srgbClr val="3E762B"/>
              </a:buClr>
              <a:buFont typeface="Wingdings"/>
              <a:buChar char=""/>
              <a:tabLst>
                <a:tab pos="43624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compiler</a:t>
            </a:r>
            <a:r>
              <a:rPr sz="1200" spc="-45"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computer</a:t>
            </a:r>
            <a:r>
              <a:rPr sz="1200" spc="-25" dirty="0">
                <a:latin typeface="Times New Roman"/>
                <a:cs typeface="Times New Roman"/>
              </a:rPr>
              <a:t> </a:t>
            </a:r>
            <a:r>
              <a:rPr sz="1200" dirty="0">
                <a:latin typeface="Times New Roman"/>
                <a:cs typeface="Times New Roman"/>
              </a:rPr>
              <a:t>program</a:t>
            </a:r>
            <a:r>
              <a:rPr sz="1200" spc="-1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set</a:t>
            </a:r>
            <a:r>
              <a:rPr sz="1200" spc="-2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programs)</a:t>
            </a:r>
            <a:r>
              <a:rPr sz="1200" spc="-5" dirty="0">
                <a:latin typeface="Times New Roman"/>
                <a:cs typeface="Times New Roman"/>
              </a:rPr>
              <a:t> </a:t>
            </a:r>
            <a:r>
              <a:rPr sz="1200" dirty="0">
                <a:latin typeface="Times New Roman"/>
                <a:cs typeface="Times New Roman"/>
              </a:rPr>
              <a:t>that</a:t>
            </a:r>
            <a:r>
              <a:rPr sz="1200" spc="-25" dirty="0">
                <a:latin typeface="Times New Roman"/>
                <a:cs typeface="Times New Roman"/>
              </a:rPr>
              <a:t> </a:t>
            </a:r>
            <a:r>
              <a:rPr sz="1200" spc="-10" dirty="0">
                <a:latin typeface="Times New Roman"/>
                <a:cs typeface="Times New Roman"/>
              </a:rPr>
              <a:t>transforms 	</a:t>
            </a:r>
            <a:r>
              <a:rPr sz="1200" dirty="0">
                <a:latin typeface="Times New Roman"/>
                <a:cs typeface="Times New Roman"/>
              </a:rPr>
              <a:t>source</a:t>
            </a:r>
            <a:r>
              <a:rPr sz="1200" spc="-20" dirty="0">
                <a:latin typeface="Times New Roman"/>
                <a:cs typeface="Times New Roman"/>
              </a:rPr>
              <a:t> </a:t>
            </a:r>
            <a:r>
              <a:rPr sz="1200" dirty="0">
                <a:latin typeface="Times New Roman"/>
                <a:cs typeface="Times New Roman"/>
              </a:rPr>
              <a:t>code</a:t>
            </a:r>
            <a:r>
              <a:rPr sz="1200" spc="-25" dirty="0">
                <a:latin typeface="Times New Roman"/>
                <a:cs typeface="Times New Roman"/>
              </a:rPr>
              <a:t> </a:t>
            </a:r>
            <a:r>
              <a:rPr sz="1200" dirty="0">
                <a:latin typeface="Times New Roman"/>
                <a:cs typeface="Times New Roman"/>
              </a:rPr>
              <a:t>written</a:t>
            </a:r>
            <a:r>
              <a:rPr sz="1200" spc="-2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spc="-10" dirty="0">
                <a:latin typeface="Times New Roman"/>
                <a:cs typeface="Times New Roman"/>
              </a:rPr>
              <a:t>programming</a:t>
            </a:r>
            <a:r>
              <a:rPr sz="1200" spc="-15" dirty="0">
                <a:latin typeface="Times New Roman"/>
                <a:cs typeface="Times New Roman"/>
              </a:rPr>
              <a:t> </a:t>
            </a:r>
            <a:r>
              <a:rPr sz="1200" dirty="0">
                <a:latin typeface="Times New Roman"/>
                <a:cs typeface="Times New Roman"/>
              </a:rPr>
              <a:t>language</a:t>
            </a:r>
            <a:r>
              <a:rPr sz="1200" spc="-10" dirty="0">
                <a:latin typeface="Times New Roman"/>
                <a:cs typeface="Times New Roman"/>
              </a:rPr>
              <a:t> </a:t>
            </a:r>
            <a:r>
              <a:rPr sz="1200" dirty="0">
                <a:latin typeface="Times New Roman"/>
                <a:cs typeface="Times New Roman"/>
              </a:rPr>
              <a:t>into</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binary</a:t>
            </a:r>
            <a:r>
              <a:rPr sz="1200" spc="-30" dirty="0">
                <a:latin typeface="Times New Roman"/>
                <a:cs typeface="Times New Roman"/>
              </a:rPr>
              <a:t> </a:t>
            </a:r>
            <a:r>
              <a:rPr sz="1200" dirty="0">
                <a:latin typeface="Times New Roman"/>
                <a:cs typeface="Times New Roman"/>
              </a:rPr>
              <a:t>form</a:t>
            </a:r>
            <a:r>
              <a:rPr sz="1200" spc="-20" dirty="0">
                <a:latin typeface="Times New Roman"/>
                <a:cs typeface="Times New Roman"/>
              </a:rPr>
              <a:t> </a:t>
            </a:r>
            <a:r>
              <a:rPr sz="1200" dirty="0">
                <a:latin typeface="Times New Roman"/>
                <a:cs typeface="Times New Roman"/>
              </a:rPr>
              <a:t>known</a:t>
            </a:r>
            <a:r>
              <a:rPr sz="1200" spc="-15" dirty="0">
                <a:latin typeface="Times New Roman"/>
                <a:cs typeface="Times New Roman"/>
              </a:rPr>
              <a:t> </a:t>
            </a:r>
            <a:r>
              <a:rPr sz="1200" spc="-25" dirty="0">
                <a:latin typeface="Times New Roman"/>
                <a:cs typeface="Times New Roman"/>
              </a:rPr>
              <a:t>as 	</a:t>
            </a:r>
            <a:r>
              <a:rPr sz="1200" dirty="0">
                <a:latin typeface="Times New Roman"/>
                <a:cs typeface="Times New Roman"/>
              </a:rPr>
              <a:t>object</a:t>
            </a:r>
            <a:r>
              <a:rPr sz="1200" spc="-45" dirty="0">
                <a:latin typeface="Times New Roman"/>
                <a:cs typeface="Times New Roman"/>
              </a:rPr>
              <a:t> </a:t>
            </a:r>
            <a:r>
              <a:rPr sz="1200" spc="-10" dirty="0">
                <a:latin typeface="Times New Roman"/>
                <a:cs typeface="Times New Roman"/>
              </a:rPr>
              <a:t>code.</a:t>
            </a:r>
            <a:endParaRPr sz="1200" dirty="0">
              <a:latin typeface="Times New Roman"/>
              <a:cs typeface="Times New Roman"/>
            </a:endParaRPr>
          </a:p>
          <a:p>
            <a:pPr marL="436245" marR="824230" indent="-173990">
              <a:lnSpc>
                <a:spcPct val="100000"/>
              </a:lnSpc>
              <a:spcBef>
                <a:spcPts val="600"/>
              </a:spcBef>
              <a:buClr>
                <a:srgbClr val="3E762B"/>
              </a:buClr>
              <a:buFont typeface="Wingdings"/>
              <a:buChar char=""/>
              <a:tabLst>
                <a:tab pos="436245" algn="l"/>
              </a:tabLst>
            </a:pP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takes</a:t>
            </a:r>
            <a:r>
              <a:rPr sz="1200" spc="-30" dirty="0">
                <a:latin typeface="Times New Roman"/>
                <a:cs typeface="Times New Roman"/>
              </a:rPr>
              <a:t> </a:t>
            </a:r>
            <a:r>
              <a:rPr sz="1200" dirty="0">
                <a:latin typeface="Times New Roman"/>
                <a:cs typeface="Times New Roman"/>
              </a:rPr>
              <a:t>time</a:t>
            </a:r>
            <a:r>
              <a:rPr sz="1200" spc="-5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execute</a:t>
            </a:r>
            <a:r>
              <a:rPr sz="1200" spc="-3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program</a:t>
            </a:r>
            <a:r>
              <a:rPr sz="1200" spc="-10" dirty="0">
                <a:latin typeface="Times New Roman"/>
                <a:cs typeface="Times New Roman"/>
              </a:rPr>
              <a:t> </a:t>
            </a:r>
            <a:r>
              <a:rPr sz="1200" dirty="0">
                <a:latin typeface="Times New Roman"/>
                <a:cs typeface="Times New Roman"/>
              </a:rPr>
              <a:t>because</a:t>
            </a:r>
            <a:r>
              <a:rPr sz="1200" spc="-35"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dirty="0">
                <a:latin typeface="Times New Roman"/>
                <a:cs typeface="Times New Roman"/>
              </a:rPr>
              <a:t>first</a:t>
            </a:r>
            <a:r>
              <a:rPr sz="1200" spc="-30" dirty="0">
                <a:latin typeface="Times New Roman"/>
                <a:cs typeface="Times New Roman"/>
              </a:rPr>
              <a:t> </a:t>
            </a:r>
            <a:r>
              <a:rPr sz="1200" dirty="0">
                <a:latin typeface="Times New Roman"/>
                <a:cs typeface="Times New Roman"/>
              </a:rPr>
              <a:t>translates</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source</a:t>
            </a:r>
            <a:r>
              <a:rPr sz="1200" spc="-30" dirty="0">
                <a:latin typeface="Times New Roman"/>
                <a:cs typeface="Times New Roman"/>
              </a:rPr>
              <a:t> </a:t>
            </a:r>
            <a:r>
              <a:rPr sz="1200" spc="-20" dirty="0">
                <a:latin typeface="Times New Roman"/>
                <a:cs typeface="Times New Roman"/>
              </a:rPr>
              <a:t>code </a:t>
            </a:r>
            <a:r>
              <a:rPr sz="1200" dirty="0">
                <a:latin typeface="Times New Roman"/>
                <a:cs typeface="Times New Roman"/>
              </a:rPr>
              <a:t>into</a:t>
            </a:r>
            <a:r>
              <a:rPr sz="1200" spc="-40" dirty="0">
                <a:latin typeface="Times New Roman"/>
                <a:cs typeface="Times New Roman"/>
              </a:rPr>
              <a:t> </a:t>
            </a:r>
            <a:r>
              <a:rPr sz="1200" dirty="0">
                <a:latin typeface="Times New Roman"/>
                <a:cs typeface="Times New Roman"/>
              </a:rPr>
              <a:t>another</a:t>
            </a:r>
            <a:r>
              <a:rPr sz="1200" spc="-25" dirty="0">
                <a:latin typeface="Times New Roman"/>
                <a:cs typeface="Times New Roman"/>
              </a:rPr>
              <a:t> </a:t>
            </a:r>
            <a:r>
              <a:rPr sz="1200" spc="-10" dirty="0">
                <a:latin typeface="Times New Roman"/>
                <a:cs typeface="Times New Roman"/>
              </a:rPr>
              <a:t>compiler’s</a:t>
            </a:r>
            <a:r>
              <a:rPr sz="1200" spc="-25" dirty="0">
                <a:latin typeface="Times New Roman"/>
                <a:cs typeface="Times New Roman"/>
              </a:rPr>
              <a:t> </a:t>
            </a:r>
            <a:r>
              <a:rPr sz="1200" dirty="0">
                <a:latin typeface="Times New Roman"/>
                <a:cs typeface="Times New Roman"/>
              </a:rPr>
              <a:t>language</a:t>
            </a:r>
            <a:r>
              <a:rPr sz="1200" spc="-10"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then</a:t>
            </a:r>
            <a:r>
              <a:rPr sz="1200" spc="-25" dirty="0">
                <a:latin typeface="Times New Roman"/>
                <a:cs typeface="Times New Roman"/>
              </a:rPr>
              <a:t> </a:t>
            </a:r>
            <a:r>
              <a:rPr sz="1200" dirty="0">
                <a:latin typeface="Times New Roman"/>
                <a:cs typeface="Times New Roman"/>
              </a:rPr>
              <a:t>using</a:t>
            </a:r>
            <a:r>
              <a:rPr sz="1200" spc="-40" dirty="0">
                <a:latin typeface="Times New Roman"/>
                <a:cs typeface="Times New Roman"/>
              </a:rPr>
              <a:t> </a:t>
            </a:r>
            <a:r>
              <a:rPr sz="1200" dirty="0">
                <a:latin typeface="Times New Roman"/>
                <a:cs typeface="Times New Roman"/>
              </a:rPr>
              <a:t>an</a:t>
            </a:r>
            <a:r>
              <a:rPr sz="1200" spc="-25" dirty="0">
                <a:latin typeface="Times New Roman"/>
                <a:cs typeface="Times New Roman"/>
              </a:rPr>
              <a:t> </a:t>
            </a:r>
            <a:r>
              <a:rPr sz="1200" dirty="0">
                <a:latin typeface="Times New Roman"/>
                <a:cs typeface="Times New Roman"/>
              </a:rPr>
              <a:t>assembler</a:t>
            </a:r>
            <a:r>
              <a:rPr sz="1200" spc="-25" dirty="0">
                <a:latin typeface="Times New Roman"/>
                <a:cs typeface="Times New Roman"/>
              </a:rPr>
              <a:t> </a:t>
            </a:r>
            <a:r>
              <a:rPr sz="1200" dirty="0">
                <a:latin typeface="Times New Roman"/>
                <a:cs typeface="Times New Roman"/>
              </a:rPr>
              <a:t>converts</a:t>
            </a:r>
            <a:r>
              <a:rPr sz="1200" spc="-25" dirty="0">
                <a:latin typeface="Times New Roman"/>
                <a:cs typeface="Times New Roman"/>
              </a:rPr>
              <a:t> it </a:t>
            </a:r>
            <a:r>
              <a:rPr sz="1200" dirty="0">
                <a:latin typeface="Times New Roman"/>
                <a:cs typeface="Times New Roman"/>
              </a:rPr>
              <a:t>into</a:t>
            </a:r>
            <a:r>
              <a:rPr sz="1200" spc="-50" dirty="0">
                <a:latin typeface="Times New Roman"/>
                <a:cs typeface="Times New Roman"/>
              </a:rPr>
              <a:t> </a:t>
            </a:r>
            <a:r>
              <a:rPr sz="1200" dirty="0">
                <a:latin typeface="Times New Roman"/>
                <a:cs typeface="Times New Roman"/>
              </a:rPr>
              <a:t>machine</a:t>
            </a:r>
            <a:r>
              <a:rPr sz="1200" spc="-30" dirty="0">
                <a:latin typeface="Times New Roman"/>
                <a:cs typeface="Times New Roman"/>
              </a:rPr>
              <a:t> </a:t>
            </a:r>
            <a:r>
              <a:rPr sz="1200" spc="-10" dirty="0">
                <a:latin typeface="Times New Roman"/>
                <a:cs typeface="Times New Roman"/>
              </a:rPr>
              <a:t>language.</a:t>
            </a:r>
            <a:endParaRPr sz="1200" dirty="0">
              <a:latin typeface="Times New Roman"/>
              <a:cs typeface="Times New Roman"/>
            </a:endParaRPr>
          </a:p>
          <a:p>
            <a:pPr marR="146050" algn="r">
              <a:lnSpc>
                <a:spcPct val="100000"/>
              </a:lnSpc>
              <a:spcBef>
                <a:spcPts val="60"/>
              </a:spcBef>
            </a:pPr>
            <a:r>
              <a:rPr sz="1000" b="1" spc="-25" dirty="0">
                <a:solidFill>
                  <a:srgbClr val="3E762B"/>
                </a:solidFill>
                <a:latin typeface="Corbel"/>
                <a:cs typeface="Corbel"/>
              </a:rPr>
              <a:t>13</a:t>
            </a:r>
            <a:endParaRPr sz="1000" dirty="0">
              <a:latin typeface="Corbel"/>
              <a:cs typeface="Corbel"/>
            </a:endParaRPr>
          </a:p>
        </p:txBody>
      </p:sp>
      <p:sp>
        <p:nvSpPr>
          <p:cNvPr id="9" name="object 9"/>
          <p:cNvSpPr txBox="1"/>
          <p:nvPr/>
        </p:nvSpPr>
        <p:spPr>
          <a:xfrm>
            <a:off x="6674611" y="8933180"/>
            <a:ext cx="102870" cy="177800"/>
          </a:xfrm>
          <a:prstGeom prst="rect">
            <a:avLst/>
          </a:prstGeom>
        </p:spPr>
        <p:txBody>
          <a:bodyPr vert="horz" wrap="square" lIns="0" tIns="0" rIns="0" bIns="0" rtlCol="0">
            <a:spAutoFit/>
          </a:bodyPr>
          <a:lstStyle/>
          <a:p>
            <a:pPr marL="12700">
              <a:lnSpc>
                <a:spcPts val="1240"/>
              </a:lnSpc>
            </a:pPr>
            <a:r>
              <a:rPr sz="1200" spc="-50" dirty="0">
                <a:latin typeface="Calibri"/>
                <a:cs typeface="Calibri"/>
              </a:rPr>
              <a:t>6</a:t>
            </a:r>
            <a:endParaRPr sz="12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0979">
              <a:lnSpc>
                <a:spcPct val="100000"/>
              </a:lnSpc>
              <a:spcBef>
                <a:spcPts val="900"/>
              </a:spcBef>
            </a:pPr>
            <a:r>
              <a:rPr sz="2200" spc="-10" dirty="0">
                <a:latin typeface="Georgia"/>
                <a:cs typeface="Georgia"/>
              </a:rPr>
              <a:t>Translators</a:t>
            </a:r>
            <a:endParaRPr sz="2200" dirty="0">
              <a:latin typeface="Georgia"/>
              <a:cs typeface="Georgia"/>
            </a:endParaRPr>
          </a:p>
          <a:p>
            <a:pPr marL="262255">
              <a:lnSpc>
                <a:spcPct val="100000"/>
              </a:lnSpc>
              <a:spcBef>
                <a:spcPts val="1405"/>
              </a:spcBef>
            </a:pPr>
            <a:r>
              <a:rPr sz="1300" b="1" u="sng" spc="-10" dirty="0">
                <a:uFill>
                  <a:solidFill>
                    <a:srgbClr val="000000"/>
                  </a:solidFill>
                </a:uFill>
                <a:latin typeface="Times New Roman"/>
                <a:cs typeface="Times New Roman"/>
              </a:rPr>
              <a:t>Interpreter</a:t>
            </a:r>
            <a:endParaRPr sz="1300" dirty="0">
              <a:latin typeface="Times New Roman"/>
              <a:cs typeface="Times New Roman"/>
            </a:endParaRPr>
          </a:p>
          <a:p>
            <a:pPr marL="434975" marR="861694" indent="-172720">
              <a:lnSpc>
                <a:spcPct val="100000"/>
              </a:lnSpc>
              <a:spcBef>
                <a:spcPts val="605"/>
              </a:spcBef>
              <a:buClr>
                <a:srgbClr val="3E762B"/>
              </a:buClr>
              <a:buFont typeface="Wingdings"/>
              <a:buChar char=""/>
              <a:tabLst>
                <a:tab pos="436245" algn="l"/>
              </a:tabLst>
            </a:pPr>
            <a:r>
              <a:rPr sz="1200" dirty="0">
                <a:latin typeface="Times New Roman"/>
                <a:cs typeface="Times New Roman"/>
              </a:rPr>
              <a:t>The</a:t>
            </a:r>
            <a:r>
              <a:rPr sz="1200" spc="-50" dirty="0">
                <a:latin typeface="Times New Roman"/>
                <a:cs typeface="Times New Roman"/>
              </a:rPr>
              <a:t> </a:t>
            </a:r>
            <a:r>
              <a:rPr sz="1200" dirty="0">
                <a:latin typeface="Times New Roman"/>
                <a:cs typeface="Times New Roman"/>
              </a:rPr>
              <a:t>Interpreter translates</a:t>
            </a:r>
            <a:r>
              <a:rPr sz="1200" spc="-4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program</a:t>
            </a:r>
            <a:r>
              <a:rPr sz="1200" spc="-30" dirty="0">
                <a:latin typeface="Times New Roman"/>
                <a:cs typeface="Times New Roman"/>
              </a:rPr>
              <a:t> </a:t>
            </a:r>
            <a:r>
              <a:rPr sz="1200" dirty="0">
                <a:latin typeface="Times New Roman"/>
                <a:cs typeface="Times New Roman"/>
              </a:rPr>
              <a:t>written</a:t>
            </a:r>
            <a:r>
              <a:rPr sz="1200" spc="-35" dirty="0">
                <a:latin typeface="Times New Roman"/>
                <a:cs typeface="Times New Roman"/>
              </a:rPr>
              <a:t> </a:t>
            </a:r>
            <a:r>
              <a:rPr sz="1200" dirty="0">
                <a:latin typeface="Times New Roman"/>
                <a:cs typeface="Times New Roman"/>
              </a:rPr>
              <a:t>in</a:t>
            </a:r>
            <a:r>
              <a:rPr sz="1200" spc="-55"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spc="-10" dirty="0">
                <a:latin typeface="Times New Roman"/>
                <a:cs typeface="Times New Roman"/>
              </a:rPr>
              <a:t>high-</a:t>
            </a:r>
            <a:r>
              <a:rPr sz="1200" dirty="0">
                <a:latin typeface="Times New Roman"/>
                <a:cs typeface="Times New Roman"/>
              </a:rPr>
              <a:t>level</a:t>
            </a:r>
            <a:r>
              <a:rPr sz="1200" spc="-40" dirty="0">
                <a:latin typeface="Times New Roman"/>
                <a:cs typeface="Times New Roman"/>
              </a:rPr>
              <a:t> </a:t>
            </a:r>
            <a:r>
              <a:rPr sz="1200" dirty="0">
                <a:latin typeface="Times New Roman"/>
                <a:cs typeface="Times New Roman"/>
              </a:rPr>
              <a:t>language</a:t>
            </a:r>
            <a:r>
              <a:rPr sz="1200" spc="-10" dirty="0">
                <a:latin typeface="Times New Roman"/>
                <a:cs typeface="Times New Roman"/>
              </a:rPr>
              <a:t> </a:t>
            </a:r>
            <a:r>
              <a:rPr sz="1200" spc="-20" dirty="0">
                <a:latin typeface="Times New Roman"/>
                <a:cs typeface="Times New Roman"/>
              </a:rPr>
              <a:t>into 	</a:t>
            </a:r>
            <a:r>
              <a:rPr sz="1200" dirty="0">
                <a:latin typeface="Times New Roman"/>
                <a:cs typeface="Times New Roman"/>
              </a:rPr>
              <a:t>machine</a:t>
            </a:r>
            <a:r>
              <a:rPr sz="1200" spc="-40" dirty="0">
                <a:latin typeface="Times New Roman"/>
                <a:cs typeface="Times New Roman"/>
              </a:rPr>
              <a:t> </a:t>
            </a:r>
            <a:r>
              <a:rPr sz="1200" dirty="0">
                <a:latin typeface="Times New Roman"/>
                <a:cs typeface="Times New Roman"/>
              </a:rPr>
              <a:t>language,</a:t>
            </a:r>
            <a:r>
              <a:rPr sz="1200" spc="-20" dirty="0">
                <a:latin typeface="Times New Roman"/>
                <a:cs typeface="Times New Roman"/>
              </a:rPr>
              <a:t> </a:t>
            </a:r>
            <a:r>
              <a:rPr sz="1200" b="1" dirty="0">
                <a:latin typeface="Times New Roman"/>
                <a:cs typeface="Times New Roman"/>
              </a:rPr>
              <a:t>instructions</a:t>
            </a:r>
            <a:r>
              <a:rPr sz="1200" b="1" spc="-40" dirty="0">
                <a:latin typeface="Times New Roman"/>
                <a:cs typeface="Times New Roman"/>
              </a:rPr>
              <a:t> </a:t>
            </a:r>
            <a:r>
              <a:rPr sz="1200" b="1" dirty="0">
                <a:latin typeface="Times New Roman"/>
                <a:cs typeface="Times New Roman"/>
              </a:rPr>
              <a:t>by</a:t>
            </a:r>
            <a:r>
              <a:rPr sz="1200" b="1" spc="-35" dirty="0">
                <a:latin typeface="Times New Roman"/>
                <a:cs typeface="Times New Roman"/>
              </a:rPr>
              <a:t> </a:t>
            </a:r>
            <a:r>
              <a:rPr sz="1200" b="1" spc="-10" dirty="0">
                <a:latin typeface="Times New Roman"/>
                <a:cs typeface="Times New Roman"/>
              </a:rPr>
              <a:t>instructions.</a:t>
            </a:r>
            <a:endParaRPr sz="1200" dirty="0">
              <a:latin typeface="Times New Roman"/>
              <a:cs typeface="Times New Roman"/>
            </a:endParaRPr>
          </a:p>
          <a:p>
            <a:pPr>
              <a:lnSpc>
                <a:spcPct val="100000"/>
              </a:lnSpc>
              <a:spcBef>
                <a:spcPts val="1255"/>
              </a:spcBef>
              <a:buClr>
                <a:srgbClr val="3E762B"/>
              </a:buClr>
              <a:buFont typeface="Wingdings"/>
              <a:buChar char=""/>
            </a:pPr>
            <a:endParaRPr sz="1200" dirty="0">
              <a:latin typeface="Times New Roman"/>
              <a:cs typeface="Times New Roman"/>
            </a:endParaRPr>
          </a:p>
          <a:p>
            <a:pPr marL="436245" marR="750570" indent="-173990">
              <a:lnSpc>
                <a:spcPct val="100000"/>
              </a:lnSpc>
              <a:spcBef>
                <a:spcPts val="5"/>
              </a:spcBef>
              <a:buClr>
                <a:srgbClr val="3E762B"/>
              </a:buClr>
              <a:buFont typeface="Wingdings"/>
              <a:buChar char=""/>
              <a:tabLst>
                <a:tab pos="436245" algn="l"/>
              </a:tabLst>
            </a:pPr>
            <a:r>
              <a:rPr sz="1200" dirty="0">
                <a:latin typeface="Times New Roman"/>
                <a:cs typeface="Times New Roman"/>
              </a:rPr>
              <a:t>It</a:t>
            </a:r>
            <a:r>
              <a:rPr sz="1200" spc="-15" dirty="0">
                <a:latin typeface="Times New Roman"/>
                <a:cs typeface="Times New Roman"/>
              </a:rPr>
              <a:t> </a:t>
            </a:r>
            <a:r>
              <a:rPr sz="1200" dirty="0">
                <a:latin typeface="Times New Roman"/>
                <a:cs typeface="Times New Roman"/>
              </a:rPr>
              <a:t>reads</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first</a:t>
            </a:r>
            <a:r>
              <a:rPr sz="1200" spc="-30" dirty="0">
                <a:latin typeface="Times New Roman"/>
                <a:cs typeface="Times New Roman"/>
              </a:rPr>
              <a:t> </a:t>
            </a:r>
            <a:r>
              <a:rPr sz="1200" dirty="0">
                <a:latin typeface="Times New Roman"/>
                <a:cs typeface="Times New Roman"/>
              </a:rPr>
              <a:t>instruction</a:t>
            </a:r>
            <a:r>
              <a:rPr sz="1200" spc="-40" dirty="0">
                <a:latin typeface="Times New Roman"/>
                <a:cs typeface="Times New Roman"/>
              </a:rPr>
              <a:t> </a:t>
            </a:r>
            <a:r>
              <a:rPr sz="1200" dirty="0">
                <a:latin typeface="Times New Roman"/>
                <a:cs typeface="Times New Roman"/>
              </a:rPr>
              <a:t>written</a:t>
            </a:r>
            <a:r>
              <a:rPr sz="1200" spc="-30" dirty="0">
                <a:latin typeface="Times New Roman"/>
                <a:cs typeface="Times New Roman"/>
              </a:rPr>
              <a:t> </a:t>
            </a:r>
            <a:r>
              <a:rPr sz="1200" dirty="0">
                <a:latin typeface="Times New Roman"/>
                <a:cs typeface="Times New Roman"/>
              </a:rPr>
              <a:t>in</a:t>
            </a:r>
            <a:r>
              <a:rPr sz="1200" spc="-4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program</a:t>
            </a:r>
            <a:r>
              <a:rPr sz="1200" spc="-1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converts</a:t>
            </a:r>
            <a:r>
              <a:rPr sz="1200" spc="-25" dirty="0">
                <a:latin typeface="Times New Roman"/>
                <a:cs typeface="Times New Roman"/>
              </a:rPr>
              <a:t> </a:t>
            </a:r>
            <a:r>
              <a:rPr sz="1200" dirty="0">
                <a:latin typeface="Times New Roman"/>
                <a:cs typeface="Times New Roman"/>
              </a:rPr>
              <a:t>it</a:t>
            </a:r>
            <a:r>
              <a:rPr sz="1200" spc="-30" dirty="0">
                <a:latin typeface="Times New Roman"/>
                <a:cs typeface="Times New Roman"/>
              </a:rPr>
              <a:t> </a:t>
            </a:r>
            <a:r>
              <a:rPr sz="1200" spc="-20" dirty="0">
                <a:latin typeface="Times New Roman"/>
                <a:cs typeface="Times New Roman"/>
              </a:rPr>
              <a:t>into </a:t>
            </a:r>
            <a:r>
              <a:rPr sz="1200" dirty="0">
                <a:latin typeface="Times New Roman"/>
                <a:cs typeface="Times New Roman"/>
              </a:rPr>
              <a:t>equivalent</a:t>
            </a:r>
            <a:r>
              <a:rPr sz="1200" spc="-30" dirty="0">
                <a:latin typeface="Times New Roman"/>
                <a:cs typeface="Times New Roman"/>
              </a:rPr>
              <a:t> </a:t>
            </a:r>
            <a:r>
              <a:rPr sz="1200" dirty="0">
                <a:latin typeface="Times New Roman"/>
                <a:cs typeface="Times New Roman"/>
              </a:rPr>
              <a:t>machine</a:t>
            </a:r>
            <a:r>
              <a:rPr sz="1200" spc="-25" dirty="0">
                <a:latin typeface="Times New Roman"/>
                <a:cs typeface="Times New Roman"/>
              </a:rPr>
              <a:t> </a:t>
            </a:r>
            <a:r>
              <a:rPr sz="1200" dirty="0">
                <a:latin typeface="Times New Roman"/>
                <a:cs typeface="Times New Roman"/>
              </a:rPr>
              <a:t>language</a:t>
            </a:r>
            <a:r>
              <a:rPr sz="1200" spc="-10" dirty="0">
                <a:latin typeface="Times New Roman"/>
                <a:cs typeface="Times New Roman"/>
              </a:rPr>
              <a:t> instructions.</a:t>
            </a:r>
            <a:r>
              <a:rPr sz="1200" spc="-55" dirty="0">
                <a:latin typeface="Times New Roman"/>
                <a:cs typeface="Times New Roman"/>
              </a:rPr>
              <a:t> </a:t>
            </a:r>
            <a:r>
              <a:rPr sz="1200" dirty="0">
                <a:latin typeface="Times New Roman"/>
                <a:cs typeface="Times New Roman"/>
              </a:rPr>
              <a:t>Then</a:t>
            </a:r>
            <a:r>
              <a:rPr sz="1200" spc="-2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CPU</a:t>
            </a:r>
            <a:r>
              <a:rPr sz="1200" spc="-30" dirty="0">
                <a:latin typeface="Times New Roman"/>
                <a:cs typeface="Times New Roman"/>
              </a:rPr>
              <a:t> </a:t>
            </a:r>
            <a:r>
              <a:rPr sz="1200" dirty="0">
                <a:latin typeface="Times New Roman"/>
                <a:cs typeface="Times New Roman"/>
              </a:rPr>
              <a:t>executes</a:t>
            </a:r>
            <a:r>
              <a:rPr sz="1200" spc="-25" dirty="0">
                <a:latin typeface="Times New Roman"/>
                <a:cs typeface="Times New Roman"/>
              </a:rPr>
              <a:t> </a:t>
            </a:r>
            <a:r>
              <a:rPr sz="1200" spc="-10" dirty="0">
                <a:latin typeface="Times New Roman"/>
                <a:cs typeface="Times New Roman"/>
              </a:rPr>
              <a:t>those </a:t>
            </a:r>
            <a:r>
              <a:rPr sz="1200" dirty="0">
                <a:latin typeface="Times New Roman"/>
                <a:cs typeface="Times New Roman"/>
              </a:rPr>
              <a:t>machine</a:t>
            </a:r>
            <a:r>
              <a:rPr sz="1200" spc="-45" dirty="0">
                <a:latin typeface="Times New Roman"/>
                <a:cs typeface="Times New Roman"/>
              </a:rPr>
              <a:t> </a:t>
            </a:r>
            <a:r>
              <a:rPr sz="1200" dirty="0">
                <a:latin typeface="Times New Roman"/>
                <a:cs typeface="Times New Roman"/>
              </a:rPr>
              <a:t>language</a:t>
            </a:r>
            <a:r>
              <a:rPr sz="1200" spc="-15" dirty="0">
                <a:latin typeface="Times New Roman"/>
                <a:cs typeface="Times New Roman"/>
              </a:rPr>
              <a:t> </a:t>
            </a:r>
            <a:r>
              <a:rPr sz="1200" spc="-10" dirty="0">
                <a:latin typeface="Times New Roman"/>
                <a:cs typeface="Times New Roman"/>
              </a:rPr>
              <a:t>instructions.</a:t>
            </a:r>
            <a:r>
              <a:rPr sz="1200" spc="-75" dirty="0">
                <a:latin typeface="Times New Roman"/>
                <a:cs typeface="Times New Roman"/>
              </a:rPr>
              <a:t> </a:t>
            </a:r>
            <a:r>
              <a:rPr sz="1200" dirty="0">
                <a:latin typeface="Times New Roman"/>
                <a:cs typeface="Times New Roman"/>
              </a:rPr>
              <a:t>After</a:t>
            </a:r>
            <a:r>
              <a:rPr sz="1200" spc="-25" dirty="0">
                <a:latin typeface="Times New Roman"/>
                <a:cs typeface="Times New Roman"/>
              </a:rPr>
              <a:t> </a:t>
            </a:r>
            <a:r>
              <a:rPr sz="1200" dirty="0">
                <a:latin typeface="Times New Roman"/>
                <a:cs typeface="Times New Roman"/>
              </a:rPr>
              <a:t>that,</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interpreter</a:t>
            </a:r>
            <a:r>
              <a:rPr sz="1200" spc="-25" dirty="0">
                <a:latin typeface="Times New Roman"/>
                <a:cs typeface="Times New Roman"/>
              </a:rPr>
              <a:t> </a:t>
            </a:r>
            <a:r>
              <a:rPr sz="1200" dirty="0">
                <a:latin typeface="Times New Roman"/>
                <a:cs typeface="Times New Roman"/>
              </a:rPr>
              <a:t>reads</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translates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next</a:t>
            </a:r>
            <a:r>
              <a:rPr sz="1200" spc="-25" dirty="0">
                <a:latin typeface="Times New Roman"/>
                <a:cs typeface="Times New Roman"/>
              </a:rPr>
              <a:t> </a:t>
            </a:r>
            <a:r>
              <a:rPr sz="1200" dirty="0">
                <a:latin typeface="Times New Roman"/>
                <a:cs typeface="Times New Roman"/>
              </a:rPr>
              <a:t>instruction,</a:t>
            </a:r>
            <a:r>
              <a:rPr sz="1200" spc="-35"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so</a:t>
            </a:r>
            <a:r>
              <a:rPr sz="1200" spc="-20" dirty="0">
                <a:latin typeface="Times New Roman"/>
                <a:cs typeface="Times New Roman"/>
              </a:rPr>
              <a:t> </a:t>
            </a:r>
            <a:r>
              <a:rPr sz="1200" spc="-25" dirty="0">
                <a:latin typeface="Times New Roman"/>
                <a:cs typeface="Times New Roman"/>
              </a:rPr>
              <a:t>on.</a:t>
            </a:r>
            <a:endParaRPr sz="1200" dirty="0">
              <a:latin typeface="Times New Roman"/>
              <a:cs typeface="Times New Roman"/>
            </a:endParaRPr>
          </a:p>
          <a:p>
            <a:pPr>
              <a:lnSpc>
                <a:spcPct val="100000"/>
              </a:lnSpc>
              <a:spcBef>
                <a:spcPts val="1260"/>
              </a:spcBef>
              <a:buClr>
                <a:srgbClr val="3E762B"/>
              </a:buClr>
              <a:buFont typeface="Wingdings"/>
              <a:buChar char=""/>
            </a:pPr>
            <a:endParaRPr sz="1200" dirty="0">
              <a:latin typeface="Times New Roman"/>
              <a:cs typeface="Times New Roman"/>
            </a:endParaRPr>
          </a:p>
          <a:p>
            <a:pPr marL="434975" marR="1176020" indent="-172720">
              <a:lnSpc>
                <a:spcPct val="100000"/>
              </a:lnSpc>
              <a:buClr>
                <a:srgbClr val="3E762B"/>
              </a:buClr>
              <a:buFont typeface="Wingdings"/>
              <a:buChar char=""/>
              <a:tabLst>
                <a:tab pos="436245" algn="l"/>
              </a:tabLst>
            </a:pP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any</a:t>
            </a:r>
            <a:r>
              <a:rPr sz="1200" spc="-30" dirty="0">
                <a:latin typeface="Times New Roman"/>
                <a:cs typeface="Times New Roman"/>
              </a:rPr>
              <a:t> </a:t>
            </a:r>
            <a:r>
              <a:rPr sz="1200" dirty="0">
                <a:latin typeface="Times New Roman"/>
                <a:cs typeface="Times New Roman"/>
              </a:rPr>
              <a:t>statement</a:t>
            </a:r>
            <a:r>
              <a:rPr sz="1200" spc="-40"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changed</a:t>
            </a:r>
            <a:r>
              <a:rPr sz="1200" spc="-5" dirty="0">
                <a:latin typeface="Times New Roman"/>
                <a:cs typeface="Times New Roman"/>
              </a:rPr>
              <a:t> </a:t>
            </a:r>
            <a:r>
              <a:rPr sz="1200" dirty="0">
                <a:latin typeface="Times New Roman"/>
                <a:cs typeface="Times New Roman"/>
              </a:rPr>
              <a:t>in</a:t>
            </a:r>
            <a:r>
              <a:rPr sz="1200" spc="-3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source</a:t>
            </a:r>
            <a:r>
              <a:rPr sz="1200" spc="-20" dirty="0">
                <a:latin typeface="Times New Roman"/>
                <a:cs typeface="Times New Roman"/>
              </a:rPr>
              <a:t> </a:t>
            </a:r>
            <a:r>
              <a:rPr sz="1200" dirty="0">
                <a:latin typeface="Times New Roman"/>
                <a:cs typeface="Times New Roman"/>
              </a:rPr>
              <a:t>code</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program</a:t>
            </a:r>
            <a:r>
              <a:rPr sz="1200" spc="-15" dirty="0">
                <a:latin typeface="Times New Roman"/>
                <a:cs typeface="Times New Roman"/>
              </a:rPr>
              <a:t> </a:t>
            </a:r>
            <a:r>
              <a:rPr sz="1200" spc="-25" dirty="0">
                <a:latin typeface="Times New Roman"/>
                <a:cs typeface="Times New Roman"/>
              </a:rPr>
              <a:t>is 	</a:t>
            </a:r>
            <a:r>
              <a:rPr sz="1200" dirty="0">
                <a:latin typeface="Times New Roman"/>
                <a:cs typeface="Times New Roman"/>
              </a:rPr>
              <a:t>recompiled,</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interpreter</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faster</a:t>
            </a:r>
            <a:r>
              <a:rPr sz="1200" spc="-10" dirty="0">
                <a:latin typeface="Times New Roman"/>
                <a:cs typeface="Times New Roman"/>
              </a:rPr>
              <a:t> </a:t>
            </a:r>
            <a:r>
              <a:rPr sz="1200" dirty="0">
                <a:latin typeface="Times New Roman"/>
                <a:cs typeface="Times New Roman"/>
              </a:rPr>
              <a:t>than</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compiler.</a:t>
            </a:r>
            <a:endParaRPr sz="1200" dirty="0">
              <a:latin typeface="Times New Roman"/>
              <a:cs typeface="Times New Roman"/>
            </a:endParaRPr>
          </a:p>
          <a:p>
            <a:pPr marR="144145" algn="r">
              <a:lnSpc>
                <a:spcPts val="890"/>
              </a:lnSpc>
            </a:pPr>
            <a:r>
              <a:rPr sz="1000" b="1" spc="-25" dirty="0">
                <a:solidFill>
                  <a:srgbClr val="3E762B"/>
                </a:solidFill>
                <a:latin typeface="Corbel"/>
                <a:cs typeface="Corbel"/>
              </a:rPr>
              <a:t>14</a:t>
            </a:r>
            <a:endParaRPr sz="1000" dirty="0">
              <a:latin typeface="Corbel"/>
              <a:cs typeface="Corbel"/>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grpSp>
      <p:sp>
        <p:nvSpPr>
          <p:cNvPr id="6" name="object 6"/>
          <p:cNvSpPr txBox="1"/>
          <p:nvPr/>
        </p:nvSpPr>
        <p:spPr>
          <a:xfrm>
            <a:off x="609600" y="5065776"/>
            <a:ext cx="4841875" cy="594360"/>
          </a:xfrm>
          <a:prstGeom prst="rect">
            <a:avLst/>
          </a:prstGeom>
          <a:solidFill>
            <a:srgbClr val="539E39"/>
          </a:solidFill>
          <a:ln w="9144">
            <a:solidFill>
              <a:srgbClr val="3A7327"/>
            </a:solidFill>
          </a:ln>
        </p:spPr>
        <p:txBody>
          <a:bodyPr vert="horz" wrap="square" lIns="0" tIns="0" rIns="0" bIns="0" rtlCol="0">
            <a:spAutoFit/>
          </a:bodyPr>
          <a:lstStyle/>
          <a:p>
            <a:pPr marL="115570">
              <a:lnSpc>
                <a:spcPts val="2245"/>
              </a:lnSpc>
            </a:pPr>
            <a:r>
              <a:rPr sz="2000" b="1" dirty="0">
                <a:solidFill>
                  <a:srgbClr val="FFFFFF"/>
                </a:solidFill>
                <a:latin typeface="Georgia"/>
                <a:cs typeface="Georgia"/>
              </a:rPr>
              <a:t>Computer</a:t>
            </a:r>
            <a:r>
              <a:rPr sz="2000" b="1" spc="-65" dirty="0">
                <a:solidFill>
                  <a:srgbClr val="FFFFFF"/>
                </a:solidFill>
                <a:latin typeface="Georgia"/>
                <a:cs typeface="Georgia"/>
              </a:rPr>
              <a:t> </a:t>
            </a:r>
            <a:r>
              <a:rPr sz="2000" b="1" dirty="0">
                <a:solidFill>
                  <a:srgbClr val="FFFFFF"/>
                </a:solidFill>
                <a:latin typeface="Georgia"/>
                <a:cs typeface="Georgia"/>
              </a:rPr>
              <a:t>Architecture</a:t>
            </a:r>
            <a:r>
              <a:rPr sz="2000" b="1" spc="-75" dirty="0">
                <a:solidFill>
                  <a:srgbClr val="FFFFFF"/>
                </a:solidFill>
                <a:latin typeface="Georgia"/>
                <a:cs typeface="Georgia"/>
              </a:rPr>
              <a:t> </a:t>
            </a:r>
            <a:r>
              <a:rPr sz="2000" b="1" spc="-10" dirty="0">
                <a:solidFill>
                  <a:srgbClr val="FFFFFF"/>
                </a:solidFill>
                <a:latin typeface="Georgia"/>
                <a:cs typeface="Georgia"/>
              </a:rPr>
              <a:t>Module</a:t>
            </a:r>
            <a:endParaRPr sz="2000">
              <a:latin typeface="Georgia"/>
              <a:cs typeface="Georgia"/>
            </a:endParaRPr>
          </a:p>
          <a:p>
            <a:pPr marL="115570">
              <a:lnSpc>
                <a:spcPct val="100000"/>
              </a:lnSpc>
            </a:pPr>
            <a:r>
              <a:rPr sz="2000" b="1" spc="-10" dirty="0">
                <a:solidFill>
                  <a:srgbClr val="FFFFFF"/>
                </a:solidFill>
                <a:latin typeface="Georgia"/>
                <a:cs typeface="Georgia"/>
              </a:rPr>
              <a:t>Content</a:t>
            </a:r>
            <a:endParaRPr sz="20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7</a:t>
            </a:fld>
            <a:endParaRPr spc="-50" dirty="0"/>
          </a:p>
        </p:txBody>
      </p:sp>
      <p:sp>
        <p:nvSpPr>
          <p:cNvPr id="7" name="object 7"/>
          <p:cNvSpPr txBox="1"/>
          <p:nvPr/>
        </p:nvSpPr>
        <p:spPr>
          <a:xfrm>
            <a:off x="759561" y="5684646"/>
            <a:ext cx="5217160" cy="2356485"/>
          </a:xfrm>
          <a:prstGeom prst="rect">
            <a:avLst/>
          </a:prstGeom>
        </p:spPr>
        <p:txBody>
          <a:bodyPr vert="horz" wrap="square" lIns="0" tIns="13335" rIns="0" bIns="0" rtlCol="0">
            <a:spAutoFit/>
          </a:bodyPr>
          <a:lstStyle/>
          <a:p>
            <a:pPr marL="170180" indent="-170180">
              <a:lnSpc>
                <a:spcPts val="1235"/>
              </a:lnSpc>
              <a:spcBef>
                <a:spcPts val="105"/>
              </a:spcBef>
              <a:buClr>
                <a:srgbClr val="3E762B"/>
              </a:buClr>
              <a:buFont typeface="Wingdings"/>
              <a:buChar char=""/>
              <a:tabLst>
                <a:tab pos="170180" algn="l"/>
              </a:tabLst>
            </a:pPr>
            <a:r>
              <a:rPr sz="1100" b="1" dirty="0">
                <a:latin typeface="Times New Roman"/>
                <a:cs typeface="Times New Roman"/>
              </a:rPr>
              <a:t>Central</a:t>
            </a:r>
            <a:r>
              <a:rPr sz="1100" b="1" spc="-20" dirty="0">
                <a:latin typeface="Times New Roman"/>
                <a:cs typeface="Times New Roman"/>
              </a:rPr>
              <a:t> </a:t>
            </a:r>
            <a:r>
              <a:rPr sz="1100" b="1" dirty="0">
                <a:latin typeface="Times New Roman"/>
                <a:cs typeface="Times New Roman"/>
              </a:rPr>
              <a:t>Processing</a:t>
            </a:r>
            <a:r>
              <a:rPr sz="1100" b="1" spc="-40" dirty="0">
                <a:latin typeface="Times New Roman"/>
                <a:cs typeface="Times New Roman"/>
              </a:rPr>
              <a:t> </a:t>
            </a:r>
            <a:r>
              <a:rPr sz="1100" b="1" spc="-10" dirty="0">
                <a:latin typeface="Times New Roman"/>
                <a:cs typeface="Times New Roman"/>
              </a:rPr>
              <a:t>Unit</a:t>
            </a:r>
            <a:r>
              <a:rPr sz="1100" b="1" spc="-65" dirty="0">
                <a:latin typeface="Times New Roman"/>
                <a:cs typeface="Times New Roman"/>
              </a:rPr>
              <a:t> </a:t>
            </a:r>
            <a:r>
              <a:rPr sz="1100" b="1" spc="-10" dirty="0">
                <a:latin typeface="Times New Roman"/>
                <a:cs typeface="Times New Roman"/>
              </a:rPr>
              <a:t>Architecture</a:t>
            </a:r>
            <a:endParaRPr sz="1100">
              <a:latin typeface="Times New Roman"/>
              <a:cs typeface="Times New Roman"/>
            </a:endParaRPr>
          </a:p>
          <a:p>
            <a:pPr marL="454659" lvl="1" indent="-109220">
              <a:lnSpc>
                <a:spcPts val="1105"/>
              </a:lnSpc>
              <a:buClr>
                <a:srgbClr val="3E762B"/>
              </a:buClr>
              <a:buFont typeface="Arial MT"/>
              <a:buChar char="•"/>
              <a:tabLst>
                <a:tab pos="454659" algn="l"/>
              </a:tabLst>
            </a:pPr>
            <a:r>
              <a:rPr sz="1100" spc="-10" dirty="0">
                <a:latin typeface="Times New Roman"/>
                <a:cs typeface="Times New Roman"/>
              </a:rPr>
              <a:t>Design</a:t>
            </a:r>
            <a:r>
              <a:rPr sz="1100" spc="-75" dirty="0">
                <a:latin typeface="Times New Roman"/>
                <a:cs typeface="Times New Roman"/>
              </a:rPr>
              <a:t> </a:t>
            </a:r>
            <a:r>
              <a:rPr sz="1100" dirty="0">
                <a:latin typeface="Times New Roman"/>
                <a:cs typeface="Times New Roman"/>
              </a:rPr>
              <a:t>Approaches</a:t>
            </a:r>
            <a:r>
              <a:rPr sz="1100" spc="-20" dirty="0">
                <a:latin typeface="Times New Roman"/>
                <a:cs typeface="Times New Roman"/>
              </a:rPr>
              <a:t> </a:t>
            </a:r>
            <a:r>
              <a:rPr sz="1100" dirty="0">
                <a:latin typeface="Times New Roman"/>
                <a:cs typeface="Times New Roman"/>
              </a:rPr>
              <a:t>[</a:t>
            </a:r>
            <a:r>
              <a:rPr sz="1100" b="1" dirty="0">
                <a:solidFill>
                  <a:srgbClr val="FF0000"/>
                </a:solidFill>
                <a:latin typeface="Times New Roman"/>
                <a:cs typeface="Times New Roman"/>
              </a:rPr>
              <a:t>Stack</a:t>
            </a:r>
            <a:r>
              <a:rPr sz="1100" b="1" spc="-15" dirty="0">
                <a:solidFill>
                  <a:srgbClr val="FF0000"/>
                </a:solidFill>
                <a:latin typeface="Times New Roman"/>
                <a:cs typeface="Times New Roman"/>
              </a:rPr>
              <a:t> </a:t>
            </a:r>
            <a:r>
              <a:rPr sz="1100" dirty="0">
                <a:latin typeface="Times New Roman"/>
                <a:cs typeface="Times New Roman"/>
              </a:rPr>
              <a:t>–</a:t>
            </a:r>
            <a:r>
              <a:rPr sz="1100" spc="-10" dirty="0">
                <a:latin typeface="Times New Roman"/>
                <a:cs typeface="Times New Roman"/>
              </a:rPr>
              <a:t> </a:t>
            </a:r>
            <a:r>
              <a:rPr sz="1100" dirty="0">
                <a:latin typeface="Times New Roman"/>
                <a:cs typeface="Times New Roman"/>
              </a:rPr>
              <a:t>Pipelining</a:t>
            </a:r>
            <a:r>
              <a:rPr sz="1100" spc="-30" dirty="0">
                <a:latin typeface="Times New Roman"/>
                <a:cs typeface="Times New Roman"/>
              </a:rPr>
              <a:t> </a:t>
            </a:r>
            <a:r>
              <a:rPr sz="1100" dirty="0">
                <a:latin typeface="Times New Roman"/>
                <a:cs typeface="Times New Roman"/>
              </a:rPr>
              <a:t>– Interrupt</a:t>
            </a:r>
            <a:r>
              <a:rPr sz="1100" spc="-5" dirty="0">
                <a:latin typeface="Times New Roman"/>
                <a:cs typeface="Times New Roman"/>
              </a:rPr>
              <a:t> </a:t>
            </a:r>
            <a:r>
              <a:rPr sz="1100" dirty="0">
                <a:latin typeface="Times New Roman"/>
                <a:cs typeface="Times New Roman"/>
              </a:rPr>
              <a:t>–</a:t>
            </a:r>
            <a:r>
              <a:rPr sz="1100" spc="5" dirty="0">
                <a:latin typeface="Times New Roman"/>
                <a:cs typeface="Times New Roman"/>
              </a:rPr>
              <a:t> </a:t>
            </a:r>
            <a:r>
              <a:rPr sz="1100" dirty="0">
                <a:latin typeface="Times New Roman"/>
                <a:cs typeface="Times New Roman"/>
              </a:rPr>
              <a:t>Processor</a:t>
            </a:r>
            <a:r>
              <a:rPr sz="1100" spc="-30" dirty="0">
                <a:latin typeface="Times New Roman"/>
                <a:cs typeface="Times New Roman"/>
              </a:rPr>
              <a:t> </a:t>
            </a:r>
            <a:r>
              <a:rPr sz="1100" dirty="0">
                <a:latin typeface="Times New Roman"/>
                <a:cs typeface="Times New Roman"/>
              </a:rPr>
              <a:t>Organization</a:t>
            </a:r>
            <a:r>
              <a:rPr sz="1100" spc="-5" dirty="0">
                <a:latin typeface="Times New Roman"/>
                <a:cs typeface="Times New Roman"/>
              </a:rPr>
              <a:t> </a:t>
            </a:r>
            <a:r>
              <a:rPr sz="1100" spc="-50" dirty="0">
                <a:latin typeface="Times New Roman"/>
                <a:cs typeface="Times New Roman"/>
              </a:rPr>
              <a:t>–</a:t>
            </a:r>
            <a:endParaRPr sz="1100">
              <a:latin typeface="Times New Roman"/>
              <a:cs typeface="Times New Roman"/>
            </a:endParaRPr>
          </a:p>
          <a:p>
            <a:pPr marL="457200">
              <a:lnSpc>
                <a:spcPts val="1190"/>
              </a:lnSpc>
            </a:pPr>
            <a:r>
              <a:rPr sz="1100" b="1" dirty="0">
                <a:solidFill>
                  <a:srgbClr val="FF0000"/>
                </a:solidFill>
                <a:latin typeface="Times New Roman"/>
                <a:cs typeface="Times New Roman"/>
              </a:rPr>
              <a:t>Registers</a:t>
            </a:r>
            <a:r>
              <a:rPr sz="1100" b="1" spc="-35" dirty="0">
                <a:solidFill>
                  <a:srgbClr val="FF0000"/>
                </a:solidFill>
                <a:latin typeface="Times New Roman"/>
                <a:cs typeface="Times New Roman"/>
              </a:rPr>
              <a:t> </a:t>
            </a:r>
            <a:r>
              <a:rPr sz="1100" b="1" spc="-10" dirty="0">
                <a:solidFill>
                  <a:srgbClr val="FF0000"/>
                </a:solidFill>
                <a:latin typeface="Times New Roman"/>
                <a:cs typeface="Times New Roman"/>
              </a:rPr>
              <a:t>Organization</a:t>
            </a:r>
            <a:r>
              <a:rPr sz="1100" spc="-10" dirty="0">
                <a:latin typeface="Times New Roman"/>
                <a:cs typeface="Times New Roman"/>
              </a:rPr>
              <a:t>]</a:t>
            </a:r>
            <a:endParaRPr sz="1100">
              <a:latin typeface="Times New Roman"/>
              <a:cs typeface="Times New Roman"/>
            </a:endParaRPr>
          </a:p>
          <a:p>
            <a:pPr marL="454659" marR="5080" lvl="1" indent="-109220">
              <a:lnSpc>
                <a:spcPts val="1060"/>
              </a:lnSpc>
              <a:spcBef>
                <a:spcPts val="285"/>
              </a:spcBef>
              <a:buClr>
                <a:srgbClr val="3E762B"/>
              </a:buClr>
              <a:buFont typeface="Arial MT"/>
              <a:buChar char="•"/>
              <a:tabLst>
                <a:tab pos="457200" algn="l"/>
              </a:tabLst>
            </a:pPr>
            <a:r>
              <a:rPr sz="1100" dirty="0">
                <a:latin typeface="Times New Roman"/>
                <a:cs typeface="Times New Roman"/>
              </a:rPr>
              <a:t>Instruction</a:t>
            </a:r>
            <a:r>
              <a:rPr sz="1100" spc="-25" dirty="0">
                <a:latin typeface="Times New Roman"/>
                <a:cs typeface="Times New Roman"/>
              </a:rPr>
              <a:t> </a:t>
            </a:r>
            <a:r>
              <a:rPr sz="1100" dirty="0">
                <a:latin typeface="Times New Roman"/>
                <a:cs typeface="Times New Roman"/>
              </a:rPr>
              <a:t>Set</a:t>
            </a:r>
            <a:r>
              <a:rPr sz="1100" spc="-70" dirty="0">
                <a:latin typeface="Times New Roman"/>
                <a:cs typeface="Times New Roman"/>
              </a:rPr>
              <a:t> </a:t>
            </a:r>
            <a:r>
              <a:rPr sz="1100" dirty="0">
                <a:latin typeface="Times New Roman"/>
                <a:cs typeface="Times New Roman"/>
              </a:rPr>
              <a:t>Architecture</a:t>
            </a:r>
            <a:r>
              <a:rPr sz="1100" spc="-35" dirty="0">
                <a:latin typeface="Times New Roman"/>
                <a:cs typeface="Times New Roman"/>
              </a:rPr>
              <a:t> </a:t>
            </a:r>
            <a:r>
              <a:rPr sz="1100" dirty="0">
                <a:latin typeface="Times New Roman"/>
                <a:cs typeface="Times New Roman"/>
              </a:rPr>
              <a:t>[Instruction</a:t>
            </a:r>
            <a:r>
              <a:rPr sz="1100" spc="-25" dirty="0">
                <a:latin typeface="Times New Roman"/>
                <a:cs typeface="Times New Roman"/>
              </a:rPr>
              <a:t> </a:t>
            </a:r>
            <a:r>
              <a:rPr sz="1100" dirty="0">
                <a:latin typeface="Times New Roman"/>
                <a:cs typeface="Times New Roman"/>
              </a:rPr>
              <a:t>Format</a:t>
            </a:r>
            <a:r>
              <a:rPr sz="1100" spc="30" dirty="0">
                <a:latin typeface="Times New Roman"/>
                <a:cs typeface="Times New Roman"/>
              </a:rPr>
              <a:t> </a:t>
            </a:r>
            <a:r>
              <a:rPr sz="1100" dirty="0">
                <a:latin typeface="Times New Roman"/>
                <a:cs typeface="Times New Roman"/>
              </a:rPr>
              <a:t>–</a:t>
            </a:r>
            <a:r>
              <a:rPr sz="1100" spc="-75" dirty="0">
                <a:latin typeface="Times New Roman"/>
                <a:cs typeface="Times New Roman"/>
              </a:rPr>
              <a:t> </a:t>
            </a:r>
            <a:r>
              <a:rPr sz="1100" dirty="0">
                <a:latin typeface="Times New Roman"/>
                <a:cs typeface="Times New Roman"/>
              </a:rPr>
              <a:t>Addressing</a:t>
            </a:r>
            <a:r>
              <a:rPr sz="1100" spc="-40" dirty="0">
                <a:latin typeface="Times New Roman"/>
                <a:cs typeface="Times New Roman"/>
              </a:rPr>
              <a:t> </a:t>
            </a:r>
            <a:r>
              <a:rPr sz="1100" dirty="0">
                <a:latin typeface="Times New Roman"/>
                <a:cs typeface="Times New Roman"/>
              </a:rPr>
              <a:t>modes</a:t>
            </a:r>
            <a:r>
              <a:rPr sz="1100" spc="10" dirty="0">
                <a:latin typeface="Times New Roman"/>
                <a:cs typeface="Times New Roman"/>
              </a:rPr>
              <a:t> </a:t>
            </a:r>
            <a:r>
              <a:rPr sz="1100" dirty="0">
                <a:latin typeface="Times New Roman"/>
                <a:cs typeface="Times New Roman"/>
              </a:rPr>
              <a:t>– Data</a:t>
            </a:r>
            <a:r>
              <a:rPr sz="1100" spc="-35" dirty="0">
                <a:latin typeface="Times New Roman"/>
                <a:cs typeface="Times New Roman"/>
              </a:rPr>
              <a:t> </a:t>
            </a:r>
            <a:r>
              <a:rPr sz="1100" spc="-10" dirty="0">
                <a:latin typeface="Times New Roman"/>
                <a:cs typeface="Times New Roman"/>
              </a:rPr>
              <a:t>Transfer 	</a:t>
            </a:r>
            <a:r>
              <a:rPr sz="1100" dirty="0">
                <a:latin typeface="Times New Roman"/>
                <a:cs typeface="Times New Roman"/>
              </a:rPr>
              <a:t>and</a:t>
            </a:r>
            <a:r>
              <a:rPr sz="1100" spc="-10" dirty="0">
                <a:latin typeface="Times New Roman"/>
                <a:cs typeface="Times New Roman"/>
              </a:rPr>
              <a:t> Manipulation]</a:t>
            </a:r>
            <a:endParaRPr sz="1100">
              <a:latin typeface="Times New Roman"/>
              <a:cs typeface="Times New Roman"/>
            </a:endParaRPr>
          </a:p>
          <a:p>
            <a:pPr marL="455295" lvl="1" indent="-107950">
              <a:lnSpc>
                <a:spcPct val="100000"/>
              </a:lnSpc>
              <a:spcBef>
                <a:spcPts val="40"/>
              </a:spcBef>
              <a:buClr>
                <a:srgbClr val="3E762B"/>
              </a:buClr>
              <a:buFont typeface="Arial MT"/>
              <a:buChar char="•"/>
              <a:tabLst>
                <a:tab pos="455295" algn="l"/>
              </a:tabLst>
            </a:pPr>
            <a:r>
              <a:rPr sz="1100" dirty="0">
                <a:latin typeface="Times New Roman"/>
                <a:cs typeface="Times New Roman"/>
              </a:rPr>
              <a:t>Example</a:t>
            </a:r>
            <a:r>
              <a:rPr sz="1100" spc="-15" dirty="0">
                <a:latin typeface="Times New Roman"/>
                <a:cs typeface="Times New Roman"/>
              </a:rPr>
              <a:t> </a:t>
            </a:r>
            <a:r>
              <a:rPr sz="1100" dirty="0">
                <a:latin typeface="Times New Roman"/>
                <a:cs typeface="Times New Roman"/>
              </a:rPr>
              <a:t>architectures</a:t>
            </a:r>
            <a:r>
              <a:rPr sz="1100" spc="-55" dirty="0">
                <a:latin typeface="Times New Roman"/>
                <a:cs typeface="Times New Roman"/>
              </a:rPr>
              <a:t> </a:t>
            </a:r>
            <a:r>
              <a:rPr sz="1100" dirty="0">
                <a:latin typeface="Times New Roman"/>
                <a:cs typeface="Times New Roman"/>
              </a:rPr>
              <a:t>(e.g.</a:t>
            </a:r>
            <a:r>
              <a:rPr sz="1100" spc="-10" dirty="0">
                <a:latin typeface="Times New Roman"/>
                <a:cs typeface="Times New Roman"/>
              </a:rPr>
              <a:t> </a:t>
            </a:r>
            <a:r>
              <a:rPr sz="1100" dirty="0">
                <a:latin typeface="Times New Roman"/>
                <a:cs typeface="Times New Roman"/>
              </a:rPr>
              <a:t>CISC,</a:t>
            </a:r>
            <a:r>
              <a:rPr sz="1100" spc="5" dirty="0">
                <a:latin typeface="Times New Roman"/>
                <a:cs typeface="Times New Roman"/>
              </a:rPr>
              <a:t> </a:t>
            </a:r>
            <a:r>
              <a:rPr sz="1100" spc="-20" dirty="0">
                <a:latin typeface="Times New Roman"/>
                <a:cs typeface="Times New Roman"/>
              </a:rPr>
              <a:t>RISC)</a:t>
            </a:r>
            <a:endParaRPr sz="1100">
              <a:latin typeface="Times New Roman"/>
              <a:cs typeface="Times New Roman"/>
            </a:endParaRPr>
          </a:p>
          <a:p>
            <a:pPr marL="168910" indent="-168910">
              <a:lnSpc>
                <a:spcPct val="100000"/>
              </a:lnSpc>
              <a:spcBef>
                <a:spcPts val="635"/>
              </a:spcBef>
              <a:buClr>
                <a:srgbClr val="3E762B"/>
              </a:buClr>
              <a:buFont typeface="Wingdings"/>
              <a:buChar char=""/>
              <a:tabLst>
                <a:tab pos="168910" algn="l"/>
              </a:tabLst>
            </a:pPr>
            <a:r>
              <a:rPr sz="1100" b="1" dirty="0">
                <a:latin typeface="Times New Roman"/>
                <a:cs typeface="Times New Roman"/>
              </a:rPr>
              <a:t>Timing,</a:t>
            </a:r>
            <a:r>
              <a:rPr sz="1100" b="1" spc="-10" dirty="0">
                <a:latin typeface="Times New Roman"/>
                <a:cs typeface="Times New Roman"/>
              </a:rPr>
              <a:t> </a:t>
            </a:r>
            <a:r>
              <a:rPr sz="1100" b="1" dirty="0">
                <a:latin typeface="Times New Roman"/>
                <a:cs typeface="Times New Roman"/>
              </a:rPr>
              <a:t>Clock</a:t>
            </a:r>
            <a:r>
              <a:rPr sz="1100" b="1" spc="-5" dirty="0">
                <a:latin typeface="Times New Roman"/>
                <a:cs typeface="Times New Roman"/>
              </a:rPr>
              <a:t> </a:t>
            </a:r>
            <a:r>
              <a:rPr sz="1100" b="1" dirty="0">
                <a:latin typeface="Times New Roman"/>
                <a:cs typeface="Times New Roman"/>
              </a:rPr>
              <a:t>Parameters,</a:t>
            </a:r>
            <a:r>
              <a:rPr sz="1100" b="1" spc="-25" dirty="0">
                <a:latin typeface="Times New Roman"/>
                <a:cs typeface="Times New Roman"/>
              </a:rPr>
              <a:t> </a:t>
            </a:r>
            <a:r>
              <a:rPr sz="1100" b="1" dirty="0">
                <a:latin typeface="Times New Roman"/>
                <a:cs typeface="Times New Roman"/>
              </a:rPr>
              <a:t>and</a:t>
            </a:r>
            <a:r>
              <a:rPr sz="1100" b="1" spc="-5" dirty="0">
                <a:latin typeface="Times New Roman"/>
                <a:cs typeface="Times New Roman"/>
              </a:rPr>
              <a:t> </a:t>
            </a:r>
            <a:r>
              <a:rPr sz="1100" b="1" spc="-10" dirty="0">
                <a:latin typeface="Times New Roman"/>
                <a:cs typeface="Times New Roman"/>
              </a:rPr>
              <a:t>Processor</a:t>
            </a:r>
            <a:r>
              <a:rPr sz="1100" b="1" spc="-55" dirty="0">
                <a:latin typeface="Times New Roman"/>
                <a:cs typeface="Times New Roman"/>
              </a:rPr>
              <a:t> </a:t>
            </a:r>
            <a:r>
              <a:rPr sz="1100" b="1" spc="-10" dirty="0">
                <a:latin typeface="Times New Roman"/>
                <a:cs typeface="Times New Roman"/>
              </a:rPr>
              <a:t>Performance</a:t>
            </a:r>
            <a:endParaRPr sz="1100">
              <a:latin typeface="Times New Roman"/>
              <a:cs typeface="Times New Roman"/>
            </a:endParaRPr>
          </a:p>
          <a:p>
            <a:pPr marL="168275" marR="3879215" indent="-168275" algn="r">
              <a:lnSpc>
                <a:spcPts val="1240"/>
              </a:lnSpc>
              <a:spcBef>
                <a:spcPts val="434"/>
              </a:spcBef>
              <a:buClr>
                <a:srgbClr val="3E762B"/>
              </a:buClr>
              <a:buFont typeface="Wingdings"/>
              <a:buChar char=""/>
              <a:tabLst>
                <a:tab pos="168275" algn="l"/>
              </a:tabLst>
            </a:pPr>
            <a:r>
              <a:rPr sz="1100" b="1" dirty="0">
                <a:latin typeface="Times New Roman"/>
                <a:cs typeface="Times New Roman"/>
              </a:rPr>
              <a:t>Memory</a:t>
            </a:r>
            <a:r>
              <a:rPr sz="1100" b="1" spc="-25" dirty="0">
                <a:latin typeface="Times New Roman"/>
                <a:cs typeface="Times New Roman"/>
              </a:rPr>
              <a:t> </a:t>
            </a:r>
            <a:r>
              <a:rPr sz="1100" b="1" spc="-10" dirty="0">
                <a:latin typeface="Times New Roman"/>
                <a:cs typeface="Times New Roman"/>
              </a:rPr>
              <a:t>Hierarchy</a:t>
            </a:r>
            <a:endParaRPr sz="1100">
              <a:latin typeface="Times New Roman"/>
              <a:cs typeface="Times New Roman"/>
            </a:endParaRPr>
          </a:p>
          <a:p>
            <a:pPr marL="107950" marR="3941445" lvl="1" indent="-107950" algn="r">
              <a:lnSpc>
                <a:spcPts val="1240"/>
              </a:lnSpc>
              <a:buClr>
                <a:srgbClr val="3E762B"/>
              </a:buClr>
              <a:buFont typeface="Arial MT"/>
              <a:buChar char="•"/>
              <a:tabLst>
                <a:tab pos="107950" algn="l"/>
              </a:tabLst>
            </a:pPr>
            <a:r>
              <a:rPr sz="1100" dirty="0">
                <a:latin typeface="Times New Roman"/>
                <a:cs typeface="Times New Roman"/>
              </a:rPr>
              <a:t>Main</a:t>
            </a:r>
            <a:r>
              <a:rPr sz="1100" spc="-20" dirty="0">
                <a:latin typeface="Times New Roman"/>
                <a:cs typeface="Times New Roman"/>
              </a:rPr>
              <a:t> </a:t>
            </a:r>
            <a:r>
              <a:rPr sz="1100" spc="-10" dirty="0">
                <a:latin typeface="Times New Roman"/>
                <a:cs typeface="Times New Roman"/>
              </a:rPr>
              <a:t>Memory</a:t>
            </a:r>
            <a:endParaRPr sz="1100">
              <a:latin typeface="Times New Roman"/>
              <a:cs typeface="Times New Roman"/>
            </a:endParaRPr>
          </a:p>
          <a:p>
            <a:pPr marL="107950" marR="3886200" lvl="1" indent="-107950" algn="r">
              <a:lnSpc>
                <a:spcPct val="100000"/>
              </a:lnSpc>
              <a:spcBef>
                <a:spcPts val="35"/>
              </a:spcBef>
              <a:buClr>
                <a:srgbClr val="3E762B"/>
              </a:buClr>
              <a:buFont typeface="Arial MT"/>
              <a:buChar char="•"/>
              <a:tabLst>
                <a:tab pos="107950" algn="l"/>
              </a:tabLst>
            </a:pPr>
            <a:r>
              <a:rPr sz="1100" dirty="0">
                <a:latin typeface="Times New Roman"/>
                <a:cs typeface="Times New Roman"/>
              </a:rPr>
              <a:t>Cache</a:t>
            </a:r>
            <a:r>
              <a:rPr sz="1100" spc="-25" dirty="0">
                <a:latin typeface="Times New Roman"/>
                <a:cs typeface="Times New Roman"/>
              </a:rPr>
              <a:t> </a:t>
            </a:r>
            <a:r>
              <a:rPr sz="1100" spc="-10" dirty="0">
                <a:latin typeface="Times New Roman"/>
                <a:cs typeface="Times New Roman"/>
              </a:rPr>
              <a:t>Memory</a:t>
            </a:r>
            <a:endParaRPr sz="1100">
              <a:latin typeface="Times New Roman"/>
              <a:cs typeface="Times New Roman"/>
            </a:endParaRPr>
          </a:p>
          <a:p>
            <a:pPr marL="107950" marR="3848735" lvl="1" indent="-107950" algn="r">
              <a:lnSpc>
                <a:spcPct val="100000"/>
              </a:lnSpc>
              <a:spcBef>
                <a:spcPts val="40"/>
              </a:spcBef>
              <a:buClr>
                <a:srgbClr val="3E762B"/>
              </a:buClr>
              <a:buFont typeface="Arial MT"/>
              <a:buChar char="•"/>
              <a:tabLst>
                <a:tab pos="107950" algn="l"/>
              </a:tabLst>
            </a:pPr>
            <a:r>
              <a:rPr sz="1100" spc="-10" dirty="0">
                <a:latin typeface="Times New Roman"/>
                <a:cs typeface="Times New Roman"/>
              </a:rPr>
              <a:t>Virtual</a:t>
            </a:r>
            <a:r>
              <a:rPr sz="1100" spc="-25" dirty="0">
                <a:latin typeface="Times New Roman"/>
                <a:cs typeface="Times New Roman"/>
              </a:rPr>
              <a:t> </a:t>
            </a:r>
            <a:r>
              <a:rPr sz="1100" spc="-10" dirty="0">
                <a:latin typeface="Times New Roman"/>
                <a:cs typeface="Times New Roman"/>
              </a:rPr>
              <a:t>Memory</a:t>
            </a:r>
            <a:endParaRPr sz="1100">
              <a:latin typeface="Times New Roman"/>
              <a:cs typeface="Times New Roman"/>
            </a:endParaRPr>
          </a:p>
          <a:p>
            <a:pPr marL="170180" indent="-170180">
              <a:lnSpc>
                <a:spcPct val="100000"/>
              </a:lnSpc>
              <a:spcBef>
                <a:spcPts val="525"/>
              </a:spcBef>
              <a:buClr>
                <a:srgbClr val="3E762B"/>
              </a:buClr>
              <a:buFont typeface="Wingdings"/>
              <a:buChar char=""/>
              <a:tabLst>
                <a:tab pos="170180" algn="l"/>
              </a:tabLst>
            </a:pPr>
            <a:r>
              <a:rPr sz="1100" b="1" dirty="0">
                <a:latin typeface="Times New Roman"/>
                <a:cs typeface="Times New Roman"/>
              </a:rPr>
              <a:t>IOs</a:t>
            </a:r>
            <a:r>
              <a:rPr sz="1100" b="1" spc="-15" dirty="0">
                <a:latin typeface="Times New Roman"/>
                <a:cs typeface="Times New Roman"/>
              </a:rPr>
              <a:t> </a:t>
            </a:r>
            <a:r>
              <a:rPr sz="1100" b="1" dirty="0">
                <a:latin typeface="Times New Roman"/>
                <a:cs typeface="Times New Roman"/>
              </a:rPr>
              <a:t>and</a:t>
            </a:r>
            <a:r>
              <a:rPr sz="1100" b="1" spc="5" dirty="0">
                <a:latin typeface="Times New Roman"/>
                <a:cs typeface="Times New Roman"/>
              </a:rPr>
              <a:t> </a:t>
            </a:r>
            <a:r>
              <a:rPr sz="1100" b="1" dirty="0">
                <a:latin typeface="Times New Roman"/>
                <a:cs typeface="Times New Roman"/>
              </a:rPr>
              <a:t>memory</a:t>
            </a:r>
            <a:r>
              <a:rPr sz="1100" b="1" spc="-15" dirty="0">
                <a:latin typeface="Times New Roman"/>
                <a:cs typeface="Times New Roman"/>
              </a:rPr>
              <a:t> </a:t>
            </a:r>
            <a:r>
              <a:rPr sz="1100" b="1" spc="-10" dirty="0">
                <a:latin typeface="Times New Roman"/>
                <a:cs typeface="Times New Roman"/>
              </a:rPr>
              <a:t>interfacing</a:t>
            </a:r>
            <a:endParaRPr sz="1100">
              <a:latin typeface="Times New Roman"/>
              <a:cs typeface="Times New Roman"/>
            </a:endParaRPr>
          </a:p>
          <a:p>
            <a:pPr marL="170180" indent="-170180">
              <a:lnSpc>
                <a:spcPct val="100000"/>
              </a:lnSpc>
              <a:spcBef>
                <a:spcPts val="300"/>
              </a:spcBef>
              <a:buClr>
                <a:srgbClr val="3E762B"/>
              </a:buClr>
              <a:buFont typeface="Wingdings"/>
              <a:buChar char=""/>
              <a:tabLst>
                <a:tab pos="170180" algn="l"/>
              </a:tabLst>
            </a:pPr>
            <a:r>
              <a:rPr sz="1100" dirty="0">
                <a:latin typeface="Times New Roman"/>
                <a:cs typeface="Times New Roman"/>
              </a:rPr>
              <a:t>Hardware</a:t>
            </a:r>
            <a:r>
              <a:rPr sz="1100" spc="-45" dirty="0">
                <a:latin typeface="Times New Roman"/>
                <a:cs typeface="Times New Roman"/>
              </a:rPr>
              <a:t> </a:t>
            </a:r>
            <a:r>
              <a:rPr sz="1100" dirty="0">
                <a:latin typeface="Times New Roman"/>
                <a:cs typeface="Times New Roman"/>
              </a:rPr>
              <a:t>Description</a:t>
            </a:r>
            <a:r>
              <a:rPr sz="1100" spc="-50" dirty="0">
                <a:latin typeface="Times New Roman"/>
                <a:cs typeface="Times New Roman"/>
              </a:rPr>
              <a:t> </a:t>
            </a:r>
            <a:r>
              <a:rPr sz="1100" dirty="0">
                <a:latin typeface="Times New Roman"/>
                <a:cs typeface="Times New Roman"/>
              </a:rPr>
              <a:t>Languages</a:t>
            </a:r>
            <a:r>
              <a:rPr sz="1100" spc="-20" dirty="0">
                <a:latin typeface="Times New Roman"/>
                <a:cs typeface="Times New Roman"/>
              </a:rPr>
              <a:t> </a:t>
            </a:r>
            <a:r>
              <a:rPr sz="1100" dirty="0">
                <a:latin typeface="Times New Roman"/>
                <a:cs typeface="Times New Roman"/>
              </a:rPr>
              <a:t>(VHDL)</a:t>
            </a:r>
            <a:r>
              <a:rPr sz="1100" spc="-25" dirty="0">
                <a:latin typeface="Times New Roman"/>
                <a:cs typeface="Times New Roman"/>
              </a:rPr>
              <a:t> </a:t>
            </a:r>
            <a:r>
              <a:rPr sz="1100" dirty="0">
                <a:latin typeface="Times New Roman"/>
                <a:cs typeface="Times New Roman"/>
              </a:rPr>
              <a:t>in</a:t>
            </a:r>
            <a:r>
              <a:rPr sz="1100" spc="-30" dirty="0">
                <a:latin typeface="Times New Roman"/>
                <a:cs typeface="Times New Roman"/>
              </a:rPr>
              <a:t> </a:t>
            </a:r>
            <a:r>
              <a:rPr sz="1100" spc="-20" dirty="0">
                <a:latin typeface="Times New Roman"/>
                <a:cs typeface="Times New Roman"/>
              </a:rPr>
              <a:t>Lab.</a:t>
            </a:r>
            <a:endParaRPr sz="1100">
              <a:latin typeface="Times New Roman"/>
              <a:cs typeface="Times New Roman"/>
            </a:endParaRPr>
          </a:p>
        </p:txBody>
      </p:sp>
      <p:sp>
        <p:nvSpPr>
          <p:cNvPr id="8" name="object 8"/>
          <p:cNvSpPr txBox="1"/>
          <p:nvPr/>
        </p:nvSpPr>
        <p:spPr>
          <a:xfrm>
            <a:off x="6083172" y="7952333"/>
            <a:ext cx="137160" cy="177800"/>
          </a:xfrm>
          <a:prstGeom prst="rect">
            <a:avLst/>
          </a:prstGeom>
        </p:spPr>
        <p:txBody>
          <a:bodyPr vert="horz" wrap="square" lIns="0" tIns="12065" rIns="0" bIns="0" rtlCol="0">
            <a:spAutoFit/>
          </a:bodyPr>
          <a:lstStyle/>
          <a:p>
            <a:pPr>
              <a:lnSpc>
                <a:spcPct val="100000"/>
              </a:lnSpc>
              <a:spcBef>
                <a:spcPts val="95"/>
              </a:spcBef>
            </a:pPr>
            <a:r>
              <a:rPr sz="1000" b="1" spc="-25" dirty="0">
                <a:solidFill>
                  <a:srgbClr val="3E762B"/>
                </a:solidFill>
                <a:latin typeface="Corbel"/>
                <a:cs typeface="Corbel"/>
              </a:rPr>
              <a:t>15</a:t>
            </a:r>
            <a:endParaRPr sz="1000">
              <a:latin typeface="Corbel"/>
              <a:cs typeface="Corbe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8D6701F-70C2-EF4C-AFB2-7487AE028B8D}"/>
              </a:ext>
            </a:extLst>
          </p:cNvPr>
          <p:cNvGraphicFramePr>
            <a:graphicFrameLocks noGrp="1"/>
          </p:cNvGraphicFramePr>
          <p:nvPr>
            <p:extLst>
              <p:ext uri="{D42A27DB-BD31-4B8C-83A1-F6EECF244321}">
                <p14:modId xmlns:p14="http://schemas.microsoft.com/office/powerpoint/2010/main" val="1769093389"/>
              </p:ext>
            </p:extLst>
          </p:nvPr>
        </p:nvGraphicFramePr>
        <p:xfrm>
          <a:off x="495300" y="1220397"/>
          <a:ext cx="6057900" cy="6703206"/>
        </p:xfrm>
        <a:graphic>
          <a:graphicData uri="http://schemas.openxmlformats.org/drawingml/2006/table">
            <a:tbl>
              <a:tblPr>
                <a:tableStyleId>{69C7853C-536D-4A76-A0AE-DD22124D55A5}</a:tableStyleId>
              </a:tblPr>
              <a:tblGrid>
                <a:gridCol w="1476375">
                  <a:extLst>
                    <a:ext uri="{9D8B030D-6E8A-4147-A177-3AD203B41FA5}">
                      <a16:colId xmlns:a16="http://schemas.microsoft.com/office/drawing/2014/main" val="2191675173"/>
                    </a:ext>
                  </a:extLst>
                </a:gridCol>
                <a:gridCol w="1476375">
                  <a:extLst>
                    <a:ext uri="{9D8B030D-6E8A-4147-A177-3AD203B41FA5}">
                      <a16:colId xmlns:a16="http://schemas.microsoft.com/office/drawing/2014/main" val="2731324906"/>
                    </a:ext>
                  </a:extLst>
                </a:gridCol>
                <a:gridCol w="1476375">
                  <a:extLst>
                    <a:ext uri="{9D8B030D-6E8A-4147-A177-3AD203B41FA5}">
                      <a16:colId xmlns:a16="http://schemas.microsoft.com/office/drawing/2014/main" val="2819116426"/>
                    </a:ext>
                  </a:extLst>
                </a:gridCol>
                <a:gridCol w="1628775">
                  <a:extLst>
                    <a:ext uri="{9D8B030D-6E8A-4147-A177-3AD203B41FA5}">
                      <a16:colId xmlns:a16="http://schemas.microsoft.com/office/drawing/2014/main" val="2332536592"/>
                    </a:ext>
                  </a:extLst>
                </a:gridCol>
              </a:tblGrid>
              <a:tr h="69263">
                <a:tc>
                  <a:txBody>
                    <a:bodyPr/>
                    <a:lstStyle/>
                    <a:p>
                      <a:pPr>
                        <a:buNone/>
                      </a:pPr>
                      <a:r>
                        <a:rPr lang="en-US" sz="1400" dirty="0"/>
                        <a:t>Feature</a:t>
                      </a:r>
                    </a:p>
                  </a:txBody>
                  <a:tcPr marL="9895" marR="9895" marT="4947" marB="4947" anchor="ctr"/>
                </a:tc>
                <a:tc>
                  <a:txBody>
                    <a:bodyPr/>
                    <a:lstStyle/>
                    <a:p>
                      <a:pPr>
                        <a:buNone/>
                      </a:pPr>
                      <a:r>
                        <a:rPr lang="en-US" sz="1400"/>
                        <a:t>Assembler</a:t>
                      </a:r>
                    </a:p>
                  </a:txBody>
                  <a:tcPr marL="9895" marR="9895" marT="4947" marB="4947" anchor="ctr"/>
                </a:tc>
                <a:tc>
                  <a:txBody>
                    <a:bodyPr/>
                    <a:lstStyle/>
                    <a:p>
                      <a:pPr>
                        <a:buNone/>
                      </a:pPr>
                      <a:r>
                        <a:rPr lang="en-US" sz="1400"/>
                        <a:t>Compiler</a:t>
                      </a:r>
                    </a:p>
                  </a:txBody>
                  <a:tcPr marL="9895" marR="9895" marT="4947" marB="4947" anchor="ctr"/>
                </a:tc>
                <a:tc>
                  <a:txBody>
                    <a:bodyPr/>
                    <a:lstStyle/>
                    <a:p>
                      <a:pPr>
                        <a:buNone/>
                      </a:pPr>
                      <a:r>
                        <a:rPr lang="en-US" sz="1400"/>
                        <a:t>Interpreter</a:t>
                      </a:r>
                    </a:p>
                  </a:txBody>
                  <a:tcPr marL="9895" marR="9895" marT="4947" marB="4947" anchor="ctr"/>
                </a:tc>
                <a:extLst>
                  <a:ext uri="{0D108BD9-81ED-4DB2-BD59-A6C34878D82A}">
                    <a16:rowId xmlns:a16="http://schemas.microsoft.com/office/drawing/2014/main" val="1897088074"/>
                  </a:ext>
                </a:extLst>
              </a:tr>
              <a:tr h="366107">
                <a:tc>
                  <a:txBody>
                    <a:bodyPr/>
                    <a:lstStyle/>
                    <a:p>
                      <a:pPr>
                        <a:buNone/>
                      </a:pPr>
                      <a:r>
                        <a:rPr lang="en-US" sz="1400" b="1" dirty="0"/>
                        <a:t>Definition</a:t>
                      </a:r>
                      <a:endParaRPr lang="en-US" sz="1400" dirty="0"/>
                    </a:p>
                  </a:txBody>
                  <a:tcPr marL="9895" marR="9895" marT="4947" marB="4947" anchor="ctr"/>
                </a:tc>
                <a:tc>
                  <a:txBody>
                    <a:bodyPr/>
                    <a:lstStyle/>
                    <a:p>
                      <a:pPr>
                        <a:buNone/>
                      </a:pPr>
                      <a:r>
                        <a:rPr lang="en-US" sz="1400" dirty="0"/>
                        <a:t>Converts assembly language into machine code.</a:t>
                      </a:r>
                    </a:p>
                  </a:txBody>
                  <a:tcPr marL="9895" marR="9895" marT="4947" marB="4947" anchor="ctr"/>
                </a:tc>
                <a:tc>
                  <a:txBody>
                    <a:bodyPr/>
                    <a:lstStyle/>
                    <a:p>
                      <a:pPr>
                        <a:buNone/>
                      </a:pPr>
                      <a:r>
                        <a:rPr lang="en-US" sz="1400"/>
                        <a:t>Transforms source code into binary form (object code).</a:t>
                      </a:r>
                    </a:p>
                  </a:txBody>
                  <a:tcPr marL="9895" marR="9895" marT="4947" marB="4947" anchor="ctr"/>
                </a:tc>
                <a:tc>
                  <a:txBody>
                    <a:bodyPr/>
                    <a:lstStyle/>
                    <a:p>
                      <a:pPr>
                        <a:buNone/>
                      </a:pPr>
                      <a:endParaRPr lang="en-US" sz="1400" dirty="0"/>
                    </a:p>
                    <a:p>
                      <a:pPr>
                        <a:buNone/>
                      </a:pPr>
                      <a:r>
                        <a:rPr lang="en-US" sz="1400" dirty="0"/>
                        <a:t>Translates high-level language to machine code, instruction by instruction.</a:t>
                      </a:r>
                    </a:p>
                  </a:txBody>
                  <a:tcPr marL="9895" marR="9895" marT="4947" marB="4947" anchor="ctr"/>
                </a:tc>
                <a:extLst>
                  <a:ext uri="{0D108BD9-81ED-4DB2-BD59-A6C34878D82A}">
                    <a16:rowId xmlns:a16="http://schemas.microsoft.com/office/drawing/2014/main" val="3165501244"/>
                  </a:ext>
                </a:extLst>
              </a:tr>
              <a:tr h="247369">
                <a:tc>
                  <a:txBody>
                    <a:bodyPr/>
                    <a:lstStyle/>
                    <a:p>
                      <a:pPr>
                        <a:buNone/>
                      </a:pPr>
                      <a:r>
                        <a:rPr lang="en-US" sz="1400" b="1"/>
                        <a:t>Functionality</a:t>
                      </a:r>
                      <a:endParaRPr lang="en-US" sz="1400"/>
                    </a:p>
                  </a:txBody>
                  <a:tcPr marL="9895" marR="9895" marT="4947" marB="4947" anchor="ctr"/>
                </a:tc>
                <a:tc>
                  <a:txBody>
                    <a:bodyPr/>
                    <a:lstStyle/>
                    <a:p>
                      <a:pPr>
                        <a:buNone/>
                      </a:pPr>
                      <a:r>
                        <a:rPr lang="en-US" sz="1400" dirty="0"/>
                        <a:t>1:1 translation of instructions.</a:t>
                      </a:r>
                    </a:p>
                  </a:txBody>
                  <a:tcPr marL="9895" marR="9895" marT="4947" marB="4947" anchor="ctr"/>
                </a:tc>
                <a:tc>
                  <a:txBody>
                    <a:bodyPr/>
                    <a:lstStyle/>
                    <a:p>
                      <a:pPr>
                        <a:buNone/>
                      </a:pPr>
                      <a:r>
                        <a:rPr lang="fr-FR" sz="1400" dirty="0" err="1"/>
                        <a:t>Processes</a:t>
                      </a:r>
                      <a:r>
                        <a:rPr lang="fr-FR" sz="1400" dirty="0"/>
                        <a:t> </a:t>
                      </a:r>
                      <a:r>
                        <a:rPr lang="fr-FR" sz="1400" dirty="0" err="1"/>
                        <a:t>entire</a:t>
                      </a:r>
                      <a:r>
                        <a:rPr lang="fr-FR" sz="1400" dirty="0"/>
                        <a:t> code in multiple phases.</a:t>
                      </a:r>
                    </a:p>
                  </a:txBody>
                  <a:tcPr marL="9895" marR="9895" marT="4947" marB="4947" anchor="ctr"/>
                </a:tc>
                <a:tc>
                  <a:txBody>
                    <a:bodyPr/>
                    <a:lstStyle/>
                    <a:p>
                      <a:pPr>
                        <a:buNone/>
                      </a:pPr>
                      <a:r>
                        <a:rPr lang="en-US" sz="1400"/>
                        <a:t>Executes code line by line.</a:t>
                      </a:r>
                    </a:p>
                  </a:txBody>
                  <a:tcPr marL="9895" marR="9895" marT="4947" marB="4947" anchor="ctr"/>
                </a:tc>
                <a:extLst>
                  <a:ext uri="{0D108BD9-81ED-4DB2-BD59-A6C34878D82A}">
                    <a16:rowId xmlns:a16="http://schemas.microsoft.com/office/drawing/2014/main" val="3719038134"/>
                  </a:ext>
                </a:extLst>
              </a:tr>
              <a:tr h="247369">
                <a:tc>
                  <a:txBody>
                    <a:bodyPr/>
                    <a:lstStyle/>
                    <a:p>
                      <a:pPr>
                        <a:buNone/>
                      </a:pPr>
                      <a:r>
                        <a:rPr lang="en-US" sz="1400" b="1"/>
                        <a:t>Execution</a:t>
                      </a:r>
                      <a:endParaRPr lang="en-US" sz="1400"/>
                    </a:p>
                  </a:txBody>
                  <a:tcPr marL="9895" marR="9895" marT="4947" marB="4947" anchor="ctr"/>
                </a:tc>
                <a:tc>
                  <a:txBody>
                    <a:bodyPr/>
                    <a:lstStyle/>
                    <a:p>
                      <a:pPr>
                        <a:buNone/>
                      </a:pPr>
                      <a:r>
                        <a:rPr lang="en-US" sz="1400"/>
                        <a:t>Generate object code before execution.</a:t>
                      </a:r>
                    </a:p>
                  </a:txBody>
                  <a:tcPr marL="9895" marR="9895" marT="4947" marB="4947" anchor="ctr"/>
                </a:tc>
                <a:tc>
                  <a:txBody>
                    <a:bodyPr/>
                    <a:lstStyle/>
                    <a:p>
                      <a:pPr>
                        <a:buNone/>
                      </a:pPr>
                      <a:r>
                        <a:rPr lang="en-US" sz="1400" dirty="0"/>
                        <a:t>Generates executable code before running.</a:t>
                      </a:r>
                    </a:p>
                  </a:txBody>
                  <a:tcPr marL="9895" marR="9895" marT="4947" marB="4947" anchor="ctr"/>
                </a:tc>
                <a:tc>
                  <a:txBody>
                    <a:bodyPr/>
                    <a:lstStyle/>
                    <a:p>
                      <a:pPr>
                        <a:buNone/>
                      </a:pPr>
                      <a:r>
                        <a:rPr lang="en-US" sz="1400"/>
                        <a:t>Executes instructions immediately.</a:t>
                      </a:r>
                    </a:p>
                  </a:txBody>
                  <a:tcPr marL="9895" marR="9895" marT="4947" marB="4947" anchor="ctr"/>
                </a:tc>
                <a:extLst>
                  <a:ext uri="{0D108BD9-81ED-4DB2-BD59-A6C34878D82A}">
                    <a16:rowId xmlns:a16="http://schemas.microsoft.com/office/drawing/2014/main" val="2463167631"/>
                  </a:ext>
                </a:extLst>
              </a:tr>
              <a:tr h="366107">
                <a:tc>
                  <a:txBody>
                    <a:bodyPr/>
                    <a:lstStyle/>
                    <a:p>
                      <a:pPr>
                        <a:buNone/>
                      </a:pPr>
                      <a:r>
                        <a:rPr lang="en-US" sz="1400" b="1"/>
                        <a:t>Speed</a:t>
                      </a:r>
                      <a:endParaRPr lang="en-US" sz="1400"/>
                    </a:p>
                  </a:txBody>
                  <a:tcPr marL="9895" marR="9895" marT="4947" marB="4947" anchor="ctr"/>
                </a:tc>
                <a:tc>
                  <a:txBody>
                    <a:bodyPr/>
                    <a:lstStyle/>
                    <a:p>
                      <a:pPr>
                        <a:buNone/>
                      </a:pPr>
                      <a:r>
                        <a:rPr lang="en-US" sz="1400"/>
                        <a:t>Fast translation; efficient execution.</a:t>
                      </a:r>
                    </a:p>
                  </a:txBody>
                  <a:tcPr marL="9895" marR="9895" marT="4947" marB="4947" anchor="ctr"/>
                </a:tc>
                <a:tc>
                  <a:txBody>
                    <a:bodyPr/>
                    <a:lstStyle/>
                    <a:p>
                      <a:pPr>
                        <a:buNone/>
                      </a:pPr>
                      <a:r>
                        <a:rPr lang="en-US" sz="1400" dirty="0"/>
                        <a:t>Fast execution after initial compilation; slower during initial compilation.</a:t>
                      </a:r>
                    </a:p>
                  </a:txBody>
                  <a:tcPr marL="9895" marR="9895" marT="4947" marB="4947" anchor="ctr"/>
                </a:tc>
                <a:tc>
                  <a:txBody>
                    <a:bodyPr/>
                    <a:lstStyle/>
                    <a:p>
                      <a:pPr>
                        <a:buNone/>
                      </a:pPr>
                      <a:r>
                        <a:rPr lang="en-US" sz="1400"/>
                        <a:t>Slower execution; faster for development/testing.</a:t>
                      </a:r>
                    </a:p>
                  </a:txBody>
                  <a:tcPr marL="9895" marR="9895" marT="4947" marB="4947" anchor="ctr"/>
                </a:tc>
                <a:extLst>
                  <a:ext uri="{0D108BD9-81ED-4DB2-BD59-A6C34878D82A}">
                    <a16:rowId xmlns:a16="http://schemas.microsoft.com/office/drawing/2014/main" val="2189463658"/>
                  </a:ext>
                </a:extLst>
              </a:tr>
              <a:tr h="277054">
                <a:tc>
                  <a:txBody>
                    <a:bodyPr/>
                    <a:lstStyle/>
                    <a:p>
                      <a:pPr>
                        <a:buNone/>
                      </a:pPr>
                      <a:r>
                        <a:rPr lang="en-US" sz="1400" b="1"/>
                        <a:t>Use Cases</a:t>
                      </a:r>
                      <a:endParaRPr lang="en-US" sz="1400"/>
                    </a:p>
                  </a:txBody>
                  <a:tcPr marL="9895" marR="9895" marT="4947" marB="4947" anchor="ctr"/>
                </a:tc>
                <a:tc>
                  <a:txBody>
                    <a:bodyPr/>
                    <a:lstStyle/>
                    <a:p>
                      <a:pPr>
                        <a:buNone/>
                      </a:pPr>
                      <a:r>
                        <a:rPr lang="en-US" sz="1400"/>
                        <a:t>Systems programming, embedded systems.</a:t>
                      </a:r>
                    </a:p>
                  </a:txBody>
                  <a:tcPr marL="9895" marR="9895" marT="4947" marB="4947" anchor="ctr"/>
                </a:tc>
                <a:tc>
                  <a:txBody>
                    <a:bodyPr/>
                    <a:lstStyle/>
                    <a:p>
                      <a:pPr>
                        <a:buNone/>
                      </a:pPr>
                      <a:r>
                        <a:rPr lang="en-US" sz="1400"/>
                        <a:t>Software development, large applications, games.</a:t>
                      </a:r>
                    </a:p>
                  </a:txBody>
                  <a:tcPr marL="9895" marR="9895" marT="4947" marB="4947" anchor="ctr"/>
                </a:tc>
                <a:tc>
                  <a:txBody>
                    <a:bodyPr/>
                    <a:lstStyle/>
                    <a:p>
                      <a:pPr>
                        <a:buNone/>
                      </a:pPr>
                      <a:r>
                        <a:rPr lang="en-US" sz="1400"/>
                        <a:t>Scripting, web development, educational use.</a:t>
                      </a:r>
                    </a:p>
                  </a:txBody>
                  <a:tcPr marL="9895" marR="9895" marT="4947" marB="4947" anchor="ctr"/>
                </a:tc>
                <a:extLst>
                  <a:ext uri="{0D108BD9-81ED-4DB2-BD59-A6C34878D82A}">
                    <a16:rowId xmlns:a16="http://schemas.microsoft.com/office/drawing/2014/main" val="850050036"/>
                  </a:ext>
                </a:extLst>
              </a:tr>
              <a:tr h="277054">
                <a:tc>
                  <a:txBody>
                    <a:bodyPr/>
                    <a:lstStyle/>
                    <a:p>
                      <a:pPr>
                        <a:buNone/>
                      </a:pPr>
                      <a:r>
                        <a:rPr lang="en-US" sz="1400" b="1"/>
                        <a:t>Advantages</a:t>
                      </a:r>
                      <a:endParaRPr lang="en-US" sz="1400"/>
                    </a:p>
                  </a:txBody>
                  <a:tcPr marL="9895" marR="9895" marT="4947" marB="4947" anchor="ctr"/>
                </a:tc>
                <a:tc>
                  <a:txBody>
                    <a:bodyPr/>
                    <a:lstStyle/>
                    <a:p>
                      <a:pPr>
                        <a:buNone/>
                      </a:pPr>
                      <a:r>
                        <a:rPr lang="en-US" sz="1400"/>
                        <a:t>Optimizes code for specific hardware; efficient.</a:t>
                      </a:r>
                    </a:p>
                  </a:txBody>
                  <a:tcPr marL="9895" marR="9895" marT="4947" marB="4947" anchor="ctr"/>
                </a:tc>
                <a:tc>
                  <a:txBody>
                    <a:bodyPr/>
                    <a:lstStyle/>
                    <a:p>
                      <a:pPr>
                        <a:buNone/>
                      </a:pPr>
                      <a:r>
                        <a:rPr lang="en-US" sz="1400"/>
                        <a:t>Produces fast executables; can optimize code.</a:t>
                      </a:r>
                    </a:p>
                  </a:txBody>
                  <a:tcPr marL="9895" marR="9895" marT="4947" marB="4947" anchor="ctr"/>
                </a:tc>
                <a:tc>
                  <a:txBody>
                    <a:bodyPr/>
                    <a:lstStyle/>
                    <a:p>
                      <a:pPr>
                        <a:buNone/>
                      </a:pPr>
                      <a:r>
                        <a:rPr lang="en-US" sz="1400" dirty="0"/>
                        <a:t>Immediate execution; quick debugging.</a:t>
                      </a:r>
                    </a:p>
                  </a:txBody>
                  <a:tcPr marL="9895" marR="9895" marT="4947" marB="4947" anchor="ctr"/>
                </a:tc>
                <a:extLst>
                  <a:ext uri="{0D108BD9-81ED-4DB2-BD59-A6C34878D82A}">
                    <a16:rowId xmlns:a16="http://schemas.microsoft.com/office/drawing/2014/main" val="4241153397"/>
                  </a:ext>
                </a:extLst>
              </a:tr>
              <a:tr h="366107">
                <a:tc>
                  <a:txBody>
                    <a:bodyPr/>
                    <a:lstStyle/>
                    <a:p>
                      <a:pPr>
                        <a:buNone/>
                      </a:pPr>
                      <a:r>
                        <a:rPr lang="en-US" sz="1400" b="1"/>
                        <a:t>Drawbacks</a:t>
                      </a:r>
                      <a:endParaRPr lang="en-US" sz="1400"/>
                    </a:p>
                  </a:txBody>
                  <a:tcPr marL="9895" marR="9895" marT="4947" marB="4947" anchor="ctr"/>
                </a:tc>
                <a:tc>
                  <a:txBody>
                    <a:bodyPr/>
                    <a:lstStyle/>
                    <a:p>
                      <a:pPr>
                        <a:buNone/>
                      </a:pPr>
                      <a:r>
                        <a:rPr lang="en-US" sz="1400"/>
                        <a:t>Hardware-specific; requires detailed architecture knowledge.</a:t>
                      </a:r>
                    </a:p>
                  </a:txBody>
                  <a:tcPr marL="9895" marR="9895" marT="4947" marB="4947" anchor="ctr"/>
                </a:tc>
                <a:tc>
                  <a:txBody>
                    <a:bodyPr/>
                    <a:lstStyle/>
                    <a:p>
                      <a:pPr>
                        <a:buNone/>
                      </a:pPr>
                      <a:r>
                        <a:rPr lang="en-US" sz="1400"/>
                        <a:t>Longer compilation time; harder debugging due to late error detection.</a:t>
                      </a:r>
                    </a:p>
                  </a:txBody>
                  <a:tcPr marL="9895" marR="9895" marT="4947" marB="4947" anchor="ctr"/>
                </a:tc>
                <a:tc>
                  <a:txBody>
                    <a:bodyPr/>
                    <a:lstStyle/>
                    <a:p>
                      <a:pPr>
                        <a:buNone/>
                      </a:pPr>
                      <a:r>
                        <a:rPr lang="en-US" sz="1400" dirty="0"/>
                        <a:t>Less efficient for large programs; real-time translation overhead.</a:t>
                      </a:r>
                    </a:p>
                  </a:txBody>
                  <a:tcPr marL="9895" marR="9895" marT="4947" marB="4947" anchor="ctr"/>
                </a:tc>
                <a:extLst>
                  <a:ext uri="{0D108BD9-81ED-4DB2-BD59-A6C34878D82A}">
                    <a16:rowId xmlns:a16="http://schemas.microsoft.com/office/drawing/2014/main" val="3041993312"/>
                  </a:ext>
                </a:extLst>
              </a:tr>
              <a:tr h="247369">
                <a:tc>
                  <a:txBody>
                    <a:bodyPr/>
                    <a:lstStyle/>
                    <a:p>
                      <a:pPr>
                        <a:buNone/>
                      </a:pPr>
                      <a:r>
                        <a:rPr lang="en-US" sz="1400" b="1"/>
                        <a:t>Error Handling</a:t>
                      </a:r>
                      <a:endParaRPr lang="en-US" sz="1400"/>
                    </a:p>
                  </a:txBody>
                  <a:tcPr marL="9895" marR="9895" marT="4947" marB="4947" anchor="ctr"/>
                </a:tc>
                <a:tc>
                  <a:txBody>
                    <a:bodyPr/>
                    <a:lstStyle/>
                    <a:p>
                      <a:pPr>
                        <a:buNone/>
                      </a:pPr>
                      <a:r>
                        <a:rPr lang="en-US" sz="1400"/>
                        <a:t>Usually shows errors related to syntax.</a:t>
                      </a:r>
                    </a:p>
                  </a:txBody>
                  <a:tcPr marL="9895" marR="9895" marT="4947" marB="4947" anchor="ctr"/>
                </a:tc>
                <a:tc>
                  <a:txBody>
                    <a:bodyPr/>
                    <a:lstStyle/>
                    <a:p>
                      <a:pPr>
                        <a:buNone/>
                      </a:pPr>
                      <a:r>
                        <a:rPr lang="en-US" sz="1400" dirty="0"/>
                        <a:t>Displays errors after complete compilation.</a:t>
                      </a:r>
                    </a:p>
                  </a:txBody>
                  <a:tcPr marL="9895" marR="9895" marT="4947" marB="4947" anchor="ctr"/>
                </a:tc>
                <a:tc>
                  <a:txBody>
                    <a:bodyPr/>
                    <a:lstStyle/>
                    <a:p>
                      <a:pPr>
                        <a:buNone/>
                      </a:pPr>
                      <a:r>
                        <a:rPr lang="en-US" sz="1400" dirty="0"/>
                        <a:t>Catches and reports errors during execution.</a:t>
                      </a:r>
                    </a:p>
                  </a:txBody>
                  <a:tcPr marL="9895" marR="9895" marT="4947" marB="4947" anchor="ctr"/>
                </a:tc>
                <a:extLst>
                  <a:ext uri="{0D108BD9-81ED-4DB2-BD59-A6C34878D82A}">
                    <a16:rowId xmlns:a16="http://schemas.microsoft.com/office/drawing/2014/main" val="1419395284"/>
                  </a:ext>
                </a:extLst>
              </a:tr>
            </a:tbl>
          </a:graphicData>
        </a:graphic>
      </p:graphicFrame>
    </p:spTree>
    <p:extLst>
      <p:ext uri="{BB962C8B-B14F-4D97-AF65-F5344CB8AC3E}">
        <p14:creationId xmlns:p14="http://schemas.microsoft.com/office/powerpoint/2010/main" val="1051462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3188335"/>
          </a:xfrm>
          <a:prstGeom prst="rect">
            <a:avLst/>
          </a:prstGeom>
          <a:ln w="6096">
            <a:solidFill>
              <a:srgbClr val="FFFFFF"/>
            </a:solidFill>
          </a:ln>
        </p:spPr>
        <p:txBody>
          <a:bodyPr vert="horz" wrap="square" lIns="0" tIns="461645" rIns="0" bIns="0" rtlCol="0">
            <a:spAutoFit/>
          </a:bodyPr>
          <a:lstStyle/>
          <a:p>
            <a:pPr>
              <a:lnSpc>
                <a:spcPct val="100000"/>
              </a:lnSpc>
              <a:spcBef>
                <a:spcPts val="3635"/>
              </a:spcBef>
            </a:pPr>
            <a:endParaRPr sz="4000">
              <a:latin typeface="Times New Roman"/>
              <a:cs typeface="Times New Roman"/>
            </a:endParaRPr>
          </a:p>
          <a:p>
            <a:pPr algn="ctr">
              <a:lnSpc>
                <a:spcPct val="100000"/>
              </a:lnSpc>
            </a:pPr>
            <a:r>
              <a:rPr sz="4000" spc="-10" dirty="0">
                <a:solidFill>
                  <a:srgbClr val="FFFFFF"/>
                </a:solidFill>
                <a:latin typeface="Georgia"/>
                <a:cs typeface="Georgia"/>
              </a:rPr>
              <a:t>Registers</a:t>
            </a:r>
            <a:endParaRPr sz="4000">
              <a:latin typeface="Georgia"/>
              <a:cs typeface="Georgia"/>
            </a:endParaRPr>
          </a:p>
          <a:p>
            <a:pPr>
              <a:lnSpc>
                <a:spcPct val="100000"/>
              </a:lnSpc>
            </a:pPr>
            <a:endParaRPr sz="4000">
              <a:latin typeface="Georgia"/>
              <a:cs typeface="Georgia"/>
            </a:endParaRPr>
          </a:p>
          <a:p>
            <a:pPr>
              <a:lnSpc>
                <a:spcPct val="100000"/>
              </a:lnSpc>
              <a:spcBef>
                <a:spcPts val="1745"/>
              </a:spcBef>
            </a:pPr>
            <a:endParaRPr sz="4000">
              <a:latin typeface="Georgia"/>
              <a:cs typeface="Georgia"/>
            </a:endParaRPr>
          </a:p>
          <a:p>
            <a:pPr marR="499109" algn="r">
              <a:lnSpc>
                <a:spcPct val="100000"/>
              </a:lnSpc>
            </a:pPr>
            <a:r>
              <a:rPr sz="600" spc="-25" dirty="0">
                <a:solidFill>
                  <a:srgbClr val="FFFFFF"/>
                </a:solidFill>
                <a:latin typeface="Corbel"/>
                <a:cs typeface="Corbel"/>
              </a:rPr>
              <a:t>16</a:t>
            </a:r>
            <a:endParaRPr sz="600">
              <a:latin typeface="Corbel"/>
              <a:cs typeface="Corbel"/>
            </a:endParaRPr>
          </a:p>
        </p:txBody>
      </p:sp>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txBox="1"/>
          <p:nvPr/>
        </p:nvSpPr>
        <p:spPr>
          <a:xfrm>
            <a:off x="960119" y="5370576"/>
            <a:ext cx="4922520" cy="783590"/>
          </a:xfrm>
          <a:prstGeom prst="rect">
            <a:avLst/>
          </a:prstGeom>
          <a:solidFill>
            <a:srgbClr val="539E39"/>
          </a:solidFill>
          <a:ln w="9144">
            <a:solidFill>
              <a:srgbClr val="3A7327"/>
            </a:solidFill>
          </a:ln>
        </p:spPr>
        <p:txBody>
          <a:bodyPr vert="horz" wrap="square" lIns="0" tIns="128905" rIns="0" bIns="0" rtlCol="0">
            <a:spAutoFit/>
          </a:bodyPr>
          <a:lstStyle/>
          <a:p>
            <a:pPr marL="14604" algn="ctr">
              <a:lnSpc>
                <a:spcPct val="100000"/>
              </a:lnSpc>
              <a:spcBef>
                <a:spcPts val="1015"/>
              </a:spcBef>
            </a:pPr>
            <a:r>
              <a:rPr sz="3000" dirty="0">
                <a:latin typeface="Georgia"/>
                <a:cs typeface="Georgia"/>
              </a:rPr>
              <a:t>Registers</a:t>
            </a:r>
            <a:r>
              <a:rPr sz="3000" spc="-40" dirty="0">
                <a:latin typeface="Georgia"/>
                <a:cs typeface="Georgia"/>
              </a:rPr>
              <a:t> </a:t>
            </a:r>
            <a:r>
              <a:rPr sz="3000" spc="-10" dirty="0">
                <a:latin typeface="Georgia"/>
                <a:cs typeface="Georgia"/>
              </a:rPr>
              <a:t>Types</a:t>
            </a:r>
            <a:endParaRPr sz="30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9</a:t>
            </a:fld>
            <a:endParaRPr spc="-50" dirty="0"/>
          </a:p>
        </p:txBody>
      </p:sp>
      <p:sp>
        <p:nvSpPr>
          <p:cNvPr id="8" name="object 8"/>
          <p:cNvSpPr txBox="1"/>
          <p:nvPr/>
        </p:nvSpPr>
        <p:spPr>
          <a:xfrm>
            <a:off x="496823" y="4966715"/>
            <a:ext cx="5862955" cy="3188335"/>
          </a:xfrm>
          <a:prstGeom prst="rect">
            <a:avLst/>
          </a:prstGeom>
          <a:solidFill>
            <a:srgbClr val="FFFFFF"/>
          </a:solidFill>
        </p:spPr>
        <p:txBody>
          <a:bodyPr vert="horz" wrap="square" lIns="0" tIns="0" rIns="0" bIns="0" rtlCol="0">
            <a:spAutoFit/>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455"/>
              </a:spcBef>
            </a:pPr>
            <a:endParaRPr sz="1300">
              <a:latin typeface="Times New Roman"/>
              <a:cs typeface="Times New Roman"/>
            </a:endParaRPr>
          </a:p>
          <a:p>
            <a:pPr marL="775970" indent="-227965">
              <a:lnSpc>
                <a:spcPct val="100000"/>
              </a:lnSpc>
              <a:buClr>
                <a:srgbClr val="539E39"/>
              </a:buClr>
              <a:buSzPct val="80769"/>
              <a:buFont typeface="Corbel"/>
              <a:buChar char="•"/>
              <a:tabLst>
                <a:tab pos="775970" algn="l"/>
              </a:tabLst>
            </a:pPr>
            <a:r>
              <a:rPr sz="1300" b="1" spc="-20" dirty="0">
                <a:latin typeface="Times New Roman"/>
                <a:cs typeface="Times New Roman"/>
              </a:rPr>
              <a:t>User-</a:t>
            </a:r>
            <a:r>
              <a:rPr sz="1300" b="1" dirty="0">
                <a:latin typeface="Times New Roman"/>
                <a:cs typeface="Times New Roman"/>
              </a:rPr>
              <a:t>visible</a:t>
            </a:r>
            <a:r>
              <a:rPr sz="1300" b="1" spc="15" dirty="0">
                <a:latin typeface="Times New Roman"/>
                <a:cs typeface="Times New Roman"/>
              </a:rPr>
              <a:t> </a:t>
            </a:r>
            <a:r>
              <a:rPr sz="1300" b="1" spc="-10" dirty="0">
                <a:latin typeface="Times New Roman"/>
                <a:cs typeface="Times New Roman"/>
              </a:rPr>
              <a:t>registers</a:t>
            </a:r>
            <a:endParaRPr sz="1300">
              <a:latin typeface="Times New Roman"/>
              <a:cs typeface="Times New Roman"/>
            </a:endParaRPr>
          </a:p>
          <a:p>
            <a:pPr marL="775970" indent="-227965">
              <a:lnSpc>
                <a:spcPct val="100000"/>
              </a:lnSpc>
              <a:spcBef>
                <a:spcPts val="760"/>
              </a:spcBef>
              <a:buClr>
                <a:srgbClr val="539E39"/>
              </a:buClr>
              <a:buSzPct val="80769"/>
              <a:buFont typeface="Corbel"/>
              <a:buChar char="•"/>
              <a:tabLst>
                <a:tab pos="775970" algn="l"/>
              </a:tabLst>
            </a:pPr>
            <a:r>
              <a:rPr sz="1300" b="1" dirty="0">
                <a:latin typeface="Times New Roman"/>
                <a:cs typeface="Times New Roman"/>
              </a:rPr>
              <a:t>Control</a:t>
            </a:r>
            <a:r>
              <a:rPr sz="1300" b="1" spc="-40" dirty="0">
                <a:latin typeface="Times New Roman"/>
                <a:cs typeface="Times New Roman"/>
              </a:rPr>
              <a:t> </a:t>
            </a:r>
            <a:r>
              <a:rPr sz="1300" b="1" dirty="0">
                <a:latin typeface="Times New Roman"/>
                <a:cs typeface="Times New Roman"/>
              </a:rPr>
              <a:t>and</a:t>
            </a:r>
            <a:r>
              <a:rPr sz="1300" b="1" spc="-35" dirty="0">
                <a:latin typeface="Times New Roman"/>
                <a:cs typeface="Times New Roman"/>
              </a:rPr>
              <a:t> </a:t>
            </a:r>
            <a:r>
              <a:rPr sz="1300" b="1" dirty="0">
                <a:latin typeface="Times New Roman"/>
                <a:cs typeface="Times New Roman"/>
              </a:rPr>
              <a:t>status</a:t>
            </a:r>
            <a:r>
              <a:rPr sz="1300" b="1" spc="-35" dirty="0">
                <a:latin typeface="Times New Roman"/>
                <a:cs typeface="Times New Roman"/>
              </a:rPr>
              <a:t> </a:t>
            </a:r>
            <a:r>
              <a:rPr sz="1300" b="1" spc="-10" dirty="0">
                <a:latin typeface="Times New Roman"/>
                <a:cs typeface="Times New Roman"/>
              </a:rPr>
              <a:t>registers</a:t>
            </a: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05"/>
              </a:spcBef>
            </a:pPr>
            <a:endParaRPr sz="1300">
              <a:latin typeface="Times New Roman"/>
              <a:cs typeface="Times New Roman"/>
            </a:endParaRPr>
          </a:p>
          <a:p>
            <a:pPr marR="500380" algn="r">
              <a:lnSpc>
                <a:spcPct val="100000"/>
              </a:lnSpc>
            </a:pPr>
            <a:r>
              <a:rPr sz="600" spc="-25" dirty="0">
                <a:solidFill>
                  <a:srgbClr val="539E39"/>
                </a:solidFill>
                <a:latin typeface="Corbel"/>
                <a:cs typeface="Corbel"/>
              </a:rPr>
              <a:t>17</a:t>
            </a:r>
            <a:endParaRPr sz="600">
              <a:latin typeface="Corbel"/>
              <a:cs typeface="Corbe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Processor</a:t>
            </a:r>
            <a:r>
              <a:rPr spc="-114" dirty="0"/>
              <a:t> </a:t>
            </a:r>
            <a:r>
              <a:rPr spc="-10" dirty="0"/>
              <a:t>Registers</a:t>
            </a:r>
          </a:p>
        </p:txBody>
      </p:sp>
      <p:sp>
        <p:nvSpPr>
          <p:cNvPr id="3" name="object 3"/>
          <p:cNvSpPr txBox="1"/>
          <p:nvPr/>
        </p:nvSpPr>
        <p:spPr>
          <a:xfrm>
            <a:off x="746861" y="1517150"/>
            <a:ext cx="5408295" cy="2457450"/>
          </a:xfrm>
          <a:prstGeom prst="rect">
            <a:avLst/>
          </a:prstGeom>
        </p:spPr>
        <p:txBody>
          <a:bodyPr vert="horz" wrap="square" lIns="0" tIns="73660" rIns="0" bIns="0" rtlCol="0">
            <a:spAutoFit/>
          </a:bodyPr>
          <a:lstStyle/>
          <a:p>
            <a:pPr marL="240665" indent="-227965">
              <a:lnSpc>
                <a:spcPct val="100000"/>
              </a:lnSpc>
              <a:spcBef>
                <a:spcPts val="580"/>
              </a:spcBef>
              <a:buClr>
                <a:srgbClr val="3E762B"/>
              </a:buClr>
              <a:buFont typeface="Wingdings"/>
              <a:buChar char=""/>
              <a:tabLst>
                <a:tab pos="240665" algn="l"/>
              </a:tabLst>
            </a:pPr>
            <a:r>
              <a:rPr sz="1200" b="1" u="sng" spc="-25" dirty="0">
                <a:uFill>
                  <a:solidFill>
                    <a:srgbClr val="000000"/>
                  </a:solidFill>
                </a:uFill>
                <a:latin typeface="Times New Roman"/>
                <a:cs typeface="Times New Roman"/>
              </a:rPr>
              <a:t>User-</a:t>
            </a:r>
            <a:r>
              <a:rPr sz="1200" b="1" u="sng" dirty="0">
                <a:uFill>
                  <a:solidFill>
                    <a:srgbClr val="000000"/>
                  </a:solidFill>
                </a:uFill>
                <a:latin typeface="Times New Roman"/>
                <a:cs typeface="Times New Roman"/>
              </a:rPr>
              <a:t>visible</a:t>
            </a:r>
            <a:r>
              <a:rPr sz="1200" b="1" u="sng" spc="35" dirty="0">
                <a:uFill>
                  <a:solidFill>
                    <a:srgbClr val="000000"/>
                  </a:solidFill>
                </a:uFill>
                <a:latin typeface="Times New Roman"/>
                <a:cs typeface="Times New Roman"/>
              </a:rPr>
              <a:t> </a:t>
            </a:r>
            <a:r>
              <a:rPr sz="1200" b="1" u="sng" spc="-10" dirty="0">
                <a:uFill>
                  <a:solidFill>
                    <a:srgbClr val="000000"/>
                  </a:solidFill>
                </a:uFill>
                <a:latin typeface="Times New Roman"/>
                <a:cs typeface="Times New Roman"/>
              </a:rPr>
              <a:t>registers</a:t>
            </a:r>
            <a:endParaRPr sz="1200" dirty="0">
              <a:latin typeface="Times New Roman"/>
              <a:cs typeface="Times New Roman"/>
            </a:endParaRPr>
          </a:p>
          <a:p>
            <a:pPr marL="506095" lvl="1" indent="-127635">
              <a:lnSpc>
                <a:spcPct val="100000"/>
              </a:lnSpc>
              <a:spcBef>
                <a:spcPts val="459"/>
              </a:spcBef>
              <a:buClr>
                <a:srgbClr val="3E762B"/>
              </a:buClr>
              <a:buFont typeface="Wingdings"/>
              <a:buChar char=""/>
              <a:tabLst>
                <a:tab pos="506095" algn="l"/>
              </a:tabLst>
            </a:pPr>
            <a:r>
              <a:rPr sz="1150" dirty="0">
                <a:latin typeface="Times New Roman"/>
                <a:cs typeface="Times New Roman"/>
              </a:rPr>
              <a:t>General</a:t>
            </a:r>
            <a:r>
              <a:rPr sz="1150" spc="-50" dirty="0">
                <a:latin typeface="Times New Roman"/>
                <a:cs typeface="Times New Roman"/>
              </a:rPr>
              <a:t> </a:t>
            </a:r>
            <a:r>
              <a:rPr sz="1150" dirty="0">
                <a:latin typeface="Times New Roman"/>
                <a:cs typeface="Times New Roman"/>
              </a:rPr>
              <a:t>Purpose</a:t>
            </a:r>
            <a:r>
              <a:rPr sz="1150" spc="-50" dirty="0">
                <a:latin typeface="Times New Roman"/>
                <a:cs typeface="Times New Roman"/>
              </a:rPr>
              <a:t> </a:t>
            </a:r>
            <a:r>
              <a:rPr sz="1150" spc="-10" dirty="0">
                <a:latin typeface="Times New Roman"/>
                <a:cs typeface="Times New Roman"/>
              </a:rPr>
              <a:t>Registers</a:t>
            </a:r>
            <a:endParaRPr sz="1150" dirty="0">
              <a:latin typeface="Times New Roman"/>
              <a:cs typeface="Times New Roman"/>
            </a:endParaRPr>
          </a:p>
          <a:p>
            <a:pPr marL="506095" lvl="1" indent="-127635">
              <a:lnSpc>
                <a:spcPct val="100000"/>
              </a:lnSpc>
              <a:spcBef>
                <a:spcPts val="465"/>
              </a:spcBef>
              <a:buClr>
                <a:srgbClr val="3E762B"/>
              </a:buClr>
              <a:buFont typeface="Wingdings"/>
              <a:buChar char=""/>
              <a:tabLst>
                <a:tab pos="506095" algn="l"/>
              </a:tabLst>
            </a:pPr>
            <a:r>
              <a:rPr sz="1150" dirty="0">
                <a:latin typeface="Times New Roman"/>
                <a:cs typeface="Times New Roman"/>
              </a:rPr>
              <a:t>Data</a:t>
            </a:r>
            <a:r>
              <a:rPr sz="1150" spc="-35" dirty="0">
                <a:latin typeface="Times New Roman"/>
                <a:cs typeface="Times New Roman"/>
              </a:rPr>
              <a:t> </a:t>
            </a:r>
            <a:r>
              <a:rPr sz="1150" dirty="0">
                <a:latin typeface="Times New Roman"/>
                <a:cs typeface="Times New Roman"/>
              </a:rPr>
              <a:t>Registers</a:t>
            </a:r>
            <a:r>
              <a:rPr sz="1150" spc="-25" dirty="0">
                <a:latin typeface="Times New Roman"/>
                <a:cs typeface="Times New Roman"/>
              </a:rPr>
              <a:t> </a:t>
            </a:r>
            <a:r>
              <a:rPr sz="1150" dirty="0">
                <a:latin typeface="Times New Roman"/>
                <a:cs typeface="Times New Roman"/>
              </a:rPr>
              <a:t>(for</a:t>
            </a:r>
            <a:r>
              <a:rPr sz="1150" spc="-10" dirty="0">
                <a:latin typeface="Times New Roman"/>
                <a:cs typeface="Times New Roman"/>
              </a:rPr>
              <a:t> </a:t>
            </a:r>
            <a:r>
              <a:rPr sz="1150" dirty="0">
                <a:latin typeface="Times New Roman"/>
                <a:cs typeface="Times New Roman"/>
              </a:rPr>
              <a:t>integers,</a:t>
            </a:r>
            <a:r>
              <a:rPr sz="1150" spc="-35" dirty="0">
                <a:latin typeface="Times New Roman"/>
                <a:cs typeface="Times New Roman"/>
              </a:rPr>
              <a:t> </a:t>
            </a:r>
            <a:r>
              <a:rPr sz="1150" spc="-10" dirty="0">
                <a:latin typeface="Times New Roman"/>
                <a:cs typeface="Times New Roman"/>
              </a:rPr>
              <a:t>fixed-</a:t>
            </a:r>
            <a:r>
              <a:rPr sz="1150" dirty="0">
                <a:latin typeface="Times New Roman"/>
                <a:cs typeface="Times New Roman"/>
              </a:rPr>
              <a:t>point,</a:t>
            </a:r>
            <a:r>
              <a:rPr sz="1150" spc="-35" dirty="0">
                <a:latin typeface="Times New Roman"/>
                <a:cs typeface="Times New Roman"/>
              </a:rPr>
              <a:t> </a:t>
            </a:r>
            <a:r>
              <a:rPr sz="1150" dirty="0">
                <a:latin typeface="Times New Roman"/>
                <a:cs typeface="Times New Roman"/>
              </a:rPr>
              <a:t>or</a:t>
            </a:r>
            <a:r>
              <a:rPr sz="1150" spc="-35" dirty="0">
                <a:latin typeface="Times New Roman"/>
                <a:cs typeface="Times New Roman"/>
              </a:rPr>
              <a:t> </a:t>
            </a:r>
            <a:r>
              <a:rPr sz="1150" spc="-10" dirty="0">
                <a:latin typeface="Times New Roman"/>
                <a:cs typeface="Times New Roman"/>
              </a:rPr>
              <a:t>floating-</a:t>
            </a:r>
            <a:r>
              <a:rPr sz="1150" dirty="0">
                <a:latin typeface="Times New Roman"/>
                <a:cs typeface="Times New Roman"/>
              </a:rPr>
              <a:t>point</a:t>
            </a:r>
            <a:r>
              <a:rPr sz="1150" spc="-30" dirty="0">
                <a:latin typeface="Times New Roman"/>
                <a:cs typeface="Times New Roman"/>
              </a:rPr>
              <a:t> </a:t>
            </a:r>
            <a:r>
              <a:rPr sz="1150" spc="-10" dirty="0">
                <a:latin typeface="Times New Roman"/>
                <a:cs typeface="Times New Roman"/>
              </a:rPr>
              <a:t>numbers)</a:t>
            </a:r>
            <a:endParaRPr sz="1150" dirty="0">
              <a:latin typeface="Times New Roman"/>
              <a:cs typeface="Times New Roman"/>
            </a:endParaRPr>
          </a:p>
          <a:p>
            <a:pPr marL="497840" lvl="1" indent="-119380">
              <a:lnSpc>
                <a:spcPct val="100000"/>
              </a:lnSpc>
              <a:spcBef>
                <a:spcPts val="455"/>
              </a:spcBef>
              <a:buClr>
                <a:srgbClr val="3E762B"/>
              </a:buClr>
              <a:buFont typeface="Wingdings"/>
              <a:buChar char=""/>
              <a:tabLst>
                <a:tab pos="497840" algn="l"/>
              </a:tabLst>
            </a:pPr>
            <a:r>
              <a:rPr sz="1150" dirty="0">
                <a:latin typeface="Times New Roman"/>
                <a:cs typeface="Times New Roman"/>
              </a:rPr>
              <a:t>Address</a:t>
            </a:r>
            <a:r>
              <a:rPr sz="1150" spc="-35" dirty="0">
                <a:latin typeface="Times New Roman"/>
                <a:cs typeface="Times New Roman"/>
              </a:rPr>
              <a:t> </a:t>
            </a:r>
            <a:r>
              <a:rPr sz="1150" dirty="0">
                <a:latin typeface="Times New Roman"/>
                <a:cs typeface="Times New Roman"/>
              </a:rPr>
              <a:t>Registers</a:t>
            </a:r>
            <a:r>
              <a:rPr sz="1150" spc="-35" dirty="0">
                <a:latin typeface="Times New Roman"/>
                <a:cs typeface="Times New Roman"/>
              </a:rPr>
              <a:t> </a:t>
            </a:r>
            <a:r>
              <a:rPr sz="1150" dirty="0">
                <a:latin typeface="Times New Roman"/>
                <a:cs typeface="Times New Roman"/>
              </a:rPr>
              <a:t>(for</a:t>
            </a:r>
            <a:r>
              <a:rPr sz="1150" spc="-25" dirty="0">
                <a:latin typeface="Times New Roman"/>
                <a:cs typeface="Times New Roman"/>
              </a:rPr>
              <a:t> </a:t>
            </a:r>
            <a:r>
              <a:rPr sz="1150" dirty="0">
                <a:latin typeface="Times New Roman"/>
                <a:cs typeface="Times New Roman"/>
              </a:rPr>
              <a:t>address,</a:t>
            </a:r>
            <a:r>
              <a:rPr sz="1150" spc="-30" dirty="0">
                <a:latin typeface="Times New Roman"/>
                <a:cs typeface="Times New Roman"/>
              </a:rPr>
              <a:t> </a:t>
            </a:r>
            <a:r>
              <a:rPr sz="1150" dirty="0">
                <a:latin typeface="Times New Roman"/>
                <a:cs typeface="Times New Roman"/>
              </a:rPr>
              <a:t>index,</a:t>
            </a:r>
            <a:r>
              <a:rPr sz="1150" spc="-40" dirty="0">
                <a:latin typeface="Times New Roman"/>
                <a:cs typeface="Times New Roman"/>
              </a:rPr>
              <a:t> </a:t>
            </a:r>
            <a:r>
              <a:rPr sz="1150" dirty="0">
                <a:latin typeface="Times New Roman"/>
                <a:cs typeface="Times New Roman"/>
              </a:rPr>
              <a:t>stack</a:t>
            </a:r>
            <a:r>
              <a:rPr sz="1150" spc="-45" dirty="0">
                <a:latin typeface="Times New Roman"/>
                <a:cs typeface="Times New Roman"/>
              </a:rPr>
              <a:t> </a:t>
            </a:r>
            <a:r>
              <a:rPr sz="1150" spc="-10" dirty="0">
                <a:latin typeface="Times New Roman"/>
                <a:cs typeface="Times New Roman"/>
              </a:rPr>
              <a:t>pointer,</a:t>
            </a:r>
            <a:r>
              <a:rPr sz="1150" spc="-55" dirty="0">
                <a:latin typeface="Times New Roman"/>
                <a:cs typeface="Times New Roman"/>
              </a:rPr>
              <a:t> </a:t>
            </a:r>
            <a:r>
              <a:rPr sz="1150" dirty="0">
                <a:latin typeface="Times New Roman"/>
                <a:cs typeface="Times New Roman"/>
              </a:rPr>
              <a:t>or</a:t>
            </a:r>
            <a:r>
              <a:rPr sz="1150" spc="-30" dirty="0">
                <a:latin typeface="Times New Roman"/>
                <a:cs typeface="Times New Roman"/>
              </a:rPr>
              <a:t> </a:t>
            </a:r>
            <a:r>
              <a:rPr sz="1150" dirty="0">
                <a:latin typeface="Times New Roman"/>
                <a:cs typeface="Times New Roman"/>
              </a:rPr>
              <a:t>segment</a:t>
            </a:r>
            <a:r>
              <a:rPr sz="1150" spc="-30" dirty="0">
                <a:latin typeface="Times New Roman"/>
                <a:cs typeface="Times New Roman"/>
              </a:rPr>
              <a:t> </a:t>
            </a:r>
            <a:r>
              <a:rPr sz="1150" spc="-10" dirty="0">
                <a:latin typeface="Times New Roman"/>
                <a:cs typeface="Times New Roman"/>
              </a:rPr>
              <a:t>pointer)</a:t>
            </a:r>
            <a:endParaRPr sz="1150" dirty="0">
              <a:latin typeface="Times New Roman"/>
              <a:cs typeface="Times New Roman"/>
            </a:endParaRPr>
          </a:p>
          <a:p>
            <a:pPr marL="506095" lvl="1" indent="-127635">
              <a:lnSpc>
                <a:spcPct val="100000"/>
              </a:lnSpc>
              <a:spcBef>
                <a:spcPts val="470"/>
              </a:spcBef>
              <a:buClr>
                <a:srgbClr val="3E762B"/>
              </a:buClr>
              <a:buFont typeface="Wingdings"/>
              <a:buChar char=""/>
              <a:tabLst>
                <a:tab pos="506095" algn="l"/>
              </a:tabLst>
            </a:pPr>
            <a:r>
              <a:rPr sz="1150" dirty="0">
                <a:latin typeface="Times New Roman"/>
                <a:cs typeface="Times New Roman"/>
              </a:rPr>
              <a:t>Condition</a:t>
            </a:r>
            <a:r>
              <a:rPr sz="1150" spc="-45" dirty="0">
                <a:latin typeface="Times New Roman"/>
                <a:cs typeface="Times New Roman"/>
              </a:rPr>
              <a:t> </a:t>
            </a:r>
            <a:r>
              <a:rPr sz="1150" dirty="0">
                <a:latin typeface="Times New Roman"/>
                <a:cs typeface="Times New Roman"/>
              </a:rPr>
              <a:t>Codes</a:t>
            </a:r>
            <a:r>
              <a:rPr sz="1150" spc="-25" dirty="0">
                <a:latin typeface="Times New Roman"/>
                <a:cs typeface="Times New Roman"/>
              </a:rPr>
              <a:t> </a:t>
            </a:r>
            <a:r>
              <a:rPr sz="1150" spc="-10" dirty="0">
                <a:latin typeface="Times New Roman"/>
                <a:cs typeface="Times New Roman"/>
              </a:rPr>
              <a:t>Registers</a:t>
            </a:r>
            <a:endParaRPr sz="1150" dirty="0">
              <a:latin typeface="Times New Roman"/>
              <a:cs typeface="Times New Roman"/>
            </a:endParaRPr>
          </a:p>
          <a:p>
            <a:pPr marL="240665" indent="-227965">
              <a:lnSpc>
                <a:spcPct val="100000"/>
              </a:lnSpc>
              <a:spcBef>
                <a:spcPts val="455"/>
              </a:spcBef>
              <a:buClr>
                <a:srgbClr val="3E762B"/>
              </a:buClr>
              <a:buFont typeface="Wingdings"/>
              <a:buChar char=""/>
              <a:tabLst>
                <a:tab pos="240665" algn="l"/>
              </a:tabLst>
            </a:pPr>
            <a:r>
              <a:rPr sz="1200" b="1" u="sng" dirty="0">
                <a:uFill>
                  <a:solidFill>
                    <a:srgbClr val="000000"/>
                  </a:solidFill>
                </a:uFill>
                <a:latin typeface="Times New Roman"/>
                <a:cs typeface="Times New Roman"/>
              </a:rPr>
              <a:t>Control</a:t>
            </a:r>
            <a:r>
              <a:rPr sz="1200" b="1" u="sng" spc="-1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and</a:t>
            </a:r>
            <a:r>
              <a:rPr sz="1200" b="1" u="sng" spc="-25"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status</a:t>
            </a:r>
            <a:r>
              <a:rPr sz="1200" b="1" u="sng" spc="-5" dirty="0">
                <a:uFill>
                  <a:solidFill>
                    <a:srgbClr val="000000"/>
                  </a:solidFill>
                </a:uFill>
                <a:latin typeface="Times New Roman"/>
                <a:cs typeface="Times New Roman"/>
              </a:rPr>
              <a:t> </a:t>
            </a:r>
            <a:r>
              <a:rPr sz="1200" b="1" u="sng" spc="-10" dirty="0">
                <a:uFill>
                  <a:solidFill>
                    <a:srgbClr val="000000"/>
                  </a:solidFill>
                </a:uFill>
                <a:latin typeface="Times New Roman"/>
                <a:cs typeface="Times New Roman"/>
              </a:rPr>
              <a:t>registers</a:t>
            </a:r>
            <a:endParaRPr sz="1200" dirty="0">
              <a:latin typeface="Times New Roman"/>
              <a:cs typeface="Times New Roman"/>
            </a:endParaRPr>
          </a:p>
          <a:p>
            <a:pPr marL="469900" marR="417195" lvl="1" indent="-91440">
              <a:lnSpc>
                <a:spcPts val="1250"/>
              </a:lnSpc>
              <a:spcBef>
                <a:spcPts val="605"/>
              </a:spcBef>
              <a:buFont typeface="Wingdings"/>
              <a:buChar char=""/>
              <a:tabLst>
                <a:tab pos="469900" algn="l"/>
                <a:tab pos="506095" algn="l"/>
              </a:tabLst>
            </a:pPr>
            <a:r>
              <a:rPr sz="1150" dirty="0">
                <a:solidFill>
                  <a:srgbClr val="3E762B"/>
                </a:solidFill>
                <a:latin typeface="Times New Roman"/>
                <a:cs typeface="Times New Roman"/>
              </a:rPr>
              <a:t>	</a:t>
            </a:r>
            <a:r>
              <a:rPr sz="1150" dirty="0">
                <a:latin typeface="Times New Roman"/>
                <a:cs typeface="Times New Roman"/>
              </a:rPr>
              <a:t>Control</a:t>
            </a:r>
            <a:r>
              <a:rPr sz="1150" spc="-35" dirty="0">
                <a:latin typeface="Times New Roman"/>
                <a:cs typeface="Times New Roman"/>
              </a:rPr>
              <a:t> </a:t>
            </a:r>
            <a:r>
              <a:rPr sz="1150" dirty="0">
                <a:latin typeface="Times New Roman"/>
                <a:cs typeface="Times New Roman"/>
              </a:rPr>
              <a:t>word</a:t>
            </a:r>
            <a:r>
              <a:rPr sz="1150" spc="-40" dirty="0">
                <a:latin typeface="Times New Roman"/>
                <a:cs typeface="Times New Roman"/>
              </a:rPr>
              <a:t> </a:t>
            </a:r>
            <a:r>
              <a:rPr sz="1150" dirty="0">
                <a:latin typeface="Times New Roman"/>
                <a:cs typeface="Times New Roman"/>
              </a:rPr>
              <a:t>that</a:t>
            </a:r>
            <a:r>
              <a:rPr sz="1150" spc="-30" dirty="0">
                <a:latin typeface="Times New Roman"/>
                <a:cs typeface="Times New Roman"/>
              </a:rPr>
              <a:t> </a:t>
            </a:r>
            <a:r>
              <a:rPr sz="1150" dirty="0">
                <a:latin typeface="Times New Roman"/>
                <a:cs typeface="Times New Roman"/>
              </a:rPr>
              <a:t>contains</a:t>
            </a:r>
            <a:r>
              <a:rPr sz="1150" spc="-45" dirty="0">
                <a:latin typeface="Times New Roman"/>
                <a:cs typeface="Times New Roman"/>
              </a:rPr>
              <a:t> </a:t>
            </a:r>
            <a:r>
              <a:rPr sz="1150" dirty="0">
                <a:latin typeface="Times New Roman"/>
                <a:cs typeface="Times New Roman"/>
              </a:rPr>
              <a:t>the</a:t>
            </a:r>
            <a:r>
              <a:rPr sz="1150" spc="-35" dirty="0">
                <a:latin typeface="Times New Roman"/>
                <a:cs typeface="Times New Roman"/>
              </a:rPr>
              <a:t> </a:t>
            </a:r>
            <a:r>
              <a:rPr sz="1150" dirty="0">
                <a:latin typeface="Times New Roman"/>
                <a:cs typeface="Times New Roman"/>
              </a:rPr>
              <a:t>MUXs</a:t>
            </a:r>
            <a:r>
              <a:rPr sz="1150" spc="-20" dirty="0">
                <a:latin typeface="Times New Roman"/>
                <a:cs typeface="Times New Roman"/>
              </a:rPr>
              <a:t> </a:t>
            </a:r>
            <a:r>
              <a:rPr sz="1150" dirty="0">
                <a:latin typeface="Times New Roman"/>
                <a:cs typeface="Times New Roman"/>
              </a:rPr>
              <a:t>and</a:t>
            </a:r>
            <a:r>
              <a:rPr sz="1150" spc="-25" dirty="0">
                <a:latin typeface="Times New Roman"/>
                <a:cs typeface="Times New Roman"/>
              </a:rPr>
              <a:t> </a:t>
            </a:r>
            <a:r>
              <a:rPr sz="1150" dirty="0">
                <a:latin typeface="Times New Roman"/>
                <a:cs typeface="Times New Roman"/>
              </a:rPr>
              <a:t>Decoder</a:t>
            </a:r>
            <a:r>
              <a:rPr sz="1150" spc="-35" dirty="0">
                <a:latin typeface="Times New Roman"/>
                <a:cs typeface="Times New Roman"/>
              </a:rPr>
              <a:t> </a:t>
            </a:r>
            <a:r>
              <a:rPr sz="1150" dirty="0">
                <a:latin typeface="Times New Roman"/>
                <a:cs typeface="Times New Roman"/>
              </a:rPr>
              <a:t>selection</a:t>
            </a:r>
            <a:r>
              <a:rPr sz="1150" spc="-50" dirty="0">
                <a:latin typeface="Times New Roman"/>
                <a:cs typeface="Times New Roman"/>
              </a:rPr>
              <a:t> </a:t>
            </a:r>
            <a:r>
              <a:rPr sz="1150" dirty="0">
                <a:latin typeface="Times New Roman"/>
                <a:cs typeface="Times New Roman"/>
              </a:rPr>
              <a:t>bits</a:t>
            </a:r>
            <a:r>
              <a:rPr sz="1150" spc="-25" dirty="0">
                <a:latin typeface="Times New Roman"/>
                <a:cs typeface="Times New Roman"/>
              </a:rPr>
              <a:t> </a:t>
            </a:r>
            <a:r>
              <a:rPr sz="1150" dirty="0">
                <a:latin typeface="Times New Roman"/>
                <a:cs typeface="Times New Roman"/>
              </a:rPr>
              <a:t>in</a:t>
            </a:r>
            <a:r>
              <a:rPr sz="1150" spc="-40" dirty="0">
                <a:latin typeface="Times New Roman"/>
                <a:cs typeface="Times New Roman"/>
              </a:rPr>
              <a:t> </a:t>
            </a:r>
            <a:r>
              <a:rPr sz="1150" dirty="0">
                <a:latin typeface="Times New Roman"/>
                <a:cs typeface="Times New Roman"/>
              </a:rPr>
              <a:t>the</a:t>
            </a:r>
            <a:r>
              <a:rPr sz="1150" spc="-35" dirty="0">
                <a:latin typeface="Times New Roman"/>
                <a:cs typeface="Times New Roman"/>
              </a:rPr>
              <a:t> </a:t>
            </a:r>
            <a:r>
              <a:rPr sz="1150" spc="-25" dirty="0">
                <a:latin typeface="Times New Roman"/>
                <a:cs typeface="Times New Roman"/>
              </a:rPr>
              <a:t>CPU </a:t>
            </a:r>
            <a:r>
              <a:rPr sz="1150" spc="-10" dirty="0">
                <a:latin typeface="Times New Roman"/>
                <a:cs typeface="Times New Roman"/>
              </a:rPr>
              <a:t>architecture.</a:t>
            </a:r>
            <a:endParaRPr sz="1150" dirty="0">
              <a:latin typeface="Times New Roman"/>
              <a:cs typeface="Times New Roman"/>
            </a:endParaRPr>
          </a:p>
          <a:p>
            <a:pPr marL="469265" lvl="1" indent="-90805">
              <a:lnSpc>
                <a:spcPct val="100000"/>
              </a:lnSpc>
              <a:spcBef>
                <a:spcPts val="434"/>
              </a:spcBef>
              <a:buClr>
                <a:srgbClr val="3E762B"/>
              </a:buClr>
              <a:buFont typeface="Wingdings"/>
              <a:buChar char=""/>
              <a:tabLst>
                <a:tab pos="469265" algn="l"/>
              </a:tabLst>
            </a:pPr>
            <a:r>
              <a:rPr sz="1150" dirty="0">
                <a:latin typeface="Times New Roman"/>
                <a:cs typeface="Times New Roman"/>
              </a:rPr>
              <a:t>Status</a:t>
            </a:r>
            <a:r>
              <a:rPr sz="1150" spc="-50" dirty="0">
                <a:latin typeface="Times New Roman"/>
                <a:cs typeface="Times New Roman"/>
              </a:rPr>
              <a:t> </a:t>
            </a:r>
            <a:r>
              <a:rPr sz="1150" dirty="0">
                <a:latin typeface="Times New Roman"/>
                <a:cs typeface="Times New Roman"/>
              </a:rPr>
              <a:t>Registers,</a:t>
            </a:r>
            <a:r>
              <a:rPr sz="1150" spc="-25" dirty="0">
                <a:latin typeface="Times New Roman"/>
                <a:cs typeface="Times New Roman"/>
              </a:rPr>
              <a:t> </a:t>
            </a:r>
            <a:r>
              <a:rPr sz="1150" dirty="0">
                <a:latin typeface="Times New Roman"/>
                <a:cs typeface="Times New Roman"/>
              </a:rPr>
              <a:t>Called</a:t>
            </a:r>
            <a:r>
              <a:rPr sz="1150" spc="-55" dirty="0">
                <a:latin typeface="Times New Roman"/>
                <a:cs typeface="Times New Roman"/>
              </a:rPr>
              <a:t> </a:t>
            </a:r>
            <a:r>
              <a:rPr sz="1150" dirty="0">
                <a:latin typeface="Times New Roman"/>
                <a:cs typeface="Times New Roman"/>
              </a:rPr>
              <a:t>also</a:t>
            </a:r>
            <a:r>
              <a:rPr sz="1150" spc="-30" dirty="0">
                <a:latin typeface="Times New Roman"/>
                <a:cs typeface="Times New Roman"/>
              </a:rPr>
              <a:t> </a:t>
            </a:r>
            <a:r>
              <a:rPr sz="1150" dirty="0">
                <a:latin typeface="Times New Roman"/>
                <a:cs typeface="Times New Roman"/>
              </a:rPr>
              <a:t>Program</a:t>
            </a:r>
            <a:r>
              <a:rPr sz="1150" spc="-40" dirty="0">
                <a:latin typeface="Times New Roman"/>
                <a:cs typeface="Times New Roman"/>
              </a:rPr>
              <a:t> </a:t>
            </a:r>
            <a:r>
              <a:rPr sz="1150" dirty="0">
                <a:latin typeface="Times New Roman"/>
                <a:cs typeface="Times New Roman"/>
              </a:rPr>
              <a:t>Status</a:t>
            </a:r>
            <a:r>
              <a:rPr sz="1150" spc="-60" dirty="0">
                <a:latin typeface="Times New Roman"/>
                <a:cs typeface="Times New Roman"/>
              </a:rPr>
              <a:t> </a:t>
            </a:r>
            <a:r>
              <a:rPr sz="1150" spc="-20" dirty="0">
                <a:latin typeface="Times New Roman"/>
                <a:cs typeface="Times New Roman"/>
              </a:rPr>
              <a:t>Word</a:t>
            </a:r>
            <a:r>
              <a:rPr sz="1150" spc="-25" dirty="0">
                <a:latin typeface="Times New Roman"/>
                <a:cs typeface="Times New Roman"/>
              </a:rPr>
              <a:t> </a:t>
            </a:r>
            <a:r>
              <a:rPr sz="1150" spc="-10" dirty="0">
                <a:latin typeface="Times New Roman"/>
                <a:cs typeface="Times New Roman"/>
              </a:rPr>
              <a:t>(PSW)</a:t>
            </a:r>
            <a:endParaRPr sz="1150" dirty="0">
              <a:latin typeface="Times New Roman"/>
              <a:cs typeface="Times New Roman"/>
            </a:endParaRPr>
          </a:p>
          <a:p>
            <a:pPr>
              <a:lnSpc>
                <a:spcPct val="100000"/>
              </a:lnSpc>
              <a:spcBef>
                <a:spcPts val="400"/>
              </a:spcBef>
            </a:pPr>
            <a:endParaRPr sz="1150" dirty="0">
              <a:latin typeface="Times New Roman"/>
              <a:cs typeface="Times New Roman"/>
            </a:endParaRPr>
          </a:p>
          <a:p>
            <a:pPr marL="12700">
              <a:lnSpc>
                <a:spcPct val="100000"/>
              </a:lnSpc>
            </a:pPr>
            <a:r>
              <a:rPr sz="1100" dirty="0">
                <a:latin typeface="Times New Roman"/>
                <a:cs typeface="Times New Roman"/>
              </a:rPr>
              <a:t>There</a:t>
            </a:r>
            <a:r>
              <a:rPr sz="1100" spc="-25"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dirty="0">
                <a:latin typeface="Times New Roman"/>
                <a:cs typeface="Times New Roman"/>
              </a:rPr>
              <a:t>not</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clean</a:t>
            </a:r>
            <a:r>
              <a:rPr sz="1100" spc="-15" dirty="0">
                <a:latin typeface="Times New Roman"/>
                <a:cs typeface="Times New Roman"/>
              </a:rPr>
              <a:t> </a:t>
            </a:r>
            <a:r>
              <a:rPr sz="1100" dirty="0">
                <a:latin typeface="Times New Roman"/>
                <a:cs typeface="Times New Roman"/>
              </a:rPr>
              <a:t>separation</a:t>
            </a:r>
            <a:r>
              <a:rPr sz="1100" spc="-35" dirty="0">
                <a:latin typeface="Times New Roman"/>
                <a:cs typeface="Times New Roman"/>
              </a:rPr>
              <a:t> </a:t>
            </a:r>
            <a:r>
              <a:rPr sz="1100" dirty="0">
                <a:latin typeface="Times New Roman"/>
                <a:cs typeface="Times New Roman"/>
              </a:rPr>
              <a:t>of registers</a:t>
            </a:r>
            <a:r>
              <a:rPr sz="1100" spc="-30" dirty="0">
                <a:latin typeface="Times New Roman"/>
                <a:cs typeface="Times New Roman"/>
              </a:rPr>
              <a:t> </a:t>
            </a:r>
            <a:r>
              <a:rPr sz="1100" dirty="0">
                <a:latin typeface="Times New Roman"/>
                <a:cs typeface="Times New Roman"/>
              </a:rPr>
              <a:t>into</a:t>
            </a:r>
            <a:r>
              <a:rPr sz="1100" spc="-15" dirty="0">
                <a:latin typeface="Times New Roman"/>
                <a:cs typeface="Times New Roman"/>
              </a:rPr>
              <a:t> </a:t>
            </a:r>
            <a:r>
              <a:rPr sz="1100" dirty="0">
                <a:latin typeface="Times New Roman"/>
                <a:cs typeface="Times New Roman"/>
              </a:rPr>
              <a:t>these</a:t>
            </a:r>
            <a:r>
              <a:rPr sz="1100" spc="-30" dirty="0">
                <a:latin typeface="Times New Roman"/>
                <a:cs typeface="Times New Roman"/>
              </a:rPr>
              <a:t> </a:t>
            </a:r>
            <a:r>
              <a:rPr sz="1100" dirty="0">
                <a:latin typeface="Times New Roman"/>
                <a:cs typeface="Times New Roman"/>
              </a:rPr>
              <a:t>two categories.</a:t>
            </a:r>
            <a:r>
              <a:rPr sz="1100" spc="-35" dirty="0">
                <a:latin typeface="Times New Roman"/>
                <a:cs typeface="Times New Roman"/>
              </a:rPr>
              <a:t> </a:t>
            </a:r>
            <a:r>
              <a:rPr sz="1100" spc="-10" dirty="0">
                <a:latin typeface="Times New Roman"/>
                <a:cs typeface="Times New Roman"/>
              </a:rPr>
              <a:t>However,</a:t>
            </a:r>
            <a:r>
              <a:rPr sz="1100" spc="5" dirty="0">
                <a:latin typeface="Times New Roman"/>
                <a:cs typeface="Times New Roman"/>
              </a:rPr>
              <a:t> </a:t>
            </a:r>
            <a:r>
              <a:rPr sz="1100" dirty="0">
                <a:latin typeface="Times New Roman"/>
                <a:cs typeface="Times New Roman"/>
              </a:rPr>
              <a:t>we will</a:t>
            </a:r>
            <a:r>
              <a:rPr sz="1100" spc="-5" dirty="0">
                <a:latin typeface="Times New Roman"/>
                <a:cs typeface="Times New Roman"/>
              </a:rPr>
              <a:t> </a:t>
            </a:r>
            <a:r>
              <a:rPr sz="1100" dirty="0">
                <a:latin typeface="Times New Roman"/>
                <a:cs typeface="Times New Roman"/>
              </a:rPr>
              <a:t>use</a:t>
            </a:r>
            <a:r>
              <a:rPr sz="1100" spc="-20" dirty="0">
                <a:latin typeface="Times New Roman"/>
                <a:cs typeface="Times New Roman"/>
              </a:rPr>
              <a:t> </a:t>
            </a:r>
            <a:r>
              <a:rPr sz="1100" spc="-10" dirty="0">
                <a:latin typeface="Times New Roman"/>
                <a:cs typeface="Times New Roman"/>
              </a:rPr>
              <a:t>these</a:t>
            </a:r>
            <a:endParaRPr sz="1100" dirty="0">
              <a:latin typeface="Times New Roman"/>
              <a:cs typeface="Times New Roman"/>
            </a:endParaRPr>
          </a:p>
        </p:txBody>
      </p:sp>
      <p:sp>
        <p:nvSpPr>
          <p:cNvPr id="4" name="object 4"/>
          <p:cNvSpPr txBox="1"/>
          <p:nvPr/>
        </p:nvSpPr>
        <p:spPr>
          <a:xfrm>
            <a:off x="759561" y="3931665"/>
            <a:ext cx="2159635" cy="193675"/>
          </a:xfrm>
          <a:prstGeom prst="rect">
            <a:avLst/>
          </a:prstGeom>
        </p:spPr>
        <p:txBody>
          <a:bodyPr vert="horz" wrap="square" lIns="0" tIns="13335" rIns="0" bIns="0" rtlCol="0">
            <a:spAutoFit/>
          </a:bodyPr>
          <a:lstStyle/>
          <a:p>
            <a:pPr>
              <a:lnSpc>
                <a:spcPct val="100000"/>
              </a:lnSpc>
              <a:spcBef>
                <a:spcPts val="105"/>
              </a:spcBef>
            </a:pPr>
            <a:r>
              <a:rPr sz="1100" dirty="0">
                <a:latin typeface="Times New Roman"/>
                <a:cs typeface="Times New Roman"/>
              </a:rPr>
              <a:t>categories</a:t>
            </a:r>
            <a:r>
              <a:rPr sz="1100" spc="-35"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dirty="0">
                <a:latin typeface="Times New Roman"/>
                <a:cs typeface="Times New Roman"/>
              </a:rPr>
              <a:t>following</a:t>
            </a:r>
            <a:r>
              <a:rPr sz="1100" spc="-25" dirty="0">
                <a:latin typeface="Times New Roman"/>
                <a:cs typeface="Times New Roman"/>
              </a:rPr>
              <a:t> </a:t>
            </a:r>
            <a:r>
              <a:rPr sz="1100" spc="-10" dirty="0">
                <a:latin typeface="Times New Roman"/>
                <a:cs typeface="Times New Roman"/>
              </a:rPr>
              <a:t>discussion.</a:t>
            </a:r>
            <a:endParaRPr sz="1100">
              <a:latin typeface="Times New Roman"/>
              <a:cs typeface="Times New Roman"/>
            </a:endParaRPr>
          </a:p>
        </p:txBody>
      </p:sp>
      <p:sp>
        <p:nvSpPr>
          <p:cNvPr id="5" name="object 5"/>
          <p:cNvSpPr txBox="1"/>
          <p:nvPr/>
        </p:nvSpPr>
        <p:spPr>
          <a:xfrm>
            <a:off x="6075553" y="3975861"/>
            <a:ext cx="145415" cy="177800"/>
          </a:xfrm>
          <a:prstGeom prst="rect">
            <a:avLst/>
          </a:prstGeom>
        </p:spPr>
        <p:txBody>
          <a:bodyPr vert="horz" wrap="square" lIns="0" tIns="12065" rIns="0" bIns="0" rtlCol="0">
            <a:spAutoFit/>
          </a:bodyPr>
          <a:lstStyle/>
          <a:p>
            <a:pPr>
              <a:lnSpc>
                <a:spcPct val="100000"/>
              </a:lnSpc>
              <a:spcBef>
                <a:spcPts val="95"/>
              </a:spcBef>
            </a:pPr>
            <a:r>
              <a:rPr sz="1000" b="1" spc="-25" dirty="0">
                <a:solidFill>
                  <a:srgbClr val="3E762B"/>
                </a:solidFill>
                <a:latin typeface="Corbel"/>
                <a:cs typeface="Corbel"/>
              </a:rPr>
              <a:t>18</a:t>
            </a:r>
            <a:endParaRPr sz="1000">
              <a:latin typeface="Corbel"/>
              <a:cs typeface="Corbel"/>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25" dirty="0">
                <a:latin typeface="Georgia"/>
                <a:cs typeface="Georgia"/>
              </a:rPr>
              <a:t>User-</a:t>
            </a:r>
            <a:r>
              <a:rPr sz="2200" dirty="0">
                <a:latin typeface="Georgia"/>
                <a:cs typeface="Georgia"/>
              </a:rPr>
              <a:t>visible</a:t>
            </a:r>
            <a:r>
              <a:rPr sz="2200" spc="-10" dirty="0">
                <a:latin typeface="Georgia"/>
                <a:cs typeface="Georgia"/>
              </a:rPr>
              <a:t> Registers</a:t>
            </a:r>
            <a:endParaRPr sz="2200">
              <a:latin typeface="Georgia"/>
              <a:cs typeface="Georgia"/>
            </a:endParaRPr>
          </a:p>
          <a:p>
            <a:pPr marL="380365" indent="-118110" algn="just">
              <a:lnSpc>
                <a:spcPct val="100000"/>
              </a:lnSpc>
              <a:spcBef>
                <a:spcPts val="1720"/>
              </a:spcBef>
              <a:buClr>
                <a:srgbClr val="3E762B"/>
              </a:buClr>
              <a:buFont typeface="Wingdings"/>
              <a:buChar char=""/>
              <a:tabLst>
                <a:tab pos="380365" algn="l"/>
              </a:tabLst>
            </a:pPr>
            <a:r>
              <a:rPr sz="1200" b="1" dirty="0">
                <a:latin typeface="Times New Roman"/>
                <a:cs typeface="Times New Roman"/>
              </a:rPr>
              <a:t>General</a:t>
            </a:r>
            <a:r>
              <a:rPr sz="1200" b="1" spc="-20" dirty="0">
                <a:latin typeface="Times New Roman"/>
                <a:cs typeface="Times New Roman"/>
              </a:rPr>
              <a:t> </a:t>
            </a:r>
            <a:r>
              <a:rPr sz="1200" b="1" dirty="0">
                <a:latin typeface="Times New Roman"/>
                <a:cs typeface="Times New Roman"/>
              </a:rPr>
              <a:t>purpose</a:t>
            </a:r>
            <a:r>
              <a:rPr sz="1200" b="1" spc="-25" dirty="0">
                <a:latin typeface="Times New Roman"/>
                <a:cs typeface="Times New Roman"/>
              </a:rPr>
              <a:t> </a:t>
            </a:r>
            <a:r>
              <a:rPr sz="1200" b="1" dirty="0">
                <a:latin typeface="Times New Roman"/>
                <a:cs typeface="Times New Roman"/>
              </a:rPr>
              <a:t>registers:</a:t>
            </a:r>
            <a:r>
              <a:rPr sz="1200" b="1" spc="-15" dirty="0">
                <a:latin typeface="Times New Roman"/>
                <a:cs typeface="Times New Roman"/>
              </a:rPr>
              <a:t> </a:t>
            </a:r>
            <a:r>
              <a:rPr sz="1150" dirty="0">
                <a:latin typeface="Times New Roman"/>
                <a:cs typeface="Times New Roman"/>
              </a:rPr>
              <a:t>used</a:t>
            </a:r>
            <a:r>
              <a:rPr sz="1150" spc="-20" dirty="0">
                <a:latin typeface="Times New Roman"/>
                <a:cs typeface="Times New Roman"/>
              </a:rPr>
              <a:t> </a:t>
            </a:r>
            <a:r>
              <a:rPr sz="1150" dirty="0">
                <a:latin typeface="Times New Roman"/>
                <a:cs typeface="Times New Roman"/>
              </a:rPr>
              <a:t>to</a:t>
            </a:r>
            <a:r>
              <a:rPr sz="1150" spc="-25" dirty="0">
                <a:latin typeface="Times New Roman"/>
                <a:cs typeface="Times New Roman"/>
              </a:rPr>
              <a:t> </a:t>
            </a:r>
            <a:r>
              <a:rPr sz="1150" dirty="0">
                <a:latin typeface="Times New Roman"/>
                <a:cs typeface="Times New Roman"/>
              </a:rPr>
              <a:t>store</a:t>
            </a:r>
            <a:r>
              <a:rPr sz="1150" spc="-35" dirty="0">
                <a:latin typeface="Times New Roman"/>
                <a:cs typeface="Times New Roman"/>
              </a:rPr>
              <a:t> </a:t>
            </a:r>
            <a:r>
              <a:rPr sz="1150" spc="-10" dirty="0">
                <a:latin typeface="Times New Roman"/>
                <a:cs typeface="Times New Roman"/>
              </a:rPr>
              <a:t>temporary</a:t>
            </a:r>
            <a:r>
              <a:rPr sz="1150" spc="-45" dirty="0">
                <a:latin typeface="Times New Roman"/>
                <a:cs typeface="Times New Roman"/>
              </a:rPr>
              <a:t> </a:t>
            </a:r>
            <a:r>
              <a:rPr sz="1150" dirty="0">
                <a:latin typeface="Times New Roman"/>
                <a:cs typeface="Times New Roman"/>
              </a:rPr>
              <a:t>data</a:t>
            </a:r>
            <a:r>
              <a:rPr sz="1150" spc="-35" dirty="0">
                <a:latin typeface="Times New Roman"/>
                <a:cs typeface="Times New Roman"/>
              </a:rPr>
              <a:t> </a:t>
            </a:r>
            <a:r>
              <a:rPr sz="1150" dirty="0">
                <a:latin typeface="Times New Roman"/>
                <a:cs typeface="Times New Roman"/>
              </a:rPr>
              <a:t>during</a:t>
            </a:r>
            <a:r>
              <a:rPr sz="1150" spc="-35" dirty="0">
                <a:latin typeface="Times New Roman"/>
                <a:cs typeface="Times New Roman"/>
              </a:rPr>
              <a:t> </a:t>
            </a:r>
            <a:r>
              <a:rPr sz="1150" dirty="0">
                <a:latin typeface="Times New Roman"/>
                <a:cs typeface="Times New Roman"/>
              </a:rPr>
              <a:t>any</a:t>
            </a:r>
            <a:r>
              <a:rPr sz="1150" spc="-40" dirty="0">
                <a:latin typeface="Times New Roman"/>
                <a:cs typeface="Times New Roman"/>
              </a:rPr>
              <a:t> </a:t>
            </a:r>
            <a:r>
              <a:rPr sz="1150" dirty="0">
                <a:latin typeface="Times New Roman"/>
                <a:cs typeface="Times New Roman"/>
              </a:rPr>
              <a:t>ongoing</a:t>
            </a:r>
            <a:r>
              <a:rPr sz="1150" spc="-25" dirty="0">
                <a:latin typeface="Times New Roman"/>
                <a:cs typeface="Times New Roman"/>
              </a:rPr>
              <a:t> </a:t>
            </a:r>
            <a:r>
              <a:rPr sz="1150" spc="-10" dirty="0">
                <a:latin typeface="Times New Roman"/>
                <a:cs typeface="Times New Roman"/>
              </a:rPr>
              <a:t>operation.</a:t>
            </a:r>
            <a:endParaRPr sz="1150">
              <a:latin typeface="Times New Roman"/>
              <a:cs typeface="Times New Roman"/>
            </a:endParaRPr>
          </a:p>
          <a:p>
            <a:pPr marL="380365" indent="-118110" algn="just">
              <a:lnSpc>
                <a:spcPct val="100000"/>
              </a:lnSpc>
              <a:spcBef>
                <a:spcPts val="745"/>
              </a:spcBef>
              <a:buClr>
                <a:srgbClr val="3E762B"/>
              </a:buClr>
              <a:buFont typeface="Wingdings"/>
              <a:buChar char=""/>
              <a:tabLst>
                <a:tab pos="380365" algn="l"/>
              </a:tabLst>
            </a:pPr>
            <a:r>
              <a:rPr sz="1200" b="1" dirty="0">
                <a:latin typeface="Times New Roman"/>
                <a:cs typeface="Times New Roman"/>
              </a:rPr>
              <a:t>Data</a:t>
            </a:r>
            <a:r>
              <a:rPr sz="1200" b="1" spc="-10" dirty="0">
                <a:latin typeface="Times New Roman"/>
                <a:cs typeface="Times New Roman"/>
              </a:rPr>
              <a:t> </a:t>
            </a:r>
            <a:r>
              <a:rPr sz="1200" b="1" dirty="0">
                <a:latin typeface="Times New Roman"/>
                <a:cs typeface="Times New Roman"/>
              </a:rPr>
              <a:t>registers:</a:t>
            </a:r>
            <a:r>
              <a:rPr sz="1200" b="1" spc="-10" dirty="0">
                <a:latin typeface="Times New Roman"/>
                <a:cs typeface="Times New Roman"/>
              </a:rPr>
              <a:t> </a:t>
            </a:r>
            <a:r>
              <a:rPr sz="1150" dirty="0">
                <a:latin typeface="Times New Roman"/>
                <a:cs typeface="Times New Roman"/>
              </a:rPr>
              <a:t>hold</a:t>
            </a:r>
            <a:r>
              <a:rPr sz="1150" spc="-20" dirty="0">
                <a:latin typeface="Times New Roman"/>
                <a:cs typeface="Times New Roman"/>
              </a:rPr>
              <a:t> </a:t>
            </a:r>
            <a:r>
              <a:rPr sz="1150" dirty="0">
                <a:latin typeface="Times New Roman"/>
                <a:cs typeface="Times New Roman"/>
              </a:rPr>
              <a:t>data</a:t>
            </a:r>
            <a:r>
              <a:rPr sz="1150" spc="-25" dirty="0">
                <a:latin typeface="Times New Roman"/>
                <a:cs typeface="Times New Roman"/>
              </a:rPr>
              <a:t> </a:t>
            </a:r>
            <a:r>
              <a:rPr sz="1150" dirty="0">
                <a:latin typeface="Times New Roman"/>
                <a:cs typeface="Times New Roman"/>
              </a:rPr>
              <a:t>and</a:t>
            </a:r>
            <a:r>
              <a:rPr sz="1150" spc="-35" dirty="0">
                <a:latin typeface="Times New Roman"/>
                <a:cs typeface="Times New Roman"/>
              </a:rPr>
              <a:t> </a:t>
            </a:r>
            <a:r>
              <a:rPr sz="1150" dirty="0">
                <a:latin typeface="Times New Roman"/>
                <a:cs typeface="Times New Roman"/>
              </a:rPr>
              <a:t>can’t</a:t>
            </a:r>
            <a:r>
              <a:rPr sz="1150" spc="-25" dirty="0">
                <a:latin typeface="Times New Roman"/>
                <a:cs typeface="Times New Roman"/>
              </a:rPr>
              <a:t> </a:t>
            </a:r>
            <a:r>
              <a:rPr sz="1150" dirty="0">
                <a:latin typeface="Times New Roman"/>
                <a:cs typeface="Times New Roman"/>
              </a:rPr>
              <a:t>be</a:t>
            </a:r>
            <a:r>
              <a:rPr sz="1150" spc="-20" dirty="0">
                <a:latin typeface="Times New Roman"/>
                <a:cs typeface="Times New Roman"/>
              </a:rPr>
              <a:t> </a:t>
            </a:r>
            <a:r>
              <a:rPr sz="1150" dirty="0">
                <a:latin typeface="Times New Roman"/>
                <a:cs typeface="Times New Roman"/>
              </a:rPr>
              <a:t>employed</a:t>
            </a:r>
            <a:r>
              <a:rPr sz="1150" spc="-20" dirty="0">
                <a:latin typeface="Times New Roman"/>
                <a:cs typeface="Times New Roman"/>
              </a:rPr>
              <a:t> </a:t>
            </a:r>
            <a:r>
              <a:rPr sz="1150" dirty="0">
                <a:latin typeface="Times New Roman"/>
                <a:cs typeface="Times New Roman"/>
              </a:rPr>
              <a:t>in</a:t>
            </a:r>
            <a:r>
              <a:rPr sz="1150" spc="-30" dirty="0">
                <a:latin typeface="Times New Roman"/>
                <a:cs typeface="Times New Roman"/>
              </a:rPr>
              <a:t> </a:t>
            </a:r>
            <a:r>
              <a:rPr sz="1150" spc="-10" dirty="0">
                <a:latin typeface="Times New Roman"/>
                <a:cs typeface="Times New Roman"/>
              </a:rPr>
              <a:t>calculating</a:t>
            </a:r>
            <a:r>
              <a:rPr sz="1150" spc="-55" dirty="0">
                <a:latin typeface="Times New Roman"/>
                <a:cs typeface="Times New Roman"/>
              </a:rPr>
              <a:t> </a:t>
            </a:r>
            <a:r>
              <a:rPr sz="1150" dirty="0">
                <a:latin typeface="Times New Roman"/>
                <a:cs typeface="Times New Roman"/>
              </a:rPr>
              <a:t>an</a:t>
            </a:r>
            <a:r>
              <a:rPr sz="1150" spc="-30" dirty="0">
                <a:latin typeface="Times New Roman"/>
                <a:cs typeface="Times New Roman"/>
              </a:rPr>
              <a:t> </a:t>
            </a:r>
            <a:r>
              <a:rPr sz="1150" dirty="0">
                <a:latin typeface="Times New Roman"/>
                <a:cs typeface="Times New Roman"/>
              </a:rPr>
              <a:t>operand</a:t>
            </a:r>
            <a:r>
              <a:rPr sz="1150" spc="-35" dirty="0">
                <a:latin typeface="Times New Roman"/>
                <a:cs typeface="Times New Roman"/>
              </a:rPr>
              <a:t> </a:t>
            </a:r>
            <a:r>
              <a:rPr sz="1150" spc="-10" dirty="0">
                <a:latin typeface="Times New Roman"/>
                <a:cs typeface="Times New Roman"/>
              </a:rPr>
              <a:t>address.</a:t>
            </a:r>
            <a:endParaRPr sz="1150">
              <a:latin typeface="Times New Roman"/>
              <a:cs typeface="Times New Roman"/>
            </a:endParaRPr>
          </a:p>
          <a:p>
            <a:pPr marL="381000" indent="-118745" algn="just">
              <a:lnSpc>
                <a:spcPct val="100000"/>
              </a:lnSpc>
              <a:spcBef>
                <a:spcPts val="745"/>
              </a:spcBef>
              <a:buClr>
                <a:srgbClr val="3E762B"/>
              </a:buClr>
              <a:buFont typeface="Wingdings"/>
              <a:buChar char=""/>
              <a:tabLst>
                <a:tab pos="381000" algn="l"/>
              </a:tabLst>
            </a:pPr>
            <a:r>
              <a:rPr sz="1200" b="1" dirty="0">
                <a:latin typeface="Times New Roman"/>
                <a:cs typeface="Times New Roman"/>
              </a:rPr>
              <a:t>Condition</a:t>
            </a:r>
            <a:r>
              <a:rPr sz="1200" b="1" spc="-25" dirty="0">
                <a:latin typeface="Times New Roman"/>
                <a:cs typeface="Times New Roman"/>
              </a:rPr>
              <a:t> </a:t>
            </a:r>
            <a:r>
              <a:rPr sz="1200" b="1" dirty="0">
                <a:latin typeface="Times New Roman"/>
                <a:cs typeface="Times New Roman"/>
              </a:rPr>
              <a:t>codes</a:t>
            </a:r>
            <a:r>
              <a:rPr sz="1200" b="1" spc="-20" dirty="0">
                <a:latin typeface="Times New Roman"/>
                <a:cs typeface="Times New Roman"/>
              </a:rPr>
              <a:t> </a:t>
            </a:r>
            <a:r>
              <a:rPr sz="1200" b="1" spc="-10" dirty="0">
                <a:latin typeface="Times New Roman"/>
                <a:cs typeface="Times New Roman"/>
              </a:rPr>
              <a:t>(flags)</a:t>
            </a:r>
            <a:endParaRPr sz="1200">
              <a:latin typeface="Times New Roman"/>
              <a:cs typeface="Times New Roman"/>
            </a:endParaRPr>
          </a:p>
          <a:p>
            <a:pPr marL="662940" marR="550545" lvl="1" indent="-113030" algn="just">
              <a:lnSpc>
                <a:spcPct val="110000"/>
              </a:lnSpc>
              <a:spcBef>
                <a:spcPts val="610"/>
              </a:spcBef>
              <a:buClr>
                <a:srgbClr val="3E762B"/>
              </a:buClr>
              <a:buFont typeface="Arial MT"/>
              <a:buChar char="•"/>
              <a:tabLst>
                <a:tab pos="662940" algn="l"/>
              </a:tabLst>
            </a:pPr>
            <a:r>
              <a:rPr sz="1150" dirty="0">
                <a:latin typeface="Times New Roman"/>
                <a:cs typeface="Times New Roman"/>
              </a:rPr>
              <a:t>Condition</a:t>
            </a:r>
            <a:r>
              <a:rPr sz="1150" spc="-50" dirty="0">
                <a:latin typeface="Times New Roman"/>
                <a:cs typeface="Times New Roman"/>
              </a:rPr>
              <a:t> </a:t>
            </a:r>
            <a:r>
              <a:rPr sz="1150" dirty="0">
                <a:latin typeface="Times New Roman"/>
                <a:cs typeface="Times New Roman"/>
              </a:rPr>
              <a:t>codes</a:t>
            </a:r>
            <a:r>
              <a:rPr sz="1150" spc="-30" dirty="0">
                <a:latin typeface="Times New Roman"/>
                <a:cs typeface="Times New Roman"/>
              </a:rPr>
              <a:t> </a:t>
            </a:r>
            <a:r>
              <a:rPr sz="1150" dirty="0">
                <a:latin typeface="Times New Roman"/>
                <a:cs typeface="Times New Roman"/>
              </a:rPr>
              <a:t>are</a:t>
            </a:r>
            <a:r>
              <a:rPr sz="1150" spc="-35" dirty="0">
                <a:latin typeface="Times New Roman"/>
                <a:cs typeface="Times New Roman"/>
              </a:rPr>
              <a:t> </a:t>
            </a:r>
            <a:r>
              <a:rPr sz="1150" dirty="0">
                <a:latin typeface="Times New Roman"/>
                <a:cs typeface="Times New Roman"/>
              </a:rPr>
              <a:t>bits</a:t>
            </a:r>
            <a:r>
              <a:rPr sz="1150" spc="-30" dirty="0">
                <a:latin typeface="Times New Roman"/>
                <a:cs typeface="Times New Roman"/>
              </a:rPr>
              <a:t> </a:t>
            </a:r>
            <a:r>
              <a:rPr sz="1150" dirty="0">
                <a:latin typeface="Times New Roman"/>
                <a:cs typeface="Times New Roman"/>
              </a:rPr>
              <a:t>the</a:t>
            </a:r>
            <a:r>
              <a:rPr sz="1150" spc="-30" dirty="0">
                <a:latin typeface="Times New Roman"/>
                <a:cs typeface="Times New Roman"/>
              </a:rPr>
              <a:t> </a:t>
            </a:r>
            <a:r>
              <a:rPr sz="1150" dirty="0">
                <a:latin typeface="Times New Roman"/>
                <a:cs typeface="Times New Roman"/>
              </a:rPr>
              <a:t>processor</a:t>
            </a:r>
            <a:r>
              <a:rPr sz="1150" spc="-40" dirty="0">
                <a:latin typeface="Times New Roman"/>
                <a:cs typeface="Times New Roman"/>
              </a:rPr>
              <a:t> </a:t>
            </a:r>
            <a:r>
              <a:rPr sz="1150" dirty="0">
                <a:latin typeface="Times New Roman"/>
                <a:cs typeface="Times New Roman"/>
              </a:rPr>
              <a:t>hardware</a:t>
            </a:r>
            <a:r>
              <a:rPr sz="1150" spc="-35" dirty="0">
                <a:latin typeface="Times New Roman"/>
                <a:cs typeface="Times New Roman"/>
              </a:rPr>
              <a:t> </a:t>
            </a:r>
            <a:r>
              <a:rPr sz="1150" dirty="0">
                <a:latin typeface="Times New Roman"/>
                <a:cs typeface="Times New Roman"/>
              </a:rPr>
              <a:t>sets</a:t>
            </a:r>
            <a:r>
              <a:rPr sz="1150" spc="-30" dirty="0">
                <a:latin typeface="Times New Roman"/>
                <a:cs typeface="Times New Roman"/>
              </a:rPr>
              <a:t> </a:t>
            </a:r>
            <a:r>
              <a:rPr sz="1150" dirty="0">
                <a:latin typeface="Times New Roman"/>
                <a:cs typeface="Times New Roman"/>
              </a:rPr>
              <a:t>as</a:t>
            </a:r>
            <a:r>
              <a:rPr sz="1150" spc="-20" dirty="0">
                <a:latin typeface="Times New Roman"/>
                <a:cs typeface="Times New Roman"/>
              </a:rPr>
              <a:t> </a:t>
            </a:r>
            <a:r>
              <a:rPr sz="1150" dirty="0">
                <a:latin typeface="Times New Roman"/>
                <a:cs typeface="Times New Roman"/>
              </a:rPr>
              <a:t>the</a:t>
            </a:r>
            <a:r>
              <a:rPr sz="1150" spc="-30" dirty="0">
                <a:latin typeface="Times New Roman"/>
                <a:cs typeface="Times New Roman"/>
              </a:rPr>
              <a:t> </a:t>
            </a:r>
            <a:r>
              <a:rPr sz="1150" dirty="0">
                <a:latin typeface="Times New Roman"/>
                <a:cs typeface="Times New Roman"/>
              </a:rPr>
              <a:t>result</a:t>
            </a:r>
            <a:r>
              <a:rPr sz="1150" spc="-35" dirty="0">
                <a:latin typeface="Times New Roman"/>
                <a:cs typeface="Times New Roman"/>
              </a:rPr>
              <a:t> </a:t>
            </a:r>
            <a:r>
              <a:rPr sz="1150" dirty="0">
                <a:latin typeface="Times New Roman"/>
                <a:cs typeface="Times New Roman"/>
              </a:rPr>
              <a:t>of</a:t>
            </a:r>
            <a:r>
              <a:rPr sz="1150" spc="-40" dirty="0">
                <a:latin typeface="Times New Roman"/>
                <a:cs typeface="Times New Roman"/>
              </a:rPr>
              <a:t> </a:t>
            </a:r>
            <a:r>
              <a:rPr sz="1150" spc="-10" dirty="0">
                <a:latin typeface="Times New Roman"/>
                <a:cs typeface="Times New Roman"/>
              </a:rPr>
              <a:t>operations. </a:t>
            </a:r>
            <a:r>
              <a:rPr sz="1150" dirty="0">
                <a:latin typeface="Times New Roman"/>
                <a:cs typeface="Times New Roman"/>
              </a:rPr>
              <a:t>For</a:t>
            </a:r>
            <a:r>
              <a:rPr sz="1150" spc="-20" dirty="0">
                <a:latin typeface="Times New Roman"/>
                <a:cs typeface="Times New Roman"/>
              </a:rPr>
              <a:t> </a:t>
            </a:r>
            <a:r>
              <a:rPr sz="1150" dirty="0">
                <a:latin typeface="Times New Roman"/>
                <a:cs typeface="Times New Roman"/>
              </a:rPr>
              <a:t>example,</a:t>
            </a:r>
            <a:r>
              <a:rPr sz="1150" spc="-45" dirty="0">
                <a:latin typeface="Times New Roman"/>
                <a:cs typeface="Times New Roman"/>
              </a:rPr>
              <a:t> </a:t>
            </a:r>
            <a:r>
              <a:rPr sz="1150" dirty="0">
                <a:latin typeface="Times New Roman"/>
                <a:cs typeface="Times New Roman"/>
              </a:rPr>
              <a:t>an</a:t>
            </a:r>
            <a:r>
              <a:rPr sz="1150" spc="-40" dirty="0">
                <a:latin typeface="Times New Roman"/>
                <a:cs typeface="Times New Roman"/>
              </a:rPr>
              <a:t> </a:t>
            </a:r>
            <a:r>
              <a:rPr sz="1150" spc="-10" dirty="0">
                <a:latin typeface="Times New Roman"/>
                <a:cs typeface="Times New Roman"/>
              </a:rPr>
              <a:t>arithmetic</a:t>
            </a:r>
            <a:r>
              <a:rPr sz="1150" spc="-55" dirty="0">
                <a:latin typeface="Times New Roman"/>
                <a:cs typeface="Times New Roman"/>
              </a:rPr>
              <a:t> </a:t>
            </a:r>
            <a:r>
              <a:rPr sz="1150" dirty="0">
                <a:latin typeface="Times New Roman"/>
                <a:cs typeface="Times New Roman"/>
              </a:rPr>
              <a:t>operation</a:t>
            </a:r>
            <a:r>
              <a:rPr sz="1150" spc="-45" dirty="0">
                <a:latin typeface="Times New Roman"/>
                <a:cs typeface="Times New Roman"/>
              </a:rPr>
              <a:t> </a:t>
            </a:r>
            <a:r>
              <a:rPr sz="1150" dirty="0">
                <a:latin typeface="Times New Roman"/>
                <a:cs typeface="Times New Roman"/>
              </a:rPr>
              <a:t>may</a:t>
            </a:r>
            <a:r>
              <a:rPr sz="1150" spc="-40" dirty="0">
                <a:latin typeface="Times New Roman"/>
                <a:cs typeface="Times New Roman"/>
              </a:rPr>
              <a:t> </a:t>
            </a:r>
            <a:r>
              <a:rPr sz="1150" dirty="0">
                <a:latin typeface="Times New Roman"/>
                <a:cs typeface="Times New Roman"/>
              </a:rPr>
              <a:t>produce</a:t>
            </a:r>
            <a:r>
              <a:rPr sz="1150" spc="-35" dirty="0">
                <a:latin typeface="Times New Roman"/>
                <a:cs typeface="Times New Roman"/>
              </a:rPr>
              <a:t> </a:t>
            </a:r>
            <a:r>
              <a:rPr sz="1150" dirty="0">
                <a:latin typeface="Times New Roman"/>
                <a:cs typeface="Times New Roman"/>
              </a:rPr>
              <a:t>a</a:t>
            </a:r>
            <a:r>
              <a:rPr sz="1150" spc="-30" dirty="0">
                <a:latin typeface="Times New Roman"/>
                <a:cs typeface="Times New Roman"/>
              </a:rPr>
              <a:t> </a:t>
            </a:r>
            <a:r>
              <a:rPr sz="1150" dirty="0">
                <a:latin typeface="Times New Roman"/>
                <a:cs typeface="Times New Roman"/>
              </a:rPr>
              <a:t>positive,</a:t>
            </a:r>
            <a:r>
              <a:rPr sz="1150" spc="-25" dirty="0">
                <a:latin typeface="Times New Roman"/>
                <a:cs typeface="Times New Roman"/>
              </a:rPr>
              <a:t> </a:t>
            </a:r>
            <a:r>
              <a:rPr sz="1150" dirty="0">
                <a:latin typeface="Times New Roman"/>
                <a:cs typeface="Times New Roman"/>
              </a:rPr>
              <a:t>negative,</a:t>
            </a:r>
            <a:r>
              <a:rPr sz="1150" spc="-25" dirty="0">
                <a:latin typeface="Times New Roman"/>
                <a:cs typeface="Times New Roman"/>
              </a:rPr>
              <a:t> </a:t>
            </a:r>
            <a:r>
              <a:rPr sz="1150" dirty="0">
                <a:latin typeface="Times New Roman"/>
                <a:cs typeface="Times New Roman"/>
              </a:rPr>
              <a:t>zero,</a:t>
            </a:r>
            <a:r>
              <a:rPr sz="1150" spc="-25" dirty="0">
                <a:latin typeface="Times New Roman"/>
                <a:cs typeface="Times New Roman"/>
              </a:rPr>
              <a:t> or </a:t>
            </a:r>
            <a:r>
              <a:rPr sz="1150" dirty="0">
                <a:latin typeface="Times New Roman"/>
                <a:cs typeface="Times New Roman"/>
              </a:rPr>
              <a:t>overflow</a:t>
            </a:r>
            <a:r>
              <a:rPr sz="1150" spc="-45" dirty="0">
                <a:latin typeface="Times New Roman"/>
                <a:cs typeface="Times New Roman"/>
              </a:rPr>
              <a:t> </a:t>
            </a:r>
            <a:r>
              <a:rPr sz="1150" spc="-10" dirty="0">
                <a:latin typeface="Times New Roman"/>
                <a:cs typeface="Times New Roman"/>
              </a:rPr>
              <a:t>result.</a:t>
            </a:r>
            <a:endParaRPr sz="1150">
              <a:latin typeface="Times New Roman"/>
              <a:cs typeface="Times New Roman"/>
            </a:endParaRPr>
          </a:p>
          <a:p>
            <a:pPr marL="662940" marR="378460" lvl="1" indent="-113030" algn="just">
              <a:lnSpc>
                <a:spcPct val="110400"/>
              </a:lnSpc>
              <a:spcBef>
                <a:spcPts val="590"/>
              </a:spcBef>
              <a:buClr>
                <a:srgbClr val="3E762B"/>
              </a:buClr>
              <a:buFont typeface="Arial MT"/>
              <a:buChar char="•"/>
              <a:tabLst>
                <a:tab pos="662940" algn="l"/>
              </a:tabLst>
            </a:pPr>
            <a:r>
              <a:rPr sz="1150" spc="-10" dirty="0">
                <a:latin typeface="Times New Roman"/>
                <a:cs typeface="Times New Roman"/>
              </a:rPr>
              <a:t>Usually,</a:t>
            </a:r>
            <a:r>
              <a:rPr sz="1150" spc="-15" dirty="0">
                <a:latin typeface="Times New Roman"/>
                <a:cs typeface="Times New Roman"/>
              </a:rPr>
              <a:t> </a:t>
            </a:r>
            <a:r>
              <a:rPr sz="1150" dirty="0">
                <a:latin typeface="Times New Roman"/>
                <a:cs typeface="Times New Roman"/>
              </a:rPr>
              <a:t>they</a:t>
            </a:r>
            <a:r>
              <a:rPr sz="1150" spc="-35" dirty="0">
                <a:latin typeface="Times New Roman"/>
                <a:cs typeface="Times New Roman"/>
              </a:rPr>
              <a:t> </a:t>
            </a:r>
            <a:r>
              <a:rPr sz="1150" dirty="0">
                <a:latin typeface="Times New Roman"/>
                <a:cs typeface="Times New Roman"/>
              </a:rPr>
              <a:t>form</a:t>
            </a:r>
            <a:r>
              <a:rPr sz="1150" spc="-20" dirty="0">
                <a:latin typeface="Times New Roman"/>
                <a:cs typeface="Times New Roman"/>
              </a:rPr>
              <a:t> </a:t>
            </a:r>
            <a:r>
              <a:rPr sz="1150" dirty="0">
                <a:latin typeface="Times New Roman"/>
                <a:cs typeface="Times New Roman"/>
              </a:rPr>
              <a:t>part</a:t>
            </a:r>
            <a:r>
              <a:rPr sz="1150" spc="-35" dirty="0">
                <a:latin typeface="Times New Roman"/>
                <a:cs typeface="Times New Roman"/>
              </a:rPr>
              <a:t> </a:t>
            </a:r>
            <a:r>
              <a:rPr sz="1150" dirty="0">
                <a:latin typeface="Times New Roman"/>
                <a:cs typeface="Times New Roman"/>
              </a:rPr>
              <a:t>of</a:t>
            </a:r>
            <a:r>
              <a:rPr sz="1150" spc="-25" dirty="0">
                <a:latin typeface="Times New Roman"/>
                <a:cs typeface="Times New Roman"/>
              </a:rPr>
              <a:t> </a:t>
            </a:r>
            <a:r>
              <a:rPr sz="1150" dirty="0">
                <a:latin typeface="Times New Roman"/>
                <a:cs typeface="Times New Roman"/>
              </a:rPr>
              <a:t>a</a:t>
            </a:r>
            <a:r>
              <a:rPr sz="1150" spc="-30" dirty="0">
                <a:latin typeface="Times New Roman"/>
                <a:cs typeface="Times New Roman"/>
              </a:rPr>
              <a:t> </a:t>
            </a:r>
            <a:r>
              <a:rPr sz="1150" dirty="0">
                <a:latin typeface="Times New Roman"/>
                <a:cs typeface="Times New Roman"/>
              </a:rPr>
              <a:t>control</a:t>
            </a:r>
            <a:r>
              <a:rPr sz="1150" spc="-30" dirty="0">
                <a:latin typeface="Times New Roman"/>
                <a:cs typeface="Times New Roman"/>
              </a:rPr>
              <a:t> </a:t>
            </a:r>
            <a:r>
              <a:rPr sz="1150" spc="-10" dirty="0">
                <a:latin typeface="Times New Roman"/>
                <a:cs typeface="Times New Roman"/>
              </a:rPr>
              <a:t>register.</a:t>
            </a:r>
            <a:r>
              <a:rPr sz="1150" spc="-35" dirty="0">
                <a:latin typeface="Times New Roman"/>
                <a:cs typeface="Times New Roman"/>
              </a:rPr>
              <a:t> </a:t>
            </a:r>
            <a:r>
              <a:rPr sz="1150" spc="-10" dirty="0">
                <a:latin typeface="Times New Roman"/>
                <a:cs typeface="Times New Roman"/>
              </a:rPr>
              <a:t>Generally,</a:t>
            </a:r>
            <a:r>
              <a:rPr sz="1150" spc="-25" dirty="0">
                <a:latin typeface="Times New Roman"/>
                <a:cs typeface="Times New Roman"/>
              </a:rPr>
              <a:t> </a:t>
            </a:r>
            <a:r>
              <a:rPr sz="1150" dirty="0">
                <a:latin typeface="Times New Roman"/>
                <a:cs typeface="Times New Roman"/>
              </a:rPr>
              <a:t>machine</a:t>
            </a:r>
            <a:r>
              <a:rPr sz="1150" spc="-45" dirty="0">
                <a:latin typeface="Times New Roman"/>
                <a:cs typeface="Times New Roman"/>
              </a:rPr>
              <a:t> </a:t>
            </a:r>
            <a:r>
              <a:rPr sz="1150" spc="-10" dirty="0">
                <a:latin typeface="Times New Roman"/>
                <a:cs typeface="Times New Roman"/>
              </a:rPr>
              <a:t>instructions</a:t>
            </a:r>
            <a:r>
              <a:rPr sz="1150" spc="-45" dirty="0">
                <a:latin typeface="Times New Roman"/>
                <a:cs typeface="Times New Roman"/>
              </a:rPr>
              <a:t> </a:t>
            </a:r>
            <a:r>
              <a:rPr sz="1150" spc="-10" dirty="0">
                <a:latin typeface="Times New Roman"/>
                <a:cs typeface="Times New Roman"/>
              </a:rPr>
              <a:t>allow </a:t>
            </a:r>
            <a:r>
              <a:rPr sz="1150" dirty="0">
                <a:latin typeface="Times New Roman"/>
                <a:cs typeface="Times New Roman"/>
              </a:rPr>
              <a:t>these</a:t>
            </a:r>
            <a:r>
              <a:rPr sz="1150" spc="-20" dirty="0">
                <a:latin typeface="Times New Roman"/>
                <a:cs typeface="Times New Roman"/>
              </a:rPr>
              <a:t> </a:t>
            </a:r>
            <a:r>
              <a:rPr sz="1150" dirty="0">
                <a:latin typeface="Times New Roman"/>
                <a:cs typeface="Times New Roman"/>
              </a:rPr>
              <a:t>bits</a:t>
            </a:r>
            <a:r>
              <a:rPr sz="1150" spc="-10" dirty="0">
                <a:latin typeface="Times New Roman"/>
                <a:cs typeface="Times New Roman"/>
              </a:rPr>
              <a:t> </a:t>
            </a:r>
            <a:r>
              <a:rPr sz="1150" dirty="0">
                <a:latin typeface="Times New Roman"/>
                <a:cs typeface="Times New Roman"/>
              </a:rPr>
              <a:t>to</a:t>
            </a:r>
            <a:r>
              <a:rPr sz="1150" spc="-20" dirty="0">
                <a:latin typeface="Times New Roman"/>
                <a:cs typeface="Times New Roman"/>
              </a:rPr>
              <a:t> </a:t>
            </a:r>
            <a:r>
              <a:rPr sz="1150" dirty="0">
                <a:latin typeface="Times New Roman"/>
                <a:cs typeface="Times New Roman"/>
              </a:rPr>
              <a:t>be</a:t>
            </a:r>
            <a:r>
              <a:rPr sz="1150" spc="-5" dirty="0">
                <a:latin typeface="Times New Roman"/>
                <a:cs typeface="Times New Roman"/>
              </a:rPr>
              <a:t> </a:t>
            </a:r>
            <a:r>
              <a:rPr sz="1150" dirty="0">
                <a:latin typeface="Times New Roman"/>
                <a:cs typeface="Times New Roman"/>
              </a:rPr>
              <a:t>read</a:t>
            </a:r>
            <a:r>
              <a:rPr sz="1150" spc="-20" dirty="0">
                <a:latin typeface="Times New Roman"/>
                <a:cs typeface="Times New Roman"/>
              </a:rPr>
              <a:t> </a:t>
            </a:r>
            <a:r>
              <a:rPr sz="1150" dirty="0">
                <a:latin typeface="Times New Roman"/>
                <a:cs typeface="Times New Roman"/>
              </a:rPr>
              <a:t>by</a:t>
            </a:r>
            <a:r>
              <a:rPr sz="1150" spc="-10" dirty="0">
                <a:latin typeface="Times New Roman"/>
                <a:cs typeface="Times New Roman"/>
              </a:rPr>
              <a:t> implicit</a:t>
            </a:r>
            <a:r>
              <a:rPr sz="1150" spc="-40" dirty="0">
                <a:latin typeface="Times New Roman"/>
                <a:cs typeface="Times New Roman"/>
              </a:rPr>
              <a:t> </a:t>
            </a:r>
            <a:r>
              <a:rPr sz="1150" spc="-10" dirty="0">
                <a:latin typeface="Times New Roman"/>
                <a:cs typeface="Times New Roman"/>
              </a:rPr>
              <a:t>reference,</a:t>
            </a:r>
            <a:r>
              <a:rPr sz="1150" spc="-30" dirty="0">
                <a:latin typeface="Times New Roman"/>
                <a:cs typeface="Times New Roman"/>
              </a:rPr>
              <a:t> </a:t>
            </a:r>
            <a:r>
              <a:rPr sz="1150" dirty="0">
                <a:latin typeface="Times New Roman"/>
                <a:cs typeface="Times New Roman"/>
              </a:rPr>
              <a:t>but</a:t>
            </a:r>
            <a:r>
              <a:rPr sz="1150" spc="-10" dirty="0">
                <a:latin typeface="Times New Roman"/>
                <a:cs typeface="Times New Roman"/>
              </a:rPr>
              <a:t> </a:t>
            </a:r>
            <a:r>
              <a:rPr sz="1150" dirty="0">
                <a:latin typeface="Times New Roman"/>
                <a:cs typeface="Times New Roman"/>
              </a:rPr>
              <a:t>the</a:t>
            </a:r>
            <a:r>
              <a:rPr sz="1150" spc="-15" dirty="0">
                <a:latin typeface="Times New Roman"/>
                <a:cs typeface="Times New Roman"/>
              </a:rPr>
              <a:t> </a:t>
            </a:r>
            <a:r>
              <a:rPr sz="1150" spc="-10" dirty="0">
                <a:latin typeface="Times New Roman"/>
                <a:cs typeface="Times New Roman"/>
              </a:rPr>
              <a:t>programmer</a:t>
            </a:r>
            <a:r>
              <a:rPr sz="1150" spc="-30" dirty="0">
                <a:latin typeface="Times New Roman"/>
                <a:cs typeface="Times New Roman"/>
              </a:rPr>
              <a:t> </a:t>
            </a:r>
            <a:r>
              <a:rPr sz="1150" dirty="0">
                <a:latin typeface="Times New Roman"/>
                <a:cs typeface="Times New Roman"/>
              </a:rPr>
              <a:t>cannot</a:t>
            </a:r>
            <a:r>
              <a:rPr sz="1150" spc="-15" dirty="0">
                <a:latin typeface="Times New Roman"/>
                <a:cs typeface="Times New Roman"/>
              </a:rPr>
              <a:t> </a:t>
            </a:r>
            <a:r>
              <a:rPr sz="1150" dirty="0">
                <a:latin typeface="Times New Roman"/>
                <a:cs typeface="Times New Roman"/>
              </a:rPr>
              <a:t>alter</a:t>
            </a:r>
            <a:r>
              <a:rPr sz="1150" spc="-30" dirty="0">
                <a:latin typeface="Times New Roman"/>
                <a:cs typeface="Times New Roman"/>
              </a:rPr>
              <a:t> </a:t>
            </a:r>
            <a:r>
              <a:rPr sz="1150" spc="-10" dirty="0">
                <a:latin typeface="Times New Roman"/>
                <a:cs typeface="Times New Roman"/>
              </a:rPr>
              <a:t>them.</a:t>
            </a:r>
            <a:endParaRPr sz="1150">
              <a:latin typeface="Times New Roman"/>
              <a:cs typeface="Times New Roman"/>
            </a:endParaRPr>
          </a:p>
          <a:p>
            <a:pPr>
              <a:lnSpc>
                <a:spcPct val="100000"/>
              </a:lnSpc>
            </a:pPr>
            <a:endParaRPr sz="1150">
              <a:latin typeface="Times New Roman"/>
              <a:cs typeface="Times New Roman"/>
            </a:endParaRPr>
          </a:p>
          <a:p>
            <a:pPr>
              <a:lnSpc>
                <a:spcPct val="100000"/>
              </a:lnSpc>
              <a:spcBef>
                <a:spcPts val="1085"/>
              </a:spcBef>
            </a:pPr>
            <a:endParaRPr sz="1150">
              <a:latin typeface="Times New Roman"/>
              <a:cs typeface="Times New Roman"/>
            </a:endParaRPr>
          </a:p>
          <a:p>
            <a:pPr marR="144145" algn="r">
              <a:lnSpc>
                <a:spcPct val="100000"/>
              </a:lnSpc>
            </a:pPr>
            <a:r>
              <a:rPr sz="1000" b="1" spc="-25" dirty="0">
                <a:solidFill>
                  <a:srgbClr val="3E762B"/>
                </a:solidFill>
                <a:latin typeface="Corbel"/>
                <a:cs typeface="Corbel"/>
              </a:rPr>
              <a:t>19</a:t>
            </a:r>
            <a:endParaRPr sz="1000">
              <a:latin typeface="Corbel"/>
              <a:cs typeface="Corbel"/>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15570">
              <a:lnSpc>
                <a:spcPts val="1240"/>
              </a:lnSpc>
            </a:pPr>
            <a:fld id="{81D60167-4931-47E6-BA6A-407CBD079E47}" type="slidenum">
              <a:rPr spc="-50" dirty="0"/>
              <a:t>10</a:t>
            </a:fld>
            <a:endParaRPr spc="-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Control</a:t>
            </a:r>
            <a:r>
              <a:rPr sz="2200" spc="-95" dirty="0">
                <a:latin typeface="Georgia"/>
                <a:cs typeface="Georgia"/>
              </a:rPr>
              <a:t> </a:t>
            </a:r>
            <a:r>
              <a:rPr sz="2200" spc="-10" dirty="0">
                <a:latin typeface="Georgia"/>
                <a:cs typeface="Georgia"/>
              </a:rPr>
              <a:t>Registers</a:t>
            </a:r>
            <a:endParaRPr sz="2200">
              <a:latin typeface="Georgia"/>
              <a:cs typeface="Georgia"/>
            </a:endParaRPr>
          </a:p>
          <a:p>
            <a:pPr marL="490855" marR="359410" indent="-228600">
              <a:lnSpc>
                <a:spcPct val="120000"/>
              </a:lnSpc>
              <a:spcBef>
                <a:spcPts val="1175"/>
              </a:spcBef>
              <a:buClr>
                <a:srgbClr val="3E762B"/>
              </a:buClr>
              <a:buFont typeface="Wingdings"/>
              <a:buChar char=""/>
              <a:tabLst>
                <a:tab pos="490855" algn="l"/>
              </a:tabLst>
            </a:pPr>
            <a:r>
              <a:rPr sz="1200" dirty="0">
                <a:latin typeface="Times New Roman"/>
                <a:cs typeface="Times New Roman"/>
              </a:rPr>
              <a:t>Processor</a:t>
            </a:r>
            <a:r>
              <a:rPr sz="1200" spc="-30"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that</a:t>
            </a:r>
            <a:r>
              <a:rPr sz="1200" spc="-50" dirty="0">
                <a:latin typeface="Times New Roman"/>
                <a:cs typeface="Times New Roman"/>
              </a:rPr>
              <a:t> </a:t>
            </a:r>
            <a:r>
              <a:rPr sz="1200" dirty="0">
                <a:latin typeface="Times New Roman"/>
                <a:cs typeface="Times New Roman"/>
              </a:rPr>
              <a:t>are</a:t>
            </a:r>
            <a:r>
              <a:rPr sz="1200" spc="-30" dirty="0">
                <a:latin typeface="Times New Roman"/>
                <a:cs typeface="Times New Roman"/>
              </a:rPr>
              <a:t> </a:t>
            </a:r>
            <a:r>
              <a:rPr sz="1200" dirty="0">
                <a:latin typeface="Times New Roman"/>
                <a:cs typeface="Times New Roman"/>
              </a:rPr>
              <a:t>employed</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control</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operation</a:t>
            </a:r>
            <a:r>
              <a:rPr sz="1200" spc="-3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processor</a:t>
            </a:r>
            <a:r>
              <a:rPr sz="1200" spc="-15" dirty="0">
                <a:latin typeface="Times New Roman"/>
                <a:cs typeface="Times New Roman"/>
              </a:rPr>
              <a:t> </a:t>
            </a:r>
            <a:r>
              <a:rPr sz="1200" spc="-25" dirty="0">
                <a:latin typeface="Times New Roman"/>
                <a:cs typeface="Times New Roman"/>
              </a:rPr>
              <a:t>and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not</a:t>
            </a:r>
            <a:r>
              <a:rPr sz="1200" spc="-30" dirty="0">
                <a:latin typeface="Times New Roman"/>
                <a:cs typeface="Times New Roman"/>
              </a:rPr>
              <a:t> </a:t>
            </a:r>
            <a:r>
              <a:rPr sz="1200" dirty="0">
                <a:latin typeface="Times New Roman"/>
                <a:cs typeface="Times New Roman"/>
              </a:rPr>
              <a:t>visible</a:t>
            </a:r>
            <a:r>
              <a:rPr sz="1200" spc="-2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user.</a:t>
            </a:r>
            <a:endParaRPr sz="1200">
              <a:latin typeface="Times New Roman"/>
              <a:cs typeface="Times New Roman"/>
            </a:endParaRPr>
          </a:p>
          <a:p>
            <a:pPr marL="490855" marR="546735" indent="-228600">
              <a:lnSpc>
                <a:spcPct val="120000"/>
              </a:lnSpc>
              <a:spcBef>
                <a:spcPts val="600"/>
              </a:spcBef>
              <a:buClr>
                <a:srgbClr val="3E762B"/>
              </a:buClr>
              <a:buFont typeface="Wingdings"/>
              <a:buChar char=""/>
              <a:tabLst>
                <a:tab pos="490855" algn="l"/>
              </a:tabLst>
            </a:pPr>
            <a:r>
              <a:rPr sz="1200" dirty="0">
                <a:latin typeface="Times New Roman"/>
                <a:cs typeface="Times New Roman"/>
              </a:rPr>
              <a:t>Some</a:t>
            </a:r>
            <a:r>
              <a:rPr sz="1200" spc="-25"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dirty="0">
                <a:latin typeface="Times New Roman"/>
                <a:cs typeface="Times New Roman"/>
              </a:rPr>
              <a:t>them</a:t>
            </a:r>
            <a:r>
              <a:rPr sz="1200" spc="-35" dirty="0">
                <a:latin typeface="Times New Roman"/>
                <a:cs typeface="Times New Roman"/>
              </a:rPr>
              <a:t> </a:t>
            </a:r>
            <a:r>
              <a:rPr sz="1200" dirty="0">
                <a:latin typeface="Times New Roman"/>
                <a:cs typeface="Times New Roman"/>
              </a:rPr>
              <a:t>may</a:t>
            </a:r>
            <a:r>
              <a:rPr sz="1200" spc="-3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b="1" dirty="0">
                <a:latin typeface="Times New Roman"/>
                <a:cs typeface="Times New Roman"/>
              </a:rPr>
              <a:t>visible</a:t>
            </a:r>
            <a:r>
              <a:rPr sz="1200" b="1" spc="-50"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b="1" dirty="0">
                <a:latin typeface="Times New Roman"/>
                <a:cs typeface="Times New Roman"/>
              </a:rPr>
              <a:t>machine</a:t>
            </a:r>
            <a:r>
              <a:rPr sz="1200" b="1" spc="-20" dirty="0">
                <a:latin typeface="Times New Roman"/>
                <a:cs typeface="Times New Roman"/>
              </a:rPr>
              <a:t> </a:t>
            </a:r>
            <a:r>
              <a:rPr sz="1200" b="1" dirty="0">
                <a:latin typeface="Times New Roman"/>
                <a:cs typeface="Times New Roman"/>
              </a:rPr>
              <a:t>instructions</a:t>
            </a:r>
            <a:r>
              <a:rPr sz="1200" b="1" spc="-15" dirty="0">
                <a:latin typeface="Times New Roman"/>
                <a:cs typeface="Times New Roman"/>
              </a:rPr>
              <a:t> </a:t>
            </a:r>
            <a:r>
              <a:rPr sz="1200" dirty="0">
                <a:latin typeface="Times New Roman"/>
                <a:cs typeface="Times New Roman"/>
              </a:rPr>
              <a:t>executed</a:t>
            </a:r>
            <a:r>
              <a:rPr sz="1200" spc="-40" dirty="0">
                <a:latin typeface="Times New Roman"/>
                <a:cs typeface="Times New Roman"/>
              </a:rPr>
              <a:t>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control</a:t>
            </a:r>
            <a:r>
              <a:rPr sz="1200" spc="-25" dirty="0">
                <a:latin typeface="Times New Roman"/>
                <a:cs typeface="Times New Roman"/>
              </a:rPr>
              <a:t> or </a:t>
            </a:r>
            <a:r>
              <a:rPr sz="1200" dirty="0">
                <a:latin typeface="Times New Roman"/>
                <a:cs typeface="Times New Roman"/>
              </a:rPr>
              <a:t>operating</a:t>
            </a:r>
            <a:r>
              <a:rPr sz="1200" spc="-60" dirty="0">
                <a:latin typeface="Times New Roman"/>
                <a:cs typeface="Times New Roman"/>
              </a:rPr>
              <a:t> </a:t>
            </a:r>
            <a:r>
              <a:rPr sz="1200" dirty="0">
                <a:latin typeface="Times New Roman"/>
                <a:cs typeface="Times New Roman"/>
              </a:rPr>
              <a:t>system</a:t>
            </a:r>
            <a:r>
              <a:rPr sz="1200" spc="-25" dirty="0">
                <a:latin typeface="Times New Roman"/>
                <a:cs typeface="Times New Roman"/>
              </a:rPr>
              <a:t> </a:t>
            </a:r>
            <a:r>
              <a:rPr sz="1200" spc="-10" dirty="0">
                <a:latin typeface="Times New Roman"/>
                <a:cs typeface="Times New Roman"/>
              </a:rPr>
              <a:t>mode.</a:t>
            </a: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55"/>
              </a:spcBef>
            </a:pPr>
            <a:endParaRPr sz="1200">
              <a:latin typeface="Times New Roman"/>
              <a:cs typeface="Times New Roman"/>
            </a:endParaRPr>
          </a:p>
          <a:p>
            <a:pPr marL="317500">
              <a:lnSpc>
                <a:spcPct val="100000"/>
              </a:lnSpc>
            </a:pPr>
            <a:r>
              <a:rPr sz="1200" b="1" dirty="0">
                <a:solidFill>
                  <a:srgbClr val="00893D"/>
                </a:solidFill>
                <a:latin typeface="Times New Roman"/>
                <a:cs typeface="Times New Roman"/>
              </a:rPr>
              <a:t>Each</a:t>
            </a:r>
            <a:r>
              <a:rPr sz="1200" b="1" spc="-10" dirty="0">
                <a:solidFill>
                  <a:srgbClr val="00893D"/>
                </a:solidFill>
                <a:latin typeface="Times New Roman"/>
                <a:cs typeface="Times New Roman"/>
              </a:rPr>
              <a:t> </a:t>
            </a:r>
            <a:r>
              <a:rPr sz="1200" b="1" dirty="0">
                <a:solidFill>
                  <a:srgbClr val="00893D"/>
                </a:solidFill>
                <a:latin typeface="Times New Roman"/>
                <a:cs typeface="Times New Roman"/>
              </a:rPr>
              <a:t>machine has</a:t>
            </a:r>
            <a:r>
              <a:rPr sz="1200" b="1" spc="-20" dirty="0">
                <a:solidFill>
                  <a:srgbClr val="00893D"/>
                </a:solidFill>
                <a:latin typeface="Times New Roman"/>
                <a:cs typeface="Times New Roman"/>
              </a:rPr>
              <a:t> </a:t>
            </a:r>
            <a:r>
              <a:rPr sz="1200" b="1" dirty="0">
                <a:solidFill>
                  <a:srgbClr val="00893D"/>
                </a:solidFill>
                <a:latin typeface="Times New Roman"/>
                <a:cs typeface="Times New Roman"/>
              </a:rPr>
              <a:t>a</a:t>
            </a:r>
            <a:r>
              <a:rPr sz="1200" b="1" spc="-10" dirty="0">
                <a:solidFill>
                  <a:srgbClr val="00893D"/>
                </a:solidFill>
                <a:latin typeface="Times New Roman"/>
                <a:cs typeface="Times New Roman"/>
              </a:rPr>
              <a:t> different</a:t>
            </a:r>
            <a:r>
              <a:rPr sz="1200" b="1" spc="-25" dirty="0">
                <a:solidFill>
                  <a:srgbClr val="00893D"/>
                </a:solidFill>
                <a:latin typeface="Times New Roman"/>
                <a:cs typeface="Times New Roman"/>
              </a:rPr>
              <a:t> </a:t>
            </a:r>
            <a:r>
              <a:rPr sz="1200" b="1" spc="-10" dirty="0">
                <a:solidFill>
                  <a:srgbClr val="00893D"/>
                </a:solidFill>
                <a:latin typeface="Times New Roman"/>
                <a:cs typeface="Times New Roman"/>
              </a:rPr>
              <a:t>register</a:t>
            </a:r>
            <a:r>
              <a:rPr sz="1200" b="1" spc="-15" dirty="0">
                <a:solidFill>
                  <a:srgbClr val="00893D"/>
                </a:solidFill>
                <a:latin typeface="Times New Roman"/>
                <a:cs typeface="Times New Roman"/>
              </a:rPr>
              <a:t> </a:t>
            </a:r>
            <a:r>
              <a:rPr sz="1200" b="1" dirty="0">
                <a:solidFill>
                  <a:srgbClr val="00893D"/>
                </a:solidFill>
                <a:latin typeface="Times New Roman"/>
                <a:cs typeface="Times New Roman"/>
              </a:rPr>
              <a:t>organization</a:t>
            </a:r>
            <a:r>
              <a:rPr sz="1200" b="1" spc="-20" dirty="0">
                <a:solidFill>
                  <a:srgbClr val="00893D"/>
                </a:solidFill>
                <a:latin typeface="Times New Roman"/>
                <a:cs typeface="Times New Roman"/>
              </a:rPr>
              <a:t> </a:t>
            </a:r>
            <a:r>
              <a:rPr sz="1200" b="1" dirty="0">
                <a:solidFill>
                  <a:srgbClr val="00893D"/>
                </a:solidFill>
                <a:latin typeface="Times New Roman"/>
                <a:cs typeface="Times New Roman"/>
              </a:rPr>
              <a:t>and</a:t>
            </a:r>
            <a:r>
              <a:rPr sz="1200" b="1" spc="-5" dirty="0">
                <a:solidFill>
                  <a:srgbClr val="00893D"/>
                </a:solidFill>
                <a:latin typeface="Times New Roman"/>
                <a:cs typeface="Times New Roman"/>
              </a:rPr>
              <a:t> </a:t>
            </a:r>
            <a:r>
              <a:rPr sz="1200" b="1" dirty="0">
                <a:solidFill>
                  <a:srgbClr val="00893D"/>
                </a:solidFill>
                <a:latin typeface="Times New Roman"/>
                <a:cs typeface="Times New Roman"/>
              </a:rPr>
              <a:t>uses</a:t>
            </a:r>
            <a:r>
              <a:rPr sz="1200" b="1" spc="-5" dirty="0">
                <a:solidFill>
                  <a:srgbClr val="00893D"/>
                </a:solidFill>
                <a:latin typeface="Times New Roman"/>
                <a:cs typeface="Times New Roman"/>
              </a:rPr>
              <a:t> </a:t>
            </a:r>
            <a:r>
              <a:rPr sz="1200" b="1" spc="-10" dirty="0">
                <a:solidFill>
                  <a:srgbClr val="00893D"/>
                </a:solidFill>
                <a:latin typeface="Times New Roman"/>
                <a:cs typeface="Times New Roman"/>
              </a:rPr>
              <a:t>different</a:t>
            </a:r>
            <a:r>
              <a:rPr sz="1200" b="1" spc="-30" dirty="0">
                <a:solidFill>
                  <a:srgbClr val="00893D"/>
                </a:solidFill>
                <a:latin typeface="Times New Roman"/>
                <a:cs typeface="Times New Roman"/>
              </a:rPr>
              <a:t> </a:t>
            </a:r>
            <a:r>
              <a:rPr sz="1200" b="1" spc="-10" dirty="0">
                <a:solidFill>
                  <a:srgbClr val="00893D"/>
                </a:solidFill>
                <a:latin typeface="Times New Roman"/>
                <a:cs typeface="Times New Roman"/>
              </a:rPr>
              <a:t>terminology.</a:t>
            </a: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1200"/>
              </a:spcBef>
            </a:pPr>
            <a:endParaRPr sz="1200">
              <a:latin typeface="Times New Roman"/>
              <a:cs typeface="Times New Roman"/>
            </a:endParaRPr>
          </a:p>
          <a:p>
            <a:pPr marR="147955" algn="r">
              <a:lnSpc>
                <a:spcPct val="100000"/>
              </a:lnSpc>
            </a:pPr>
            <a:r>
              <a:rPr sz="1000" b="1" spc="-25" dirty="0">
                <a:solidFill>
                  <a:srgbClr val="3E762B"/>
                </a:solidFill>
                <a:latin typeface="Corbel"/>
                <a:cs typeface="Corbel"/>
              </a:rPr>
              <a:t>20</a:t>
            </a:r>
            <a:endParaRPr sz="1000">
              <a:latin typeface="Corbel"/>
              <a:cs typeface="Corbel"/>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Status</a:t>
            </a:r>
            <a:r>
              <a:rPr sz="2200" spc="-80" dirty="0">
                <a:latin typeface="Georgia"/>
                <a:cs typeface="Georgia"/>
              </a:rPr>
              <a:t> </a:t>
            </a:r>
            <a:r>
              <a:rPr sz="2200" spc="-10" dirty="0">
                <a:latin typeface="Georgia"/>
                <a:cs typeface="Georgia"/>
              </a:rPr>
              <a:t>Registers</a:t>
            </a:r>
            <a:endParaRPr sz="2200">
              <a:latin typeface="Georgia"/>
              <a:cs typeface="Georgia"/>
            </a:endParaRPr>
          </a:p>
          <a:p>
            <a:pPr marL="490220" indent="-227965">
              <a:lnSpc>
                <a:spcPct val="100000"/>
              </a:lnSpc>
              <a:spcBef>
                <a:spcPts val="1465"/>
              </a:spcBef>
              <a:buClr>
                <a:srgbClr val="3E762B"/>
              </a:buClr>
              <a:buFont typeface="Wingdings"/>
              <a:buChar char=""/>
              <a:tabLst>
                <a:tab pos="490220" algn="l"/>
              </a:tabLst>
            </a:pPr>
            <a:r>
              <a:rPr sz="1200" dirty="0">
                <a:latin typeface="Times New Roman"/>
                <a:cs typeface="Times New Roman"/>
              </a:rPr>
              <a:t>Four</a:t>
            </a:r>
            <a:r>
              <a:rPr sz="1200" spc="-35"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are</a:t>
            </a:r>
            <a:r>
              <a:rPr sz="1200" spc="-45" dirty="0">
                <a:latin typeface="Times New Roman"/>
                <a:cs typeface="Times New Roman"/>
              </a:rPr>
              <a:t> </a:t>
            </a:r>
            <a:r>
              <a:rPr sz="1200" dirty="0">
                <a:latin typeface="Times New Roman"/>
                <a:cs typeface="Times New Roman"/>
              </a:rPr>
              <a:t>essential</a:t>
            </a:r>
            <a:r>
              <a:rPr sz="1200" spc="-3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instruction</a:t>
            </a:r>
            <a:r>
              <a:rPr sz="1200" spc="-50" dirty="0">
                <a:latin typeface="Times New Roman"/>
                <a:cs typeface="Times New Roman"/>
              </a:rPr>
              <a:t> </a:t>
            </a:r>
            <a:r>
              <a:rPr sz="1200" spc="-10" dirty="0">
                <a:latin typeface="Times New Roman"/>
                <a:cs typeface="Times New Roman"/>
              </a:rPr>
              <a:t>execution:</a:t>
            </a:r>
            <a:endParaRPr sz="1200">
              <a:latin typeface="Times New Roman"/>
              <a:cs typeface="Times New Roman"/>
            </a:endParaRPr>
          </a:p>
          <a:p>
            <a:pPr marL="664210" lvl="1" indent="-109220">
              <a:lnSpc>
                <a:spcPct val="100000"/>
              </a:lnSpc>
              <a:spcBef>
                <a:spcPts val="875"/>
              </a:spcBef>
              <a:buClr>
                <a:srgbClr val="3E762B"/>
              </a:buClr>
              <a:buFont typeface="Wingdings"/>
              <a:buChar char=""/>
              <a:tabLst>
                <a:tab pos="664210" algn="l"/>
              </a:tabLst>
            </a:pPr>
            <a:r>
              <a:rPr sz="1100" b="1" dirty="0">
                <a:latin typeface="Times New Roman"/>
                <a:cs typeface="Times New Roman"/>
              </a:rPr>
              <a:t>Program</a:t>
            </a:r>
            <a:r>
              <a:rPr sz="1100" b="1" spc="-20" dirty="0">
                <a:latin typeface="Times New Roman"/>
                <a:cs typeface="Times New Roman"/>
              </a:rPr>
              <a:t> </a:t>
            </a:r>
            <a:r>
              <a:rPr sz="1100" b="1" dirty="0">
                <a:latin typeface="Times New Roman"/>
                <a:cs typeface="Times New Roman"/>
              </a:rPr>
              <a:t>counter</a:t>
            </a:r>
            <a:r>
              <a:rPr sz="1100" b="1" spc="-35" dirty="0">
                <a:latin typeface="Times New Roman"/>
                <a:cs typeface="Times New Roman"/>
              </a:rPr>
              <a:t> </a:t>
            </a:r>
            <a:r>
              <a:rPr sz="1100" b="1" dirty="0">
                <a:latin typeface="Times New Roman"/>
                <a:cs typeface="Times New Roman"/>
              </a:rPr>
              <a:t>(PC):</a:t>
            </a:r>
            <a:r>
              <a:rPr sz="1100" b="1" spc="-5" dirty="0">
                <a:latin typeface="Times New Roman"/>
                <a:cs typeface="Times New Roman"/>
              </a:rPr>
              <a:t> </a:t>
            </a:r>
            <a:r>
              <a:rPr sz="1100" dirty="0">
                <a:latin typeface="Times New Roman"/>
                <a:cs typeface="Times New Roman"/>
              </a:rPr>
              <a:t>Contains</a:t>
            </a:r>
            <a:r>
              <a:rPr sz="1100" spc="-20" dirty="0">
                <a:latin typeface="Times New Roman"/>
                <a:cs typeface="Times New Roman"/>
              </a:rPr>
              <a:t> </a:t>
            </a:r>
            <a:r>
              <a:rPr sz="1100" dirty="0">
                <a:latin typeface="Times New Roman"/>
                <a:cs typeface="Times New Roman"/>
              </a:rPr>
              <a:t>the</a:t>
            </a:r>
            <a:r>
              <a:rPr sz="1100" spc="-25" dirty="0">
                <a:latin typeface="Times New Roman"/>
                <a:cs typeface="Times New Roman"/>
              </a:rPr>
              <a:t> </a:t>
            </a:r>
            <a:r>
              <a:rPr sz="1100" dirty="0">
                <a:latin typeface="Times New Roman"/>
                <a:cs typeface="Times New Roman"/>
              </a:rPr>
              <a:t>address</a:t>
            </a:r>
            <a:r>
              <a:rPr sz="1100" spc="-1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an instruction</a:t>
            </a:r>
            <a:r>
              <a:rPr sz="1100" spc="-3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dirty="0">
                <a:latin typeface="Times New Roman"/>
                <a:cs typeface="Times New Roman"/>
              </a:rPr>
              <a:t>be</a:t>
            </a:r>
            <a:r>
              <a:rPr sz="1100" spc="-10" dirty="0">
                <a:latin typeface="Times New Roman"/>
                <a:cs typeface="Times New Roman"/>
              </a:rPr>
              <a:t> fetched.</a:t>
            </a:r>
            <a:endParaRPr sz="1100">
              <a:latin typeface="Times New Roman"/>
              <a:cs typeface="Times New Roman"/>
            </a:endParaRPr>
          </a:p>
          <a:p>
            <a:pPr marL="664210" lvl="1" indent="-109220">
              <a:lnSpc>
                <a:spcPct val="100000"/>
              </a:lnSpc>
              <a:spcBef>
                <a:spcPts val="865"/>
              </a:spcBef>
              <a:buClr>
                <a:srgbClr val="3E762B"/>
              </a:buClr>
              <a:buFont typeface="Wingdings"/>
              <a:buChar char=""/>
              <a:tabLst>
                <a:tab pos="664210" algn="l"/>
              </a:tabLst>
            </a:pPr>
            <a:r>
              <a:rPr sz="1100" b="1" dirty="0">
                <a:latin typeface="Times New Roman"/>
                <a:cs typeface="Times New Roman"/>
              </a:rPr>
              <a:t>Instruction</a:t>
            </a:r>
            <a:r>
              <a:rPr sz="1100" b="1" spc="-35" dirty="0">
                <a:latin typeface="Times New Roman"/>
                <a:cs typeface="Times New Roman"/>
              </a:rPr>
              <a:t> </a:t>
            </a:r>
            <a:r>
              <a:rPr sz="1100" b="1" dirty="0">
                <a:latin typeface="Times New Roman"/>
                <a:cs typeface="Times New Roman"/>
              </a:rPr>
              <a:t>register</a:t>
            </a:r>
            <a:r>
              <a:rPr sz="1100" b="1" spc="-40" dirty="0">
                <a:latin typeface="Times New Roman"/>
                <a:cs typeface="Times New Roman"/>
              </a:rPr>
              <a:t> </a:t>
            </a:r>
            <a:r>
              <a:rPr sz="1100" b="1" dirty="0">
                <a:latin typeface="Times New Roman"/>
                <a:cs typeface="Times New Roman"/>
              </a:rPr>
              <a:t>(IR): </a:t>
            </a:r>
            <a:r>
              <a:rPr sz="1100" dirty="0">
                <a:latin typeface="Times New Roman"/>
                <a:cs typeface="Times New Roman"/>
              </a:rPr>
              <a:t>Contains</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instruction</a:t>
            </a:r>
            <a:r>
              <a:rPr sz="1100" spc="-30" dirty="0">
                <a:latin typeface="Times New Roman"/>
                <a:cs typeface="Times New Roman"/>
              </a:rPr>
              <a:t> </a:t>
            </a:r>
            <a:r>
              <a:rPr sz="1100" dirty="0">
                <a:latin typeface="Times New Roman"/>
                <a:cs typeface="Times New Roman"/>
              </a:rPr>
              <a:t>most</a:t>
            </a:r>
            <a:r>
              <a:rPr sz="1100" spc="15" dirty="0">
                <a:latin typeface="Times New Roman"/>
                <a:cs typeface="Times New Roman"/>
              </a:rPr>
              <a:t> </a:t>
            </a:r>
            <a:r>
              <a:rPr sz="1100" dirty="0">
                <a:latin typeface="Times New Roman"/>
                <a:cs typeface="Times New Roman"/>
              </a:rPr>
              <a:t>recently</a:t>
            </a:r>
            <a:r>
              <a:rPr sz="1100" spc="-35" dirty="0">
                <a:latin typeface="Times New Roman"/>
                <a:cs typeface="Times New Roman"/>
              </a:rPr>
              <a:t> </a:t>
            </a:r>
            <a:r>
              <a:rPr sz="1100" spc="-10" dirty="0">
                <a:latin typeface="Times New Roman"/>
                <a:cs typeface="Times New Roman"/>
              </a:rPr>
              <a:t>fetched.</a:t>
            </a:r>
            <a:endParaRPr sz="1100">
              <a:latin typeface="Times New Roman"/>
              <a:cs typeface="Times New Roman"/>
            </a:endParaRPr>
          </a:p>
          <a:p>
            <a:pPr marL="664845" marR="1124585" lvl="1" indent="-109855">
              <a:lnSpc>
                <a:spcPct val="120000"/>
              </a:lnSpc>
              <a:spcBef>
                <a:spcPts val="600"/>
              </a:spcBef>
              <a:buClr>
                <a:srgbClr val="3E762B"/>
              </a:buClr>
              <a:buFont typeface="Wingdings"/>
              <a:buChar char=""/>
              <a:tabLst>
                <a:tab pos="664845" algn="l"/>
              </a:tabLst>
            </a:pPr>
            <a:r>
              <a:rPr sz="1100" b="1" dirty="0">
                <a:latin typeface="Times New Roman"/>
                <a:cs typeface="Times New Roman"/>
              </a:rPr>
              <a:t>Memory</a:t>
            </a:r>
            <a:r>
              <a:rPr sz="1100" b="1" spc="-30" dirty="0">
                <a:latin typeface="Times New Roman"/>
                <a:cs typeface="Times New Roman"/>
              </a:rPr>
              <a:t> </a:t>
            </a:r>
            <a:r>
              <a:rPr sz="1100" b="1" dirty="0">
                <a:latin typeface="Times New Roman"/>
                <a:cs typeface="Times New Roman"/>
              </a:rPr>
              <a:t>address</a:t>
            </a:r>
            <a:r>
              <a:rPr sz="1100" b="1" spc="-20" dirty="0">
                <a:latin typeface="Times New Roman"/>
                <a:cs typeface="Times New Roman"/>
              </a:rPr>
              <a:t> </a:t>
            </a:r>
            <a:r>
              <a:rPr sz="1100" b="1" dirty="0">
                <a:latin typeface="Times New Roman"/>
                <a:cs typeface="Times New Roman"/>
              </a:rPr>
              <a:t>register</a:t>
            </a:r>
            <a:r>
              <a:rPr sz="1100" b="1" spc="-50" dirty="0">
                <a:latin typeface="Times New Roman"/>
                <a:cs typeface="Times New Roman"/>
              </a:rPr>
              <a:t> </a:t>
            </a:r>
            <a:r>
              <a:rPr sz="1100" b="1" dirty="0">
                <a:latin typeface="Times New Roman"/>
                <a:cs typeface="Times New Roman"/>
              </a:rPr>
              <a:t>(MAR):</a:t>
            </a:r>
            <a:r>
              <a:rPr sz="1100" b="1" spc="5" dirty="0">
                <a:latin typeface="Times New Roman"/>
                <a:cs typeface="Times New Roman"/>
              </a:rPr>
              <a:t> </a:t>
            </a:r>
            <a:r>
              <a:rPr sz="1100" dirty="0">
                <a:latin typeface="Times New Roman"/>
                <a:cs typeface="Times New Roman"/>
              </a:rPr>
              <a:t>Contains</a:t>
            </a:r>
            <a:r>
              <a:rPr sz="1100" spc="-4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address</a:t>
            </a:r>
            <a:r>
              <a:rPr sz="1100" spc="-40" dirty="0">
                <a:latin typeface="Times New Roman"/>
                <a:cs typeface="Times New Roman"/>
              </a:rPr>
              <a:t> </a:t>
            </a:r>
            <a:r>
              <a:rPr sz="1100" dirty="0">
                <a:latin typeface="Times New Roman"/>
                <a:cs typeface="Times New Roman"/>
              </a:rPr>
              <a:t>of a</a:t>
            </a:r>
            <a:r>
              <a:rPr sz="1100" spc="-15" dirty="0">
                <a:latin typeface="Times New Roman"/>
                <a:cs typeface="Times New Roman"/>
              </a:rPr>
              <a:t> </a:t>
            </a:r>
            <a:r>
              <a:rPr sz="1100" dirty="0">
                <a:latin typeface="Times New Roman"/>
                <a:cs typeface="Times New Roman"/>
              </a:rPr>
              <a:t>location</a:t>
            </a:r>
            <a:r>
              <a:rPr sz="1100" spc="-25" dirty="0">
                <a:latin typeface="Times New Roman"/>
                <a:cs typeface="Times New Roman"/>
              </a:rPr>
              <a:t> in </a:t>
            </a:r>
            <a:r>
              <a:rPr sz="1100" spc="-10" dirty="0">
                <a:latin typeface="Times New Roman"/>
                <a:cs typeface="Times New Roman"/>
              </a:rPr>
              <a:t>memory.</a:t>
            </a:r>
            <a:endParaRPr sz="1100">
              <a:latin typeface="Times New Roman"/>
              <a:cs typeface="Times New Roman"/>
            </a:endParaRPr>
          </a:p>
          <a:p>
            <a:pPr marL="664845" marR="1029969" lvl="1" indent="-109855">
              <a:lnSpc>
                <a:spcPct val="120000"/>
              </a:lnSpc>
              <a:spcBef>
                <a:spcPts val="600"/>
              </a:spcBef>
              <a:buClr>
                <a:srgbClr val="3E762B"/>
              </a:buClr>
              <a:buFont typeface="Wingdings"/>
              <a:buChar char=""/>
              <a:tabLst>
                <a:tab pos="664845" algn="l"/>
              </a:tabLst>
            </a:pPr>
            <a:r>
              <a:rPr sz="1100" b="1" dirty="0">
                <a:latin typeface="Times New Roman"/>
                <a:cs typeface="Times New Roman"/>
              </a:rPr>
              <a:t>Memory</a:t>
            </a:r>
            <a:r>
              <a:rPr sz="1100" b="1" spc="-25" dirty="0">
                <a:latin typeface="Times New Roman"/>
                <a:cs typeface="Times New Roman"/>
              </a:rPr>
              <a:t> </a:t>
            </a:r>
            <a:r>
              <a:rPr sz="1100" b="1" dirty="0">
                <a:latin typeface="Times New Roman"/>
                <a:cs typeface="Times New Roman"/>
              </a:rPr>
              <a:t>buffer</a:t>
            </a:r>
            <a:r>
              <a:rPr sz="1100" b="1" spc="-60" dirty="0">
                <a:latin typeface="Times New Roman"/>
                <a:cs typeface="Times New Roman"/>
              </a:rPr>
              <a:t> </a:t>
            </a:r>
            <a:r>
              <a:rPr sz="1100" b="1" dirty="0">
                <a:latin typeface="Times New Roman"/>
                <a:cs typeface="Times New Roman"/>
              </a:rPr>
              <a:t>register</a:t>
            </a:r>
            <a:r>
              <a:rPr sz="1100" b="1" spc="-45" dirty="0">
                <a:latin typeface="Times New Roman"/>
                <a:cs typeface="Times New Roman"/>
              </a:rPr>
              <a:t> </a:t>
            </a:r>
            <a:r>
              <a:rPr sz="1100" b="1" dirty="0">
                <a:latin typeface="Times New Roman"/>
                <a:cs typeface="Times New Roman"/>
              </a:rPr>
              <a:t>(MBR):</a:t>
            </a:r>
            <a:r>
              <a:rPr sz="1100" b="1" spc="-10" dirty="0">
                <a:latin typeface="Times New Roman"/>
                <a:cs typeface="Times New Roman"/>
              </a:rPr>
              <a:t> </a:t>
            </a:r>
            <a:r>
              <a:rPr sz="1100" dirty="0">
                <a:latin typeface="Times New Roman"/>
                <a:cs typeface="Times New Roman"/>
              </a:rPr>
              <a:t>Contains</a:t>
            </a:r>
            <a:r>
              <a:rPr sz="1100" spc="-20"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rPr>
              <a:t>word</a:t>
            </a:r>
            <a:r>
              <a:rPr sz="1100" spc="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data</a:t>
            </a:r>
            <a:r>
              <a:rPr sz="1100" spc="-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dirty="0">
                <a:latin typeface="Times New Roman"/>
                <a:cs typeface="Times New Roman"/>
              </a:rPr>
              <a:t>be</a:t>
            </a:r>
            <a:r>
              <a:rPr sz="1100" spc="-10" dirty="0">
                <a:latin typeface="Times New Roman"/>
                <a:cs typeface="Times New Roman"/>
              </a:rPr>
              <a:t> </a:t>
            </a:r>
            <a:r>
              <a:rPr sz="1100" dirty="0">
                <a:latin typeface="Times New Roman"/>
                <a:cs typeface="Times New Roman"/>
              </a:rPr>
              <a:t>written</a:t>
            </a:r>
            <a:r>
              <a:rPr sz="1100" spc="-20" dirty="0">
                <a:latin typeface="Times New Roman"/>
                <a:cs typeface="Times New Roman"/>
              </a:rPr>
              <a:t> </a:t>
            </a:r>
            <a:r>
              <a:rPr sz="1100" spc="-25" dirty="0">
                <a:latin typeface="Times New Roman"/>
                <a:cs typeface="Times New Roman"/>
              </a:rPr>
              <a:t>to </a:t>
            </a:r>
            <a:r>
              <a:rPr sz="1100" dirty="0">
                <a:latin typeface="Times New Roman"/>
                <a:cs typeface="Times New Roman"/>
              </a:rPr>
              <a:t>memory</a:t>
            </a:r>
            <a:r>
              <a:rPr sz="1100" spc="10" dirty="0">
                <a:latin typeface="Times New Roman"/>
                <a:cs typeface="Times New Roman"/>
              </a:rPr>
              <a:t> </a:t>
            </a:r>
            <a:r>
              <a:rPr sz="1100" dirty="0">
                <a:latin typeface="Times New Roman"/>
                <a:cs typeface="Times New Roman"/>
              </a:rPr>
              <a:t>or</a:t>
            </a:r>
            <a:r>
              <a:rPr sz="1100" spc="-1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word</a:t>
            </a:r>
            <a:r>
              <a:rPr sz="1100" spc="-20" dirty="0">
                <a:latin typeface="Times New Roman"/>
                <a:cs typeface="Times New Roman"/>
              </a:rPr>
              <a:t> </a:t>
            </a:r>
            <a:r>
              <a:rPr sz="1100" dirty="0">
                <a:latin typeface="Times New Roman"/>
                <a:cs typeface="Times New Roman"/>
              </a:rPr>
              <a:t>most</a:t>
            </a:r>
            <a:r>
              <a:rPr sz="1100" spc="10" dirty="0">
                <a:latin typeface="Times New Roman"/>
                <a:cs typeface="Times New Roman"/>
              </a:rPr>
              <a:t> </a:t>
            </a:r>
            <a:r>
              <a:rPr sz="1100" dirty="0">
                <a:latin typeface="Times New Roman"/>
                <a:cs typeface="Times New Roman"/>
              </a:rPr>
              <a:t>recently</a:t>
            </a:r>
            <a:r>
              <a:rPr sz="1100" spc="-45" dirty="0">
                <a:latin typeface="Times New Roman"/>
                <a:cs typeface="Times New Roman"/>
              </a:rPr>
              <a:t> </a:t>
            </a:r>
            <a:r>
              <a:rPr sz="1100" spc="-20" dirty="0">
                <a:latin typeface="Times New Roman"/>
                <a:cs typeface="Times New Roman"/>
              </a:rPr>
              <a:t>read.</a:t>
            </a:r>
            <a:endParaRPr sz="1100">
              <a:latin typeface="Times New Roman"/>
              <a:cs typeface="Times New Roman"/>
            </a:endParaRPr>
          </a:p>
        </p:txBody>
      </p:sp>
      <p:sp>
        <p:nvSpPr>
          <p:cNvPr id="8" name="object 8"/>
          <p:cNvSpPr txBox="1"/>
          <p:nvPr/>
        </p:nvSpPr>
        <p:spPr>
          <a:xfrm>
            <a:off x="6070472" y="7984837"/>
            <a:ext cx="150495"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21</a:t>
            </a:r>
            <a:endParaRPr sz="1000">
              <a:latin typeface="Corbel"/>
              <a:cs typeface="Corbel"/>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Status</a:t>
            </a:r>
            <a:r>
              <a:rPr sz="2200" spc="-80" dirty="0">
                <a:latin typeface="Georgia"/>
                <a:cs typeface="Georgia"/>
              </a:rPr>
              <a:t> </a:t>
            </a:r>
            <a:r>
              <a:rPr sz="2200" spc="-10" dirty="0">
                <a:latin typeface="Georgia"/>
                <a:cs typeface="Georgia"/>
              </a:rPr>
              <a:t>Registers</a:t>
            </a:r>
            <a:endParaRPr sz="2200">
              <a:latin typeface="Georgia"/>
              <a:cs typeface="Georgia"/>
            </a:endParaRPr>
          </a:p>
          <a:p>
            <a:pPr marL="434975" marR="897255" indent="-172720">
              <a:lnSpc>
                <a:spcPct val="100000"/>
              </a:lnSpc>
              <a:spcBef>
                <a:spcPts val="1520"/>
              </a:spcBef>
              <a:buClr>
                <a:srgbClr val="3E762B"/>
              </a:buClr>
              <a:buFont typeface="Wingdings"/>
              <a:buChar char=""/>
              <a:tabLst>
                <a:tab pos="436245" algn="l"/>
              </a:tabLst>
            </a:pPr>
            <a:r>
              <a:rPr sz="1100" dirty="0">
                <a:latin typeface="Times New Roman"/>
                <a:cs typeface="Times New Roman"/>
              </a:rPr>
              <a:t>Many</a:t>
            </a:r>
            <a:r>
              <a:rPr sz="1100" spc="-25" dirty="0">
                <a:latin typeface="Times New Roman"/>
                <a:cs typeface="Times New Roman"/>
              </a:rPr>
              <a:t> </a:t>
            </a:r>
            <a:r>
              <a:rPr sz="1100" dirty="0">
                <a:latin typeface="Times New Roman"/>
                <a:cs typeface="Times New Roman"/>
              </a:rPr>
              <a:t>processor</a:t>
            </a:r>
            <a:r>
              <a:rPr sz="1100" spc="-35" dirty="0">
                <a:latin typeface="Times New Roman"/>
                <a:cs typeface="Times New Roman"/>
              </a:rPr>
              <a:t> </a:t>
            </a:r>
            <a:r>
              <a:rPr sz="1100" dirty="0">
                <a:latin typeface="Times New Roman"/>
                <a:cs typeface="Times New Roman"/>
              </a:rPr>
              <a:t>designs</a:t>
            </a:r>
            <a:r>
              <a:rPr sz="1100" spc="-5" dirty="0">
                <a:latin typeface="Times New Roman"/>
                <a:cs typeface="Times New Roman"/>
              </a:rPr>
              <a:t> </a:t>
            </a:r>
            <a:r>
              <a:rPr sz="1100" dirty="0">
                <a:latin typeface="Times New Roman"/>
                <a:cs typeface="Times New Roman"/>
              </a:rPr>
              <a:t>include</a:t>
            </a:r>
            <a:r>
              <a:rPr sz="1100" spc="-25"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rPr>
              <a:t>register</a:t>
            </a:r>
            <a:r>
              <a:rPr sz="1100" spc="-15" dirty="0">
                <a:latin typeface="Times New Roman"/>
                <a:cs typeface="Times New Roman"/>
              </a:rPr>
              <a:t> </a:t>
            </a:r>
            <a:r>
              <a:rPr sz="1100" dirty="0">
                <a:latin typeface="Times New Roman"/>
                <a:cs typeface="Times New Roman"/>
              </a:rPr>
              <a:t>or</a:t>
            </a:r>
            <a:r>
              <a:rPr sz="1100" spc="-10" dirty="0">
                <a:latin typeface="Times New Roman"/>
                <a:cs typeface="Times New Roman"/>
              </a:rPr>
              <a:t> </a:t>
            </a:r>
            <a:r>
              <a:rPr sz="1100" dirty="0">
                <a:latin typeface="Times New Roman"/>
                <a:cs typeface="Times New Roman"/>
              </a:rPr>
              <a:t>set</a:t>
            </a:r>
            <a:r>
              <a:rPr sz="1100" spc="-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registers,</a:t>
            </a:r>
            <a:r>
              <a:rPr sz="1100" spc="-15" dirty="0">
                <a:latin typeface="Times New Roman"/>
                <a:cs typeface="Times New Roman"/>
              </a:rPr>
              <a:t> </a:t>
            </a:r>
            <a:r>
              <a:rPr sz="1100" dirty="0">
                <a:latin typeface="Times New Roman"/>
                <a:cs typeface="Times New Roman"/>
              </a:rPr>
              <a:t>often</a:t>
            </a:r>
            <a:r>
              <a:rPr sz="1100" spc="-25" dirty="0">
                <a:latin typeface="Times New Roman"/>
                <a:cs typeface="Times New Roman"/>
              </a:rPr>
              <a:t> </a:t>
            </a:r>
            <a:r>
              <a:rPr sz="1100" dirty="0">
                <a:latin typeface="Times New Roman"/>
                <a:cs typeface="Times New Roman"/>
              </a:rPr>
              <a:t>known</a:t>
            </a:r>
            <a:r>
              <a:rPr sz="1100" spc="10" dirty="0">
                <a:latin typeface="Times New Roman"/>
                <a:cs typeface="Times New Roman"/>
              </a:rPr>
              <a:t> </a:t>
            </a:r>
            <a:r>
              <a:rPr sz="1100" dirty="0">
                <a:latin typeface="Times New Roman"/>
                <a:cs typeface="Times New Roman"/>
              </a:rPr>
              <a:t>as</a:t>
            </a:r>
            <a:r>
              <a:rPr sz="1100" spc="-15" dirty="0">
                <a:latin typeface="Times New Roman"/>
                <a:cs typeface="Times New Roman"/>
              </a:rPr>
              <a:t> </a:t>
            </a:r>
            <a:r>
              <a:rPr sz="1100" spc="-25" dirty="0">
                <a:latin typeface="Times New Roman"/>
                <a:cs typeface="Times New Roman"/>
              </a:rPr>
              <a:t>the 	</a:t>
            </a:r>
            <a:r>
              <a:rPr sz="1100" b="1" i="1" dirty="0">
                <a:latin typeface="Times New Roman"/>
                <a:cs typeface="Times New Roman"/>
              </a:rPr>
              <a:t>program</a:t>
            </a:r>
            <a:r>
              <a:rPr sz="1100" b="1" i="1" spc="-30" dirty="0">
                <a:latin typeface="Times New Roman"/>
                <a:cs typeface="Times New Roman"/>
              </a:rPr>
              <a:t> </a:t>
            </a:r>
            <a:r>
              <a:rPr sz="1100" b="1" i="1" dirty="0">
                <a:latin typeface="Times New Roman"/>
                <a:cs typeface="Times New Roman"/>
              </a:rPr>
              <a:t>status</a:t>
            </a:r>
            <a:r>
              <a:rPr sz="1100" b="1" i="1" spc="-20" dirty="0">
                <a:latin typeface="Times New Roman"/>
                <a:cs typeface="Times New Roman"/>
              </a:rPr>
              <a:t> </a:t>
            </a:r>
            <a:r>
              <a:rPr sz="1100" b="1" i="1" dirty="0">
                <a:latin typeface="Times New Roman"/>
                <a:cs typeface="Times New Roman"/>
              </a:rPr>
              <a:t>word</a:t>
            </a:r>
            <a:r>
              <a:rPr sz="1100" b="1" i="1" spc="5" dirty="0">
                <a:latin typeface="Times New Roman"/>
                <a:cs typeface="Times New Roman"/>
              </a:rPr>
              <a:t> </a:t>
            </a:r>
            <a:r>
              <a:rPr sz="1100" b="1" dirty="0">
                <a:latin typeface="Times New Roman"/>
                <a:cs typeface="Times New Roman"/>
              </a:rPr>
              <a:t>(PSW)</a:t>
            </a:r>
            <a:r>
              <a:rPr sz="1100" dirty="0">
                <a:latin typeface="Times New Roman"/>
                <a:cs typeface="Times New Roman"/>
              </a:rPr>
              <a:t>,</a:t>
            </a:r>
            <a:r>
              <a:rPr sz="1100" spc="-20" dirty="0">
                <a:latin typeface="Times New Roman"/>
                <a:cs typeface="Times New Roman"/>
              </a:rPr>
              <a:t> </a:t>
            </a:r>
            <a:r>
              <a:rPr sz="1100" dirty="0">
                <a:latin typeface="Times New Roman"/>
                <a:cs typeface="Times New Roman"/>
              </a:rPr>
              <a:t>that</a:t>
            </a:r>
            <a:r>
              <a:rPr sz="1100" spc="-5" dirty="0">
                <a:latin typeface="Times New Roman"/>
                <a:cs typeface="Times New Roman"/>
              </a:rPr>
              <a:t> </a:t>
            </a:r>
            <a:r>
              <a:rPr sz="1100" dirty="0">
                <a:latin typeface="Times New Roman"/>
                <a:cs typeface="Times New Roman"/>
              </a:rPr>
              <a:t>contain</a:t>
            </a:r>
            <a:r>
              <a:rPr sz="1100" spc="-35" dirty="0">
                <a:latin typeface="Times New Roman"/>
                <a:cs typeface="Times New Roman"/>
              </a:rPr>
              <a:t> </a:t>
            </a:r>
            <a:r>
              <a:rPr sz="1100" dirty="0">
                <a:latin typeface="Times New Roman"/>
                <a:cs typeface="Times New Roman"/>
              </a:rPr>
              <a:t>status</a:t>
            </a:r>
            <a:r>
              <a:rPr sz="1100" spc="-10" dirty="0">
                <a:latin typeface="Times New Roman"/>
                <a:cs typeface="Times New Roman"/>
              </a:rPr>
              <a:t> </a:t>
            </a:r>
            <a:r>
              <a:rPr sz="1100" dirty="0">
                <a:latin typeface="Times New Roman"/>
                <a:cs typeface="Times New Roman"/>
              </a:rPr>
              <a:t>information.</a:t>
            </a:r>
            <a:r>
              <a:rPr sz="1100" spc="-4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PSW</a:t>
            </a:r>
            <a:r>
              <a:rPr sz="1100" spc="-15" dirty="0">
                <a:latin typeface="Times New Roman"/>
                <a:cs typeface="Times New Roman"/>
              </a:rPr>
              <a:t> </a:t>
            </a:r>
            <a:r>
              <a:rPr sz="1100" spc="-10" dirty="0">
                <a:latin typeface="Times New Roman"/>
                <a:cs typeface="Times New Roman"/>
              </a:rPr>
              <a:t>typically 	</a:t>
            </a:r>
            <a:r>
              <a:rPr sz="1100" dirty="0">
                <a:latin typeface="Times New Roman"/>
                <a:cs typeface="Times New Roman"/>
              </a:rPr>
              <a:t>contains</a:t>
            </a:r>
            <a:r>
              <a:rPr sz="1100" spc="-25" dirty="0">
                <a:latin typeface="Times New Roman"/>
                <a:cs typeface="Times New Roman"/>
              </a:rPr>
              <a:t> </a:t>
            </a:r>
            <a:r>
              <a:rPr sz="1100" dirty="0">
                <a:latin typeface="Times New Roman"/>
                <a:cs typeface="Times New Roman"/>
              </a:rPr>
              <a:t>condition</a:t>
            </a:r>
            <a:r>
              <a:rPr sz="1100" spc="-25" dirty="0">
                <a:latin typeface="Times New Roman"/>
                <a:cs typeface="Times New Roman"/>
              </a:rPr>
              <a:t> </a:t>
            </a:r>
            <a:r>
              <a:rPr sz="1100" dirty="0">
                <a:latin typeface="Times New Roman"/>
                <a:cs typeface="Times New Roman"/>
              </a:rPr>
              <a:t>codes</a:t>
            </a:r>
            <a:r>
              <a:rPr sz="1100" spc="5" dirty="0">
                <a:latin typeface="Times New Roman"/>
                <a:cs typeface="Times New Roman"/>
              </a:rPr>
              <a:t> </a:t>
            </a:r>
            <a:r>
              <a:rPr sz="1100" dirty="0">
                <a:latin typeface="Times New Roman"/>
                <a:cs typeface="Times New Roman"/>
              </a:rPr>
              <a:t>plus</a:t>
            </a:r>
            <a:r>
              <a:rPr sz="1100" spc="-10" dirty="0">
                <a:latin typeface="Times New Roman"/>
                <a:cs typeface="Times New Roman"/>
              </a:rPr>
              <a:t> </a:t>
            </a:r>
            <a:r>
              <a:rPr sz="1100" dirty="0">
                <a:latin typeface="Times New Roman"/>
                <a:cs typeface="Times New Roman"/>
              </a:rPr>
              <a:t>other</a:t>
            </a:r>
            <a:r>
              <a:rPr sz="1100" spc="5" dirty="0">
                <a:latin typeface="Times New Roman"/>
                <a:cs typeface="Times New Roman"/>
              </a:rPr>
              <a:t> </a:t>
            </a:r>
            <a:r>
              <a:rPr sz="1100" dirty="0">
                <a:latin typeface="Times New Roman"/>
                <a:cs typeface="Times New Roman"/>
              </a:rPr>
              <a:t>status</a:t>
            </a:r>
            <a:r>
              <a:rPr sz="1100" spc="-20" dirty="0">
                <a:latin typeface="Times New Roman"/>
                <a:cs typeface="Times New Roman"/>
              </a:rPr>
              <a:t> </a:t>
            </a:r>
            <a:r>
              <a:rPr sz="1100" spc="-10" dirty="0">
                <a:latin typeface="Times New Roman"/>
                <a:cs typeface="Times New Roman"/>
              </a:rPr>
              <a:t>information.</a:t>
            </a:r>
            <a:endParaRPr sz="1100">
              <a:latin typeface="Times New Roman"/>
              <a:cs typeface="Times New Roman"/>
            </a:endParaRPr>
          </a:p>
          <a:p>
            <a:pPr marL="434975" indent="-172720">
              <a:lnSpc>
                <a:spcPct val="100000"/>
              </a:lnSpc>
              <a:spcBef>
                <a:spcPts val="600"/>
              </a:spcBef>
              <a:buClr>
                <a:srgbClr val="3E762B"/>
              </a:buClr>
              <a:buFont typeface="Wingdings"/>
              <a:buChar char=""/>
              <a:tabLst>
                <a:tab pos="434975" algn="l"/>
              </a:tabLst>
            </a:pPr>
            <a:r>
              <a:rPr sz="1100" dirty="0">
                <a:latin typeface="Times New Roman"/>
                <a:cs typeface="Times New Roman"/>
              </a:rPr>
              <a:t>Common</a:t>
            </a:r>
            <a:r>
              <a:rPr sz="1100" spc="10" dirty="0">
                <a:latin typeface="Times New Roman"/>
                <a:cs typeface="Times New Roman"/>
              </a:rPr>
              <a:t> </a:t>
            </a:r>
            <a:r>
              <a:rPr sz="1100" dirty="0">
                <a:latin typeface="Times New Roman"/>
                <a:cs typeface="Times New Roman"/>
              </a:rPr>
              <a:t>flags</a:t>
            </a:r>
            <a:r>
              <a:rPr sz="1100" spc="-15" dirty="0">
                <a:latin typeface="Times New Roman"/>
                <a:cs typeface="Times New Roman"/>
              </a:rPr>
              <a:t> </a:t>
            </a:r>
            <a:r>
              <a:rPr sz="1100" dirty="0">
                <a:latin typeface="Times New Roman"/>
                <a:cs typeface="Times New Roman"/>
              </a:rPr>
              <a:t>include</a:t>
            </a:r>
            <a:r>
              <a:rPr sz="1100" spc="-3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spc="-10" dirty="0">
                <a:latin typeface="Times New Roman"/>
                <a:cs typeface="Times New Roman"/>
              </a:rPr>
              <a:t>following:</a:t>
            </a:r>
            <a:endParaRPr sz="1100">
              <a:latin typeface="Times New Roman"/>
              <a:cs typeface="Times New Roman"/>
            </a:endParaRPr>
          </a:p>
          <a:p>
            <a:pPr marL="664845" lvl="1" indent="-118745">
              <a:lnSpc>
                <a:spcPct val="100000"/>
              </a:lnSpc>
              <a:spcBef>
                <a:spcPts val="600"/>
              </a:spcBef>
              <a:buClr>
                <a:srgbClr val="3E762B"/>
              </a:buClr>
              <a:buFont typeface="Wingdings"/>
              <a:buChar char=""/>
              <a:tabLst>
                <a:tab pos="664845" algn="l"/>
              </a:tabLst>
            </a:pPr>
            <a:r>
              <a:rPr sz="1100" b="1" dirty="0">
                <a:latin typeface="Times New Roman"/>
                <a:cs typeface="Times New Roman"/>
              </a:rPr>
              <a:t>Sign: </a:t>
            </a:r>
            <a:r>
              <a:rPr sz="1100" dirty="0">
                <a:latin typeface="Times New Roman"/>
                <a:cs typeface="Times New Roman"/>
              </a:rPr>
              <a:t>Contains</a:t>
            </a:r>
            <a:r>
              <a:rPr sz="1100" spc="-15" dirty="0">
                <a:latin typeface="Times New Roman"/>
                <a:cs typeface="Times New Roman"/>
              </a:rPr>
              <a:t> </a:t>
            </a:r>
            <a:r>
              <a:rPr sz="1100" dirty="0">
                <a:latin typeface="Times New Roman"/>
                <a:cs typeface="Times New Roman"/>
              </a:rPr>
              <a:t>the</a:t>
            </a:r>
            <a:r>
              <a:rPr sz="1100" spc="-20" dirty="0">
                <a:latin typeface="Times New Roman"/>
                <a:cs typeface="Times New Roman"/>
              </a:rPr>
              <a:t> </a:t>
            </a:r>
            <a:r>
              <a:rPr sz="1100" dirty="0">
                <a:latin typeface="Times New Roman"/>
                <a:cs typeface="Times New Roman"/>
              </a:rPr>
              <a:t>sign</a:t>
            </a:r>
            <a:r>
              <a:rPr sz="1100" spc="10" dirty="0">
                <a:latin typeface="Times New Roman"/>
                <a:cs typeface="Times New Roman"/>
              </a:rPr>
              <a:t> </a:t>
            </a:r>
            <a:r>
              <a:rPr sz="1100" dirty="0">
                <a:latin typeface="Times New Roman"/>
                <a:cs typeface="Times New Roman"/>
              </a:rPr>
              <a:t>bit</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result</a:t>
            </a:r>
            <a:r>
              <a:rPr sz="1100" spc="-10"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last</a:t>
            </a:r>
            <a:r>
              <a:rPr sz="1100" spc="-10" dirty="0">
                <a:latin typeface="Times New Roman"/>
                <a:cs typeface="Times New Roman"/>
              </a:rPr>
              <a:t> </a:t>
            </a:r>
            <a:r>
              <a:rPr sz="1100" dirty="0">
                <a:latin typeface="Times New Roman"/>
                <a:cs typeface="Times New Roman"/>
              </a:rPr>
              <a:t>arithmetic</a:t>
            </a:r>
            <a:r>
              <a:rPr sz="1100" spc="-20" dirty="0">
                <a:latin typeface="Times New Roman"/>
                <a:cs typeface="Times New Roman"/>
              </a:rPr>
              <a:t> </a:t>
            </a:r>
            <a:r>
              <a:rPr sz="1100" spc="-10" dirty="0">
                <a:latin typeface="Times New Roman"/>
                <a:cs typeface="Times New Roman"/>
              </a:rPr>
              <a:t>operation.</a:t>
            </a:r>
            <a:endParaRPr sz="1100">
              <a:latin typeface="Times New Roman"/>
              <a:cs typeface="Times New Roman"/>
            </a:endParaRPr>
          </a:p>
          <a:p>
            <a:pPr marL="664845" lvl="1" indent="-118745">
              <a:lnSpc>
                <a:spcPct val="100000"/>
              </a:lnSpc>
              <a:spcBef>
                <a:spcPts val="600"/>
              </a:spcBef>
              <a:buClr>
                <a:srgbClr val="3E762B"/>
              </a:buClr>
              <a:buFont typeface="Wingdings"/>
              <a:buChar char=""/>
              <a:tabLst>
                <a:tab pos="664845" algn="l"/>
              </a:tabLst>
            </a:pPr>
            <a:r>
              <a:rPr sz="1100" b="1" dirty="0">
                <a:latin typeface="Times New Roman"/>
                <a:cs typeface="Times New Roman"/>
              </a:rPr>
              <a:t>Zero:</a:t>
            </a:r>
            <a:r>
              <a:rPr sz="1100" b="1" spc="-5" dirty="0">
                <a:latin typeface="Times New Roman"/>
                <a:cs typeface="Times New Roman"/>
              </a:rPr>
              <a:t> </a:t>
            </a:r>
            <a:r>
              <a:rPr sz="1100" dirty="0">
                <a:latin typeface="Times New Roman"/>
                <a:cs typeface="Times New Roman"/>
              </a:rPr>
              <a:t>Set</a:t>
            </a:r>
            <a:r>
              <a:rPr sz="1100" spc="-15" dirty="0">
                <a:latin typeface="Times New Roman"/>
                <a:cs typeface="Times New Roman"/>
              </a:rPr>
              <a:t> </a:t>
            </a:r>
            <a:r>
              <a:rPr sz="1100" dirty="0">
                <a:latin typeface="Times New Roman"/>
                <a:cs typeface="Times New Roman"/>
              </a:rPr>
              <a:t>when</a:t>
            </a:r>
            <a:r>
              <a:rPr sz="1100" spc="-15"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result</a:t>
            </a:r>
            <a:r>
              <a:rPr sz="1100" spc="-25" dirty="0">
                <a:latin typeface="Times New Roman"/>
                <a:cs typeface="Times New Roman"/>
              </a:rPr>
              <a:t> </a:t>
            </a:r>
            <a:r>
              <a:rPr sz="1100" dirty="0">
                <a:latin typeface="Times New Roman"/>
                <a:cs typeface="Times New Roman"/>
              </a:rPr>
              <a:t>is</a:t>
            </a:r>
            <a:r>
              <a:rPr sz="1100" spc="-15" dirty="0">
                <a:latin typeface="Times New Roman"/>
                <a:cs typeface="Times New Roman"/>
              </a:rPr>
              <a:t> </a:t>
            </a:r>
            <a:r>
              <a:rPr sz="1100" spc="-25" dirty="0">
                <a:latin typeface="Times New Roman"/>
                <a:cs typeface="Times New Roman"/>
              </a:rPr>
              <a:t>0.</a:t>
            </a:r>
            <a:endParaRPr sz="1100">
              <a:latin typeface="Times New Roman"/>
              <a:cs typeface="Times New Roman"/>
            </a:endParaRPr>
          </a:p>
          <a:p>
            <a:pPr marL="664845" marR="777240" lvl="1" indent="-119380">
              <a:lnSpc>
                <a:spcPct val="100000"/>
              </a:lnSpc>
              <a:spcBef>
                <a:spcPts val="600"/>
              </a:spcBef>
              <a:buClr>
                <a:srgbClr val="3E762B"/>
              </a:buClr>
              <a:buFont typeface="Wingdings"/>
              <a:buChar char=""/>
              <a:tabLst>
                <a:tab pos="664845" algn="l"/>
              </a:tabLst>
            </a:pPr>
            <a:r>
              <a:rPr sz="1100" b="1" dirty="0">
                <a:latin typeface="Times New Roman"/>
                <a:cs typeface="Times New Roman"/>
              </a:rPr>
              <a:t>Carry: </a:t>
            </a:r>
            <a:r>
              <a:rPr sz="1100" dirty="0">
                <a:latin typeface="Times New Roman"/>
                <a:cs typeface="Times New Roman"/>
              </a:rPr>
              <a:t>Set</a:t>
            </a:r>
            <a:r>
              <a:rPr sz="1100" spc="-5" dirty="0">
                <a:latin typeface="Times New Roman"/>
                <a:cs typeface="Times New Roman"/>
              </a:rPr>
              <a:t> </a:t>
            </a:r>
            <a:r>
              <a:rPr sz="1100" dirty="0">
                <a:latin typeface="Times New Roman"/>
                <a:cs typeface="Times New Roman"/>
              </a:rPr>
              <a:t>if an</a:t>
            </a:r>
            <a:r>
              <a:rPr sz="1100" spc="-5" dirty="0">
                <a:latin typeface="Times New Roman"/>
                <a:cs typeface="Times New Roman"/>
              </a:rPr>
              <a:t> </a:t>
            </a:r>
            <a:r>
              <a:rPr sz="1100" dirty="0">
                <a:latin typeface="Times New Roman"/>
                <a:cs typeface="Times New Roman"/>
              </a:rPr>
              <a:t>operation</a:t>
            </a:r>
            <a:r>
              <a:rPr sz="1100" spc="-20" dirty="0">
                <a:latin typeface="Times New Roman"/>
                <a:cs typeface="Times New Roman"/>
              </a:rPr>
              <a:t> </a:t>
            </a:r>
            <a:r>
              <a:rPr sz="1100" dirty="0">
                <a:latin typeface="Times New Roman"/>
                <a:cs typeface="Times New Roman"/>
              </a:rPr>
              <a:t>resulted</a:t>
            </a:r>
            <a:r>
              <a:rPr sz="1100" spc="-25" dirty="0">
                <a:latin typeface="Times New Roman"/>
                <a:cs typeface="Times New Roman"/>
              </a:rPr>
              <a:t> </a:t>
            </a:r>
            <a:r>
              <a:rPr sz="1100" dirty="0">
                <a:latin typeface="Times New Roman"/>
                <a:cs typeface="Times New Roman"/>
              </a:rPr>
              <a:t>in</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carry</a:t>
            </a:r>
            <a:r>
              <a:rPr sz="1100" spc="-5" dirty="0">
                <a:latin typeface="Times New Roman"/>
                <a:cs typeface="Times New Roman"/>
              </a:rPr>
              <a:t> </a:t>
            </a:r>
            <a:r>
              <a:rPr sz="1100" dirty="0">
                <a:latin typeface="Times New Roman"/>
                <a:cs typeface="Times New Roman"/>
              </a:rPr>
              <a:t>(addition)</a:t>
            </a:r>
            <a:r>
              <a:rPr sz="1100" spc="-30" dirty="0">
                <a:latin typeface="Times New Roman"/>
                <a:cs typeface="Times New Roman"/>
              </a:rPr>
              <a:t> </a:t>
            </a:r>
            <a:r>
              <a:rPr sz="1100" dirty="0">
                <a:latin typeface="Times New Roman"/>
                <a:cs typeface="Times New Roman"/>
              </a:rPr>
              <a:t>into</a:t>
            </a:r>
            <a:r>
              <a:rPr sz="1100" spc="-20" dirty="0">
                <a:latin typeface="Times New Roman"/>
                <a:cs typeface="Times New Roman"/>
              </a:rPr>
              <a:t> </a:t>
            </a:r>
            <a:r>
              <a:rPr sz="1100" dirty="0">
                <a:latin typeface="Times New Roman"/>
                <a:cs typeface="Times New Roman"/>
              </a:rPr>
              <a:t>or</a:t>
            </a:r>
            <a:r>
              <a:rPr sz="1100" spc="10" dirty="0">
                <a:latin typeface="Times New Roman"/>
                <a:cs typeface="Times New Roman"/>
              </a:rPr>
              <a:t> </a:t>
            </a:r>
            <a:r>
              <a:rPr sz="1100" spc="-10" dirty="0">
                <a:latin typeface="Times New Roman"/>
                <a:cs typeface="Times New Roman"/>
              </a:rPr>
              <a:t>borrow </a:t>
            </a:r>
            <a:r>
              <a:rPr sz="1100" dirty="0">
                <a:latin typeface="Times New Roman"/>
                <a:cs typeface="Times New Roman"/>
              </a:rPr>
              <a:t>(subtraction)</a:t>
            </a:r>
            <a:r>
              <a:rPr sz="1100" spc="-30" dirty="0">
                <a:latin typeface="Times New Roman"/>
                <a:cs typeface="Times New Roman"/>
              </a:rPr>
              <a:t> </a:t>
            </a:r>
            <a:r>
              <a:rPr sz="1100" dirty="0">
                <a:latin typeface="Times New Roman"/>
                <a:cs typeface="Times New Roman"/>
              </a:rPr>
              <a:t>out</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spc="-10" dirty="0">
                <a:latin typeface="Times New Roman"/>
                <a:cs typeface="Times New Roman"/>
              </a:rPr>
              <a:t>high-</a:t>
            </a:r>
            <a:r>
              <a:rPr sz="1100" dirty="0">
                <a:latin typeface="Times New Roman"/>
                <a:cs typeface="Times New Roman"/>
              </a:rPr>
              <a:t>order</a:t>
            </a:r>
            <a:r>
              <a:rPr sz="1100" spc="10" dirty="0">
                <a:latin typeface="Times New Roman"/>
                <a:cs typeface="Times New Roman"/>
              </a:rPr>
              <a:t> </a:t>
            </a:r>
            <a:r>
              <a:rPr sz="1100" dirty="0">
                <a:latin typeface="Times New Roman"/>
                <a:cs typeface="Times New Roman"/>
              </a:rPr>
              <a:t>bit.</a:t>
            </a:r>
            <a:r>
              <a:rPr sz="1100" spc="-10" dirty="0">
                <a:latin typeface="Times New Roman"/>
                <a:cs typeface="Times New Roman"/>
              </a:rPr>
              <a:t> </a:t>
            </a:r>
            <a:r>
              <a:rPr sz="1100" dirty="0">
                <a:latin typeface="Times New Roman"/>
                <a:cs typeface="Times New Roman"/>
              </a:rPr>
              <a:t>Used</a:t>
            </a:r>
            <a:r>
              <a:rPr sz="1100" spc="-10" dirty="0">
                <a:latin typeface="Times New Roman"/>
                <a:cs typeface="Times New Roman"/>
              </a:rPr>
              <a:t> </a:t>
            </a:r>
            <a:r>
              <a:rPr sz="1100" dirty="0">
                <a:latin typeface="Times New Roman"/>
                <a:cs typeface="Times New Roman"/>
              </a:rPr>
              <a:t>for multiword</a:t>
            </a:r>
            <a:r>
              <a:rPr sz="1100" spc="-10" dirty="0">
                <a:latin typeface="Times New Roman"/>
                <a:cs typeface="Times New Roman"/>
              </a:rPr>
              <a:t> </a:t>
            </a:r>
            <a:r>
              <a:rPr sz="1100" dirty="0">
                <a:latin typeface="Times New Roman"/>
                <a:cs typeface="Times New Roman"/>
              </a:rPr>
              <a:t>arithmetic</a:t>
            </a:r>
            <a:r>
              <a:rPr sz="1100" spc="-20" dirty="0">
                <a:latin typeface="Times New Roman"/>
                <a:cs typeface="Times New Roman"/>
              </a:rPr>
              <a:t> </a:t>
            </a:r>
            <a:r>
              <a:rPr sz="1100" spc="-10" dirty="0">
                <a:latin typeface="Times New Roman"/>
                <a:cs typeface="Times New Roman"/>
              </a:rPr>
              <a:t>operations.</a:t>
            </a:r>
            <a:endParaRPr sz="1100">
              <a:latin typeface="Times New Roman"/>
              <a:cs typeface="Times New Roman"/>
            </a:endParaRPr>
          </a:p>
          <a:p>
            <a:pPr marL="664845" lvl="1" indent="-118745">
              <a:lnSpc>
                <a:spcPct val="100000"/>
              </a:lnSpc>
              <a:spcBef>
                <a:spcPts val="600"/>
              </a:spcBef>
              <a:buClr>
                <a:srgbClr val="3E762B"/>
              </a:buClr>
              <a:buFont typeface="Wingdings"/>
              <a:buChar char=""/>
              <a:tabLst>
                <a:tab pos="664845" algn="l"/>
              </a:tabLst>
            </a:pPr>
            <a:r>
              <a:rPr sz="1100" b="1" dirty="0">
                <a:latin typeface="Times New Roman"/>
                <a:cs typeface="Times New Roman"/>
              </a:rPr>
              <a:t>Equal:</a:t>
            </a:r>
            <a:r>
              <a:rPr sz="1100" b="1" spc="-5" dirty="0">
                <a:latin typeface="Times New Roman"/>
                <a:cs typeface="Times New Roman"/>
              </a:rPr>
              <a:t> </a:t>
            </a:r>
            <a:r>
              <a:rPr sz="1100" dirty="0">
                <a:latin typeface="Times New Roman"/>
                <a:cs typeface="Times New Roman"/>
              </a:rPr>
              <a:t>Set</a:t>
            </a:r>
            <a:r>
              <a:rPr sz="1100" spc="-5" dirty="0">
                <a:latin typeface="Times New Roman"/>
                <a:cs typeface="Times New Roman"/>
              </a:rPr>
              <a:t> </a:t>
            </a:r>
            <a:r>
              <a:rPr sz="1100" dirty="0">
                <a:latin typeface="Times New Roman"/>
                <a:cs typeface="Times New Roman"/>
              </a:rPr>
              <a:t>if</a:t>
            </a:r>
            <a:r>
              <a:rPr sz="1100" spc="-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logical</a:t>
            </a:r>
            <a:r>
              <a:rPr sz="1100" spc="-5" dirty="0">
                <a:latin typeface="Times New Roman"/>
                <a:cs typeface="Times New Roman"/>
              </a:rPr>
              <a:t> </a:t>
            </a:r>
            <a:r>
              <a:rPr sz="1100" dirty="0">
                <a:latin typeface="Times New Roman"/>
                <a:cs typeface="Times New Roman"/>
              </a:rPr>
              <a:t>compare</a:t>
            </a:r>
            <a:r>
              <a:rPr sz="1100" spc="-5" dirty="0">
                <a:latin typeface="Times New Roman"/>
                <a:cs typeface="Times New Roman"/>
              </a:rPr>
              <a:t> </a:t>
            </a:r>
            <a:r>
              <a:rPr sz="1100" dirty="0">
                <a:latin typeface="Times New Roman"/>
                <a:cs typeface="Times New Roman"/>
              </a:rPr>
              <a:t>result</a:t>
            </a:r>
            <a:r>
              <a:rPr sz="1100" spc="-20" dirty="0">
                <a:latin typeface="Times New Roman"/>
                <a:cs typeface="Times New Roman"/>
              </a:rPr>
              <a:t> </a:t>
            </a:r>
            <a:r>
              <a:rPr sz="1100" dirty="0">
                <a:latin typeface="Times New Roman"/>
                <a:cs typeface="Times New Roman"/>
              </a:rPr>
              <a:t>is</a:t>
            </a:r>
            <a:r>
              <a:rPr sz="1100" spc="-5" dirty="0">
                <a:latin typeface="Times New Roman"/>
                <a:cs typeface="Times New Roman"/>
              </a:rPr>
              <a:t> </a:t>
            </a:r>
            <a:r>
              <a:rPr sz="1100" spc="-10" dirty="0">
                <a:latin typeface="Times New Roman"/>
                <a:cs typeface="Times New Roman"/>
              </a:rPr>
              <a:t>equality.</a:t>
            </a:r>
            <a:endParaRPr sz="1100">
              <a:latin typeface="Times New Roman"/>
              <a:cs typeface="Times New Roman"/>
            </a:endParaRPr>
          </a:p>
          <a:p>
            <a:pPr marL="664210" lvl="1" indent="-118110">
              <a:lnSpc>
                <a:spcPct val="100000"/>
              </a:lnSpc>
              <a:spcBef>
                <a:spcPts val="600"/>
              </a:spcBef>
              <a:buClr>
                <a:srgbClr val="3E762B"/>
              </a:buClr>
              <a:buFont typeface="Wingdings"/>
              <a:buChar char=""/>
              <a:tabLst>
                <a:tab pos="664210" algn="l"/>
              </a:tabLst>
            </a:pPr>
            <a:r>
              <a:rPr sz="1100" b="1" dirty="0">
                <a:latin typeface="Times New Roman"/>
                <a:cs typeface="Times New Roman"/>
              </a:rPr>
              <a:t>Overflow:</a:t>
            </a:r>
            <a:r>
              <a:rPr sz="1100" b="1" spc="-35" dirty="0">
                <a:latin typeface="Times New Roman"/>
                <a:cs typeface="Times New Roman"/>
              </a:rPr>
              <a:t> </a:t>
            </a:r>
            <a:r>
              <a:rPr sz="1100" dirty="0">
                <a:latin typeface="Times New Roman"/>
                <a:cs typeface="Times New Roman"/>
              </a:rPr>
              <a:t>Used</a:t>
            </a:r>
            <a:r>
              <a:rPr sz="1100" spc="-5" dirty="0">
                <a:latin typeface="Times New Roman"/>
                <a:cs typeface="Times New Roman"/>
              </a:rPr>
              <a:t> </a:t>
            </a:r>
            <a:r>
              <a:rPr sz="1100" dirty="0">
                <a:latin typeface="Times New Roman"/>
                <a:cs typeface="Times New Roman"/>
              </a:rPr>
              <a:t>to</a:t>
            </a:r>
            <a:r>
              <a:rPr sz="1100" spc="5" dirty="0">
                <a:latin typeface="Times New Roman"/>
                <a:cs typeface="Times New Roman"/>
              </a:rPr>
              <a:t> </a:t>
            </a:r>
            <a:r>
              <a:rPr sz="1100" dirty="0">
                <a:latin typeface="Times New Roman"/>
                <a:cs typeface="Times New Roman"/>
              </a:rPr>
              <a:t>indicate</a:t>
            </a:r>
            <a:r>
              <a:rPr sz="1100" spc="-30" dirty="0">
                <a:latin typeface="Times New Roman"/>
                <a:cs typeface="Times New Roman"/>
              </a:rPr>
              <a:t> </a:t>
            </a:r>
            <a:r>
              <a:rPr sz="1100" dirty="0">
                <a:latin typeface="Times New Roman"/>
                <a:cs typeface="Times New Roman"/>
              </a:rPr>
              <a:t>arithmetic</a:t>
            </a:r>
            <a:r>
              <a:rPr sz="1100" spc="-30" dirty="0">
                <a:latin typeface="Times New Roman"/>
                <a:cs typeface="Times New Roman"/>
              </a:rPr>
              <a:t> </a:t>
            </a:r>
            <a:r>
              <a:rPr sz="1100" spc="-10" dirty="0">
                <a:latin typeface="Times New Roman"/>
                <a:cs typeface="Times New Roman"/>
              </a:rPr>
              <a:t>overflow.</a:t>
            </a:r>
            <a:endParaRPr sz="1100">
              <a:latin typeface="Times New Roman"/>
              <a:cs typeface="Times New Roman"/>
            </a:endParaRPr>
          </a:p>
          <a:p>
            <a:pPr marL="664845" lvl="1" indent="-118745">
              <a:lnSpc>
                <a:spcPts val="1230"/>
              </a:lnSpc>
              <a:spcBef>
                <a:spcPts val="605"/>
              </a:spcBef>
              <a:buClr>
                <a:srgbClr val="3E762B"/>
              </a:buClr>
              <a:buFont typeface="Wingdings"/>
              <a:buChar char=""/>
              <a:tabLst>
                <a:tab pos="664845" algn="l"/>
              </a:tabLst>
            </a:pPr>
            <a:r>
              <a:rPr sz="1100" b="1" dirty="0">
                <a:latin typeface="Times New Roman"/>
                <a:cs typeface="Times New Roman"/>
              </a:rPr>
              <a:t>Interrupt</a:t>
            </a:r>
            <a:r>
              <a:rPr sz="1100" b="1" spc="-25" dirty="0">
                <a:latin typeface="Times New Roman"/>
                <a:cs typeface="Times New Roman"/>
              </a:rPr>
              <a:t> </a:t>
            </a:r>
            <a:r>
              <a:rPr sz="1100" b="1" dirty="0">
                <a:latin typeface="Times New Roman"/>
                <a:cs typeface="Times New Roman"/>
              </a:rPr>
              <a:t>Enable/Disable:</a:t>
            </a:r>
            <a:r>
              <a:rPr sz="1100" b="1" spc="-25" dirty="0">
                <a:latin typeface="Times New Roman"/>
                <a:cs typeface="Times New Roman"/>
              </a:rPr>
              <a:t> </a:t>
            </a:r>
            <a:r>
              <a:rPr sz="1100" dirty="0">
                <a:latin typeface="Times New Roman"/>
                <a:cs typeface="Times New Roman"/>
              </a:rPr>
              <a:t>Used</a:t>
            </a:r>
            <a:r>
              <a:rPr sz="1100" spc="-1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dirty="0">
                <a:latin typeface="Times New Roman"/>
                <a:cs typeface="Times New Roman"/>
              </a:rPr>
              <a:t>enable</a:t>
            </a:r>
            <a:r>
              <a:rPr sz="1100" spc="-25" dirty="0">
                <a:latin typeface="Times New Roman"/>
                <a:cs typeface="Times New Roman"/>
              </a:rPr>
              <a:t> </a:t>
            </a:r>
            <a:r>
              <a:rPr sz="1100" dirty="0">
                <a:latin typeface="Times New Roman"/>
                <a:cs typeface="Times New Roman"/>
              </a:rPr>
              <a:t>or disable</a:t>
            </a:r>
            <a:r>
              <a:rPr sz="1100" spc="-35" dirty="0">
                <a:latin typeface="Times New Roman"/>
                <a:cs typeface="Times New Roman"/>
              </a:rPr>
              <a:t> </a:t>
            </a:r>
            <a:r>
              <a:rPr sz="1100" spc="-10" dirty="0">
                <a:latin typeface="Times New Roman"/>
                <a:cs typeface="Times New Roman"/>
              </a:rPr>
              <a:t>interrupts.</a:t>
            </a:r>
            <a:endParaRPr sz="1100">
              <a:latin typeface="Times New Roman"/>
              <a:cs typeface="Times New Roman"/>
            </a:endParaRPr>
          </a:p>
          <a:p>
            <a:pPr marR="146685" algn="r">
              <a:lnSpc>
                <a:spcPts val="1110"/>
              </a:lnSpc>
            </a:pPr>
            <a:r>
              <a:rPr sz="1000" b="1" spc="-25" dirty="0">
                <a:solidFill>
                  <a:srgbClr val="3E762B"/>
                </a:solidFill>
                <a:latin typeface="Corbel"/>
                <a:cs typeface="Corbel"/>
              </a:rPr>
              <a:t>23</a:t>
            </a:r>
            <a:endParaRPr sz="100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12</a:t>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83CB2-60A5-2011-39AC-01E27E7AB559}"/>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12C4DC8F-0966-35EF-A677-0001707EF2F3}"/>
              </a:ext>
            </a:extLst>
          </p:cNvPr>
          <p:cNvGraphicFramePr>
            <a:graphicFrameLocks noGrp="1"/>
          </p:cNvGraphicFramePr>
          <p:nvPr>
            <p:extLst>
              <p:ext uri="{D42A27DB-BD31-4B8C-83A1-F6EECF244321}">
                <p14:modId xmlns:p14="http://schemas.microsoft.com/office/powerpoint/2010/main" val="3568303588"/>
              </p:ext>
            </p:extLst>
          </p:nvPr>
        </p:nvGraphicFramePr>
        <p:xfrm>
          <a:off x="114300" y="76200"/>
          <a:ext cx="6629400" cy="8578242"/>
        </p:xfrm>
        <a:graphic>
          <a:graphicData uri="http://schemas.openxmlformats.org/drawingml/2006/table">
            <a:tbl>
              <a:tblPr>
                <a:tableStyleId>{69C7853C-536D-4A76-A0AE-DD22124D55A5}</a:tableStyleId>
              </a:tblPr>
              <a:tblGrid>
                <a:gridCol w="2540608">
                  <a:extLst>
                    <a:ext uri="{9D8B030D-6E8A-4147-A177-3AD203B41FA5}">
                      <a16:colId xmlns:a16="http://schemas.microsoft.com/office/drawing/2014/main" val="2282099608"/>
                    </a:ext>
                  </a:extLst>
                </a:gridCol>
                <a:gridCol w="4088792">
                  <a:extLst>
                    <a:ext uri="{9D8B030D-6E8A-4147-A177-3AD203B41FA5}">
                      <a16:colId xmlns:a16="http://schemas.microsoft.com/office/drawing/2014/main" val="2285715428"/>
                    </a:ext>
                  </a:extLst>
                </a:gridCol>
              </a:tblGrid>
              <a:tr h="238005">
                <a:tc>
                  <a:txBody>
                    <a:bodyPr/>
                    <a:lstStyle/>
                    <a:p>
                      <a:pPr>
                        <a:buNone/>
                      </a:pPr>
                      <a:r>
                        <a:rPr lang="en-US" sz="1200"/>
                        <a:t>Register Type</a:t>
                      </a:r>
                    </a:p>
                  </a:txBody>
                  <a:tcPr marL="8240" marR="8240" marT="4120" marB="4120" anchor="ctr"/>
                </a:tc>
                <a:tc>
                  <a:txBody>
                    <a:bodyPr/>
                    <a:lstStyle/>
                    <a:p>
                      <a:pPr>
                        <a:buNone/>
                      </a:pPr>
                      <a:r>
                        <a:rPr lang="en-US" sz="1200"/>
                        <a:t>Description</a:t>
                      </a:r>
                    </a:p>
                  </a:txBody>
                  <a:tcPr marL="8240" marR="8240" marT="4120" marB="4120" anchor="ctr"/>
                </a:tc>
                <a:extLst>
                  <a:ext uri="{0D108BD9-81ED-4DB2-BD59-A6C34878D82A}">
                    <a16:rowId xmlns:a16="http://schemas.microsoft.com/office/drawing/2014/main" val="3572624927"/>
                  </a:ext>
                </a:extLst>
              </a:tr>
              <a:tr h="981195">
                <a:tc>
                  <a:txBody>
                    <a:bodyPr/>
                    <a:lstStyle/>
                    <a:p>
                      <a:pPr>
                        <a:buNone/>
                      </a:pPr>
                      <a:r>
                        <a:rPr lang="en-US" sz="1200" b="1"/>
                        <a:t>General Purpose Registers</a:t>
                      </a:r>
                      <a:endParaRPr lang="en-US" sz="1200"/>
                    </a:p>
                  </a:txBody>
                  <a:tcPr marL="8240" marR="8240" marT="4120" marB="4120" anchor="ctr"/>
                </a:tc>
                <a:tc>
                  <a:txBody>
                    <a:bodyPr/>
                    <a:lstStyle/>
                    <a:p>
                      <a:pPr>
                        <a:buNone/>
                      </a:pPr>
                      <a:r>
                        <a:rPr lang="en-US" sz="1200" dirty="0"/>
                        <a:t>Registers that can store data, addresses, or instructions. They are versatile and often used for various operations.</a:t>
                      </a:r>
                    </a:p>
                  </a:txBody>
                  <a:tcPr marL="8240" marR="8240" marT="4120" marB="4120" anchor="ctr"/>
                </a:tc>
                <a:extLst>
                  <a:ext uri="{0D108BD9-81ED-4DB2-BD59-A6C34878D82A}">
                    <a16:rowId xmlns:a16="http://schemas.microsoft.com/office/drawing/2014/main" val="152255140"/>
                  </a:ext>
                </a:extLst>
              </a:tr>
              <a:tr h="457200">
                <a:tc>
                  <a:txBody>
                    <a:bodyPr/>
                    <a:lstStyle/>
                    <a:p>
                      <a:pPr>
                        <a:buNone/>
                      </a:pPr>
                      <a:r>
                        <a:rPr lang="en-US" sz="1200" b="1"/>
                        <a:t>Data Registers</a:t>
                      </a:r>
                      <a:endParaRPr lang="en-US" sz="1200"/>
                    </a:p>
                  </a:txBody>
                  <a:tcPr marL="8240" marR="8240" marT="4120" marB="4120" anchor="ctr"/>
                </a:tc>
                <a:tc>
                  <a:txBody>
                    <a:bodyPr/>
                    <a:lstStyle/>
                    <a:p>
                      <a:pPr>
                        <a:buNone/>
                      </a:pPr>
                      <a:r>
                        <a:rPr lang="en-US" sz="1200"/>
                        <a:t>Specifically designed to hold data values. This includes:</a:t>
                      </a:r>
                    </a:p>
                  </a:txBody>
                  <a:tcPr marL="8240" marR="8240" marT="4120" marB="4120" anchor="ctr"/>
                </a:tc>
                <a:extLst>
                  <a:ext uri="{0D108BD9-81ED-4DB2-BD59-A6C34878D82A}">
                    <a16:rowId xmlns:a16="http://schemas.microsoft.com/office/drawing/2014/main" val="2177881292"/>
                  </a:ext>
                </a:extLst>
              </a:tr>
              <a:tr h="457200">
                <a:tc>
                  <a:txBody>
                    <a:bodyPr/>
                    <a:lstStyle/>
                    <a:p>
                      <a:pPr>
                        <a:buNone/>
                      </a:pPr>
                      <a:endParaRPr lang="en-US" sz="1200" dirty="0"/>
                    </a:p>
                  </a:txBody>
                  <a:tcPr marL="8240" marR="8240" marT="4120" marB="4120" anchor="ctr"/>
                </a:tc>
                <a:tc>
                  <a:txBody>
                    <a:bodyPr/>
                    <a:lstStyle/>
                    <a:p>
                      <a:pPr>
                        <a:buNone/>
                      </a:pPr>
                      <a:r>
                        <a:rPr lang="en-US" sz="1200"/>
                        <a:t>- </a:t>
                      </a:r>
                      <a:r>
                        <a:rPr lang="en-US" sz="1200" b="1"/>
                        <a:t>Integer Registers</a:t>
                      </a:r>
                      <a:r>
                        <a:rPr lang="en-US" sz="1200"/>
                        <a:t>: Store integer values.</a:t>
                      </a:r>
                    </a:p>
                  </a:txBody>
                  <a:tcPr marL="8240" marR="8240" marT="4120" marB="4120" anchor="ctr"/>
                </a:tc>
                <a:extLst>
                  <a:ext uri="{0D108BD9-81ED-4DB2-BD59-A6C34878D82A}">
                    <a16:rowId xmlns:a16="http://schemas.microsoft.com/office/drawing/2014/main" val="1700023602"/>
                  </a:ext>
                </a:extLst>
              </a:tr>
              <a:tr h="457200">
                <a:tc>
                  <a:txBody>
                    <a:bodyPr/>
                    <a:lstStyle/>
                    <a:p>
                      <a:pPr>
                        <a:buNone/>
                      </a:pPr>
                      <a:endParaRPr lang="en-US" sz="1200"/>
                    </a:p>
                  </a:txBody>
                  <a:tcPr marL="8240" marR="8240" marT="4120" marB="4120" anchor="ctr"/>
                </a:tc>
                <a:tc>
                  <a:txBody>
                    <a:bodyPr/>
                    <a:lstStyle/>
                    <a:p>
                      <a:pPr>
                        <a:buNone/>
                      </a:pPr>
                      <a:r>
                        <a:rPr lang="en-US" sz="1200" dirty="0"/>
                        <a:t>- </a:t>
                      </a:r>
                      <a:r>
                        <a:rPr lang="en-US" sz="1200" b="1" dirty="0"/>
                        <a:t>Fixed-Point Registers</a:t>
                      </a:r>
                      <a:r>
                        <a:rPr lang="en-US" sz="1200" dirty="0"/>
                        <a:t>: Hold fixed-point numbers for precise arithmetic without floating-point complexity.</a:t>
                      </a:r>
                    </a:p>
                  </a:txBody>
                  <a:tcPr marL="8240" marR="8240" marT="4120" marB="4120" anchor="ctr"/>
                </a:tc>
                <a:extLst>
                  <a:ext uri="{0D108BD9-81ED-4DB2-BD59-A6C34878D82A}">
                    <a16:rowId xmlns:a16="http://schemas.microsoft.com/office/drawing/2014/main" val="2498368207"/>
                  </a:ext>
                </a:extLst>
              </a:tr>
              <a:tr h="586120">
                <a:tc>
                  <a:txBody>
                    <a:bodyPr/>
                    <a:lstStyle/>
                    <a:p>
                      <a:pPr>
                        <a:buNone/>
                      </a:pPr>
                      <a:endParaRPr lang="en-US" sz="1200"/>
                    </a:p>
                  </a:txBody>
                  <a:tcPr marL="8240" marR="8240" marT="4120" marB="4120" anchor="ctr"/>
                </a:tc>
                <a:tc>
                  <a:txBody>
                    <a:bodyPr/>
                    <a:lstStyle/>
                    <a:p>
                      <a:pPr>
                        <a:buNone/>
                      </a:pPr>
                      <a:r>
                        <a:rPr lang="en-US" sz="1200" dirty="0"/>
                        <a:t>- </a:t>
                      </a:r>
                      <a:r>
                        <a:rPr lang="en-US" sz="1200" b="1" dirty="0"/>
                        <a:t>Floating-Point Registers</a:t>
                      </a:r>
                      <a:r>
                        <a:rPr lang="en-US" sz="1200" dirty="0"/>
                        <a:t>: Designed to hold floating-point numbers for handling real numbers and decimal values.</a:t>
                      </a:r>
                    </a:p>
                  </a:txBody>
                  <a:tcPr marL="8240" marR="8240" marT="4120" marB="4120" anchor="ctr"/>
                </a:tc>
                <a:extLst>
                  <a:ext uri="{0D108BD9-81ED-4DB2-BD59-A6C34878D82A}">
                    <a16:rowId xmlns:a16="http://schemas.microsoft.com/office/drawing/2014/main" val="1255060237"/>
                  </a:ext>
                </a:extLst>
              </a:tr>
              <a:tr h="533400">
                <a:tc>
                  <a:txBody>
                    <a:bodyPr/>
                    <a:lstStyle/>
                    <a:p>
                      <a:pPr>
                        <a:buNone/>
                      </a:pPr>
                      <a:r>
                        <a:rPr lang="en-US" sz="1200" b="1"/>
                        <a:t>Address Registers</a:t>
                      </a:r>
                      <a:endParaRPr lang="en-US" sz="1200"/>
                    </a:p>
                  </a:txBody>
                  <a:tcPr marL="8240" marR="8240" marT="4120" marB="4120" anchor="ctr"/>
                </a:tc>
                <a:tc>
                  <a:txBody>
                    <a:bodyPr/>
                    <a:lstStyle/>
                    <a:p>
                      <a:pPr>
                        <a:buNone/>
                      </a:pPr>
                      <a:r>
                        <a:rPr lang="en-US" sz="1200"/>
                        <a:t>Used to store memory addresses or pointers. This includes:</a:t>
                      </a:r>
                    </a:p>
                  </a:txBody>
                  <a:tcPr marL="8240" marR="8240" marT="4120" marB="4120" anchor="ctr"/>
                </a:tc>
                <a:extLst>
                  <a:ext uri="{0D108BD9-81ED-4DB2-BD59-A6C34878D82A}">
                    <a16:rowId xmlns:a16="http://schemas.microsoft.com/office/drawing/2014/main" val="1959990653"/>
                  </a:ext>
                </a:extLst>
              </a:tr>
              <a:tr h="533400">
                <a:tc>
                  <a:txBody>
                    <a:bodyPr/>
                    <a:lstStyle/>
                    <a:p>
                      <a:pPr>
                        <a:buNone/>
                      </a:pPr>
                      <a:endParaRPr lang="en-US" sz="1200"/>
                    </a:p>
                  </a:txBody>
                  <a:tcPr marL="8240" marR="8240" marT="4120" marB="4120" anchor="ctr"/>
                </a:tc>
                <a:tc>
                  <a:txBody>
                    <a:bodyPr/>
                    <a:lstStyle/>
                    <a:p>
                      <a:pPr>
                        <a:buNone/>
                      </a:pPr>
                      <a:r>
                        <a:rPr lang="en-US" sz="1200"/>
                        <a:t>- </a:t>
                      </a:r>
                      <a:r>
                        <a:rPr lang="en-US" sz="1200" b="1"/>
                        <a:t>Index Registers</a:t>
                      </a:r>
                      <a:r>
                        <a:rPr lang="en-US" sz="1200"/>
                        <a:t>: Often used for loop counting and array indexing.</a:t>
                      </a:r>
                    </a:p>
                  </a:txBody>
                  <a:tcPr marL="8240" marR="8240" marT="4120" marB="4120" anchor="ctr"/>
                </a:tc>
                <a:extLst>
                  <a:ext uri="{0D108BD9-81ED-4DB2-BD59-A6C34878D82A}">
                    <a16:rowId xmlns:a16="http://schemas.microsoft.com/office/drawing/2014/main" val="880921253"/>
                  </a:ext>
                </a:extLst>
              </a:tr>
              <a:tr h="609600">
                <a:tc>
                  <a:txBody>
                    <a:bodyPr/>
                    <a:lstStyle/>
                    <a:p>
                      <a:pPr>
                        <a:buNone/>
                      </a:pPr>
                      <a:endParaRPr lang="en-US" sz="1200"/>
                    </a:p>
                  </a:txBody>
                  <a:tcPr marL="8240" marR="8240" marT="4120" marB="4120" anchor="ctr"/>
                </a:tc>
                <a:tc>
                  <a:txBody>
                    <a:bodyPr/>
                    <a:lstStyle/>
                    <a:p>
                      <a:pPr>
                        <a:buNone/>
                      </a:pPr>
                      <a:r>
                        <a:rPr lang="en-US" sz="1200"/>
                        <a:t>- </a:t>
                      </a:r>
                      <a:r>
                        <a:rPr lang="en-US" sz="1200" b="1"/>
                        <a:t>Stack Pointer Registers</a:t>
                      </a:r>
                      <a:r>
                        <a:rPr lang="en-US" sz="1200"/>
                        <a:t>: Point to the current top of the stack in memory.</a:t>
                      </a:r>
                    </a:p>
                  </a:txBody>
                  <a:tcPr marL="8240" marR="8240" marT="4120" marB="4120" anchor="ctr"/>
                </a:tc>
                <a:extLst>
                  <a:ext uri="{0D108BD9-81ED-4DB2-BD59-A6C34878D82A}">
                    <a16:rowId xmlns:a16="http://schemas.microsoft.com/office/drawing/2014/main" val="3853129298"/>
                  </a:ext>
                </a:extLst>
              </a:tr>
              <a:tr h="762000">
                <a:tc>
                  <a:txBody>
                    <a:bodyPr/>
                    <a:lstStyle/>
                    <a:p>
                      <a:pPr>
                        <a:buNone/>
                      </a:pPr>
                      <a:endParaRPr lang="en-US" sz="1200"/>
                    </a:p>
                  </a:txBody>
                  <a:tcPr marL="8240" marR="8240" marT="4120" marB="4120" anchor="ctr"/>
                </a:tc>
                <a:tc>
                  <a:txBody>
                    <a:bodyPr/>
                    <a:lstStyle/>
                    <a:p>
                      <a:pPr>
                        <a:buNone/>
                      </a:pPr>
                      <a:r>
                        <a:rPr lang="en-US" sz="1200" dirty="0"/>
                        <a:t>- </a:t>
                      </a:r>
                      <a:r>
                        <a:rPr lang="en-US" sz="1200" b="1" dirty="0"/>
                        <a:t>Segment Pointer Registers</a:t>
                      </a:r>
                      <a:r>
                        <a:rPr lang="en-US" sz="1200" dirty="0"/>
                        <a:t>: Used in segmented memory architectures to point to segments of memory.</a:t>
                      </a:r>
                    </a:p>
                  </a:txBody>
                  <a:tcPr marL="8240" marR="8240" marT="4120" marB="4120" anchor="ctr"/>
                </a:tc>
                <a:extLst>
                  <a:ext uri="{0D108BD9-81ED-4DB2-BD59-A6C34878D82A}">
                    <a16:rowId xmlns:a16="http://schemas.microsoft.com/office/drawing/2014/main" val="3591459945"/>
                  </a:ext>
                </a:extLst>
              </a:tr>
              <a:tr h="838200">
                <a:tc>
                  <a:txBody>
                    <a:bodyPr/>
                    <a:lstStyle/>
                    <a:p>
                      <a:pPr>
                        <a:buNone/>
                      </a:pPr>
                      <a:r>
                        <a:rPr lang="en-US" sz="1200" b="1"/>
                        <a:t>Condition Codes Registers</a:t>
                      </a:r>
                      <a:endParaRPr lang="en-US" sz="1200"/>
                    </a:p>
                  </a:txBody>
                  <a:tcPr marL="8240" marR="8240" marT="4120" marB="4120" anchor="ctr"/>
                </a:tc>
                <a:tc>
                  <a:txBody>
                    <a:bodyPr/>
                    <a:lstStyle/>
                    <a:p>
                      <a:pPr>
                        <a:buNone/>
                      </a:pPr>
                      <a:r>
                        <a:rPr lang="en-US" sz="1200" dirty="0"/>
                        <a:t>Hold flags that indicate the status of the CPU or the outcome of arithmetic and logical operations (e.g., zero, carry, overflow).</a:t>
                      </a:r>
                    </a:p>
                  </a:txBody>
                  <a:tcPr marL="8240" marR="8240" marT="4120" marB="4120" anchor="ctr"/>
                </a:tc>
                <a:extLst>
                  <a:ext uri="{0D108BD9-81ED-4DB2-BD59-A6C34878D82A}">
                    <a16:rowId xmlns:a16="http://schemas.microsoft.com/office/drawing/2014/main" val="1172989223"/>
                  </a:ext>
                </a:extLst>
              </a:tr>
              <a:tr h="609600">
                <a:tc>
                  <a:txBody>
                    <a:bodyPr/>
                    <a:lstStyle/>
                    <a:p>
                      <a:pPr>
                        <a:buNone/>
                      </a:pPr>
                      <a:r>
                        <a:rPr lang="en-US" sz="1200" b="1"/>
                        <a:t>Control and Status Registers</a:t>
                      </a:r>
                      <a:endParaRPr lang="en-US" sz="1200"/>
                    </a:p>
                  </a:txBody>
                  <a:tcPr marL="8240" marR="8240" marT="4120" marB="4120" anchor="ctr"/>
                </a:tc>
                <a:tc>
                  <a:txBody>
                    <a:bodyPr/>
                    <a:lstStyle/>
                    <a:p>
                      <a:pPr>
                        <a:buNone/>
                      </a:pPr>
                      <a:r>
                        <a:rPr lang="en-US" sz="1200"/>
                        <a:t>Registers that control various CPU operations and status reporting. This includes:</a:t>
                      </a:r>
                    </a:p>
                  </a:txBody>
                  <a:tcPr marL="8240" marR="8240" marT="4120" marB="4120" anchor="ctr"/>
                </a:tc>
                <a:extLst>
                  <a:ext uri="{0D108BD9-81ED-4DB2-BD59-A6C34878D82A}">
                    <a16:rowId xmlns:a16="http://schemas.microsoft.com/office/drawing/2014/main" val="1153491148"/>
                  </a:ext>
                </a:extLst>
              </a:tr>
              <a:tr h="838200">
                <a:tc>
                  <a:txBody>
                    <a:bodyPr/>
                    <a:lstStyle/>
                    <a:p>
                      <a:pPr>
                        <a:buNone/>
                      </a:pPr>
                      <a:endParaRPr lang="en-US" sz="1200"/>
                    </a:p>
                  </a:txBody>
                  <a:tcPr marL="8240" marR="8240" marT="4120" marB="4120" anchor="ctr"/>
                </a:tc>
                <a:tc>
                  <a:txBody>
                    <a:bodyPr/>
                    <a:lstStyle/>
                    <a:p>
                      <a:pPr>
                        <a:buNone/>
                      </a:pPr>
                      <a:r>
                        <a:rPr lang="en-US" sz="1200"/>
                        <a:t>- </a:t>
                      </a:r>
                      <a:r>
                        <a:rPr lang="en-US" sz="1200" b="1"/>
                        <a:t>Control Word</a:t>
                      </a:r>
                      <a:r>
                        <a:rPr lang="en-US" sz="1200"/>
                        <a:t>: Contains bits that configure MUXs (multiplexers) and decoders within the CPU architecture.</a:t>
                      </a:r>
                    </a:p>
                  </a:txBody>
                  <a:tcPr marL="8240" marR="8240" marT="4120" marB="4120" anchor="ctr"/>
                </a:tc>
                <a:extLst>
                  <a:ext uri="{0D108BD9-81ED-4DB2-BD59-A6C34878D82A}">
                    <a16:rowId xmlns:a16="http://schemas.microsoft.com/office/drawing/2014/main" val="3814139535"/>
                  </a:ext>
                </a:extLst>
              </a:tr>
              <a:tr h="676922">
                <a:tc>
                  <a:txBody>
                    <a:bodyPr/>
                    <a:lstStyle/>
                    <a:p>
                      <a:pPr>
                        <a:buNone/>
                      </a:pPr>
                      <a:r>
                        <a:rPr lang="en-US" sz="1200" b="1"/>
                        <a:t>Status Registers (PSW)</a:t>
                      </a:r>
                      <a:endParaRPr lang="en-US" sz="1200"/>
                    </a:p>
                  </a:txBody>
                  <a:tcPr marL="8240" marR="8240" marT="4120" marB="4120" anchor="ctr"/>
                </a:tc>
                <a:tc>
                  <a:txBody>
                    <a:bodyPr/>
                    <a:lstStyle/>
                    <a:p>
                      <a:pPr>
                        <a:buNone/>
                      </a:pPr>
                      <a:r>
                        <a:rPr lang="en-US" sz="1200" dirty="0"/>
                        <a:t>Also known as the Program Status Word, this register encapsulates the current status of the processor, including conditions, interrupt enable bits, and other control flags.</a:t>
                      </a:r>
                    </a:p>
                  </a:txBody>
                  <a:tcPr marL="8240" marR="8240" marT="4120" marB="4120" anchor="ctr"/>
                </a:tc>
                <a:extLst>
                  <a:ext uri="{0D108BD9-81ED-4DB2-BD59-A6C34878D82A}">
                    <a16:rowId xmlns:a16="http://schemas.microsoft.com/office/drawing/2014/main" val="3779454139"/>
                  </a:ext>
                </a:extLst>
              </a:tr>
            </a:tbl>
          </a:graphicData>
        </a:graphic>
      </p:graphicFrame>
    </p:spTree>
    <p:extLst>
      <p:ext uri="{BB962C8B-B14F-4D97-AF65-F5344CB8AC3E}">
        <p14:creationId xmlns:p14="http://schemas.microsoft.com/office/powerpoint/2010/main" val="31445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AFF32-EC63-B209-BFCA-DB08F62C345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1C67AA8-F88F-AC7F-858D-2D5BEC6FC3FA}"/>
              </a:ext>
            </a:extLst>
          </p:cNvPr>
          <p:cNvSpPr>
            <a:spLocks noGrp="1"/>
          </p:cNvSpPr>
          <p:nvPr>
            <p:ph type="body" idx="1"/>
          </p:nvPr>
        </p:nvSpPr>
        <p:spPr>
          <a:xfrm>
            <a:off x="981630" y="2077304"/>
            <a:ext cx="4891939" cy="852285"/>
          </a:xfrm>
        </p:spPr>
        <p:txBody>
          <a:bodyPr/>
          <a:lstStyle/>
          <a:p>
            <a:pPr marL="228600">
              <a:lnSpc>
                <a:spcPts val="2235"/>
              </a:lnSpc>
            </a:pPr>
            <a:r>
              <a:rPr lang="en-US" sz="1800" dirty="0">
                <a:latin typeface="Georgia"/>
                <a:cs typeface="Georgia"/>
              </a:rPr>
              <a:t>Mano’s</a:t>
            </a:r>
            <a:r>
              <a:rPr lang="en-US" sz="1800" spc="-5" dirty="0">
                <a:latin typeface="Georgia"/>
                <a:cs typeface="Georgia"/>
              </a:rPr>
              <a:t> </a:t>
            </a:r>
            <a:r>
              <a:rPr lang="en-US" sz="1800" spc="-20" dirty="0">
                <a:latin typeface="Georgia"/>
                <a:cs typeface="Georgia"/>
              </a:rPr>
              <a:t>Basic-</a:t>
            </a:r>
            <a:r>
              <a:rPr lang="en-US" sz="1800" spc="-10" dirty="0">
                <a:latin typeface="Georgia"/>
                <a:cs typeface="Georgia"/>
              </a:rPr>
              <a:t>Computer</a:t>
            </a:r>
            <a:endParaRPr lang="en-US" sz="1800" dirty="0">
              <a:latin typeface="Georgia"/>
              <a:cs typeface="Georgia"/>
            </a:endParaRPr>
          </a:p>
          <a:p>
            <a:pPr marL="165100">
              <a:lnSpc>
                <a:spcPts val="2280"/>
              </a:lnSpc>
              <a:tabLst>
                <a:tab pos="4826000" algn="l"/>
              </a:tabLst>
            </a:pPr>
            <a:r>
              <a:rPr lang="en-US" sz="1800" u="heavy" spc="-20" dirty="0">
                <a:uFill>
                  <a:solidFill>
                    <a:srgbClr val="539E39"/>
                  </a:solidFill>
                </a:uFill>
                <a:latin typeface="Georgia"/>
                <a:cs typeface="Georgia"/>
              </a:rPr>
              <a:t> </a:t>
            </a:r>
            <a:r>
              <a:rPr lang="en-US" sz="1800" u="heavy" dirty="0">
                <a:uFill>
                  <a:solidFill>
                    <a:srgbClr val="539E39"/>
                  </a:solidFill>
                </a:uFill>
                <a:latin typeface="Georgia"/>
                <a:cs typeface="Georgia"/>
              </a:rPr>
              <a:t>(Single</a:t>
            </a:r>
            <a:r>
              <a:rPr lang="en-US" sz="1800" u="heavy" spc="-45" dirty="0">
                <a:uFill>
                  <a:solidFill>
                    <a:srgbClr val="539E39"/>
                  </a:solidFill>
                </a:uFill>
                <a:latin typeface="Georgia"/>
                <a:cs typeface="Georgia"/>
              </a:rPr>
              <a:t> </a:t>
            </a:r>
            <a:r>
              <a:rPr lang="en-US" sz="1800" u="heavy" dirty="0">
                <a:uFill>
                  <a:solidFill>
                    <a:srgbClr val="539E39"/>
                  </a:solidFill>
                </a:uFill>
                <a:latin typeface="Georgia"/>
                <a:cs typeface="Georgia"/>
              </a:rPr>
              <a:t>Accumulator</a:t>
            </a:r>
            <a:r>
              <a:rPr lang="en-US" sz="1800" u="heavy" spc="-55" dirty="0">
                <a:uFill>
                  <a:solidFill>
                    <a:srgbClr val="539E39"/>
                  </a:solidFill>
                </a:uFill>
                <a:latin typeface="Georgia"/>
                <a:cs typeface="Georgia"/>
              </a:rPr>
              <a:t> </a:t>
            </a:r>
            <a:r>
              <a:rPr lang="en-US" sz="1800" u="heavy" spc="-10" dirty="0">
                <a:uFill>
                  <a:solidFill>
                    <a:srgbClr val="539E39"/>
                  </a:solidFill>
                </a:uFill>
                <a:latin typeface="Georgia"/>
                <a:cs typeface="Georgia"/>
              </a:rPr>
              <a:t>Organization)</a:t>
            </a:r>
            <a:endParaRPr lang="en-US" sz="1800" dirty="0"/>
          </a:p>
        </p:txBody>
      </p:sp>
      <p:grpSp>
        <p:nvGrpSpPr>
          <p:cNvPr id="4" name="object 3">
            <a:extLst>
              <a:ext uri="{FF2B5EF4-FFF2-40B4-BE49-F238E27FC236}">
                <a16:creationId xmlns:a16="http://schemas.microsoft.com/office/drawing/2014/main" id="{78FDEB40-240B-34C1-D781-F256DF6479E5}"/>
              </a:ext>
            </a:extLst>
          </p:cNvPr>
          <p:cNvGrpSpPr/>
          <p:nvPr/>
        </p:nvGrpSpPr>
        <p:grpSpPr>
          <a:xfrm>
            <a:off x="380300" y="4846382"/>
            <a:ext cx="6096000" cy="3429000"/>
            <a:chOff x="381000" y="4844796"/>
            <a:chExt cx="6096000" cy="3429000"/>
          </a:xfrm>
        </p:grpSpPr>
        <p:sp>
          <p:nvSpPr>
            <p:cNvPr id="5" name="object 4">
              <a:extLst>
                <a:ext uri="{FF2B5EF4-FFF2-40B4-BE49-F238E27FC236}">
                  <a16:creationId xmlns:a16="http://schemas.microsoft.com/office/drawing/2014/main" id="{724A102F-F7D8-2176-FDA1-909E552231F0}"/>
                </a:ext>
              </a:extLst>
            </p:cNvPr>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6" name="object 5">
              <a:extLst>
                <a:ext uri="{FF2B5EF4-FFF2-40B4-BE49-F238E27FC236}">
                  <a16:creationId xmlns:a16="http://schemas.microsoft.com/office/drawing/2014/main" id="{057248A6-61CD-DD9E-4E95-4E6B2A2C5449}"/>
                </a:ext>
              </a:extLst>
            </p:cNvPr>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grpSp>
      <p:sp>
        <p:nvSpPr>
          <p:cNvPr id="7" name="object 6">
            <a:extLst>
              <a:ext uri="{FF2B5EF4-FFF2-40B4-BE49-F238E27FC236}">
                <a16:creationId xmlns:a16="http://schemas.microsoft.com/office/drawing/2014/main" id="{4828BBE3-599F-B1A4-FD42-783603720850}"/>
              </a:ext>
            </a:extLst>
          </p:cNvPr>
          <p:cNvSpPr txBox="1"/>
          <p:nvPr/>
        </p:nvSpPr>
        <p:spPr>
          <a:xfrm>
            <a:off x="496823" y="4966715"/>
            <a:ext cx="5862955" cy="3188335"/>
          </a:xfrm>
          <a:prstGeom prst="rect">
            <a:avLst/>
          </a:prstGeom>
        </p:spPr>
        <p:txBody>
          <a:bodyPr vert="horz" wrap="square" lIns="0" tIns="0" rIns="0" bIns="0" rtlCol="0">
            <a:spAutoFit/>
          </a:bodyPr>
          <a:lstStyle/>
          <a:p>
            <a:pPr marL="228600">
              <a:lnSpc>
                <a:spcPts val="2235"/>
              </a:lnSpc>
            </a:pPr>
            <a:r>
              <a:rPr sz="2000" dirty="0">
                <a:latin typeface="Georgia"/>
                <a:cs typeface="Georgia"/>
              </a:rPr>
              <a:t>Mano’s</a:t>
            </a:r>
            <a:r>
              <a:rPr sz="2000" spc="-5" dirty="0">
                <a:latin typeface="Georgia"/>
                <a:cs typeface="Georgia"/>
              </a:rPr>
              <a:t> </a:t>
            </a:r>
            <a:r>
              <a:rPr sz="2000" spc="-20" dirty="0">
                <a:latin typeface="Georgia"/>
                <a:cs typeface="Georgia"/>
              </a:rPr>
              <a:t>Basic-</a:t>
            </a:r>
            <a:r>
              <a:rPr sz="2000" spc="-10" dirty="0">
                <a:latin typeface="Georgia"/>
                <a:cs typeface="Georgia"/>
              </a:rPr>
              <a:t>Computer</a:t>
            </a:r>
            <a:endParaRPr sz="2000" dirty="0">
              <a:latin typeface="Georgia"/>
              <a:cs typeface="Georgia"/>
            </a:endParaRPr>
          </a:p>
          <a:p>
            <a:pPr marL="165100">
              <a:lnSpc>
                <a:spcPts val="2280"/>
              </a:lnSpc>
              <a:tabLst>
                <a:tab pos="4826000" algn="l"/>
              </a:tabLst>
            </a:pPr>
            <a:r>
              <a:rPr sz="2000" u="heavy" spc="-20" dirty="0">
                <a:uFill>
                  <a:solidFill>
                    <a:srgbClr val="539E39"/>
                  </a:solidFill>
                </a:uFill>
                <a:latin typeface="Georgia"/>
                <a:cs typeface="Georgia"/>
              </a:rPr>
              <a:t> </a:t>
            </a:r>
            <a:r>
              <a:rPr sz="2000" u="heavy" dirty="0">
                <a:uFill>
                  <a:solidFill>
                    <a:srgbClr val="539E39"/>
                  </a:solidFill>
                </a:uFill>
                <a:latin typeface="Georgia"/>
                <a:cs typeface="Georgia"/>
              </a:rPr>
              <a:t>(Single</a:t>
            </a:r>
            <a:r>
              <a:rPr sz="2000" u="heavy" spc="-45" dirty="0">
                <a:uFill>
                  <a:solidFill>
                    <a:srgbClr val="539E39"/>
                  </a:solidFill>
                </a:uFill>
                <a:latin typeface="Georgia"/>
                <a:cs typeface="Georgia"/>
              </a:rPr>
              <a:t> </a:t>
            </a:r>
            <a:r>
              <a:rPr sz="2000" u="heavy" dirty="0">
                <a:uFill>
                  <a:solidFill>
                    <a:srgbClr val="539E39"/>
                  </a:solidFill>
                </a:uFill>
                <a:latin typeface="Georgia"/>
                <a:cs typeface="Georgia"/>
              </a:rPr>
              <a:t>Accumulator</a:t>
            </a:r>
            <a:r>
              <a:rPr sz="2000" u="heavy" spc="-55" dirty="0">
                <a:uFill>
                  <a:solidFill>
                    <a:srgbClr val="539E39"/>
                  </a:solidFill>
                </a:uFill>
                <a:latin typeface="Georgia"/>
                <a:cs typeface="Georgia"/>
              </a:rPr>
              <a:t> </a:t>
            </a:r>
            <a:r>
              <a:rPr sz="2000" u="heavy" spc="-10" dirty="0">
                <a:uFill>
                  <a:solidFill>
                    <a:srgbClr val="539E39"/>
                  </a:solidFill>
                </a:uFill>
                <a:latin typeface="Georgia"/>
                <a:cs typeface="Georgia"/>
              </a:rPr>
              <a:t>Organization)</a:t>
            </a:r>
            <a:r>
              <a:rPr sz="2000" u="heavy" dirty="0">
                <a:uFill>
                  <a:solidFill>
                    <a:srgbClr val="539E39"/>
                  </a:solidFill>
                </a:uFill>
                <a:latin typeface="Georgia"/>
                <a:cs typeface="Georgia"/>
              </a:rPr>
              <a:t>	</a:t>
            </a:r>
            <a:endParaRPr sz="2000" dirty="0">
              <a:latin typeface="Georgia"/>
              <a:cs typeface="Georgia"/>
            </a:endParaRPr>
          </a:p>
        </p:txBody>
      </p:sp>
      <p:pic>
        <p:nvPicPr>
          <p:cNvPr id="8" name="object 7">
            <a:extLst>
              <a:ext uri="{FF2B5EF4-FFF2-40B4-BE49-F238E27FC236}">
                <a16:creationId xmlns:a16="http://schemas.microsoft.com/office/drawing/2014/main" id="{3C72183B-502C-E221-71CB-050BB985F26C}"/>
              </a:ext>
            </a:extLst>
          </p:cNvPr>
          <p:cNvPicPr/>
          <p:nvPr/>
        </p:nvPicPr>
        <p:blipFill>
          <a:blip r:embed="rId2" cstate="print"/>
          <a:stretch>
            <a:fillRect/>
          </a:stretch>
        </p:blipFill>
        <p:spPr>
          <a:xfrm>
            <a:off x="679704" y="5625084"/>
            <a:ext cx="2569464" cy="2513076"/>
          </a:xfrm>
          <a:prstGeom prst="rect">
            <a:avLst/>
          </a:prstGeom>
        </p:spPr>
      </p:pic>
      <p:pic>
        <p:nvPicPr>
          <p:cNvPr id="9" name="object 8">
            <a:extLst>
              <a:ext uri="{FF2B5EF4-FFF2-40B4-BE49-F238E27FC236}">
                <a16:creationId xmlns:a16="http://schemas.microsoft.com/office/drawing/2014/main" id="{860542A9-5CF5-88E8-BC70-6EF362501B80}"/>
              </a:ext>
            </a:extLst>
          </p:cNvPr>
          <p:cNvPicPr/>
          <p:nvPr/>
        </p:nvPicPr>
        <p:blipFill>
          <a:blip r:embed="rId3" cstate="print"/>
          <a:stretch>
            <a:fillRect/>
          </a:stretch>
        </p:blipFill>
        <p:spPr>
          <a:xfrm>
            <a:off x="4154423" y="5596102"/>
            <a:ext cx="2080260" cy="2560319"/>
          </a:xfrm>
          <a:prstGeom prst="rect">
            <a:avLst/>
          </a:prstGeom>
        </p:spPr>
      </p:pic>
      <p:sp>
        <p:nvSpPr>
          <p:cNvPr id="10" name="object 9">
            <a:extLst>
              <a:ext uri="{FF2B5EF4-FFF2-40B4-BE49-F238E27FC236}">
                <a16:creationId xmlns:a16="http://schemas.microsoft.com/office/drawing/2014/main" id="{A865EFB1-AEEA-486C-5372-5281FF197678}"/>
              </a:ext>
            </a:extLst>
          </p:cNvPr>
          <p:cNvSpPr txBox="1"/>
          <p:nvPr/>
        </p:nvSpPr>
        <p:spPr>
          <a:xfrm>
            <a:off x="6070472" y="7984837"/>
            <a:ext cx="150495"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21</a:t>
            </a:r>
            <a:endParaRPr sz="1000">
              <a:latin typeface="Corbel"/>
              <a:cs typeface="Corbel"/>
            </a:endParaRPr>
          </a:p>
        </p:txBody>
      </p:sp>
    </p:spTree>
    <p:extLst>
      <p:ext uri="{BB962C8B-B14F-4D97-AF65-F5344CB8AC3E}">
        <p14:creationId xmlns:p14="http://schemas.microsoft.com/office/powerpoint/2010/main" val="1246726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Mano’s</a:t>
            </a:r>
            <a:r>
              <a:rPr spc="-60" dirty="0"/>
              <a:t> </a:t>
            </a:r>
            <a:r>
              <a:rPr spc="-20" dirty="0"/>
              <a:t>Basic-</a:t>
            </a:r>
            <a:r>
              <a:rPr spc="-10" dirty="0"/>
              <a:t>Computer</a:t>
            </a:r>
          </a:p>
        </p:txBody>
      </p:sp>
      <p:sp>
        <p:nvSpPr>
          <p:cNvPr id="3" name="object 3"/>
          <p:cNvSpPr txBox="1"/>
          <p:nvPr/>
        </p:nvSpPr>
        <p:spPr>
          <a:xfrm>
            <a:off x="6086221" y="3975861"/>
            <a:ext cx="130810" cy="177800"/>
          </a:xfrm>
          <a:prstGeom prst="rect">
            <a:avLst/>
          </a:prstGeom>
        </p:spPr>
        <p:txBody>
          <a:bodyPr vert="horz" wrap="square" lIns="0" tIns="12065" rIns="0" bIns="0" rtlCol="0">
            <a:spAutoFit/>
          </a:bodyPr>
          <a:lstStyle/>
          <a:p>
            <a:pPr>
              <a:lnSpc>
                <a:spcPct val="100000"/>
              </a:lnSpc>
              <a:spcBef>
                <a:spcPts val="95"/>
              </a:spcBef>
            </a:pPr>
            <a:r>
              <a:rPr sz="1000" b="1" spc="-25" dirty="0">
                <a:solidFill>
                  <a:srgbClr val="3E762B"/>
                </a:solidFill>
                <a:latin typeface="Corbel"/>
                <a:cs typeface="Corbel"/>
              </a:rPr>
              <a:t>25</a:t>
            </a:r>
            <a:endParaRPr sz="1000">
              <a:latin typeface="Corbel"/>
              <a:cs typeface="Corbel"/>
            </a:endParaRPr>
          </a:p>
        </p:txBody>
      </p:sp>
      <p:grpSp>
        <p:nvGrpSpPr>
          <p:cNvPr id="4" name="object 4"/>
          <p:cNvGrpSpPr/>
          <p:nvPr/>
        </p:nvGrpSpPr>
        <p:grpSpPr>
          <a:xfrm>
            <a:off x="2163826" y="1756917"/>
            <a:ext cx="1823720" cy="149860"/>
            <a:chOff x="2163826" y="1756917"/>
            <a:chExt cx="1823720" cy="149860"/>
          </a:xfrm>
        </p:grpSpPr>
        <p:sp>
          <p:nvSpPr>
            <p:cNvPr id="5" name="object 5"/>
            <p:cNvSpPr/>
            <p:nvPr/>
          </p:nvSpPr>
          <p:spPr>
            <a:xfrm>
              <a:off x="2170176" y="1763267"/>
              <a:ext cx="1811020" cy="129539"/>
            </a:xfrm>
            <a:custGeom>
              <a:avLst/>
              <a:gdLst/>
              <a:ahLst/>
              <a:cxnLst/>
              <a:rect l="l" t="t" r="r" b="b"/>
              <a:pathLst>
                <a:path w="1811020" h="129539">
                  <a:moveTo>
                    <a:pt x="0" y="129540"/>
                  </a:moveTo>
                  <a:lnTo>
                    <a:pt x="1810512" y="129540"/>
                  </a:lnTo>
                  <a:lnTo>
                    <a:pt x="1810512" y="0"/>
                  </a:lnTo>
                  <a:lnTo>
                    <a:pt x="0" y="0"/>
                  </a:lnTo>
                  <a:lnTo>
                    <a:pt x="0" y="129540"/>
                  </a:lnTo>
                  <a:close/>
                </a:path>
              </a:pathLst>
            </a:custGeom>
            <a:ln w="12192">
              <a:solidFill>
                <a:srgbClr val="000000"/>
              </a:solidFill>
            </a:ln>
          </p:spPr>
          <p:txBody>
            <a:bodyPr wrap="square" lIns="0" tIns="0" rIns="0" bIns="0" rtlCol="0"/>
            <a:lstStyle/>
            <a:p>
              <a:endParaRPr/>
            </a:p>
          </p:txBody>
        </p:sp>
        <p:sp>
          <p:nvSpPr>
            <p:cNvPr id="6" name="object 6"/>
            <p:cNvSpPr/>
            <p:nvPr/>
          </p:nvSpPr>
          <p:spPr>
            <a:xfrm>
              <a:off x="2380488" y="1769363"/>
              <a:ext cx="698500" cy="131445"/>
            </a:xfrm>
            <a:custGeom>
              <a:avLst/>
              <a:gdLst/>
              <a:ahLst/>
              <a:cxnLst/>
              <a:rect l="l" t="t" r="r" b="b"/>
              <a:pathLst>
                <a:path w="698500" h="131444">
                  <a:moveTo>
                    <a:pt x="0" y="0"/>
                  </a:moveTo>
                  <a:lnTo>
                    <a:pt x="0" y="131063"/>
                  </a:lnTo>
                </a:path>
                <a:path w="698500" h="131444">
                  <a:moveTo>
                    <a:pt x="697992" y="0"/>
                  </a:moveTo>
                  <a:lnTo>
                    <a:pt x="697992" y="131063"/>
                  </a:lnTo>
                </a:path>
              </a:pathLst>
            </a:custGeom>
            <a:ln w="12192">
              <a:solidFill>
                <a:srgbClr val="000000"/>
              </a:solidFill>
            </a:ln>
          </p:spPr>
          <p:txBody>
            <a:bodyPr wrap="square" lIns="0" tIns="0" rIns="0" bIns="0" rtlCol="0"/>
            <a:lstStyle/>
            <a:p>
              <a:endParaRPr/>
            </a:p>
          </p:txBody>
        </p:sp>
      </p:grpSp>
      <p:sp>
        <p:nvSpPr>
          <p:cNvPr id="7" name="object 7"/>
          <p:cNvSpPr txBox="1"/>
          <p:nvPr/>
        </p:nvSpPr>
        <p:spPr>
          <a:xfrm>
            <a:off x="2197226" y="1601876"/>
            <a:ext cx="1444625" cy="297180"/>
          </a:xfrm>
          <a:prstGeom prst="rect">
            <a:avLst/>
          </a:prstGeom>
        </p:spPr>
        <p:txBody>
          <a:bodyPr vert="horz" wrap="square" lIns="0" tIns="41910" rIns="0" bIns="0" rtlCol="0">
            <a:spAutoFit/>
          </a:bodyPr>
          <a:lstStyle/>
          <a:p>
            <a:pPr marR="80645" algn="r">
              <a:lnSpc>
                <a:spcPct val="100000"/>
              </a:lnSpc>
              <a:spcBef>
                <a:spcPts val="330"/>
              </a:spcBef>
            </a:pPr>
            <a:r>
              <a:rPr sz="700" b="1" spc="-10" dirty="0">
                <a:latin typeface="Arial"/>
                <a:cs typeface="Arial"/>
              </a:rPr>
              <a:t>Instruction</a:t>
            </a:r>
            <a:r>
              <a:rPr sz="700" b="1" dirty="0">
                <a:latin typeface="Arial"/>
                <a:cs typeface="Arial"/>
              </a:rPr>
              <a:t> Register </a:t>
            </a:r>
            <a:r>
              <a:rPr sz="700" b="1" spc="-20" dirty="0">
                <a:latin typeface="Arial"/>
                <a:cs typeface="Arial"/>
              </a:rPr>
              <a:t>(IR)</a:t>
            </a:r>
            <a:endParaRPr sz="700">
              <a:latin typeface="Arial"/>
              <a:cs typeface="Arial"/>
            </a:endParaRPr>
          </a:p>
          <a:p>
            <a:pPr marR="17780" algn="r">
              <a:lnSpc>
                <a:spcPct val="100000"/>
              </a:lnSpc>
              <a:spcBef>
                <a:spcPts val="229"/>
              </a:spcBef>
              <a:tabLst>
                <a:tab pos="281305" algn="l"/>
                <a:tab pos="1151890" algn="l"/>
              </a:tabLst>
            </a:pPr>
            <a:r>
              <a:rPr sz="1050" b="1" spc="-37" baseline="3968" dirty="0">
                <a:latin typeface="Arial"/>
                <a:cs typeface="Arial"/>
              </a:rPr>
              <a:t>15</a:t>
            </a:r>
            <a:r>
              <a:rPr sz="1050" b="1" baseline="3968" dirty="0">
                <a:latin typeface="Arial"/>
                <a:cs typeface="Arial"/>
              </a:rPr>
              <a:t>	</a:t>
            </a:r>
            <a:r>
              <a:rPr sz="700" b="1" dirty="0">
                <a:latin typeface="Arial"/>
                <a:cs typeface="Arial"/>
              </a:rPr>
              <a:t>14</a:t>
            </a:r>
            <a:r>
              <a:rPr sz="700" b="1" spc="290" dirty="0">
                <a:latin typeface="Arial"/>
                <a:cs typeface="Arial"/>
              </a:rPr>
              <a:t>  </a:t>
            </a:r>
            <a:r>
              <a:rPr sz="700" b="1" dirty="0">
                <a:latin typeface="Arial"/>
                <a:cs typeface="Arial"/>
              </a:rPr>
              <a:t>13</a:t>
            </a:r>
            <a:r>
              <a:rPr sz="700" b="1" spc="295" dirty="0">
                <a:latin typeface="Arial"/>
                <a:cs typeface="Arial"/>
              </a:rPr>
              <a:t>  </a:t>
            </a:r>
            <a:r>
              <a:rPr sz="700" b="1" spc="-25" dirty="0">
                <a:latin typeface="Arial"/>
                <a:cs typeface="Arial"/>
              </a:rPr>
              <a:t>12</a:t>
            </a:r>
            <a:r>
              <a:rPr sz="700" b="1" dirty="0">
                <a:latin typeface="Arial"/>
                <a:cs typeface="Arial"/>
              </a:rPr>
              <a:t>	</a:t>
            </a:r>
            <a:r>
              <a:rPr sz="1050" b="1" baseline="7936" dirty="0">
                <a:latin typeface="Arial"/>
                <a:cs typeface="Arial"/>
              </a:rPr>
              <a:t>11</a:t>
            </a:r>
            <a:r>
              <a:rPr sz="1050" b="1" spc="-37" baseline="7936" dirty="0">
                <a:latin typeface="Arial"/>
                <a:cs typeface="Arial"/>
              </a:rPr>
              <a:t> </a:t>
            </a:r>
            <a:r>
              <a:rPr sz="1050" b="1" baseline="7936" dirty="0">
                <a:latin typeface="Arial"/>
                <a:cs typeface="Arial"/>
              </a:rPr>
              <a:t>–</a:t>
            </a:r>
            <a:r>
              <a:rPr sz="1050" b="1" spc="-52" baseline="7936" dirty="0">
                <a:latin typeface="Arial"/>
                <a:cs typeface="Arial"/>
              </a:rPr>
              <a:t> </a:t>
            </a:r>
            <a:r>
              <a:rPr sz="1050" b="1" spc="-75" baseline="7936" dirty="0">
                <a:latin typeface="Arial"/>
                <a:cs typeface="Arial"/>
              </a:rPr>
              <a:t>0</a:t>
            </a:r>
            <a:endParaRPr sz="1050" baseline="7936">
              <a:latin typeface="Arial"/>
              <a:cs typeface="Arial"/>
            </a:endParaRPr>
          </a:p>
        </p:txBody>
      </p:sp>
      <p:sp>
        <p:nvSpPr>
          <p:cNvPr id="8" name="object 8"/>
          <p:cNvSpPr/>
          <p:nvPr/>
        </p:nvSpPr>
        <p:spPr>
          <a:xfrm>
            <a:off x="2430779" y="2142744"/>
            <a:ext cx="768350" cy="304800"/>
          </a:xfrm>
          <a:custGeom>
            <a:avLst/>
            <a:gdLst/>
            <a:ahLst/>
            <a:cxnLst/>
            <a:rect l="l" t="t" r="r" b="b"/>
            <a:pathLst>
              <a:path w="768350" h="304800">
                <a:moveTo>
                  <a:pt x="0" y="304800"/>
                </a:moveTo>
                <a:lnTo>
                  <a:pt x="768095" y="304800"/>
                </a:lnTo>
                <a:lnTo>
                  <a:pt x="768095" y="0"/>
                </a:lnTo>
                <a:lnTo>
                  <a:pt x="0" y="0"/>
                </a:lnTo>
                <a:lnTo>
                  <a:pt x="0" y="304800"/>
                </a:lnTo>
                <a:close/>
              </a:path>
            </a:pathLst>
          </a:custGeom>
          <a:ln w="12192">
            <a:solidFill>
              <a:srgbClr val="000000"/>
            </a:solidFill>
          </a:ln>
        </p:spPr>
        <p:txBody>
          <a:bodyPr wrap="square" lIns="0" tIns="0" rIns="0" bIns="0" rtlCol="0"/>
          <a:lstStyle/>
          <a:p>
            <a:endParaRPr/>
          </a:p>
        </p:txBody>
      </p:sp>
      <p:sp>
        <p:nvSpPr>
          <p:cNvPr id="9" name="object 9"/>
          <p:cNvSpPr txBox="1"/>
          <p:nvPr/>
        </p:nvSpPr>
        <p:spPr>
          <a:xfrm>
            <a:off x="2495423" y="2160778"/>
            <a:ext cx="691515" cy="297815"/>
          </a:xfrm>
          <a:prstGeom prst="rect">
            <a:avLst/>
          </a:prstGeom>
        </p:spPr>
        <p:txBody>
          <a:bodyPr vert="horz" wrap="square" lIns="0" tIns="13335" rIns="0" bIns="0" rtlCol="0">
            <a:spAutoFit/>
          </a:bodyPr>
          <a:lstStyle/>
          <a:p>
            <a:pPr marL="20955">
              <a:lnSpc>
                <a:spcPct val="100000"/>
              </a:lnSpc>
              <a:spcBef>
                <a:spcPts val="105"/>
              </a:spcBef>
            </a:pPr>
            <a:r>
              <a:rPr sz="750" b="1" dirty="0">
                <a:latin typeface="Arial"/>
                <a:cs typeface="Arial"/>
              </a:rPr>
              <a:t>3</a:t>
            </a:r>
            <a:r>
              <a:rPr sz="750" b="1" spc="-5" dirty="0">
                <a:latin typeface="Arial"/>
                <a:cs typeface="Arial"/>
              </a:rPr>
              <a:t> </a:t>
            </a:r>
            <a:r>
              <a:rPr sz="750" b="1" dirty="0">
                <a:latin typeface="Arial"/>
                <a:cs typeface="Arial"/>
              </a:rPr>
              <a:t>x 8 </a:t>
            </a:r>
            <a:r>
              <a:rPr sz="750" b="1" spc="-10" dirty="0">
                <a:latin typeface="Arial"/>
                <a:cs typeface="Arial"/>
              </a:rPr>
              <a:t>Decoder</a:t>
            </a:r>
            <a:endParaRPr sz="750">
              <a:latin typeface="Arial"/>
              <a:cs typeface="Arial"/>
            </a:endParaRPr>
          </a:p>
          <a:p>
            <a:pPr>
              <a:lnSpc>
                <a:spcPct val="100000"/>
              </a:lnSpc>
              <a:spcBef>
                <a:spcPts val="515"/>
              </a:spcBef>
            </a:pPr>
            <a:r>
              <a:rPr sz="600" b="1" dirty="0">
                <a:latin typeface="Arial"/>
                <a:cs typeface="Arial"/>
              </a:rPr>
              <a:t>7</a:t>
            </a:r>
            <a:r>
              <a:rPr sz="600" b="1" spc="155" dirty="0">
                <a:latin typeface="Arial"/>
                <a:cs typeface="Arial"/>
              </a:rPr>
              <a:t> </a:t>
            </a:r>
            <a:r>
              <a:rPr sz="600" b="1" dirty="0">
                <a:latin typeface="Arial"/>
                <a:cs typeface="Arial"/>
              </a:rPr>
              <a:t>6</a:t>
            </a:r>
            <a:r>
              <a:rPr sz="600" b="1" spc="155" dirty="0">
                <a:latin typeface="Arial"/>
                <a:cs typeface="Arial"/>
              </a:rPr>
              <a:t> </a:t>
            </a:r>
            <a:r>
              <a:rPr sz="600" b="1" dirty="0">
                <a:latin typeface="Arial"/>
                <a:cs typeface="Arial"/>
              </a:rPr>
              <a:t>5</a:t>
            </a:r>
            <a:r>
              <a:rPr sz="600" b="1" spc="145" dirty="0">
                <a:latin typeface="Arial"/>
                <a:cs typeface="Arial"/>
              </a:rPr>
              <a:t> </a:t>
            </a:r>
            <a:r>
              <a:rPr sz="600" b="1" dirty="0">
                <a:latin typeface="Arial"/>
                <a:cs typeface="Arial"/>
              </a:rPr>
              <a:t>4</a:t>
            </a:r>
            <a:r>
              <a:rPr sz="600" b="1" spc="320" dirty="0">
                <a:latin typeface="Arial"/>
                <a:cs typeface="Arial"/>
              </a:rPr>
              <a:t> </a:t>
            </a:r>
            <a:r>
              <a:rPr sz="600" b="1" dirty="0">
                <a:latin typeface="Arial"/>
                <a:cs typeface="Arial"/>
              </a:rPr>
              <a:t>3</a:t>
            </a:r>
            <a:r>
              <a:rPr sz="600" b="1" spc="320" dirty="0">
                <a:latin typeface="Arial"/>
                <a:cs typeface="Arial"/>
              </a:rPr>
              <a:t> </a:t>
            </a:r>
            <a:r>
              <a:rPr sz="600" b="1" dirty="0">
                <a:latin typeface="Arial"/>
                <a:cs typeface="Arial"/>
              </a:rPr>
              <a:t>2</a:t>
            </a:r>
            <a:r>
              <a:rPr sz="600" b="1" spc="160" dirty="0">
                <a:latin typeface="Arial"/>
                <a:cs typeface="Arial"/>
              </a:rPr>
              <a:t> </a:t>
            </a:r>
            <a:r>
              <a:rPr sz="600" b="1" dirty="0">
                <a:latin typeface="Arial"/>
                <a:cs typeface="Arial"/>
              </a:rPr>
              <a:t>1</a:t>
            </a:r>
            <a:r>
              <a:rPr sz="600" b="1" spc="145" dirty="0">
                <a:latin typeface="Arial"/>
                <a:cs typeface="Arial"/>
              </a:rPr>
              <a:t> </a:t>
            </a:r>
            <a:r>
              <a:rPr sz="600" b="1" spc="-50" dirty="0">
                <a:latin typeface="Arial"/>
                <a:cs typeface="Arial"/>
              </a:rPr>
              <a:t>0</a:t>
            </a:r>
            <a:endParaRPr sz="600">
              <a:latin typeface="Arial"/>
              <a:cs typeface="Arial"/>
            </a:endParaRPr>
          </a:p>
        </p:txBody>
      </p:sp>
      <p:grpSp>
        <p:nvGrpSpPr>
          <p:cNvPr id="10" name="object 10"/>
          <p:cNvGrpSpPr/>
          <p:nvPr/>
        </p:nvGrpSpPr>
        <p:grpSpPr>
          <a:xfrm>
            <a:off x="2198877" y="1889505"/>
            <a:ext cx="2524760" cy="1325245"/>
            <a:chOff x="2198877" y="1889505"/>
            <a:chExt cx="2524760" cy="1325245"/>
          </a:xfrm>
        </p:grpSpPr>
        <p:sp>
          <p:nvSpPr>
            <p:cNvPr id="11" name="object 11"/>
            <p:cNvSpPr/>
            <p:nvPr/>
          </p:nvSpPr>
          <p:spPr>
            <a:xfrm>
              <a:off x="2511552" y="2452115"/>
              <a:ext cx="0" cy="264160"/>
            </a:xfrm>
            <a:custGeom>
              <a:avLst/>
              <a:gdLst/>
              <a:ahLst/>
              <a:cxnLst/>
              <a:rect l="l" t="t" r="r" b="b"/>
              <a:pathLst>
                <a:path h="264160">
                  <a:moveTo>
                    <a:pt x="0" y="0"/>
                  </a:moveTo>
                  <a:lnTo>
                    <a:pt x="0" y="263651"/>
                  </a:lnTo>
                </a:path>
              </a:pathLst>
            </a:custGeom>
            <a:ln w="12192">
              <a:solidFill>
                <a:srgbClr val="000000"/>
              </a:solidFill>
            </a:ln>
          </p:spPr>
          <p:txBody>
            <a:bodyPr wrap="square" lIns="0" tIns="0" rIns="0" bIns="0" rtlCol="0"/>
            <a:lstStyle/>
            <a:p>
              <a:endParaRPr/>
            </a:p>
          </p:txBody>
        </p:sp>
        <p:sp>
          <p:nvSpPr>
            <p:cNvPr id="12" name="object 12"/>
            <p:cNvSpPr/>
            <p:nvPr/>
          </p:nvSpPr>
          <p:spPr>
            <a:xfrm>
              <a:off x="2575559" y="2519172"/>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3"/>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13" name="object 13"/>
            <p:cNvSpPr/>
            <p:nvPr/>
          </p:nvSpPr>
          <p:spPr>
            <a:xfrm>
              <a:off x="2602991" y="2452115"/>
              <a:ext cx="0" cy="71755"/>
            </a:xfrm>
            <a:custGeom>
              <a:avLst/>
              <a:gdLst/>
              <a:ahLst/>
              <a:cxnLst/>
              <a:rect l="l" t="t" r="r" b="b"/>
              <a:pathLst>
                <a:path h="71755">
                  <a:moveTo>
                    <a:pt x="0" y="0"/>
                  </a:moveTo>
                  <a:lnTo>
                    <a:pt x="0" y="71627"/>
                  </a:lnTo>
                </a:path>
              </a:pathLst>
            </a:custGeom>
            <a:ln w="12192">
              <a:solidFill>
                <a:srgbClr val="000000"/>
              </a:solidFill>
            </a:ln>
          </p:spPr>
          <p:txBody>
            <a:bodyPr wrap="square" lIns="0" tIns="0" rIns="0" bIns="0" rtlCol="0"/>
            <a:lstStyle/>
            <a:p>
              <a:endParaRPr/>
            </a:p>
          </p:txBody>
        </p:sp>
        <p:sp>
          <p:nvSpPr>
            <p:cNvPr id="14" name="object 14"/>
            <p:cNvSpPr/>
            <p:nvPr/>
          </p:nvSpPr>
          <p:spPr>
            <a:xfrm>
              <a:off x="2659379" y="2519172"/>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3"/>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15" name="object 15"/>
            <p:cNvSpPr/>
            <p:nvPr/>
          </p:nvSpPr>
          <p:spPr>
            <a:xfrm>
              <a:off x="2688336" y="2452115"/>
              <a:ext cx="0" cy="74930"/>
            </a:xfrm>
            <a:custGeom>
              <a:avLst/>
              <a:gdLst/>
              <a:ahLst/>
              <a:cxnLst/>
              <a:rect l="l" t="t" r="r" b="b"/>
              <a:pathLst>
                <a:path h="74930">
                  <a:moveTo>
                    <a:pt x="0" y="0"/>
                  </a:moveTo>
                  <a:lnTo>
                    <a:pt x="0" y="74675"/>
                  </a:lnTo>
                </a:path>
              </a:pathLst>
            </a:custGeom>
            <a:ln w="12192">
              <a:solidFill>
                <a:srgbClr val="000000"/>
              </a:solidFill>
            </a:ln>
          </p:spPr>
          <p:txBody>
            <a:bodyPr wrap="square" lIns="0" tIns="0" rIns="0" bIns="0" rtlCol="0"/>
            <a:lstStyle/>
            <a:p>
              <a:endParaRPr/>
            </a:p>
          </p:txBody>
        </p:sp>
        <p:sp>
          <p:nvSpPr>
            <p:cNvPr id="16" name="object 16"/>
            <p:cNvSpPr/>
            <p:nvPr/>
          </p:nvSpPr>
          <p:spPr>
            <a:xfrm>
              <a:off x="2743200" y="2519172"/>
              <a:ext cx="59690" cy="50800"/>
            </a:xfrm>
            <a:custGeom>
              <a:avLst/>
              <a:gdLst/>
              <a:ahLst/>
              <a:cxnLst/>
              <a:rect l="l" t="t" r="r" b="b"/>
              <a:pathLst>
                <a:path w="59689" h="50800">
                  <a:moveTo>
                    <a:pt x="30099" y="0"/>
                  </a:moveTo>
                  <a:lnTo>
                    <a:pt x="22342" y="281"/>
                  </a:lnTo>
                  <a:lnTo>
                    <a:pt x="14716" y="1111"/>
                  </a:lnTo>
                  <a:lnTo>
                    <a:pt x="7256" y="2464"/>
                  </a:lnTo>
                  <a:lnTo>
                    <a:pt x="0" y="4318"/>
                  </a:lnTo>
                  <a:lnTo>
                    <a:pt x="30099" y="50292"/>
                  </a:lnTo>
                  <a:lnTo>
                    <a:pt x="59436" y="4063"/>
                  </a:lnTo>
                  <a:lnTo>
                    <a:pt x="52369" y="2303"/>
                  </a:lnTo>
                  <a:lnTo>
                    <a:pt x="45100" y="1031"/>
                  </a:lnTo>
                  <a:lnTo>
                    <a:pt x="37665" y="259"/>
                  </a:lnTo>
                  <a:lnTo>
                    <a:pt x="30099" y="0"/>
                  </a:lnTo>
                  <a:close/>
                </a:path>
              </a:pathLst>
            </a:custGeom>
            <a:solidFill>
              <a:srgbClr val="000000"/>
            </a:solidFill>
          </p:spPr>
          <p:txBody>
            <a:bodyPr wrap="square" lIns="0" tIns="0" rIns="0" bIns="0" rtlCol="0"/>
            <a:lstStyle/>
            <a:p>
              <a:endParaRPr/>
            </a:p>
          </p:txBody>
        </p:sp>
        <p:sp>
          <p:nvSpPr>
            <p:cNvPr id="17" name="object 17"/>
            <p:cNvSpPr/>
            <p:nvPr/>
          </p:nvSpPr>
          <p:spPr>
            <a:xfrm>
              <a:off x="2772155" y="2452115"/>
              <a:ext cx="0" cy="78105"/>
            </a:xfrm>
            <a:custGeom>
              <a:avLst/>
              <a:gdLst/>
              <a:ahLst/>
              <a:cxnLst/>
              <a:rect l="l" t="t" r="r" b="b"/>
              <a:pathLst>
                <a:path h="78105">
                  <a:moveTo>
                    <a:pt x="0" y="0"/>
                  </a:moveTo>
                  <a:lnTo>
                    <a:pt x="0" y="77724"/>
                  </a:lnTo>
                </a:path>
              </a:pathLst>
            </a:custGeom>
            <a:ln w="12192">
              <a:solidFill>
                <a:srgbClr val="000000"/>
              </a:solidFill>
            </a:ln>
          </p:spPr>
          <p:txBody>
            <a:bodyPr wrap="square" lIns="0" tIns="0" rIns="0" bIns="0" rtlCol="0"/>
            <a:lstStyle/>
            <a:p>
              <a:endParaRPr/>
            </a:p>
          </p:txBody>
        </p:sp>
        <p:sp>
          <p:nvSpPr>
            <p:cNvPr id="18" name="object 18"/>
            <p:cNvSpPr/>
            <p:nvPr/>
          </p:nvSpPr>
          <p:spPr>
            <a:xfrm>
              <a:off x="2836163" y="2519172"/>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3"/>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19" name="object 19"/>
            <p:cNvSpPr/>
            <p:nvPr/>
          </p:nvSpPr>
          <p:spPr>
            <a:xfrm>
              <a:off x="2865119" y="2452115"/>
              <a:ext cx="0" cy="78105"/>
            </a:xfrm>
            <a:custGeom>
              <a:avLst/>
              <a:gdLst/>
              <a:ahLst/>
              <a:cxnLst/>
              <a:rect l="l" t="t" r="r" b="b"/>
              <a:pathLst>
                <a:path h="78105">
                  <a:moveTo>
                    <a:pt x="0" y="0"/>
                  </a:moveTo>
                  <a:lnTo>
                    <a:pt x="0" y="77724"/>
                  </a:lnTo>
                </a:path>
              </a:pathLst>
            </a:custGeom>
            <a:ln w="12192">
              <a:solidFill>
                <a:srgbClr val="000000"/>
              </a:solidFill>
            </a:ln>
          </p:spPr>
          <p:txBody>
            <a:bodyPr wrap="square" lIns="0" tIns="0" rIns="0" bIns="0" rtlCol="0"/>
            <a:lstStyle/>
            <a:p>
              <a:endParaRPr/>
            </a:p>
          </p:txBody>
        </p:sp>
        <p:sp>
          <p:nvSpPr>
            <p:cNvPr id="20" name="object 20"/>
            <p:cNvSpPr/>
            <p:nvPr/>
          </p:nvSpPr>
          <p:spPr>
            <a:xfrm>
              <a:off x="2933700" y="2519172"/>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3"/>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21" name="object 21"/>
            <p:cNvSpPr/>
            <p:nvPr/>
          </p:nvSpPr>
          <p:spPr>
            <a:xfrm>
              <a:off x="2965704" y="2449068"/>
              <a:ext cx="0" cy="81280"/>
            </a:xfrm>
            <a:custGeom>
              <a:avLst/>
              <a:gdLst/>
              <a:ahLst/>
              <a:cxnLst/>
              <a:rect l="l" t="t" r="r" b="b"/>
              <a:pathLst>
                <a:path h="81280">
                  <a:moveTo>
                    <a:pt x="0" y="0"/>
                  </a:moveTo>
                  <a:lnTo>
                    <a:pt x="0" y="80772"/>
                  </a:lnTo>
                </a:path>
              </a:pathLst>
            </a:custGeom>
            <a:ln w="12192">
              <a:solidFill>
                <a:srgbClr val="000000"/>
              </a:solidFill>
            </a:ln>
          </p:spPr>
          <p:txBody>
            <a:bodyPr wrap="square" lIns="0" tIns="0" rIns="0" bIns="0" rtlCol="0"/>
            <a:lstStyle/>
            <a:p>
              <a:endParaRPr/>
            </a:p>
          </p:txBody>
        </p:sp>
        <p:sp>
          <p:nvSpPr>
            <p:cNvPr id="22" name="object 22"/>
            <p:cNvSpPr/>
            <p:nvPr/>
          </p:nvSpPr>
          <p:spPr>
            <a:xfrm>
              <a:off x="3017519" y="2519172"/>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3"/>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23" name="object 23"/>
            <p:cNvSpPr/>
            <p:nvPr/>
          </p:nvSpPr>
          <p:spPr>
            <a:xfrm>
              <a:off x="3052572" y="2446019"/>
              <a:ext cx="68580" cy="128270"/>
            </a:xfrm>
            <a:custGeom>
              <a:avLst/>
              <a:gdLst/>
              <a:ahLst/>
              <a:cxnLst/>
              <a:rect l="l" t="t" r="r" b="b"/>
              <a:pathLst>
                <a:path w="68580" h="128269">
                  <a:moveTo>
                    <a:pt x="0" y="6096"/>
                  </a:moveTo>
                  <a:lnTo>
                    <a:pt x="0" y="83820"/>
                  </a:lnTo>
                </a:path>
                <a:path w="68580" h="128269">
                  <a:moveTo>
                    <a:pt x="68579" y="0"/>
                  </a:moveTo>
                  <a:lnTo>
                    <a:pt x="68579" y="128015"/>
                  </a:lnTo>
                </a:path>
              </a:pathLst>
            </a:custGeom>
            <a:ln w="12192">
              <a:solidFill>
                <a:srgbClr val="000000"/>
              </a:solidFill>
            </a:ln>
          </p:spPr>
          <p:txBody>
            <a:bodyPr wrap="square" lIns="0" tIns="0" rIns="0" bIns="0" rtlCol="0"/>
            <a:lstStyle/>
            <a:p>
              <a:endParaRPr/>
            </a:p>
          </p:txBody>
        </p:sp>
        <p:sp>
          <p:nvSpPr>
            <p:cNvPr id="24" name="object 24"/>
            <p:cNvSpPr/>
            <p:nvPr/>
          </p:nvSpPr>
          <p:spPr>
            <a:xfrm>
              <a:off x="2529839" y="2084831"/>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4"/>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25" name="object 25"/>
            <p:cNvSpPr/>
            <p:nvPr/>
          </p:nvSpPr>
          <p:spPr>
            <a:xfrm>
              <a:off x="2558795" y="1903475"/>
              <a:ext cx="0" cy="218440"/>
            </a:xfrm>
            <a:custGeom>
              <a:avLst/>
              <a:gdLst/>
              <a:ahLst/>
              <a:cxnLst/>
              <a:rect l="l" t="t" r="r" b="b"/>
              <a:pathLst>
                <a:path h="218439">
                  <a:moveTo>
                    <a:pt x="0" y="0"/>
                  </a:moveTo>
                  <a:lnTo>
                    <a:pt x="0" y="217931"/>
                  </a:lnTo>
                </a:path>
              </a:pathLst>
            </a:custGeom>
            <a:ln w="12192">
              <a:solidFill>
                <a:srgbClr val="000000"/>
              </a:solidFill>
            </a:ln>
          </p:spPr>
          <p:txBody>
            <a:bodyPr wrap="square" lIns="0" tIns="0" rIns="0" bIns="0" rtlCol="0"/>
            <a:lstStyle/>
            <a:p>
              <a:endParaRPr/>
            </a:p>
          </p:txBody>
        </p:sp>
        <p:sp>
          <p:nvSpPr>
            <p:cNvPr id="26" name="object 26"/>
            <p:cNvSpPr/>
            <p:nvPr/>
          </p:nvSpPr>
          <p:spPr>
            <a:xfrm>
              <a:off x="2743200" y="2084831"/>
              <a:ext cx="59690" cy="50800"/>
            </a:xfrm>
            <a:custGeom>
              <a:avLst/>
              <a:gdLst/>
              <a:ahLst/>
              <a:cxnLst/>
              <a:rect l="l" t="t" r="r" b="b"/>
              <a:pathLst>
                <a:path w="59689" h="50800">
                  <a:moveTo>
                    <a:pt x="30099" y="0"/>
                  </a:moveTo>
                  <a:lnTo>
                    <a:pt x="22342" y="281"/>
                  </a:lnTo>
                  <a:lnTo>
                    <a:pt x="14716" y="1111"/>
                  </a:lnTo>
                  <a:lnTo>
                    <a:pt x="7256" y="2464"/>
                  </a:lnTo>
                  <a:lnTo>
                    <a:pt x="0" y="4318"/>
                  </a:lnTo>
                  <a:lnTo>
                    <a:pt x="30099" y="50292"/>
                  </a:lnTo>
                  <a:lnTo>
                    <a:pt x="59436" y="4064"/>
                  </a:lnTo>
                  <a:lnTo>
                    <a:pt x="52369" y="2303"/>
                  </a:lnTo>
                  <a:lnTo>
                    <a:pt x="45100" y="1031"/>
                  </a:lnTo>
                  <a:lnTo>
                    <a:pt x="37665" y="259"/>
                  </a:lnTo>
                  <a:lnTo>
                    <a:pt x="30099" y="0"/>
                  </a:lnTo>
                  <a:close/>
                </a:path>
              </a:pathLst>
            </a:custGeom>
            <a:solidFill>
              <a:srgbClr val="000000"/>
            </a:solidFill>
          </p:spPr>
          <p:txBody>
            <a:bodyPr wrap="square" lIns="0" tIns="0" rIns="0" bIns="0" rtlCol="0"/>
            <a:lstStyle/>
            <a:p>
              <a:endParaRPr/>
            </a:p>
          </p:txBody>
        </p:sp>
        <p:sp>
          <p:nvSpPr>
            <p:cNvPr id="27" name="object 27"/>
            <p:cNvSpPr/>
            <p:nvPr/>
          </p:nvSpPr>
          <p:spPr>
            <a:xfrm>
              <a:off x="2772155" y="1895855"/>
              <a:ext cx="0" cy="218440"/>
            </a:xfrm>
            <a:custGeom>
              <a:avLst/>
              <a:gdLst/>
              <a:ahLst/>
              <a:cxnLst/>
              <a:rect l="l" t="t" r="r" b="b"/>
              <a:pathLst>
                <a:path h="218439">
                  <a:moveTo>
                    <a:pt x="0" y="0"/>
                  </a:moveTo>
                  <a:lnTo>
                    <a:pt x="0" y="217932"/>
                  </a:lnTo>
                </a:path>
              </a:pathLst>
            </a:custGeom>
            <a:ln w="12192">
              <a:solidFill>
                <a:srgbClr val="000000"/>
              </a:solidFill>
            </a:ln>
          </p:spPr>
          <p:txBody>
            <a:bodyPr wrap="square" lIns="0" tIns="0" rIns="0" bIns="0" rtlCol="0"/>
            <a:lstStyle/>
            <a:p>
              <a:endParaRPr/>
            </a:p>
          </p:txBody>
        </p:sp>
        <p:sp>
          <p:nvSpPr>
            <p:cNvPr id="28" name="object 28"/>
            <p:cNvSpPr/>
            <p:nvPr/>
          </p:nvSpPr>
          <p:spPr>
            <a:xfrm>
              <a:off x="2965704" y="2084831"/>
              <a:ext cx="58419" cy="50800"/>
            </a:xfrm>
            <a:custGeom>
              <a:avLst/>
              <a:gdLst/>
              <a:ahLst/>
              <a:cxnLst/>
              <a:rect l="l" t="t" r="r" b="b"/>
              <a:pathLst>
                <a:path w="58419" h="50800">
                  <a:moveTo>
                    <a:pt x="29337" y="0"/>
                  </a:moveTo>
                  <a:lnTo>
                    <a:pt x="21824" y="281"/>
                  </a:lnTo>
                  <a:lnTo>
                    <a:pt x="14382" y="1111"/>
                  </a:lnTo>
                  <a:lnTo>
                    <a:pt x="7084" y="2464"/>
                  </a:lnTo>
                  <a:lnTo>
                    <a:pt x="0" y="4318"/>
                  </a:lnTo>
                  <a:lnTo>
                    <a:pt x="29337" y="50292"/>
                  </a:lnTo>
                  <a:lnTo>
                    <a:pt x="57912" y="4064"/>
                  </a:lnTo>
                  <a:lnTo>
                    <a:pt x="51018" y="2303"/>
                  </a:lnTo>
                  <a:lnTo>
                    <a:pt x="43910" y="1031"/>
                  </a:lnTo>
                  <a:lnTo>
                    <a:pt x="36659" y="259"/>
                  </a:lnTo>
                  <a:lnTo>
                    <a:pt x="29337" y="0"/>
                  </a:lnTo>
                  <a:close/>
                </a:path>
              </a:pathLst>
            </a:custGeom>
            <a:solidFill>
              <a:srgbClr val="000000"/>
            </a:solidFill>
          </p:spPr>
          <p:txBody>
            <a:bodyPr wrap="square" lIns="0" tIns="0" rIns="0" bIns="0" rtlCol="0"/>
            <a:lstStyle/>
            <a:p>
              <a:endParaRPr/>
            </a:p>
          </p:txBody>
        </p:sp>
        <p:sp>
          <p:nvSpPr>
            <p:cNvPr id="29" name="object 29"/>
            <p:cNvSpPr/>
            <p:nvPr/>
          </p:nvSpPr>
          <p:spPr>
            <a:xfrm>
              <a:off x="2994659" y="1897379"/>
              <a:ext cx="0" cy="218440"/>
            </a:xfrm>
            <a:custGeom>
              <a:avLst/>
              <a:gdLst/>
              <a:ahLst/>
              <a:cxnLst/>
              <a:rect l="l" t="t" r="r" b="b"/>
              <a:pathLst>
                <a:path h="218439">
                  <a:moveTo>
                    <a:pt x="0" y="0"/>
                  </a:moveTo>
                  <a:lnTo>
                    <a:pt x="0" y="217931"/>
                  </a:lnTo>
                </a:path>
              </a:pathLst>
            </a:custGeom>
            <a:ln w="12192">
              <a:solidFill>
                <a:srgbClr val="000000"/>
              </a:solidFill>
            </a:ln>
          </p:spPr>
          <p:txBody>
            <a:bodyPr wrap="square" lIns="0" tIns="0" rIns="0" bIns="0" rtlCol="0"/>
            <a:lstStyle/>
            <a:p>
              <a:endParaRPr/>
            </a:p>
          </p:txBody>
        </p:sp>
        <p:sp>
          <p:nvSpPr>
            <p:cNvPr id="30" name="object 30"/>
            <p:cNvSpPr/>
            <p:nvPr/>
          </p:nvSpPr>
          <p:spPr>
            <a:xfrm>
              <a:off x="2205227" y="2223515"/>
              <a:ext cx="2512060" cy="984885"/>
            </a:xfrm>
            <a:custGeom>
              <a:avLst/>
              <a:gdLst/>
              <a:ahLst/>
              <a:cxnLst/>
              <a:rect l="l" t="t" r="r" b="b"/>
              <a:pathLst>
                <a:path w="2512060" h="984885">
                  <a:moveTo>
                    <a:pt x="1743456" y="984503"/>
                  </a:moveTo>
                  <a:lnTo>
                    <a:pt x="2511552" y="984503"/>
                  </a:lnTo>
                  <a:lnTo>
                    <a:pt x="2511552" y="0"/>
                  </a:lnTo>
                  <a:lnTo>
                    <a:pt x="1743456" y="0"/>
                  </a:lnTo>
                  <a:lnTo>
                    <a:pt x="1743456" y="984503"/>
                  </a:lnTo>
                  <a:close/>
                </a:path>
                <a:path w="2512060" h="984885">
                  <a:moveTo>
                    <a:pt x="0" y="423671"/>
                  </a:moveTo>
                  <a:lnTo>
                    <a:pt x="108204" y="423671"/>
                  </a:lnTo>
                  <a:lnTo>
                    <a:pt x="108204" y="321563"/>
                  </a:lnTo>
                  <a:lnTo>
                    <a:pt x="0" y="321563"/>
                  </a:lnTo>
                  <a:lnTo>
                    <a:pt x="0" y="423671"/>
                  </a:lnTo>
                  <a:close/>
                </a:path>
              </a:pathLst>
            </a:custGeom>
            <a:ln w="12192">
              <a:solidFill>
                <a:srgbClr val="000000"/>
              </a:solidFill>
            </a:ln>
          </p:spPr>
          <p:txBody>
            <a:bodyPr wrap="square" lIns="0" tIns="0" rIns="0" bIns="0" rtlCol="0"/>
            <a:lstStyle/>
            <a:p>
              <a:endParaRPr/>
            </a:p>
          </p:txBody>
        </p:sp>
      </p:grpSp>
      <p:sp>
        <p:nvSpPr>
          <p:cNvPr id="31" name="object 31"/>
          <p:cNvSpPr txBox="1"/>
          <p:nvPr/>
        </p:nvSpPr>
        <p:spPr>
          <a:xfrm>
            <a:off x="2238120" y="2537206"/>
            <a:ext cx="34290" cy="116839"/>
          </a:xfrm>
          <a:prstGeom prst="rect">
            <a:avLst/>
          </a:prstGeom>
        </p:spPr>
        <p:txBody>
          <a:bodyPr vert="horz" wrap="square" lIns="0" tIns="12700" rIns="0" bIns="0" rtlCol="0">
            <a:spAutoFit/>
          </a:bodyPr>
          <a:lstStyle/>
          <a:p>
            <a:pPr>
              <a:lnSpc>
                <a:spcPct val="100000"/>
              </a:lnSpc>
              <a:spcBef>
                <a:spcPts val="100"/>
              </a:spcBef>
            </a:pPr>
            <a:r>
              <a:rPr sz="600" b="1" spc="-50" dirty="0">
                <a:latin typeface="Arial"/>
                <a:cs typeface="Arial"/>
              </a:rPr>
              <a:t>I</a:t>
            </a:r>
            <a:endParaRPr sz="600">
              <a:latin typeface="Arial"/>
              <a:cs typeface="Arial"/>
            </a:endParaRPr>
          </a:p>
        </p:txBody>
      </p:sp>
      <p:grpSp>
        <p:nvGrpSpPr>
          <p:cNvPr id="32" name="object 32"/>
          <p:cNvGrpSpPr/>
          <p:nvPr/>
        </p:nvGrpSpPr>
        <p:grpSpPr>
          <a:xfrm>
            <a:off x="2221992" y="1897126"/>
            <a:ext cx="1724025" cy="1631314"/>
            <a:chOff x="2221992" y="1897126"/>
            <a:chExt cx="1724025" cy="1631314"/>
          </a:xfrm>
        </p:grpSpPr>
        <p:sp>
          <p:nvSpPr>
            <p:cNvPr id="33" name="object 33"/>
            <p:cNvSpPr/>
            <p:nvPr/>
          </p:nvSpPr>
          <p:spPr>
            <a:xfrm>
              <a:off x="2221992" y="2488692"/>
              <a:ext cx="58419" cy="48895"/>
            </a:xfrm>
            <a:custGeom>
              <a:avLst/>
              <a:gdLst/>
              <a:ahLst/>
              <a:cxnLst/>
              <a:rect l="l" t="t" r="r" b="b"/>
              <a:pathLst>
                <a:path w="58419" h="48894">
                  <a:moveTo>
                    <a:pt x="29337" y="0"/>
                  </a:moveTo>
                  <a:lnTo>
                    <a:pt x="21824" y="261"/>
                  </a:lnTo>
                  <a:lnTo>
                    <a:pt x="14382" y="1047"/>
                  </a:lnTo>
                  <a:lnTo>
                    <a:pt x="7084" y="2357"/>
                  </a:lnTo>
                  <a:lnTo>
                    <a:pt x="0" y="4190"/>
                  </a:lnTo>
                  <a:lnTo>
                    <a:pt x="29337" y="48767"/>
                  </a:lnTo>
                  <a:lnTo>
                    <a:pt x="57912" y="3936"/>
                  </a:lnTo>
                  <a:lnTo>
                    <a:pt x="51018" y="2250"/>
                  </a:lnTo>
                  <a:lnTo>
                    <a:pt x="43910" y="1016"/>
                  </a:lnTo>
                  <a:lnTo>
                    <a:pt x="36659" y="257"/>
                  </a:lnTo>
                  <a:lnTo>
                    <a:pt x="29337" y="0"/>
                  </a:lnTo>
                  <a:close/>
                </a:path>
              </a:pathLst>
            </a:custGeom>
            <a:solidFill>
              <a:srgbClr val="000000"/>
            </a:solidFill>
          </p:spPr>
          <p:txBody>
            <a:bodyPr wrap="square" lIns="0" tIns="0" rIns="0" bIns="0" rtlCol="0"/>
            <a:lstStyle/>
            <a:p>
              <a:endParaRPr/>
            </a:p>
          </p:txBody>
        </p:sp>
        <p:sp>
          <p:nvSpPr>
            <p:cNvPr id="34" name="object 34"/>
            <p:cNvSpPr/>
            <p:nvPr/>
          </p:nvSpPr>
          <p:spPr>
            <a:xfrm>
              <a:off x="2246376" y="1903476"/>
              <a:ext cx="0" cy="611505"/>
            </a:xfrm>
            <a:custGeom>
              <a:avLst/>
              <a:gdLst/>
              <a:ahLst/>
              <a:cxnLst/>
              <a:rect l="l" t="t" r="r" b="b"/>
              <a:pathLst>
                <a:path h="611505">
                  <a:moveTo>
                    <a:pt x="0" y="0"/>
                  </a:moveTo>
                  <a:lnTo>
                    <a:pt x="0" y="611124"/>
                  </a:lnTo>
                </a:path>
              </a:pathLst>
            </a:custGeom>
            <a:ln w="12192">
              <a:solidFill>
                <a:srgbClr val="000000"/>
              </a:solidFill>
            </a:ln>
          </p:spPr>
          <p:txBody>
            <a:bodyPr wrap="square" lIns="0" tIns="0" rIns="0" bIns="0" rtlCol="0"/>
            <a:lstStyle/>
            <a:p>
              <a:endParaRPr/>
            </a:p>
          </p:txBody>
        </p:sp>
        <p:sp>
          <p:nvSpPr>
            <p:cNvPr id="35" name="object 35"/>
            <p:cNvSpPr/>
            <p:nvPr/>
          </p:nvSpPr>
          <p:spPr>
            <a:xfrm>
              <a:off x="3874008" y="2555748"/>
              <a:ext cx="71755" cy="40005"/>
            </a:xfrm>
            <a:custGeom>
              <a:avLst/>
              <a:gdLst/>
              <a:ahLst/>
              <a:cxnLst/>
              <a:rect l="l" t="t" r="r" b="b"/>
              <a:pathLst>
                <a:path w="71754" h="40005">
                  <a:moveTo>
                    <a:pt x="6095" y="0"/>
                  </a:moveTo>
                  <a:lnTo>
                    <a:pt x="2031" y="6350"/>
                  </a:lnTo>
                  <a:lnTo>
                    <a:pt x="0" y="13207"/>
                  </a:lnTo>
                  <a:lnTo>
                    <a:pt x="0" y="26797"/>
                  </a:lnTo>
                  <a:lnTo>
                    <a:pt x="2031" y="33400"/>
                  </a:lnTo>
                  <a:lnTo>
                    <a:pt x="5841" y="39624"/>
                  </a:lnTo>
                  <a:lnTo>
                    <a:pt x="71627" y="20066"/>
                  </a:lnTo>
                  <a:lnTo>
                    <a:pt x="6095" y="0"/>
                  </a:lnTo>
                  <a:close/>
                </a:path>
              </a:pathLst>
            </a:custGeom>
            <a:solidFill>
              <a:srgbClr val="000000"/>
            </a:solidFill>
          </p:spPr>
          <p:txBody>
            <a:bodyPr wrap="square" lIns="0" tIns="0" rIns="0" bIns="0" rtlCol="0"/>
            <a:lstStyle/>
            <a:p>
              <a:endParaRPr/>
            </a:p>
          </p:txBody>
        </p:sp>
        <p:sp>
          <p:nvSpPr>
            <p:cNvPr id="36" name="object 36"/>
            <p:cNvSpPr/>
            <p:nvPr/>
          </p:nvSpPr>
          <p:spPr>
            <a:xfrm>
              <a:off x="3128772" y="2574036"/>
              <a:ext cx="744220" cy="0"/>
            </a:xfrm>
            <a:custGeom>
              <a:avLst/>
              <a:gdLst/>
              <a:ahLst/>
              <a:cxnLst/>
              <a:rect l="l" t="t" r="r" b="b"/>
              <a:pathLst>
                <a:path w="744220">
                  <a:moveTo>
                    <a:pt x="0" y="0"/>
                  </a:moveTo>
                  <a:lnTo>
                    <a:pt x="743712" y="0"/>
                  </a:lnTo>
                </a:path>
              </a:pathLst>
            </a:custGeom>
            <a:ln w="12192">
              <a:solidFill>
                <a:srgbClr val="000000"/>
              </a:solidFill>
            </a:ln>
          </p:spPr>
          <p:txBody>
            <a:bodyPr wrap="square" lIns="0" tIns="0" rIns="0" bIns="0" rtlCol="0"/>
            <a:lstStyle/>
            <a:p>
              <a:endParaRPr/>
            </a:p>
          </p:txBody>
        </p:sp>
        <p:sp>
          <p:nvSpPr>
            <p:cNvPr id="37" name="object 37"/>
            <p:cNvSpPr/>
            <p:nvPr/>
          </p:nvSpPr>
          <p:spPr>
            <a:xfrm>
              <a:off x="3874008" y="2700527"/>
              <a:ext cx="71755" cy="158750"/>
            </a:xfrm>
            <a:custGeom>
              <a:avLst/>
              <a:gdLst/>
              <a:ahLst/>
              <a:cxnLst/>
              <a:rect l="l" t="t" r="r" b="b"/>
              <a:pathLst>
                <a:path w="71754" h="158750">
                  <a:moveTo>
                    <a:pt x="71628" y="138938"/>
                  </a:moveTo>
                  <a:lnTo>
                    <a:pt x="6096" y="118872"/>
                  </a:lnTo>
                  <a:lnTo>
                    <a:pt x="2032" y="125222"/>
                  </a:lnTo>
                  <a:lnTo>
                    <a:pt x="0" y="132080"/>
                  </a:lnTo>
                  <a:lnTo>
                    <a:pt x="0" y="145669"/>
                  </a:lnTo>
                  <a:lnTo>
                    <a:pt x="2032" y="152273"/>
                  </a:lnTo>
                  <a:lnTo>
                    <a:pt x="5842" y="158496"/>
                  </a:lnTo>
                  <a:lnTo>
                    <a:pt x="71628" y="138938"/>
                  </a:lnTo>
                  <a:close/>
                </a:path>
                <a:path w="71754" h="158750">
                  <a:moveTo>
                    <a:pt x="71628" y="20066"/>
                  </a:moveTo>
                  <a:lnTo>
                    <a:pt x="6096" y="0"/>
                  </a:lnTo>
                  <a:lnTo>
                    <a:pt x="2032" y="6350"/>
                  </a:lnTo>
                  <a:lnTo>
                    <a:pt x="0" y="13208"/>
                  </a:lnTo>
                  <a:lnTo>
                    <a:pt x="0" y="26797"/>
                  </a:lnTo>
                  <a:lnTo>
                    <a:pt x="2032" y="33401"/>
                  </a:lnTo>
                  <a:lnTo>
                    <a:pt x="5842" y="39624"/>
                  </a:lnTo>
                  <a:lnTo>
                    <a:pt x="71628" y="20066"/>
                  </a:lnTo>
                  <a:close/>
                </a:path>
              </a:pathLst>
            </a:custGeom>
            <a:solidFill>
              <a:srgbClr val="000000"/>
            </a:solidFill>
          </p:spPr>
          <p:txBody>
            <a:bodyPr wrap="square" lIns="0" tIns="0" rIns="0" bIns="0" rtlCol="0"/>
            <a:lstStyle/>
            <a:p>
              <a:endParaRPr/>
            </a:p>
          </p:txBody>
        </p:sp>
        <p:sp>
          <p:nvSpPr>
            <p:cNvPr id="38" name="object 38"/>
            <p:cNvSpPr/>
            <p:nvPr/>
          </p:nvSpPr>
          <p:spPr>
            <a:xfrm>
              <a:off x="2250948" y="2837688"/>
              <a:ext cx="1621790" cy="0"/>
            </a:xfrm>
            <a:custGeom>
              <a:avLst/>
              <a:gdLst/>
              <a:ahLst/>
              <a:cxnLst/>
              <a:rect l="l" t="t" r="r" b="b"/>
              <a:pathLst>
                <a:path w="1621789">
                  <a:moveTo>
                    <a:pt x="0" y="0"/>
                  </a:moveTo>
                  <a:lnTo>
                    <a:pt x="1621536" y="0"/>
                  </a:lnTo>
                </a:path>
              </a:pathLst>
            </a:custGeom>
            <a:ln w="12192">
              <a:solidFill>
                <a:srgbClr val="000000"/>
              </a:solidFill>
            </a:ln>
          </p:spPr>
          <p:txBody>
            <a:bodyPr wrap="square" lIns="0" tIns="0" rIns="0" bIns="0" rtlCol="0"/>
            <a:lstStyle/>
            <a:p>
              <a:endParaRPr/>
            </a:p>
          </p:txBody>
        </p:sp>
        <p:sp>
          <p:nvSpPr>
            <p:cNvPr id="39" name="object 39"/>
            <p:cNvSpPr/>
            <p:nvPr/>
          </p:nvSpPr>
          <p:spPr>
            <a:xfrm>
              <a:off x="3874008" y="2933700"/>
              <a:ext cx="71755" cy="40005"/>
            </a:xfrm>
            <a:custGeom>
              <a:avLst/>
              <a:gdLst/>
              <a:ahLst/>
              <a:cxnLst/>
              <a:rect l="l" t="t" r="r" b="b"/>
              <a:pathLst>
                <a:path w="71754" h="40005">
                  <a:moveTo>
                    <a:pt x="6095" y="0"/>
                  </a:moveTo>
                  <a:lnTo>
                    <a:pt x="2031" y="6350"/>
                  </a:lnTo>
                  <a:lnTo>
                    <a:pt x="0" y="13208"/>
                  </a:lnTo>
                  <a:lnTo>
                    <a:pt x="0" y="26797"/>
                  </a:lnTo>
                  <a:lnTo>
                    <a:pt x="2031" y="33400"/>
                  </a:lnTo>
                  <a:lnTo>
                    <a:pt x="5841" y="39624"/>
                  </a:lnTo>
                  <a:lnTo>
                    <a:pt x="71627" y="20065"/>
                  </a:lnTo>
                  <a:lnTo>
                    <a:pt x="6095" y="0"/>
                  </a:lnTo>
                  <a:close/>
                </a:path>
              </a:pathLst>
            </a:custGeom>
            <a:solidFill>
              <a:srgbClr val="000000"/>
            </a:solidFill>
          </p:spPr>
          <p:txBody>
            <a:bodyPr wrap="square" lIns="0" tIns="0" rIns="0" bIns="0" rtlCol="0"/>
            <a:lstStyle/>
            <a:p>
              <a:endParaRPr/>
            </a:p>
          </p:txBody>
        </p:sp>
        <p:sp>
          <p:nvSpPr>
            <p:cNvPr id="40" name="object 40"/>
            <p:cNvSpPr/>
            <p:nvPr/>
          </p:nvSpPr>
          <p:spPr>
            <a:xfrm>
              <a:off x="2511552" y="2951988"/>
              <a:ext cx="1361440" cy="264160"/>
            </a:xfrm>
            <a:custGeom>
              <a:avLst/>
              <a:gdLst/>
              <a:ahLst/>
              <a:cxnLst/>
              <a:rect l="l" t="t" r="r" b="b"/>
              <a:pathLst>
                <a:path w="1361439" h="264160">
                  <a:moveTo>
                    <a:pt x="4572" y="0"/>
                  </a:moveTo>
                  <a:lnTo>
                    <a:pt x="1360932" y="0"/>
                  </a:lnTo>
                </a:path>
                <a:path w="1361439" h="264160">
                  <a:moveTo>
                    <a:pt x="0" y="1524"/>
                  </a:moveTo>
                  <a:lnTo>
                    <a:pt x="0" y="263651"/>
                  </a:lnTo>
                </a:path>
              </a:pathLst>
            </a:custGeom>
            <a:ln w="12192">
              <a:solidFill>
                <a:srgbClr val="000000"/>
              </a:solidFill>
            </a:ln>
          </p:spPr>
          <p:txBody>
            <a:bodyPr wrap="square" lIns="0" tIns="0" rIns="0" bIns="0" rtlCol="0"/>
            <a:lstStyle/>
            <a:p>
              <a:endParaRPr/>
            </a:p>
          </p:txBody>
        </p:sp>
        <p:sp>
          <p:nvSpPr>
            <p:cNvPr id="41" name="object 41"/>
            <p:cNvSpPr/>
            <p:nvPr/>
          </p:nvSpPr>
          <p:spPr>
            <a:xfrm>
              <a:off x="3874008" y="3083052"/>
              <a:ext cx="71755" cy="40005"/>
            </a:xfrm>
            <a:custGeom>
              <a:avLst/>
              <a:gdLst/>
              <a:ahLst/>
              <a:cxnLst/>
              <a:rect l="l" t="t" r="r" b="b"/>
              <a:pathLst>
                <a:path w="71754" h="40005">
                  <a:moveTo>
                    <a:pt x="6095" y="0"/>
                  </a:moveTo>
                  <a:lnTo>
                    <a:pt x="2031" y="6350"/>
                  </a:lnTo>
                  <a:lnTo>
                    <a:pt x="0" y="13208"/>
                  </a:lnTo>
                  <a:lnTo>
                    <a:pt x="0" y="26797"/>
                  </a:lnTo>
                  <a:lnTo>
                    <a:pt x="2031" y="33400"/>
                  </a:lnTo>
                  <a:lnTo>
                    <a:pt x="5841" y="39624"/>
                  </a:lnTo>
                  <a:lnTo>
                    <a:pt x="71627" y="20065"/>
                  </a:lnTo>
                  <a:lnTo>
                    <a:pt x="6095" y="0"/>
                  </a:lnTo>
                  <a:close/>
                </a:path>
              </a:pathLst>
            </a:custGeom>
            <a:solidFill>
              <a:srgbClr val="000000"/>
            </a:solidFill>
          </p:spPr>
          <p:txBody>
            <a:bodyPr wrap="square" lIns="0" tIns="0" rIns="0" bIns="0" rtlCol="0"/>
            <a:lstStyle/>
            <a:p>
              <a:endParaRPr/>
            </a:p>
          </p:txBody>
        </p:sp>
        <p:sp>
          <p:nvSpPr>
            <p:cNvPr id="42" name="object 42"/>
            <p:cNvSpPr/>
            <p:nvPr/>
          </p:nvSpPr>
          <p:spPr>
            <a:xfrm>
              <a:off x="3255264" y="3101340"/>
              <a:ext cx="617220" cy="114300"/>
            </a:xfrm>
            <a:custGeom>
              <a:avLst/>
              <a:gdLst/>
              <a:ahLst/>
              <a:cxnLst/>
              <a:rect l="l" t="t" r="r" b="b"/>
              <a:pathLst>
                <a:path w="617220" h="114300">
                  <a:moveTo>
                    <a:pt x="4572" y="0"/>
                  </a:moveTo>
                  <a:lnTo>
                    <a:pt x="617220" y="0"/>
                  </a:lnTo>
                </a:path>
                <a:path w="617220" h="114300">
                  <a:moveTo>
                    <a:pt x="0" y="0"/>
                  </a:moveTo>
                  <a:lnTo>
                    <a:pt x="0" y="114300"/>
                  </a:lnTo>
                </a:path>
              </a:pathLst>
            </a:custGeom>
            <a:ln w="12192">
              <a:solidFill>
                <a:srgbClr val="000000"/>
              </a:solidFill>
            </a:ln>
          </p:spPr>
          <p:txBody>
            <a:bodyPr wrap="square" lIns="0" tIns="0" rIns="0" bIns="0" rtlCol="0"/>
            <a:lstStyle/>
            <a:p>
              <a:endParaRPr/>
            </a:p>
          </p:txBody>
        </p:sp>
        <p:sp>
          <p:nvSpPr>
            <p:cNvPr id="43" name="object 43"/>
            <p:cNvSpPr/>
            <p:nvPr/>
          </p:nvSpPr>
          <p:spPr>
            <a:xfrm>
              <a:off x="2430780" y="3217164"/>
              <a:ext cx="943610" cy="304800"/>
            </a:xfrm>
            <a:custGeom>
              <a:avLst/>
              <a:gdLst/>
              <a:ahLst/>
              <a:cxnLst/>
              <a:rect l="l" t="t" r="r" b="b"/>
              <a:pathLst>
                <a:path w="943610" h="304800">
                  <a:moveTo>
                    <a:pt x="0" y="304800"/>
                  </a:moveTo>
                  <a:lnTo>
                    <a:pt x="943356" y="304800"/>
                  </a:lnTo>
                  <a:lnTo>
                    <a:pt x="943356" y="0"/>
                  </a:lnTo>
                  <a:lnTo>
                    <a:pt x="0" y="0"/>
                  </a:lnTo>
                  <a:lnTo>
                    <a:pt x="0" y="304800"/>
                  </a:lnTo>
                  <a:close/>
                </a:path>
              </a:pathLst>
            </a:custGeom>
            <a:ln w="12192">
              <a:solidFill>
                <a:srgbClr val="000000"/>
              </a:solidFill>
            </a:ln>
          </p:spPr>
          <p:txBody>
            <a:bodyPr wrap="square" lIns="0" tIns="0" rIns="0" bIns="0" rtlCol="0"/>
            <a:lstStyle/>
            <a:p>
              <a:endParaRPr/>
            </a:p>
          </p:txBody>
        </p:sp>
        <p:sp>
          <p:nvSpPr>
            <p:cNvPr id="44" name="object 44"/>
            <p:cNvSpPr/>
            <p:nvPr/>
          </p:nvSpPr>
          <p:spPr>
            <a:xfrm>
              <a:off x="2659380" y="3096768"/>
              <a:ext cx="58419" cy="48895"/>
            </a:xfrm>
            <a:custGeom>
              <a:avLst/>
              <a:gdLst/>
              <a:ahLst/>
              <a:cxnLst/>
              <a:rect l="l" t="t" r="r" b="b"/>
              <a:pathLst>
                <a:path w="58419" h="48894">
                  <a:moveTo>
                    <a:pt x="29337" y="0"/>
                  </a:moveTo>
                  <a:lnTo>
                    <a:pt x="0" y="44450"/>
                  </a:lnTo>
                  <a:lnTo>
                    <a:pt x="7066" y="46303"/>
                  </a:lnTo>
                  <a:lnTo>
                    <a:pt x="14335" y="47656"/>
                  </a:lnTo>
                  <a:lnTo>
                    <a:pt x="21770" y="48486"/>
                  </a:lnTo>
                  <a:lnTo>
                    <a:pt x="29337" y="48768"/>
                  </a:lnTo>
                  <a:lnTo>
                    <a:pt x="36659" y="48508"/>
                  </a:lnTo>
                  <a:lnTo>
                    <a:pt x="43910" y="47736"/>
                  </a:lnTo>
                  <a:lnTo>
                    <a:pt x="51018" y="46464"/>
                  </a:lnTo>
                  <a:lnTo>
                    <a:pt x="57912" y="44704"/>
                  </a:lnTo>
                  <a:lnTo>
                    <a:pt x="29337" y="0"/>
                  </a:lnTo>
                  <a:close/>
                </a:path>
              </a:pathLst>
            </a:custGeom>
            <a:solidFill>
              <a:srgbClr val="000000"/>
            </a:solidFill>
          </p:spPr>
          <p:txBody>
            <a:bodyPr wrap="square" lIns="0" tIns="0" rIns="0" bIns="0" rtlCol="0"/>
            <a:lstStyle/>
            <a:p>
              <a:endParaRPr/>
            </a:p>
          </p:txBody>
        </p:sp>
        <p:sp>
          <p:nvSpPr>
            <p:cNvPr id="45" name="object 45"/>
            <p:cNvSpPr/>
            <p:nvPr/>
          </p:nvSpPr>
          <p:spPr>
            <a:xfrm>
              <a:off x="2688336" y="3134868"/>
              <a:ext cx="0" cy="82550"/>
            </a:xfrm>
            <a:custGeom>
              <a:avLst/>
              <a:gdLst/>
              <a:ahLst/>
              <a:cxnLst/>
              <a:rect l="l" t="t" r="r" b="b"/>
              <a:pathLst>
                <a:path h="82550">
                  <a:moveTo>
                    <a:pt x="0" y="82296"/>
                  </a:moveTo>
                  <a:lnTo>
                    <a:pt x="0" y="0"/>
                  </a:lnTo>
                </a:path>
              </a:pathLst>
            </a:custGeom>
            <a:ln w="12192">
              <a:solidFill>
                <a:srgbClr val="000000"/>
              </a:solidFill>
            </a:ln>
          </p:spPr>
          <p:txBody>
            <a:bodyPr wrap="square" lIns="0" tIns="0" rIns="0" bIns="0" rtlCol="0"/>
            <a:lstStyle/>
            <a:p>
              <a:endParaRPr/>
            </a:p>
          </p:txBody>
        </p:sp>
        <p:sp>
          <p:nvSpPr>
            <p:cNvPr id="46" name="object 46"/>
            <p:cNvSpPr/>
            <p:nvPr/>
          </p:nvSpPr>
          <p:spPr>
            <a:xfrm>
              <a:off x="3049524" y="3096768"/>
              <a:ext cx="59690" cy="48895"/>
            </a:xfrm>
            <a:custGeom>
              <a:avLst/>
              <a:gdLst/>
              <a:ahLst/>
              <a:cxnLst/>
              <a:rect l="l" t="t" r="r" b="b"/>
              <a:pathLst>
                <a:path w="59689" h="48894">
                  <a:moveTo>
                    <a:pt x="30099" y="0"/>
                  </a:moveTo>
                  <a:lnTo>
                    <a:pt x="0" y="44450"/>
                  </a:lnTo>
                  <a:lnTo>
                    <a:pt x="7256" y="46303"/>
                  </a:lnTo>
                  <a:lnTo>
                    <a:pt x="14716" y="47656"/>
                  </a:lnTo>
                  <a:lnTo>
                    <a:pt x="22342" y="48486"/>
                  </a:lnTo>
                  <a:lnTo>
                    <a:pt x="30099" y="48768"/>
                  </a:lnTo>
                  <a:lnTo>
                    <a:pt x="37665" y="48508"/>
                  </a:lnTo>
                  <a:lnTo>
                    <a:pt x="45100" y="47736"/>
                  </a:lnTo>
                  <a:lnTo>
                    <a:pt x="52369" y="46464"/>
                  </a:lnTo>
                  <a:lnTo>
                    <a:pt x="59436" y="44704"/>
                  </a:lnTo>
                  <a:lnTo>
                    <a:pt x="30099" y="0"/>
                  </a:lnTo>
                  <a:close/>
                </a:path>
              </a:pathLst>
            </a:custGeom>
            <a:solidFill>
              <a:srgbClr val="000000"/>
            </a:solidFill>
          </p:spPr>
          <p:txBody>
            <a:bodyPr wrap="square" lIns="0" tIns="0" rIns="0" bIns="0" rtlCol="0"/>
            <a:lstStyle/>
            <a:p>
              <a:endParaRPr/>
            </a:p>
          </p:txBody>
        </p:sp>
        <p:sp>
          <p:nvSpPr>
            <p:cNvPr id="47" name="object 47"/>
            <p:cNvSpPr/>
            <p:nvPr/>
          </p:nvSpPr>
          <p:spPr>
            <a:xfrm>
              <a:off x="3078480" y="3134868"/>
              <a:ext cx="0" cy="82550"/>
            </a:xfrm>
            <a:custGeom>
              <a:avLst/>
              <a:gdLst/>
              <a:ahLst/>
              <a:cxnLst/>
              <a:rect l="l" t="t" r="r" b="b"/>
              <a:pathLst>
                <a:path h="82550">
                  <a:moveTo>
                    <a:pt x="0" y="82296"/>
                  </a:moveTo>
                  <a:lnTo>
                    <a:pt x="0" y="0"/>
                  </a:lnTo>
                </a:path>
              </a:pathLst>
            </a:custGeom>
            <a:ln w="12192">
              <a:solidFill>
                <a:srgbClr val="000000"/>
              </a:solidFill>
            </a:ln>
          </p:spPr>
          <p:txBody>
            <a:bodyPr wrap="square" lIns="0" tIns="0" rIns="0" bIns="0" rtlCol="0"/>
            <a:lstStyle/>
            <a:p>
              <a:endParaRPr/>
            </a:p>
          </p:txBody>
        </p:sp>
        <p:sp>
          <p:nvSpPr>
            <p:cNvPr id="48" name="object 48"/>
            <p:cNvSpPr/>
            <p:nvPr/>
          </p:nvSpPr>
          <p:spPr>
            <a:xfrm>
              <a:off x="3134868" y="3096768"/>
              <a:ext cx="59690" cy="48895"/>
            </a:xfrm>
            <a:custGeom>
              <a:avLst/>
              <a:gdLst/>
              <a:ahLst/>
              <a:cxnLst/>
              <a:rect l="l" t="t" r="r" b="b"/>
              <a:pathLst>
                <a:path w="59689" h="48894">
                  <a:moveTo>
                    <a:pt x="30099" y="0"/>
                  </a:moveTo>
                  <a:lnTo>
                    <a:pt x="0" y="44450"/>
                  </a:lnTo>
                  <a:lnTo>
                    <a:pt x="7256" y="46303"/>
                  </a:lnTo>
                  <a:lnTo>
                    <a:pt x="14716" y="47656"/>
                  </a:lnTo>
                  <a:lnTo>
                    <a:pt x="22342" y="48486"/>
                  </a:lnTo>
                  <a:lnTo>
                    <a:pt x="30099" y="48768"/>
                  </a:lnTo>
                  <a:lnTo>
                    <a:pt x="37665" y="48508"/>
                  </a:lnTo>
                  <a:lnTo>
                    <a:pt x="45100" y="47736"/>
                  </a:lnTo>
                  <a:lnTo>
                    <a:pt x="52369" y="46464"/>
                  </a:lnTo>
                  <a:lnTo>
                    <a:pt x="59436" y="44704"/>
                  </a:lnTo>
                  <a:lnTo>
                    <a:pt x="30099" y="0"/>
                  </a:lnTo>
                  <a:close/>
                </a:path>
              </a:pathLst>
            </a:custGeom>
            <a:solidFill>
              <a:srgbClr val="000000"/>
            </a:solidFill>
          </p:spPr>
          <p:txBody>
            <a:bodyPr wrap="square" lIns="0" tIns="0" rIns="0" bIns="0" rtlCol="0"/>
            <a:lstStyle/>
            <a:p>
              <a:endParaRPr/>
            </a:p>
          </p:txBody>
        </p:sp>
        <p:sp>
          <p:nvSpPr>
            <p:cNvPr id="49" name="object 49"/>
            <p:cNvSpPr/>
            <p:nvPr/>
          </p:nvSpPr>
          <p:spPr>
            <a:xfrm>
              <a:off x="3163824" y="3134868"/>
              <a:ext cx="0" cy="82550"/>
            </a:xfrm>
            <a:custGeom>
              <a:avLst/>
              <a:gdLst/>
              <a:ahLst/>
              <a:cxnLst/>
              <a:rect l="l" t="t" r="r" b="b"/>
              <a:pathLst>
                <a:path h="82550">
                  <a:moveTo>
                    <a:pt x="0" y="82296"/>
                  </a:moveTo>
                  <a:lnTo>
                    <a:pt x="0" y="0"/>
                  </a:lnTo>
                </a:path>
              </a:pathLst>
            </a:custGeom>
            <a:ln w="12192">
              <a:solidFill>
                <a:srgbClr val="000000"/>
              </a:solidFill>
            </a:ln>
          </p:spPr>
          <p:txBody>
            <a:bodyPr wrap="square" lIns="0" tIns="0" rIns="0" bIns="0" rtlCol="0"/>
            <a:lstStyle/>
            <a:p>
              <a:endParaRPr/>
            </a:p>
          </p:txBody>
        </p:sp>
      </p:grpSp>
      <p:sp>
        <p:nvSpPr>
          <p:cNvPr id="50" name="object 50"/>
          <p:cNvSpPr txBox="1"/>
          <p:nvPr/>
        </p:nvSpPr>
        <p:spPr>
          <a:xfrm>
            <a:off x="2472182" y="3174524"/>
            <a:ext cx="842010" cy="895985"/>
          </a:xfrm>
          <a:prstGeom prst="rect">
            <a:avLst/>
          </a:prstGeom>
        </p:spPr>
        <p:txBody>
          <a:bodyPr vert="horz" wrap="square" lIns="0" tIns="54610" rIns="0" bIns="0" rtlCol="0">
            <a:spAutoFit/>
          </a:bodyPr>
          <a:lstStyle/>
          <a:p>
            <a:pPr>
              <a:lnSpc>
                <a:spcPct val="100000"/>
              </a:lnSpc>
              <a:spcBef>
                <a:spcPts val="430"/>
              </a:spcBef>
            </a:pPr>
            <a:r>
              <a:rPr sz="600" b="1" dirty="0">
                <a:latin typeface="Arial"/>
                <a:cs typeface="Arial"/>
              </a:rPr>
              <a:t>15</a:t>
            </a:r>
            <a:r>
              <a:rPr sz="600" b="1" spc="240" dirty="0">
                <a:latin typeface="Arial"/>
                <a:cs typeface="Arial"/>
              </a:rPr>
              <a:t>  </a:t>
            </a:r>
            <a:r>
              <a:rPr sz="600" b="1" dirty="0">
                <a:latin typeface="Arial"/>
                <a:cs typeface="Arial"/>
              </a:rPr>
              <a:t>14</a:t>
            </a:r>
            <a:r>
              <a:rPr sz="600" b="1" spc="475" dirty="0">
                <a:latin typeface="Arial"/>
                <a:cs typeface="Arial"/>
              </a:rPr>
              <a:t> </a:t>
            </a:r>
            <a:r>
              <a:rPr sz="600" b="1" dirty="0">
                <a:latin typeface="Arial"/>
                <a:cs typeface="Arial"/>
              </a:rPr>
              <a:t>.</a:t>
            </a:r>
            <a:r>
              <a:rPr sz="600" b="1" spc="-5" dirty="0">
                <a:latin typeface="Arial"/>
                <a:cs typeface="Arial"/>
              </a:rPr>
              <a:t> </a:t>
            </a:r>
            <a:r>
              <a:rPr sz="600" b="1" dirty="0">
                <a:latin typeface="Arial"/>
                <a:cs typeface="Arial"/>
              </a:rPr>
              <a:t>. . .</a:t>
            </a:r>
            <a:r>
              <a:rPr sz="600" b="1" spc="495" dirty="0">
                <a:latin typeface="Arial"/>
                <a:cs typeface="Arial"/>
              </a:rPr>
              <a:t> </a:t>
            </a:r>
            <a:r>
              <a:rPr sz="600" b="1" dirty="0">
                <a:latin typeface="Arial"/>
                <a:cs typeface="Arial"/>
              </a:rPr>
              <a:t>2</a:t>
            </a:r>
            <a:r>
              <a:rPr sz="600" b="1" spc="310" dirty="0">
                <a:latin typeface="Arial"/>
                <a:cs typeface="Arial"/>
              </a:rPr>
              <a:t> </a:t>
            </a:r>
            <a:r>
              <a:rPr sz="600" b="1" dirty="0">
                <a:latin typeface="Arial"/>
                <a:cs typeface="Arial"/>
              </a:rPr>
              <a:t>1</a:t>
            </a:r>
            <a:r>
              <a:rPr sz="600" b="1" spc="160" dirty="0">
                <a:latin typeface="Arial"/>
                <a:cs typeface="Arial"/>
              </a:rPr>
              <a:t> </a:t>
            </a:r>
            <a:r>
              <a:rPr sz="600" b="1" spc="-50" dirty="0">
                <a:latin typeface="Arial"/>
                <a:cs typeface="Arial"/>
              </a:rPr>
              <a:t>0</a:t>
            </a:r>
            <a:endParaRPr sz="600">
              <a:latin typeface="Arial"/>
              <a:cs typeface="Arial"/>
            </a:endParaRPr>
          </a:p>
          <a:p>
            <a:pPr marL="106045">
              <a:lnSpc>
                <a:spcPct val="100000"/>
              </a:lnSpc>
              <a:spcBef>
                <a:spcPts val="425"/>
              </a:spcBef>
            </a:pPr>
            <a:r>
              <a:rPr sz="750" b="1" dirty="0">
                <a:latin typeface="Arial"/>
                <a:cs typeface="Arial"/>
              </a:rPr>
              <a:t>4</a:t>
            </a:r>
            <a:r>
              <a:rPr sz="750" b="1" spc="-5" dirty="0">
                <a:latin typeface="Arial"/>
                <a:cs typeface="Arial"/>
              </a:rPr>
              <a:t> </a:t>
            </a:r>
            <a:r>
              <a:rPr sz="750" b="1" dirty="0">
                <a:latin typeface="Arial"/>
                <a:cs typeface="Arial"/>
              </a:rPr>
              <a:t>x 16 </a:t>
            </a:r>
            <a:r>
              <a:rPr sz="750" b="1" spc="-10" dirty="0">
                <a:latin typeface="Arial"/>
                <a:cs typeface="Arial"/>
              </a:rPr>
              <a:t>Decoder</a:t>
            </a:r>
            <a:endParaRPr sz="750">
              <a:latin typeface="Arial"/>
              <a:cs typeface="Arial"/>
            </a:endParaRPr>
          </a:p>
          <a:p>
            <a:pPr>
              <a:lnSpc>
                <a:spcPct val="100000"/>
              </a:lnSpc>
              <a:spcBef>
                <a:spcPts val="560"/>
              </a:spcBef>
            </a:pPr>
            <a:endParaRPr sz="750">
              <a:latin typeface="Arial"/>
              <a:cs typeface="Arial"/>
            </a:endParaRPr>
          </a:p>
          <a:p>
            <a:pPr marR="75565" algn="ctr">
              <a:lnSpc>
                <a:spcPct val="100000"/>
              </a:lnSpc>
              <a:spcBef>
                <a:spcPts val="5"/>
              </a:spcBef>
            </a:pPr>
            <a:r>
              <a:rPr sz="600" b="1" spc="-10" dirty="0">
                <a:latin typeface="Arial"/>
                <a:cs typeface="Arial"/>
              </a:rPr>
              <a:t>4-</a:t>
            </a:r>
            <a:r>
              <a:rPr sz="600" b="1" spc="-25" dirty="0">
                <a:latin typeface="Arial"/>
                <a:cs typeface="Arial"/>
              </a:rPr>
              <a:t>bit</a:t>
            </a:r>
            <a:endParaRPr sz="600">
              <a:latin typeface="Arial"/>
              <a:cs typeface="Arial"/>
            </a:endParaRPr>
          </a:p>
          <a:p>
            <a:pPr>
              <a:lnSpc>
                <a:spcPct val="100000"/>
              </a:lnSpc>
              <a:spcBef>
                <a:spcPts val="15"/>
              </a:spcBef>
            </a:pPr>
            <a:endParaRPr sz="600">
              <a:latin typeface="Arial"/>
              <a:cs typeface="Arial"/>
            </a:endParaRPr>
          </a:p>
          <a:p>
            <a:pPr marL="80010" marR="166370">
              <a:lnSpc>
                <a:spcPts val="819"/>
              </a:lnSpc>
            </a:pPr>
            <a:r>
              <a:rPr sz="750" b="1" spc="-10" dirty="0">
                <a:latin typeface="Arial"/>
                <a:cs typeface="Arial"/>
              </a:rPr>
              <a:t>Sequence </a:t>
            </a:r>
            <a:r>
              <a:rPr sz="750" b="1" dirty="0">
                <a:latin typeface="Arial"/>
                <a:cs typeface="Arial"/>
              </a:rPr>
              <a:t>Counter</a:t>
            </a:r>
            <a:r>
              <a:rPr sz="750" b="1" spc="-40" dirty="0">
                <a:latin typeface="Arial"/>
                <a:cs typeface="Arial"/>
              </a:rPr>
              <a:t> </a:t>
            </a:r>
            <a:r>
              <a:rPr sz="750" b="1" spc="-20" dirty="0">
                <a:latin typeface="Arial"/>
                <a:cs typeface="Arial"/>
              </a:rPr>
              <a:t>(SC)</a:t>
            </a:r>
            <a:endParaRPr sz="750">
              <a:latin typeface="Arial"/>
              <a:cs typeface="Arial"/>
            </a:endParaRPr>
          </a:p>
        </p:txBody>
      </p:sp>
      <p:grpSp>
        <p:nvGrpSpPr>
          <p:cNvPr id="51" name="object 51"/>
          <p:cNvGrpSpPr/>
          <p:nvPr/>
        </p:nvGrpSpPr>
        <p:grpSpPr>
          <a:xfrm>
            <a:off x="2509773" y="3518915"/>
            <a:ext cx="1085850" cy="587375"/>
            <a:chOff x="2509773" y="3518915"/>
            <a:chExt cx="1085850" cy="587375"/>
          </a:xfrm>
        </p:grpSpPr>
        <p:sp>
          <p:nvSpPr>
            <p:cNvPr id="52" name="object 52"/>
            <p:cNvSpPr/>
            <p:nvPr/>
          </p:nvSpPr>
          <p:spPr>
            <a:xfrm>
              <a:off x="2516123" y="3663695"/>
              <a:ext cx="707390" cy="436245"/>
            </a:xfrm>
            <a:custGeom>
              <a:avLst/>
              <a:gdLst/>
              <a:ahLst/>
              <a:cxnLst/>
              <a:rect l="l" t="t" r="r" b="b"/>
              <a:pathLst>
                <a:path w="707389" h="436245">
                  <a:moveTo>
                    <a:pt x="0" y="435863"/>
                  </a:moveTo>
                  <a:lnTo>
                    <a:pt x="707136" y="435863"/>
                  </a:lnTo>
                  <a:lnTo>
                    <a:pt x="707136" y="0"/>
                  </a:lnTo>
                  <a:lnTo>
                    <a:pt x="0" y="0"/>
                  </a:lnTo>
                  <a:lnTo>
                    <a:pt x="0" y="435863"/>
                  </a:lnTo>
                  <a:close/>
                </a:path>
              </a:pathLst>
            </a:custGeom>
            <a:ln w="12192">
              <a:solidFill>
                <a:srgbClr val="000000"/>
              </a:solidFill>
            </a:ln>
          </p:spPr>
          <p:txBody>
            <a:bodyPr wrap="square" lIns="0" tIns="0" rIns="0" bIns="0" rtlCol="0"/>
            <a:lstStyle/>
            <a:p>
              <a:endParaRPr/>
            </a:p>
          </p:txBody>
        </p:sp>
        <p:sp>
          <p:nvSpPr>
            <p:cNvPr id="53" name="object 53"/>
            <p:cNvSpPr/>
            <p:nvPr/>
          </p:nvSpPr>
          <p:spPr>
            <a:xfrm>
              <a:off x="2613659" y="3518915"/>
              <a:ext cx="58419" cy="48895"/>
            </a:xfrm>
            <a:custGeom>
              <a:avLst/>
              <a:gdLst/>
              <a:ahLst/>
              <a:cxnLst/>
              <a:rect l="l" t="t" r="r" b="b"/>
              <a:pathLst>
                <a:path w="58419" h="48895">
                  <a:moveTo>
                    <a:pt x="29337" y="0"/>
                  </a:moveTo>
                  <a:lnTo>
                    <a:pt x="0" y="44450"/>
                  </a:lnTo>
                  <a:lnTo>
                    <a:pt x="7066" y="46303"/>
                  </a:lnTo>
                  <a:lnTo>
                    <a:pt x="14335" y="47656"/>
                  </a:lnTo>
                  <a:lnTo>
                    <a:pt x="21770" y="48486"/>
                  </a:lnTo>
                  <a:lnTo>
                    <a:pt x="29337" y="48768"/>
                  </a:lnTo>
                  <a:lnTo>
                    <a:pt x="36659" y="48508"/>
                  </a:lnTo>
                  <a:lnTo>
                    <a:pt x="43910" y="47736"/>
                  </a:lnTo>
                  <a:lnTo>
                    <a:pt x="51018" y="46464"/>
                  </a:lnTo>
                  <a:lnTo>
                    <a:pt x="57912" y="44704"/>
                  </a:lnTo>
                  <a:lnTo>
                    <a:pt x="29337" y="0"/>
                  </a:lnTo>
                  <a:close/>
                </a:path>
              </a:pathLst>
            </a:custGeom>
            <a:solidFill>
              <a:srgbClr val="000000"/>
            </a:solidFill>
          </p:spPr>
          <p:txBody>
            <a:bodyPr wrap="square" lIns="0" tIns="0" rIns="0" bIns="0" rtlCol="0"/>
            <a:lstStyle/>
            <a:p>
              <a:endParaRPr/>
            </a:p>
          </p:txBody>
        </p:sp>
        <p:sp>
          <p:nvSpPr>
            <p:cNvPr id="54" name="object 54"/>
            <p:cNvSpPr/>
            <p:nvPr/>
          </p:nvSpPr>
          <p:spPr>
            <a:xfrm>
              <a:off x="2642615" y="3543299"/>
              <a:ext cx="0" cy="120650"/>
            </a:xfrm>
            <a:custGeom>
              <a:avLst/>
              <a:gdLst/>
              <a:ahLst/>
              <a:cxnLst/>
              <a:rect l="l" t="t" r="r" b="b"/>
              <a:pathLst>
                <a:path h="120650">
                  <a:moveTo>
                    <a:pt x="0" y="120396"/>
                  </a:moveTo>
                  <a:lnTo>
                    <a:pt x="0" y="0"/>
                  </a:lnTo>
                </a:path>
              </a:pathLst>
            </a:custGeom>
            <a:ln w="12192">
              <a:solidFill>
                <a:srgbClr val="000000"/>
              </a:solidFill>
            </a:ln>
          </p:spPr>
          <p:txBody>
            <a:bodyPr wrap="square" lIns="0" tIns="0" rIns="0" bIns="0" rtlCol="0"/>
            <a:lstStyle/>
            <a:p>
              <a:endParaRPr/>
            </a:p>
          </p:txBody>
        </p:sp>
        <p:sp>
          <p:nvSpPr>
            <p:cNvPr id="55" name="object 55"/>
            <p:cNvSpPr/>
            <p:nvPr/>
          </p:nvSpPr>
          <p:spPr>
            <a:xfrm>
              <a:off x="2743200" y="3518915"/>
              <a:ext cx="189230" cy="48895"/>
            </a:xfrm>
            <a:custGeom>
              <a:avLst/>
              <a:gdLst/>
              <a:ahLst/>
              <a:cxnLst/>
              <a:rect l="l" t="t" r="r" b="b"/>
              <a:pathLst>
                <a:path w="189230" h="48895">
                  <a:moveTo>
                    <a:pt x="59436" y="44704"/>
                  </a:moveTo>
                  <a:lnTo>
                    <a:pt x="30099" y="0"/>
                  </a:lnTo>
                  <a:lnTo>
                    <a:pt x="0" y="44450"/>
                  </a:lnTo>
                  <a:lnTo>
                    <a:pt x="7251" y="46304"/>
                  </a:lnTo>
                  <a:lnTo>
                    <a:pt x="14706" y="47663"/>
                  </a:lnTo>
                  <a:lnTo>
                    <a:pt x="22339" y="48488"/>
                  </a:lnTo>
                  <a:lnTo>
                    <a:pt x="30099" y="48768"/>
                  </a:lnTo>
                  <a:lnTo>
                    <a:pt x="37655" y="48514"/>
                  </a:lnTo>
                  <a:lnTo>
                    <a:pt x="45097" y="47739"/>
                  </a:lnTo>
                  <a:lnTo>
                    <a:pt x="52362" y="46469"/>
                  </a:lnTo>
                  <a:lnTo>
                    <a:pt x="59436" y="44704"/>
                  </a:lnTo>
                  <a:close/>
                </a:path>
                <a:path w="189230" h="48895">
                  <a:moveTo>
                    <a:pt x="188976" y="44704"/>
                  </a:moveTo>
                  <a:lnTo>
                    <a:pt x="160401" y="0"/>
                  </a:lnTo>
                  <a:lnTo>
                    <a:pt x="131064" y="44450"/>
                  </a:lnTo>
                  <a:lnTo>
                    <a:pt x="138125" y="46304"/>
                  </a:lnTo>
                  <a:lnTo>
                    <a:pt x="145389" y="47663"/>
                  </a:lnTo>
                  <a:lnTo>
                    <a:pt x="152831" y="48488"/>
                  </a:lnTo>
                  <a:lnTo>
                    <a:pt x="160401" y="48768"/>
                  </a:lnTo>
                  <a:lnTo>
                    <a:pt x="167716" y="48514"/>
                  </a:lnTo>
                  <a:lnTo>
                    <a:pt x="174967" y="47739"/>
                  </a:lnTo>
                  <a:lnTo>
                    <a:pt x="182079" y="46469"/>
                  </a:lnTo>
                  <a:lnTo>
                    <a:pt x="188976" y="44704"/>
                  </a:lnTo>
                  <a:close/>
                </a:path>
              </a:pathLst>
            </a:custGeom>
            <a:solidFill>
              <a:srgbClr val="000000"/>
            </a:solidFill>
          </p:spPr>
          <p:txBody>
            <a:bodyPr wrap="square" lIns="0" tIns="0" rIns="0" bIns="0" rtlCol="0"/>
            <a:lstStyle/>
            <a:p>
              <a:endParaRPr/>
            </a:p>
          </p:txBody>
        </p:sp>
        <p:sp>
          <p:nvSpPr>
            <p:cNvPr id="56" name="object 56"/>
            <p:cNvSpPr/>
            <p:nvPr/>
          </p:nvSpPr>
          <p:spPr>
            <a:xfrm>
              <a:off x="2903219" y="3543299"/>
              <a:ext cx="0" cy="120650"/>
            </a:xfrm>
            <a:custGeom>
              <a:avLst/>
              <a:gdLst/>
              <a:ahLst/>
              <a:cxnLst/>
              <a:rect l="l" t="t" r="r" b="b"/>
              <a:pathLst>
                <a:path h="120650">
                  <a:moveTo>
                    <a:pt x="0" y="120396"/>
                  </a:moveTo>
                  <a:lnTo>
                    <a:pt x="0" y="0"/>
                  </a:lnTo>
                </a:path>
              </a:pathLst>
            </a:custGeom>
            <a:ln w="12192">
              <a:solidFill>
                <a:srgbClr val="000000"/>
              </a:solidFill>
            </a:ln>
          </p:spPr>
          <p:txBody>
            <a:bodyPr wrap="square" lIns="0" tIns="0" rIns="0" bIns="0" rtlCol="0"/>
            <a:lstStyle/>
            <a:p>
              <a:endParaRPr/>
            </a:p>
          </p:txBody>
        </p:sp>
        <p:sp>
          <p:nvSpPr>
            <p:cNvPr id="57" name="object 57"/>
            <p:cNvSpPr/>
            <p:nvPr/>
          </p:nvSpPr>
          <p:spPr>
            <a:xfrm>
              <a:off x="3003803" y="3518915"/>
              <a:ext cx="58419" cy="48895"/>
            </a:xfrm>
            <a:custGeom>
              <a:avLst/>
              <a:gdLst/>
              <a:ahLst/>
              <a:cxnLst/>
              <a:rect l="l" t="t" r="r" b="b"/>
              <a:pathLst>
                <a:path w="58419" h="48895">
                  <a:moveTo>
                    <a:pt x="29337" y="0"/>
                  </a:moveTo>
                  <a:lnTo>
                    <a:pt x="0" y="44450"/>
                  </a:lnTo>
                  <a:lnTo>
                    <a:pt x="7066" y="46303"/>
                  </a:lnTo>
                  <a:lnTo>
                    <a:pt x="14335" y="47656"/>
                  </a:lnTo>
                  <a:lnTo>
                    <a:pt x="21770" y="48486"/>
                  </a:lnTo>
                  <a:lnTo>
                    <a:pt x="29337" y="48768"/>
                  </a:lnTo>
                  <a:lnTo>
                    <a:pt x="36659" y="48508"/>
                  </a:lnTo>
                  <a:lnTo>
                    <a:pt x="43910" y="47736"/>
                  </a:lnTo>
                  <a:lnTo>
                    <a:pt x="51018" y="46464"/>
                  </a:lnTo>
                  <a:lnTo>
                    <a:pt x="57912" y="44704"/>
                  </a:lnTo>
                  <a:lnTo>
                    <a:pt x="29337" y="0"/>
                  </a:lnTo>
                  <a:close/>
                </a:path>
              </a:pathLst>
            </a:custGeom>
            <a:solidFill>
              <a:srgbClr val="000000"/>
            </a:solidFill>
          </p:spPr>
          <p:txBody>
            <a:bodyPr wrap="square" lIns="0" tIns="0" rIns="0" bIns="0" rtlCol="0"/>
            <a:lstStyle/>
            <a:p>
              <a:endParaRPr/>
            </a:p>
          </p:txBody>
        </p:sp>
        <p:sp>
          <p:nvSpPr>
            <p:cNvPr id="58" name="object 58"/>
            <p:cNvSpPr/>
            <p:nvPr/>
          </p:nvSpPr>
          <p:spPr>
            <a:xfrm>
              <a:off x="3032759" y="3543299"/>
              <a:ext cx="0" cy="120650"/>
            </a:xfrm>
            <a:custGeom>
              <a:avLst/>
              <a:gdLst/>
              <a:ahLst/>
              <a:cxnLst/>
              <a:rect l="l" t="t" r="r" b="b"/>
              <a:pathLst>
                <a:path h="120650">
                  <a:moveTo>
                    <a:pt x="0" y="120396"/>
                  </a:moveTo>
                  <a:lnTo>
                    <a:pt x="0" y="0"/>
                  </a:lnTo>
                </a:path>
              </a:pathLst>
            </a:custGeom>
            <a:ln w="12192">
              <a:solidFill>
                <a:srgbClr val="000000"/>
              </a:solidFill>
            </a:ln>
          </p:spPr>
          <p:txBody>
            <a:bodyPr wrap="square" lIns="0" tIns="0" rIns="0" bIns="0" rtlCol="0"/>
            <a:lstStyle/>
            <a:p>
              <a:endParaRPr/>
            </a:p>
          </p:txBody>
        </p:sp>
        <p:sp>
          <p:nvSpPr>
            <p:cNvPr id="59" name="object 59"/>
            <p:cNvSpPr/>
            <p:nvPr/>
          </p:nvSpPr>
          <p:spPr>
            <a:xfrm>
              <a:off x="3209543" y="3747515"/>
              <a:ext cx="73660" cy="41275"/>
            </a:xfrm>
            <a:custGeom>
              <a:avLst/>
              <a:gdLst/>
              <a:ahLst/>
              <a:cxnLst/>
              <a:rect l="l" t="t" r="r" b="b"/>
              <a:pathLst>
                <a:path w="73660" h="41275">
                  <a:moveTo>
                    <a:pt x="66675" y="0"/>
                  </a:moveTo>
                  <a:lnTo>
                    <a:pt x="0" y="20828"/>
                  </a:lnTo>
                  <a:lnTo>
                    <a:pt x="67056" y="41148"/>
                  </a:lnTo>
                  <a:lnTo>
                    <a:pt x="71119" y="34798"/>
                  </a:lnTo>
                  <a:lnTo>
                    <a:pt x="73152" y="27812"/>
                  </a:lnTo>
                  <a:lnTo>
                    <a:pt x="73152" y="13716"/>
                  </a:lnTo>
                  <a:lnTo>
                    <a:pt x="70993" y="6604"/>
                  </a:lnTo>
                  <a:lnTo>
                    <a:pt x="66675" y="0"/>
                  </a:lnTo>
                  <a:close/>
                </a:path>
              </a:pathLst>
            </a:custGeom>
            <a:solidFill>
              <a:srgbClr val="000000"/>
            </a:solidFill>
          </p:spPr>
          <p:txBody>
            <a:bodyPr wrap="square" lIns="0" tIns="0" rIns="0" bIns="0" rtlCol="0"/>
            <a:lstStyle/>
            <a:p>
              <a:endParaRPr/>
            </a:p>
          </p:txBody>
        </p:sp>
        <p:sp>
          <p:nvSpPr>
            <p:cNvPr id="60" name="object 60"/>
            <p:cNvSpPr/>
            <p:nvPr/>
          </p:nvSpPr>
          <p:spPr>
            <a:xfrm>
              <a:off x="3273551" y="3770375"/>
              <a:ext cx="315595" cy="0"/>
            </a:xfrm>
            <a:custGeom>
              <a:avLst/>
              <a:gdLst/>
              <a:ahLst/>
              <a:cxnLst/>
              <a:rect l="l" t="t" r="r" b="b"/>
              <a:pathLst>
                <a:path w="315595">
                  <a:moveTo>
                    <a:pt x="0" y="0"/>
                  </a:moveTo>
                  <a:lnTo>
                    <a:pt x="315468" y="0"/>
                  </a:lnTo>
                </a:path>
              </a:pathLst>
            </a:custGeom>
            <a:ln w="12192">
              <a:solidFill>
                <a:srgbClr val="000000"/>
              </a:solidFill>
            </a:ln>
          </p:spPr>
          <p:txBody>
            <a:bodyPr wrap="square" lIns="0" tIns="0" rIns="0" bIns="0" rtlCol="0"/>
            <a:lstStyle/>
            <a:p>
              <a:endParaRPr/>
            </a:p>
          </p:txBody>
        </p:sp>
        <p:sp>
          <p:nvSpPr>
            <p:cNvPr id="61" name="object 61"/>
            <p:cNvSpPr/>
            <p:nvPr/>
          </p:nvSpPr>
          <p:spPr>
            <a:xfrm>
              <a:off x="3209543" y="3835907"/>
              <a:ext cx="73660" cy="40005"/>
            </a:xfrm>
            <a:custGeom>
              <a:avLst/>
              <a:gdLst/>
              <a:ahLst/>
              <a:cxnLst/>
              <a:rect l="l" t="t" r="r" b="b"/>
              <a:pathLst>
                <a:path w="73660" h="40004">
                  <a:moveTo>
                    <a:pt x="66675" y="0"/>
                  </a:moveTo>
                  <a:lnTo>
                    <a:pt x="0" y="20065"/>
                  </a:lnTo>
                  <a:lnTo>
                    <a:pt x="67056" y="39624"/>
                  </a:lnTo>
                  <a:lnTo>
                    <a:pt x="71119" y="33400"/>
                  </a:lnTo>
                  <a:lnTo>
                    <a:pt x="73152" y="26796"/>
                  </a:lnTo>
                  <a:lnTo>
                    <a:pt x="73152" y="13207"/>
                  </a:lnTo>
                  <a:lnTo>
                    <a:pt x="70993" y="6350"/>
                  </a:lnTo>
                  <a:lnTo>
                    <a:pt x="66675" y="0"/>
                  </a:lnTo>
                  <a:close/>
                </a:path>
              </a:pathLst>
            </a:custGeom>
            <a:solidFill>
              <a:srgbClr val="000000"/>
            </a:solidFill>
          </p:spPr>
          <p:txBody>
            <a:bodyPr wrap="square" lIns="0" tIns="0" rIns="0" bIns="0" rtlCol="0"/>
            <a:lstStyle/>
            <a:p>
              <a:endParaRPr/>
            </a:p>
          </p:txBody>
        </p:sp>
        <p:sp>
          <p:nvSpPr>
            <p:cNvPr id="62" name="object 62"/>
            <p:cNvSpPr/>
            <p:nvPr/>
          </p:nvSpPr>
          <p:spPr>
            <a:xfrm>
              <a:off x="3273551" y="3858767"/>
              <a:ext cx="315595" cy="0"/>
            </a:xfrm>
            <a:custGeom>
              <a:avLst/>
              <a:gdLst/>
              <a:ahLst/>
              <a:cxnLst/>
              <a:rect l="l" t="t" r="r" b="b"/>
              <a:pathLst>
                <a:path w="315595">
                  <a:moveTo>
                    <a:pt x="0" y="0"/>
                  </a:moveTo>
                  <a:lnTo>
                    <a:pt x="315468" y="0"/>
                  </a:lnTo>
                </a:path>
              </a:pathLst>
            </a:custGeom>
            <a:ln w="12192">
              <a:solidFill>
                <a:srgbClr val="000000"/>
              </a:solidFill>
            </a:ln>
          </p:spPr>
          <p:txBody>
            <a:bodyPr wrap="square" lIns="0" tIns="0" rIns="0" bIns="0" rtlCol="0"/>
            <a:lstStyle/>
            <a:p>
              <a:endParaRPr/>
            </a:p>
          </p:txBody>
        </p:sp>
        <p:sp>
          <p:nvSpPr>
            <p:cNvPr id="63" name="object 63"/>
            <p:cNvSpPr/>
            <p:nvPr/>
          </p:nvSpPr>
          <p:spPr>
            <a:xfrm>
              <a:off x="3209543" y="3956303"/>
              <a:ext cx="73660" cy="38100"/>
            </a:xfrm>
            <a:custGeom>
              <a:avLst/>
              <a:gdLst/>
              <a:ahLst/>
              <a:cxnLst/>
              <a:rect l="l" t="t" r="r" b="b"/>
              <a:pathLst>
                <a:path w="73660" h="38100">
                  <a:moveTo>
                    <a:pt x="66675" y="0"/>
                  </a:moveTo>
                  <a:lnTo>
                    <a:pt x="0" y="19304"/>
                  </a:lnTo>
                  <a:lnTo>
                    <a:pt x="67056" y="38100"/>
                  </a:lnTo>
                  <a:lnTo>
                    <a:pt x="71119" y="32131"/>
                  </a:lnTo>
                  <a:lnTo>
                    <a:pt x="73152" y="25781"/>
                  </a:lnTo>
                  <a:lnTo>
                    <a:pt x="73152" y="12700"/>
                  </a:lnTo>
                  <a:lnTo>
                    <a:pt x="70993" y="6096"/>
                  </a:lnTo>
                  <a:lnTo>
                    <a:pt x="66675" y="0"/>
                  </a:lnTo>
                  <a:close/>
                </a:path>
              </a:pathLst>
            </a:custGeom>
            <a:solidFill>
              <a:srgbClr val="000000"/>
            </a:solidFill>
          </p:spPr>
          <p:txBody>
            <a:bodyPr wrap="square" lIns="0" tIns="0" rIns="0" bIns="0" rtlCol="0"/>
            <a:lstStyle/>
            <a:p>
              <a:endParaRPr/>
            </a:p>
          </p:txBody>
        </p:sp>
        <p:sp>
          <p:nvSpPr>
            <p:cNvPr id="64" name="object 64"/>
            <p:cNvSpPr/>
            <p:nvPr/>
          </p:nvSpPr>
          <p:spPr>
            <a:xfrm>
              <a:off x="3273551" y="3977639"/>
              <a:ext cx="315595" cy="0"/>
            </a:xfrm>
            <a:custGeom>
              <a:avLst/>
              <a:gdLst/>
              <a:ahLst/>
              <a:cxnLst/>
              <a:rect l="l" t="t" r="r" b="b"/>
              <a:pathLst>
                <a:path w="315595">
                  <a:moveTo>
                    <a:pt x="0" y="0"/>
                  </a:moveTo>
                  <a:lnTo>
                    <a:pt x="315468" y="0"/>
                  </a:lnTo>
                </a:path>
              </a:pathLst>
            </a:custGeom>
            <a:ln w="12192">
              <a:solidFill>
                <a:srgbClr val="000000"/>
              </a:solidFill>
            </a:ln>
          </p:spPr>
          <p:txBody>
            <a:bodyPr wrap="square" lIns="0" tIns="0" rIns="0" bIns="0" rtlCol="0"/>
            <a:lstStyle/>
            <a:p>
              <a:endParaRPr/>
            </a:p>
          </p:txBody>
        </p:sp>
      </p:grpSp>
      <p:sp>
        <p:nvSpPr>
          <p:cNvPr id="65" name="object 65"/>
          <p:cNvSpPr txBox="1"/>
          <p:nvPr/>
        </p:nvSpPr>
        <p:spPr>
          <a:xfrm>
            <a:off x="3638041" y="3688207"/>
            <a:ext cx="678180" cy="354965"/>
          </a:xfrm>
          <a:prstGeom prst="rect">
            <a:avLst/>
          </a:prstGeom>
        </p:spPr>
        <p:txBody>
          <a:bodyPr vert="horz" wrap="square" lIns="0" tIns="6985" rIns="0" bIns="0" rtlCol="0">
            <a:spAutoFit/>
          </a:bodyPr>
          <a:lstStyle/>
          <a:p>
            <a:pPr marR="5080" indent="6350">
              <a:lnSpc>
                <a:spcPct val="104700"/>
              </a:lnSpc>
              <a:spcBef>
                <a:spcPts val="55"/>
              </a:spcBef>
            </a:pPr>
            <a:r>
              <a:rPr sz="700" b="1" spc="-10" dirty="0">
                <a:latin typeface="Arial"/>
                <a:cs typeface="Arial"/>
              </a:rPr>
              <a:t>Increment</a:t>
            </a:r>
            <a:r>
              <a:rPr sz="700" b="1" spc="25" dirty="0">
                <a:latin typeface="Arial"/>
                <a:cs typeface="Arial"/>
              </a:rPr>
              <a:t> </a:t>
            </a:r>
            <a:r>
              <a:rPr sz="700" b="1" spc="-10" dirty="0">
                <a:latin typeface="Arial"/>
                <a:cs typeface="Arial"/>
              </a:rPr>
              <a:t>(INR)</a:t>
            </a:r>
            <a:r>
              <a:rPr sz="700" b="1" spc="500" dirty="0">
                <a:latin typeface="Arial"/>
                <a:cs typeface="Arial"/>
              </a:rPr>
              <a:t> </a:t>
            </a:r>
            <a:r>
              <a:rPr sz="700" b="1" dirty="0">
                <a:latin typeface="Arial"/>
                <a:cs typeface="Arial"/>
              </a:rPr>
              <a:t>Clear</a:t>
            </a:r>
            <a:r>
              <a:rPr sz="700" b="1" spc="-25" dirty="0">
                <a:latin typeface="Arial"/>
                <a:cs typeface="Arial"/>
              </a:rPr>
              <a:t> </a:t>
            </a:r>
            <a:r>
              <a:rPr sz="700" b="1" spc="-10" dirty="0">
                <a:latin typeface="Arial"/>
                <a:cs typeface="Arial"/>
              </a:rPr>
              <a:t>(CLR)</a:t>
            </a:r>
            <a:r>
              <a:rPr sz="700" b="1" spc="500" dirty="0">
                <a:latin typeface="Arial"/>
                <a:cs typeface="Arial"/>
              </a:rPr>
              <a:t> </a:t>
            </a:r>
            <a:r>
              <a:rPr sz="700" b="1" spc="-10" dirty="0">
                <a:latin typeface="Arial"/>
                <a:cs typeface="Arial"/>
              </a:rPr>
              <a:t>Clock</a:t>
            </a:r>
            <a:endParaRPr sz="700">
              <a:latin typeface="Arial"/>
              <a:cs typeface="Arial"/>
            </a:endParaRPr>
          </a:p>
        </p:txBody>
      </p:sp>
      <p:grpSp>
        <p:nvGrpSpPr>
          <p:cNvPr id="66" name="object 66"/>
          <p:cNvGrpSpPr/>
          <p:nvPr/>
        </p:nvGrpSpPr>
        <p:grpSpPr>
          <a:xfrm>
            <a:off x="3123945" y="1904745"/>
            <a:ext cx="1242695" cy="2103120"/>
            <a:chOff x="3123945" y="1904745"/>
            <a:chExt cx="1242695" cy="2103120"/>
          </a:xfrm>
        </p:grpSpPr>
        <p:sp>
          <p:nvSpPr>
            <p:cNvPr id="67" name="object 67"/>
            <p:cNvSpPr/>
            <p:nvPr/>
          </p:nvSpPr>
          <p:spPr>
            <a:xfrm>
              <a:off x="3130295" y="3944111"/>
              <a:ext cx="84455" cy="57785"/>
            </a:xfrm>
            <a:custGeom>
              <a:avLst/>
              <a:gdLst/>
              <a:ahLst/>
              <a:cxnLst/>
              <a:rect l="l" t="t" r="r" b="b"/>
              <a:pathLst>
                <a:path w="84455" h="57785">
                  <a:moveTo>
                    <a:pt x="84328" y="0"/>
                  </a:moveTo>
                  <a:lnTo>
                    <a:pt x="0" y="31241"/>
                  </a:lnTo>
                  <a:lnTo>
                    <a:pt x="84328" y="57276"/>
                  </a:lnTo>
                </a:path>
              </a:pathLst>
            </a:custGeom>
            <a:ln w="12192">
              <a:solidFill>
                <a:srgbClr val="000000"/>
              </a:solidFill>
            </a:ln>
          </p:spPr>
          <p:txBody>
            <a:bodyPr wrap="square" lIns="0" tIns="0" rIns="0" bIns="0" rtlCol="0"/>
            <a:lstStyle/>
            <a:p>
              <a:endParaRPr/>
            </a:p>
          </p:txBody>
        </p:sp>
        <p:sp>
          <p:nvSpPr>
            <p:cNvPr id="68" name="object 68"/>
            <p:cNvSpPr/>
            <p:nvPr/>
          </p:nvSpPr>
          <p:spPr>
            <a:xfrm>
              <a:off x="4308347" y="2167127"/>
              <a:ext cx="58419" cy="48895"/>
            </a:xfrm>
            <a:custGeom>
              <a:avLst/>
              <a:gdLst/>
              <a:ahLst/>
              <a:cxnLst/>
              <a:rect l="l" t="t" r="r" b="b"/>
              <a:pathLst>
                <a:path w="58420" h="48894">
                  <a:moveTo>
                    <a:pt x="29337" y="0"/>
                  </a:moveTo>
                  <a:lnTo>
                    <a:pt x="21824" y="261"/>
                  </a:lnTo>
                  <a:lnTo>
                    <a:pt x="14382" y="1047"/>
                  </a:lnTo>
                  <a:lnTo>
                    <a:pt x="7084" y="2357"/>
                  </a:lnTo>
                  <a:lnTo>
                    <a:pt x="0" y="4191"/>
                  </a:lnTo>
                  <a:lnTo>
                    <a:pt x="29337" y="48768"/>
                  </a:lnTo>
                  <a:lnTo>
                    <a:pt x="57912" y="3937"/>
                  </a:lnTo>
                  <a:lnTo>
                    <a:pt x="51018" y="2250"/>
                  </a:lnTo>
                  <a:lnTo>
                    <a:pt x="43910" y="1016"/>
                  </a:lnTo>
                  <a:lnTo>
                    <a:pt x="36659" y="257"/>
                  </a:lnTo>
                  <a:lnTo>
                    <a:pt x="29337" y="0"/>
                  </a:lnTo>
                  <a:close/>
                </a:path>
              </a:pathLst>
            </a:custGeom>
            <a:solidFill>
              <a:srgbClr val="000000"/>
            </a:solidFill>
          </p:spPr>
          <p:txBody>
            <a:bodyPr wrap="square" lIns="0" tIns="0" rIns="0" bIns="0" rtlCol="0"/>
            <a:lstStyle/>
            <a:p>
              <a:endParaRPr/>
            </a:p>
          </p:txBody>
        </p:sp>
        <p:sp>
          <p:nvSpPr>
            <p:cNvPr id="69" name="object 69"/>
            <p:cNvSpPr/>
            <p:nvPr/>
          </p:nvSpPr>
          <p:spPr>
            <a:xfrm>
              <a:off x="4337303" y="1911095"/>
              <a:ext cx="0" cy="271780"/>
            </a:xfrm>
            <a:custGeom>
              <a:avLst/>
              <a:gdLst/>
              <a:ahLst/>
              <a:cxnLst/>
              <a:rect l="l" t="t" r="r" b="b"/>
              <a:pathLst>
                <a:path h="271780">
                  <a:moveTo>
                    <a:pt x="0" y="271272"/>
                  </a:moveTo>
                  <a:lnTo>
                    <a:pt x="0" y="0"/>
                  </a:lnTo>
                </a:path>
              </a:pathLst>
            </a:custGeom>
            <a:ln w="12192">
              <a:solidFill>
                <a:srgbClr val="000000"/>
              </a:solidFill>
            </a:ln>
          </p:spPr>
          <p:txBody>
            <a:bodyPr wrap="square" lIns="0" tIns="0" rIns="0" bIns="0" rtlCol="0"/>
            <a:lstStyle/>
            <a:p>
              <a:endParaRPr/>
            </a:p>
          </p:txBody>
        </p:sp>
      </p:grpSp>
      <p:sp>
        <p:nvSpPr>
          <p:cNvPr id="70" name="object 70"/>
          <p:cNvSpPr txBox="1"/>
          <p:nvPr/>
        </p:nvSpPr>
        <p:spPr>
          <a:xfrm>
            <a:off x="4104385" y="1789302"/>
            <a:ext cx="535940" cy="132080"/>
          </a:xfrm>
          <a:prstGeom prst="rect">
            <a:avLst/>
          </a:prstGeom>
        </p:spPr>
        <p:txBody>
          <a:bodyPr vert="horz" wrap="square" lIns="0" tIns="12065" rIns="0" bIns="0" rtlCol="0">
            <a:spAutoFit/>
          </a:bodyPr>
          <a:lstStyle/>
          <a:p>
            <a:pPr>
              <a:lnSpc>
                <a:spcPct val="100000"/>
              </a:lnSpc>
              <a:spcBef>
                <a:spcPts val="95"/>
              </a:spcBef>
            </a:pPr>
            <a:r>
              <a:rPr sz="700" b="1" dirty="0">
                <a:latin typeface="Arial"/>
                <a:cs typeface="Arial"/>
              </a:rPr>
              <a:t>Other</a:t>
            </a:r>
            <a:r>
              <a:rPr sz="700" b="1" spc="-45" dirty="0">
                <a:latin typeface="Arial"/>
                <a:cs typeface="Arial"/>
              </a:rPr>
              <a:t> </a:t>
            </a:r>
            <a:r>
              <a:rPr sz="700" b="1" spc="-10" dirty="0">
                <a:latin typeface="Arial"/>
                <a:cs typeface="Arial"/>
              </a:rPr>
              <a:t>inputs</a:t>
            </a:r>
            <a:endParaRPr sz="700">
              <a:latin typeface="Arial"/>
              <a:cs typeface="Arial"/>
            </a:endParaRPr>
          </a:p>
        </p:txBody>
      </p:sp>
      <p:grpSp>
        <p:nvGrpSpPr>
          <p:cNvPr id="71" name="object 71"/>
          <p:cNvGrpSpPr/>
          <p:nvPr/>
        </p:nvGrpSpPr>
        <p:grpSpPr>
          <a:xfrm>
            <a:off x="4710429" y="2662427"/>
            <a:ext cx="617855" cy="40005"/>
            <a:chOff x="4710429" y="2662427"/>
            <a:chExt cx="617855" cy="40005"/>
          </a:xfrm>
        </p:grpSpPr>
        <p:sp>
          <p:nvSpPr>
            <p:cNvPr id="72" name="object 72"/>
            <p:cNvSpPr/>
            <p:nvPr/>
          </p:nvSpPr>
          <p:spPr>
            <a:xfrm>
              <a:off x="5254751" y="2662427"/>
              <a:ext cx="73660" cy="40005"/>
            </a:xfrm>
            <a:custGeom>
              <a:avLst/>
              <a:gdLst/>
              <a:ahLst/>
              <a:cxnLst/>
              <a:rect l="l" t="t" r="r" b="b"/>
              <a:pathLst>
                <a:path w="73660" h="40005">
                  <a:moveTo>
                    <a:pt x="6223" y="0"/>
                  </a:moveTo>
                  <a:lnTo>
                    <a:pt x="2159" y="6350"/>
                  </a:lnTo>
                  <a:lnTo>
                    <a:pt x="0" y="13208"/>
                  </a:lnTo>
                  <a:lnTo>
                    <a:pt x="0" y="26797"/>
                  </a:lnTo>
                  <a:lnTo>
                    <a:pt x="2032" y="33400"/>
                  </a:lnTo>
                  <a:lnTo>
                    <a:pt x="5969" y="39624"/>
                  </a:lnTo>
                  <a:lnTo>
                    <a:pt x="73151" y="20066"/>
                  </a:lnTo>
                  <a:lnTo>
                    <a:pt x="6223" y="0"/>
                  </a:lnTo>
                  <a:close/>
                </a:path>
              </a:pathLst>
            </a:custGeom>
            <a:solidFill>
              <a:srgbClr val="000000"/>
            </a:solidFill>
          </p:spPr>
          <p:txBody>
            <a:bodyPr wrap="square" lIns="0" tIns="0" rIns="0" bIns="0" rtlCol="0"/>
            <a:lstStyle/>
            <a:p>
              <a:endParaRPr/>
            </a:p>
          </p:txBody>
        </p:sp>
        <p:sp>
          <p:nvSpPr>
            <p:cNvPr id="73" name="object 73"/>
            <p:cNvSpPr/>
            <p:nvPr/>
          </p:nvSpPr>
          <p:spPr>
            <a:xfrm>
              <a:off x="4716779" y="2685287"/>
              <a:ext cx="554990" cy="0"/>
            </a:xfrm>
            <a:custGeom>
              <a:avLst/>
              <a:gdLst/>
              <a:ahLst/>
              <a:cxnLst/>
              <a:rect l="l" t="t" r="r" b="b"/>
              <a:pathLst>
                <a:path w="554989">
                  <a:moveTo>
                    <a:pt x="0" y="0"/>
                  </a:moveTo>
                  <a:lnTo>
                    <a:pt x="554736" y="0"/>
                  </a:lnTo>
                </a:path>
              </a:pathLst>
            </a:custGeom>
            <a:ln w="12192">
              <a:solidFill>
                <a:srgbClr val="000000"/>
              </a:solidFill>
            </a:ln>
          </p:spPr>
          <p:txBody>
            <a:bodyPr wrap="square" lIns="0" tIns="0" rIns="0" bIns="0" rtlCol="0"/>
            <a:lstStyle/>
            <a:p>
              <a:endParaRPr/>
            </a:p>
          </p:txBody>
        </p:sp>
      </p:grpSp>
      <p:sp>
        <p:nvSpPr>
          <p:cNvPr id="74" name="object 74"/>
          <p:cNvSpPr txBox="1"/>
          <p:nvPr/>
        </p:nvSpPr>
        <p:spPr>
          <a:xfrm>
            <a:off x="5332221" y="2581782"/>
            <a:ext cx="325755" cy="217170"/>
          </a:xfrm>
          <a:prstGeom prst="rect">
            <a:avLst/>
          </a:prstGeom>
        </p:spPr>
        <p:txBody>
          <a:bodyPr vert="horz" wrap="square" lIns="0" tIns="33020" rIns="0" bIns="0" rtlCol="0">
            <a:spAutoFit/>
          </a:bodyPr>
          <a:lstStyle/>
          <a:p>
            <a:pPr marR="5080">
              <a:lnSpc>
                <a:spcPts val="670"/>
              </a:lnSpc>
              <a:spcBef>
                <a:spcPts val="260"/>
              </a:spcBef>
            </a:pPr>
            <a:r>
              <a:rPr sz="700" b="1" spc="-10" dirty="0">
                <a:latin typeface="Arial"/>
                <a:cs typeface="Arial"/>
              </a:rPr>
              <a:t>Control</a:t>
            </a:r>
            <a:r>
              <a:rPr sz="700" b="1" spc="500" dirty="0">
                <a:latin typeface="Arial"/>
                <a:cs typeface="Arial"/>
              </a:rPr>
              <a:t> </a:t>
            </a:r>
            <a:r>
              <a:rPr sz="700" b="1" spc="-10" dirty="0">
                <a:latin typeface="Arial"/>
                <a:cs typeface="Arial"/>
              </a:rPr>
              <a:t>signals</a:t>
            </a:r>
            <a:endParaRPr sz="700">
              <a:latin typeface="Arial"/>
              <a:cs typeface="Arial"/>
            </a:endParaRPr>
          </a:p>
        </p:txBody>
      </p:sp>
      <p:sp>
        <p:nvSpPr>
          <p:cNvPr id="75" name="object 75"/>
          <p:cNvSpPr txBox="1"/>
          <p:nvPr/>
        </p:nvSpPr>
        <p:spPr>
          <a:xfrm>
            <a:off x="2490723" y="2392831"/>
            <a:ext cx="1419860" cy="327660"/>
          </a:xfrm>
          <a:prstGeom prst="rect">
            <a:avLst/>
          </a:prstGeom>
        </p:spPr>
        <p:txBody>
          <a:bodyPr vert="horz" wrap="square" lIns="0" tIns="57150" rIns="0" bIns="0" rtlCol="0">
            <a:spAutoFit/>
          </a:bodyPr>
          <a:lstStyle/>
          <a:p>
            <a:pPr marL="966469">
              <a:lnSpc>
                <a:spcPct val="100000"/>
              </a:lnSpc>
              <a:spcBef>
                <a:spcPts val="450"/>
              </a:spcBef>
            </a:pPr>
            <a:r>
              <a:rPr sz="700" b="1" dirty="0">
                <a:latin typeface="Arial"/>
                <a:cs typeface="Arial"/>
              </a:rPr>
              <a:t>D</a:t>
            </a:r>
            <a:r>
              <a:rPr sz="700" b="1" spc="-120" dirty="0">
                <a:latin typeface="Arial"/>
                <a:cs typeface="Arial"/>
              </a:rPr>
              <a:t> </a:t>
            </a:r>
            <a:r>
              <a:rPr sz="1050" b="1" spc="-75" baseline="-15873" dirty="0">
                <a:latin typeface="Arial"/>
                <a:cs typeface="Arial"/>
              </a:rPr>
              <a:t>0</a:t>
            </a:r>
            <a:endParaRPr sz="1050" baseline="-15873">
              <a:latin typeface="Arial"/>
              <a:cs typeface="Arial"/>
            </a:endParaRPr>
          </a:p>
          <a:p>
            <a:pPr marL="25400">
              <a:lnSpc>
                <a:spcPct val="100000"/>
              </a:lnSpc>
              <a:spcBef>
                <a:spcPts val="350"/>
              </a:spcBef>
              <a:tabLst>
                <a:tab pos="966469" algn="l"/>
                <a:tab pos="1381125" algn="l"/>
              </a:tabLst>
            </a:pPr>
            <a:r>
              <a:rPr sz="700" b="1" u="sng" dirty="0">
                <a:uFill>
                  <a:solidFill>
                    <a:srgbClr val="000000"/>
                  </a:solidFill>
                </a:uFill>
                <a:latin typeface="Arial"/>
                <a:cs typeface="Arial"/>
              </a:rPr>
              <a:t>	D</a:t>
            </a:r>
            <a:r>
              <a:rPr sz="700" b="1" u="sng" spc="-130" dirty="0">
                <a:uFill>
                  <a:solidFill>
                    <a:srgbClr val="000000"/>
                  </a:solidFill>
                </a:uFill>
                <a:latin typeface="Arial"/>
                <a:cs typeface="Arial"/>
              </a:rPr>
              <a:t> </a:t>
            </a:r>
            <a:r>
              <a:rPr sz="1050" b="1" u="sng" spc="-75" baseline="-15873" dirty="0">
                <a:uFill>
                  <a:solidFill>
                    <a:srgbClr val="000000"/>
                  </a:solidFill>
                </a:uFill>
                <a:latin typeface="Arial"/>
                <a:cs typeface="Arial"/>
              </a:rPr>
              <a:t>7</a:t>
            </a:r>
            <a:r>
              <a:rPr sz="1050" b="1" u="sng" baseline="-15873" dirty="0">
                <a:uFill>
                  <a:solidFill>
                    <a:srgbClr val="000000"/>
                  </a:solidFill>
                </a:uFill>
                <a:latin typeface="Arial"/>
                <a:cs typeface="Arial"/>
              </a:rPr>
              <a:t>	</a:t>
            </a:r>
            <a:endParaRPr sz="1050" baseline="-15873">
              <a:latin typeface="Arial"/>
              <a:cs typeface="Arial"/>
            </a:endParaRPr>
          </a:p>
        </p:txBody>
      </p:sp>
      <p:sp>
        <p:nvSpPr>
          <p:cNvPr id="76" name="object 76"/>
          <p:cNvSpPr txBox="1"/>
          <p:nvPr/>
        </p:nvSpPr>
        <p:spPr>
          <a:xfrm>
            <a:off x="3429761" y="2903245"/>
            <a:ext cx="210185" cy="322580"/>
          </a:xfrm>
          <a:prstGeom prst="rect">
            <a:avLst/>
          </a:prstGeom>
        </p:spPr>
        <p:txBody>
          <a:bodyPr vert="horz" wrap="square" lIns="0" tIns="12700" rIns="0" bIns="0" rtlCol="0">
            <a:spAutoFit/>
          </a:bodyPr>
          <a:lstStyle/>
          <a:p>
            <a:pPr marL="59690" marR="30480" indent="-34925">
              <a:lnSpc>
                <a:spcPct val="139200"/>
              </a:lnSpc>
              <a:spcBef>
                <a:spcPts val="100"/>
              </a:spcBef>
            </a:pPr>
            <a:r>
              <a:rPr sz="1050" b="1" spc="-52" baseline="7936" dirty="0">
                <a:latin typeface="Arial"/>
                <a:cs typeface="Arial"/>
              </a:rPr>
              <a:t>T</a:t>
            </a:r>
            <a:r>
              <a:rPr sz="700" b="1" spc="-35" dirty="0">
                <a:latin typeface="Arial"/>
                <a:cs typeface="Arial"/>
              </a:rPr>
              <a:t>15</a:t>
            </a:r>
            <a:r>
              <a:rPr sz="700" b="1" spc="500" dirty="0">
                <a:latin typeface="Arial"/>
                <a:cs typeface="Arial"/>
              </a:rPr>
              <a:t> </a:t>
            </a:r>
            <a:r>
              <a:rPr sz="700" b="1" spc="-25" dirty="0">
                <a:latin typeface="Arial"/>
                <a:cs typeface="Arial"/>
              </a:rPr>
              <a:t>T</a:t>
            </a:r>
            <a:r>
              <a:rPr sz="1050" b="1" spc="-37" baseline="-15873" dirty="0">
                <a:latin typeface="Arial"/>
                <a:cs typeface="Arial"/>
              </a:rPr>
              <a:t>0</a:t>
            </a:r>
            <a:endParaRPr sz="1050" baseline="-15873">
              <a:latin typeface="Arial"/>
              <a:cs typeface="Arial"/>
            </a:endParaRPr>
          </a:p>
        </p:txBody>
      </p:sp>
      <p:sp>
        <p:nvSpPr>
          <p:cNvPr id="77" name="object 77"/>
          <p:cNvSpPr/>
          <p:nvPr/>
        </p:nvSpPr>
        <p:spPr>
          <a:xfrm>
            <a:off x="2249423" y="2642616"/>
            <a:ext cx="525780" cy="1018540"/>
          </a:xfrm>
          <a:custGeom>
            <a:avLst/>
            <a:gdLst/>
            <a:ahLst/>
            <a:cxnLst/>
            <a:rect l="l" t="t" r="r" b="b"/>
            <a:pathLst>
              <a:path w="525780" h="1018539">
                <a:moveTo>
                  <a:pt x="0" y="0"/>
                </a:moveTo>
                <a:lnTo>
                  <a:pt x="0" y="198120"/>
                </a:lnTo>
              </a:path>
              <a:path w="525780" h="1018539">
                <a:moveTo>
                  <a:pt x="525780" y="1018032"/>
                </a:moveTo>
                <a:lnTo>
                  <a:pt x="525780" y="897636"/>
                </a:lnTo>
              </a:path>
            </a:pathLst>
          </a:custGeom>
          <a:ln w="12192">
            <a:solidFill>
              <a:srgbClr val="000000"/>
            </a:solidFill>
          </a:ln>
        </p:spPr>
        <p:txBody>
          <a:bodyPr wrap="square" lIns="0" tIns="0" rIns="0" bIns="0" rtlCol="0"/>
          <a:lstStyle/>
          <a:p>
            <a:endParaRPr/>
          </a:p>
        </p:txBody>
      </p:sp>
      <p:sp>
        <p:nvSpPr>
          <p:cNvPr id="78" name="object 78"/>
          <p:cNvSpPr txBox="1"/>
          <p:nvPr/>
        </p:nvSpPr>
        <p:spPr>
          <a:xfrm>
            <a:off x="3999229" y="2517775"/>
            <a:ext cx="676275" cy="346710"/>
          </a:xfrm>
          <a:prstGeom prst="rect">
            <a:avLst/>
          </a:prstGeom>
        </p:spPr>
        <p:txBody>
          <a:bodyPr vert="horz" wrap="square" lIns="0" tIns="25400" rIns="0" bIns="0" rtlCol="0">
            <a:spAutoFit/>
          </a:bodyPr>
          <a:lstStyle/>
          <a:p>
            <a:pPr marR="5080" algn="ctr">
              <a:lnSpc>
                <a:spcPts val="819"/>
              </a:lnSpc>
              <a:spcBef>
                <a:spcPts val="200"/>
              </a:spcBef>
            </a:pPr>
            <a:r>
              <a:rPr sz="750" b="1" spc="-10" dirty="0">
                <a:latin typeface="Arial"/>
                <a:cs typeface="Arial"/>
              </a:rPr>
              <a:t>Combinational Control</a:t>
            </a:r>
            <a:endParaRPr sz="750">
              <a:latin typeface="Arial"/>
              <a:cs typeface="Arial"/>
            </a:endParaRPr>
          </a:p>
          <a:p>
            <a:pPr marR="5715" algn="ctr">
              <a:lnSpc>
                <a:spcPts val="785"/>
              </a:lnSpc>
            </a:pPr>
            <a:r>
              <a:rPr sz="750" b="1" spc="-10" dirty="0">
                <a:latin typeface="Arial"/>
                <a:cs typeface="Arial"/>
              </a:rPr>
              <a:t>logic</a:t>
            </a:r>
            <a:endParaRPr sz="750">
              <a:latin typeface="Arial"/>
              <a:cs typeface="Arial"/>
            </a:endParaRPr>
          </a:p>
        </p:txBody>
      </p:sp>
      <p:grpSp>
        <p:nvGrpSpPr>
          <p:cNvPr id="79" name="object 79"/>
          <p:cNvGrpSpPr/>
          <p:nvPr/>
        </p:nvGrpSpPr>
        <p:grpSpPr>
          <a:xfrm>
            <a:off x="1694688" y="1903476"/>
            <a:ext cx="3335020" cy="2255520"/>
            <a:chOff x="1694688" y="1903476"/>
            <a:chExt cx="3335020" cy="2255520"/>
          </a:xfrm>
        </p:grpSpPr>
        <p:sp>
          <p:nvSpPr>
            <p:cNvPr id="80" name="object 80"/>
            <p:cNvSpPr/>
            <p:nvPr/>
          </p:nvSpPr>
          <p:spPr>
            <a:xfrm>
              <a:off x="4310633" y="2114550"/>
              <a:ext cx="523240" cy="599440"/>
            </a:xfrm>
            <a:custGeom>
              <a:avLst/>
              <a:gdLst/>
              <a:ahLst/>
              <a:cxnLst/>
              <a:rect l="l" t="t" r="r" b="b"/>
              <a:pathLst>
                <a:path w="523239" h="599439">
                  <a:moveTo>
                    <a:pt x="464819" y="550163"/>
                  </a:moveTo>
                  <a:lnTo>
                    <a:pt x="522731" y="598932"/>
                  </a:lnTo>
                </a:path>
                <a:path w="523239" h="599439">
                  <a:moveTo>
                    <a:pt x="0" y="0"/>
                  </a:moveTo>
                  <a:lnTo>
                    <a:pt x="51815" y="19811"/>
                  </a:lnTo>
                </a:path>
              </a:pathLst>
            </a:custGeom>
            <a:ln w="4572">
              <a:solidFill>
                <a:srgbClr val="000000"/>
              </a:solidFill>
            </a:ln>
          </p:spPr>
          <p:txBody>
            <a:bodyPr wrap="square" lIns="0" tIns="0" rIns="0" bIns="0" rtlCol="0"/>
            <a:lstStyle/>
            <a:p>
              <a:endParaRPr/>
            </a:p>
          </p:txBody>
        </p:sp>
        <p:sp>
          <p:nvSpPr>
            <p:cNvPr id="81" name="object 81"/>
            <p:cNvSpPr/>
            <p:nvPr/>
          </p:nvSpPr>
          <p:spPr>
            <a:xfrm>
              <a:off x="3520439" y="1903476"/>
              <a:ext cx="0" cy="436245"/>
            </a:xfrm>
            <a:custGeom>
              <a:avLst/>
              <a:gdLst/>
              <a:ahLst/>
              <a:cxnLst/>
              <a:rect l="l" t="t" r="r" b="b"/>
              <a:pathLst>
                <a:path h="436244">
                  <a:moveTo>
                    <a:pt x="0" y="0"/>
                  </a:moveTo>
                  <a:lnTo>
                    <a:pt x="0" y="435864"/>
                  </a:lnTo>
                </a:path>
              </a:pathLst>
            </a:custGeom>
            <a:ln w="12192">
              <a:solidFill>
                <a:srgbClr val="000000"/>
              </a:solidFill>
            </a:ln>
          </p:spPr>
          <p:txBody>
            <a:bodyPr wrap="square" lIns="0" tIns="0" rIns="0" bIns="0" rtlCol="0"/>
            <a:lstStyle/>
            <a:p>
              <a:endParaRPr/>
            </a:p>
          </p:txBody>
        </p:sp>
        <p:sp>
          <p:nvSpPr>
            <p:cNvPr id="82" name="object 82"/>
            <p:cNvSpPr/>
            <p:nvPr/>
          </p:nvSpPr>
          <p:spPr>
            <a:xfrm>
              <a:off x="3520439" y="2308606"/>
              <a:ext cx="417830" cy="58419"/>
            </a:xfrm>
            <a:custGeom>
              <a:avLst/>
              <a:gdLst/>
              <a:ahLst/>
              <a:cxnLst/>
              <a:rect l="l" t="t" r="r" b="b"/>
              <a:pathLst>
                <a:path w="417829" h="58419">
                  <a:moveTo>
                    <a:pt x="393536" y="29210"/>
                  </a:moveTo>
                  <a:lnTo>
                    <a:pt x="364363" y="46227"/>
                  </a:lnTo>
                  <a:lnTo>
                    <a:pt x="361442" y="47878"/>
                  </a:lnTo>
                  <a:lnTo>
                    <a:pt x="360425" y="51562"/>
                  </a:lnTo>
                  <a:lnTo>
                    <a:pt x="362076" y="54483"/>
                  </a:lnTo>
                  <a:lnTo>
                    <a:pt x="363855" y="57403"/>
                  </a:lnTo>
                  <a:lnTo>
                    <a:pt x="367538" y="58420"/>
                  </a:lnTo>
                  <a:lnTo>
                    <a:pt x="370459" y="56642"/>
                  </a:lnTo>
                  <a:lnTo>
                    <a:pt x="407105" y="35305"/>
                  </a:lnTo>
                  <a:lnTo>
                    <a:pt x="405511" y="35305"/>
                  </a:lnTo>
                  <a:lnTo>
                    <a:pt x="405511" y="34417"/>
                  </a:lnTo>
                  <a:lnTo>
                    <a:pt x="402463" y="34417"/>
                  </a:lnTo>
                  <a:lnTo>
                    <a:pt x="393536" y="29210"/>
                  </a:lnTo>
                  <a:close/>
                </a:path>
                <a:path w="417829" h="58419">
                  <a:moveTo>
                    <a:pt x="383086" y="23114"/>
                  </a:moveTo>
                  <a:lnTo>
                    <a:pt x="0" y="23114"/>
                  </a:lnTo>
                  <a:lnTo>
                    <a:pt x="0" y="35305"/>
                  </a:lnTo>
                  <a:lnTo>
                    <a:pt x="383086" y="35305"/>
                  </a:lnTo>
                  <a:lnTo>
                    <a:pt x="393536" y="29210"/>
                  </a:lnTo>
                  <a:lnTo>
                    <a:pt x="383086" y="23114"/>
                  </a:lnTo>
                  <a:close/>
                </a:path>
                <a:path w="417829" h="58419">
                  <a:moveTo>
                    <a:pt x="407105" y="23114"/>
                  </a:moveTo>
                  <a:lnTo>
                    <a:pt x="405511" y="23114"/>
                  </a:lnTo>
                  <a:lnTo>
                    <a:pt x="405511" y="35305"/>
                  </a:lnTo>
                  <a:lnTo>
                    <a:pt x="407105" y="35305"/>
                  </a:lnTo>
                  <a:lnTo>
                    <a:pt x="417575" y="29210"/>
                  </a:lnTo>
                  <a:lnTo>
                    <a:pt x="407105" y="23114"/>
                  </a:lnTo>
                  <a:close/>
                </a:path>
                <a:path w="417829" h="58419">
                  <a:moveTo>
                    <a:pt x="402463" y="24002"/>
                  </a:moveTo>
                  <a:lnTo>
                    <a:pt x="393536" y="29210"/>
                  </a:lnTo>
                  <a:lnTo>
                    <a:pt x="402463" y="34417"/>
                  </a:lnTo>
                  <a:lnTo>
                    <a:pt x="402463" y="24002"/>
                  </a:lnTo>
                  <a:close/>
                </a:path>
                <a:path w="417829" h="58419">
                  <a:moveTo>
                    <a:pt x="405511" y="24002"/>
                  </a:moveTo>
                  <a:lnTo>
                    <a:pt x="402463" y="24002"/>
                  </a:lnTo>
                  <a:lnTo>
                    <a:pt x="402463" y="34417"/>
                  </a:lnTo>
                  <a:lnTo>
                    <a:pt x="405511" y="34417"/>
                  </a:lnTo>
                  <a:lnTo>
                    <a:pt x="405511" y="24002"/>
                  </a:lnTo>
                  <a:close/>
                </a:path>
                <a:path w="417829" h="58419">
                  <a:moveTo>
                    <a:pt x="367538" y="0"/>
                  </a:moveTo>
                  <a:lnTo>
                    <a:pt x="363855" y="1016"/>
                  </a:lnTo>
                  <a:lnTo>
                    <a:pt x="362076" y="3937"/>
                  </a:lnTo>
                  <a:lnTo>
                    <a:pt x="360425" y="6858"/>
                  </a:lnTo>
                  <a:lnTo>
                    <a:pt x="361442" y="10541"/>
                  </a:lnTo>
                  <a:lnTo>
                    <a:pt x="364363" y="12192"/>
                  </a:lnTo>
                  <a:lnTo>
                    <a:pt x="393536" y="29210"/>
                  </a:lnTo>
                  <a:lnTo>
                    <a:pt x="402463" y="24002"/>
                  </a:lnTo>
                  <a:lnTo>
                    <a:pt x="405511" y="24002"/>
                  </a:lnTo>
                  <a:lnTo>
                    <a:pt x="405511" y="23114"/>
                  </a:lnTo>
                  <a:lnTo>
                    <a:pt x="407105" y="23114"/>
                  </a:lnTo>
                  <a:lnTo>
                    <a:pt x="370459" y="1777"/>
                  </a:lnTo>
                  <a:lnTo>
                    <a:pt x="367538" y="0"/>
                  </a:lnTo>
                  <a:close/>
                </a:path>
              </a:pathLst>
            </a:custGeom>
            <a:solidFill>
              <a:srgbClr val="000000"/>
            </a:solidFill>
          </p:spPr>
          <p:txBody>
            <a:bodyPr wrap="square" lIns="0" tIns="0" rIns="0" bIns="0" rtlCol="0"/>
            <a:lstStyle/>
            <a:p>
              <a:endParaRPr/>
            </a:p>
          </p:txBody>
        </p:sp>
        <p:sp>
          <p:nvSpPr>
            <p:cNvPr id="83" name="object 83"/>
            <p:cNvSpPr/>
            <p:nvPr/>
          </p:nvSpPr>
          <p:spPr>
            <a:xfrm>
              <a:off x="1704594" y="1969770"/>
              <a:ext cx="3314700" cy="2179320"/>
            </a:xfrm>
            <a:custGeom>
              <a:avLst/>
              <a:gdLst/>
              <a:ahLst/>
              <a:cxnLst/>
              <a:rect l="l" t="t" r="r" b="b"/>
              <a:pathLst>
                <a:path w="3314700" h="2179320">
                  <a:moveTo>
                    <a:pt x="0" y="2179319"/>
                  </a:moveTo>
                  <a:lnTo>
                    <a:pt x="3314700" y="2179319"/>
                  </a:lnTo>
                  <a:lnTo>
                    <a:pt x="3314700" y="0"/>
                  </a:lnTo>
                  <a:lnTo>
                    <a:pt x="0" y="0"/>
                  </a:lnTo>
                  <a:lnTo>
                    <a:pt x="0" y="2179319"/>
                  </a:lnTo>
                  <a:close/>
                </a:path>
              </a:pathLst>
            </a:custGeom>
            <a:ln w="19812">
              <a:solidFill>
                <a:srgbClr val="000000"/>
              </a:solidFill>
              <a:prstDash val="dot"/>
            </a:ln>
          </p:spPr>
          <p:txBody>
            <a:bodyPr wrap="square" lIns="0" tIns="0" rIns="0" bIns="0" rtlCol="0"/>
            <a:lstStyle/>
            <a:p>
              <a:endParaRPr/>
            </a:p>
          </p:txBody>
        </p:sp>
      </p:grpSp>
      <p:grpSp>
        <p:nvGrpSpPr>
          <p:cNvPr id="84" name="object 84"/>
          <p:cNvGrpSpPr/>
          <p:nvPr/>
        </p:nvGrpSpPr>
        <p:grpSpPr>
          <a:xfrm>
            <a:off x="381000" y="4844796"/>
            <a:ext cx="6096000" cy="3429000"/>
            <a:chOff x="381000" y="4844796"/>
            <a:chExt cx="6096000" cy="3429000"/>
          </a:xfrm>
        </p:grpSpPr>
        <p:sp>
          <p:nvSpPr>
            <p:cNvPr id="85" name="object 85"/>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6" name="object 86"/>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7" name="object 87"/>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88" name="object 88"/>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spc="-10" dirty="0">
                <a:latin typeface="Georgia"/>
                <a:cs typeface="Georgia"/>
              </a:rPr>
              <a:t>Registers</a:t>
            </a:r>
            <a:endParaRPr sz="2200">
              <a:latin typeface="Georgia"/>
              <a:cs typeface="Georgia"/>
            </a:endParaRPr>
          </a:p>
          <a:p>
            <a:pPr marL="431800" indent="-169545">
              <a:lnSpc>
                <a:spcPct val="100000"/>
              </a:lnSpc>
              <a:spcBef>
                <a:spcPts val="1845"/>
              </a:spcBef>
              <a:buClr>
                <a:srgbClr val="3E762B"/>
              </a:buClr>
              <a:buFont typeface="Wingdings"/>
              <a:buChar char=""/>
              <a:tabLst>
                <a:tab pos="431800" algn="l"/>
              </a:tabLst>
            </a:pP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Basic</a:t>
            </a:r>
            <a:r>
              <a:rPr sz="1200" spc="-15" dirty="0">
                <a:latin typeface="Times New Roman"/>
                <a:cs typeface="Times New Roman"/>
              </a:rPr>
              <a:t> </a:t>
            </a:r>
            <a:r>
              <a:rPr sz="1200" spc="-10" dirty="0">
                <a:latin typeface="Times New Roman"/>
                <a:cs typeface="Times New Roman"/>
              </a:rPr>
              <a:t>Computer,</a:t>
            </a:r>
            <a:r>
              <a:rPr sz="1200" spc="-15" dirty="0">
                <a:latin typeface="Times New Roman"/>
                <a:cs typeface="Times New Roman"/>
              </a:rPr>
              <a:t> </a:t>
            </a:r>
            <a:r>
              <a:rPr sz="1200" dirty="0">
                <a:latin typeface="Times New Roman"/>
                <a:cs typeface="Times New Roman"/>
              </a:rPr>
              <a:t>there</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only</a:t>
            </a:r>
            <a:r>
              <a:rPr sz="1200" spc="-3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general</a:t>
            </a:r>
            <a:r>
              <a:rPr sz="1200" spc="-10" dirty="0">
                <a:latin typeface="Times New Roman"/>
                <a:cs typeface="Times New Roman"/>
              </a:rPr>
              <a:t> </a:t>
            </a:r>
            <a:r>
              <a:rPr sz="1200" dirty="0">
                <a:latin typeface="Times New Roman"/>
                <a:cs typeface="Times New Roman"/>
              </a:rPr>
              <a:t>purpose</a:t>
            </a:r>
            <a:r>
              <a:rPr sz="1200" spc="-15" dirty="0">
                <a:latin typeface="Times New Roman"/>
                <a:cs typeface="Times New Roman"/>
              </a:rPr>
              <a:t> </a:t>
            </a:r>
            <a:r>
              <a:rPr sz="1200" spc="-10" dirty="0">
                <a:latin typeface="Times New Roman"/>
                <a:cs typeface="Times New Roman"/>
              </a:rPr>
              <a:t>register,</a:t>
            </a:r>
            <a:r>
              <a:rPr sz="1200" dirty="0">
                <a:latin typeface="Times New Roman"/>
                <a:cs typeface="Times New Roman"/>
              </a:rPr>
              <a:t> </a:t>
            </a:r>
            <a:r>
              <a:rPr sz="1200" spc="-10" dirty="0">
                <a:latin typeface="Times New Roman"/>
                <a:cs typeface="Times New Roman"/>
              </a:rPr>
              <a:t>the</a:t>
            </a:r>
            <a:r>
              <a:rPr sz="1200" spc="-75" dirty="0">
                <a:latin typeface="Times New Roman"/>
                <a:cs typeface="Times New Roman"/>
              </a:rPr>
              <a:t> </a:t>
            </a:r>
            <a:r>
              <a:rPr sz="1200" spc="-10" dirty="0">
                <a:latin typeface="Times New Roman"/>
                <a:cs typeface="Times New Roman"/>
              </a:rPr>
              <a:t>Accumulator</a:t>
            </a:r>
            <a:r>
              <a:rPr sz="1200" spc="-20" dirty="0">
                <a:latin typeface="Times New Roman"/>
                <a:cs typeface="Times New Roman"/>
              </a:rPr>
              <a:t> (AC)</a:t>
            </a:r>
            <a:endParaRPr sz="1200">
              <a:latin typeface="Times New Roman"/>
              <a:cs typeface="Times New Roman"/>
            </a:endParaRPr>
          </a:p>
          <a:p>
            <a:pPr marL="431800" indent="-169545">
              <a:lnSpc>
                <a:spcPct val="100000"/>
              </a:lnSpc>
              <a:spcBef>
                <a:spcPts val="1200"/>
              </a:spcBef>
              <a:buClr>
                <a:srgbClr val="3E762B"/>
              </a:buClr>
              <a:buFont typeface="Wingdings"/>
              <a:buChar char=""/>
              <a:tabLst>
                <a:tab pos="431800" algn="l"/>
              </a:tabLst>
            </a:pP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modern</a:t>
            </a:r>
            <a:r>
              <a:rPr sz="1200" spc="-20" dirty="0">
                <a:latin typeface="Times New Roman"/>
                <a:cs typeface="Times New Roman"/>
              </a:rPr>
              <a:t> </a:t>
            </a:r>
            <a:r>
              <a:rPr sz="1200" dirty="0">
                <a:latin typeface="Times New Roman"/>
                <a:cs typeface="Times New Roman"/>
              </a:rPr>
              <a:t>CPUs,</a:t>
            </a:r>
            <a:r>
              <a:rPr sz="1200" spc="-50" dirty="0">
                <a:latin typeface="Times New Roman"/>
                <a:cs typeface="Times New Roman"/>
              </a:rPr>
              <a:t> </a:t>
            </a:r>
            <a:r>
              <a:rPr sz="1200" dirty="0">
                <a:latin typeface="Times New Roman"/>
                <a:cs typeface="Times New Roman"/>
              </a:rPr>
              <a:t>there</a:t>
            </a:r>
            <a:r>
              <a:rPr sz="1200" spc="-25" dirty="0">
                <a:latin typeface="Times New Roman"/>
                <a:cs typeface="Times New Roman"/>
              </a:rPr>
              <a:t> </a:t>
            </a:r>
            <a:r>
              <a:rPr sz="1200" dirty="0">
                <a:latin typeface="Times New Roman"/>
                <a:cs typeface="Times New Roman"/>
              </a:rPr>
              <a:t>are</a:t>
            </a:r>
            <a:r>
              <a:rPr sz="1200" spc="-35" dirty="0">
                <a:latin typeface="Times New Roman"/>
                <a:cs typeface="Times New Roman"/>
              </a:rPr>
              <a:t> </a:t>
            </a:r>
            <a:r>
              <a:rPr sz="1200" dirty="0">
                <a:latin typeface="Times New Roman"/>
                <a:cs typeface="Times New Roman"/>
              </a:rPr>
              <a:t>many</a:t>
            </a:r>
            <a:r>
              <a:rPr sz="1200" spc="-35" dirty="0">
                <a:latin typeface="Times New Roman"/>
                <a:cs typeface="Times New Roman"/>
              </a:rPr>
              <a:t> </a:t>
            </a:r>
            <a:r>
              <a:rPr sz="1200" dirty="0">
                <a:latin typeface="Times New Roman"/>
                <a:cs typeface="Times New Roman"/>
              </a:rPr>
              <a:t>general</a:t>
            </a:r>
            <a:r>
              <a:rPr sz="1200" spc="-25" dirty="0">
                <a:latin typeface="Times New Roman"/>
                <a:cs typeface="Times New Roman"/>
              </a:rPr>
              <a:t> </a:t>
            </a:r>
            <a:r>
              <a:rPr sz="1200" dirty="0">
                <a:latin typeface="Times New Roman"/>
                <a:cs typeface="Times New Roman"/>
              </a:rPr>
              <a:t>purpose</a:t>
            </a:r>
            <a:r>
              <a:rPr sz="1200" spc="-30" dirty="0">
                <a:latin typeface="Times New Roman"/>
                <a:cs typeface="Times New Roman"/>
              </a:rPr>
              <a:t> </a:t>
            </a:r>
            <a:r>
              <a:rPr sz="1200" spc="-10" dirty="0">
                <a:latin typeface="Times New Roman"/>
                <a:cs typeface="Times New Roman"/>
              </a:rPr>
              <a:t>registers</a:t>
            </a:r>
            <a:endParaRPr sz="1200">
              <a:latin typeface="Times New Roman"/>
              <a:cs typeface="Times New Roman"/>
            </a:endParaRPr>
          </a:p>
          <a:p>
            <a:pPr marL="830580" lvl="1" indent="-111125">
              <a:lnSpc>
                <a:spcPct val="100000"/>
              </a:lnSpc>
              <a:spcBef>
                <a:spcPts val="1200"/>
              </a:spcBef>
              <a:buChar char="–"/>
              <a:tabLst>
                <a:tab pos="830580" algn="l"/>
              </a:tabLst>
            </a:pPr>
            <a:r>
              <a:rPr sz="1200" spc="-10" dirty="0">
                <a:latin typeface="Times New Roman"/>
                <a:cs typeface="Times New Roman"/>
              </a:rPr>
              <a:t>Transfer</a:t>
            </a:r>
            <a:r>
              <a:rPr sz="1200" spc="-25" dirty="0">
                <a:latin typeface="Times New Roman"/>
                <a:cs typeface="Times New Roman"/>
              </a:rPr>
              <a:t> </a:t>
            </a:r>
            <a:r>
              <a:rPr sz="1200" dirty="0">
                <a:latin typeface="Times New Roman"/>
                <a:cs typeface="Times New Roman"/>
              </a:rPr>
              <a:t>between</a:t>
            </a:r>
            <a:r>
              <a:rPr sz="1200" spc="-25"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within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processor</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relatively</a:t>
            </a:r>
            <a:r>
              <a:rPr sz="1200" spc="-45" dirty="0">
                <a:latin typeface="Times New Roman"/>
                <a:cs typeface="Times New Roman"/>
              </a:rPr>
              <a:t> </a:t>
            </a:r>
            <a:r>
              <a:rPr sz="1200" spc="-20" dirty="0">
                <a:latin typeface="Times New Roman"/>
                <a:cs typeface="Times New Roman"/>
              </a:rPr>
              <a:t>fast</a:t>
            </a:r>
            <a:endParaRPr sz="1200">
              <a:latin typeface="Times New Roman"/>
              <a:cs typeface="Times New Roman"/>
            </a:endParaRPr>
          </a:p>
          <a:p>
            <a:pPr marL="833119" lvl="1" indent="-113664">
              <a:lnSpc>
                <a:spcPct val="100000"/>
              </a:lnSpc>
              <a:spcBef>
                <a:spcPts val="1200"/>
              </a:spcBef>
              <a:buChar char="–"/>
              <a:tabLst>
                <a:tab pos="833119" algn="l"/>
              </a:tabLst>
            </a:pPr>
            <a:r>
              <a:rPr sz="1200" dirty="0">
                <a:latin typeface="Times New Roman"/>
                <a:cs typeface="Times New Roman"/>
              </a:rPr>
              <a:t>Going</a:t>
            </a:r>
            <a:r>
              <a:rPr sz="1200" spc="-35" dirty="0">
                <a:latin typeface="Times New Roman"/>
                <a:cs typeface="Times New Roman"/>
              </a:rPr>
              <a:t> </a:t>
            </a:r>
            <a:r>
              <a:rPr sz="1200" dirty="0">
                <a:latin typeface="Times New Roman"/>
                <a:cs typeface="Times New Roman"/>
              </a:rPr>
              <a:t>“off</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processor”</a:t>
            </a:r>
            <a:r>
              <a:rPr sz="1200" spc="-10" dirty="0">
                <a:latin typeface="Times New Roman"/>
                <a:cs typeface="Times New Roman"/>
              </a:rPr>
              <a:t> </a:t>
            </a:r>
            <a:r>
              <a:rPr sz="1200" dirty="0">
                <a:latin typeface="Times New Roman"/>
                <a:cs typeface="Times New Roman"/>
              </a:rPr>
              <a:t>to</a:t>
            </a:r>
            <a:r>
              <a:rPr sz="1200" spc="-40" dirty="0">
                <a:latin typeface="Times New Roman"/>
                <a:cs typeface="Times New Roman"/>
              </a:rPr>
              <a:t> </a:t>
            </a:r>
            <a:r>
              <a:rPr sz="1200" dirty="0">
                <a:latin typeface="Times New Roman"/>
                <a:cs typeface="Times New Roman"/>
              </a:rPr>
              <a:t>access</a:t>
            </a:r>
            <a:r>
              <a:rPr sz="1200" spc="-20" dirty="0">
                <a:latin typeface="Times New Roman"/>
                <a:cs typeface="Times New Roman"/>
              </a:rPr>
              <a:t> </a:t>
            </a:r>
            <a:r>
              <a:rPr sz="1200" dirty="0">
                <a:latin typeface="Times New Roman"/>
                <a:cs typeface="Times New Roman"/>
              </a:rPr>
              <a:t>memory</a:t>
            </a:r>
            <a:r>
              <a:rPr sz="1200" spc="-35" dirty="0">
                <a:latin typeface="Times New Roman"/>
                <a:cs typeface="Times New Roman"/>
              </a:rPr>
              <a:t> </a:t>
            </a:r>
            <a:r>
              <a:rPr sz="1200" dirty="0">
                <a:latin typeface="Times New Roman"/>
                <a:cs typeface="Times New Roman"/>
              </a:rPr>
              <a:t>is</a:t>
            </a:r>
            <a:r>
              <a:rPr sz="1200" spc="-30" dirty="0">
                <a:latin typeface="Times New Roman"/>
                <a:cs typeface="Times New Roman"/>
              </a:rPr>
              <a:t> </a:t>
            </a:r>
            <a:r>
              <a:rPr sz="1200" dirty="0">
                <a:latin typeface="Times New Roman"/>
                <a:cs typeface="Times New Roman"/>
              </a:rPr>
              <a:t>much</a:t>
            </a:r>
            <a:r>
              <a:rPr sz="1200" spc="-25" dirty="0">
                <a:latin typeface="Times New Roman"/>
                <a:cs typeface="Times New Roman"/>
              </a:rPr>
              <a:t> </a:t>
            </a:r>
            <a:r>
              <a:rPr sz="1200" spc="-10" dirty="0">
                <a:latin typeface="Times New Roman"/>
                <a:cs typeface="Times New Roman"/>
              </a:rPr>
              <a:t>slower</a:t>
            </a:r>
            <a:endParaRPr sz="1200">
              <a:latin typeface="Times New Roman"/>
              <a:cs typeface="Times New Roman"/>
            </a:endParaRPr>
          </a:p>
        </p:txBody>
      </p:sp>
      <p:sp>
        <p:nvSpPr>
          <p:cNvPr id="89" name="object 89"/>
          <p:cNvSpPr txBox="1"/>
          <p:nvPr/>
        </p:nvSpPr>
        <p:spPr>
          <a:xfrm>
            <a:off x="6062853" y="7984837"/>
            <a:ext cx="156845"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26</a:t>
            </a:r>
            <a:endParaRPr sz="1000">
              <a:latin typeface="Corbel"/>
              <a:cs typeface="Corbel"/>
            </a:endParaRPr>
          </a:p>
        </p:txBody>
      </p:sp>
      <p:sp>
        <p:nvSpPr>
          <p:cNvPr id="90" name="object 9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15</a:t>
            </a:fld>
            <a:endParaRPr spc="-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27929" y="3786716"/>
            <a:ext cx="748665" cy="168910"/>
          </a:xfrm>
          <a:prstGeom prst="rect">
            <a:avLst/>
          </a:prstGeom>
        </p:spPr>
        <p:txBody>
          <a:bodyPr vert="horz" wrap="square" lIns="0" tIns="0" rIns="0" bIns="0" rtlCol="0">
            <a:spAutoFit/>
          </a:bodyPr>
          <a:lstStyle/>
          <a:p>
            <a:pPr>
              <a:lnSpc>
                <a:spcPts val="1310"/>
              </a:lnSpc>
            </a:pPr>
            <a:r>
              <a:rPr sz="1200" b="1" dirty="0">
                <a:latin typeface="Times New Roman"/>
                <a:cs typeface="Times New Roman"/>
              </a:rPr>
              <a:t>Bus</a:t>
            </a:r>
            <a:r>
              <a:rPr sz="1200" b="1" spc="-15" dirty="0">
                <a:latin typeface="Times New Roman"/>
                <a:cs typeface="Times New Roman"/>
              </a:rPr>
              <a:t> </a:t>
            </a:r>
            <a:r>
              <a:rPr sz="1200" b="1" spc="-10" dirty="0">
                <a:latin typeface="Times New Roman"/>
                <a:cs typeface="Times New Roman"/>
              </a:rPr>
              <a:t>System</a:t>
            </a:r>
            <a:endParaRPr sz="1200">
              <a:latin typeface="Times New Roman"/>
              <a:cs typeface="Times New Roman"/>
            </a:endParaRPr>
          </a:p>
        </p:txBody>
      </p:sp>
      <p:pic>
        <p:nvPicPr>
          <p:cNvPr id="3" name="object 3"/>
          <p:cNvPicPr/>
          <p:nvPr/>
        </p:nvPicPr>
        <p:blipFill>
          <a:blip r:embed="rId2" cstate="print"/>
          <a:stretch>
            <a:fillRect/>
          </a:stretch>
        </p:blipFill>
        <p:spPr>
          <a:xfrm>
            <a:off x="3302508" y="1549908"/>
            <a:ext cx="3023616" cy="2473452"/>
          </a:xfrm>
          <a:prstGeom prst="rect">
            <a:avLst/>
          </a:prstGeom>
        </p:spPr>
      </p:pic>
      <p:sp>
        <p:nvSpPr>
          <p:cNvPr id="4" name="object 4"/>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General</a:t>
            </a:r>
            <a:r>
              <a:rPr sz="2200" spc="-85" dirty="0">
                <a:latin typeface="Georgia"/>
                <a:cs typeface="Georgia"/>
              </a:rPr>
              <a:t> </a:t>
            </a:r>
            <a:r>
              <a:rPr sz="2200" dirty="0">
                <a:latin typeface="Georgia"/>
                <a:cs typeface="Georgia"/>
              </a:rPr>
              <a:t>Register</a:t>
            </a:r>
            <a:r>
              <a:rPr sz="2200" spc="-70" dirty="0">
                <a:latin typeface="Georgia"/>
                <a:cs typeface="Georgia"/>
              </a:rPr>
              <a:t> </a:t>
            </a:r>
            <a:r>
              <a:rPr sz="2200" spc="-10" dirty="0">
                <a:latin typeface="Georgia"/>
                <a:cs typeface="Georgia"/>
              </a:rPr>
              <a:t>Organization</a:t>
            </a:r>
            <a:endParaRPr sz="2200">
              <a:latin typeface="Georgia"/>
              <a:cs typeface="Georgia"/>
            </a:endParaRPr>
          </a:p>
          <a:p>
            <a:pPr marL="431800" indent="-169545">
              <a:lnSpc>
                <a:spcPct val="100000"/>
              </a:lnSpc>
              <a:spcBef>
                <a:spcPts val="1700"/>
              </a:spcBef>
              <a:buClr>
                <a:srgbClr val="3E762B"/>
              </a:buClr>
              <a:buFont typeface="Wingdings"/>
              <a:buChar char=""/>
              <a:tabLst>
                <a:tab pos="431800" algn="l"/>
              </a:tabLst>
            </a:pPr>
            <a:r>
              <a:rPr sz="1200" dirty="0">
                <a:latin typeface="Times New Roman"/>
                <a:cs typeface="Times New Roman"/>
              </a:rPr>
              <a:t>Control</a:t>
            </a:r>
            <a:r>
              <a:rPr sz="1200" spc="-35" dirty="0">
                <a:latin typeface="Times New Roman"/>
                <a:cs typeface="Times New Roman"/>
              </a:rPr>
              <a:t> </a:t>
            </a:r>
            <a:r>
              <a:rPr sz="1200" dirty="0">
                <a:latin typeface="Times New Roman"/>
                <a:cs typeface="Times New Roman"/>
              </a:rPr>
              <a:t>word</a:t>
            </a:r>
            <a:r>
              <a:rPr sz="1200" spc="-5" dirty="0">
                <a:latin typeface="Times New Roman"/>
                <a:cs typeface="Times New Roman"/>
              </a:rPr>
              <a:t> </a:t>
            </a:r>
            <a:r>
              <a:rPr sz="1200" dirty="0">
                <a:latin typeface="Times New Roman"/>
                <a:cs typeface="Times New Roman"/>
              </a:rPr>
              <a:t>size</a:t>
            </a:r>
            <a:r>
              <a:rPr sz="1200" spc="-3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parts</a:t>
            </a:r>
            <a:r>
              <a:rPr sz="1200" spc="-5" dirty="0">
                <a:latin typeface="Times New Roman"/>
                <a:cs typeface="Times New Roman"/>
              </a:rPr>
              <a:t> </a:t>
            </a:r>
            <a:r>
              <a:rPr sz="1200" spc="-25" dirty="0">
                <a:latin typeface="Times New Roman"/>
                <a:cs typeface="Times New Roman"/>
              </a:rPr>
              <a:t>???</a:t>
            </a: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60"/>
              </a:spcBef>
            </a:pPr>
            <a:endParaRPr sz="1200">
              <a:latin typeface="Times New Roman"/>
              <a:cs typeface="Times New Roman"/>
            </a:endParaRPr>
          </a:p>
          <a:p>
            <a:pPr marR="147955" algn="r">
              <a:lnSpc>
                <a:spcPct val="100000"/>
              </a:lnSpc>
            </a:pPr>
            <a:r>
              <a:rPr sz="1000" b="1" spc="-25" dirty="0">
                <a:solidFill>
                  <a:srgbClr val="3E762B"/>
                </a:solidFill>
                <a:latin typeface="Corbel"/>
                <a:cs typeface="Corbel"/>
              </a:rPr>
              <a:t>27</a:t>
            </a:r>
            <a:endParaRPr sz="1000">
              <a:latin typeface="Corbel"/>
              <a:cs typeface="Corbel"/>
            </a:endParaRPr>
          </a:p>
        </p:txBody>
      </p:sp>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9" name="object 9"/>
          <p:cNvSpPr txBox="1"/>
          <p:nvPr/>
        </p:nvSpPr>
        <p:spPr>
          <a:xfrm>
            <a:off x="496823" y="4966715"/>
            <a:ext cx="5862955" cy="3188335"/>
          </a:xfrm>
          <a:prstGeom prst="rect">
            <a:avLst/>
          </a:prstGeom>
        </p:spPr>
        <p:txBody>
          <a:bodyPr vert="horz" wrap="square" lIns="0" tIns="93980" rIns="0" bIns="0" rtlCol="0">
            <a:spAutoFit/>
          </a:bodyPr>
          <a:lstStyle/>
          <a:p>
            <a:pPr marL="228600">
              <a:lnSpc>
                <a:spcPct val="100000"/>
              </a:lnSpc>
              <a:spcBef>
                <a:spcPts val="740"/>
              </a:spcBef>
            </a:pPr>
            <a:r>
              <a:rPr sz="2200" dirty="0">
                <a:latin typeface="Georgia"/>
                <a:cs typeface="Georgia"/>
              </a:rPr>
              <a:t>Example:</a:t>
            </a:r>
            <a:r>
              <a:rPr sz="2200" spc="-55" dirty="0">
                <a:latin typeface="Georgia"/>
                <a:cs typeface="Georgia"/>
              </a:rPr>
              <a:t> </a:t>
            </a:r>
            <a:r>
              <a:rPr sz="2200" dirty="0">
                <a:latin typeface="Georgia"/>
                <a:cs typeface="Georgia"/>
              </a:rPr>
              <a:t>IBM</a:t>
            </a:r>
            <a:r>
              <a:rPr sz="2200" spc="-80" dirty="0">
                <a:latin typeface="Georgia"/>
                <a:cs typeface="Georgia"/>
              </a:rPr>
              <a:t> </a:t>
            </a:r>
            <a:r>
              <a:rPr sz="2200" dirty="0">
                <a:latin typeface="Georgia"/>
                <a:cs typeface="Georgia"/>
              </a:rPr>
              <a:t>360</a:t>
            </a:r>
            <a:r>
              <a:rPr sz="2200" spc="-75" dirty="0">
                <a:latin typeface="Georgia"/>
                <a:cs typeface="Georgia"/>
              </a:rPr>
              <a:t> </a:t>
            </a:r>
            <a:r>
              <a:rPr sz="2200" spc="-10" dirty="0">
                <a:latin typeface="Georgia"/>
                <a:cs typeface="Georgia"/>
              </a:rPr>
              <a:t>Machine</a:t>
            </a:r>
            <a:endParaRPr sz="2200">
              <a:latin typeface="Georgia"/>
              <a:cs typeface="Georgia"/>
            </a:endParaRPr>
          </a:p>
          <a:p>
            <a:pPr marL="431800" indent="-169545">
              <a:lnSpc>
                <a:spcPct val="100000"/>
              </a:lnSpc>
              <a:spcBef>
                <a:spcPts val="1630"/>
              </a:spcBef>
              <a:buClr>
                <a:srgbClr val="3E762B"/>
              </a:buClr>
              <a:buFont typeface="Wingdings"/>
              <a:buChar char=""/>
              <a:tabLst>
                <a:tab pos="431800" algn="l"/>
              </a:tabLst>
            </a:pPr>
            <a:r>
              <a:rPr sz="1200" dirty="0">
                <a:latin typeface="Times New Roman"/>
                <a:cs typeface="Times New Roman"/>
              </a:rPr>
              <a:t>Processor</a:t>
            </a:r>
            <a:r>
              <a:rPr sz="1200" spc="-35" dirty="0">
                <a:latin typeface="Times New Roman"/>
                <a:cs typeface="Times New Roman"/>
              </a:rPr>
              <a:t> </a:t>
            </a:r>
            <a:r>
              <a:rPr sz="1200" spc="-10" dirty="0">
                <a:latin typeface="Times New Roman"/>
                <a:cs typeface="Times New Roman"/>
              </a:rPr>
              <a:t>State</a:t>
            </a:r>
            <a:endParaRPr sz="1200">
              <a:latin typeface="Times New Roman"/>
              <a:cs typeface="Times New Roman"/>
            </a:endParaRPr>
          </a:p>
          <a:p>
            <a:pPr marL="662940" lvl="1" indent="-116839">
              <a:lnSpc>
                <a:spcPct val="100000"/>
              </a:lnSpc>
              <a:spcBef>
                <a:spcPts val="600"/>
              </a:spcBef>
              <a:buClr>
                <a:srgbClr val="3E762B"/>
              </a:buClr>
              <a:buFont typeface="Arial MT"/>
              <a:buChar char="•"/>
              <a:tabLst>
                <a:tab pos="662940" algn="l"/>
              </a:tabLst>
            </a:pPr>
            <a:r>
              <a:rPr sz="1100" dirty="0">
                <a:latin typeface="Times New Roman"/>
                <a:cs typeface="Times New Roman"/>
              </a:rPr>
              <a:t>16</a:t>
            </a:r>
            <a:r>
              <a:rPr sz="1100" spc="30" dirty="0">
                <a:latin typeface="Times New Roman"/>
                <a:cs typeface="Times New Roman"/>
              </a:rPr>
              <a:t> </a:t>
            </a:r>
            <a:r>
              <a:rPr sz="1100" spc="-10" dirty="0">
                <a:latin typeface="Times New Roman"/>
                <a:cs typeface="Times New Roman"/>
              </a:rPr>
              <a:t>General-</a:t>
            </a:r>
            <a:r>
              <a:rPr sz="1100" dirty="0">
                <a:latin typeface="Times New Roman"/>
                <a:cs typeface="Times New Roman"/>
              </a:rPr>
              <a:t>Purpose</a:t>
            </a:r>
            <a:r>
              <a:rPr sz="1100" spc="5" dirty="0">
                <a:latin typeface="Times New Roman"/>
                <a:cs typeface="Times New Roman"/>
              </a:rPr>
              <a:t> </a:t>
            </a:r>
            <a:r>
              <a:rPr sz="1100" spc="-10" dirty="0">
                <a:latin typeface="Times New Roman"/>
                <a:cs typeface="Times New Roman"/>
              </a:rPr>
              <a:t>32-</a:t>
            </a:r>
            <a:r>
              <a:rPr sz="1100" dirty="0">
                <a:latin typeface="Times New Roman"/>
                <a:cs typeface="Times New Roman"/>
              </a:rPr>
              <a:t>bit</a:t>
            </a:r>
            <a:r>
              <a:rPr sz="1100" spc="40" dirty="0">
                <a:latin typeface="Times New Roman"/>
                <a:cs typeface="Times New Roman"/>
              </a:rPr>
              <a:t> </a:t>
            </a:r>
            <a:r>
              <a:rPr sz="1100" spc="-10" dirty="0">
                <a:latin typeface="Times New Roman"/>
                <a:cs typeface="Times New Roman"/>
              </a:rPr>
              <a:t>Registers</a:t>
            </a:r>
            <a:endParaRPr sz="1100">
              <a:latin typeface="Times New Roman"/>
              <a:cs typeface="Times New Roman"/>
            </a:endParaRPr>
          </a:p>
          <a:p>
            <a:pPr marL="662940" lvl="1" indent="-116839">
              <a:lnSpc>
                <a:spcPct val="100000"/>
              </a:lnSpc>
              <a:spcBef>
                <a:spcPts val="600"/>
              </a:spcBef>
              <a:buClr>
                <a:srgbClr val="3E762B"/>
              </a:buClr>
              <a:buFont typeface="Arial MT"/>
              <a:buChar char="•"/>
              <a:tabLst>
                <a:tab pos="662940" algn="l"/>
              </a:tabLst>
            </a:pPr>
            <a:r>
              <a:rPr sz="1100" dirty="0">
                <a:latin typeface="Times New Roman"/>
                <a:cs typeface="Times New Roman"/>
              </a:rPr>
              <a:t>4</a:t>
            </a:r>
            <a:r>
              <a:rPr sz="1100" spc="10" dirty="0">
                <a:latin typeface="Times New Roman"/>
                <a:cs typeface="Times New Roman"/>
              </a:rPr>
              <a:t> </a:t>
            </a:r>
            <a:r>
              <a:rPr sz="1100" dirty="0">
                <a:latin typeface="Times New Roman"/>
                <a:cs typeface="Times New Roman"/>
              </a:rPr>
              <a:t>Floating</a:t>
            </a:r>
            <a:r>
              <a:rPr sz="1100" spc="-35" dirty="0">
                <a:latin typeface="Times New Roman"/>
                <a:cs typeface="Times New Roman"/>
              </a:rPr>
              <a:t> </a:t>
            </a:r>
            <a:r>
              <a:rPr sz="1100" dirty="0">
                <a:latin typeface="Times New Roman"/>
                <a:cs typeface="Times New Roman"/>
              </a:rPr>
              <a:t>Point</a:t>
            </a:r>
            <a:r>
              <a:rPr sz="1100" spc="10" dirty="0">
                <a:latin typeface="Times New Roman"/>
                <a:cs typeface="Times New Roman"/>
              </a:rPr>
              <a:t> </a:t>
            </a:r>
            <a:r>
              <a:rPr sz="1100" spc="-10" dirty="0">
                <a:latin typeface="Times New Roman"/>
                <a:cs typeface="Times New Roman"/>
              </a:rPr>
              <a:t>64-</a:t>
            </a:r>
            <a:r>
              <a:rPr sz="1100" dirty="0">
                <a:latin typeface="Times New Roman"/>
                <a:cs typeface="Times New Roman"/>
              </a:rPr>
              <a:t>bit</a:t>
            </a:r>
            <a:r>
              <a:rPr sz="1100" spc="20" dirty="0">
                <a:latin typeface="Times New Roman"/>
                <a:cs typeface="Times New Roman"/>
              </a:rPr>
              <a:t> </a:t>
            </a:r>
            <a:r>
              <a:rPr sz="1100" spc="-10" dirty="0">
                <a:latin typeface="Times New Roman"/>
                <a:cs typeface="Times New Roman"/>
              </a:rPr>
              <a:t>Registers</a:t>
            </a:r>
            <a:endParaRPr sz="1100">
              <a:latin typeface="Times New Roman"/>
              <a:cs typeface="Times New Roman"/>
            </a:endParaRPr>
          </a:p>
          <a:p>
            <a:pPr marL="662940" lvl="1" indent="-116839">
              <a:lnSpc>
                <a:spcPct val="100000"/>
              </a:lnSpc>
              <a:spcBef>
                <a:spcPts val="600"/>
              </a:spcBef>
              <a:buClr>
                <a:srgbClr val="3E762B"/>
              </a:buClr>
              <a:buFont typeface="Arial MT"/>
              <a:buChar char="•"/>
              <a:tabLst>
                <a:tab pos="662940" algn="l"/>
              </a:tabLst>
            </a:pPr>
            <a:r>
              <a:rPr sz="1100" spc="-10" dirty="0">
                <a:latin typeface="Times New Roman"/>
                <a:cs typeface="Times New Roman"/>
              </a:rPr>
              <a:t>A</a:t>
            </a:r>
            <a:r>
              <a:rPr sz="1100" spc="-65" dirty="0">
                <a:latin typeface="Times New Roman"/>
                <a:cs typeface="Times New Roman"/>
              </a:rPr>
              <a:t> </a:t>
            </a:r>
            <a:r>
              <a:rPr sz="1100" dirty="0">
                <a:latin typeface="Times New Roman"/>
                <a:cs typeface="Times New Roman"/>
              </a:rPr>
              <a:t>Program</a:t>
            </a:r>
            <a:r>
              <a:rPr sz="1100" spc="-10" dirty="0">
                <a:latin typeface="Times New Roman"/>
                <a:cs typeface="Times New Roman"/>
              </a:rPr>
              <a:t> </a:t>
            </a:r>
            <a:r>
              <a:rPr sz="1100" dirty="0">
                <a:latin typeface="Times New Roman"/>
                <a:cs typeface="Times New Roman"/>
              </a:rPr>
              <a:t>Status</a:t>
            </a:r>
            <a:r>
              <a:rPr sz="1100" spc="-45" dirty="0">
                <a:latin typeface="Times New Roman"/>
                <a:cs typeface="Times New Roman"/>
              </a:rPr>
              <a:t> </a:t>
            </a:r>
            <a:r>
              <a:rPr sz="1100" spc="-20" dirty="0">
                <a:latin typeface="Times New Roman"/>
                <a:cs typeface="Times New Roman"/>
              </a:rPr>
              <a:t>Word</a:t>
            </a:r>
            <a:r>
              <a:rPr sz="1100" spc="-15" dirty="0">
                <a:latin typeface="Times New Roman"/>
                <a:cs typeface="Times New Roman"/>
              </a:rPr>
              <a:t> </a:t>
            </a:r>
            <a:r>
              <a:rPr sz="1100" dirty="0">
                <a:latin typeface="Times New Roman"/>
                <a:cs typeface="Times New Roman"/>
              </a:rPr>
              <a:t>(PSW)</a:t>
            </a:r>
            <a:r>
              <a:rPr sz="1100" spc="-10" dirty="0">
                <a:latin typeface="Times New Roman"/>
                <a:cs typeface="Times New Roman"/>
              </a:rPr>
              <a:t> </a:t>
            </a:r>
            <a:r>
              <a:rPr sz="1100" dirty="0">
                <a:latin typeface="Times New Roman"/>
                <a:cs typeface="Times New Roman"/>
              </a:rPr>
              <a:t>:</a:t>
            </a:r>
            <a:r>
              <a:rPr sz="1100" spc="-15" dirty="0">
                <a:latin typeface="Times New Roman"/>
                <a:cs typeface="Times New Roman"/>
              </a:rPr>
              <a:t> </a:t>
            </a:r>
            <a:r>
              <a:rPr sz="1100" dirty="0">
                <a:latin typeface="Times New Roman"/>
                <a:cs typeface="Times New Roman"/>
              </a:rPr>
              <a:t>PC, Condition</a:t>
            </a:r>
            <a:r>
              <a:rPr sz="1100" spc="-40" dirty="0">
                <a:latin typeface="Times New Roman"/>
                <a:cs typeface="Times New Roman"/>
              </a:rPr>
              <a:t> </a:t>
            </a:r>
            <a:r>
              <a:rPr sz="1100" dirty="0">
                <a:latin typeface="Times New Roman"/>
                <a:cs typeface="Times New Roman"/>
              </a:rPr>
              <a:t>codes,</a:t>
            </a:r>
            <a:r>
              <a:rPr sz="1100" spc="-10" dirty="0">
                <a:latin typeface="Times New Roman"/>
                <a:cs typeface="Times New Roman"/>
              </a:rPr>
              <a:t> </a:t>
            </a:r>
            <a:r>
              <a:rPr sz="1100" dirty="0">
                <a:latin typeface="Times New Roman"/>
                <a:cs typeface="Times New Roman"/>
              </a:rPr>
              <a:t>Control</a:t>
            </a:r>
            <a:r>
              <a:rPr sz="1100" spc="-20" dirty="0">
                <a:latin typeface="Times New Roman"/>
                <a:cs typeface="Times New Roman"/>
              </a:rPr>
              <a:t> </a:t>
            </a:r>
            <a:r>
              <a:rPr sz="1100" spc="-10" dirty="0">
                <a:latin typeface="Times New Roman"/>
                <a:cs typeface="Times New Roman"/>
              </a:rPr>
              <a:t>flags</a:t>
            </a:r>
            <a:endParaRPr sz="1100">
              <a:latin typeface="Times New Roman"/>
              <a:cs typeface="Times New Roman"/>
            </a:endParaRPr>
          </a:p>
          <a:p>
            <a:pPr marL="662940" lvl="1" indent="-116839">
              <a:lnSpc>
                <a:spcPct val="100000"/>
              </a:lnSpc>
              <a:spcBef>
                <a:spcPts val="600"/>
              </a:spcBef>
              <a:buClr>
                <a:srgbClr val="3E762B"/>
              </a:buClr>
              <a:buFont typeface="Arial MT"/>
              <a:buChar char="•"/>
              <a:tabLst>
                <a:tab pos="662940" algn="l"/>
              </a:tabLst>
            </a:pPr>
            <a:r>
              <a:rPr sz="1100" dirty="0">
                <a:latin typeface="Times New Roman"/>
                <a:cs typeface="Times New Roman"/>
              </a:rPr>
              <a:t>512</a:t>
            </a:r>
            <a:r>
              <a:rPr sz="1100" spc="-30" dirty="0">
                <a:latin typeface="Times New Roman"/>
                <a:cs typeface="Times New Roman"/>
              </a:rPr>
              <a:t> </a:t>
            </a:r>
            <a:r>
              <a:rPr sz="1100" dirty="0">
                <a:latin typeface="Times New Roman"/>
                <a:cs typeface="Times New Roman"/>
              </a:rPr>
              <a:t>KB</a:t>
            </a:r>
            <a:r>
              <a:rPr sz="1100" spc="-35" dirty="0">
                <a:latin typeface="Times New Roman"/>
                <a:cs typeface="Times New Roman"/>
              </a:rPr>
              <a:t> </a:t>
            </a:r>
            <a:r>
              <a:rPr sz="1100" dirty="0">
                <a:latin typeface="Times New Roman"/>
                <a:cs typeface="Times New Roman"/>
              </a:rPr>
              <a:t>x</a:t>
            </a:r>
            <a:r>
              <a:rPr sz="1100" spc="-15" dirty="0">
                <a:latin typeface="Times New Roman"/>
                <a:cs typeface="Times New Roman"/>
              </a:rPr>
              <a:t> </a:t>
            </a:r>
            <a:r>
              <a:rPr sz="1100" spc="-10" dirty="0">
                <a:latin typeface="Times New Roman"/>
                <a:cs typeface="Times New Roman"/>
              </a:rPr>
              <a:t>64-</a:t>
            </a:r>
            <a:r>
              <a:rPr sz="1100" dirty="0">
                <a:latin typeface="Times New Roman"/>
                <a:cs typeface="Times New Roman"/>
              </a:rPr>
              <a:t>bit</a:t>
            </a:r>
            <a:r>
              <a:rPr sz="1100" spc="-15" dirty="0">
                <a:latin typeface="Times New Roman"/>
                <a:cs typeface="Times New Roman"/>
              </a:rPr>
              <a:t> </a:t>
            </a:r>
            <a:r>
              <a:rPr sz="1100" dirty="0">
                <a:latin typeface="Times New Roman"/>
                <a:cs typeface="Times New Roman"/>
              </a:rPr>
              <a:t>memory</a:t>
            </a:r>
            <a:r>
              <a:rPr sz="1100" spc="5" dirty="0">
                <a:latin typeface="Times New Roman"/>
                <a:cs typeface="Times New Roman"/>
              </a:rPr>
              <a:t> </a:t>
            </a:r>
            <a:r>
              <a:rPr sz="1100" dirty="0">
                <a:latin typeface="Times New Roman"/>
                <a:cs typeface="Times New Roman"/>
              </a:rPr>
              <a:t>[</a:t>
            </a:r>
            <a:r>
              <a:rPr sz="1000" dirty="0">
                <a:latin typeface="Times New Roman"/>
                <a:cs typeface="Times New Roman"/>
              </a:rPr>
              <a:t>16</a:t>
            </a:r>
            <a:r>
              <a:rPr sz="1000" spc="-20" dirty="0">
                <a:latin typeface="Times New Roman"/>
                <a:cs typeface="Times New Roman"/>
              </a:rPr>
              <a:t> </a:t>
            </a:r>
            <a:r>
              <a:rPr sz="1000" dirty="0">
                <a:latin typeface="Times New Roman"/>
                <a:cs typeface="Times New Roman"/>
              </a:rPr>
              <a:t>MB</a:t>
            </a:r>
            <a:r>
              <a:rPr sz="1000" spc="-15" dirty="0">
                <a:latin typeface="Times New Roman"/>
                <a:cs typeface="Times New Roman"/>
              </a:rPr>
              <a:t> </a:t>
            </a:r>
            <a:r>
              <a:rPr sz="1000" spc="-10" dirty="0">
                <a:latin typeface="Times New Roman"/>
                <a:cs typeface="Times New Roman"/>
              </a:rPr>
              <a:t>byte-</a:t>
            </a:r>
            <a:r>
              <a:rPr sz="1000" dirty="0">
                <a:latin typeface="Times New Roman"/>
                <a:cs typeface="Times New Roman"/>
              </a:rPr>
              <a:t>addressable</a:t>
            </a:r>
            <a:r>
              <a:rPr sz="1000" spc="-5" dirty="0">
                <a:latin typeface="Times New Roman"/>
                <a:cs typeface="Times New Roman"/>
              </a:rPr>
              <a:t> </a:t>
            </a:r>
            <a:r>
              <a:rPr sz="1000" dirty="0">
                <a:latin typeface="Times New Roman"/>
                <a:cs typeface="Times New Roman"/>
              </a:rPr>
              <a:t>memory</a:t>
            </a:r>
            <a:r>
              <a:rPr sz="1000" spc="10" dirty="0">
                <a:latin typeface="Times New Roman"/>
                <a:cs typeface="Times New Roman"/>
              </a:rPr>
              <a:t> </a:t>
            </a:r>
            <a:r>
              <a:rPr sz="1000" spc="-10" dirty="0">
                <a:latin typeface="Times New Roman"/>
                <a:cs typeface="Times New Roman"/>
              </a:rPr>
              <a:t>space]</a:t>
            </a:r>
            <a:endParaRPr sz="1000">
              <a:latin typeface="Times New Roman"/>
              <a:cs typeface="Times New Roman"/>
            </a:endParaRPr>
          </a:p>
          <a:p>
            <a:pPr marL="432434" indent="-170180">
              <a:lnSpc>
                <a:spcPct val="100000"/>
              </a:lnSpc>
              <a:spcBef>
                <a:spcPts val="595"/>
              </a:spcBef>
              <a:buClr>
                <a:srgbClr val="3E762B"/>
              </a:buClr>
              <a:buFont typeface="Wingdings"/>
              <a:buChar char=""/>
              <a:tabLst>
                <a:tab pos="432434" algn="l"/>
              </a:tabLst>
            </a:pPr>
            <a:r>
              <a:rPr sz="1200" dirty="0">
                <a:latin typeface="Times New Roman"/>
                <a:cs typeface="Times New Roman"/>
              </a:rPr>
              <a:t>Data</a:t>
            </a:r>
            <a:r>
              <a:rPr sz="1200" spc="-25" dirty="0">
                <a:latin typeface="Times New Roman"/>
                <a:cs typeface="Times New Roman"/>
              </a:rPr>
              <a:t> </a:t>
            </a:r>
            <a:r>
              <a:rPr sz="1200" spc="-10" dirty="0">
                <a:latin typeface="Times New Roman"/>
                <a:cs typeface="Times New Roman"/>
              </a:rPr>
              <a:t>Formats</a:t>
            </a:r>
            <a:endParaRPr sz="1200">
              <a:latin typeface="Times New Roman"/>
              <a:cs typeface="Times New Roman"/>
            </a:endParaRPr>
          </a:p>
          <a:p>
            <a:pPr marL="662940" lvl="1" indent="-116839">
              <a:lnSpc>
                <a:spcPct val="100000"/>
              </a:lnSpc>
              <a:spcBef>
                <a:spcPts val="610"/>
              </a:spcBef>
              <a:buClr>
                <a:srgbClr val="3E762B"/>
              </a:buClr>
              <a:buFont typeface="Arial MT"/>
              <a:buChar char="•"/>
              <a:tabLst>
                <a:tab pos="662940" algn="l"/>
              </a:tabLst>
            </a:pPr>
            <a:r>
              <a:rPr sz="1100" spc="-10" dirty="0">
                <a:latin typeface="Times New Roman"/>
                <a:cs typeface="Times New Roman"/>
              </a:rPr>
              <a:t>8-</a:t>
            </a:r>
            <a:r>
              <a:rPr sz="1100" dirty="0">
                <a:latin typeface="Times New Roman"/>
                <a:cs typeface="Times New Roman"/>
              </a:rPr>
              <a:t>bit</a:t>
            </a:r>
            <a:r>
              <a:rPr sz="1100" spc="25" dirty="0">
                <a:latin typeface="Times New Roman"/>
                <a:cs typeface="Times New Roman"/>
              </a:rPr>
              <a:t> </a:t>
            </a:r>
            <a:r>
              <a:rPr sz="1100" dirty="0">
                <a:latin typeface="Times New Roman"/>
                <a:cs typeface="Times New Roman"/>
              </a:rPr>
              <a:t>(bytes),</a:t>
            </a:r>
            <a:r>
              <a:rPr sz="1100" spc="15" dirty="0">
                <a:latin typeface="Times New Roman"/>
                <a:cs typeface="Times New Roman"/>
              </a:rPr>
              <a:t> </a:t>
            </a:r>
            <a:r>
              <a:rPr sz="1100" spc="-10" dirty="0">
                <a:latin typeface="Times New Roman"/>
                <a:cs typeface="Times New Roman"/>
              </a:rPr>
              <a:t>16-</a:t>
            </a:r>
            <a:r>
              <a:rPr sz="1100" dirty="0">
                <a:latin typeface="Times New Roman"/>
                <a:cs typeface="Times New Roman"/>
              </a:rPr>
              <a:t>bit</a:t>
            </a:r>
            <a:r>
              <a:rPr sz="1100" spc="30" dirty="0">
                <a:latin typeface="Times New Roman"/>
                <a:cs typeface="Times New Roman"/>
              </a:rPr>
              <a:t> </a:t>
            </a:r>
            <a:r>
              <a:rPr sz="1100" dirty="0">
                <a:latin typeface="Times New Roman"/>
                <a:cs typeface="Times New Roman"/>
              </a:rPr>
              <a:t>(half-words),</a:t>
            </a:r>
            <a:r>
              <a:rPr sz="1100" spc="10" dirty="0">
                <a:latin typeface="Times New Roman"/>
                <a:cs typeface="Times New Roman"/>
              </a:rPr>
              <a:t> </a:t>
            </a:r>
            <a:r>
              <a:rPr sz="1100" spc="-10" dirty="0">
                <a:latin typeface="Times New Roman"/>
                <a:cs typeface="Times New Roman"/>
              </a:rPr>
              <a:t>32-</a:t>
            </a:r>
            <a:r>
              <a:rPr sz="1100" dirty="0">
                <a:latin typeface="Times New Roman"/>
                <a:cs typeface="Times New Roman"/>
              </a:rPr>
              <a:t>bit</a:t>
            </a:r>
            <a:r>
              <a:rPr sz="1100" spc="25" dirty="0">
                <a:latin typeface="Times New Roman"/>
                <a:cs typeface="Times New Roman"/>
              </a:rPr>
              <a:t> </a:t>
            </a:r>
            <a:r>
              <a:rPr sz="1100" dirty="0">
                <a:latin typeface="Times New Roman"/>
                <a:cs typeface="Times New Roman"/>
              </a:rPr>
              <a:t>(words), </a:t>
            </a:r>
            <a:r>
              <a:rPr sz="1100" spc="-10" dirty="0">
                <a:latin typeface="Times New Roman"/>
                <a:cs typeface="Times New Roman"/>
              </a:rPr>
              <a:t>64-</a:t>
            </a:r>
            <a:r>
              <a:rPr sz="1100" dirty="0">
                <a:latin typeface="Times New Roman"/>
                <a:cs typeface="Times New Roman"/>
              </a:rPr>
              <a:t>bit</a:t>
            </a:r>
            <a:r>
              <a:rPr sz="1100" spc="30" dirty="0">
                <a:latin typeface="Times New Roman"/>
                <a:cs typeface="Times New Roman"/>
              </a:rPr>
              <a:t> </a:t>
            </a:r>
            <a:r>
              <a:rPr sz="1100" spc="-10" dirty="0">
                <a:latin typeface="Times New Roman"/>
                <a:cs typeface="Times New Roman"/>
              </a:rPr>
              <a:t>(double-words)</a:t>
            </a:r>
            <a:endParaRPr sz="1100">
              <a:latin typeface="Times New Roman"/>
              <a:cs typeface="Times New Roman"/>
            </a:endParaRPr>
          </a:p>
          <a:p>
            <a:pPr marL="662940" lvl="1" indent="-116839">
              <a:lnSpc>
                <a:spcPct val="100000"/>
              </a:lnSpc>
              <a:spcBef>
                <a:spcPts val="600"/>
              </a:spcBef>
              <a:buClr>
                <a:srgbClr val="3E762B"/>
              </a:buClr>
              <a:buFont typeface="Arial MT"/>
              <a:buChar char="•"/>
              <a:tabLst>
                <a:tab pos="662940" algn="l"/>
              </a:tabLst>
            </a:pPr>
            <a:r>
              <a:rPr sz="1100" spc="-10" dirty="0">
                <a:latin typeface="Times New Roman"/>
                <a:cs typeface="Times New Roman"/>
              </a:rPr>
              <a:t>24-</a:t>
            </a:r>
            <a:r>
              <a:rPr sz="1100" dirty="0">
                <a:latin typeface="Times New Roman"/>
                <a:cs typeface="Times New Roman"/>
              </a:rPr>
              <a:t>bit</a:t>
            </a:r>
            <a:r>
              <a:rPr sz="1100" spc="30" dirty="0">
                <a:latin typeface="Times New Roman"/>
                <a:cs typeface="Times New Roman"/>
              </a:rPr>
              <a:t> </a:t>
            </a:r>
            <a:r>
              <a:rPr sz="1100" spc="-10" dirty="0">
                <a:latin typeface="Times New Roman"/>
                <a:cs typeface="Times New Roman"/>
              </a:rPr>
              <a:t>addresses</a:t>
            </a:r>
            <a:endParaRPr sz="1100">
              <a:latin typeface="Times New Roman"/>
              <a:cs typeface="Times New Roman"/>
            </a:endParaRPr>
          </a:p>
          <a:p>
            <a:pPr>
              <a:lnSpc>
                <a:spcPct val="100000"/>
              </a:lnSpc>
            </a:pPr>
            <a:endParaRPr sz="1100">
              <a:latin typeface="Times New Roman"/>
              <a:cs typeface="Times New Roman"/>
            </a:endParaRPr>
          </a:p>
          <a:p>
            <a:pPr>
              <a:lnSpc>
                <a:spcPct val="100000"/>
              </a:lnSpc>
              <a:spcBef>
                <a:spcPts val="1060"/>
              </a:spcBef>
            </a:pPr>
            <a:endParaRPr sz="1100">
              <a:latin typeface="Times New Roman"/>
              <a:cs typeface="Times New Roman"/>
            </a:endParaRPr>
          </a:p>
          <a:p>
            <a:pPr marR="144780" algn="r">
              <a:lnSpc>
                <a:spcPct val="100000"/>
              </a:lnSpc>
            </a:pPr>
            <a:r>
              <a:rPr sz="1000" b="1" spc="-25" dirty="0">
                <a:solidFill>
                  <a:srgbClr val="3E762B"/>
                </a:solidFill>
                <a:latin typeface="Corbel"/>
                <a:cs typeface="Corbel"/>
              </a:rPr>
              <a:t>29</a:t>
            </a:r>
            <a:endParaRPr sz="1000">
              <a:latin typeface="Corbel"/>
              <a:cs typeface="Corbel"/>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Example:</a:t>
            </a:r>
            <a:endParaRPr sz="2200">
              <a:latin typeface="Georgia"/>
              <a:cs typeface="Georgia"/>
            </a:endParaRPr>
          </a:p>
          <a:p>
            <a:pPr>
              <a:lnSpc>
                <a:spcPct val="100000"/>
              </a:lnSpc>
              <a:spcBef>
                <a:spcPts val="340"/>
              </a:spcBef>
            </a:pPr>
            <a:endParaRPr sz="2200">
              <a:latin typeface="Georgia"/>
              <a:cs typeface="Georgia"/>
            </a:endParaRPr>
          </a:p>
          <a:p>
            <a:pPr marL="431800" indent="-169545">
              <a:lnSpc>
                <a:spcPct val="100000"/>
              </a:lnSpc>
              <a:buClr>
                <a:srgbClr val="3E762B"/>
              </a:buClr>
              <a:buFont typeface="Wingdings"/>
              <a:buChar char=""/>
              <a:tabLst>
                <a:tab pos="431800" algn="l"/>
              </a:tabLst>
            </a:pPr>
            <a:r>
              <a:rPr sz="1200" b="1" spc="-10" dirty="0">
                <a:solidFill>
                  <a:srgbClr val="00893D"/>
                </a:solidFill>
                <a:latin typeface="Times New Roman"/>
                <a:cs typeface="Times New Roman"/>
              </a:rPr>
              <a:t>Types</a:t>
            </a:r>
            <a:r>
              <a:rPr sz="1200" b="1" spc="-35" dirty="0">
                <a:solidFill>
                  <a:srgbClr val="00893D"/>
                </a:solidFill>
                <a:latin typeface="Times New Roman"/>
                <a:cs typeface="Times New Roman"/>
              </a:rPr>
              <a:t> </a:t>
            </a:r>
            <a:r>
              <a:rPr sz="1200" b="1" dirty="0">
                <a:solidFill>
                  <a:srgbClr val="00893D"/>
                </a:solidFill>
                <a:latin typeface="Times New Roman"/>
                <a:cs typeface="Times New Roman"/>
              </a:rPr>
              <a:t>of</a:t>
            </a:r>
            <a:r>
              <a:rPr sz="1200" b="1" spc="-10" dirty="0">
                <a:solidFill>
                  <a:srgbClr val="00893D"/>
                </a:solidFill>
                <a:latin typeface="Times New Roman"/>
                <a:cs typeface="Times New Roman"/>
              </a:rPr>
              <a:t> </a:t>
            </a:r>
            <a:r>
              <a:rPr sz="1200" b="1" dirty="0">
                <a:solidFill>
                  <a:srgbClr val="00893D"/>
                </a:solidFill>
                <a:latin typeface="Times New Roman"/>
                <a:cs typeface="Times New Roman"/>
              </a:rPr>
              <a:t>Registers</a:t>
            </a:r>
            <a:r>
              <a:rPr sz="1200" b="1" spc="-10" dirty="0">
                <a:solidFill>
                  <a:srgbClr val="00893D"/>
                </a:solidFill>
                <a:latin typeface="Times New Roman"/>
                <a:cs typeface="Times New Roman"/>
              </a:rPr>
              <a:t> </a:t>
            </a:r>
            <a:r>
              <a:rPr sz="1200" b="1" dirty="0">
                <a:solidFill>
                  <a:srgbClr val="00893D"/>
                </a:solidFill>
                <a:latin typeface="Times New Roman"/>
                <a:cs typeface="Times New Roman"/>
              </a:rPr>
              <a:t>in</a:t>
            </a:r>
            <a:r>
              <a:rPr sz="1200" b="1" spc="-30" dirty="0">
                <a:solidFill>
                  <a:srgbClr val="00893D"/>
                </a:solidFill>
                <a:latin typeface="Times New Roman"/>
                <a:cs typeface="Times New Roman"/>
              </a:rPr>
              <a:t> </a:t>
            </a:r>
            <a:r>
              <a:rPr sz="1200" b="1" dirty="0">
                <a:solidFill>
                  <a:srgbClr val="00893D"/>
                </a:solidFill>
                <a:latin typeface="Times New Roman"/>
                <a:cs typeface="Times New Roman"/>
              </a:rPr>
              <a:t>8086</a:t>
            </a:r>
            <a:r>
              <a:rPr sz="1200" b="1" spc="-15" dirty="0">
                <a:solidFill>
                  <a:srgbClr val="00893D"/>
                </a:solidFill>
                <a:latin typeface="Times New Roman"/>
                <a:cs typeface="Times New Roman"/>
              </a:rPr>
              <a:t> </a:t>
            </a:r>
            <a:r>
              <a:rPr sz="1200" b="1" spc="-10" dirty="0">
                <a:solidFill>
                  <a:srgbClr val="00893D"/>
                </a:solidFill>
                <a:latin typeface="Times New Roman"/>
                <a:cs typeface="Times New Roman"/>
              </a:rPr>
              <a:t>Microprocessor</a:t>
            </a:r>
            <a:r>
              <a:rPr sz="1200" b="1" spc="-25" dirty="0">
                <a:solidFill>
                  <a:srgbClr val="00893D"/>
                </a:solidFill>
                <a:latin typeface="Times New Roman"/>
                <a:cs typeface="Times New Roman"/>
              </a:rPr>
              <a:t> ???</a:t>
            </a:r>
            <a:endParaRPr sz="1200">
              <a:latin typeface="Times New Roman"/>
              <a:cs typeface="Times New Roman"/>
            </a:endParaRPr>
          </a:p>
          <a:p>
            <a:pPr>
              <a:lnSpc>
                <a:spcPct val="100000"/>
              </a:lnSpc>
              <a:spcBef>
                <a:spcPts val="755"/>
              </a:spcBef>
              <a:buClr>
                <a:srgbClr val="3E762B"/>
              </a:buClr>
              <a:buFont typeface="Wingdings"/>
              <a:buChar char=""/>
            </a:pPr>
            <a:endParaRPr sz="1200">
              <a:latin typeface="Times New Roman"/>
              <a:cs typeface="Times New Roman"/>
            </a:endParaRPr>
          </a:p>
          <a:p>
            <a:pPr marL="431800" indent="-169545">
              <a:lnSpc>
                <a:spcPct val="100000"/>
              </a:lnSpc>
              <a:buClr>
                <a:srgbClr val="3E762B"/>
              </a:buClr>
              <a:buFont typeface="Wingdings"/>
              <a:buChar char=""/>
              <a:tabLst>
                <a:tab pos="431800" algn="l"/>
              </a:tabLst>
            </a:pPr>
            <a:r>
              <a:rPr sz="1200" b="1" spc="-10" dirty="0">
                <a:solidFill>
                  <a:srgbClr val="00893D"/>
                </a:solidFill>
                <a:latin typeface="Times New Roman"/>
                <a:cs typeface="Times New Roman"/>
              </a:rPr>
              <a:t>Types</a:t>
            </a:r>
            <a:r>
              <a:rPr sz="1200" b="1" spc="-30" dirty="0">
                <a:solidFill>
                  <a:srgbClr val="00893D"/>
                </a:solidFill>
                <a:latin typeface="Times New Roman"/>
                <a:cs typeface="Times New Roman"/>
              </a:rPr>
              <a:t> </a:t>
            </a:r>
            <a:r>
              <a:rPr sz="1200" b="1" dirty="0">
                <a:solidFill>
                  <a:srgbClr val="00893D"/>
                </a:solidFill>
                <a:latin typeface="Times New Roman"/>
                <a:cs typeface="Times New Roman"/>
              </a:rPr>
              <a:t>of</a:t>
            </a:r>
            <a:r>
              <a:rPr sz="1200" b="1" spc="-10" dirty="0">
                <a:solidFill>
                  <a:srgbClr val="00893D"/>
                </a:solidFill>
                <a:latin typeface="Times New Roman"/>
                <a:cs typeface="Times New Roman"/>
              </a:rPr>
              <a:t> </a:t>
            </a:r>
            <a:r>
              <a:rPr sz="1200" b="1" dirty="0">
                <a:solidFill>
                  <a:srgbClr val="00893D"/>
                </a:solidFill>
                <a:latin typeface="Times New Roman"/>
                <a:cs typeface="Times New Roman"/>
              </a:rPr>
              <a:t>Registers</a:t>
            </a:r>
            <a:r>
              <a:rPr sz="1200" b="1" spc="-5" dirty="0">
                <a:solidFill>
                  <a:srgbClr val="00893D"/>
                </a:solidFill>
                <a:latin typeface="Times New Roman"/>
                <a:cs typeface="Times New Roman"/>
              </a:rPr>
              <a:t> </a:t>
            </a:r>
            <a:r>
              <a:rPr sz="1200" b="1" dirty="0">
                <a:solidFill>
                  <a:srgbClr val="00893D"/>
                </a:solidFill>
                <a:latin typeface="Times New Roman"/>
                <a:cs typeface="Times New Roman"/>
              </a:rPr>
              <a:t>in</a:t>
            </a:r>
            <a:r>
              <a:rPr sz="1200" b="1" spc="-25" dirty="0">
                <a:solidFill>
                  <a:srgbClr val="00893D"/>
                </a:solidFill>
                <a:latin typeface="Times New Roman"/>
                <a:cs typeface="Times New Roman"/>
              </a:rPr>
              <a:t> </a:t>
            </a:r>
            <a:r>
              <a:rPr sz="1200" b="1" spc="-10" dirty="0">
                <a:solidFill>
                  <a:srgbClr val="00893D"/>
                </a:solidFill>
                <a:latin typeface="Times New Roman"/>
                <a:cs typeface="Times New Roman"/>
              </a:rPr>
              <a:t>RISC-</a:t>
            </a:r>
            <a:r>
              <a:rPr sz="1200" b="1" dirty="0">
                <a:solidFill>
                  <a:srgbClr val="00893D"/>
                </a:solidFill>
                <a:latin typeface="Times New Roman"/>
                <a:cs typeface="Times New Roman"/>
              </a:rPr>
              <a:t>V</a:t>
            </a:r>
            <a:r>
              <a:rPr sz="1200" b="1" spc="-20" dirty="0">
                <a:solidFill>
                  <a:srgbClr val="00893D"/>
                </a:solidFill>
                <a:latin typeface="Times New Roman"/>
                <a:cs typeface="Times New Roman"/>
              </a:rPr>
              <a:t> </a:t>
            </a:r>
            <a:r>
              <a:rPr sz="1200" b="1" spc="-25" dirty="0">
                <a:solidFill>
                  <a:srgbClr val="00893D"/>
                </a:solidFill>
                <a:latin typeface="Times New Roman"/>
                <a:cs typeface="Times New Roman"/>
              </a:rPr>
              <a:t>???</a:t>
            </a:r>
            <a:endParaRPr sz="1200">
              <a:latin typeface="Times New Roman"/>
              <a:cs typeface="Times New Roman"/>
            </a:endParaRPr>
          </a:p>
          <a:p>
            <a:pPr>
              <a:lnSpc>
                <a:spcPct val="100000"/>
              </a:lnSpc>
              <a:spcBef>
                <a:spcPts val="770"/>
              </a:spcBef>
              <a:buClr>
                <a:srgbClr val="3E762B"/>
              </a:buClr>
              <a:buFont typeface="Wingdings"/>
              <a:buChar char=""/>
            </a:pPr>
            <a:endParaRPr sz="1200">
              <a:latin typeface="Times New Roman"/>
              <a:cs typeface="Times New Roman"/>
            </a:endParaRPr>
          </a:p>
          <a:p>
            <a:pPr marL="431800" indent="-169545">
              <a:lnSpc>
                <a:spcPct val="100000"/>
              </a:lnSpc>
              <a:buClr>
                <a:srgbClr val="3E762B"/>
              </a:buClr>
              <a:buFont typeface="Wingdings"/>
              <a:buChar char=""/>
              <a:tabLst>
                <a:tab pos="431800" algn="l"/>
              </a:tabLst>
            </a:pPr>
            <a:r>
              <a:rPr sz="1200" b="1" spc="-10" dirty="0">
                <a:solidFill>
                  <a:srgbClr val="00893D"/>
                </a:solidFill>
                <a:latin typeface="Times New Roman"/>
                <a:cs typeface="Times New Roman"/>
              </a:rPr>
              <a:t>Types</a:t>
            </a:r>
            <a:r>
              <a:rPr sz="1200" b="1" spc="-50" dirty="0">
                <a:solidFill>
                  <a:srgbClr val="00893D"/>
                </a:solidFill>
                <a:latin typeface="Times New Roman"/>
                <a:cs typeface="Times New Roman"/>
              </a:rPr>
              <a:t> </a:t>
            </a:r>
            <a:r>
              <a:rPr sz="1200" b="1" dirty="0">
                <a:solidFill>
                  <a:srgbClr val="00893D"/>
                </a:solidFill>
                <a:latin typeface="Times New Roman"/>
                <a:cs typeface="Times New Roman"/>
              </a:rPr>
              <a:t>of</a:t>
            </a:r>
            <a:r>
              <a:rPr sz="1200" b="1" spc="-30" dirty="0">
                <a:solidFill>
                  <a:srgbClr val="00893D"/>
                </a:solidFill>
                <a:latin typeface="Times New Roman"/>
                <a:cs typeface="Times New Roman"/>
              </a:rPr>
              <a:t> </a:t>
            </a:r>
            <a:r>
              <a:rPr sz="1200" b="1" dirty="0">
                <a:solidFill>
                  <a:srgbClr val="00893D"/>
                </a:solidFill>
                <a:latin typeface="Times New Roman"/>
                <a:cs typeface="Times New Roman"/>
              </a:rPr>
              <a:t>Registers</a:t>
            </a:r>
            <a:r>
              <a:rPr sz="1200" b="1" spc="-30" dirty="0">
                <a:solidFill>
                  <a:srgbClr val="00893D"/>
                </a:solidFill>
                <a:latin typeface="Times New Roman"/>
                <a:cs typeface="Times New Roman"/>
              </a:rPr>
              <a:t> </a:t>
            </a:r>
            <a:r>
              <a:rPr sz="1200" b="1" dirty="0">
                <a:solidFill>
                  <a:srgbClr val="00893D"/>
                </a:solidFill>
                <a:latin typeface="Times New Roman"/>
                <a:cs typeface="Times New Roman"/>
              </a:rPr>
              <a:t>in</a:t>
            </a:r>
            <a:r>
              <a:rPr sz="1200" b="1" spc="-40" dirty="0">
                <a:solidFill>
                  <a:srgbClr val="00893D"/>
                </a:solidFill>
                <a:latin typeface="Times New Roman"/>
                <a:cs typeface="Times New Roman"/>
              </a:rPr>
              <a:t> </a:t>
            </a:r>
            <a:r>
              <a:rPr sz="1200" b="1" dirty="0">
                <a:solidFill>
                  <a:srgbClr val="00893D"/>
                </a:solidFill>
                <a:latin typeface="Times New Roman"/>
                <a:cs typeface="Times New Roman"/>
              </a:rPr>
              <a:t>core</a:t>
            </a:r>
            <a:r>
              <a:rPr sz="1200" b="1" spc="-35" dirty="0">
                <a:solidFill>
                  <a:srgbClr val="00893D"/>
                </a:solidFill>
                <a:latin typeface="Times New Roman"/>
                <a:cs typeface="Times New Roman"/>
              </a:rPr>
              <a:t> </a:t>
            </a:r>
            <a:r>
              <a:rPr sz="1200" b="1" dirty="0">
                <a:solidFill>
                  <a:srgbClr val="00893D"/>
                </a:solidFill>
                <a:latin typeface="Times New Roman"/>
                <a:cs typeface="Times New Roman"/>
              </a:rPr>
              <a:t>i7</a:t>
            </a:r>
            <a:r>
              <a:rPr sz="1200" b="1" spc="-35" dirty="0">
                <a:solidFill>
                  <a:srgbClr val="00893D"/>
                </a:solidFill>
                <a:latin typeface="Times New Roman"/>
                <a:cs typeface="Times New Roman"/>
              </a:rPr>
              <a:t> </a:t>
            </a:r>
            <a:r>
              <a:rPr sz="1200" b="1" dirty="0">
                <a:solidFill>
                  <a:srgbClr val="00893D"/>
                </a:solidFill>
                <a:latin typeface="Times New Roman"/>
                <a:cs typeface="Times New Roman"/>
              </a:rPr>
              <a:t>intel</a:t>
            </a:r>
            <a:r>
              <a:rPr sz="1200" b="1" spc="-40" dirty="0">
                <a:solidFill>
                  <a:srgbClr val="00893D"/>
                </a:solidFill>
                <a:latin typeface="Times New Roman"/>
                <a:cs typeface="Times New Roman"/>
              </a:rPr>
              <a:t> </a:t>
            </a:r>
            <a:r>
              <a:rPr sz="1200" b="1" dirty="0">
                <a:solidFill>
                  <a:srgbClr val="00893D"/>
                </a:solidFill>
                <a:latin typeface="Times New Roman"/>
                <a:cs typeface="Times New Roman"/>
              </a:rPr>
              <a:t>processor</a:t>
            </a:r>
            <a:r>
              <a:rPr sz="1200" b="1" spc="-40" dirty="0">
                <a:solidFill>
                  <a:srgbClr val="00893D"/>
                </a:solidFill>
                <a:latin typeface="Times New Roman"/>
                <a:cs typeface="Times New Roman"/>
              </a:rPr>
              <a:t> </a:t>
            </a:r>
            <a:r>
              <a:rPr sz="1200" b="1" spc="-25" dirty="0">
                <a:solidFill>
                  <a:srgbClr val="00893D"/>
                </a:solidFill>
                <a:latin typeface="Times New Roman"/>
                <a:cs typeface="Times New Roman"/>
              </a:rPr>
              <a:t>???</a:t>
            </a: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335"/>
              </a:spcBef>
            </a:pPr>
            <a:endParaRPr sz="1200">
              <a:latin typeface="Times New Roman"/>
              <a:cs typeface="Times New Roman"/>
            </a:endParaRPr>
          </a:p>
          <a:p>
            <a:pPr marR="144780" algn="r">
              <a:lnSpc>
                <a:spcPct val="100000"/>
              </a:lnSpc>
            </a:pPr>
            <a:r>
              <a:rPr sz="1000" b="1" spc="-25" dirty="0">
                <a:solidFill>
                  <a:srgbClr val="3E762B"/>
                </a:solidFill>
                <a:latin typeface="Corbel"/>
                <a:cs typeface="Corbel"/>
              </a:rPr>
              <a:t>30</a:t>
            </a:r>
            <a:endParaRPr sz="1000">
              <a:latin typeface="Corbel"/>
              <a:cs typeface="Corbel"/>
            </a:endParaRPr>
          </a:p>
        </p:txBody>
      </p:sp>
      <p:sp>
        <p:nvSpPr>
          <p:cNvPr id="3" name="object 3"/>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txBox="1"/>
          <p:nvPr/>
        </p:nvSpPr>
        <p:spPr>
          <a:xfrm>
            <a:off x="960119" y="5370576"/>
            <a:ext cx="4922520" cy="783590"/>
          </a:xfrm>
          <a:prstGeom prst="rect">
            <a:avLst/>
          </a:prstGeom>
          <a:solidFill>
            <a:srgbClr val="539E39"/>
          </a:solidFill>
          <a:ln w="9144">
            <a:solidFill>
              <a:srgbClr val="3A7327"/>
            </a:solidFill>
          </a:ln>
        </p:spPr>
        <p:txBody>
          <a:bodyPr vert="horz" wrap="square" lIns="0" tIns="16510" rIns="0" bIns="0" rtlCol="0">
            <a:spAutoFit/>
          </a:bodyPr>
          <a:lstStyle/>
          <a:p>
            <a:pPr marL="1480185" marR="147955" indent="-1311275">
              <a:lnSpc>
                <a:spcPts val="2920"/>
              </a:lnSpc>
              <a:spcBef>
                <a:spcPts val="130"/>
              </a:spcBef>
            </a:pPr>
            <a:r>
              <a:rPr sz="2700" dirty="0">
                <a:latin typeface="Georgia"/>
                <a:cs typeface="Georgia"/>
              </a:rPr>
              <a:t>Overlapped</a:t>
            </a:r>
            <a:r>
              <a:rPr sz="2700" spc="-40" dirty="0">
                <a:latin typeface="Georgia"/>
                <a:cs typeface="Georgia"/>
              </a:rPr>
              <a:t> </a:t>
            </a:r>
            <a:r>
              <a:rPr sz="2700" dirty="0">
                <a:latin typeface="Georgia"/>
                <a:cs typeface="Georgia"/>
              </a:rPr>
              <a:t>Register</a:t>
            </a:r>
            <a:r>
              <a:rPr sz="2700" spc="-60" dirty="0">
                <a:latin typeface="Georgia"/>
                <a:cs typeface="Georgia"/>
              </a:rPr>
              <a:t> </a:t>
            </a:r>
            <a:r>
              <a:rPr sz="2700" spc="-10" dirty="0">
                <a:latin typeface="Georgia"/>
                <a:cs typeface="Georgia"/>
              </a:rPr>
              <a:t>Windows Organization</a:t>
            </a:r>
            <a:endParaRPr sz="2700">
              <a:latin typeface="Georgia"/>
              <a:cs typeface="Georgia"/>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17</a:t>
            </a:fld>
            <a:endParaRPr spc="-25" dirty="0"/>
          </a:p>
        </p:txBody>
      </p:sp>
      <p:sp>
        <p:nvSpPr>
          <p:cNvPr id="5" name="object 5"/>
          <p:cNvSpPr txBox="1"/>
          <p:nvPr/>
        </p:nvSpPr>
        <p:spPr>
          <a:xfrm>
            <a:off x="496823" y="4966715"/>
            <a:ext cx="5862955" cy="3349635"/>
          </a:xfrm>
          <a:prstGeom prst="rect">
            <a:avLst/>
          </a:prstGeom>
          <a:solidFill>
            <a:srgbClr val="FFFFFF"/>
          </a:solidFill>
        </p:spPr>
        <p:txBody>
          <a:bodyPr vert="horz" wrap="square" lIns="0" tIns="0" rIns="0" bIns="0" rtlCol="0">
            <a:spAutoFit/>
          </a:bodyPr>
          <a:lstStyle/>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455"/>
              </a:spcBef>
            </a:pPr>
            <a:endParaRPr sz="1300" dirty="0">
              <a:latin typeface="Times New Roman"/>
              <a:cs typeface="Times New Roman"/>
            </a:endParaRPr>
          </a:p>
          <a:p>
            <a:pPr marL="775970" indent="-227965">
              <a:lnSpc>
                <a:spcPct val="100000"/>
              </a:lnSpc>
              <a:buClr>
                <a:srgbClr val="539E39"/>
              </a:buClr>
              <a:buSzPct val="80769"/>
              <a:buFont typeface="Corbel"/>
              <a:buChar char="•"/>
              <a:tabLst>
                <a:tab pos="775970" algn="l"/>
              </a:tabLst>
            </a:pP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RISC</a:t>
            </a:r>
            <a:r>
              <a:rPr sz="2000" spc="-15" dirty="0">
                <a:latin typeface="Times New Roman"/>
                <a:cs typeface="Times New Roman"/>
              </a:rPr>
              <a:t> </a:t>
            </a:r>
            <a:r>
              <a:rPr sz="2000" spc="-10" dirty="0">
                <a:latin typeface="Times New Roman"/>
                <a:cs typeface="Times New Roman"/>
              </a:rPr>
              <a:t>processors</a:t>
            </a:r>
            <a:endParaRPr sz="20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300" dirty="0">
              <a:latin typeface="Times New Roman"/>
              <a:cs typeface="Times New Roman"/>
            </a:endParaRPr>
          </a:p>
          <a:p>
            <a:pPr>
              <a:lnSpc>
                <a:spcPct val="100000"/>
              </a:lnSpc>
              <a:spcBef>
                <a:spcPts val="930"/>
              </a:spcBef>
            </a:pPr>
            <a:endParaRPr sz="1300" dirty="0">
              <a:latin typeface="Times New Roman"/>
              <a:cs typeface="Times New Roman"/>
            </a:endParaRPr>
          </a:p>
          <a:p>
            <a:pPr marR="497840" algn="r">
              <a:lnSpc>
                <a:spcPct val="100000"/>
              </a:lnSpc>
            </a:pPr>
            <a:r>
              <a:rPr sz="600" spc="-25" dirty="0">
                <a:solidFill>
                  <a:srgbClr val="539E39"/>
                </a:solidFill>
                <a:latin typeface="Corbel"/>
                <a:cs typeface="Corbel"/>
              </a:rPr>
              <a:t>31</a:t>
            </a:r>
            <a:endParaRPr sz="600" dirty="0">
              <a:latin typeface="Corbel"/>
              <a:cs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dirty="0">
              <a:latin typeface="Georgia"/>
              <a:cs typeface="Georgia"/>
            </a:endParaRPr>
          </a:p>
          <a:p>
            <a:pPr marL="434975" marR="939800" indent="-172720">
              <a:lnSpc>
                <a:spcPct val="100000"/>
              </a:lnSpc>
              <a:spcBef>
                <a:spcPts val="1305"/>
              </a:spcBef>
              <a:buClr>
                <a:srgbClr val="3E762B"/>
              </a:buClr>
              <a:buFont typeface="Wingdings"/>
              <a:buChar char=""/>
              <a:tabLst>
                <a:tab pos="436245" algn="l"/>
              </a:tabLst>
            </a:pPr>
            <a:r>
              <a:rPr sz="1100" spc="-10" dirty="0">
                <a:latin typeface="Times New Roman"/>
                <a:cs typeface="Times New Roman"/>
              </a:rPr>
              <a:t>A</a:t>
            </a:r>
            <a:r>
              <a:rPr sz="1100" spc="-65" dirty="0">
                <a:latin typeface="Times New Roman"/>
                <a:cs typeface="Times New Roman"/>
              </a:rPr>
              <a:t> </a:t>
            </a:r>
            <a:r>
              <a:rPr sz="1100" b="1" dirty="0">
                <a:latin typeface="Times New Roman"/>
                <a:cs typeface="Times New Roman"/>
              </a:rPr>
              <a:t>procedure</a:t>
            </a:r>
            <a:r>
              <a:rPr sz="1100" b="1" spc="-15" dirty="0">
                <a:latin typeface="Times New Roman"/>
                <a:cs typeface="Times New Roman"/>
              </a:rPr>
              <a:t> </a:t>
            </a:r>
            <a:r>
              <a:rPr sz="1100" b="1" dirty="0">
                <a:latin typeface="Times New Roman"/>
                <a:cs typeface="Times New Roman"/>
              </a:rPr>
              <a:t>call</a:t>
            </a:r>
            <a:r>
              <a:rPr sz="1100" b="1" spc="-15" dirty="0">
                <a:latin typeface="Times New Roman"/>
                <a:cs typeface="Times New Roman"/>
              </a:rPr>
              <a:t> </a:t>
            </a:r>
            <a:r>
              <a:rPr sz="1100" dirty="0">
                <a:latin typeface="Times New Roman"/>
                <a:cs typeface="Times New Roman"/>
              </a:rPr>
              <a:t>produces</a:t>
            </a:r>
            <a:r>
              <a:rPr sz="1100" spc="-20" dirty="0">
                <a:latin typeface="Times New Roman"/>
                <a:cs typeface="Times New Roman"/>
              </a:rPr>
              <a:t> </a:t>
            </a:r>
            <a:r>
              <a:rPr sz="1100" dirty="0">
                <a:latin typeface="Times New Roman"/>
                <a:cs typeface="Times New Roman"/>
              </a:rPr>
              <a:t>a</a:t>
            </a:r>
            <a:r>
              <a:rPr sz="1100" spc="-15" dirty="0">
                <a:latin typeface="Times New Roman"/>
                <a:cs typeface="Times New Roman"/>
              </a:rPr>
              <a:t> </a:t>
            </a:r>
            <a:r>
              <a:rPr sz="1100" dirty="0">
                <a:latin typeface="Times New Roman"/>
                <a:cs typeface="Times New Roman"/>
              </a:rPr>
              <a:t>sequence</a:t>
            </a:r>
            <a:r>
              <a:rPr sz="1100" spc="-25" dirty="0">
                <a:latin typeface="Times New Roman"/>
                <a:cs typeface="Times New Roman"/>
              </a:rPr>
              <a:t> </a:t>
            </a:r>
            <a:r>
              <a:rPr sz="1100" dirty="0">
                <a:latin typeface="Times New Roman"/>
                <a:cs typeface="Times New Roman"/>
              </a:rPr>
              <a:t>of</a:t>
            </a:r>
            <a:r>
              <a:rPr sz="1100" spc="-10" dirty="0">
                <a:latin typeface="Times New Roman"/>
                <a:cs typeface="Times New Roman"/>
              </a:rPr>
              <a:t> </a:t>
            </a:r>
            <a:r>
              <a:rPr sz="1100" dirty="0">
                <a:latin typeface="Times New Roman"/>
                <a:cs typeface="Times New Roman"/>
              </a:rPr>
              <a:t>instructions</a:t>
            </a:r>
            <a:r>
              <a:rPr sz="1100" spc="-35" dirty="0">
                <a:latin typeface="Times New Roman"/>
                <a:cs typeface="Times New Roman"/>
              </a:rPr>
              <a:t> </a:t>
            </a:r>
            <a:r>
              <a:rPr sz="1100" dirty="0">
                <a:latin typeface="Times New Roman"/>
                <a:cs typeface="Times New Roman"/>
              </a:rPr>
              <a:t>that</a:t>
            </a:r>
            <a:r>
              <a:rPr sz="1100" spc="-20" dirty="0">
                <a:latin typeface="Times New Roman"/>
                <a:cs typeface="Times New Roman"/>
              </a:rPr>
              <a:t> </a:t>
            </a:r>
            <a:r>
              <a:rPr sz="1100" dirty="0">
                <a:latin typeface="Times New Roman"/>
                <a:cs typeface="Times New Roman"/>
              </a:rPr>
              <a:t>save</a:t>
            </a:r>
            <a:r>
              <a:rPr sz="1100" spc="-15" dirty="0">
                <a:latin typeface="Times New Roman"/>
                <a:cs typeface="Times New Roman"/>
              </a:rPr>
              <a:t> </a:t>
            </a:r>
            <a:r>
              <a:rPr sz="1100" dirty="0">
                <a:latin typeface="Times New Roman"/>
                <a:cs typeface="Times New Roman"/>
              </a:rPr>
              <a:t>register</a:t>
            </a:r>
            <a:r>
              <a:rPr sz="1100" spc="-20" dirty="0">
                <a:latin typeface="Times New Roman"/>
                <a:cs typeface="Times New Roman"/>
              </a:rPr>
              <a:t> </a:t>
            </a:r>
            <a:r>
              <a:rPr sz="1100" spc="-10" dirty="0">
                <a:latin typeface="Times New Roman"/>
                <a:cs typeface="Times New Roman"/>
              </a:rPr>
              <a:t>values, 	</a:t>
            </a:r>
            <a:r>
              <a:rPr sz="1100" dirty="0">
                <a:latin typeface="Times New Roman"/>
                <a:cs typeface="Times New Roman"/>
              </a:rPr>
              <a:t>pass</a:t>
            </a:r>
            <a:r>
              <a:rPr sz="1100" spc="-15" dirty="0">
                <a:latin typeface="Times New Roman"/>
                <a:cs typeface="Times New Roman"/>
              </a:rPr>
              <a:t> </a:t>
            </a:r>
            <a:r>
              <a:rPr sz="1100" dirty="0">
                <a:latin typeface="Times New Roman"/>
                <a:cs typeface="Times New Roman"/>
              </a:rPr>
              <a:t>parameters</a:t>
            </a:r>
            <a:r>
              <a:rPr sz="1100" spc="-20" dirty="0">
                <a:latin typeface="Times New Roman"/>
                <a:cs typeface="Times New Roman"/>
              </a:rPr>
              <a:t> </a:t>
            </a:r>
            <a:r>
              <a:rPr sz="1100" dirty="0">
                <a:latin typeface="Times New Roman"/>
                <a:cs typeface="Times New Roman"/>
              </a:rPr>
              <a:t>needed for</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procedure,</a:t>
            </a:r>
            <a:r>
              <a:rPr sz="1100" spc="-3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then</a:t>
            </a:r>
            <a:r>
              <a:rPr sz="1100" spc="-5" dirty="0">
                <a:latin typeface="Times New Roman"/>
                <a:cs typeface="Times New Roman"/>
              </a:rPr>
              <a:t> </a:t>
            </a:r>
            <a:r>
              <a:rPr sz="1100" dirty="0">
                <a:latin typeface="Times New Roman"/>
                <a:cs typeface="Times New Roman"/>
              </a:rPr>
              <a:t>calls</a:t>
            </a:r>
            <a:r>
              <a:rPr sz="1100" spc="-15"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dirty="0">
                <a:latin typeface="Times New Roman"/>
                <a:cs typeface="Times New Roman"/>
              </a:rPr>
              <a:t>subroutine</a:t>
            </a:r>
            <a:r>
              <a:rPr sz="1100" spc="-30" dirty="0">
                <a:latin typeface="Times New Roman"/>
                <a:cs typeface="Times New Roman"/>
              </a:rPr>
              <a:t> </a:t>
            </a:r>
            <a:r>
              <a:rPr sz="1100" dirty="0">
                <a:latin typeface="Times New Roman"/>
                <a:cs typeface="Times New Roman"/>
              </a:rPr>
              <a:t>to</a:t>
            </a:r>
            <a:r>
              <a:rPr sz="1100" spc="-10" dirty="0">
                <a:latin typeface="Times New Roman"/>
                <a:cs typeface="Times New Roman"/>
              </a:rPr>
              <a:t> execute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body</a:t>
            </a:r>
            <a:r>
              <a:rPr sz="1100" spc="-10" dirty="0">
                <a:latin typeface="Times New Roman"/>
                <a:cs typeface="Times New Roman"/>
              </a:rPr>
              <a:t> </a:t>
            </a:r>
            <a:r>
              <a:rPr sz="1100" dirty="0">
                <a:latin typeface="Times New Roman"/>
                <a:cs typeface="Times New Roman"/>
              </a:rPr>
              <a:t>of the</a:t>
            </a:r>
            <a:r>
              <a:rPr sz="1100" spc="-5" dirty="0">
                <a:latin typeface="Times New Roman"/>
                <a:cs typeface="Times New Roman"/>
              </a:rPr>
              <a:t> </a:t>
            </a:r>
            <a:r>
              <a:rPr sz="1100" spc="-10" dirty="0">
                <a:latin typeface="Times New Roman"/>
                <a:cs typeface="Times New Roman"/>
              </a:rPr>
              <a:t>procedure.</a:t>
            </a:r>
            <a:endParaRPr sz="1100" dirty="0">
              <a:latin typeface="Times New Roman"/>
              <a:cs typeface="Times New Roman"/>
            </a:endParaRPr>
          </a:p>
          <a:p>
            <a:pPr marL="434975" marR="1052830" indent="-172720">
              <a:lnSpc>
                <a:spcPct val="100000"/>
              </a:lnSpc>
              <a:spcBef>
                <a:spcPts val="600"/>
              </a:spcBef>
              <a:buClr>
                <a:srgbClr val="3E762B"/>
              </a:buClr>
              <a:buFont typeface="Wingdings"/>
              <a:buChar char=""/>
              <a:tabLst>
                <a:tab pos="436245" algn="l"/>
              </a:tabLst>
            </a:pPr>
            <a:r>
              <a:rPr sz="1100" dirty="0">
                <a:latin typeface="Times New Roman"/>
                <a:cs typeface="Times New Roman"/>
              </a:rPr>
              <a:t>After</a:t>
            </a:r>
            <a:r>
              <a:rPr sz="1100" spc="-20" dirty="0">
                <a:latin typeface="Times New Roman"/>
                <a:cs typeface="Times New Roman"/>
              </a:rPr>
              <a:t> </a:t>
            </a:r>
            <a:r>
              <a:rPr sz="1100" dirty="0">
                <a:latin typeface="Times New Roman"/>
                <a:cs typeface="Times New Roman"/>
              </a:rPr>
              <a:t>a</a:t>
            </a:r>
            <a:r>
              <a:rPr sz="1100" spc="-15" dirty="0">
                <a:latin typeface="Times New Roman"/>
                <a:cs typeface="Times New Roman"/>
              </a:rPr>
              <a:t> </a:t>
            </a:r>
            <a:r>
              <a:rPr sz="1100" b="1" dirty="0">
                <a:latin typeface="Times New Roman"/>
                <a:cs typeface="Times New Roman"/>
              </a:rPr>
              <a:t>procedure</a:t>
            </a:r>
            <a:r>
              <a:rPr sz="1100" b="1" spc="-15" dirty="0">
                <a:latin typeface="Times New Roman"/>
                <a:cs typeface="Times New Roman"/>
              </a:rPr>
              <a:t> </a:t>
            </a:r>
            <a:r>
              <a:rPr sz="1100" b="1" dirty="0">
                <a:latin typeface="Times New Roman"/>
                <a:cs typeface="Times New Roman"/>
              </a:rPr>
              <a:t>return</a:t>
            </a:r>
            <a:r>
              <a:rPr sz="1100" dirty="0">
                <a:latin typeface="Times New Roman"/>
                <a:cs typeface="Times New Roman"/>
              </a:rPr>
              <a:t>,</a:t>
            </a:r>
            <a:r>
              <a:rPr sz="1100" spc="-20"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program</a:t>
            </a:r>
            <a:r>
              <a:rPr sz="1100" spc="-10" dirty="0">
                <a:latin typeface="Times New Roman"/>
                <a:cs typeface="Times New Roman"/>
              </a:rPr>
              <a:t> </a:t>
            </a:r>
            <a:r>
              <a:rPr sz="1100" dirty="0">
                <a:latin typeface="Times New Roman"/>
                <a:cs typeface="Times New Roman"/>
              </a:rPr>
              <a:t>restores</a:t>
            </a:r>
            <a:r>
              <a:rPr sz="1100" spc="-45" dirty="0">
                <a:latin typeface="Times New Roman"/>
                <a:cs typeface="Times New Roman"/>
              </a:rPr>
              <a:t> </a:t>
            </a:r>
            <a:r>
              <a:rPr sz="1100" dirty="0">
                <a:latin typeface="Times New Roman"/>
                <a:cs typeface="Times New Roman"/>
              </a:rPr>
              <a:t>the</a:t>
            </a:r>
            <a:r>
              <a:rPr sz="1100" spc="-15" dirty="0">
                <a:latin typeface="Times New Roman"/>
                <a:cs typeface="Times New Roman"/>
              </a:rPr>
              <a:t> </a:t>
            </a:r>
            <a:r>
              <a:rPr sz="1100" dirty="0">
                <a:latin typeface="Times New Roman"/>
                <a:cs typeface="Times New Roman"/>
              </a:rPr>
              <a:t>old</a:t>
            </a:r>
            <a:r>
              <a:rPr sz="1100" spc="-20" dirty="0">
                <a:latin typeface="Times New Roman"/>
                <a:cs typeface="Times New Roman"/>
              </a:rPr>
              <a:t> </a:t>
            </a:r>
            <a:r>
              <a:rPr sz="1100" dirty="0">
                <a:latin typeface="Times New Roman"/>
                <a:cs typeface="Times New Roman"/>
              </a:rPr>
              <a:t>register</a:t>
            </a:r>
            <a:r>
              <a:rPr sz="1100" spc="-25" dirty="0">
                <a:latin typeface="Times New Roman"/>
                <a:cs typeface="Times New Roman"/>
              </a:rPr>
              <a:t> </a:t>
            </a:r>
            <a:r>
              <a:rPr sz="1100" dirty="0">
                <a:latin typeface="Times New Roman"/>
                <a:cs typeface="Times New Roman"/>
              </a:rPr>
              <a:t>values,</a:t>
            </a:r>
            <a:r>
              <a:rPr sz="1100" spc="-20" dirty="0">
                <a:latin typeface="Times New Roman"/>
                <a:cs typeface="Times New Roman"/>
              </a:rPr>
              <a:t> </a:t>
            </a:r>
            <a:r>
              <a:rPr sz="1100" spc="-10" dirty="0">
                <a:latin typeface="Times New Roman"/>
                <a:cs typeface="Times New Roman"/>
              </a:rPr>
              <a:t>passes 	</a:t>
            </a:r>
            <a:r>
              <a:rPr sz="1100" dirty="0">
                <a:latin typeface="Times New Roman"/>
                <a:cs typeface="Times New Roman"/>
              </a:rPr>
              <a:t>results</a:t>
            </a:r>
            <a:r>
              <a:rPr sz="1100" spc="-30" dirty="0">
                <a:latin typeface="Times New Roman"/>
                <a:cs typeface="Times New Roman"/>
              </a:rPr>
              <a:t> </a:t>
            </a:r>
            <a:r>
              <a:rPr sz="1100" dirty="0">
                <a:latin typeface="Times New Roman"/>
                <a:cs typeface="Times New Roman"/>
              </a:rPr>
              <a:t>to</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calling</a:t>
            </a:r>
            <a:r>
              <a:rPr sz="1100" spc="-20" dirty="0">
                <a:latin typeface="Times New Roman"/>
                <a:cs typeface="Times New Roman"/>
              </a:rPr>
              <a:t> </a:t>
            </a:r>
            <a:r>
              <a:rPr sz="1100" dirty="0">
                <a:latin typeface="Times New Roman"/>
                <a:cs typeface="Times New Roman"/>
              </a:rPr>
              <a:t>program,</a:t>
            </a:r>
            <a:r>
              <a:rPr sz="1100" spc="1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returns</a:t>
            </a:r>
            <a:r>
              <a:rPr sz="1100" spc="-30" dirty="0">
                <a:latin typeface="Times New Roman"/>
                <a:cs typeface="Times New Roman"/>
              </a:rPr>
              <a:t> </a:t>
            </a:r>
            <a:r>
              <a:rPr sz="1100" dirty="0">
                <a:latin typeface="Times New Roman"/>
                <a:cs typeface="Times New Roman"/>
              </a:rPr>
              <a:t>from</a:t>
            </a:r>
            <a:r>
              <a:rPr sz="1100" spc="-5" dirty="0">
                <a:latin typeface="Times New Roman"/>
                <a:cs typeface="Times New Roman"/>
              </a:rPr>
              <a:t> </a:t>
            </a:r>
            <a:r>
              <a:rPr sz="1100" dirty="0">
                <a:latin typeface="Times New Roman"/>
                <a:cs typeface="Times New Roman"/>
              </a:rPr>
              <a:t>the </a:t>
            </a:r>
            <a:r>
              <a:rPr sz="1100" spc="-10" dirty="0">
                <a:latin typeface="Times New Roman"/>
                <a:cs typeface="Times New Roman"/>
              </a:rPr>
              <a:t>subroutine.</a:t>
            </a:r>
            <a:endParaRPr sz="1100" dirty="0">
              <a:latin typeface="Times New Roman"/>
              <a:cs typeface="Times New Roman"/>
            </a:endParaRPr>
          </a:p>
          <a:p>
            <a:pPr marL="434975" marR="844550" indent="-172720">
              <a:lnSpc>
                <a:spcPct val="100000"/>
              </a:lnSpc>
              <a:spcBef>
                <a:spcPts val="600"/>
              </a:spcBef>
              <a:buClr>
                <a:srgbClr val="3E762B"/>
              </a:buClr>
              <a:buFont typeface="Wingdings"/>
              <a:buChar char=""/>
              <a:tabLst>
                <a:tab pos="436245" algn="l"/>
              </a:tabLst>
            </a:pPr>
            <a:r>
              <a:rPr sz="1100" dirty="0">
                <a:latin typeface="Times New Roman"/>
                <a:cs typeface="Times New Roman"/>
              </a:rPr>
              <a:t>Saving and</a:t>
            </a:r>
            <a:r>
              <a:rPr sz="1100" spc="-5" dirty="0">
                <a:latin typeface="Times New Roman"/>
                <a:cs typeface="Times New Roman"/>
              </a:rPr>
              <a:t> </a:t>
            </a:r>
            <a:r>
              <a:rPr sz="1100" dirty="0">
                <a:latin typeface="Times New Roman"/>
                <a:cs typeface="Times New Roman"/>
              </a:rPr>
              <a:t>restoring</a:t>
            </a:r>
            <a:r>
              <a:rPr sz="1100" spc="-40" dirty="0">
                <a:latin typeface="Times New Roman"/>
                <a:cs typeface="Times New Roman"/>
              </a:rPr>
              <a:t> </a:t>
            </a:r>
            <a:r>
              <a:rPr sz="1100" dirty="0">
                <a:latin typeface="Times New Roman"/>
                <a:cs typeface="Times New Roman"/>
              </a:rPr>
              <a:t>registers</a:t>
            </a:r>
            <a:r>
              <a:rPr sz="1100" spc="-30"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passing</a:t>
            </a:r>
            <a:r>
              <a:rPr sz="1100" spc="-20"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parameters</a:t>
            </a:r>
            <a:r>
              <a:rPr sz="1100" spc="-1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results</a:t>
            </a:r>
            <a:r>
              <a:rPr sz="1100" spc="-30" dirty="0">
                <a:latin typeface="Times New Roman"/>
                <a:cs typeface="Times New Roman"/>
              </a:rPr>
              <a:t> </a:t>
            </a:r>
            <a:r>
              <a:rPr sz="1100" dirty="0">
                <a:latin typeface="Times New Roman"/>
                <a:cs typeface="Times New Roman"/>
              </a:rPr>
              <a:t>involve</a:t>
            </a:r>
            <a:r>
              <a:rPr sz="1100" spc="5" dirty="0">
                <a:latin typeface="Times New Roman"/>
                <a:cs typeface="Times New Roman"/>
              </a:rPr>
              <a:t> </a:t>
            </a:r>
            <a:r>
              <a:rPr sz="1100" spc="-10" dirty="0">
                <a:latin typeface="Times New Roman"/>
                <a:cs typeface="Times New Roman"/>
              </a:rPr>
              <a:t>time- 	</a:t>
            </a:r>
            <a:r>
              <a:rPr sz="1100" dirty="0">
                <a:latin typeface="Times New Roman"/>
                <a:cs typeface="Times New Roman"/>
              </a:rPr>
              <a:t>consuming</a:t>
            </a:r>
            <a:r>
              <a:rPr sz="1100" spc="-30" dirty="0">
                <a:latin typeface="Times New Roman"/>
                <a:cs typeface="Times New Roman"/>
              </a:rPr>
              <a:t> </a:t>
            </a:r>
            <a:r>
              <a:rPr sz="1100" spc="-10" dirty="0">
                <a:latin typeface="Times New Roman"/>
                <a:cs typeface="Times New Roman"/>
              </a:rPr>
              <a:t>operations.</a:t>
            </a:r>
            <a:endParaRPr sz="1100" dirty="0">
              <a:latin typeface="Times New Roman"/>
              <a:cs typeface="Times New Roman"/>
            </a:endParaRPr>
          </a:p>
          <a:p>
            <a:pPr marL="664845" marR="1017905" lvl="1" indent="-173990">
              <a:lnSpc>
                <a:spcPct val="100000"/>
              </a:lnSpc>
              <a:spcBef>
                <a:spcPts val="600"/>
              </a:spcBef>
              <a:buClr>
                <a:srgbClr val="3E762B"/>
              </a:buClr>
              <a:buFont typeface="Wingdings"/>
              <a:buChar char=""/>
              <a:tabLst>
                <a:tab pos="664845" algn="l"/>
              </a:tabLst>
            </a:pPr>
            <a:r>
              <a:rPr sz="1100" dirty="0">
                <a:latin typeface="Times New Roman"/>
                <a:cs typeface="Times New Roman"/>
              </a:rPr>
              <a:t>Some</a:t>
            </a:r>
            <a:r>
              <a:rPr sz="1100" spc="5" dirty="0">
                <a:latin typeface="Times New Roman"/>
                <a:cs typeface="Times New Roman"/>
              </a:rPr>
              <a:t> </a:t>
            </a:r>
            <a:r>
              <a:rPr sz="1100" dirty="0">
                <a:latin typeface="Times New Roman"/>
                <a:cs typeface="Times New Roman"/>
              </a:rPr>
              <a:t>computers</a:t>
            </a:r>
            <a:r>
              <a:rPr sz="1100" spc="-25" dirty="0">
                <a:latin typeface="Times New Roman"/>
                <a:cs typeface="Times New Roman"/>
              </a:rPr>
              <a:t> </a:t>
            </a:r>
            <a:r>
              <a:rPr sz="1100" dirty="0">
                <a:latin typeface="Times New Roman"/>
                <a:cs typeface="Times New Roman"/>
              </a:rPr>
              <a:t>provide</a:t>
            </a:r>
            <a:r>
              <a:rPr sz="1100" spc="-5" dirty="0">
                <a:latin typeface="Times New Roman"/>
                <a:cs typeface="Times New Roman"/>
              </a:rPr>
              <a:t> </a:t>
            </a:r>
            <a:r>
              <a:rPr sz="1100" dirty="0">
                <a:latin typeface="Times New Roman"/>
                <a:cs typeface="Times New Roman"/>
              </a:rPr>
              <a:t>multiple-register</a:t>
            </a:r>
            <a:r>
              <a:rPr sz="1100" spc="-25" dirty="0">
                <a:latin typeface="Times New Roman"/>
                <a:cs typeface="Times New Roman"/>
              </a:rPr>
              <a:t> </a:t>
            </a:r>
            <a:r>
              <a:rPr sz="1100" dirty="0">
                <a:latin typeface="Times New Roman"/>
                <a:cs typeface="Times New Roman"/>
              </a:rPr>
              <a:t>banks,</a:t>
            </a:r>
            <a:r>
              <a:rPr sz="1100" spc="-15" dirty="0">
                <a:latin typeface="Times New Roman"/>
                <a:cs typeface="Times New Roman"/>
              </a:rPr>
              <a:t> </a:t>
            </a:r>
            <a:r>
              <a:rPr sz="1100" dirty="0">
                <a:latin typeface="Times New Roman"/>
                <a:cs typeface="Times New Roman"/>
              </a:rPr>
              <a:t>and each</a:t>
            </a:r>
            <a:r>
              <a:rPr sz="1100" spc="-30" dirty="0">
                <a:latin typeface="Times New Roman"/>
                <a:cs typeface="Times New Roman"/>
              </a:rPr>
              <a:t> </a:t>
            </a:r>
            <a:r>
              <a:rPr sz="1100" dirty="0">
                <a:latin typeface="Times New Roman"/>
                <a:cs typeface="Times New Roman"/>
              </a:rPr>
              <a:t>procedure</a:t>
            </a:r>
            <a:r>
              <a:rPr sz="1100" spc="-30" dirty="0">
                <a:latin typeface="Times New Roman"/>
                <a:cs typeface="Times New Roman"/>
              </a:rPr>
              <a:t> </a:t>
            </a:r>
            <a:r>
              <a:rPr sz="1100" spc="-25" dirty="0">
                <a:latin typeface="Times New Roman"/>
                <a:cs typeface="Times New Roman"/>
              </a:rPr>
              <a:t>is </a:t>
            </a:r>
            <a:r>
              <a:rPr sz="1100" dirty="0">
                <a:latin typeface="Times New Roman"/>
                <a:cs typeface="Times New Roman"/>
              </a:rPr>
              <a:t>allocated</a:t>
            </a:r>
            <a:r>
              <a:rPr sz="1100" spc="-30" dirty="0">
                <a:latin typeface="Times New Roman"/>
                <a:cs typeface="Times New Roman"/>
              </a:rPr>
              <a:t> </a:t>
            </a:r>
            <a:r>
              <a:rPr sz="1100" dirty="0">
                <a:latin typeface="Times New Roman"/>
                <a:cs typeface="Times New Roman"/>
              </a:rPr>
              <a:t>its</a:t>
            </a:r>
            <a:r>
              <a:rPr sz="1100" spc="-15" dirty="0">
                <a:latin typeface="Times New Roman"/>
                <a:cs typeface="Times New Roman"/>
              </a:rPr>
              <a:t> </a:t>
            </a:r>
            <a:r>
              <a:rPr sz="1100" dirty="0">
                <a:latin typeface="Times New Roman"/>
                <a:cs typeface="Times New Roman"/>
              </a:rPr>
              <a:t>own</a:t>
            </a:r>
            <a:r>
              <a:rPr sz="1100" spc="5" dirty="0">
                <a:latin typeface="Times New Roman"/>
                <a:cs typeface="Times New Roman"/>
              </a:rPr>
              <a:t> </a:t>
            </a:r>
            <a:r>
              <a:rPr sz="1100" dirty="0">
                <a:latin typeface="Times New Roman"/>
                <a:cs typeface="Times New Roman"/>
              </a:rPr>
              <a:t>bank</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registers.</a:t>
            </a:r>
            <a:r>
              <a:rPr sz="1100" spc="-40" dirty="0">
                <a:latin typeface="Times New Roman"/>
                <a:cs typeface="Times New Roman"/>
              </a:rPr>
              <a:t> </a:t>
            </a:r>
            <a:r>
              <a:rPr sz="1100" dirty="0">
                <a:latin typeface="Times New Roman"/>
                <a:cs typeface="Times New Roman"/>
              </a:rPr>
              <a:t>This</a:t>
            </a:r>
            <a:r>
              <a:rPr sz="1100" spc="-15" dirty="0">
                <a:latin typeface="Times New Roman"/>
                <a:cs typeface="Times New Roman"/>
              </a:rPr>
              <a:t> </a:t>
            </a:r>
            <a:r>
              <a:rPr sz="1100" dirty="0">
                <a:latin typeface="Times New Roman"/>
                <a:cs typeface="Times New Roman"/>
              </a:rPr>
              <a:t>eliminates</a:t>
            </a:r>
            <a:r>
              <a:rPr sz="1100" spc="-3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need</a:t>
            </a:r>
            <a:r>
              <a:rPr sz="1100" spc="-10"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saving</a:t>
            </a:r>
            <a:r>
              <a:rPr sz="1100" spc="-10" dirty="0">
                <a:latin typeface="Times New Roman"/>
                <a:cs typeface="Times New Roman"/>
              </a:rPr>
              <a:t> </a:t>
            </a:r>
            <a:r>
              <a:rPr sz="1100" spc="-25" dirty="0">
                <a:latin typeface="Times New Roman"/>
                <a:cs typeface="Times New Roman"/>
              </a:rPr>
              <a:t>and </a:t>
            </a:r>
            <a:r>
              <a:rPr sz="1100" dirty="0">
                <a:latin typeface="Times New Roman"/>
                <a:cs typeface="Times New Roman"/>
              </a:rPr>
              <a:t>restoring</a:t>
            </a:r>
            <a:r>
              <a:rPr sz="1100" spc="-30" dirty="0">
                <a:latin typeface="Times New Roman"/>
                <a:cs typeface="Times New Roman"/>
              </a:rPr>
              <a:t> </a:t>
            </a:r>
            <a:r>
              <a:rPr sz="1100" dirty="0">
                <a:latin typeface="Times New Roman"/>
                <a:cs typeface="Times New Roman"/>
              </a:rPr>
              <a:t>register</a:t>
            </a:r>
            <a:r>
              <a:rPr sz="1100" spc="-5" dirty="0">
                <a:latin typeface="Times New Roman"/>
                <a:cs typeface="Times New Roman"/>
              </a:rPr>
              <a:t> </a:t>
            </a:r>
            <a:r>
              <a:rPr sz="1100" spc="-10" dirty="0">
                <a:latin typeface="Times New Roman"/>
                <a:cs typeface="Times New Roman"/>
              </a:rPr>
              <a:t>values.</a:t>
            </a:r>
            <a:endParaRPr sz="1100" dirty="0">
              <a:latin typeface="Times New Roman"/>
              <a:cs typeface="Times New Roman"/>
            </a:endParaRPr>
          </a:p>
          <a:p>
            <a:pPr marL="664845" marR="823594" lvl="1" indent="-173990">
              <a:lnSpc>
                <a:spcPct val="100000"/>
              </a:lnSpc>
              <a:spcBef>
                <a:spcPts val="600"/>
              </a:spcBef>
              <a:buClr>
                <a:srgbClr val="3E762B"/>
              </a:buClr>
              <a:buFont typeface="Wingdings"/>
              <a:buChar char=""/>
              <a:tabLst>
                <a:tab pos="664845" algn="l"/>
              </a:tabLst>
            </a:pPr>
            <a:r>
              <a:rPr sz="1100" dirty="0">
                <a:latin typeface="Times New Roman"/>
                <a:cs typeface="Times New Roman"/>
              </a:rPr>
              <a:t>Some</a:t>
            </a:r>
            <a:r>
              <a:rPr sz="1100" spc="5" dirty="0">
                <a:latin typeface="Times New Roman"/>
                <a:cs typeface="Times New Roman"/>
              </a:rPr>
              <a:t> </a:t>
            </a:r>
            <a:r>
              <a:rPr sz="1100" dirty="0">
                <a:latin typeface="Times New Roman"/>
                <a:cs typeface="Times New Roman"/>
              </a:rPr>
              <a:t>computers</a:t>
            </a:r>
            <a:r>
              <a:rPr sz="1100" spc="-20" dirty="0">
                <a:latin typeface="Times New Roman"/>
                <a:cs typeface="Times New Roman"/>
              </a:rPr>
              <a:t> </a:t>
            </a:r>
            <a:r>
              <a:rPr sz="1100" dirty="0">
                <a:latin typeface="Times New Roman"/>
                <a:cs typeface="Times New Roman"/>
              </a:rPr>
              <a:t>use</a:t>
            </a:r>
            <a:r>
              <a:rPr sz="1100" spc="-10"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memory</a:t>
            </a:r>
            <a:r>
              <a:rPr sz="1100" spc="20" dirty="0">
                <a:latin typeface="Times New Roman"/>
                <a:cs typeface="Times New Roman"/>
              </a:rPr>
              <a:t> </a:t>
            </a:r>
            <a:r>
              <a:rPr sz="1100" dirty="0">
                <a:latin typeface="Times New Roman"/>
                <a:cs typeface="Times New Roman"/>
              </a:rPr>
              <a:t>stack</a:t>
            </a:r>
            <a:r>
              <a:rPr sz="1100" spc="-25" dirty="0">
                <a:latin typeface="Times New Roman"/>
                <a:cs typeface="Times New Roman"/>
              </a:rPr>
              <a:t> </a:t>
            </a:r>
            <a:r>
              <a:rPr sz="1100" dirty="0">
                <a:latin typeface="Times New Roman"/>
                <a:cs typeface="Times New Roman"/>
              </a:rPr>
              <a:t>to</a:t>
            </a:r>
            <a:r>
              <a:rPr sz="1100" spc="-15" dirty="0">
                <a:latin typeface="Times New Roman"/>
                <a:cs typeface="Times New Roman"/>
              </a:rPr>
              <a:t> </a:t>
            </a:r>
            <a:r>
              <a:rPr sz="1100" dirty="0">
                <a:latin typeface="Times New Roman"/>
                <a:cs typeface="Times New Roman"/>
              </a:rPr>
              <a:t>store</a:t>
            </a:r>
            <a:r>
              <a:rPr sz="1100" spc="-25" dirty="0">
                <a:latin typeface="Times New Roman"/>
                <a:cs typeface="Times New Roman"/>
              </a:rPr>
              <a:t> </a:t>
            </a:r>
            <a:r>
              <a:rPr sz="1100" dirty="0">
                <a:latin typeface="Times New Roman"/>
                <a:cs typeface="Times New Roman"/>
              </a:rPr>
              <a:t>the</a:t>
            </a:r>
            <a:r>
              <a:rPr sz="1100" spc="-10" dirty="0">
                <a:latin typeface="Times New Roman"/>
                <a:cs typeface="Times New Roman"/>
              </a:rPr>
              <a:t> </a:t>
            </a:r>
            <a:r>
              <a:rPr sz="1100" dirty="0">
                <a:latin typeface="Times New Roman"/>
                <a:cs typeface="Times New Roman"/>
              </a:rPr>
              <a:t>parameters</a:t>
            </a:r>
            <a:r>
              <a:rPr sz="1100" spc="-25" dirty="0">
                <a:latin typeface="Times New Roman"/>
                <a:cs typeface="Times New Roman"/>
              </a:rPr>
              <a:t> </a:t>
            </a:r>
            <a:r>
              <a:rPr sz="1100" dirty="0">
                <a:latin typeface="Times New Roman"/>
                <a:cs typeface="Times New Roman"/>
              </a:rPr>
              <a:t>that</a:t>
            </a:r>
            <a:r>
              <a:rPr sz="1100" spc="-20" dirty="0">
                <a:latin typeface="Times New Roman"/>
                <a:cs typeface="Times New Roman"/>
              </a:rPr>
              <a:t> </a:t>
            </a:r>
            <a:r>
              <a:rPr sz="1100" dirty="0">
                <a:latin typeface="Times New Roman"/>
                <a:cs typeface="Times New Roman"/>
              </a:rPr>
              <a:t>are</a:t>
            </a:r>
            <a:r>
              <a:rPr sz="1100" spc="-10" dirty="0">
                <a:latin typeface="Times New Roman"/>
                <a:cs typeface="Times New Roman"/>
              </a:rPr>
              <a:t> needed </a:t>
            </a:r>
            <a:r>
              <a:rPr sz="1100" dirty="0">
                <a:latin typeface="Times New Roman"/>
                <a:cs typeface="Times New Roman"/>
              </a:rPr>
              <a:t>by</a:t>
            </a:r>
            <a:r>
              <a:rPr sz="1100" spc="-5" dirty="0">
                <a:latin typeface="Times New Roman"/>
                <a:cs typeface="Times New Roman"/>
              </a:rPr>
              <a:t> </a:t>
            </a:r>
            <a:r>
              <a:rPr sz="1100" dirty="0">
                <a:latin typeface="Times New Roman"/>
                <a:cs typeface="Times New Roman"/>
              </a:rPr>
              <a:t>the</a:t>
            </a:r>
            <a:r>
              <a:rPr sz="1100" spc="-25" dirty="0">
                <a:latin typeface="Times New Roman"/>
                <a:cs typeface="Times New Roman"/>
              </a:rPr>
              <a:t> </a:t>
            </a:r>
            <a:r>
              <a:rPr sz="1100" dirty="0">
                <a:latin typeface="Times New Roman"/>
                <a:cs typeface="Times New Roman"/>
              </a:rPr>
              <a:t>procedure,</a:t>
            </a:r>
            <a:r>
              <a:rPr sz="1100" spc="-20" dirty="0">
                <a:latin typeface="Times New Roman"/>
                <a:cs typeface="Times New Roman"/>
              </a:rPr>
              <a:t> </a:t>
            </a:r>
            <a:r>
              <a:rPr sz="1100" dirty="0">
                <a:latin typeface="Times New Roman"/>
                <a:cs typeface="Times New Roman"/>
              </a:rPr>
              <a:t>but</a:t>
            </a:r>
            <a:r>
              <a:rPr sz="1100" spc="-10" dirty="0">
                <a:latin typeface="Times New Roman"/>
                <a:cs typeface="Times New Roman"/>
              </a:rPr>
              <a:t> </a:t>
            </a:r>
            <a:r>
              <a:rPr sz="1100" dirty="0">
                <a:latin typeface="Times New Roman"/>
                <a:cs typeface="Times New Roman"/>
              </a:rPr>
              <a:t>this</a:t>
            </a:r>
            <a:r>
              <a:rPr sz="1100" spc="-15" dirty="0">
                <a:latin typeface="Times New Roman"/>
                <a:cs typeface="Times New Roman"/>
              </a:rPr>
              <a:t> </a:t>
            </a:r>
            <a:r>
              <a:rPr sz="1100" dirty="0">
                <a:latin typeface="Times New Roman"/>
                <a:cs typeface="Times New Roman"/>
              </a:rPr>
              <a:t>requires</a:t>
            </a:r>
            <a:r>
              <a:rPr sz="1100" spc="-20" dirty="0">
                <a:latin typeface="Times New Roman"/>
                <a:cs typeface="Times New Roman"/>
              </a:rPr>
              <a:t> </a:t>
            </a:r>
            <a:r>
              <a:rPr sz="1100" dirty="0">
                <a:latin typeface="Times New Roman"/>
                <a:cs typeface="Times New Roman"/>
              </a:rPr>
              <a:t>a</a:t>
            </a:r>
            <a:r>
              <a:rPr sz="1100" spc="-10" dirty="0">
                <a:latin typeface="Times New Roman"/>
                <a:cs typeface="Times New Roman"/>
              </a:rPr>
              <a:t> </a:t>
            </a:r>
            <a:r>
              <a:rPr sz="1100" dirty="0">
                <a:latin typeface="Times New Roman"/>
                <a:cs typeface="Times New Roman"/>
              </a:rPr>
              <a:t>memory</a:t>
            </a:r>
            <a:r>
              <a:rPr sz="1100" spc="25" dirty="0">
                <a:latin typeface="Times New Roman"/>
                <a:cs typeface="Times New Roman"/>
              </a:rPr>
              <a:t> </a:t>
            </a:r>
            <a:r>
              <a:rPr sz="1100" dirty="0">
                <a:latin typeface="Times New Roman"/>
                <a:cs typeface="Times New Roman"/>
              </a:rPr>
              <a:t>access</a:t>
            </a:r>
            <a:r>
              <a:rPr sz="1100" spc="-35" dirty="0">
                <a:latin typeface="Times New Roman"/>
                <a:cs typeface="Times New Roman"/>
              </a:rPr>
              <a:t> </a:t>
            </a:r>
            <a:r>
              <a:rPr sz="1100" dirty="0">
                <a:latin typeface="Times New Roman"/>
                <a:cs typeface="Times New Roman"/>
              </a:rPr>
              <a:t>every time</a:t>
            </a:r>
            <a:r>
              <a:rPr sz="1100" spc="-10"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stack</a:t>
            </a:r>
            <a:r>
              <a:rPr sz="1100" spc="-25" dirty="0">
                <a:latin typeface="Times New Roman"/>
                <a:cs typeface="Times New Roman"/>
              </a:rPr>
              <a:t> is </a:t>
            </a:r>
            <a:r>
              <a:rPr sz="1100" spc="-10" dirty="0">
                <a:latin typeface="Times New Roman"/>
                <a:cs typeface="Times New Roman"/>
              </a:rPr>
              <a:t>accessed.</a:t>
            </a:r>
            <a:endParaRPr sz="1100" dirty="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dirty="0">
              <a:latin typeface="Georgia"/>
              <a:cs typeface="Georgia"/>
            </a:endParaRPr>
          </a:p>
          <a:p>
            <a:pPr marL="434975" marR="792480" indent="-172720" algn="just">
              <a:lnSpc>
                <a:spcPct val="100000"/>
              </a:lnSpc>
              <a:spcBef>
                <a:spcPts val="1300"/>
              </a:spcBef>
              <a:buClr>
                <a:srgbClr val="3E762B"/>
              </a:buClr>
              <a:buFont typeface="Wingdings"/>
              <a:buChar char=""/>
              <a:tabLst>
                <a:tab pos="436245" algn="l"/>
              </a:tabLst>
            </a:pPr>
            <a:r>
              <a:rPr sz="1200" dirty="0">
                <a:latin typeface="Times New Roman"/>
                <a:cs typeface="Times New Roman"/>
              </a:rPr>
              <a:t>A</a:t>
            </a:r>
            <a:r>
              <a:rPr sz="1200" spc="-75" dirty="0">
                <a:latin typeface="Times New Roman"/>
                <a:cs typeface="Times New Roman"/>
              </a:rPr>
              <a:t> </a:t>
            </a:r>
            <a:r>
              <a:rPr sz="1200" spc="-10" dirty="0">
                <a:latin typeface="Times New Roman"/>
                <a:cs typeface="Times New Roman"/>
              </a:rPr>
              <a:t>characteristic</a:t>
            </a:r>
            <a:r>
              <a:rPr sz="1200" spc="-1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some</a:t>
            </a:r>
            <a:r>
              <a:rPr sz="1200" spc="-20" dirty="0">
                <a:latin typeface="Times New Roman"/>
                <a:cs typeface="Times New Roman"/>
              </a:rPr>
              <a:t> </a:t>
            </a:r>
            <a:r>
              <a:rPr sz="1200" dirty="0">
                <a:latin typeface="Times New Roman"/>
                <a:cs typeface="Times New Roman"/>
              </a:rPr>
              <a:t>RISC</a:t>
            </a:r>
            <a:r>
              <a:rPr sz="1200" spc="-5" dirty="0">
                <a:latin typeface="Times New Roman"/>
                <a:cs typeface="Times New Roman"/>
              </a:rPr>
              <a:t> </a:t>
            </a:r>
            <a:r>
              <a:rPr sz="1200" dirty="0">
                <a:latin typeface="Times New Roman"/>
                <a:cs typeface="Times New Roman"/>
              </a:rPr>
              <a:t>processors</a:t>
            </a:r>
            <a:r>
              <a:rPr sz="1200" spc="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their</a:t>
            </a:r>
            <a:r>
              <a:rPr sz="1200" spc="-20" dirty="0">
                <a:latin typeface="Times New Roman"/>
                <a:cs typeface="Times New Roman"/>
              </a:rPr>
              <a:t> </a:t>
            </a:r>
            <a:r>
              <a:rPr sz="1200" dirty="0">
                <a:latin typeface="Times New Roman"/>
                <a:cs typeface="Times New Roman"/>
              </a:rPr>
              <a:t>use</a:t>
            </a:r>
            <a:r>
              <a:rPr sz="1200" spc="-10" dirty="0">
                <a:latin typeface="Times New Roman"/>
                <a:cs typeface="Times New Roman"/>
              </a:rPr>
              <a:t> </a:t>
            </a:r>
            <a:r>
              <a:rPr sz="1200" dirty="0">
                <a:latin typeface="Times New Roman"/>
                <a:cs typeface="Times New Roman"/>
              </a:rPr>
              <a:t>of </a:t>
            </a:r>
            <a:r>
              <a:rPr sz="1200" i="1" dirty="0">
                <a:latin typeface="Times New Roman"/>
                <a:cs typeface="Times New Roman"/>
              </a:rPr>
              <a:t>overlapped</a:t>
            </a:r>
            <a:r>
              <a:rPr sz="1200" i="1" spc="-15" dirty="0">
                <a:latin typeface="Times New Roman"/>
                <a:cs typeface="Times New Roman"/>
              </a:rPr>
              <a:t> </a:t>
            </a:r>
            <a:r>
              <a:rPr sz="1200" i="1" spc="-10" dirty="0">
                <a:latin typeface="Times New Roman"/>
                <a:cs typeface="Times New Roman"/>
              </a:rPr>
              <a:t>register 	</a:t>
            </a:r>
            <a:r>
              <a:rPr sz="1200" i="1" dirty="0">
                <a:latin typeface="Times New Roman"/>
                <a:cs typeface="Times New Roman"/>
              </a:rPr>
              <a:t>windows</a:t>
            </a:r>
            <a:r>
              <a:rPr sz="1200" i="1" spc="-3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provide</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passing</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parameters</a:t>
            </a:r>
            <a:r>
              <a:rPr sz="1200" spc="-1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avoid</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need</a:t>
            </a:r>
            <a:r>
              <a:rPr sz="1200" spc="-1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spc="-10" dirty="0">
                <a:latin typeface="Times New Roman"/>
                <a:cs typeface="Times New Roman"/>
              </a:rPr>
              <a:t>saving 	</a:t>
            </a:r>
            <a:r>
              <a:rPr sz="1200" dirty="0">
                <a:latin typeface="Times New Roman"/>
                <a:cs typeface="Times New Roman"/>
              </a:rPr>
              <a:t>and</a:t>
            </a:r>
            <a:r>
              <a:rPr sz="1200" spc="-45" dirty="0">
                <a:latin typeface="Times New Roman"/>
                <a:cs typeface="Times New Roman"/>
              </a:rPr>
              <a:t> </a:t>
            </a:r>
            <a:r>
              <a:rPr sz="1200" dirty="0">
                <a:latin typeface="Times New Roman"/>
                <a:cs typeface="Times New Roman"/>
              </a:rPr>
              <a:t>restoring</a:t>
            </a:r>
            <a:r>
              <a:rPr sz="1200" spc="-40" dirty="0">
                <a:latin typeface="Times New Roman"/>
                <a:cs typeface="Times New Roman"/>
              </a:rPr>
              <a:t> </a:t>
            </a:r>
            <a:r>
              <a:rPr sz="1200" dirty="0">
                <a:latin typeface="Times New Roman"/>
                <a:cs typeface="Times New Roman"/>
              </a:rPr>
              <a:t>register</a:t>
            </a:r>
            <a:r>
              <a:rPr sz="1200" spc="-25" dirty="0">
                <a:latin typeface="Times New Roman"/>
                <a:cs typeface="Times New Roman"/>
              </a:rPr>
              <a:t> </a:t>
            </a:r>
            <a:r>
              <a:rPr sz="1200" spc="-10" dirty="0">
                <a:latin typeface="Times New Roman"/>
                <a:cs typeface="Times New Roman"/>
              </a:rPr>
              <a:t>values.</a:t>
            </a:r>
            <a:endParaRPr sz="1200" dirty="0">
              <a:latin typeface="Times New Roman"/>
              <a:cs typeface="Times New Roman"/>
            </a:endParaRPr>
          </a:p>
          <a:p>
            <a:pPr marL="434975" marR="846455" indent="-172720" algn="just">
              <a:lnSpc>
                <a:spcPct val="100000"/>
              </a:lnSpc>
              <a:spcBef>
                <a:spcPts val="600"/>
              </a:spcBef>
              <a:buClr>
                <a:srgbClr val="3E762B"/>
              </a:buClr>
              <a:buFont typeface="Wingdings"/>
              <a:buChar char=""/>
              <a:tabLst>
                <a:tab pos="436245" algn="l"/>
              </a:tabLst>
            </a:pPr>
            <a:r>
              <a:rPr sz="1200" dirty="0">
                <a:latin typeface="Times New Roman"/>
                <a:cs typeface="Times New Roman"/>
              </a:rPr>
              <a:t>Each</a:t>
            </a:r>
            <a:r>
              <a:rPr sz="1200" spc="-20" dirty="0">
                <a:latin typeface="Times New Roman"/>
                <a:cs typeface="Times New Roman"/>
              </a:rPr>
              <a:t> </a:t>
            </a:r>
            <a:r>
              <a:rPr sz="1200" dirty="0">
                <a:latin typeface="Times New Roman"/>
                <a:cs typeface="Times New Roman"/>
              </a:rPr>
              <a:t>procedure</a:t>
            </a:r>
            <a:r>
              <a:rPr sz="1200" spc="-10" dirty="0">
                <a:latin typeface="Times New Roman"/>
                <a:cs typeface="Times New Roman"/>
              </a:rPr>
              <a:t> </a:t>
            </a:r>
            <a:r>
              <a:rPr sz="1200" dirty="0">
                <a:latin typeface="Times New Roman"/>
                <a:cs typeface="Times New Roman"/>
              </a:rPr>
              <a:t>call</a:t>
            </a:r>
            <a:r>
              <a:rPr sz="1200" spc="-20" dirty="0">
                <a:latin typeface="Times New Roman"/>
                <a:cs typeface="Times New Roman"/>
              </a:rPr>
              <a:t> </a:t>
            </a:r>
            <a:r>
              <a:rPr sz="1200" dirty="0">
                <a:latin typeface="Times New Roman"/>
                <a:cs typeface="Times New Roman"/>
              </a:rPr>
              <a:t>results</a:t>
            </a:r>
            <a:r>
              <a:rPr sz="1200" spc="-1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spc="-10" dirty="0">
                <a:latin typeface="Times New Roman"/>
                <a:cs typeface="Times New Roman"/>
              </a:rPr>
              <a:t>allocation</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new</a:t>
            </a:r>
            <a:r>
              <a:rPr sz="1200" spc="-15" dirty="0">
                <a:latin typeface="Times New Roman"/>
                <a:cs typeface="Times New Roman"/>
              </a:rPr>
              <a:t> </a:t>
            </a:r>
            <a:r>
              <a:rPr sz="1200" dirty="0">
                <a:latin typeface="Times New Roman"/>
                <a:cs typeface="Times New Roman"/>
              </a:rPr>
              <a:t>window</a:t>
            </a:r>
            <a:r>
              <a:rPr sz="1200" spc="-20" dirty="0">
                <a:latin typeface="Times New Roman"/>
                <a:cs typeface="Times New Roman"/>
              </a:rPr>
              <a:t> </a:t>
            </a:r>
            <a:r>
              <a:rPr sz="1200" dirty="0">
                <a:latin typeface="Times New Roman"/>
                <a:cs typeface="Times New Roman"/>
              </a:rPr>
              <a:t>consisting</a:t>
            </a:r>
            <a:r>
              <a:rPr sz="1200" spc="-30" dirty="0">
                <a:latin typeface="Times New Roman"/>
                <a:cs typeface="Times New Roman"/>
              </a:rPr>
              <a:t> </a:t>
            </a:r>
            <a:r>
              <a:rPr sz="1200" spc="-25" dirty="0">
                <a:latin typeface="Times New Roman"/>
                <a:cs typeface="Times New Roman"/>
              </a:rPr>
              <a:t>of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set</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from</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register</a:t>
            </a:r>
            <a:r>
              <a:rPr sz="1200" spc="-5" dirty="0">
                <a:latin typeface="Times New Roman"/>
                <a:cs typeface="Times New Roman"/>
              </a:rPr>
              <a:t> </a:t>
            </a:r>
            <a:r>
              <a:rPr sz="1200" dirty="0">
                <a:latin typeface="Times New Roman"/>
                <a:cs typeface="Times New Roman"/>
              </a:rPr>
              <a:t>file</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use</a:t>
            </a:r>
            <a:r>
              <a:rPr sz="1200" spc="-15" dirty="0">
                <a:latin typeface="Times New Roman"/>
                <a:cs typeface="Times New Roman"/>
              </a:rPr>
              <a:t> </a:t>
            </a:r>
            <a:r>
              <a:rPr sz="1200" dirty="0">
                <a:latin typeface="Times New Roman"/>
                <a:cs typeface="Times New Roman"/>
              </a:rPr>
              <a:t>by</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new</a:t>
            </a:r>
            <a:r>
              <a:rPr sz="1200" spc="-20" dirty="0">
                <a:latin typeface="Times New Roman"/>
                <a:cs typeface="Times New Roman"/>
              </a:rPr>
              <a:t> </a:t>
            </a:r>
            <a:r>
              <a:rPr sz="1200" spc="-10" dirty="0">
                <a:latin typeface="Times New Roman"/>
                <a:cs typeface="Times New Roman"/>
              </a:rPr>
              <a:t>procedure.</a:t>
            </a:r>
            <a:endParaRPr sz="1200" dirty="0">
              <a:latin typeface="Times New Roman"/>
              <a:cs typeface="Times New Roman"/>
            </a:endParaRPr>
          </a:p>
          <a:p>
            <a:pPr marL="434975" marR="991869" indent="-172720">
              <a:lnSpc>
                <a:spcPct val="100000"/>
              </a:lnSpc>
              <a:spcBef>
                <a:spcPts val="600"/>
              </a:spcBef>
              <a:buClr>
                <a:srgbClr val="3E762B"/>
              </a:buClr>
              <a:buFont typeface="Wingdings"/>
              <a:buChar char=""/>
              <a:tabLst>
                <a:tab pos="436245" algn="l"/>
              </a:tabLst>
            </a:pP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procedure</a:t>
            </a:r>
            <a:r>
              <a:rPr sz="1200" spc="-15" dirty="0">
                <a:latin typeface="Times New Roman"/>
                <a:cs typeface="Times New Roman"/>
              </a:rPr>
              <a:t> </a:t>
            </a:r>
            <a:r>
              <a:rPr sz="1200" dirty="0">
                <a:latin typeface="Times New Roman"/>
                <a:cs typeface="Times New Roman"/>
              </a:rPr>
              <a:t>call</a:t>
            </a:r>
            <a:r>
              <a:rPr sz="1200" spc="-25" dirty="0">
                <a:latin typeface="Times New Roman"/>
                <a:cs typeface="Times New Roman"/>
              </a:rPr>
              <a:t> </a:t>
            </a:r>
            <a:r>
              <a:rPr sz="1200" dirty="0">
                <a:latin typeface="Times New Roman"/>
                <a:cs typeface="Times New Roman"/>
              </a:rPr>
              <a:t>activates</a:t>
            </a:r>
            <a:r>
              <a:rPr sz="1200" spc="-20" dirty="0">
                <a:latin typeface="Times New Roman"/>
                <a:cs typeface="Times New Roman"/>
              </a:rPr>
              <a:t> </a:t>
            </a: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new</a:t>
            </a:r>
            <a:r>
              <a:rPr sz="1200" spc="-20" dirty="0">
                <a:latin typeface="Times New Roman"/>
                <a:cs typeface="Times New Roman"/>
              </a:rPr>
              <a:t> </a:t>
            </a:r>
            <a:r>
              <a:rPr sz="1200" dirty="0">
                <a:latin typeface="Times New Roman"/>
                <a:cs typeface="Times New Roman"/>
              </a:rPr>
              <a:t>register</a:t>
            </a:r>
            <a:r>
              <a:rPr sz="1200" spc="-15" dirty="0">
                <a:latin typeface="Times New Roman"/>
                <a:cs typeface="Times New Roman"/>
              </a:rPr>
              <a:t> </a:t>
            </a:r>
            <a:r>
              <a:rPr sz="1200" dirty="0">
                <a:latin typeface="Times New Roman"/>
                <a:cs typeface="Times New Roman"/>
              </a:rPr>
              <a:t>window</a:t>
            </a:r>
            <a:r>
              <a:rPr sz="1200" spc="-25" dirty="0">
                <a:latin typeface="Times New Roman"/>
                <a:cs typeface="Times New Roman"/>
              </a:rPr>
              <a:t> </a:t>
            </a:r>
            <a:r>
              <a:rPr sz="1200" dirty="0">
                <a:latin typeface="Times New Roman"/>
                <a:cs typeface="Times New Roman"/>
              </a:rPr>
              <a:t>by</a:t>
            </a:r>
            <a:r>
              <a:rPr sz="1200" spc="-30" dirty="0">
                <a:latin typeface="Times New Roman"/>
                <a:cs typeface="Times New Roman"/>
              </a:rPr>
              <a:t> </a:t>
            </a:r>
            <a:r>
              <a:rPr sz="1200" spc="-10" dirty="0">
                <a:latin typeface="Times New Roman"/>
                <a:cs typeface="Times New Roman"/>
              </a:rPr>
              <a:t>incrementing</a:t>
            </a:r>
            <a:r>
              <a:rPr sz="1200" spc="-20" dirty="0">
                <a:latin typeface="Times New Roman"/>
                <a:cs typeface="Times New Roman"/>
              </a:rPr>
              <a:t> </a:t>
            </a:r>
            <a:r>
              <a:rPr sz="1200" spc="-50" dirty="0">
                <a:latin typeface="Times New Roman"/>
                <a:cs typeface="Times New Roman"/>
              </a:rPr>
              <a:t>a 	</a:t>
            </a:r>
            <a:r>
              <a:rPr sz="1200" spc="-10" dirty="0">
                <a:latin typeface="Times New Roman"/>
                <a:cs typeface="Times New Roman"/>
              </a:rPr>
              <a:t>pointer,</a:t>
            </a:r>
            <a:r>
              <a:rPr sz="1200" spc="-35" dirty="0">
                <a:latin typeface="Times New Roman"/>
                <a:cs typeface="Times New Roman"/>
              </a:rPr>
              <a:t> </a:t>
            </a:r>
            <a:r>
              <a:rPr sz="1200" dirty="0">
                <a:latin typeface="Times New Roman"/>
                <a:cs typeface="Times New Roman"/>
              </a:rPr>
              <a:t>while</a:t>
            </a:r>
            <a:r>
              <a:rPr sz="1200" spc="-3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return</a:t>
            </a:r>
            <a:r>
              <a:rPr sz="1200" spc="-30" dirty="0">
                <a:latin typeface="Times New Roman"/>
                <a:cs typeface="Times New Roman"/>
              </a:rPr>
              <a:t> </a:t>
            </a:r>
            <a:r>
              <a:rPr sz="1200" dirty="0">
                <a:latin typeface="Times New Roman"/>
                <a:cs typeface="Times New Roman"/>
              </a:rPr>
              <a:t>statement</a:t>
            </a:r>
            <a:r>
              <a:rPr sz="1200" spc="-45" dirty="0">
                <a:latin typeface="Times New Roman"/>
                <a:cs typeface="Times New Roman"/>
              </a:rPr>
              <a:t> </a:t>
            </a:r>
            <a:r>
              <a:rPr sz="1200" dirty="0">
                <a:latin typeface="Times New Roman"/>
                <a:cs typeface="Times New Roman"/>
              </a:rPr>
              <a:t>decrements</a:t>
            </a:r>
            <a:r>
              <a:rPr sz="1200" spc="-2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pointer</a:t>
            </a:r>
            <a:r>
              <a:rPr sz="1200" spc="-45" dirty="0">
                <a:latin typeface="Times New Roman"/>
                <a:cs typeface="Times New Roman"/>
              </a:rPr>
              <a:t>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causes</a:t>
            </a:r>
            <a:r>
              <a:rPr sz="1200" spc="-25" dirty="0">
                <a:latin typeface="Times New Roman"/>
                <a:cs typeface="Times New Roman"/>
              </a:rPr>
              <a:t> the 	</a:t>
            </a:r>
            <a:r>
              <a:rPr sz="1200" spc="-10" dirty="0">
                <a:latin typeface="Times New Roman"/>
                <a:cs typeface="Times New Roman"/>
              </a:rPr>
              <a:t>activation</a:t>
            </a:r>
            <a:r>
              <a:rPr sz="1200" spc="-20" dirty="0">
                <a:latin typeface="Times New Roman"/>
                <a:cs typeface="Times New Roman"/>
              </a:rPr>
              <a:t> </a:t>
            </a:r>
            <a:r>
              <a:rPr sz="1200" dirty="0">
                <a:latin typeface="Times New Roman"/>
                <a:cs typeface="Times New Roman"/>
              </a:rPr>
              <a:t>of the</a:t>
            </a:r>
            <a:r>
              <a:rPr sz="1200" spc="-20" dirty="0">
                <a:latin typeface="Times New Roman"/>
                <a:cs typeface="Times New Roman"/>
              </a:rPr>
              <a:t> </a:t>
            </a:r>
            <a:r>
              <a:rPr sz="1200" dirty="0">
                <a:latin typeface="Times New Roman"/>
                <a:cs typeface="Times New Roman"/>
              </a:rPr>
              <a:t>previous</a:t>
            </a:r>
            <a:r>
              <a:rPr sz="1200" spc="10" dirty="0">
                <a:latin typeface="Times New Roman"/>
                <a:cs typeface="Times New Roman"/>
              </a:rPr>
              <a:t> </a:t>
            </a:r>
            <a:r>
              <a:rPr sz="1200" spc="-10" dirty="0">
                <a:latin typeface="Times New Roman"/>
                <a:cs typeface="Times New Roman"/>
              </a:rPr>
              <a:t>window.</a:t>
            </a:r>
            <a:endParaRPr sz="1200" dirty="0">
              <a:latin typeface="Times New Roman"/>
              <a:cs typeface="Times New Roman"/>
            </a:endParaRPr>
          </a:p>
          <a:p>
            <a:pPr marL="434975" marR="806450" indent="-172720">
              <a:lnSpc>
                <a:spcPct val="100000"/>
              </a:lnSpc>
              <a:spcBef>
                <a:spcPts val="600"/>
              </a:spcBef>
              <a:buClr>
                <a:srgbClr val="3E762B"/>
              </a:buClr>
              <a:buFont typeface="Wingdings"/>
              <a:buChar char=""/>
              <a:tabLst>
                <a:tab pos="436245" algn="l"/>
              </a:tabLst>
            </a:pPr>
            <a:r>
              <a:rPr sz="1200" dirty="0">
                <a:latin typeface="Times New Roman"/>
                <a:cs typeface="Times New Roman"/>
              </a:rPr>
              <a:t>Windows</a:t>
            </a:r>
            <a:r>
              <a:rPr sz="1200" spc="-60"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adjacent</a:t>
            </a:r>
            <a:r>
              <a:rPr sz="1200" spc="-45" dirty="0">
                <a:latin typeface="Times New Roman"/>
                <a:cs typeface="Times New Roman"/>
              </a:rPr>
              <a:t> </a:t>
            </a:r>
            <a:r>
              <a:rPr sz="1200" dirty="0">
                <a:latin typeface="Times New Roman"/>
                <a:cs typeface="Times New Roman"/>
              </a:rPr>
              <a:t>procedures</a:t>
            </a:r>
            <a:r>
              <a:rPr sz="1200" spc="-25" dirty="0">
                <a:latin typeface="Times New Roman"/>
                <a:cs typeface="Times New Roman"/>
              </a:rPr>
              <a:t> </a:t>
            </a:r>
            <a:r>
              <a:rPr sz="1200" dirty="0">
                <a:latin typeface="Times New Roman"/>
                <a:cs typeface="Times New Roman"/>
              </a:rPr>
              <a:t>have</a:t>
            </a:r>
            <a:r>
              <a:rPr sz="1200" spc="-50" dirty="0">
                <a:latin typeface="Times New Roman"/>
                <a:cs typeface="Times New Roman"/>
              </a:rPr>
              <a:t> </a:t>
            </a:r>
            <a:r>
              <a:rPr sz="1200" dirty="0">
                <a:latin typeface="Times New Roman"/>
                <a:cs typeface="Times New Roman"/>
              </a:rPr>
              <a:t>overlapping</a:t>
            </a:r>
            <a:r>
              <a:rPr sz="1200" spc="-40" dirty="0">
                <a:latin typeface="Times New Roman"/>
                <a:cs typeface="Times New Roman"/>
              </a:rPr>
              <a:t> </a:t>
            </a:r>
            <a:r>
              <a:rPr sz="1200" dirty="0">
                <a:latin typeface="Times New Roman"/>
                <a:cs typeface="Times New Roman"/>
              </a:rPr>
              <a:t>registers</a:t>
            </a:r>
            <a:r>
              <a:rPr sz="1200" spc="-30" dirty="0">
                <a:latin typeface="Times New Roman"/>
                <a:cs typeface="Times New Roman"/>
              </a:rPr>
              <a:t> </a:t>
            </a:r>
            <a:r>
              <a:rPr sz="1200" dirty="0">
                <a:latin typeface="Times New Roman"/>
                <a:cs typeface="Times New Roman"/>
              </a:rPr>
              <a:t>that</a:t>
            </a:r>
            <a:r>
              <a:rPr sz="1200" spc="-55" dirty="0">
                <a:latin typeface="Times New Roman"/>
                <a:cs typeface="Times New Roman"/>
              </a:rPr>
              <a:t> </a:t>
            </a:r>
            <a:r>
              <a:rPr sz="1200" dirty="0">
                <a:latin typeface="Times New Roman"/>
                <a:cs typeface="Times New Roman"/>
              </a:rPr>
              <a:t>are</a:t>
            </a:r>
            <a:r>
              <a:rPr sz="1200" spc="-45" dirty="0">
                <a:latin typeface="Times New Roman"/>
                <a:cs typeface="Times New Roman"/>
              </a:rPr>
              <a:t> </a:t>
            </a:r>
            <a:r>
              <a:rPr sz="1200" spc="-10" dirty="0">
                <a:latin typeface="Times New Roman"/>
                <a:cs typeface="Times New Roman"/>
              </a:rPr>
              <a:t>shared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provide</a:t>
            </a:r>
            <a:r>
              <a:rPr sz="1200" spc="-3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passing</a:t>
            </a:r>
            <a:r>
              <a:rPr sz="1200" spc="-3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parameters</a:t>
            </a:r>
            <a:r>
              <a:rPr sz="1200" spc="-2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results.</a:t>
            </a:r>
            <a:endParaRPr sz="12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18</a:t>
            </a:fld>
            <a:endParaRPr spc="-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4551-D57C-9CCF-D943-28BBEDE5E798}"/>
              </a:ext>
            </a:extLst>
          </p:cNvPr>
          <p:cNvSpPr>
            <a:spLocks noGrp="1"/>
          </p:cNvSpPr>
          <p:nvPr>
            <p:ph type="title"/>
          </p:nvPr>
        </p:nvSpPr>
        <p:spPr>
          <a:xfrm>
            <a:off x="712723" y="1092835"/>
            <a:ext cx="4445635" cy="492443"/>
          </a:xfrm>
        </p:spPr>
        <p:txBody>
          <a:bodyPr/>
          <a:lstStyle/>
          <a:p>
            <a:endParaRPr lang="en-US" sz="3200"/>
          </a:p>
        </p:txBody>
      </p:sp>
      <p:graphicFrame>
        <p:nvGraphicFramePr>
          <p:cNvPr id="4" name="Table 3">
            <a:extLst>
              <a:ext uri="{FF2B5EF4-FFF2-40B4-BE49-F238E27FC236}">
                <a16:creationId xmlns:a16="http://schemas.microsoft.com/office/drawing/2014/main" id="{BE007578-585E-B743-8FD0-E9B24A5AF772}"/>
              </a:ext>
            </a:extLst>
          </p:cNvPr>
          <p:cNvGraphicFramePr>
            <a:graphicFrameLocks noGrp="1"/>
          </p:cNvGraphicFramePr>
          <p:nvPr>
            <p:extLst>
              <p:ext uri="{D42A27DB-BD31-4B8C-83A1-F6EECF244321}">
                <p14:modId xmlns:p14="http://schemas.microsoft.com/office/powerpoint/2010/main" val="745694238"/>
              </p:ext>
            </p:extLst>
          </p:nvPr>
        </p:nvGraphicFramePr>
        <p:xfrm>
          <a:off x="342900" y="762000"/>
          <a:ext cx="6172200" cy="7155092"/>
        </p:xfrm>
        <a:graphic>
          <a:graphicData uri="http://schemas.openxmlformats.org/drawingml/2006/table">
            <a:tbl>
              <a:tblPr>
                <a:tableStyleId>{69C7853C-536D-4A76-A0AE-DD22124D55A5}</a:tableStyleId>
              </a:tblPr>
              <a:tblGrid>
                <a:gridCol w="2537191">
                  <a:extLst>
                    <a:ext uri="{9D8B030D-6E8A-4147-A177-3AD203B41FA5}">
                      <a16:colId xmlns:a16="http://schemas.microsoft.com/office/drawing/2014/main" val="2888851481"/>
                    </a:ext>
                  </a:extLst>
                </a:gridCol>
                <a:gridCol w="3635009">
                  <a:extLst>
                    <a:ext uri="{9D8B030D-6E8A-4147-A177-3AD203B41FA5}">
                      <a16:colId xmlns:a16="http://schemas.microsoft.com/office/drawing/2014/main" val="2003446632"/>
                    </a:ext>
                  </a:extLst>
                </a:gridCol>
              </a:tblGrid>
              <a:tr h="0">
                <a:tc>
                  <a:txBody>
                    <a:bodyPr/>
                    <a:lstStyle/>
                    <a:p>
                      <a:pPr>
                        <a:buNone/>
                      </a:pPr>
                      <a:r>
                        <a:rPr lang="en-US" sz="1400"/>
                        <a:t>Feature</a:t>
                      </a:r>
                    </a:p>
                  </a:txBody>
                  <a:tcPr marL="8158" marR="8158" marT="4079" marB="4079" anchor="ctr"/>
                </a:tc>
                <a:tc>
                  <a:txBody>
                    <a:bodyPr/>
                    <a:lstStyle/>
                    <a:p>
                      <a:pPr>
                        <a:buNone/>
                      </a:pPr>
                      <a:r>
                        <a:rPr lang="en-US" sz="1400"/>
                        <a:t>Description</a:t>
                      </a:r>
                    </a:p>
                  </a:txBody>
                  <a:tcPr marL="8158" marR="8158" marT="4079" marB="4079" anchor="ctr"/>
                </a:tc>
                <a:extLst>
                  <a:ext uri="{0D108BD9-81ED-4DB2-BD59-A6C34878D82A}">
                    <a16:rowId xmlns:a16="http://schemas.microsoft.com/office/drawing/2014/main" val="2206198651"/>
                  </a:ext>
                </a:extLst>
              </a:tr>
              <a:tr h="301856">
                <a:tc>
                  <a:txBody>
                    <a:bodyPr/>
                    <a:lstStyle/>
                    <a:p>
                      <a:pPr>
                        <a:buNone/>
                      </a:pPr>
                      <a:r>
                        <a:rPr lang="en-US" sz="1400" b="1"/>
                        <a:t>Concept</a:t>
                      </a:r>
                      <a:endParaRPr lang="en-US" sz="1400"/>
                    </a:p>
                  </a:txBody>
                  <a:tcPr marL="8158" marR="8158" marT="4079" marB="4079" anchor="ctr"/>
                </a:tc>
                <a:tc>
                  <a:txBody>
                    <a:bodyPr/>
                    <a:lstStyle/>
                    <a:p>
                      <a:pPr>
                        <a:buNone/>
                      </a:pPr>
                      <a:r>
                        <a:rPr lang="en-US" sz="1400"/>
                        <a:t>Overlapped register windows allow multiple procedures to share registers, minimizing the need to save and restore register values during procedure calls.</a:t>
                      </a:r>
                    </a:p>
                  </a:txBody>
                  <a:tcPr marL="8158" marR="8158" marT="4079" marB="4079" anchor="ctr"/>
                </a:tc>
                <a:extLst>
                  <a:ext uri="{0D108BD9-81ED-4DB2-BD59-A6C34878D82A}">
                    <a16:rowId xmlns:a16="http://schemas.microsoft.com/office/drawing/2014/main" val="3765306329"/>
                  </a:ext>
                </a:extLst>
              </a:tr>
              <a:tr h="155007">
                <a:tc>
                  <a:txBody>
                    <a:bodyPr/>
                    <a:lstStyle/>
                    <a:p>
                      <a:pPr>
                        <a:buNone/>
                      </a:pPr>
                      <a:r>
                        <a:rPr lang="en-US" sz="1400" b="1"/>
                        <a:t>Procedure Call Process</a:t>
                      </a:r>
                      <a:endParaRPr lang="en-US" sz="1400"/>
                    </a:p>
                  </a:txBody>
                  <a:tcPr marL="8158" marR="8158" marT="4079" marB="4079" anchor="ctr"/>
                </a:tc>
                <a:tc>
                  <a:txBody>
                    <a:bodyPr/>
                    <a:lstStyle/>
                    <a:p>
                      <a:pPr>
                        <a:buNone/>
                      </a:pPr>
                      <a:r>
                        <a:rPr lang="en-US" sz="1400" dirty="0"/>
                        <a:t>1. </a:t>
                      </a:r>
                      <a:r>
                        <a:rPr lang="en-US" sz="1400" b="1" dirty="0"/>
                        <a:t>Save Register Values</a:t>
                      </a:r>
                      <a:r>
                        <a:rPr lang="en-US" sz="1400" dirty="0"/>
                        <a:t>: Typically, a procedure call saves current register values.</a:t>
                      </a:r>
                    </a:p>
                  </a:txBody>
                  <a:tcPr marL="8158" marR="8158" marT="4079" marB="4079" anchor="ctr"/>
                </a:tc>
                <a:extLst>
                  <a:ext uri="{0D108BD9-81ED-4DB2-BD59-A6C34878D82A}">
                    <a16:rowId xmlns:a16="http://schemas.microsoft.com/office/drawing/2014/main" val="107575724"/>
                  </a:ext>
                </a:extLst>
              </a:tr>
              <a:tr h="155007">
                <a:tc>
                  <a:txBody>
                    <a:bodyPr/>
                    <a:lstStyle/>
                    <a:p>
                      <a:pPr>
                        <a:buNone/>
                      </a:pPr>
                      <a:endParaRPr lang="en-US" sz="1400" dirty="0"/>
                    </a:p>
                  </a:txBody>
                  <a:tcPr marL="8158" marR="8158" marT="4079" marB="4079" anchor="ctr"/>
                </a:tc>
                <a:tc>
                  <a:txBody>
                    <a:bodyPr/>
                    <a:lstStyle/>
                    <a:p>
                      <a:pPr>
                        <a:buNone/>
                      </a:pPr>
                      <a:r>
                        <a:rPr lang="en-US" sz="1400" dirty="0"/>
                        <a:t>2. </a:t>
                      </a:r>
                      <a:r>
                        <a:rPr lang="en-US" sz="1400" b="1" dirty="0"/>
                        <a:t>Pass Parameters</a:t>
                      </a:r>
                      <a:r>
                        <a:rPr lang="en-US" sz="1400" dirty="0"/>
                        <a:t>: Parameters needed for the procedure are passed.</a:t>
                      </a:r>
                    </a:p>
                  </a:txBody>
                  <a:tcPr marL="8158" marR="8158" marT="4079" marB="4079" anchor="ctr"/>
                </a:tc>
                <a:extLst>
                  <a:ext uri="{0D108BD9-81ED-4DB2-BD59-A6C34878D82A}">
                    <a16:rowId xmlns:a16="http://schemas.microsoft.com/office/drawing/2014/main" val="1562735024"/>
                  </a:ext>
                </a:extLst>
              </a:tr>
              <a:tr h="155007">
                <a:tc>
                  <a:txBody>
                    <a:bodyPr/>
                    <a:lstStyle/>
                    <a:p>
                      <a:pPr>
                        <a:buNone/>
                      </a:pPr>
                      <a:endParaRPr lang="en-US" sz="1400"/>
                    </a:p>
                  </a:txBody>
                  <a:tcPr marL="8158" marR="8158" marT="4079" marB="4079" anchor="ctr"/>
                </a:tc>
                <a:tc>
                  <a:txBody>
                    <a:bodyPr/>
                    <a:lstStyle/>
                    <a:p>
                      <a:pPr>
                        <a:buNone/>
                      </a:pPr>
                      <a:r>
                        <a:rPr lang="en-US" sz="1400"/>
                        <a:t>3. </a:t>
                      </a:r>
                      <a:r>
                        <a:rPr lang="en-US" sz="1400" b="1"/>
                        <a:t>Subroutine Execution</a:t>
                      </a:r>
                      <a:r>
                        <a:rPr lang="en-US" sz="1400"/>
                        <a:t>: The subroutine executes using its allocated registers.</a:t>
                      </a:r>
                    </a:p>
                  </a:txBody>
                  <a:tcPr marL="8158" marR="8158" marT="4079" marB="4079" anchor="ctr"/>
                </a:tc>
                <a:extLst>
                  <a:ext uri="{0D108BD9-81ED-4DB2-BD59-A6C34878D82A}">
                    <a16:rowId xmlns:a16="http://schemas.microsoft.com/office/drawing/2014/main" val="65680613"/>
                  </a:ext>
                </a:extLst>
              </a:tr>
              <a:tr h="203957">
                <a:tc>
                  <a:txBody>
                    <a:bodyPr/>
                    <a:lstStyle/>
                    <a:p>
                      <a:pPr>
                        <a:buNone/>
                      </a:pPr>
                      <a:endParaRPr lang="en-US" sz="1400" dirty="0"/>
                    </a:p>
                  </a:txBody>
                  <a:tcPr marL="8158" marR="8158" marT="4079" marB="4079" anchor="ctr"/>
                </a:tc>
                <a:tc>
                  <a:txBody>
                    <a:bodyPr/>
                    <a:lstStyle/>
                    <a:p>
                      <a:pPr>
                        <a:buNone/>
                      </a:pPr>
                      <a:r>
                        <a:rPr lang="en-US" sz="1400"/>
                        <a:t>4. </a:t>
                      </a:r>
                      <a:r>
                        <a:rPr lang="en-US" sz="1400" b="1"/>
                        <a:t>Return</a:t>
                      </a:r>
                      <a:r>
                        <a:rPr lang="en-US" sz="1400"/>
                        <a:t>: After completing execution, results are passed back, and old register values are restored.</a:t>
                      </a:r>
                    </a:p>
                  </a:txBody>
                  <a:tcPr marL="8158" marR="8158" marT="4079" marB="4079" anchor="ctr"/>
                </a:tc>
                <a:extLst>
                  <a:ext uri="{0D108BD9-81ED-4DB2-BD59-A6C34878D82A}">
                    <a16:rowId xmlns:a16="http://schemas.microsoft.com/office/drawing/2014/main" val="3049227969"/>
                  </a:ext>
                </a:extLst>
              </a:tr>
              <a:tr h="106058">
                <a:tc>
                  <a:txBody>
                    <a:bodyPr/>
                    <a:lstStyle/>
                    <a:p>
                      <a:pPr>
                        <a:buNone/>
                      </a:pPr>
                      <a:r>
                        <a:rPr lang="en-US" sz="1400" b="1"/>
                        <a:t>Challenges Addressed</a:t>
                      </a:r>
                      <a:endParaRPr lang="en-US" sz="1400"/>
                    </a:p>
                  </a:txBody>
                  <a:tcPr marL="8158" marR="8158" marT="4079" marB="4079" anchor="ctr"/>
                </a:tc>
                <a:tc>
                  <a:txBody>
                    <a:bodyPr/>
                    <a:lstStyle/>
                    <a:p>
                      <a:pPr>
                        <a:buNone/>
                      </a:pPr>
                      <a:r>
                        <a:rPr lang="en-US" sz="1400" dirty="0"/>
                        <a:t>- Saving and restoring registers can be time-consuming.</a:t>
                      </a:r>
                    </a:p>
                  </a:txBody>
                  <a:tcPr marL="8158" marR="8158" marT="4079" marB="4079" anchor="ctr"/>
                </a:tc>
                <a:extLst>
                  <a:ext uri="{0D108BD9-81ED-4DB2-BD59-A6C34878D82A}">
                    <a16:rowId xmlns:a16="http://schemas.microsoft.com/office/drawing/2014/main" val="617616332"/>
                  </a:ext>
                </a:extLst>
              </a:tr>
              <a:tr h="228432">
                <a:tc>
                  <a:txBody>
                    <a:bodyPr/>
                    <a:lstStyle/>
                    <a:p>
                      <a:pPr>
                        <a:buNone/>
                      </a:pPr>
                      <a:endParaRPr lang="en-US" sz="1400"/>
                    </a:p>
                  </a:txBody>
                  <a:tcPr marL="8158" marR="8158" marT="4079" marB="4079" anchor="ctr"/>
                </a:tc>
                <a:tc>
                  <a:txBody>
                    <a:bodyPr/>
                    <a:lstStyle/>
                    <a:p>
                      <a:pPr>
                        <a:buNone/>
                      </a:pPr>
                      <a:r>
                        <a:rPr lang="en-US" sz="1400"/>
                        <a:t>- Using the memory stack for parameter storage incurs additional memory accesses, leading to inefficiencies.</a:t>
                      </a:r>
                    </a:p>
                  </a:txBody>
                  <a:tcPr marL="8158" marR="8158" marT="4079" marB="4079" anchor="ctr"/>
                </a:tc>
                <a:extLst>
                  <a:ext uri="{0D108BD9-81ED-4DB2-BD59-A6C34878D82A}">
                    <a16:rowId xmlns:a16="http://schemas.microsoft.com/office/drawing/2014/main" val="2773265894"/>
                  </a:ext>
                </a:extLst>
              </a:tr>
              <a:tr h="228432">
                <a:tc>
                  <a:txBody>
                    <a:bodyPr/>
                    <a:lstStyle/>
                    <a:p>
                      <a:pPr>
                        <a:buNone/>
                      </a:pPr>
                      <a:r>
                        <a:rPr lang="en-US" sz="1400" b="1" dirty="0"/>
                        <a:t>Implementation</a:t>
                      </a:r>
                      <a:endParaRPr lang="en-US" sz="1400" dirty="0"/>
                    </a:p>
                  </a:txBody>
                  <a:tcPr marL="8158" marR="8158" marT="4079" marB="4079" anchor="ctr"/>
                </a:tc>
                <a:tc>
                  <a:txBody>
                    <a:bodyPr/>
                    <a:lstStyle/>
                    <a:p>
                      <a:pPr>
                        <a:buNone/>
                      </a:pPr>
                      <a:r>
                        <a:rPr lang="en-US" sz="1400"/>
                        <a:t>- In systems with overlapped register windows, each procedure is allocated its own set of registers from the register file.</a:t>
                      </a:r>
                    </a:p>
                  </a:txBody>
                  <a:tcPr marL="8158" marR="8158" marT="4079" marB="4079" anchor="ctr"/>
                </a:tc>
                <a:extLst>
                  <a:ext uri="{0D108BD9-81ED-4DB2-BD59-A6C34878D82A}">
                    <a16:rowId xmlns:a16="http://schemas.microsoft.com/office/drawing/2014/main" val="3114780855"/>
                  </a:ext>
                </a:extLst>
              </a:tr>
              <a:tr h="106058">
                <a:tc>
                  <a:txBody>
                    <a:bodyPr/>
                    <a:lstStyle/>
                    <a:p>
                      <a:pPr>
                        <a:buNone/>
                      </a:pPr>
                      <a:endParaRPr lang="en-US" sz="1400"/>
                    </a:p>
                  </a:txBody>
                  <a:tcPr marL="8158" marR="8158" marT="4079" marB="4079" anchor="ctr"/>
                </a:tc>
                <a:tc>
                  <a:txBody>
                    <a:bodyPr/>
                    <a:lstStyle/>
                    <a:p>
                      <a:pPr>
                        <a:buNone/>
                      </a:pPr>
                      <a:r>
                        <a:rPr lang="en-US" sz="1400"/>
                        <a:t>- A pointer is used to manage the current window:</a:t>
                      </a:r>
                    </a:p>
                  </a:txBody>
                  <a:tcPr marL="8158" marR="8158" marT="4079" marB="4079" anchor="ctr"/>
                </a:tc>
                <a:extLst>
                  <a:ext uri="{0D108BD9-81ED-4DB2-BD59-A6C34878D82A}">
                    <a16:rowId xmlns:a16="http://schemas.microsoft.com/office/drawing/2014/main" val="1106409706"/>
                  </a:ext>
                </a:extLst>
              </a:tr>
              <a:tr h="155007">
                <a:tc>
                  <a:txBody>
                    <a:bodyPr/>
                    <a:lstStyle/>
                    <a:p>
                      <a:pPr>
                        <a:buNone/>
                      </a:pPr>
                      <a:endParaRPr lang="en-US" sz="1400"/>
                    </a:p>
                  </a:txBody>
                  <a:tcPr marL="8158" marR="8158" marT="4079" marB="4079" anchor="ctr"/>
                </a:tc>
                <a:tc>
                  <a:txBody>
                    <a:bodyPr/>
                    <a:lstStyle/>
                    <a:p>
                      <a:pPr>
                        <a:buNone/>
                      </a:pPr>
                      <a:r>
                        <a:rPr lang="en-US" sz="1400"/>
                        <a:t>- </a:t>
                      </a:r>
                      <a:r>
                        <a:rPr lang="en-US" sz="1400" b="1"/>
                        <a:t>Pointer Increment</a:t>
                      </a:r>
                      <a:r>
                        <a:rPr lang="en-US" sz="1400"/>
                        <a:t>: Activates a new window for a new procedure call.</a:t>
                      </a:r>
                    </a:p>
                  </a:txBody>
                  <a:tcPr marL="8158" marR="8158" marT="4079" marB="4079" anchor="ctr"/>
                </a:tc>
                <a:extLst>
                  <a:ext uri="{0D108BD9-81ED-4DB2-BD59-A6C34878D82A}">
                    <a16:rowId xmlns:a16="http://schemas.microsoft.com/office/drawing/2014/main" val="1416393854"/>
                  </a:ext>
                </a:extLst>
              </a:tr>
              <a:tr h="155007">
                <a:tc>
                  <a:txBody>
                    <a:bodyPr/>
                    <a:lstStyle/>
                    <a:p>
                      <a:pPr>
                        <a:buNone/>
                      </a:pPr>
                      <a:endParaRPr lang="en-US" sz="1400"/>
                    </a:p>
                  </a:txBody>
                  <a:tcPr marL="8158" marR="8158" marT="4079" marB="4079" anchor="ctr"/>
                </a:tc>
                <a:tc>
                  <a:txBody>
                    <a:bodyPr/>
                    <a:lstStyle/>
                    <a:p>
                      <a:pPr>
                        <a:buNone/>
                      </a:pPr>
                      <a:r>
                        <a:rPr lang="en-US" sz="1400"/>
                        <a:t>- </a:t>
                      </a:r>
                      <a:r>
                        <a:rPr lang="en-US" sz="1400" b="1"/>
                        <a:t>Pointer Decrement</a:t>
                      </a:r>
                      <a:r>
                        <a:rPr lang="en-US" sz="1400"/>
                        <a:t>: Activates the previous window upon return.</a:t>
                      </a:r>
                    </a:p>
                  </a:txBody>
                  <a:tcPr marL="8158" marR="8158" marT="4079" marB="4079" anchor="ctr"/>
                </a:tc>
                <a:extLst>
                  <a:ext uri="{0D108BD9-81ED-4DB2-BD59-A6C34878D82A}">
                    <a16:rowId xmlns:a16="http://schemas.microsoft.com/office/drawing/2014/main" val="3249787042"/>
                  </a:ext>
                </a:extLst>
              </a:tr>
              <a:tr h="252907">
                <a:tc>
                  <a:txBody>
                    <a:bodyPr/>
                    <a:lstStyle/>
                    <a:p>
                      <a:pPr>
                        <a:buNone/>
                      </a:pPr>
                      <a:r>
                        <a:rPr lang="en-US" sz="1400" b="1"/>
                        <a:t>Shared Registers</a:t>
                      </a:r>
                      <a:endParaRPr lang="en-US" sz="1400"/>
                    </a:p>
                  </a:txBody>
                  <a:tcPr marL="8158" marR="8158" marT="4079" marB="4079" anchor="ctr"/>
                </a:tc>
                <a:tc>
                  <a:txBody>
                    <a:bodyPr/>
                    <a:lstStyle/>
                    <a:p>
                      <a:pPr>
                        <a:buNone/>
                      </a:pPr>
                      <a:r>
                        <a:rPr lang="en-US" sz="1400"/>
                        <a:t>- Adjacent procedure windows share overlapping registers, allowing for efficient parameter passing and result retrieval.</a:t>
                      </a:r>
                    </a:p>
                  </a:txBody>
                  <a:tcPr marL="8158" marR="8158" marT="4079" marB="4079" anchor="ctr"/>
                </a:tc>
                <a:extLst>
                  <a:ext uri="{0D108BD9-81ED-4DB2-BD59-A6C34878D82A}">
                    <a16:rowId xmlns:a16="http://schemas.microsoft.com/office/drawing/2014/main" val="1178070599"/>
                  </a:ext>
                </a:extLst>
              </a:tr>
              <a:tr h="228432">
                <a:tc>
                  <a:txBody>
                    <a:bodyPr/>
                    <a:lstStyle/>
                    <a:p>
                      <a:pPr>
                        <a:buNone/>
                      </a:pPr>
                      <a:r>
                        <a:rPr lang="en-US" sz="1400" b="1"/>
                        <a:t>Architecture Impact</a:t>
                      </a:r>
                      <a:endParaRPr lang="en-US" sz="1400"/>
                    </a:p>
                  </a:txBody>
                  <a:tcPr marL="8158" marR="8158" marT="4079" marB="4079" anchor="ctr"/>
                </a:tc>
                <a:tc>
                  <a:txBody>
                    <a:bodyPr/>
                    <a:lstStyle/>
                    <a:p>
                      <a:pPr>
                        <a:buNone/>
                      </a:pPr>
                      <a:r>
                        <a:rPr lang="en-US" sz="1400" dirty="0"/>
                        <a:t>- Common in RISC (Reduced Instruction Set Computer) architectures, promoting efficient procedure call handling.</a:t>
                      </a:r>
                    </a:p>
                  </a:txBody>
                  <a:tcPr marL="8158" marR="8158" marT="4079" marB="4079" anchor="ctr"/>
                </a:tc>
                <a:extLst>
                  <a:ext uri="{0D108BD9-81ED-4DB2-BD59-A6C34878D82A}">
                    <a16:rowId xmlns:a16="http://schemas.microsoft.com/office/drawing/2014/main" val="2080478833"/>
                  </a:ext>
                </a:extLst>
              </a:tr>
            </a:tbl>
          </a:graphicData>
        </a:graphic>
      </p:graphicFrame>
      <p:sp>
        <p:nvSpPr>
          <p:cNvPr id="5" name="Rectangle 1">
            <a:extLst>
              <a:ext uri="{FF2B5EF4-FFF2-40B4-BE49-F238E27FC236}">
                <a16:creationId xmlns:a16="http://schemas.microsoft.com/office/drawing/2014/main" id="{7F153886-8DAA-FC7B-0C94-523BBC6D17D7}"/>
              </a:ext>
            </a:extLst>
          </p:cNvPr>
          <p:cNvSpPr>
            <a:spLocks noGrp="1" noChangeArrowheads="1"/>
          </p:cNvSpPr>
          <p:nvPr>
            <p:ph type="body" idx="1"/>
          </p:nvPr>
        </p:nvSpPr>
        <p:spPr bwMode="auto">
          <a:xfrm>
            <a:off x="746861" y="2570839"/>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3689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496823" y="990600"/>
              <a:ext cx="5862955" cy="3188335"/>
            </a:xfrm>
            <a:custGeom>
              <a:avLst/>
              <a:gdLst/>
              <a:ahLst/>
              <a:cxnLst/>
              <a:rect l="l" t="t" r="r" b="b"/>
              <a:pathLst>
                <a:path w="5862955" h="3188335">
                  <a:moveTo>
                    <a:pt x="5862828" y="0"/>
                  </a:moveTo>
                  <a:lnTo>
                    <a:pt x="0" y="0"/>
                  </a:lnTo>
                  <a:lnTo>
                    <a:pt x="0" y="3188208"/>
                  </a:lnTo>
                  <a:lnTo>
                    <a:pt x="5862828" y="3188208"/>
                  </a:lnTo>
                  <a:lnTo>
                    <a:pt x="5862828" y="0"/>
                  </a:lnTo>
                  <a:close/>
                </a:path>
              </a:pathLst>
            </a:custGeom>
            <a:solidFill>
              <a:srgbClr val="FFFFFF"/>
            </a:solidFill>
          </p:spPr>
          <p:txBody>
            <a:bodyPr wrap="square" lIns="0" tIns="0" rIns="0" bIns="0" rtlCol="0"/>
            <a:lstStyle/>
            <a:p>
              <a:endParaRPr/>
            </a:p>
          </p:txBody>
        </p:sp>
      </p:grpSp>
      <p:sp>
        <p:nvSpPr>
          <p:cNvPr id="5" name="object 5"/>
          <p:cNvSpPr txBox="1"/>
          <p:nvPr/>
        </p:nvSpPr>
        <p:spPr>
          <a:xfrm>
            <a:off x="496823" y="990600"/>
            <a:ext cx="5862955" cy="3188335"/>
          </a:xfrm>
          <a:prstGeom prst="rect">
            <a:avLst/>
          </a:prstGeom>
        </p:spPr>
        <p:txBody>
          <a:bodyPr vert="horz" wrap="square" lIns="0" tIns="0" rIns="0" bIns="0" rtlCol="0">
            <a:spAutoFit/>
          </a:bodyPr>
          <a:lstStyle/>
          <a:p>
            <a:pPr marL="228600">
              <a:lnSpc>
                <a:spcPts val="2010"/>
              </a:lnSpc>
            </a:pPr>
            <a:r>
              <a:rPr sz="2000" dirty="0">
                <a:latin typeface="Georgia"/>
                <a:cs typeface="Georgia"/>
              </a:rPr>
              <a:t>Overlapped</a:t>
            </a:r>
            <a:r>
              <a:rPr sz="2000" spc="-50" dirty="0">
                <a:latin typeface="Georgia"/>
                <a:cs typeface="Georgia"/>
              </a:rPr>
              <a:t> </a:t>
            </a:r>
            <a:r>
              <a:rPr sz="2000" spc="-10" dirty="0">
                <a:latin typeface="Georgia"/>
                <a:cs typeface="Georgia"/>
              </a:rPr>
              <a:t>Register</a:t>
            </a:r>
            <a:endParaRPr sz="2000">
              <a:latin typeface="Georgia"/>
              <a:cs typeface="Georgia"/>
            </a:endParaRPr>
          </a:p>
          <a:p>
            <a:pPr marL="165100">
              <a:lnSpc>
                <a:spcPts val="2280"/>
              </a:lnSpc>
              <a:tabLst>
                <a:tab pos="4826000" algn="l"/>
              </a:tabLst>
            </a:pPr>
            <a:r>
              <a:rPr sz="2000" u="heavy" spc="-35" dirty="0">
                <a:uFill>
                  <a:solidFill>
                    <a:srgbClr val="539E39"/>
                  </a:solidFill>
                </a:uFill>
                <a:latin typeface="Georgia"/>
                <a:cs typeface="Georgia"/>
              </a:rPr>
              <a:t> </a:t>
            </a:r>
            <a:r>
              <a:rPr sz="2000" u="heavy" dirty="0">
                <a:uFill>
                  <a:solidFill>
                    <a:srgbClr val="539E39"/>
                  </a:solidFill>
                </a:uFill>
                <a:latin typeface="Georgia"/>
                <a:cs typeface="Georgia"/>
              </a:rPr>
              <a:t>Windows</a:t>
            </a:r>
            <a:r>
              <a:rPr sz="2000" u="heavy" spc="-55" dirty="0">
                <a:uFill>
                  <a:solidFill>
                    <a:srgbClr val="539E39"/>
                  </a:solidFill>
                </a:uFill>
                <a:latin typeface="Georgia"/>
                <a:cs typeface="Georgia"/>
              </a:rPr>
              <a:t> </a:t>
            </a:r>
            <a:r>
              <a:rPr sz="2000" u="heavy" dirty="0">
                <a:uFill>
                  <a:solidFill>
                    <a:srgbClr val="539E39"/>
                  </a:solidFill>
                </a:uFill>
                <a:latin typeface="Georgia"/>
                <a:cs typeface="Georgia"/>
              </a:rPr>
              <a:t>Example</a:t>
            </a:r>
            <a:r>
              <a:rPr sz="2000" u="heavy" spc="-35" dirty="0">
                <a:uFill>
                  <a:solidFill>
                    <a:srgbClr val="539E39"/>
                  </a:solidFill>
                </a:uFill>
                <a:latin typeface="Georgia"/>
                <a:cs typeface="Georgia"/>
              </a:rPr>
              <a:t> </a:t>
            </a:r>
            <a:r>
              <a:rPr sz="2000" u="heavy" spc="-50" dirty="0">
                <a:uFill>
                  <a:solidFill>
                    <a:srgbClr val="539E39"/>
                  </a:solidFill>
                </a:uFill>
                <a:latin typeface="Georgia"/>
                <a:cs typeface="Georgia"/>
              </a:rPr>
              <a:t>1</a:t>
            </a:r>
            <a:r>
              <a:rPr sz="2000" u="heavy" dirty="0">
                <a:uFill>
                  <a:solidFill>
                    <a:srgbClr val="539E39"/>
                  </a:solidFill>
                </a:uFill>
                <a:latin typeface="Georgia"/>
                <a:cs typeface="Georgia"/>
              </a:rPr>
              <a:t>	</a:t>
            </a:r>
            <a:endParaRPr sz="2000">
              <a:latin typeface="Georgia"/>
              <a:cs typeface="Georgia"/>
            </a:endParaRPr>
          </a:p>
        </p:txBody>
      </p:sp>
      <p:pic>
        <p:nvPicPr>
          <p:cNvPr id="6" name="object 6"/>
          <p:cNvPicPr/>
          <p:nvPr/>
        </p:nvPicPr>
        <p:blipFill>
          <a:blip r:embed="rId3" cstate="print"/>
          <a:stretch>
            <a:fillRect/>
          </a:stretch>
        </p:blipFill>
        <p:spPr>
          <a:xfrm>
            <a:off x="3480815" y="894588"/>
            <a:ext cx="2872740" cy="3383279"/>
          </a:xfrm>
          <a:prstGeom prst="rect">
            <a:avLst/>
          </a:prstGeom>
        </p:spPr>
      </p:pic>
      <p:grpSp>
        <p:nvGrpSpPr>
          <p:cNvPr id="7" name="object 7"/>
          <p:cNvGrpSpPr/>
          <p:nvPr/>
        </p:nvGrpSpPr>
        <p:grpSpPr>
          <a:xfrm>
            <a:off x="381000" y="4844796"/>
            <a:ext cx="6096000" cy="3429000"/>
            <a:chOff x="381000" y="4844796"/>
            <a:chExt cx="6096000" cy="3429000"/>
          </a:xfrm>
        </p:grpSpPr>
        <p:sp>
          <p:nvSpPr>
            <p:cNvPr id="8" name="object 8"/>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9" name="object 9"/>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10" name="object 10"/>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1" name="object 11"/>
          <p:cNvSpPr txBox="1"/>
          <p:nvPr/>
        </p:nvSpPr>
        <p:spPr>
          <a:xfrm>
            <a:off x="496823" y="4966715"/>
            <a:ext cx="5862955" cy="3188335"/>
          </a:xfrm>
          <a:prstGeom prst="rect">
            <a:avLst/>
          </a:prstGeom>
        </p:spPr>
        <p:txBody>
          <a:bodyPr vert="horz" wrap="square" lIns="0" tIns="131445" rIns="0" bIns="0" rtlCol="0">
            <a:spAutoFit/>
          </a:bodyPr>
          <a:lstStyle/>
          <a:p>
            <a:pPr marL="228600">
              <a:lnSpc>
                <a:spcPct val="100000"/>
              </a:lnSpc>
              <a:spcBef>
                <a:spcPts val="1035"/>
              </a:spcBef>
            </a:pPr>
            <a:r>
              <a:rPr sz="2000" dirty="0">
                <a:latin typeface="Georgia"/>
                <a:cs typeface="Georgia"/>
              </a:rPr>
              <a:t>Overlapped</a:t>
            </a:r>
            <a:r>
              <a:rPr sz="2000" spc="-45" dirty="0">
                <a:latin typeface="Georgia"/>
                <a:cs typeface="Georgia"/>
              </a:rPr>
              <a:t> </a:t>
            </a:r>
            <a:r>
              <a:rPr sz="2000" dirty="0">
                <a:latin typeface="Georgia"/>
                <a:cs typeface="Georgia"/>
              </a:rPr>
              <a:t>Register</a:t>
            </a:r>
            <a:r>
              <a:rPr sz="2000" spc="-60" dirty="0">
                <a:latin typeface="Georgia"/>
                <a:cs typeface="Georgia"/>
              </a:rPr>
              <a:t> </a:t>
            </a:r>
            <a:r>
              <a:rPr sz="2000" dirty="0">
                <a:latin typeface="Georgia"/>
                <a:cs typeface="Georgia"/>
              </a:rPr>
              <a:t>Windows</a:t>
            </a:r>
            <a:r>
              <a:rPr sz="2000" spc="-60" dirty="0">
                <a:latin typeface="Georgia"/>
                <a:cs typeface="Georgia"/>
              </a:rPr>
              <a:t> </a:t>
            </a:r>
            <a:r>
              <a:rPr sz="2000" dirty="0">
                <a:latin typeface="Georgia"/>
                <a:cs typeface="Georgia"/>
              </a:rPr>
              <a:t>Example</a:t>
            </a:r>
            <a:r>
              <a:rPr sz="2000" spc="-50" dirty="0">
                <a:latin typeface="Georgia"/>
                <a:cs typeface="Georgia"/>
              </a:rPr>
              <a:t> 1</a:t>
            </a:r>
            <a:endParaRPr sz="2000">
              <a:latin typeface="Georgia"/>
              <a:cs typeface="Georgia"/>
            </a:endParaRPr>
          </a:p>
          <a:p>
            <a:pPr marL="434975" marR="817880" indent="-172720">
              <a:lnSpc>
                <a:spcPct val="100000"/>
              </a:lnSpc>
              <a:spcBef>
                <a:spcPts val="1410"/>
              </a:spcBef>
              <a:buClr>
                <a:srgbClr val="3E762B"/>
              </a:buClr>
              <a:buFont typeface="Wingdings"/>
              <a:buChar char=""/>
              <a:tabLst>
                <a:tab pos="436245" algn="l"/>
              </a:tabLst>
            </a:pPr>
            <a:r>
              <a:rPr sz="1200" dirty="0">
                <a:latin typeface="Times New Roman"/>
                <a:cs typeface="Times New Roman"/>
              </a:rPr>
              <a:t>As</a:t>
            </a:r>
            <a:r>
              <a:rPr sz="1200" spc="-50" dirty="0">
                <a:latin typeface="Times New Roman"/>
                <a:cs typeface="Times New Roman"/>
              </a:rPr>
              <a:t> </a:t>
            </a:r>
            <a:r>
              <a:rPr sz="1200" dirty="0">
                <a:latin typeface="Times New Roman"/>
                <a:cs typeface="Times New Roman"/>
              </a:rPr>
              <a:t>an</a:t>
            </a:r>
            <a:r>
              <a:rPr sz="1200" spc="-10" dirty="0">
                <a:latin typeface="Times New Roman"/>
                <a:cs typeface="Times New Roman"/>
              </a:rPr>
              <a:t> </a:t>
            </a:r>
            <a:r>
              <a:rPr sz="1200" dirty="0">
                <a:latin typeface="Times New Roman"/>
                <a:cs typeface="Times New Roman"/>
              </a:rPr>
              <a:t>example,</a:t>
            </a:r>
            <a:r>
              <a:rPr sz="1200" spc="-30" dirty="0">
                <a:latin typeface="Times New Roman"/>
                <a:cs typeface="Times New Roman"/>
              </a:rPr>
              <a:t> </a:t>
            </a:r>
            <a:r>
              <a:rPr sz="1200" dirty="0">
                <a:latin typeface="Times New Roman"/>
                <a:cs typeface="Times New Roman"/>
              </a:rPr>
              <a:t>suppose</a:t>
            </a:r>
            <a:r>
              <a:rPr sz="1200" spc="-20" dirty="0">
                <a:latin typeface="Times New Roman"/>
                <a:cs typeface="Times New Roman"/>
              </a:rPr>
              <a:t> </a:t>
            </a:r>
            <a:r>
              <a:rPr sz="1200" dirty="0">
                <a:latin typeface="Times New Roman"/>
                <a:cs typeface="Times New Roman"/>
              </a:rPr>
              <a:t>that</a:t>
            </a:r>
            <a:r>
              <a:rPr sz="1200" spc="-20" dirty="0">
                <a:latin typeface="Times New Roman"/>
                <a:cs typeface="Times New Roman"/>
              </a:rPr>
              <a:t> </a:t>
            </a:r>
            <a:r>
              <a:rPr sz="1200" spc="-10" dirty="0">
                <a:latin typeface="Times New Roman"/>
                <a:cs typeface="Times New Roman"/>
              </a:rPr>
              <a:t>procedure</a:t>
            </a:r>
            <a:r>
              <a:rPr sz="1200" spc="-65" dirty="0">
                <a:latin typeface="Times New Roman"/>
                <a:cs typeface="Times New Roman"/>
              </a:rPr>
              <a:t> </a:t>
            </a: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calls</a:t>
            </a:r>
            <a:r>
              <a:rPr sz="1200" spc="-20" dirty="0">
                <a:latin typeface="Times New Roman"/>
                <a:cs typeface="Times New Roman"/>
              </a:rPr>
              <a:t> </a:t>
            </a:r>
            <a:r>
              <a:rPr sz="1200" dirty="0">
                <a:latin typeface="Times New Roman"/>
                <a:cs typeface="Times New Roman"/>
              </a:rPr>
              <a:t>procedure</a:t>
            </a:r>
            <a:r>
              <a:rPr sz="1200" spc="-10" dirty="0">
                <a:latin typeface="Times New Roman"/>
                <a:cs typeface="Times New Roman"/>
              </a:rPr>
              <a:t> </a:t>
            </a:r>
            <a:r>
              <a:rPr sz="1200" dirty="0">
                <a:latin typeface="Times New Roman"/>
                <a:cs typeface="Times New Roman"/>
              </a:rPr>
              <a:t>B.</a:t>
            </a:r>
            <a:r>
              <a:rPr sz="1200" spc="-20"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spc="-25" dirty="0">
                <a:latin typeface="Times New Roman"/>
                <a:cs typeface="Times New Roman"/>
              </a:rPr>
              <a:t>R26 	</a:t>
            </a:r>
            <a:r>
              <a:rPr sz="1200" dirty="0">
                <a:latin typeface="Times New Roman"/>
                <a:cs typeface="Times New Roman"/>
              </a:rPr>
              <a:t>through</a:t>
            </a:r>
            <a:r>
              <a:rPr sz="1200" spc="-35" dirty="0">
                <a:latin typeface="Times New Roman"/>
                <a:cs typeface="Times New Roman"/>
              </a:rPr>
              <a:t> </a:t>
            </a:r>
            <a:r>
              <a:rPr sz="1200" dirty="0">
                <a:latin typeface="Times New Roman"/>
                <a:cs typeface="Times New Roman"/>
              </a:rPr>
              <a:t>R31</a:t>
            </a:r>
            <a:r>
              <a:rPr sz="1200" spc="-25" dirty="0">
                <a:latin typeface="Times New Roman"/>
                <a:cs typeface="Times New Roman"/>
              </a:rPr>
              <a:t> </a:t>
            </a:r>
            <a:r>
              <a:rPr sz="1200" dirty="0">
                <a:latin typeface="Times New Roman"/>
                <a:cs typeface="Times New Roman"/>
              </a:rPr>
              <a:t>are</a:t>
            </a:r>
            <a:r>
              <a:rPr sz="1200" spc="-35" dirty="0">
                <a:latin typeface="Times New Roman"/>
                <a:cs typeface="Times New Roman"/>
              </a:rPr>
              <a:t> </a:t>
            </a:r>
            <a:r>
              <a:rPr sz="1200" dirty="0">
                <a:latin typeface="Times New Roman"/>
                <a:cs typeface="Times New Roman"/>
              </a:rPr>
              <a:t>common</a:t>
            </a:r>
            <a:r>
              <a:rPr sz="1200" spc="-25" dirty="0">
                <a:latin typeface="Times New Roman"/>
                <a:cs typeface="Times New Roman"/>
              </a:rPr>
              <a:t> </a:t>
            </a:r>
            <a:r>
              <a:rPr sz="1200" dirty="0">
                <a:latin typeface="Times New Roman"/>
                <a:cs typeface="Times New Roman"/>
              </a:rPr>
              <a:t>to</a:t>
            </a:r>
            <a:r>
              <a:rPr sz="1200" spc="-25" dirty="0">
                <a:latin typeface="Times New Roman"/>
                <a:cs typeface="Times New Roman"/>
              </a:rPr>
              <a:t> </a:t>
            </a:r>
            <a:r>
              <a:rPr sz="1200" dirty="0">
                <a:latin typeface="Times New Roman"/>
                <a:cs typeface="Times New Roman"/>
              </a:rPr>
              <a:t>both</a:t>
            </a:r>
            <a:r>
              <a:rPr sz="1200" spc="-35" dirty="0">
                <a:latin typeface="Times New Roman"/>
                <a:cs typeface="Times New Roman"/>
              </a:rPr>
              <a:t> </a:t>
            </a:r>
            <a:r>
              <a:rPr sz="1200" dirty="0">
                <a:latin typeface="Times New Roman"/>
                <a:cs typeface="Times New Roman"/>
              </a:rPr>
              <a:t>procedures,</a:t>
            </a:r>
            <a:r>
              <a:rPr sz="1200" spc="-10"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dirty="0">
                <a:latin typeface="Times New Roman"/>
                <a:cs typeface="Times New Roman"/>
              </a:rPr>
              <a:t>therefore</a:t>
            </a:r>
            <a:r>
              <a:rPr sz="1200" spc="-20" dirty="0">
                <a:latin typeface="Times New Roman"/>
                <a:cs typeface="Times New Roman"/>
              </a:rPr>
              <a:t> </a:t>
            </a:r>
            <a:r>
              <a:rPr sz="1200" spc="-10" dirty="0">
                <a:latin typeface="Times New Roman"/>
                <a:cs typeface="Times New Roman"/>
              </a:rPr>
              <a:t>procedure</a:t>
            </a:r>
            <a:r>
              <a:rPr sz="1200" spc="-65" dirty="0">
                <a:latin typeface="Times New Roman"/>
                <a:cs typeface="Times New Roman"/>
              </a:rPr>
              <a:t> </a:t>
            </a:r>
            <a:r>
              <a:rPr sz="1200" spc="-50" dirty="0">
                <a:latin typeface="Times New Roman"/>
                <a:cs typeface="Times New Roman"/>
              </a:rPr>
              <a:t>A 	</a:t>
            </a:r>
            <a:r>
              <a:rPr sz="1200" dirty="0">
                <a:latin typeface="Times New Roman"/>
                <a:cs typeface="Times New Roman"/>
              </a:rPr>
              <a:t>stores</a:t>
            </a:r>
            <a:r>
              <a:rPr sz="1200" spc="-35"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parameters</a:t>
            </a:r>
            <a:r>
              <a:rPr sz="1200" spc="-2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dirty="0">
                <a:latin typeface="Times New Roman"/>
                <a:cs typeface="Times New Roman"/>
              </a:rPr>
              <a:t>procedure</a:t>
            </a:r>
            <a:r>
              <a:rPr sz="1200" spc="-30" dirty="0">
                <a:latin typeface="Times New Roman"/>
                <a:cs typeface="Times New Roman"/>
              </a:rPr>
              <a:t> </a:t>
            </a:r>
            <a:r>
              <a:rPr sz="1200" dirty="0">
                <a:latin typeface="Times New Roman"/>
                <a:cs typeface="Times New Roman"/>
              </a:rPr>
              <a:t>B</a:t>
            </a:r>
            <a:r>
              <a:rPr sz="1200" spc="-3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these</a:t>
            </a:r>
            <a:r>
              <a:rPr sz="1200" spc="-40" dirty="0">
                <a:latin typeface="Times New Roman"/>
                <a:cs typeface="Times New Roman"/>
              </a:rPr>
              <a:t> </a:t>
            </a:r>
            <a:r>
              <a:rPr sz="1200" dirty="0">
                <a:latin typeface="Times New Roman"/>
                <a:cs typeface="Times New Roman"/>
              </a:rPr>
              <a:t>registers.</a:t>
            </a:r>
            <a:r>
              <a:rPr sz="1200" spc="-25" dirty="0">
                <a:latin typeface="Times New Roman"/>
                <a:cs typeface="Times New Roman"/>
              </a:rPr>
              <a:t> </a:t>
            </a:r>
            <a:r>
              <a:rPr sz="1200" dirty="0">
                <a:latin typeface="Times New Roman"/>
                <a:cs typeface="Times New Roman"/>
              </a:rPr>
              <a:t>Procedure</a:t>
            </a:r>
            <a:r>
              <a:rPr sz="1200" spc="-20" dirty="0">
                <a:latin typeface="Times New Roman"/>
                <a:cs typeface="Times New Roman"/>
              </a:rPr>
              <a:t> </a:t>
            </a:r>
            <a:r>
              <a:rPr sz="1200" dirty="0">
                <a:latin typeface="Times New Roman"/>
                <a:cs typeface="Times New Roman"/>
              </a:rPr>
              <a:t>B</a:t>
            </a:r>
            <a:r>
              <a:rPr sz="1200" spc="-45" dirty="0">
                <a:latin typeface="Times New Roman"/>
                <a:cs typeface="Times New Roman"/>
              </a:rPr>
              <a:t> </a:t>
            </a:r>
            <a:r>
              <a:rPr sz="1200" spc="-20" dirty="0">
                <a:latin typeface="Times New Roman"/>
                <a:cs typeface="Times New Roman"/>
              </a:rPr>
              <a:t>uses 	</a:t>
            </a:r>
            <a:r>
              <a:rPr sz="1200" dirty="0">
                <a:latin typeface="Times New Roman"/>
                <a:cs typeface="Times New Roman"/>
              </a:rPr>
              <a:t>local</a:t>
            </a:r>
            <a:r>
              <a:rPr sz="1200" spc="-35" dirty="0">
                <a:latin typeface="Times New Roman"/>
                <a:cs typeface="Times New Roman"/>
              </a:rPr>
              <a:t> </a:t>
            </a:r>
            <a:r>
              <a:rPr sz="1200" dirty="0">
                <a:latin typeface="Times New Roman"/>
                <a:cs typeface="Times New Roman"/>
              </a:rPr>
              <a:t>registers</a:t>
            </a:r>
            <a:r>
              <a:rPr sz="1200" spc="-30" dirty="0">
                <a:latin typeface="Times New Roman"/>
                <a:cs typeface="Times New Roman"/>
              </a:rPr>
              <a:t> </a:t>
            </a:r>
            <a:r>
              <a:rPr sz="1200" dirty="0">
                <a:latin typeface="Times New Roman"/>
                <a:cs typeface="Times New Roman"/>
              </a:rPr>
              <a:t>R32</a:t>
            </a:r>
            <a:r>
              <a:rPr sz="1200" spc="-35" dirty="0">
                <a:latin typeface="Times New Roman"/>
                <a:cs typeface="Times New Roman"/>
              </a:rPr>
              <a:t> </a:t>
            </a:r>
            <a:r>
              <a:rPr sz="1200" dirty="0">
                <a:latin typeface="Times New Roman"/>
                <a:cs typeface="Times New Roman"/>
              </a:rPr>
              <a:t>through</a:t>
            </a:r>
            <a:r>
              <a:rPr sz="1200" spc="-25" dirty="0">
                <a:latin typeface="Times New Roman"/>
                <a:cs typeface="Times New Roman"/>
              </a:rPr>
              <a:t> </a:t>
            </a:r>
            <a:r>
              <a:rPr sz="1200" dirty="0">
                <a:latin typeface="Times New Roman"/>
                <a:cs typeface="Times New Roman"/>
              </a:rPr>
              <a:t>R41</a:t>
            </a:r>
            <a:r>
              <a:rPr sz="1200" spc="-35" dirty="0">
                <a:latin typeface="Times New Roman"/>
                <a:cs typeface="Times New Roman"/>
              </a:rPr>
              <a:t> </a:t>
            </a:r>
            <a:r>
              <a:rPr sz="1200" dirty="0">
                <a:latin typeface="Times New Roman"/>
                <a:cs typeface="Times New Roman"/>
              </a:rPr>
              <a:t>for</a:t>
            </a:r>
            <a:r>
              <a:rPr sz="1200" spc="-45" dirty="0">
                <a:latin typeface="Times New Roman"/>
                <a:cs typeface="Times New Roman"/>
              </a:rPr>
              <a:t> </a:t>
            </a:r>
            <a:r>
              <a:rPr sz="1200" dirty="0">
                <a:latin typeface="Times New Roman"/>
                <a:cs typeface="Times New Roman"/>
              </a:rPr>
              <a:t>local</a:t>
            </a:r>
            <a:r>
              <a:rPr sz="1200" spc="-35" dirty="0">
                <a:latin typeface="Times New Roman"/>
                <a:cs typeface="Times New Roman"/>
              </a:rPr>
              <a:t> </a:t>
            </a:r>
            <a:r>
              <a:rPr sz="1200" dirty="0">
                <a:latin typeface="Times New Roman"/>
                <a:cs typeface="Times New Roman"/>
              </a:rPr>
              <a:t>variable</a:t>
            </a:r>
            <a:r>
              <a:rPr sz="1200" spc="-40" dirty="0">
                <a:latin typeface="Times New Roman"/>
                <a:cs typeface="Times New Roman"/>
              </a:rPr>
              <a:t> </a:t>
            </a:r>
            <a:r>
              <a:rPr sz="1200" dirty="0">
                <a:latin typeface="Times New Roman"/>
                <a:cs typeface="Times New Roman"/>
              </a:rPr>
              <a:t>storage.</a:t>
            </a:r>
            <a:r>
              <a:rPr sz="1200" spc="-15" dirty="0">
                <a:latin typeface="Times New Roman"/>
                <a:cs typeface="Times New Roman"/>
              </a:rPr>
              <a:t> </a:t>
            </a:r>
            <a:r>
              <a:rPr sz="1200" dirty="0">
                <a:latin typeface="Times New Roman"/>
                <a:cs typeface="Times New Roman"/>
              </a:rPr>
              <a:t>If</a:t>
            </a:r>
            <a:r>
              <a:rPr sz="1200" spc="-5" dirty="0">
                <a:latin typeface="Times New Roman"/>
                <a:cs typeface="Times New Roman"/>
              </a:rPr>
              <a:t> </a:t>
            </a:r>
            <a:r>
              <a:rPr sz="1200" dirty="0">
                <a:latin typeface="Times New Roman"/>
                <a:cs typeface="Times New Roman"/>
              </a:rPr>
              <a:t>procedure</a:t>
            </a:r>
            <a:r>
              <a:rPr sz="1200" spc="-35" dirty="0">
                <a:latin typeface="Times New Roman"/>
                <a:cs typeface="Times New Roman"/>
              </a:rPr>
              <a:t> </a:t>
            </a:r>
            <a:r>
              <a:rPr sz="1200" spc="-50" dirty="0">
                <a:latin typeface="Times New Roman"/>
                <a:cs typeface="Times New Roman"/>
              </a:rPr>
              <a:t>B 	</a:t>
            </a:r>
            <a:r>
              <a:rPr sz="1200" dirty="0">
                <a:latin typeface="Times New Roman"/>
                <a:cs typeface="Times New Roman"/>
              </a:rPr>
              <a:t>calls</a:t>
            </a:r>
            <a:r>
              <a:rPr sz="1200" spc="-30" dirty="0">
                <a:latin typeface="Times New Roman"/>
                <a:cs typeface="Times New Roman"/>
              </a:rPr>
              <a:t> </a:t>
            </a:r>
            <a:r>
              <a:rPr sz="1200" dirty="0">
                <a:latin typeface="Times New Roman"/>
                <a:cs typeface="Times New Roman"/>
              </a:rPr>
              <a:t>procedure</a:t>
            </a:r>
            <a:r>
              <a:rPr sz="1200" spc="-30" dirty="0">
                <a:latin typeface="Times New Roman"/>
                <a:cs typeface="Times New Roman"/>
              </a:rPr>
              <a:t> </a:t>
            </a:r>
            <a:r>
              <a:rPr sz="1200" dirty="0">
                <a:latin typeface="Times New Roman"/>
                <a:cs typeface="Times New Roman"/>
              </a:rPr>
              <a:t>C,</a:t>
            </a:r>
            <a:r>
              <a:rPr sz="1200" spc="-25" dirty="0">
                <a:latin typeface="Times New Roman"/>
                <a:cs typeface="Times New Roman"/>
              </a:rPr>
              <a:t> </a:t>
            </a:r>
            <a:r>
              <a:rPr sz="1200" dirty="0">
                <a:latin typeface="Times New Roman"/>
                <a:cs typeface="Times New Roman"/>
              </a:rPr>
              <a:t>it</a:t>
            </a:r>
            <a:r>
              <a:rPr sz="1200" spc="-40" dirty="0">
                <a:latin typeface="Times New Roman"/>
                <a:cs typeface="Times New Roman"/>
              </a:rPr>
              <a:t> </a:t>
            </a:r>
            <a:r>
              <a:rPr sz="1200" dirty="0">
                <a:latin typeface="Times New Roman"/>
                <a:cs typeface="Times New Roman"/>
              </a:rPr>
              <a:t>will</a:t>
            </a:r>
            <a:r>
              <a:rPr sz="1200" spc="-35" dirty="0">
                <a:latin typeface="Times New Roman"/>
                <a:cs typeface="Times New Roman"/>
              </a:rPr>
              <a:t> </a:t>
            </a:r>
            <a:r>
              <a:rPr sz="1200" dirty="0">
                <a:latin typeface="Times New Roman"/>
                <a:cs typeface="Times New Roman"/>
              </a:rPr>
              <a:t>pass</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parameters</a:t>
            </a:r>
            <a:r>
              <a:rPr sz="1200" spc="-25" dirty="0">
                <a:latin typeface="Times New Roman"/>
                <a:cs typeface="Times New Roman"/>
              </a:rPr>
              <a:t> </a:t>
            </a:r>
            <a:r>
              <a:rPr sz="1200" dirty="0">
                <a:latin typeface="Times New Roman"/>
                <a:cs typeface="Times New Roman"/>
              </a:rPr>
              <a:t>through</a:t>
            </a:r>
            <a:r>
              <a:rPr sz="1200" spc="-20" dirty="0">
                <a:latin typeface="Times New Roman"/>
                <a:cs typeface="Times New Roman"/>
              </a:rPr>
              <a:t> </a:t>
            </a:r>
            <a:r>
              <a:rPr sz="1200" dirty="0">
                <a:latin typeface="Times New Roman"/>
                <a:cs typeface="Times New Roman"/>
              </a:rPr>
              <a:t>registers</a:t>
            </a:r>
            <a:r>
              <a:rPr sz="1200" spc="-20" dirty="0">
                <a:latin typeface="Times New Roman"/>
                <a:cs typeface="Times New Roman"/>
              </a:rPr>
              <a:t> </a:t>
            </a:r>
            <a:r>
              <a:rPr sz="1200" dirty="0">
                <a:latin typeface="Times New Roman"/>
                <a:cs typeface="Times New Roman"/>
              </a:rPr>
              <a:t>R42</a:t>
            </a:r>
            <a:r>
              <a:rPr sz="1200" spc="-30" dirty="0">
                <a:latin typeface="Times New Roman"/>
                <a:cs typeface="Times New Roman"/>
              </a:rPr>
              <a:t> </a:t>
            </a:r>
            <a:r>
              <a:rPr sz="1200" spc="-10" dirty="0">
                <a:latin typeface="Times New Roman"/>
                <a:cs typeface="Times New Roman"/>
              </a:rPr>
              <a:t>through 	</a:t>
            </a:r>
            <a:r>
              <a:rPr sz="1200" dirty="0">
                <a:latin typeface="Times New Roman"/>
                <a:cs typeface="Times New Roman"/>
              </a:rPr>
              <a:t>R47.</a:t>
            </a:r>
            <a:r>
              <a:rPr sz="1200" spc="-40" dirty="0">
                <a:latin typeface="Times New Roman"/>
                <a:cs typeface="Times New Roman"/>
              </a:rPr>
              <a:t> </a:t>
            </a:r>
            <a:r>
              <a:rPr sz="1200" dirty="0">
                <a:latin typeface="Times New Roman"/>
                <a:cs typeface="Times New Roman"/>
              </a:rPr>
              <a:t>When</a:t>
            </a:r>
            <a:r>
              <a:rPr sz="1200" spc="-25" dirty="0">
                <a:latin typeface="Times New Roman"/>
                <a:cs typeface="Times New Roman"/>
              </a:rPr>
              <a:t> </a:t>
            </a:r>
            <a:r>
              <a:rPr sz="1200" dirty="0">
                <a:latin typeface="Times New Roman"/>
                <a:cs typeface="Times New Roman"/>
              </a:rPr>
              <a:t>procedure</a:t>
            </a:r>
            <a:r>
              <a:rPr sz="1200" spc="-5" dirty="0">
                <a:latin typeface="Times New Roman"/>
                <a:cs typeface="Times New Roman"/>
              </a:rPr>
              <a:t> </a:t>
            </a:r>
            <a:r>
              <a:rPr sz="1200" dirty="0">
                <a:latin typeface="Times New Roman"/>
                <a:cs typeface="Times New Roman"/>
              </a:rPr>
              <a:t>B</a:t>
            </a:r>
            <a:r>
              <a:rPr sz="1200" spc="-1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ready</a:t>
            </a:r>
            <a:r>
              <a:rPr sz="1200" spc="-5" dirty="0">
                <a:latin typeface="Times New Roman"/>
                <a:cs typeface="Times New Roman"/>
              </a:rPr>
              <a:t> </a:t>
            </a:r>
            <a:r>
              <a:rPr sz="1200" dirty="0">
                <a:latin typeface="Times New Roman"/>
                <a:cs typeface="Times New Roman"/>
              </a:rPr>
              <a:t>to</a:t>
            </a:r>
            <a:r>
              <a:rPr sz="1200" spc="-15" dirty="0">
                <a:latin typeface="Times New Roman"/>
                <a:cs typeface="Times New Roman"/>
              </a:rPr>
              <a:t> </a:t>
            </a:r>
            <a:r>
              <a:rPr sz="1200" dirty="0">
                <a:latin typeface="Times New Roman"/>
                <a:cs typeface="Times New Roman"/>
              </a:rPr>
              <a:t>return</a:t>
            </a:r>
            <a:r>
              <a:rPr sz="1200" spc="-10" dirty="0">
                <a:latin typeface="Times New Roman"/>
                <a:cs typeface="Times New Roman"/>
              </a:rPr>
              <a:t> </a:t>
            </a:r>
            <a:r>
              <a:rPr sz="1200" dirty="0">
                <a:latin typeface="Times New Roman"/>
                <a:cs typeface="Times New Roman"/>
              </a:rPr>
              <a:t>at</a:t>
            </a:r>
            <a:r>
              <a:rPr sz="1200" spc="-15"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end</a:t>
            </a:r>
            <a:r>
              <a:rPr sz="1200" spc="-10" dirty="0">
                <a:latin typeface="Times New Roman"/>
                <a:cs typeface="Times New Roman"/>
              </a:rPr>
              <a:t> </a:t>
            </a:r>
            <a:r>
              <a:rPr sz="1200" dirty="0">
                <a:latin typeface="Times New Roman"/>
                <a:cs typeface="Times New Roman"/>
              </a:rPr>
              <a:t>of</a:t>
            </a:r>
            <a:r>
              <a:rPr sz="1200" spc="-10" dirty="0">
                <a:latin typeface="Times New Roman"/>
                <a:cs typeface="Times New Roman"/>
              </a:rPr>
              <a:t> </a:t>
            </a:r>
            <a:r>
              <a:rPr sz="1200" dirty="0">
                <a:latin typeface="Times New Roman"/>
                <a:cs typeface="Times New Roman"/>
              </a:rPr>
              <a:t>its</a:t>
            </a:r>
            <a:r>
              <a:rPr sz="1200" spc="-30" dirty="0">
                <a:latin typeface="Times New Roman"/>
                <a:cs typeface="Times New Roman"/>
              </a:rPr>
              <a:t> </a:t>
            </a:r>
            <a:r>
              <a:rPr sz="1200" spc="-10" dirty="0">
                <a:latin typeface="Times New Roman"/>
                <a:cs typeface="Times New Roman"/>
              </a:rPr>
              <a:t>computation,</a:t>
            </a:r>
            <a:r>
              <a:rPr sz="1200" spc="-25" dirty="0">
                <a:latin typeface="Times New Roman"/>
                <a:cs typeface="Times New Roman"/>
              </a:rPr>
              <a:t> the 	</a:t>
            </a:r>
            <a:r>
              <a:rPr sz="1200" dirty="0">
                <a:latin typeface="Times New Roman"/>
                <a:cs typeface="Times New Roman"/>
              </a:rPr>
              <a:t>program stores</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results</a:t>
            </a:r>
            <a:r>
              <a:rPr sz="1200" spc="-2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spc="-10" dirty="0">
                <a:latin typeface="Times New Roman"/>
                <a:cs typeface="Times New Roman"/>
              </a:rPr>
              <a:t>computation</a:t>
            </a:r>
            <a:r>
              <a:rPr sz="1200" spc="-3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registers R26</a:t>
            </a:r>
            <a:r>
              <a:rPr sz="1200" spc="-20" dirty="0">
                <a:latin typeface="Times New Roman"/>
                <a:cs typeface="Times New Roman"/>
              </a:rPr>
              <a:t> </a:t>
            </a:r>
            <a:r>
              <a:rPr sz="1200" dirty="0">
                <a:latin typeface="Times New Roman"/>
                <a:cs typeface="Times New Roman"/>
              </a:rPr>
              <a:t>through</a:t>
            </a:r>
            <a:r>
              <a:rPr sz="1200" spc="-10" dirty="0">
                <a:latin typeface="Times New Roman"/>
                <a:cs typeface="Times New Roman"/>
              </a:rPr>
              <a:t> </a:t>
            </a:r>
            <a:r>
              <a:rPr sz="1200" spc="-25" dirty="0">
                <a:latin typeface="Times New Roman"/>
                <a:cs typeface="Times New Roman"/>
              </a:rPr>
              <a:t>R31 	</a:t>
            </a:r>
            <a:r>
              <a:rPr sz="1200" dirty="0">
                <a:latin typeface="Times New Roman"/>
                <a:cs typeface="Times New Roman"/>
              </a:rPr>
              <a:t>and</a:t>
            </a:r>
            <a:r>
              <a:rPr sz="1200" spc="-30" dirty="0">
                <a:latin typeface="Times New Roman"/>
                <a:cs typeface="Times New Roman"/>
              </a:rPr>
              <a:t> </a:t>
            </a:r>
            <a:r>
              <a:rPr sz="1200" dirty="0">
                <a:latin typeface="Times New Roman"/>
                <a:cs typeface="Times New Roman"/>
              </a:rPr>
              <a:t>transfers them</a:t>
            </a:r>
            <a:r>
              <a:rPr sz="1200" spc="-35" dirty="0">
                <a:latin typeface="Times New Roman"/>
                <a:cs typeface="Times New Roman"/>
              </a:rPr>
              <a:t> </a:t>
            </a:r>
            <a:r>
              <a:rPr sz="1200" dirty="0">
                <a:latin typeface="Times New Roman"/>
                <a:cs typeface="Times New Roman"/>
              </a:rPr>
              <a:t>back</a:t>
            </a:r>
            <a:r>
              <a:rPr sz="1200" spc="-10"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the</a:t>
            </a:r>
            <a:r>
              <a:rPr sz="1200" spc="-15" dirty="0">
                <a:latin typeface="Times New Roman"/>
                <a:cs typeface="Times New Roman"/>
              </a:rPr>
              <a:t> </a:t>
            </a:r>
            <a:r>
              <a:rPr sz="1200" dirty="0">
                <a:latin typeface="Times New Roman"/>
                <a:cs typeface="Times New Roman"/>
              </a:rPr>
              <a:t>register</a:t>
            </a:r>
            <a:r>
              <a:rPr sz="1200" spc="-5" dirty="0">
                <a:latin typeface="Times New Roman"/>
                <a:cs typeface="Times New Roman"/>
              </a:rPr>
              <a:t> </a:t>
            </a:r>
            <a:r>
              <a:rPr sz="1200" dirty="0">
                <a:latin typeface="Times New Roman"/>
                <a:cs typeface="Times New Roman"/>
              </a:rPr>
              <a:t>window</a:t>
            </a:r>
            <a:r>
              <a:rPr sz="1200" spc="-2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spc="-10" dirty="0">
                <a:latin typeface="Times New Roman"/>
                <a:cs typeface="Times New Roman"/>
              </a:rPr>
              <a:t>procedure</a:t>
            </a:r>
            <a:r>
              <a:rPr sz="1200" spc="-65" dirty="0">
                <a:latin typeface="Times New Roman"/>
                <a:cs typeface="Times New Roman"/>
              </a:rPr>
              <a:t> </a:t>
            </a:r>
            <a:r>
              <a:rPr sz="1200" spc="-25" dirty="0">
                <a:latin typeface="Times New Roman"/>
                <a:cs typeface="Times New Roman"/>
              </a:rPr>
              <a:t>A.</a:t>
            </a:r>
            <a:endParaRPr sz="1200">
              <a:latin typeface="Times New Roman"/>
              <a:cs typeface="Times New Roman"/>
            </a:endParaRPr>
          </a:p>
          <a:p>
            <a:pPr marL="434975" marR="836294" indent="-172720">
              <a:lnSpc>
                <a:spcPct val="100000"/>
              </a:lnSpc>
              <a:spcBef>
                <a:spcPts val="600"/>
              </a:spcBef>
              <a:buClr>
                <a:srgbClr val="3E762B"/>
              </a:buClr>
              <a:buFont typeface="Wingdings"/>
              <a:buChar char=""/>
              <a:tabLst>
                <a:tab pos="436245" algn="l"/>
              </a:tabLst>
            </a:pPr>
            <a:r>
              <a:rPr sz="1200" b="1" dirty="0">
                <a:latin typeface="Times New Roman"/>
                <a:cs typeface="Times New Roman"/>
              </a:rPr>
              <a:t>Each</a:t>
            </a:r>
            <a:r>
              <a:rPr sz="1200" b="1" spc="-20" dirty="0">
                <a:latin typeface="Times New Roman"/>
                <a:cs typeface="Times New Roman"/>
              </a:rPr>
              <a:t> </a:t>
            </a:r>
            <a:r>
              <a:rPr sz="1200" b="1" spc="-10" dirty="0">
                <a:latin typeface="Times New Roman"/>
                <a:cs typeface="Times New Roman"/>
              </a:rPr>
              <a:t>procedure</a:t>
            </a:r>
            <a:r>
              <a:rPr sz="1200" b="1" spc="-15" dirty="0">
                <a:latin typeface="Times New Roman"/>
                <a:cs typeface="Times New Roman"/>
              </a:rPr>
              <a:t> </a:t>
            </a:r>
            <a:r>
              <a:rPr sz="1200" b="1" dirty="0">
                <a:latin typeface="Times New Roman"/>
                <a:cs typeface="Times New Roman"/>
              </a:rPr>
              <a:t>has</a:t>
            </a:r>
            <a:r>
              <a:rPr sz="1200" b="1" spc="-30" dirty="0">
                <a:latin typeface="Times New Roman"/>
                <a:cs typeface="Times New Roman"/>
              </a:rPr>
              <a:t> </a:t>
            </a:r>
            <a:r>
              <a:rPr sz="1200" b="1" dirty="0">
                <a:latin typeface="Times New Roman"/>
                <a:cs typeface="Times New Roman"/>
              </a:rPr>
              <a:t>available</a:t>
            </a:r>
            <a:r>
              <a:rPr sz="1200" b="1" spc="-35" dirty="0">
                <a:latin typeface="Times New Roman"/>
                <a:cs typeface="Times New Roman"/>
              </a:rPr>
              <a:t> </a:t>
            </a:r>
            <a:r>
              <a:rPr sz="1200" b="1" dirty="0">
                <a:latin typeface="Times New Roman"/>
                <a:cs typeface="Times New Roman"/>
              </a:rPr>
              <a:t>a</a:t>
            </a:r>
            <a:r>
              <a:rPr sz="1200" b="1" spc="-20" dirty="0">
                <a:latin typeface="Times New Roman"/>
                <a:cs typeface="Times New Roman"/>
              </a:rPr>
              <a:t> </a:t>
            </a:r>
            <a:r>
              <a:rPr sz="1200" b="1" dirty="0">
                <a:latin typeface="Times New Roman"/>
                <a:cs typeface="Times New Roman"/>
              </a:rPr>
              <a:t>total</a:t>
            </a:r>
            <a:r>
              <a:rPr sz="1200" b="1" spc="-15" dirty="0">
                <a:latin typeface="Times New Roman"/>
                <a:cs typeface="Times New Roman"/>
              </a:rPr>
              <a:t> </a:t>
            </a:r>
            <a:r>
              <a:rPr sz="1200" b="1" dirty="0">
                <a:latin typeface="Times New Roman"/>
                <a:cs typeface="Times New Roman"/>
              </a:rPr>
              <a:t>of</a:t>
            </a:r>
            <a:r>
              <a:rPr sz="1200" b="1" spc="5" dirty="0">
                <a:latin typeface="Times New Roman"/>
                <a:cs typeface="Times New Roman"/>
              </a:rPr>
              <a:t> </a:t>
            </a:r>
            <a:r>
              <a:rPr sz="1200" b="1" dirty="0">
                <a:latin typeface="Times New Roman"/>
                <a:cs typeface="Times New Roman"/>
              </a:rPr>
              <a:t>32</a:t>
            </a:r>
            <a:r>
              <a:rPr sz="1200" b="1" spc="-20" dirty="0">
                <a:latin typeface="Times New Roman"/>
                <a:cs typeface="Times New Roman"/>
              </a:rPr>
              <a:t> </a:t>
            </a:r>
            <a:r>
              <a:rPr sz="1200" b="1" dirty="0">
                <a:latin typeface="Times New Roman"/>
                <a:cs typeface="Times New Roman"/>
              </a:rPr>
              <a:t>registers</a:t>
            </a:r>
            <a:r>
              <a:rPr sz="1200" b="1" spc="-10" dirty="0">
                <a:latin typeface="Times New Roman"/>
                <a:cs typeface="Times New Roman"/>
              </a:rPr>
              <a:t> </a:t>
            </a:r>
            <a:r>
              <a:rPr sz="1200" b="1" dirty="0">
                <a:latin typeface="Times New Roman"/>
                <a:cs typeface="Times New Roman"/>
              </a:rPr>
              <a:t>while</a:t>
            </a:r>
            <a:r>
              <a:rPr sz="1200" b="1" spc="-35" dirty="0">
                <a:latin typeface="Times New Roman"/>
                <a:cs typeface="Times New Roman"/>
              </a:rPr>
              <a:t> </a:t>
            </a:r>
            <a:r>
              <a:rPr sz="1200" b="1" dirty="0">
                <a:latin typeface="Times New Roman"/>
                <a:cs typeface="Times New Roman"/>
              </a:rPr>
              <a:t>it</a:t>
            </a:r>
            <a:r>
              <a:rPr sz="1200" b="1" spc="-20" dirty="0">
                <a:latin typeface="Times New Roman"/>
                <a:cs typeface="Times New Roman"/>
              </a:rPr>
              <a:t> </a:t>
            </a:r>
            <a:r>
              <a:rPr sz="1200" b="1" dirty="0">
                <a:latin typeface="Times New Roman"/>
                <a:cs typeface="Times New Roman"/>
              </a:rPr>
              <a:t>is</a:t>
            </a:r>
            <a:r>
              <a:rPr sz="1200" b="1" spc="-30" dirty="0">
                <a:latin typeface="Times New Roman"/>
                <a:cs typeface="Times New Roman"/>
              </a:rPr>
              <a:t> </a:t>
            </a:r>
            <a:r>
              <a:rPr sz="1200" b="1" spc="-10" dirty="0">
                <a:latin typeface="Times New Roman"/>
                <a:cs typeface="Times New Roman"/>
              </a:rPr>
              <a:t>active. 	</a:t>
            </a:r>
            <a:r>
              <a:rPr sz="1200" b="1" dirty="0">
                <a:latin typeface="Times New Roman"/>
                <a:cs typeface="Times New Roman"/>
              </a:rPr>
              <a:t>This</a:t>
            </a:r>
            <a:r>
              <a:rPr sz="1200" b="1" spc="-45" dirty="0">
                <a:latin typeface="Times New Roman"/>
                <a:cs typeface="Times New Roman"/>
              </a:rPr>
              <a:t> </a:t>
            </a:r>
            <a:r>
              <a:rPr sz="1200" b="1" dirty="0">
                <a:latin typeface="Times New Roman"/>
                <a:cs typeface="Times New Roman"/>
              </a:rPr>
              <a:t>includes</a:t>
            </a:r>
            <a:r>
              <a:rPr sz="1200" b="1" spc="-25" dirty="0">
                <a:latin typeface="Times New Roman"/>
                <a:cs typeface="Times New Roman"/>
              </a:rPr>
              <a:t> </a:t>
            </a:r>
            <a:r>
              <a:rPr sz="1200" b="1" dirty="0">
                <a:latin typeface="Times New Roman"/>
                <a:cs typeface="Times New Roman"/>
              </a:rPr>
              <a:t>10</a:t>
            </a:r>
            <a:r>
              <a:rPr sz="1200" b="1" spc="-20" dirty="0">
                <a:latin typeface="Times New Roman"/>
                <a:cs typeface="Times New Roman"/>
              </a:rPr>
              <a:t> </a:t>
            </a:r>
            <a:r>
              <a:rPr sz="1200" b="1" dirty="0">
                <a:latin typeface="Times New Roman"/>
                <a:cs typeface="Times New Roman"/>
              </a:rPr>
              <a:t>global</a:t>
            </a:r>
            <a:r>
              <a:rPr sz="1200" b="1" spc="-30" dirty="0">
                <a:latin typeface="Times New Roman"/>
                <a:cs typeface="Times New Roman"/>
              </a:rPr>
              <a:t> </a:t>
            </a:r>
            <a:r>
              <a:rPr sz="1200" b="1" dirty="0">
                <a:latin typeface="Times New Roman"/>
                <a:cs typeface="Times New Roman"/>
              </a:rPr>
              <a:t>registers,</a:t>
            </a:r>
            <a:r>
              <a:rPr sz="1200" b="1" spc="-10" dirty="0">
                <a:latin typeface="Times New Roman"/>
                <a:cs typeface="Times New Roman"/>
              </a:rPr>
              <a:t> </a:t>
            </a:r>
            <a:r>
              <a:rPr sz="1200" b="1" dirty="0">
                <a:latin typeface="Times New Roman"/>
                <a:cs typeface="Times New Roman"/>
              </a:rPr>
              <a:t>10</a:t>
            </a:r>
            <a:r>
              <a:rPr sz="1200" b="1" spc="-20" dirty="0">
                <a:latin typeface="Times New Roman"/>
                <a:cs typeface="Times New Roman"/>
              </a:rPr>
              <a:t> </a:t>
            </a:r>
            <a:r>
              <a:rPr sz="1200" b="1" dirty="0">
                <a:latin typeface="Times New Roman"/>
                <a:cs typeface="Times New Roman"/>
              </a:rPr>
              <a:t>local</a:t>
            </a:r>
            <a:r>
              <a:rPr sz="1200" b="1" spc="-20" dirty="0">
                <a:latin typeface="Times New Roman"/>
                <a:cs typeface="Times New Roman"/>
              </a:rPr>
              <a:t> </a:t>
            </a:r>
            <a:r>
              <a:rPr sz="1200" b="1" dirty="0">
                <a:latin typeface="Times New Roman"/>
                <a:cs typeface="Times New Roman"/>
              </a:rPr>
              <a:t>registers,</a:t>
            </a:r>
            <a:r>
              <a:rPr sz="1200" b="1" spc="-15" dirty="0">
                <a:latin typeface="Times New Roman"/>
                <a:cs typeface="Times New Roman"/>
              </a:rPr>
              <a:t> </a:t>
            </a:r>
            <a:r>
              <a:rPr sz="1200" b="1" dirty="0">
                <a:latin typeface="Times New Roman"/>
                <a:cs typeface="Times New Roman"/>
              </a:rPr>
              <a:t>six</a:t>
            </a:r>
            <a:r>
              <a:rPr sz="1200" b="1" spc="-20" dirty="0">
                <a:latin typeface="Times New Roman"/>
                <a:cs typeface="Times New Roman"/>
              </a:rPr>
              <a:t> </a:t>
            </a:r>
            <a:r>
              <a:rPr sz="1200" b="1" dirty="0">
                <a:latin typeface="Times New Roman"/>
                <a:cs typeface="Times New Roman"/>
              </a:rPr>
              <a:t>low</a:t>
            </a:r>
            <a:r>
              <a:rPr sz="1200" b="1" spc="-25" dirty="0">
                <a:latin typeface="Times New Roman"/>
                <a:cs typeface="Times New Roman"/>
              </a:rPr>
              <a:t> </a:t>
            </a:r>
            <a:r>
              <a:rPr sz="1200" b="1" spc="-10" dirty="0">
                <a:latin typeface="Times New Roman"/>
                <a:cs typeface="Times New Roman"/>
              </a:rPr>
              <a:t>overlapping 	</a:t>
            </a:r>
            <a:r>
              <a:rPr sz="1200" b="1" dirty="0">
                <a:latin typeface="Times New Roman"/>
                <a:cs typeface="Times New Roman"/>
              </a:rPr>
              <a:t>registers,</a:t>
            </a:r>
            <a:r>
              <a:rPr sz="1200" b="1" spc="-15" dirty="0">
                <a:latin typeface="Times New Roman"/>
                <a:cs typeface="Times New Roman"/>
              </a:rPr>
              <a:t> </a:t>
            </a:r>
            <a:r>
              <a:rPr sz="1200" b="1" dirty="0">
                <a:latin typeface="Times New Roman"/>
                <a:cs typeface="Times New Roman"/>
              </a:rPr>
              <a:t>and</a:t>
            </a:r>
            <a:r>
              <a:rPr sz="1200" b="1" spc="-20" dirty="0">
                <a:latin typeface="Times New Roman"/>
                <a:cs typeface="Times New Roman"/>
              </a:rPr>
              <a:t> </a:t>
            </a:r>
            <a:r>
              <a:rPr sz="1200" b="1" dirty="0">
                <a:latin typeface="Times New Roman"/>
                <a:cs typeface="Times New Roman"/>
              </a:rPr>
              <a:t>six</a:t>
            </a:r>
            <a:r>
              <a:rPr sz="1200" b="1" spc="-35" dirty="0">
                <a:latin typeface="Times New Roman"/>
                <a:cs typeface="Times New Roman"/>
              </a:rPr>
              <a:t> </a:t>
            </a:r>
            <a:r>
              <a:rPr sz="1200" b="1" dirty="0">
                <a:latin typeface="Times New Roman"/>
                <a:cs typeface="Times New Roman"/>
              </a:rPr>
              <a:t>high</a:t>
            </a:r>
            <a:r>
              <a:rPr sz="1200" b="1" spc="-15" dirty="0">
                <a:latin typeface="Times New Roman"/>
                <a:cs typeface="Times New Roman"/>
              </a:rPr>
              <a:t> </a:t>
            </a:r>
            <a:r>
              <a:rPr sz="1200" b="1" dirty="0">
                <a:latin typeface="Times New Roman"/>
                <a:cs typeface="Times New Roman"/>
              </a:rPr>
              <a:t>overlapping</a:t>
            </a:r>
            <a:r>
              <a:rPr sz="1200" b="1" spc="-45" dirty="0">
                <a:latin typeface="Times New Roman"/>
                <a:cs typeface="Times New Roman"/>
              </a:rPr>
              <a:t> </a:t>
            </a:r>
            <a:r>
              <a:rPr sz="1200" b="1" spc="-10" dirty="0">
                <a:latin typeface="Times New Roman"/>
                <a:cs typeface="Times New Roman"/>
              </a:rPr>
              <a:t>registers.</a:t>
            </a:r>
            <a:endParaRPr sz="12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a:latin typeface="Georgia"/>
              <a:cs typeface="Georgia"/>
            </a:endParaRPr>
          </a:p>
          <a:p>
            <a:pPr marL="434975" marR="711835" indent="-172720">
              <a:lnSpc>
                <a:spcPct val="100000"/>
              </a:lnSpc>
              <a:spcBef>
                <a:spcPts val="1300"/>
              </a:spcBef>
              <a:buClr>
                <a:srgbClr val="3E762B"/>
              </a:buClr>
              <a:buFont typeface="Wingdings"/>
              <a:buChar char=""/>
              <a:tabLst>
                <a:tab pos="436245" algn="l"/>
              </a:tabLst>
            </a:pPr>
            <a:r>
              <a:rPr sz="1200" dirty="0">
                <a:latin typeface="Times New Roman"/>
                <a:cs typeface="Times New Roman"/>
              </a:rPr>
              <a:t>Other</a:t>
            </a:r>
            <a:r>
              <a:rPr sz="1200" spc="-20" dirty="0">
                <a:latin typeface="Times New Roman"/>
                <a:cs typeface="Times New Roman"/>
              </a:rPr>
              <a:t> </a:t>
            </a:r>
            <a:r>
              <a:rPr sz="1200" spc="-10" dirty="0">
                <a:latin typeface="Times New Roman"/>
                <a:cs typeface="Times New Roman"/>
              </a:rPr>
              <a:t>fixed-</a:t>
            </a:r>
            <a:r>
              <a:rPr sz="1200" dirty="0">
                <a:latin typeface="Times New Roman"/>
                <a:cs typeface="Times New Roman"/>
              </a:rPr>
              <a:t>size</a:t>
            </a:r>
            <a:r>
              <a:rPr sz="1200" spc="-50" dirty="0">
                <a:latin typeface="Times New Roman"/>
                <a:cs typeface="Times New Roman"/>
              </a:rPr>
              <a:t> </a:t>
            </a:r>
            <a:r>
              <a:rPr sz="1200" dirty="0">
                <a:latin typeface="Times New Roman"/>
                <a:cs typeface="Times New Roman"/>
              </a:rPr>
              <a:t>register</a:t>
            </a:r>
            <a:r>
              <a:rPr sz="1200" spc="-10" dirty="0">
                <a:latin typeface="Times New Roman"/>
                <a:cs typeface="Times New Roman"/>
              </a:rPr>
              <a:t> </a:t>
            </a:r>
            <a:r>
              <a:rPr sz="1200" dirty="0">
                <a:latin typeface="Times New Roman"/>
                <a:cs typeface="Times New Roman"/>
              </a:rPr>
              <a:t>window</a:t>
            </a:r>
            <a:r>
              <a:rPr sz="1200" spc="-20" dirty="0">
                <a:latin typeface="Times New Roman"/>
                <a:cs typeface="Times New Roman"/>
              </a:rPr>
              <a:t> </a:t>
            </a:r>
            <a:r>
              <a:rPr sz="1200" dirty="0">
                <a:latin typeface="Times New Roman"/>
                <a:cs typeface="Times New Roman"/>
              </a:rPr>
              <a:t>schemes</a:t>
            </a:r>
            <a:r>
              <a:rPr sz="1200" spc="-20" dirty="0">
                <a:latin typeface="Times New Roman"/>
                <a:cs typeface="Times New Roman"/>
              </a:rPr>
              <a:t> </a:t>
            </a:r>
            <a:r>
              <a:rPr sz="1200" dirty="0">
                <a:latin typeface="Times New Roman"/>
                <a:cs typeface="Times New Roman"/>
              </a:rPr>
              <a:t>are</a:t>
            </a:r>
            <a:r>
              <a:rPr sz="1200" spc="-20" dirty="0">
                <a:latin typeface="Times New Roman"/>
                <a:cs typeface="Times New Roman"/>
              </a:rPr>
              <a:t> </a:t>
            </a:r>
            <a:r>
              <a:rPr sz="1200" dirty="0">
                <a:latin typeface="Times New Roman"/>
                <a:cs typeface="Times New Roman"/>
              </a:rPr>
              <a:t>possible,</a:t>
            </a:r>
            <a:r>
              <a:rPr sz="1200" spc="-40" dirty="0">
                <a:latin typeface="Times New Roman"/>
                <a:cs typeface="Times New Roman"/>
              </a:rPr>
              <a:t> </a:t>
            </a:r>
            <a:r>
              <a:rPr sz="1200" dirty="0">
                <a:latin typeface="Times New Roman"/>
                <a:cs typeface="Times New Roman"/>
              </a:rPr>
              <a:t>and</a:t>
            </a:r>
            <a:r>
              <a:rPr sz="1200" spc="-10" dirty="0">
                <a:latin typeface="Times New Roman"/>
                <a:cs typeface="Times New Roman"/>
              </a:rPr>
              <a:t> </a:t>
            </a:r>
            <a:r>
              <a:rPr sz="1200" dirty="0">
                <a:latin typeface="Times New Roman"/>
                <a:cs typeface="Times New Roman"/>
              </a:rPr>
              <a:t>each</a:t>
            </a:r>
            <a:r>
              <a:rPr sz="1200" spc="-25" dirty="0">
                <a:latin typeface="Times New Roman"/>
                <a:cs typeface="Times New Roman"/>
              </a:rPr>
              <a:t> </a:t>
            </a:r>
            <a:r>
              <a:rPr sz="1200" dirty="0">
                <a:latin typeface="Times New Roman"/>
                <a:cs typeface="Times New Roman"/>
              </a:rPr>
              <a:t>may</a:t>
            </a:r>
            <a:r>
              <a:rPr sz="1200" spc="-25" dirty="0">
                <a:latin typeface="Times New Roman"/>
                <a:cs typeface="Times New Roman"/>
              </a:rPr>
              <a:t> </a:t>
            </a:r>
            <a:r>
              <a:rPr sz="1200" spc="-10" dirty="0">
                <a:latin typeface="Times New Roman"/>
                <a:cs typeface="Times New Roman"/>
              </a:rPr>
              <a:t>differ 	</a:t>
            </a:r>
            <a:r>
              <a:rPr sz="1200" dirty="0">
                <a:latin typeface="Times New Roman"/>
                <a:cs typeface="Times New Roman"/>
              </a:rPr>
              <a:t>in</a:t>
            </a:r>
            <a:r>
              <a:rPr sz="1200" spc="-2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size</a:t>
            </a:r>
            <a:r>
              <a:rPr sz="1200" spc="-25"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the</a:t>
            </a:r>
            <a:r>
              <a:rPr sz="1200" spc="-30" dirty="0">
                <a:latin typeface="Times New Roman"/>
                <a:cs typeface="Times New Roman"/>
              </a:rPr>
              <a:t> </a:t>
            </a:r>
            <a:r>
              <a:rPr sz="1200" dirty="0">
                <a:latin typeface="Times New Roman"/>
                <a:cs typeface="Times New Roman"/>
              </a:rPr>
              <a:t>register</a:t>
            </a:r>
            <a:r>
              <a:rPr sz="1200" spc="-15" dirty="0">
                <a:latin typeface="Times New Roman"/>
                <a:cs typeface="Times New Roman"/>
              </a:rPr>
              <a:t> </a:t>
            </a:r>
            <a:r>
              <a:rPr sz="1200" dirty="0">
                <a:latin typeface="Times New Roman"/>
                <a:cs typeface="Times New Roman"/>
              </a:rPr>
              <a:t>window</a:t>
            </a:r>
            <a:r>
              <a:rPr sz="1200" spc="-20" dirty="0">
                <a:latin typeface="Times New Roman"/>
                <a:cs typeface="Times New Roman"/>
              </a:rPr>
              <a:t> </a:t>
            </a:r>
            <a:r>
              <a:rPr sz="1200" dirty="0">
                <a:latin typeface="Times New Roman"/>
                <a:cs typeface="Times New Roman"/>
              </a:rPr>
              <a:t>and</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size</a:t>
            </a:r>
            <a:r>
              <a:rPr sz="1200" spc="-35"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total</a:t>
            </a:r>
            <a:r>
              <a:rPr sz="1200" spc="-30" dirty="0">
                <a:latin typeface="Times New Roman"/>
                <a:cs typeface="Times New Roman"/>
              </a:rPr>
              <a:t> </a:t>
            </a:r>
            <a:r>
              <a:rPr sz="1200" dirty="0">
                <a:latin typeface="Times New Roman"/>
                <a:cs typeface="Times New Roman"/>
              </a:rPr>
              <a:t>register</a:t>
            </a:r>
            <a:r>
              <a:rPr sz="1200" spc="-10" dirty="0">
                <a:latin typeface="Times New Roman"/>
                <a:cs typeface="Times New Roman"/>
              </a:rPr>
              <a:t> </a:t>
            </a:r>
            <a:r>
              <a:rPr sz="1200" dirty="0">
                <a:latin typeface="Times New Roman"/>
                <a:cs typeface="Times New Roman"/>
              </a:rPr>
              <a:t>file.</a:t>
            </a:r>
            <a:r>
              <a:rPr sz="1200" spc="-20" dirty="0">
                <a:latin typeface="Times New Roman"/>
                <a:cs typeface="Times New Roman"/>
              </a:rPr>
              <a:t> </a:t>
            </a:r>
            <a:r>
              <a:rPr sz="1200" spc="-25" dirty="0">
                <a:latin typeface="Times New Roman"/>
                <a:cs typeface="Times New Roman"/>
              </a:rPr>
              <a:t>In 	</a:t>
            </a:r>
            <a:r>
              <a:rPr sz="1200" dirty="0">
                <a:latin typeface="Times New Roman"/>
                <a:cs typeface="Times New Roman"/>
              </a:rPr>
              <a:t>general, the</a:t>
            </a:r>
            <a:r>
              <a:rPr sz="1200" spc="-20" dirty="0">
                <a:latin typeface="Times New Roman"/>
                <a:cs typeface="Times New Roman"/>
              </a:rPr>
              <a:t> </a:t>
            </a:r>
            <a:r>
              <a:rPr sz="1200" spc="-10" dirty="0">
                <a:latin typeface="Times New Roman"/>
                <a:cs typeface="Times New Roman"/>
              </a:rPr>
              <a:t>organization</a:t>
            </a:r>
            <a:r>
              <a:rPr sz="1200" spc="-2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register</a:t>
            </a:r>
            <a:r>
              <a:rPr sz="1200" spc="-10" dirty="0">
                <a:latin typeface="Times New Roman"/>
                <a:cs typeface="Times New Roman"/>
              </a:rPr>
              <a:t> </a:t>
            </a:r>
            <a:r>
              <a:rPr sz="1200" dirty="0">
                <a:latin typeface="Times New Roman"/>
                <a:cs typeface="Times New Roman"/>
              </a:rPr>
              <a:t>windows</a:t>
            </a:r>
            <a:r>
              <a:rPr sz="1200" spc="-20" dirty="0">
                <a:latin typeface="Times New Roman"/>
                <a:cs typeface="Times New Roman"/>
              </a:rPr>
              <a:t> </a:t>
            </a:r>
            <a:r>
              <a:rPr sz="1200" dirty="0">
                <a:latin typeface="Times New Roman"/>
                <a:cs typeface="Times New Roman"/>
              </a:rPr>
              <a:t>has</a:t>
            </a:r>
            <a:r>
              <a:rPr sz="1200" spc="-20" dirty="0">
                <a:latin typeface="Times New Roman"/>
                <a:cs typeface="Times New Roman"/>
              </a:rPr>
              <a:t> </a:t>
            </a:r>
            <a:r>
              <a:rPr sz="1200" dirty="0">
                <a:latin typeface="Times New Roman"/>
                <a:cs typeface="Times New Roman"/>
              </a:rPr>
              <a:t>the</a:t>
            </a:r>
            <a:r>
              <a:rPr sz="1200" spc="-20" dirty="0">
                <a:latin typeface="Times New Roman"/>
                <a:cs typeface="Times New Roman"/>
              </a:rPr>
              <a:t> </a:t>
            </a:r>
            <a:r>
              <a:rPr sz="1200" dirty="0">
                <a:latin typeface="Times New Roman"/>
                <a:cs typeface="Times New Roman"/>
              </a:rPr>
              <a:t>following</a:t>
            </a:r>
            <a:r>
              <a:rPr sz="1200" spc="-25" dirty="0">
                <a:latin typeface="Times New Roman"/>
                <a:cs typeface="Times New Roman"/>
              </a:rPr>
              <a:t> </a:t>
            </a:r>
            <a:r>
              <a:rPr sz="1200" spc="-10" dirty="0">
                <a:latin typeface="Times New Roman"/>
                <a:cs typeface="Times New Roman"/>
              </a:rPr>
              <a:t>relationships:</a:t>
            </a:r>
            <a:endParaRPr sz="1200">
              <a:latin typeface="Times New Roman"/>
              <a:cs typeface="Times New Roman"/>
            </a:endParaRPr>
          </a:p>
          <a:p>
            <a:pPr>
              <a:lnSpc>
                <a:spcPct val="100000"/>
              </a:lnSpc>
              <a:spcBef>
                <a:spcPts val="70"/>
              </a:spcBef>
              <a:buClr>
                <a:srgbClr val="3E762B"/>
              </a:buClr>
              <a:buFont typeface="Wingdings"/>
              <a:buChar char=""/>
            </a:pPr>
            <a:endParaRPr sz="1200">
              <a:latin typeface="Times New Roman"/>
              <a:cs typeface="Times New Roman"/>
            </a:endParaRPr>
          </a:p>
          <a:p>
            <a:pPr marL="773430" lvl="1" indent="-165100">
              <a:lnSpc>
                <a:spcPct val="100000"/>
              </a:lnSpc>
              <a:buClr>
                <a:srgbClr val="3E762B"/>
              </a:buClr>
              <a:buFont typeface="Wingdings"/>
              <a:buChar char=""/>
              <a:tabLst>
                <a:tab pos="773430" algn="l"/>
              </a:tabLst>
            </a:pPr>
            <a:r>
              <a:rPr sz="1200" dirty="0">
                <a:latin typeface="Times New Roman"/>
                <a:cs typeface="Times New Roman"/>
              </a:rPr>
              <a:t>number</a:t>
            </a:r>
            <a:r>
              <a:rPr sz="1200" spc="-40" dirty="0">
                <a:latin typeface="Times New Roman"/>
                <a:cs typeface="Times New Roman"/>
              </a:rPr>
              <a:t> </a:t>
            </a:r>
            <a:r>
              <a:rPr sz="1200" dirty="0">
                <a:latin typeface="Times New Roman"/>
                <a:cs typeface="Times New Roman"/>
              </a:rPr>
              <a:t>of</a:t>
            </a:r>
            <a:r>
              <a:rPr sz="1200" spc="-25" dirty="0">
                <a:latin typeface="Times New Roman"/>
                <a:cs typeface="Times New Roman"/>
              </a:rPr>
              <a:t> </a:t>
            </a:r>
            <a:r>
              <a:rPr sz="1200" dirty="0">
                <a:latin typeface="Times New Roman"/>
                <a:cs typeface="Times New Roman"/>
              </a:rPr>
              <a:t>global</a:t>
            </a:r>
            <a:r>
              <a:rPr sz="1200" spc="-25" dirty="0">
                <a:latin typeface="Times New Roman"/>
                <a:cs typeface="Times New Roman"/>
              </a:rPr>
              <a:t> </a:t>
            </a:r>
            <a:r>
              <a:rPr sz="1200" dirty="0">
                <a:latin typeface="Times New Roman"/>
                <a:cs typeface="Times New Roman"/>
              </a:rPr>
              <a:t>registers</a:t>
            </a:r>
            <a:r>
              <a:rPr sz="1200" spc="-10" dirty="0">
                <a:latin typeface="Times New Roman"/>
                <a:cs typeface="Times New Roman"/>
              </a:rPr>
              <a:t> </a:t>
            </a:r>
            <a:r>
              <a:rPr sz="1200" dirty="0">
                <a:latin typeface="Times New Roman"/>
                <a:cs typeface="Times New Roman"/>
              </a:rPr>
              <a:t>=</a:t>
            </a:r>
            <a:r>
              <a:rPr sz="1200" spc="-35" dirty="0">
                <a:latin typeface="Times New Roman"/>
                <a:cs typeface="Times New Roman"/>
              </a:rPr>
              <a:t> </a:t>
            </a:r>
            <a:r>
              <a:rPr sz="1200" spc="-50" dirty="0">
                <a:latin typeface="Times New Roman"/>
                <a:cs typeface="Times New Roman"/>
              </a:rPr>
              <a:t>G</a:t>
            </a:r>
            <a:endParaRPr sz="1200">
              <a:latin typeface="Times New Roman"/>
              <a:cs typeface="Times New Roman"/>
            </a:endParaRPr>
          </a:p>
          <a:p>
            <a:pPr lvl="1">
              <a:lnSpc>
                <a:spcPct val="100000"/>
              </a:lnSpc>
              <a:spcBef>
                <a:spcPts val="375"/>
              </a:spcBef>
              <a:buClr>
                <a:srgbClr val="3E762B"/>
              </a:buClr>
              <a:buFont typeface="Wingdings"/>
              <a:buChar char=""/>
            </a:pPr>
            <a:endParaRPr sz="1200">
              <a:latin typeface="Times New Roman"/>
              <a:cs typeface="Times New Roman"/>
            </a:endParaRPr>
          </a:p>
          <a:p>
            <a:pPr marL="773430" lvl="1" indent="-165100">
              <a:lnSpc>
                <a:spcPct val="100000"/>
              </a:lnSpc>
              <a:buClr>
                <a:srgbClr val="3E762B"/>
              </a:buClr>
              <a:buFont typeface="Wingdings"/>
              <a:buChar char=""/>
              <a:tabLst>
                <a:tab pos="773430" algn="l"/>
              </a:tabLst>
            </a:pPr>
            <a:r>
              <a:rPr sz="1200" dirty="0">
                <a:latin typeface="Times New Roman"/>
                <a:cs typeface="Times New Roman"/>
              </a:rPr>
              <a:t>number</a:t>
            </a:r>
            <a:r>
              <a:rPr sz="1200" spc="-35"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local</a:t>
            </a:r>
            <a:r>
              <a:rPr sz="1200" spc="-35" dirty="0">
                <a:latin typeface="Times New Roman"/>
                <a:cs typeface="Times New Roman"/>
              </a:rPr>
              <a:t> </a:t>
            </a:r>
            <a:r>
              <a:rPr sz="1200" dirty="0">
                <a:latin typeface="Times New Roman"/>
                <a:cs typeface="Times New Roman"/>
              </a:rPr>
              <a:t>registers</a:t>
            </a:r>
            <a:r>
              <a:rPr sz="1200" spc="-5"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window</a:t>
            </a:r>
            <a:r>
              <a:rPr sz="1200" spc="-15" dirty="0">
                <a:latin typeface="Times New Roman"/>
                <a:cs typeface="Times New Roman"/>
              </a:rPr>
              <a:t> </a:t>
            </a:r>
            <a:r>
              <a:rPr sz="1200" dirty="0">
                <a:latin typeface="Times New Roman"/>
                <a:cs typeface="Times New Roman"/>
              </a:rPr>
              <a:t>=</a:t>
            </a:r>
            <a:r>
              <a:rPr sz="1200" spc="-30" dirty="0">
                <a:latin typeface="Times New Roman"/>
                <a:cs typeface="Times New Roman"/>
              </a:rPr>
              <a:t> </a:t>
            </a:r>
            <a:r>
              <a:rPr sz="1200" spc="-50" dirty="0">
                <a:latin typeface="Times New Roman"/>
                <a:cs typeface="Times New Roman"/>
              </a:rPr>
              <a:t>L</a:t>
            </a:r>
            <a:endParaRPr sz="1200">
              <a:latin typeface="Times New Roman"/>
              <a:cs typeface="Times New Roman"/>
            </a:endParaRPr>
          </a:p>
          <a:p>
            <a:pPr lvl="1">
              <a:lnSpc>
                <a:spcPct val="100000"/>
              </a:lnSpc>
              <a:spcBef>
                <a:spcPts val="370"/>
              </a:spcBef>
              <a:buClr>
                <a:srgbClr val="3E762B"/>
              </a:buClr>
              <a:buFont typeface="Wingdings"/>
              <a:buChar char=""/>
            </a:pPr>
            <a:endParaRPr sz="1200">
              <a:latin typeface="Times New Roman"/>
              <a:cs typeface="Times New Roman"/>
            </a:endParaRPr>
          </a:p>
          <a:p>
            <a:pPr marL="773430" lvl="1" indent="-165100">
              <a:lnSpc>
                <a:spcPct val="100000"/>
              </a:lnSpc>
              <a:buClr>
                <a:srgbClr val="3E762B"/>
              </a:buClr>
              <a:buFont typeface="Wingdings"/>
              <a:buChar char=""/>
              <a:tabLst>
                <a:tab pos="773430" algn="l"/>
              </a:tabLst>
            </a:pP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15"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common</a:t>
            </a:r>
            <a:r>
              <a:rPr sz="1200" spc="-15" dirty="0">
                <a:latin typeface="Times New Roman"/>
                <a:cs typeface="Times New Roman"/>
              </a:rPr>
              <a:t> </a:t>
            </a:r>
            <a:r>
              <a:rPr sz="1200" dirty="0">
                <a:latin typeface="Times New Roman"/>
                <a:cs typeface="Times New Roman"/>
              </a:rPr>
              <a:t>to</a:t>
            </a:r>
            <a:r>
              <a:rPr sz="1200" spc="-30" dirty="0">
                <a:latin typeface="Times New Roman"/>
                <a:cs typeface="Times New Roman"/>
              </a:rPr>
              <a:t> </a:t>
            </a:r>
            <a:r>
              <a:rPr sz="1200" dirty="0">
                <a:latin typeface="Times New Roman"/>
                <a:cs typeface="Times New Roman"/>
              </a:rPr>
              <a:t>two</a:t>
            </a:r>
            <a:r>
              <a:rPr sz="1200" spc="-20" dirty="0">
                <a:latin typeface="Times New Roman"/>
                <a:cs typeface="Times New Roman"/>
              </a:rPr>
              <a:t> </a:t>
            </a:r>
            <a:r>
              <a:rPr sz="1200" dirty="0">
                <a:latin typeface="Times New Roman"/>
                <a:cs typeface="Times New Roman"/>
              </a:rPr>
              <a:t>windows</a:t>
            </a:r>
            <a:r>
              <a:rPr sz="1200" spc="-10" dirty="0">
                <a:latin typeface="Times New Roman"/>
                <a:cs typeface="Times New Roman"/>
              </a:rPr>
              <a:t> </a:t>
            </a:r>
            <a:r>
              <a:rPr sz="1200" dirty="0">
                <a:latin typeface="Times New Roman"/>
                <a:cs typeface="Times New Roman"/>
              </a:rPr>
              <a:t>=</a:t>
            </a:r>
            <a:r>
              <a:rPr sz="1200" spc="-25" dirty="0">
                <a:latin typeface="Times New Roman"/>
                <a:cs typeface="Times New Roman"/>
              </a:rPr>
              <a:t> </a:t>
            </a:r>
            <a:r>
              <a:rPr sz="1200" spc="-50" dirty="0">
                <a:latin typeface="Times New Roman"/>
                <a:cs typeface="Times New Roman"/>
              </a:rPr>
              <a:t>C</a:t>
            </a:r>
            <a:endParaRPr sz="1200">
              <a:latin typeface="Times New Roman"/>
              <a:cs typeface="Times New Roman"/>
            </a:endParaRPr>
          </a:p>
          <a:p>
            <a:pPr lvl="1">
              <a:lnSpc>
                <a:spcPct val="100000"/>
              </a:lnSpc>
              <a:spcBef>
                <a:spcPts val="375"/>
              </a:spcBef>
              <a:buClr>
                <a:srgbClr val="3E762B"/>
              </a:buClr>
              <a:buFont typeface="Wingdings"/>
              <a:buChar char=""/>
            </a:pPr>
            <a:endParaRPr sz="1200">
              <a:latin typeface="Times New Roman"/>
              <a:cs typeface="Times New Roman"/>
            </a:endParaRPr>
          </a:p>
          <a:p>
            <a:pPr marL="773430" lvl="1" indent="-165100">
              <a:lnSpc>
                <a:spcPct val="100000"/>
              </a:lnSpc>
              <a:buClr>
                <a:srgbClr val="3E762B"/>
              </a:buClr>
              <a:buFont typeface="Wingdings"/>
              <a:buChar char=""/>
              <a:tabLst>
                <a:tab pos="773430" algn="l"/>
              </a:tabLst>
            </a:pPr>
            <a:r>
              <a:rPr sz="1200" dirty="0">
                <a:latin typeface="Times New Roman"/>
                <a:cs typeface="Times New Roman"/>
              </a:rPr>
              <a:t>number</a:t>
            </a:r>
            <a:r>
              <a:rPr sz="1200" spc="-25" dirty="0">
                <a:latin typeface="Times New Roman"/>
                <a:cs typeface="Times New Roman"/>
              </a:rPr>
              <a:t> </a:t>
            </a:r>
            <a:r>
              <a:rPr sz="1200" dirty="0">
                <a:latin typeface="Times New Roman"/>
                <a:cs typeface="Times New Roman"/>
              </a:rPr>
              <a:t>of</a:t>
            </a:r>
            <a:r>
              <a:rPr sz="1200" spc="-5" dirty="0">
                <a:latin typeface="Times New Roman"/>
                <a:cs typeface="Times New Roman"/>
              </a:rPr>
              <a:t> </a:t>
            </a:r>
            <a:r>
              <a:rPr sz="1200" dirty="0">
                <a:latin typeface="Times New Roman"/>
                <a:cs typeface="Times New Roman"/>
              </a:rPr>
              <a:t>windows</a:t>
            </a:r>
            <a:r>
              <a:rPr sz="1200" spc="-15" dirty="0">
                <a:latin typeface="Times New Roman"/>
                <a:cs typeface="Times New Roman"/>
              </a:rPr>
              <a:t> </a:t>
            </a:r>
            <a:r>
              <a:rPr sz="1200" dirty="0">
                <a:latin typeface="Times New Roman"/>
                <a:cs typeface="Times New Roman"/>
              </a:rPr>
              <a:t>=</a:t>
            </a:r>
            <a:r>
              <a:rPr sz="1200" spc="-40" dirty="0">
                <a:latin typeface="Times New Roman"/>
                <a:cs typeface="Times New Roman"/>
              </a:rPr>
              <a:t> </a:t>
            </a:r>
            <a:r>
              <a:rPr sz="1200" spc="-50" dirty="0">
                <a:latin typeface="Times New Roman"/>
                <a:cs typeface="Times New Roman"/>
              </a:rPr>
              <a:t>W</a:t>
            </a:r>
            <a:endParaRPr sz="1200">
              <a:latin typeface="Times New Roman"/>
              <a:cs typeface="Times New Roman"/>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Overlapped</a:t>
            </a:r>
            <a:r>
              <a:rPr sz="2200" spc="-80" dirty="0">
                <a:latin typeface="Georgia"/>
                <a:cs typeface="Georgia"/>
              </a:rPr>
              <a:t> </a:t>
            </a:r>
            <a:r>
              <a:rPr sz="2200" dirty="0">
                <a:latin typeface="Georgia"/>
                <a:cs typeface="Georgia"/>
              </a:rPr>
              <a:t>Register</a:t>
            </a:r>
            <a:r>
              <a:rPr sz="2200" spc="-65" dirty="0">
                <a:latin typeface="Georgia"/>
                <a:cs typeface="Georgia"/>
              </a:rPr>
              <a:t> </a:t>
            </a:r>
            <a:r>
              <a:rPr sz="2200" spc="-10" dirty="0">
                <a:latin typeface="Georgia"/>
                <a:cs typeface="Georgia"/>
              </a:rPr>
              <a:t>Windows</a:t>
            </a:r>
            <a:endParaRPr sz="2200">
              <a:latin typeface="Georgia"/>
              <a:cs typeface="Georgia"/>
            </a:endParaRPr>
          </a:p>
          <a:p>
            <a:pPr marL="434975" marR="770255" indent="-171450">
              <a:lnSpc>
                <a:spcPct val="100000"/>
              </a:lnSpc>
              <a:spcBef>
                <a:spcPts val="1300"/>
              </a:spcBef>
              <a:buClr>
                <a:srgbClr val="3E762B"/>
              </a:buClr>
              <a:buFont typeface="Wingdings"/>
              <a:buChar char=""/>
              <a:tabLst>
                <a:tab pos="436245" algn="l"/>
              </a:tabLst>
            </a:pP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available</a:t>
            </a:r>
            <a:r>
              <a:rPr sz="1200" spc="-25" dirty="0">
                <a:latin typeface="Times New Roman"/>
                <a:cs typeface="Times New Roman"/>
              </a:rPr>
              <a:t> </a:t>
            </a:r>
            <a:r>
              <a:rPr sz="1200" dirty="0">
                <a:latin typeface="Times New Roman"/>
                <a:cs typeface="Times New Roman"/>
              </a:rPr>
              <a:t>for</a:t>
            </a:r>
            <a:r>
              <a:rPr sz="1200" spc="-15" dirty="0">
                <a:latin typeface="Times New Roman"/>
                <a:cs typeface="Times New Roman"/>
              </a:rPr>
              <a:t> </a:t>
            </a:r>
            <a:r>
              <a:rPr sz="1200" dirty="0">
                <a:latin typeface="Times New Roman"/>
                <a:cs typeface="Times New Roman"/>
              </a:rPr>
              <a:t>each</a:t>
            </a:r>
            <a:r>
              <a:rPr sz="1200" spc="-15" dirty="0">
                <a:latin typeface="Times New Roman"/>
                <a:cs typeface="Times New Roman"/>
              </a:rPr>
              <a:t> </a:t>
            </a:r>
            <a:r>
              <a:rPr sz="1200" dirty="0">
                <a:latin typeface="Times New Roman"/>
                <a:cs typeface="Times New Roman"/>
              </a:rPr>
              <a:t>window</a:t>
            </a:r>
            <a:r>
              <a:rPr sz="1200" spc="-20" dirty="0">
                <a:latin typeface="Times New Roman"/>
                <a:cs typeface="Times New Roman"/>
              </a:rPr>
              <a:t> </a:t>
            </a:r>
            <a:r>
              <a:rPr sz="1200" spc="-10" dirty="0">
                <a:latin typeface="Times New Roman"/>
                <a:cs typeface="Times New Roman"/>
              </a:rPr>
              <a:t>(procedure) </a:t>
            </a:r>
            <a:r>
              <a:rPr sz="1200" dirty="0">
                <a:latin typeface="Times New Roman"/>
                <a:cs typeface="Times New Roman"/>
              </a:rPr>
              <a:t>is</a:t>
            </a:r>
            <a:r>
              <a:rPr sz="1200" spc="-20" dirty="0">
                <a:latin typeface="Times New Roman"/>
                <a:cs typeface="Times New Roman"/>
              </a:rPr>
              <a:t> </a:t>
            </a:r>
            <a:r>
              <a:rPr sz="1200" spc="-10" dirty="0">
                <a:latin typeface="Times New Roman"/>
                <a:cs typeface="Times New Roman"/>
              </a:rPr>
              <a:t>calculated 	</a:t>
            </a:r>
            <a:r>
              <a:rPr sz="1200" dirty="0">
                <a:latin typeface="Times New Roman"/>
                <a:cs typeface="Times New Roman"/>
              </a:rPr>
              <a:t>as</a:t>
            </a:r>
            <a:r>
              <a:rPr sz="1200" spc="-15" dirty="0">
                <a:latin typeface="Times New Roman"/>
                <a:cs typeface="Times New Roman"/>
              </a:rPr>
              <a:t> </a:t>
            </a:r>
            <a:r>
              <a:rPr sz="1200" spc="-10" dirty="0">
                <a:latin typeface="Times New Roman"/>
                <a:cs typeface="Times New Roman"/>
              </a:rPr>
              <a:t>follows:</a:t>
            </a:r>
            <a:endParaRPr sz="1200">
              <a:latin typeface="Times New Roman"/>
              <a:cs typeface="Times New Roman"/>
            </a:endParaRPr>
          </a:p>
          <a:p>
            <a:pPr marL="1404620" lvl="1" indent="-172720">
              <a:lnSpc>
                <a:spcPct val="100000"/>
              </a:lnSpc>
              <a:spcBef>
                <a:spcPts val="600"/>
              </a:spcBef>
              <a:buClr>
                <a:srgbClr val="3E762B"/>
              </a:buClr>
              <a:buFont typeface="Wingdings"/>
              <a:buChar char=""/>
              <a:tabLst>
                <a:tab pos="1404620" algn="l"/>
              </a:tabLst>
            </a:pPr>
            <a:r>
              <a:rPr sz="1200" dirty="0">
                <a:latin typeface="Times New Roman"/>
                <a:cs typeface="Times New Roman"/>
              </a:rPr>
              <a:t>window</a:t>
            </a:r>
            <a:r>
              <a:rPr sz="1200" spc="-5" dirty="0">
                <a:latin typeface="Times New Roman"/>
                <a:cs typeface="Times New Roman"/>
              </a:rPr>
              <a:t> </a:t>
            </a:r>
            <a:r>
              <a:rPr sz="1200" dirty="0">
                <a:latin typeface="Times New Roman"/>
                <a:cs typeface="Times New Roman"/>
              </a:rPr>
              <a:t>size</a:t>
            </a:r>
            <a:r>
              <a:rPr sz="1200" spc="-1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L</a:t>
            </a:r>
            <a:r>
              <a:rPr sz="1200" spc="-6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2C</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50" dirty="0">
                <a:latin typeface="Times New Roman"/>
                <a:cs typeface="Times New Roman"/>
              </a:rPr>
              <a:t>G</a:t>
            </a:r>
            <a:endParaRPr sz="1200">
              <a:latin typeface="Times New Roman"/>
              <a:cs typeface="Times New Roman"/>
            </a:endParaRPr>
          </a:p>
          <a:p>
            <a:pPr lvl="1">
              <a:lnSpc>
                <a:spcPct val="100000"/>
              </a:lnSpc>
              <a:spcBef>
                <a:spcPts val="420"/>
              </a:spcBef>
              <a:buClr>
                <a:srgbClr val="3E762B"/>
              </a:buClr>
              <a:buFont typeface="Wingdings"/>
              <a:buChar char=""/>
            </a:pPr>
            <a:endParaRPr sz="1200">
              <a:latin typeface="Times New Roman"/>
              <a:cs typeface="Times New Roman"/>
            </a:endParaRPr>
          </a:p>
          <a:p>
            <a:pPr marL="435609" indent="-171450">
              <a:lnSpc>
                <a:spcPct val="100000"/>
              </a:lnSpc>
              <a:buClr>
                <a:srgbClr val="3E762B"/>
              </a:buClr>
              <a:buFont typeface="Wingdings"/>
              <a:buChar char=""/>
              <a:tabLst>
                <a:tab pos="435609" algn="l"/>
              </a:tabLst>
            </a:pP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total</a:t>
            </a:r>
            <a:r>
              <a:rPr sz="1200" spc="-40" dirty="0">
                <a:latin typeface="Times New Roman"/>
                <a:cs typeface="Times New Roman"/>
              </a:rPr>
              <a:t> </a:t>
            </a:r>
            <a:r>
              <a:rPr sz="1200" dirty="0">
                <a:latin typeface="Times New Roman"/>
                <a:cs typeface="Times New Roman"/>
              </a:rPr>
              <a:t>number</a:t>
            </a:r>
            <a:r>
              <a:rPr sz="1200" spc="-30" dirty="0">
                <a:latin typeface="Times New Roman"/>
                <a:cs typeface="Times New Roman"/>
              </a:rPr>
              <a:t> </a:t>
            </a:r>
            <a:r>
              <a:rPr sz="1200" dirty="0">
                <a:latin typeface="Times New Roman"/>
                <a:cs typeface="Times New Roman"/>
              </a:rPr>
              <a:t>of</a:t>
            </a:r>
            <a:r>
              <a:rPr sz="1200" spc="-30" dirty="0">
                <a:latin typeface="Times New Roman"/>
                <a:cs typeface="Times New Roman"/>
              </a:rPr>
              <a:t> </a:t>
            </a:r>
            <a:r>
              <a:rPr sz="1200" dirty="0">
                <a:latin typeface="Times New Roman"/>
                <a:cs typeface="Times New Roman"/>
              </a:rPr>
              <a:t>registers</a:t>
            </a:r>
            <a:r>
              <a:rPr sz="1200" spc="-25" dirty="0">
                <a:latin typeface="Times New Roman"/>
                <a:cs typeface="Times New Roman"/>
              </a:rPr>
              <a:t> </a:t>
            </a:r>
            <a:r>
              <a:rPr sz="1200" dirty="0">
                <a:latin typeface="Times New Roman"/>
                <a:cs typeface="Times New Roman"/>
              </a:rPr>
              <a:t>needed</a:t>
            </a:r>
            <a:r>
              <a:rPr sz="1200" spc="-20" dirty="0">
                <a:latin typeface="Times New Roman"/>
                <a:cs typeface="Times New Roman"/>
              </a:rPr>
              <a:t> </a:t>
            </a:r>
            <a:r>
              <a:rPr sz="1200" dirty="0">
                <a:latin typeface="Times New Roman"/>
                <a:cs typeface="Times New Roman"/>
              </a:rPr>
              <a:t>in</a:t>
            </a:r>
            <a:r>
              <a:rPr sz="1200" spc="-3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processor</a:t>
            </a:r>
            <a:r>
              <a:rPr sz="1200" spc="-25" dirty="0">
                <a:latin typeface="Times New Roman"/>
                <a:cs typeface="Times New Roman"/>
              </a:rPr>
              <a:t> is</a:t>
            </a:r>
            <a:endParaRPr sz="1200">
              <a:latin typeface="Times New Roman"/>
              <a:cs typeface="Times New Roman"/>
            </a:endParaRPr>
          </a:p>
          <a:p>
            <a:pPr marL="1398905" lvl="1" indent="-167005">
              <a:lnSpc>
                <a:spcPct val="100000"/>
              </a:lnSpc>
              <a:spcBef>
                <a:spcPts val="1260"/>
              </a:spcBef>
              <a:buClr>
                <a:srgbClr val="3E762B"/>
              </a:buClr>
              <a:buFont typeface="Wingdings"/>
              <a:buChar char=""/>
              <a:tabLst>
                <a:tab pos="1398905" algn="l"/>
              </a:tabLst>
            </a:pPr>
            <a:r>
              <a:rPr sz="1200" dirty="0">
                <a:latin typeface="Times New Roman"/>
                <a:cs typeface="Times New Roman"/>
              </a:rPr>
              <a:t>register</a:t>
            </a:r>
            <a:r>
              <a:rPr sz="1200" spc="-10" dirty="0">
                <a:latin typeface="Times New Roman"/>
                <a:cs typeface="Times New Roman"/>
              </a:rPr>
              <a:t> </a:t>
            </a:r>
            <a:r>
              <a:rPr sz="1200" dirty="0">
                <a:latin typeface="Times New Roman"/>
                <a:cs typeface="Times New Roman"/>
              </a:rPr>
              <a:t>file</a:t>
            </a:r>
            <a:r>
              <a:rPr sz="1200" spc="-2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(L</a:t>
            </a:r>
            <a:r>
              <a:rPr sz="1200" spc="-6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C)</a:t>
            </a:r>
            <a:r>
              <a:rPr sz="1200" spc="-35" dirty="0">
                <a:latin typeface="Times New Roman"/>
                <a:cs typeface="Times New Roman"/>
              </a:rPr>
              <a:t> </a:t>
            </a:r>
            <a:r>
              <a:rPr sz="1200" dirty="0">
                <a:latin typeface="Times New Roman"/>
                <a:cs typeface="Times New Roman"/>
              </a:rPr>
              <a:t>W</a:t>
            </a:r>
            <a:r>
              <a:rPr sz="1200" spc="-40"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spc="-50" dirty="0">
                <a:latin typeface="Times New Roman"/>
                <a:cs typeface="Times New Roman"/>
              </a:rPr>
              <a:t>G</a:t>
            </a:r>
            <a:endParaRPr sz="1200">
              <a:latin typeface="Times New Roman"/>
              <a:cs typeface="Times New Roman"/>
            </a:endParaRPr>
          </a:p>
          <a:p>
            <a:pPr>
              <a:lnSpc>
                <a:spcPct val="100000"/>
              </a:lnSpc>
              <a:spcBef>
                <a:spcPts val="1260"/>
              </a:spcBef>
            </a:pPr>
            <a:endParaRPr sz="1200">
              <a:latin typeface="Times New Roman"/>
              <a:cs typeface="Times New Roman"/>
            </a:endParaRPr>
          </a:p>
          <a:p>
            <a:pPr marL="433705" indent="-171450">
              <a:lnSpc>
                <a:spcPct val="100000"/>
              </a:lnSpc>
              <a:buClr>
                <a:srgbClr val="3E762B"/>
              </a:buClr>
              <a:buFont typeface="Wingdings"/>
              <a:buChar char=""/>
              <a:tabLst>
                <a:tab pos="433705" algn="l"/>
              </a:tabLst>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the</a:t>
            </a:r>
            <a:r>
              <a:rPr sz="1200" spc="-10" dirty="0">
                <a:latin typeface="Times New Roman"/>
                <a:cs typeface="Times New Roman"/>
              </a:rPr>
              <a:t> </a:t>
            </a:r>
            <a:r>
              <a:rPr sz="1200" dirty="0">
                <a:latin typeface="Times New Roman"/>
                <a:cs typeface="Times New Roman"/>
              </a:rPr>
              <a:t>example:</a:t>
            </a:r>
            <a:r>
              <a:rPr sz="1200" spc="-20" dirty="0">
                <a:latin typeface="Times New Roman"/>
                <a:cs typeface="Times New Roman"/>
              </a:rPr>
              <a:t> </a:t>
            </a:r>
            <a:r>
              <a:rPr sz="1200" dirty="0">
                <a:latin typeface="Times New Roman"/>
                <a:cs typeface="Times New Roman"/>
              </a:rPr>
              <a:t>G</a:t>
            </a:r>
            <a:r>
              <a:rPr sz="1200" spc="-10"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L</a:t>
            </a:r>
            <a:r>
              <a:rPr sz="1200" spc="-45" dirty="0">
                <a:latin typeface="Times New Roman"/>
                <a:cs typeface="Times New Roman"/>
              </a:rPr>
              <a:t> </a:t>
            </a:r>
            <a:r>
              <a:rPr sz="1200" dirty="0">
                <a:latin typeface="Times New Roman"/>
                <a:cs typeface="Times New Roman"/>
              </a:rPr>
              <a:t>=</a:t>
            </a:r>
            <a:r>
              <a:rPr sz="1200" spc="-1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C</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6,</a:t>
            </a:r>
            <a:r>
              <a:rPr sz="1200" spc="-35" dirty="0">
                <a:latin typeface="Times New Roman"/>
                <a:cs typeface="Times New Roman"/>
              </a:rPr>
              <a:t> </a:t>
            </a:r>
            <a:r>
              <a:rPr sz="1200" dirty="0">
                <a:latin typeface="Times New Roman"/>
                <a:cs typeface="Times New Roman"/>
              </a:rPr>
              <a:t>W</a:t>
            </a:r>
            <a:r>
              <a:rPr sz="1200" spc="-3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25" dirty="0">
                <a:latin typeface="Times New Roman"/>
                <a:cs typeface="Times New Roman"/>
              </a:rPr>
              <a:t>4.</a:t>
            </a:r>
            <a:endParaRPr sz="1200">
              <a:latin typeface="Times New Roman"/>
              <a:cs typeface="Times New Roman"/>
            </a:endParaRPr>
          </a:p>
          <a:p>
            <a:pPr marL="773430" lvl="1" indent="-165100">
              <a:lnSpc>
                <a:spcPct val="100000"/>
              </a:lnSpc>
              <a:spcBef>
                <a:spcPts val="600"/>
              </a:spcBef>
              <a:buClr>
                <a:srgbClr val="3E762B"/>
              </a:buClr>
              <a:buFont typeface="Wingdings"/>
              <a:buChar char=""/>
              <a:tabLst>
                <a:tab pos="773430" algn="l"/>
              </a:tabLst>
            </a:pPr>
            <a:r>
              <a:rPr sz="1200" dirty="0">
                <a:latin typeface="Times New Roman"/>
                <a:cs typeface="Times New Roman"/>
              </a:rPr>
              <a:t>window</a:t>
            </a:r>
            <a:r>
              <a:rPr sz="1200" spc="-5" dirty="0">
                <a:latin typeface="Times New Roman"/>
                <a:cs typeface="Times New Roman"/>
              </a:rPr>
              <a:t> </a:t>
            </a:r>
            <a:r>
              <a:rPr sz="1200" dirty="0">
                <a:latin typeface="Times New Roman"/>
                <a:cs typeface="Times New Roman"/>
              </a:rPr>
              <a:t>size</a:t>
            </a:r>
            <a:r>
              <a:rPr sz="1200" spc="-5" dirty="0">
                <a:latin typeface="Times New Roman"/>
                <a:cs typeface="Times New Roman"/>
              </a:rPr>
              <a:t> </a:t>
            </a:r>
            <a:r>
              <a:rPr sz="1200" dirty="0">
                <a:latin typeface="Times New Roman"/>
                <a:cs typeface="Times New Roman"/>
              </a:rPr>
              <a:t>is</a:t>
            </a:r>
            <a:r>
              <a:rPr sz="1200" spc="-10" dirty="0">
                <a:latin typeface="Times New Roman"/>
                <a:cs typeface="Times New Roman"/>
              </a:rPr>
              <a:t> </a:t>
            </a:r>
            <a:r>
              <a:rPr sz="1200" dirty="0">
                <a:latin typeface="Times New Roman"/>
                <a:cs typeface="Times New Roman"/>
              </a:rPr>
              <a:t>10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12 +</a:t>
            </a:r>
            <a:r>
              <a:rPr sz="1200" spc="-5" dirty="0">
                <a:latin typeface="Times New Roman"/>
                <a:cs typeface="Times New Roman"/>
              </a:rPr>
              <a:t> </a:t>
            </a:r>
            <a:r>
              <a:rPr sz="1200" dirty="0">
                <a:latin typeface="Times New Roman"/>
                <a:cs typeface="Times New Roman"/>
              </a:rPr>
              <a:t>10</a:t>
            </a:r>
            <a:r>
              <a:rPr sz="1200" spc="-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32 </a:t>
            </a:r>
            <a:r>
              <a:rPr sz="1200" spc="-10" dirty="0">
                <a:latin typeface="Times New Roman"/>
                <a:cs typeface="Times New Roman"/>
              </a:rPr>
              <a:t>registers</a:t>
            </a:r>
            <a:endParaRPr sz="1200">
              <a:latin typeface="Times New Roman"/>
              <a:cs typeface="Times New Roman"/>
            </a:endParaRPr>
          </a:p>
          <a:p>
            <a:pPr marL="773430" lvl="1" indent="-165100">
              <a:lnSpc>
                <a:spcPct val="100000"/>
              </a:lnSpc>
              <a:spcBef>
                <a:spcPts val="600"/>
              </a:spcBef>
              <a:buClr>
                <a:srgbClr val="3E762B"/>
              </a:buClr>
              <a:buFont typeface="Wingdings"/>
              <a:buChar char=""/>
              <a:tabLst>
                <a:tab pos="773430" algn="l"/>
              </a:tabLst>
            </a:pPr>
            <a:r>
              <a:rPr sz="1200" dirty="0">
                <a:latin typeface="Times New Roman"/>
                <a:cs typeface="Times New Roman"/>
              </a:rPr>
              <a:t>register</a:t>
            </a:r>
            <a:r>
              <a:rPr sz="1200" spc="-5" dirty="0">
                <a:latin typeface="Times New Roman"/>
                <a:cs typeface="Times New Roman"/>
              </a:rPr>
              <a:t> </a:t>
            </a:r>
            <a:r>
              <a:rPr sz="1200" dirty="0">
                <a:latin typeface="Times New Roman"/>
                <a:cs typeface="Times New Roman"/>
              </a:rPr>
              <a:t>file</a:t>
            </a:r>
            <a:r>
              <a:rPr sz="1200" spc="-1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(10</a:t>
            </a:r>
            <a:r>
              <a:rPr sz="1200" spc="-5" dirty="0">
                <a:latin typeface="Times New Roman"/>
                <a:cs typeface="Times New Roman"/>
              </a:rPr>
              <a:t> </a:t>
            </a:r>
            <a:r>
              <a:rPr sz="1200" dirty="0">
                <a:latin typeface="Times New Roman"/>
                <a:cs typeface="Times New Roman"/>
              </a:rPr>
              <a:t>+</a:t>
            </a:r>
            <a:r>
              <a:rPr sz="1200" spc="-20" dirty="0">
                <a:latin typeface="Times New Roman"/>
                <a:cs typeface="Times New Roman"/>
              </a:rPr>
              <a:t> </a:t>
            </a:r>
            <a:r>
              <a:rPr sz="1200" dirty="0">
                <a:latin typeface="Times New Roman"/>
                <a:cs typeface="Times New Roman"/>
              </a:rPr>
              <a:t>6)</a:t>
            </a:r>
            <a:r>
              <a:rPr sz="1200" spc="-10" dirty="0">
                <a:latin typeface="Times New Roman"/>
                <a:cs typeface="Times New Roman"/>
              </a:rPr>
              <a:t> </a:t>
            </a:r>
            <a:r>
              <a:rPr sz="1200" dirty="0">
                <a:latin typeface="Times New Roman"/>
                <a:cs typeface="Times New Roman"/>
              </a:rPr>
              <a:t>x</a:t>
            </a:r>
            <a:r>
              <a:rPr sz="1200" spc="-10" dirty="0">
                <a:latin typeface="Times New Roman"/>
                <a:cs typeface="Times New Roman"/>
              </a:rPr>
              <a:t> </a:t>
            </a:r>
            <a:r>
              <a:rPr sz="1200" dirty="0">
                <a:latin typeface="Times New Roman"/>
                <a:cs typeface="Times New Roman"/>
              </a:rPr>
              <a:t>4</a:t>
            </a:r>
            <a:r>
              <a:rPr sz="1200" spc="-10"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dirty="0">
                <a:latin typeface="Times New Roman"/>
                <a:cs typeface="Times New Roman"/>
              </a:rPr>
              <a:t>10</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74</a:t>
            </a:r>
            <a:r>
              <a:rPr sz="1200" spc="-10" dirty="0">
                <a:latin typeface="Times New Roman"/>
                <a:cs typeface="Times New Roman"/>
              </a:rPr>
              <a:t> registers.</a:t>
            </a:r>
            <a:endParaRPr sz="12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Registers</a:t>
            </a:r>
            <a:endParaRPr sz="2200">
              <a:latin typeface="Georgia"/>
              <a:cs typeface="Georgia"/>
            </a:endParaRPr>
          </a:p>
          <a:p>
            <a:pPr marL="431800" indent="-169545">
              <a:lnSpc>
                <a:spcPct val="100000"/>
              </a:lnSpc>
              <a:spcBef>
                <a:spcPts val="1845"/>
              </a:spcBef>
              <a:buClr>
                <a:srgbClr val="3E762B"/>
              </a:buClr>
              <a:buFont typeface="Wingdings"/>
              <a:buChar char=""/>
              <a:tabLst>
                <a:tab pos="431800" algn="l"/>
              </a:tabLst>
            </a:pP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Basic</a:t>
            </a:r>
            <a:r>
              <a:rPr sz="1200" spc="-15" dirty="0">
                <a:latin typeface="Times New Roman"/>
                <a:cs typeface="Times New Roman"/>
              </a:rPr>
              <a:t> </a:t>
            </a:r>
            <a:r>
              <a:rPr sz="1200" spc="-10" dirty="0">
                <a:latin typeface="Times New Roman"/>
                <a:cs typeface="Times New Roman"/>
              </a:rPr>
              <a:t>Computer,</a:t>
            </a:r>
            <a:r>
              <a:rPr sz="1200" spc="-15" dirty="0">
                <a:latin typeface="Times New Roman"/>
                <a:cs typeface="Times New Roman"/>
              </a:rPr>
              <a:t> </a:t>
            </a:r>
            <a:r>
              <a:rPr sz="1200" dirty="0">
                <a:latin typeface="Times New Roman"/>
                <a:cs typeface="Times New Roman"/>
              </a:rPr>
              <a:t>there</a:t>
            </a:r>
            <a:r>
              <a:rPr sz="1200" spc="-25" dirty="0">
                <a:latin typeface="Times New Roman"/>
                <a:cs typeface="Times New Roman"/>
              </a:rPr>
              <a:t> </a:t>
            </a:r>
            <a:r>
              <a:rPr sz="1200" dirty="0">
                <a:latin typeface="Times New Roman"/>
                <a:cs typeface="Times New Roman"/>
              </a:rPr>
              <a:t>is</a:t>
            </a:r>
            <a:r>
              <a:rPr sz="1200" spc="-20" dirty="0">
                <a:latin typeface="Times New Roman"/>
                <a:cs typeface="Times New Roman"/>
              </a:rPr>
              <a:t> </a:t>
            </a:r>
            <a:r>
              <a:rPr sz="1200" dirty="0">
                <a:latin typeface="Times New Roman"/>
                <a:cs typeface="Times New Roman"/>
              </a:rPr>
              <a:t>only</a:t>
            </a:r>
            <a:r>
              <a:rPr sz="1200" spc="-35" dirty="0">
                <a:latin typeface="Times New Roman"/>
                <a:cs typeface="Times New Roman"/>
              </a:rPr>
              <a:t> </a:t>
            </a:r>
            <a:r>
              <a:rPr sz="1200" dirty="0">
                <a:latin typeface="Times New Roman"/>
                <a:cs typeface="Times New Roman"/>
              </a:rPr>
              <a:t>one</a:t>
            </a:r>
            <a:r>
              <a:rPr sz="1200" spc="-15" dirty="0">
                <a:latin typeface="Times New Roman"/>
                <a:cs typeface="Times New Roman"/>
              </a:rPr>
              <a:t> </a:t>
            </a:r>
            <a:r>
              <a:rPr sz="1200" dirty="0">
                <a:latin typeface="Times New Roman"/>
                <a:cs typeface="Times New Roman"/>
              </a:rPr>
              <a:t>general</a:t>
            </a:r>
            <a:r>
              <a:rPr sz="1200" spc="-10" dirty="0">
                <a:latin typeface="Times New Roman"/>
                <a:cs typeface="Times New Roman"/>
              </a:rPr>
              <a:t> </a:t>
            </a:r>
            <a:r>
              <a:rPr sz="1200" dirty="0">
                <a:latin typeface="Times New Roman"/>
                <a:cs typeface="Times New Roman"/>
              </a:rPr>
              <a:t>purpose</a:t>
            </a:r>
            <a:r>
              <a:rPr sz="1200" spc="-15" dirty="0">
                <a:latin typeface="Times New Roman"/>
                <a:cs typeface="Times New Roman"/>
              </a:rPr>
              <a:t> </a:t>
            </a:r>
            <a:r>
              <a:rPr sz="1200" spc="-10" dirty="0">
                <a:latin typeface="Times New Roman"/>
                <a:cs typeface="Times New Roman"/>
              </a:rPr>
              <a:t>register,</a:t>
            </a:r>
            <a:r>
              <a:rPr sz="1200" dirty="0">
                <a:latin typeface="Times New Roman"/>
                <a:cs typeface="Times New Roman"/>
              </a:rPr>
              <a:t> </a:t>
            </a:r>
            <a:r>
              <a:rPr sz="1200" spc="-10" dirty="0">
                <a:latin typeface="Times New Roman"/>
                <a:cs typeface="Times New Roman"/>
              </a:rPr>
              <a:t>the</a:t>
            </a:r>
            <a:r>
              <a:rPr sz="1200" spc="-75" dirty="0">
                <a:latin typeface="Times New Roman"/>
                <a:cs typeface="Times New Roman"/>
              </a:rPr>
              <a:t> </a:t>
            </a:r>
            <a:r>
              <a:rPr sz="1200" spc="-10" dirty="0">
                <a:latin typeface="Times New Roman"/>
                <a:cs typeface="Times New Roman"/>
              </a:rPr>
              <a:t>Accumulator</a:t>
            </a:r>
            <a:r>
              <a:rPr sz="1200" spc="-20" dirty="0">
                <a:latin typeface="Times New Roman"/>
                <a:cs typeface="Times New Roman"/>
              </a:rPr>
              <a:t> (AC)</a:t>
            </a:r>
            <a:endParaRPr sz="1200">
              <a:latin typeface="Times New Roman"/>
              <a:cs typeface="Times New Roman"/>
            </a:endParaRPr>
          </a:p>
          <a:p>
            <a:pPr marL="431800" indent="-169545">
              <a:lnSpc>
                <a:spcPct val="100000"/>
              </a:lnSpc>
              <a:spcBef>
                <a:spcPts val="1200"/>
              </a:spcBef>
              <a:buClr>
                <a:srgbClr val="3E762B"/>
              </a:buClr>
              <a:buFont typeface="Wingdings"/>
              <a:buChar char=""/>
              <a:tabLst>
                <a:tab pos="431800" algn="l"/>
              </a:tabLst>
            </a:pPr>
            <a:r>
              <a:rPr sz="1200" dirty="0">
                <a:latin typeface="Times New Roman"/>
                <a:cs typeface="Times New Roman"/>
              </a:rPr>
              <a:t>In</a:t>
            </a:r>
            <a:r>
              <a:rPr sz="1200" spc="-10" dirty="0">
                <a:latin typeface="Times New Roman"/>
                <a:cs typeface="Times New Roman"/>
              </a:rPr>
              <a:t> </a:t>
            </a:r>
            <a:r>
              <a:rPr sz="1200" dirty="0">
                <a:latin typeface="Times New Roman"/>
                <a:cs typeface="Times New Roman"/>
              </a:rPr>
              <a:t>modern</a:t>
            </a:r>
            <a:r>
              <a:rPr sz="1200" spc="-15" dirty="0">
                <a:latin typeface="Times New Roman"/>
                <a:cs typeface="Times New Roman"/>
              </a:rPr>
              <a:t> </a:t>
            </a:r>
            <a:r>
              <a:rPr sz="1200" dirty="0">
                <a:latin typeface="Times New Roman"/>
                <a:cs typeface="Times New Roman"/>
              </a:rPr>
              <a:t>CPUs,</a:t>
            </a:r>
            <a:r>
              <a:rPr sz="1200" spc="-40" dirty="0">
                <a:latin typeface="Times New Roman"/>
                <a:cs typeface="Times New Roman"/>
              </a:rPr>
              <a:t> </a:t>
            </a:r>
            <a:r>
              <a:rPr sz="1200" dirty="0">
                <a:latin typeface="Times New Roman"/>
                <a:cs typeface="Times New Roman"/>
              </a:rPr>
              <a:t>there</a:t>
            </a:r>
            <a:r>
              <a:rPr sz="1200" spc="-20" dirty="0">
                <a:latin typeface="Times New Roman"/>
                <a:cs typeface="Times New Roman"/>
              </a:rPr>
              <a:t> </a:t>
            </a:r>
            <a:r>
              <a:rPr sz="1200" dirty="0">
                <a:latin typeface="Times New Roman"/>
                <a:cs typeface="Times New Roman"/>
              </a:rPr>
              <a:t>are</a:t>
            </a:r>
            <a:r>
              <a:rPr sz="1200" spc="-25" dirty="0">
                <a:latin typeface="Times New Roman"/>
                <a:cs typeface="Times New Roman"/>
              </a:rPr>
              <a:t> </a:t>
            </a:r>
            <a:r>
              <a:rPr sz="1200" dirty="0">
                <a:latin typeface="Times New Roman"/>
                <a:cs typeface="Times New Roman"/>
              </a:rPr>
              <a:t>many</a:t>
            </a:r>
            <a:r>
              <a:rPr sz="1200" spc="-30" dirty="0">
                <a:latin typeface="Times New Roman"/>
                <a:cs typeface="Times New Roman"/>
              </a:rPr>
              <a:t> </a:t>
            </a:r>
            <a:r>
              <a:rPr sz="1200" spc="-10" dirty="0">
                <a:latin typeface="Times New Roman"/>
                <a:cs typeface="Times New Roman"/>
              </a:rPr>
              <a:t>general-</a:t>
            </a:r>
            <a:r>
              <a:rPr sz="1200" dirty="0">
                <a:latin typeface="Times New Roman"/>
                <a:cs typeface="Times New Roman"/>
              </a:rPr>
              <a:t>purpose</a:t>
            </a:r>
            <a:r>
              <a:rPr sz="1200" spc="-15" dirty="0">
                <a:latin typeface="Times New Roman"/>
                <a:cs typeface="Times New Roman"/>
              </a:rPr>
              <a:t> </a:t>
            </a:r>
            <a:r>
              <a:rPr sz="1200" spc="-10" dirty="0">
                <a:latin typeface="Times New Roman"/>
                <a:cs typeface="Times New Roman"/>
              </a:rPr>
              <a:t>registers</a:t>
            </a:r>
            <a:endParaRPr sz="1200">
              <a:latin typeface="Times New Roman"/>
              <a:cs typeface="Times New Roman"/>
            </a:endParaRPr>
          </a:p>
          <a:p>
            <a:pPr marL="830580" lvl="1" indent="-111125">
              <a:lnSpc>
                <a:spcPct val="100000"/>
              </a:lnSpc>
              <a:spcBef>
                <a:spcPts val="1200"/>
              </a:spcBef>
              <a:buChar char="–"/>
              <a:tabLst>
                <a:tab pos="830580" algn="l"/>
              </a:tabLst>
            </a:pPr>
            <a:r>
              <a:rPr sz="1200" spc="-10" dirty="0">
                <a:latin typeface="Times New Roman"/>
                <a:cs typeface="Times New Roman"/>
              </a:rPr>
              <a:t>Transfer</a:t>
            </a:r>
            <a:r>
              <a:rPr sz="1200" spc="-25" dirty="0">
                <a:latin typeface="Times New Roman"/>
                <a:cs typeface="Times New Roman"/>
              </a:rPr>
              <a:t> </a:t>
            </a:r>
            <a:r>
              <a:rPr sz="1200" dirty="0">
                <a:latin typeface="Times New Roman"/>
                <a:cs typeface="Times New Roman"/>
              </a:rPr>
              <a:t>between</a:t>
            </a:r>
            <a:r>
              <a:rPr sz="1200" spc="-25" dirty="0">
                <a:latin typeface="Times New Roman"/>
                <a:cs typeface="Times New Roman"/>
              </a:rPr>
              <a:t> </a:t>
            </a:r>
            <a:r>
              <a:rPr sz="1200" dirty="0">
                <a:latin typeface="Times New Roman"/>
                <a:cs typeface="Times New Roman"/>
              </a:rPr>
              <a:t>registers</a:t>
            </a:r>
            <a:r>
              <a:rPr sz="1200" spc="-15" dirty="0">
                <a:latin typeface="Times New Roman"/>
                <a:cs typeface="Times New Roman"/>
              </a:rPr>
              <a:t> </a:t>
            </a:r>
            <a:r>
              <a:rPr sz="1200" dirty="0">
                <a:latin typeface="Times New Roman"/>
                <a:cs typeface="Times New Roman"/>
              </a:rPr>
              <a:t>within</a:t>
            </a:r>
            <a:r>
              <a:rPr sz="1200" spc="-45"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dirty="0">
                <a:latin typeface="Times New Roman"/>
                <a:cs typeface="Times New Roman"/>
              </a:rPr>
              <a:t>processor</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relatively</a:t>
            </a:r>
            <a:r>
              <a:rPr sz="1200" spc="-45" dirty="0">
                <a:latin typeface="Times New Roman"/>
                <a:cs typeface="Times New Roman"/>
              </a:rPr>
              <a:t> </a:t>
            </a:r>
            <a:r>
              <a:rPr sz="1200" spc="-20" dirty="0">
                <a:latin typeface="Times New Roman"/>
                <a:cs typeface="Times New Roman"/>
              </a:rPr>
              <a:t>fast</a:t>
            </a:r>
            <a:endParaRPr sz="1200">
              <a:latin typeface="Times New Roman"/>
              <a:cs typeface="Times New Roman"/>
            </a:endParaRPr>
          </a:p>
          <a:p>
            <a:pPr marL="833755" lvl="1" indent="-114300">
              <a:lnSpc>
                <a:spcPct val="100000"/>
              </a:lnSpc>
              <a:spcBef>
                <a:spcPts val="1200"/>
              </a:spcBef>
              <a:buChar char="–"/>
              <a:tabLst>
                <a:tab pos="833755" algn="l"/>
              </a:tabLst>
            </a:pPr>
            <a:r>
              <a:rPr sz="1200" dirty="0">
                <a:latin typeface="Times New Roman"/>
                <a:cs typeface="Times New Roman"/>
              </a:rPr>
              <a:t>Going</a:t>
            </a:r>
            <a:r>
              <a:rPr sz="1200" spc="-35" dirty="0">
                <a:latin typeface="Times New Roman"/>
                <a:cs typeface="Times New Roman"/>
              </a:rPr>
              <a:t> </a:t>
            </a:r>
            <a:r>
              <a:rPr sz="1200" dirty="0">
                <a:latin typeface="Times New Roman"/>
                <a:cs typeface="Times New Roman"/>
              </a:rPr>
              <a:t>“off</a:t>
            </a:r>
            <a:r>
              <a:rPr sz="1200" spc="-20" dirty="0">
                <a:latin typeface="Times New Roman"/>
                <a:cs typeface="Times New Roman"/>
              </a:rPr>
              <a:t> </a:t>
            </a:r>
            <a:r>
              <a:rPr sz="1200" dirty="0">
                <a:latin typeface="Times New Roman"/>
                <a:cs typeface="Times New Roman"/>
              </a:rPr>
              <a:t>the</a:t>
            </a:r>
            <a:r>
              <a:rPr sz="1200" spc="-25" dirty="0">
                <a:latin typeface="Times New Roman"/>
                <a:cs typeface="Times New Roman"/>
              </a:rPr>
              <a:t> </a:t>
            </a:r>
            <a:r>
              <a:rPr sz="1200" dirty="0">
                <a:latin typeface="Times New Roman"/>
                <a:cs typeface="Times New Roman"/>
              </a:rPr>
              <a:t>processor”</a:t>
            </a:r>
            <a:r>
              <a:rPr sz="1200" spc="-15" dirty="0">
                <a:latin typeface="Times New Roman"/>
                <a:cs typeface="Times New Roman"/>
              </a:rPr>
              <a:t> </a:t>
            </a:r>
            <a:r>
              <a:rPr sz="1200" dirty="0">
                <a:latin typeface="Times New Roman"/>
                <a:cs typeface="Times New Roman"/>
              </a:rPr>
              <a:t>to</a:t>
            </a:r>
            <a:r>
              <a:rPr sz="1200" spc="-35" dirty="0">
                <a:latin typeface="Times New Roman"/>
                <a:cs typeface="Times New Roman"/>
              </a:rPr>
              <a:t> </a:t>
            </a:r>
            <a:r>
              <a:rPr sz="1200" dirty="0">
                <a:latin typeface="Times New Roman"/>
                <a:cs typeface="Times New Roman"/>
              </a:rPr>
              <a:t>access</a:t>
            </a:r>
            <a:r>
              <a:rPr sz="1200" spc="-15" dirty="0">
                <a:latin typeface="Times New Roman"/>
                <a:cs typeface="Times New Roman"/>
              </a:rPr>
              <a:t> </a:t>
            </a:r>
            <a:r>
              <a:rPr sz="1200" dirty="0">
                <a:latin typeface="Times New Roman"/>
                <a:cs typeface="Times New Roman"/>
              </a:rPr>
              <a:t>memory</a:t>
            </a:r>
            <a:r>
              <a:rPr sz="1200" spc="-30" dirty="0">
                <a:latin typeface="Times New Roman"/>
                <a:cs typeface="Times New Roman"/>
              </a:rPr>
              <a:t> </a:t>
            </a:r>
            <a:r>
              <a:rPr sz="1200" dirty="0">
                <a:latin typeface="Times New Roman"/>
                <a:cs typeface="Times New Roman"/>
              </a:rPr>
              <a:t>is</a:t>
            </a:r>
            <a:r>
              <a:rPr sz="1200" spc="-35" dirty="0">
                <a:latin typeface="Times New Roman"/>
                <a:cs typeface="Times New Roman"/>
              </a:rPr>
              <a:t> </a:t>
            </a:r>
            <a:r>
              <a:rPr sz="1200" dirty="0">
                <a:latin typeface="Times New Roman"/>
                <a:cs typeface="Times New Roman"/>
              </a:rPr>
              <a:t>much</a:t>
            </a:r>
            <a:r>
              <a:rPr sz="1200" spc="-25" dirty="0">
                <a:latin typeface="Times New Roman"/>
                <a:cs typeface="Times New Roman"/>
              </a:rPr>
              <a:t> </a:t>
            </a:r>
            <a:r>
              <a:rPr sz="1200" spc="-10" dirty="0">
                <a:latin typeface="Times New Roman"/>
                <a:cs typeface="Times New Roman"/>
              </a:rPr>
              <a:t>slower</a:t>
            </a:r>
            <a:endParaRPr sz="1200">
              <a:latin typeface="Times New Roman"/>
              <a:cs typeface="Times New Roman"/>
            </a:endParaRPr>
          </a:p>
          <a:p>
            <a:pPr lvl="1">
              <a:lnSpc>
                <a:spcPct val="100000"/>
              </a:lnSpc>
              <a:buFont typeface="Times New Roman"/>
              <a:buChar char="–"/>
            </a:pPr>
            <a:endParaRPr sz="1200">
              <a:latin typeface="Times New Roman"/>
              <a:cs typeface="Times New Roman"/>
            </a:endParaRPr>
          </a:p>
          <a:p>
            <a:pPr lvl="1">
              <a:lnSpc>
                <a:spcPct val="100000"/>
              </a:lnSpc>
              <a:spcBef>
                <a:spcPts val="250"/>
              </a:spcBef>
              <a:buFont typeface="Times New Roman"/>
              <a:buChar char="–"/>
            </a:pPr>
            <a:endParaRPr sz="1200">
              <a:latin typeface="Times New Roman"/>
              <a:cs typeface="Times New Roman"/>
            </a:endParaRPr>
          </a:p>
          <a:p>
            <a:pPr marL="443230" indent="-193675">
              <a:lnSpc>
                <a:spcPct val="100000"/>
              </a:lnSpc>
              <a:buSzPct val="93750"/>
              <a:buFont typeface="Wingdings"/>
              <a:buChar char=""/>
              <a:tabLst>
                <a:tab pos="443230" algn="l"/>
              </a:tabLst>
            </a:pPr>
            <a:r>
              <a:rPr sz="1600" b="1" dirty="0">
                <a:solidFill>
                  <a:srgbClr val="3E762B"/>
                </a:solidFill>
                <a:latin typeface="Times New Roman"/>
                <a:cs typeface="Times New Roman"/>
              </a:rPr>
              <a:t>How</a:t>
            </a:r>
            <a:r>
              <a:rPr sz="1600" b="1" spc="-35" dirty="0">
                <a:solidFill>
                  <a:srgbClr val="3E762B"/>
                </a:solidFill>
                <a:latin typeface="Times New Roman"/>
                <a:cs typeface="Times New Roman"/>
              </a:rPr>
              <a:t> </a:t>
            </a:r>
            <a:r>
              <a:rPr sz="1600" b="1" dirty="0">
                <a:solidFill>
                  <a:srgbClr val="3E762B"/>
                </a:solidFill>
                <a:latin typeface="Times New Roman"/>
                <a:cs typeface="Times New Roman"/>
              </a:rPr>
              <a:t>many</a:t>
            </a:r>
            <a:r>
              <a:rPr sz="1600" b="1" spc="-20" dirty="0">
                <a:solidFill>
                  <a:srgbClr val="3E762B"/>
                </a:solidFill>
                <a:latin typeface="Times New Roman"/>
                <a:cs typeface="Times New Roman"/>
              </a:rPr>
              <a:t> </a:t>
            </a:r>
            <a:r>
              <a:rPr sz="1600" b="1" dirty="0">
                <a:solidFill>
                  <a:srgbClr val="3E762B"/>
                </a:solidFill>
                <a:latin typeface="Times New Roman"/>
                <a:cs typeface="Times New Roman"/>
              </a:rPr>
              <a:t>registers</a:t>
            </a:r>
            <a:r>
              <a:rPr sz="1600" b="1" spc="-35" dirty="0">
                <a:solidFill>
                  <a:srgbClr val="3E762B"/>
                </a:solidFill>
                <a:latin typeface="Times New Roman"/>
                <a:cs typeface="Times New Roman"/>
              </a:rPr>
              <a:t> </a:t>
            </a:r>
            <a:r>
              <a:rPr sz="1600" b="1" dirty="0">
                <a:solidFill>
                  <a:srgbClr val="3E762B"/>
                </a:solidFill>
                <a:latin typeface="Times New Roman"/>
                <a:cs typeface="Times New Roman"/>
              </a:rPr>
              <a:t>will</a:t>
            </a:r>
            <a:r>
              <a:rPr sz="1600" b="1" spc="-55" dirty="0">
                <a:solidFill>
                  <a:srgbClr val="3E762B"/>
                </a:solidFill>
                <a:latin typeface="Times New Roman"/>
                <a:cs typeface="Times New Roman"/>
              </a:rPr>
              <a:t> </a:t>
            </a:r>
            <a:r>
              <a:rPr sz="1600" b="1" dirty="0">
                <a:solidFill>
                  <a:srgbClr val="3E762B"/>
                </a:solidFill>
                <a:latin typeface="Times New Roman"/>
                <a:cs typeface="Times New Roman"/>
              </a:rPr>
              <a:t>be</a:t>
            </a:r>
            <a:r>
              <a:rPr sz="1600" b="1" spc="-40" dirty="0">
                <a:solidFill>
                  <a:srgbClr val="3E762B"/>
                </a:solidFill>
                <a:latin typeface="Times New Roman"/>
                <a:cs typeface="Times New Roman"/>
              </a:rPr>
              <a:t> </a:t>
            </a:r>
            <a:r>
              <a:rPr sz="1600" b="1" dirty="0">
                <a:solidFill>
                  <a:srgbClr val="3E762B"/>
                </a:solidFill>
                <a:latin typeface="Times New Roman"/>
                <a:cs typeface="Times New Roman"/>
              </a:rPr>
              <a:t>the</a:t>
            </a:r>
            <a:r>
              <a:rPr sz="1600" b="1" spc="-35" dirty="0">
                <a:solidFill>
                  <a:srgbClr val="3E762B"/>
                </a:solidFill>
                <a:latin typeface="Times New Roman"/>
                <a:cs typeface="Times New Roman"/>
              </a:rPr>
              <a:t> </a:t>
            </a:r>
            <a:r>
              <a:rPr sz="1600" b="1" dirty="0">
                <a:solidFill>
                  <a:srgbClr val="3E762B"/>
                </a:solidFill>
                <a:latin typeface="Times New Roman"/>
                <a:cs typeface="Times New Roman"/>
              </a:rPr>
              <a:t>best</a:t>
            </a:r>
            <a:r>
              <a:rPr sz="1600" b="1" spc="-30" dirty="0">
                <a:solidFill>
                  <a:srgbClr val="3E762B"/>
                </a:solidFill>
                <a:latin typeface="Times New Roman"/>
                <a:cs typeface="Times New Roman"/>
              </a:rPr>
              <a:t> </a:t>
            </a:r>
            <a:r>
              <a:rPr sz="1600" b="1" spc="-60" dirty="0">
                <a:solidFill>
                  <a:srgbClr val="3E762B"/>
                </a:solidFill>
                <a:latin typeface="Times New Roman"/>
                <a:cs typeface="Times New Roman"/>
              </a:rPr>
              <a:t>?</a:t>
            </a: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245"/>
              </a:spcBef>
            </a:pPr>
            <a:endParaRPr sz="1600">
              <a:latin typeface="Times New Roman"/>
              <a:cs typeface="Times New Roman"/>
            </a:endParaRPr>
          </a:p>
          <a:p>
            <a:pPr marR="144145" algn="r">
              <a:lnSpc>
                <a:spcPct val="100000"/>
              </a:lnSpc>
            </a:pPr>
            <a:r>
              <a:rPr sz="1000" b="1" spc="-25" dirty="0">
                <a:solidFill>
                  <a:srgbClr val="3E762B"/>
                </a:solidFill>
                <a:latin typeface="Corbel"/>
                <a:cs typeface="Corbel"/>
              </a:rPr>
              <a:t>38</a:t>
            </a:r>
            <a:endParaRPr sz="1000">
              <a:latin typeface="Corbel"/>
              <a:cs typeface="Corbel"/>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63195" rIns="0" bIns="0" rtlCol="0">
            <a:spAutoFit/>
          </a:bodyPr>
          <a:lstStyle/>
          <a:p>
            <a:pPr marL="228600">
              <a:lnSpc>
                <a:spcPct val="100000"/>
              </a:lnSpc>
              <a:spcBef>
                <a:spcPts val="1285"/>
              </a:spcBef>
            </a:pPr>
            <a:r>
              <a:rPr sz="1650" dirty="0">
                <a:latin typeface="Georgia"/>
                <a:cs typeface="Georgia"/>
              </a:rPr>
              <a:t>Design</a:t>
            </a:r>
            <a:r>
              <a:rPr sz="1650" spc="-15" dirty="0">
                <a:latin typeface="Georgia"/>
                <a:cs typeface="Georgia"/>
              </a:rPr>
              <a:t> </a:t>
            </a:r>
            <a:r>
              <a:rPr sz="1650" spc="-10" dirty="0">
                <a:latin typeface="Georgia"/>
                <a:cs typeface="Georgia"/>
              </a:rPr>
              <a:t>issues</a:t>
            </a:r>
            <a:endParaRPr sz="1650">
              <a:latin typeface="Georgia"/>
              <a:cs typeface="Georgia"/>
            </a:endParaRPr>
          </a:p>
          <a:p>
            <a:pPr marL="434975" indent="-172720" algn="just">
              <a:lnSpc>
                <a:spcPct val="100000"/>
              </a:lnSpc>
              <a:spcBef>
                <a:spcPts val="1475"/>
              </a:spcBef>
              <a:buClr>
                <a:srgbClr val="3E762B"/>
              </a:buClr>
              <a:buFont typeface="Wingdings"/>
              <a:buChar char=""/>
              <a:tabLst>
                <a:tab pos="434975" algn="l"/>
              </a:tabLst>
            </a:pPr>
            <a:r>
              <a:rPr sz="1100" b="1" dirty="0">
                <a:latin typeface="Times New Roman"/>
                <a:cs typeface="Times New Roman"/>
              </a:rPr>
              <a:t>Use</a:t>
            </a:r>
            <a:r>
              <a:rPr sz="1100" b="1" spc="-5" dirty="0">
                <a:latin typeface="Times New Roman"/>
                <a:cs typeface="Times New Roman"/>
              </a:rPr>
              <a:t> </a:t>
            </a:r>
            <a:r>
              <a:rPr sz="1100" b="1" dirty="0">
                <a:latin typeface="Times New Roman"/>
                <a:cs typeface="Times New Roman"/>
              </a:rPr>
              <a:t>completely</a:t>
            </a:r>
            <a:r>
              <a:rPr sz="1100" b="1" spc="-35" dirty="0">
                <a:latin typeface="Times New Roman"/>
                <a:cs typeface="Times New Roman"/>
              </a:rPr>
              <a:t> </a:t>
            </a:r>
            <a:r>
              <a:rPr sz="1100" b="1" dirty="0">
                <a:latin typeface="Times New Roman"/>
                <a:cs typeface="Times New Roman"/>
              </a:rPr>
              <a:t>general-purpose</a:t>
            </a:r>
            <a:r>
              <a:rPr sz="1100" b="1" spc="-40" dirty="0">
                <a:latin typeface="Times New Roman"/>
                <a:cs typeface="Times New Roman"/>
              </a:rPr>
              <a:t> </a:t>
            </a:r>
            <a:r>
              <a:rPr sz="1100" b="1" dirty="0">
                <a:latin typeface="Times New Roman"/>
                <a:cs typeface="Times New Roman"/>
              </a:rPr>
              <a:t>registers</a:t>
            </a:r>
            <a:r>
              <a:rPr sz="1100" b="1" spc="-30" dirty="0">
                <a:latin typeface="Times New Roman"/>
                <a:cs typeface="Times New Roman"/>
              </a:rPr>
              <a:t> </a:t>
            </a:r>
            <a:r>
              <a:rPr sz="1100" b="1" dirty="0">
                <a:latin typeface="Times New Roman"/>
                <a:cs typeface="Times New Roman"/>
              </a:rPr>
              <a:t>or</a:t>
            </a:r>
            <a:r>
              <a:rPr sz="1100" b="1" spc="-20" dirty="0">
                <a:latin typeface="Times New Roman"/>
                <a:cs typeface="Times New Roman"/>
              </a:rPr>
              <a:t> </a:t>
            </a:r>
            <a:r>
              <a:rPr sz="1100" b="1" dirty="0">
                <a:latin typeface="Times New Roman"/>
                <a:cs typeface="Times New Roman"/>
              </a:rPr>
              <a:t>specialize</a:t>
            </a:r>
            <a:r>
              <a:rPr sz="1100" b="1" spc="-30" dirty="0">
                <a:latin typeface="Times New Roman"/>
                <a:cs typeface="Times New Roman"/>
              </a:rPr>
              <a:t> </a:t>
            </a:r>
            <a:r>
              <a:rPr sz="1100" b="1" dirty="0">
                <a:latin typeface="Times New Roman"/>
                <a:cs typeface="Times New Roman"/>
              </a:rPr>
              <a:t>their</a:t>
            </a:r>
            <a:r>
              <a:rPr sz="1100" b="1" spc="-30" dirty="0">
                <a:latin typeface="Times New Roman"/>
                <a:cs typeface="Times New Roman"/>
              </a:rPr>
              <a:t> </a:t>
            </a:r>
            <a:r>
              <a:rPr sz="1100" b="1" spc="-20" dirty="0">
                <a:latin typeface="Times New Roman"/>
                <a:cs typeface="Times New Roman"/>
              </a:rPr>
              <a:t>use.</a:t>
            </a:r>
            <a:endParaRPr sz="1100">
              <a:latin typeface="Times New Roman"/>
              <a:cs typeface="Times New Roman"/>
            </a:endParaRPr>
          </a:p>
          <a:p>
            <a:pPr marL="436245" marR="291465" algn="just">
              <a:lnSpc>
                <a:spcPct val="100000"/>
              </a:lnSpc>
              <a:spcBef>
                <a:spcPts val="595"/>
              </a:spcBef>
            </a:pPr>
            <a:r>
              <a:rPr sz="1100" dirty="0">
                <a:latin typeface="Times New Roman"/>
                <a:cs typeface="Times New Roman"/>
              </a:rPr>
              <a:t>Specialized</a:t>
            </a:r>
            <a:r>
              <a:rPr sz="1100" spc="-30" dirty="0">
                <a:latin typeface="Times New Roman"/>
                <a:cs typeface="Times New Roman"/>
              </a:rPr>
              <a:t> </a:t>
            </a:r>
            <a:r>
              <a:rPr sz="1100" dirty="0">
                <a:latin typeface="Times New Roman"/>
                <a:cs typeface="Times New Roman"/>
              </a:rPr>
              <a:t>registers</a:t>
            </a:r>
            <a:r>
              <a:rPr sz="1100" spc="-15" dirty="0">
                <a:latin typeface="Times New Roman"/>
                <a:cs typeface="Times New Roman"/>
              </a:rPr>
              <a:t> </a:t>
            </a:r>
            <a:r>
              <a:rPr sz="1100" dirty="0">
                <a:latin typeface="Times New Roman"/>
                <a:cs typeface="Times New Roman"/>
              </a:rPr>
              <a:t>can</a:t>
            </a:r>
            <a:r>
              <a:rPr sz="1100" spc="-10" dirty="0">
                <a:latin typeface="Times New Roman"/>
                <a:cs typeface="Times New Roman"/>
              </a:rPr>
              <a:t> </a:t>
            </a:r>
            <a:r>
              <a:rPr sz="1100" dirty="0">
                <a:latin typeface="Times New Roman"/>
                <a:cs typeface="Times New Roman"/>
              </a:rPr>
              <a:t>generally</a:t>
            </a:r>
            <a:r>
              <a:rPr sz="1100" spc="-20" dirty="0">
                <a:latin typeface="Times New Roman"/>
                <a:cs typeface="Times New Roman"/>
              </a:rPr>
              <a:t> </a:t>
            </a:r>
            <a:r>
              <a:rPr sz="1100" dirty="0">
                <a:latin typeface="Times New Roman"/>
                <a:cs typeface="Times New Roman"/>
              </a:rPr>
              <a:t>be</a:t>
            </a:r>
            <a:r>
              <a:rPr sz="1100" spc="-5" dirty="0">
                <a:latin typeface="Times New Roman"/>
                <a:cs typeface="Times New Roman"/>
              </a:rPr>
              <a:t> </a:t>
            </a:r>
            <a:r>
              <a:rPr sz="1100" dirty="0">
                <a:latin typeface="Times New Roman"/>
                <a:cs typeface="Times New Roman"/>
              </a:rPr>
              <a:t>implicit</a:t>
            </a:r>
            <a:r>
              <a:rPr sz="1100" spc="-15" dirty="0">
                <a:latin typeface="Times New Roman"/>
                <a:cs typeface="Times New Roman"/>
              </a:rPr>
              <a:t> </a:t>
            </a:r>
            <a:r>
              <a:rPr sz="1100" dirty="0">
                <a:latin typeface="Times New Roman"/>
                <a:cs typeface="Times New Roman"/>
              </a:rPr>
              <a:t>in</a:t>
            </a:r>
            <a:r>
              <a:rPr sz="1100" spc="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opcode</a:t>
            </a:r>
            <a:r>
              <a:rPr sz="1100" spc="-20" dirty="0">
                <a:latin typeface="Times New Roman"/>
                <a:cs typeface="Times New Roman"/>
              </a:rPr>
              <a:t> </a:t>
            </a:r>
            <a:r>
              <a:rPr sz="1100" dirty="0">
                <a:latin typeface="Times New Roman"/>
                <a:cs typeface="Times New Roman"/>
              </a:rPr>
              <a:t>which</a:t>
            </a:r>
            <a:r>
              <a:rPr sz="1100" spc="-5" dirty="0">
                <a:latin typeface="Times New Roman"/>
                <a:cs typeface="Times New Roman"/>
              </a:rPr>
              <a:t> </a:t>
            </a:r>
            <a:r>
              <a:rPr sz="1100" dirty="0">
                <a:latin typeface="Times New Roman"/>
                <a:cs typeface="Times New Roman"/>
              </a:rPr>
              <a:t>type</a:t>
            </a:r>
            <a:r>
              <a:rPr sz="1100" spc="5" dirty="0">
                <a:latin typeface="Times New Roman"/>
                <a:cs typeface="Times New Roman"/>
              </a:rPr>
              <a:t> </a:t>
            </a:r>
            <a:r>
              <a:rPr sz="1100" dirty="0">
                <a:latin typeface="Times New Roman"/>
                <a:cs typeface="Times New Roman"/>
              </a:rPr>
              <a:t>of</a:t>
            </a:r>
            <a:r>
              <a:rPr sz="1100" spc="-5" dirty="0">
                <a:latin typeface="Times New Roman"/>
                <a:cs typeface="Times New Roman"/>
              </a:rPr>
              <a:t> </a:t>
            </a:r>
            <a:r>
              <a:rPr sz="1100" dirty="0">
                <a:latin typeface="Times New Roman"/>
                <a:cs typeface="Times New Roman"/>
              </a:rPr>
              <a:t>register</a:t>
            </a:r>
            <a:r>
              <a:rPr sz="1100" spc="-10" dirty="0">
                <a:latin typeface="Times New Roman"/>
                <a:cs typeface="Times New Roman"/>
              </a:rPr>
              <a:t> </a:t>
            </a:r>
            <a:r>
              <a:rPr sz="1100" dirty="0">
                <a:latin typeface="Times New Roman"/>
                <a:cs typeface="Times New Roman"/>
              </a:rPr>
              <a:t>a</a:t>
            </a:r>
            <a:r>
              <a:rPr sz="1100" spc="5" dirty="0">
                <a:latin typeface="Times New Roman"/>
                <a:cs typeface="Times New Roman"/>
              </a:rPr>
              <a:t> </a:t>
            </a:r>
            <a:r>
              <a:rPr sz="1100" spc="-10" dirty="0">
                <a:latin typeface="Times New Roman"/>
                <a:cs typeface="Times New Roman"/>
              </a:rPr>
              <a:t>certain </a:t>
            </a:r>
            <a:r>
              <a:rPr sz="1100" dirty="0">
                <a:latin typeface="Times New Roman"/>
                <a:cs typeface="Times New Roman"/>
              </a:rPr>
              <a:t>operand</a:t>
            </a:r>
            <a:r>
              <a:rPr sz="1100" spc="-20" dirty="0">
                <a:latin typeface="Times New Roman"/>
                <a:cs typeface="Times New Roman"/>
              </a:rPr>
              <a:t> </a:t>
            </a:r>
            <a:r>
              <a:rPr sz="1100" dirty="0">
                <a:latin typeface="Times New Roman"/>
                <a:cs typeface="Times New Roman"/>
              </a:rPr>
              <a:t>specifier</a:t>
            </a:r>
            <a:r>
              <a:rPr sz="1100" spc="-20" dirty="0">
                <a:latin typeface="Times New Roman"/>
                <a:cs typeface="Times New Roman"/>
              </a:rPr>
              <a:t> </a:t>
            </a:r>
            <a:r>
              <a:rPr sz="1100" dirty="0">
                <a:latin typeface="Times New Roman"/>
                <a:cs typeface="Times New Roman"/>
              </a:rPr>
              <a:t>refers</a:t>
            </a:r>
            <a:r>
              <a:rPr sz="1100" spc="-10" dirty="0">
                <a:latin typeface="Times New Roman"/>
                <a:cs typeface="Times New Roman"/>
              </a:rPr>
              <a:t> </a:t>
            </a:r>
            <a:r>
              <a:rPr sz="1100" dirty="0">
                <a:latin typeface="Times New Roman"/>
                <a:cs typeface="Times New Roman"/>
              </a:rPr>
              <a:t>to,</a:t>
            </a:r>
            <a:r>
              <a:rPr sz="1100" spc="-5" dirty="0">
                <a:latin typeface="Times New Roman"/>
                <a:cs typeface="Times New Roman"/>
              </a:rPr>
              <a:t> </a:t>
            </a:r>
            <a:r>
              <a:rPr sz="1100" dirty="0">
                <a:latin typeface="Times New Roman"/>
                <a:cs typeface="Times New Roman"/>
              </a:rPr>
              <a:t>thus</a:t>
            </a:r>
            <a:r>
              <a:rPr sz="1100" spc="-15" dirty="0">
                <a:latin typeface="Times New Roman"/>
                <a:cs typeface="Times New Roman"/>
              </a:rPr>
              <a:t> </a:t>
            </a:r>
            <a:r>
              <a:rPr sz="1100" dirty="0">
                <a:latin typeface="Times New Roman"/>
                <a:cs typeface="Times New Roman"/>
              </a:rPr>
              <a:t>saving</a:t>
            </a:r>
            <a:r>
              <a:rPr sz="1100" spc="-5" dirty="0">
                <a:latin typeface="Times New Roman"/>
                <a:cs typeface="Times New Roman"/>
              </a:rPr>
              <a:t> </a:t>
            </a:r>
            <a:r>
              <a:rPr sz="1100" dirty="0">
                <a:latin typeface="Times New Roman"/>
                <a:cs typeface="Times New Roman"/>
              </a:rPr>
              <a:t>bits.</a:t>
            </a:r>
            <a:r>
              <a:rPr sz="1100" spc="-10" dirty="0">
                <a:latin typeface="Times New Roman"/>
                <a:cs typeface="Times New Roman"/>
              </a:rPr>
              <a:t> </a:t>
            </a:r>
            <a:r>
              <a:rPr sz="1100" dirty="0">
                <a:latin typeface="Times New Roman"/>
                <a:cs typeface="Times New Roman"/>
              </a:rPr>
              <a:t>On</a:t>
            </a:r>
            <a:r>
              <a:rPr sz="1100" spc="10" dirty="0">
                <a:latin typeface="Times New Roman"/>
                <a:cs typeface="Times New Roman"/>
              </a:rPr>
              <a:t> </a:t>
            </a:r>
            <a:r>
              <a:rPr sz="1100" dirty="0">
                <a:latin typeface="Times New Roman"/>
                <a:cs typeface="Times New Roman"/>
              </a:rPr>
              <a:t>the other hand,</a:t>
            </a:r>
            <a:r>
              <a:rPr sz="1100" spc="-5" dirty="0">
                <a:latin typeface="Times New Roman"/>
                <a:cs typeface="Times New Roman"/>
              </a:rPr>
              <a:t> </a:t>
            </a:r>
            <a:r>
              <a:rPr sz="1100" dirty="0">
                <a:latin typeface="Times New Roman"/>
                <a:cs typeface="Times New Roman"/>
              </a:rPr>
              <a:t>this</a:t>
            </a:r>
            <a:r>
              <a:rPr sz="1100" spc="-10" dirty="0">
                <a:latin typeface="Times New Roman"/>
                <a:cs typeface="Times New Roman"/>
              </a:rPr>
              <a:t> </a:t>
            </a:r>
            <a:r>
              <a:rPr sz="1100" dirty="0">
                <a:latin typeface="Times New Roman"/>
                <a:cs typeface="Times New Roman"/>
              </a:rPr>
              <a:t>specialization</a:t>
            </a:r>
            <a:r>
              <a:rPr sz="1100" spc="-40" dirty="0">
                <a:latin typeface="Times New Roman"/>
                <a:cs typeface="Times New Roman"/>
              </a:rPr>
              <a:t> </a:t>
            </a:r>
            <a:r>
              <a:rPr sz="1100" dirty="0">
                <a:latin typeface="Times New Roman"/>
                <a:cs typeface="Times New Roman"/>
              </a:rPr>
              <a:t>limits </a:t>
            </a:r>
            <a:r>
              <a:rPr sz="1100" spc="-25" dirty="0">
                <a:latin typeface="Times New Roman"/>
                <a:cs typeface="Times New Roman"/>
              </a:rPr>
              <a:t>the </a:t>
            </a:r>
            <a:r>
              <a:rPr sz="1100" dirty="0">
                <a:latin typeface="Times New Roman"/>
                <a:cs typeface="Times New Roman"/>
              </a:rPr>
              <a:t>programmer’s</a:t>
            </a:r>
            <a:r>
              <a:rPr sz="1100" spc="-35" dirty="0">
                <a:latin typeface="Times New Roman"/>
                <a:cs typeface="Times New Roman"/>
              </a:rPr>
              <a:t> </a:t>
            </a:r>
            <a:r>
              <a:rPr sz="1100" spc="-10" dirty="0">
                <a:latin typeface="Times New Roman"/>
                <a:cs typeface="Times New Roman"/>
              </a:rPr>
              <a:t>flexibility.</a:t>
            </a:r>
            <a:endParaRPr sz="1100">
              <a:latin typeface="Times New Roman"/>
              <a:cs typeface="Times New Roman"/>
            </a:endParaRPr>
          </a:p>
          <a:p>
            <a:pPr marL="434975" indent="-172720" algn="just">
              <a:lnSpc>
                <a:spcPct val="100000"/>
              </a:lnSpc>
              <a:spcBef>
                <a:spcPts val="605"/>
              </a:spcBef>
              <a:buClr>
                <a:srgbClr val="3E762B"/>
              </a:buClr>
              <a:buFont typeface="Wingdings"/>
              <a:buChar char=""/>
              <a:tabLst>
                <a:tab pos="434975" algn="l"/>
              </a:tabLst>
            </a:pPr>
            <a:r>
              <a:rPr sz="1100" b="1" dirty="0">
                <a:latin typeface="Times New Roman"/>
                <a:cs typeface="Times New Roman"/>
              </a:rPr>
              <a:t>Number</a:t>
            </a:r>
            <a:r>
              <a:rPr sz="1100" b="1" spc="-45" dirty="0">
                <a:latin typeface="Times New Roman"/>
                <a:cs typeface="Times New Roman"/>
              </a:rPr>
              <a:t> </a:t>
            </a:r>
            <a:r>
              <a:rPr sz="1100" b="1" dirty="0">
                <a:latin typeface="Times New Roman"/>
                <a:cs typeface="Times New Roman"/>
              </a:rPr>
              <a:t>of</a:t>
            </a:r>
            <a:r>
              <a:rPr sz="1100" b="1" spc="-10" dirty="0">
                <a:latin typeface="Times New Roman"/>
                <a:cs typeface="Times New Roman"/>
              </a:rPr>
              <a:t> registers</a:t>
            </a:r>
            <a:r>
              <a:rPr sz="1100" spc="-10" dirty="0">
                <a:latin typeface="Times New Roman"/>
                <a:cs typeface="Times New Roman"/>
              </a:rPr>
              <a:t>.</a:t>
            </a:r>
            <a:endParaRPr sz="1100">
              <a:latin typeface="Times New Roman"/>
              <a:cs typeface="Times New Roman"/>
            </a:endParaRPr>
          </a:p>
          <a:p>
            <a:pPr marL="436245" marR="629920">
              <a:lnSpc>
                <a:spcPct val="100000"/>
              </a:lnSpc>
              <a:spcBef>
                <a:spcPts val="600"/>
              </a:spcBef>
            </a:pPr>
            <a:r>
              <a:rPr sz="1100" dirty="0">
                <a:latin typeface="Times New Roman"/>
                <a:cs typeface="Times New Roman"/>
              </a:rPr>
              <a:t>More</a:t>
            </a:r>
            <a:r>
              <a:rPr sz="1100" spc="-20" dirty="0">
                <a:latin typeface="Times New Roman"/>
                <a:cs typeface="Times New Roman"/>
              </a:rPr>
              <a:t> </a:t>
            </a:r>
            <a:r>
              <a:rPr sz="1100" dirty="0">
                <a:latin typeface="Times New Roman"/>
                <a:cs typeface="Times New Roman"/>
              </a:rPr>
              <a:t>registers</a:t>
            </a:r>
            <a:r>
              <a:rPr sz="1100" spc="-15" dirty="0">
                <a:latin typeface="Times New Roman"/>
                <a:cs typeface="Times New Roman"/>
              </a:rPr>
              <a:t> </a:t>
            </a:r>
            <a:r>
              <a:rPr sz="1100" dirty="0">
                <a:latin typeface="Times New Roman"/>
                <a:cs typeface="Times New Roman"/>
              </a:rPr>
              <a:t>require</a:t>
            </a:r>
            <a:r>
              <a:rPr sz="1100" spc="-20" dirty="0">
                <a:latin typeface="Times New Roman"/>
                <a:cs typeface="Times New Roman"/>
              </a:rPr>
              <a:t> </a:t>
            </a:r>
            <a:r>
              <a:rPr sz="1100" dirty="0">
                <a:latin typeface="Times New Roman"/>
                <a:cs typeface="Times New Roman"/>
              </a:rPr>
              <a:t>more</a:t>
            </a:r>
            <a:r>
              <a:rPr sz="1100" spc="5" dirty="0">
                <a:latin typeface="Times New Roman"/>
                <a:cs typeface="Times New Roman"/>
              </a:rPr>
              <a:t> </a:t>
            </a:r>
            <a:r>
              <a:rPr sz="1100" dirty="0">
                <a:latin typeface="Times New Roman"/>
                <a:cs typeface="Times New Roman"/>
              </a:rPr>
              <a:t>operand</a:t>
            </a:r>
            <a:r>
              <a:rPr sz="1100" spc="-20" dirty="0">
                <a:latin typeface="Times New Roman"/>
                <a:cs typeface="Times New Roman"/>
              </a:rPr>
              <a:t> </a:t>
            </a:r>
            <a:r>
              <a:rPr sz="1100" dirty="0">
                <a:latin typeface="Times New Roman"/>
                <a:cs typeface="Times New Roman"/>
              </a:rPr>
              <a:t>specifier</a:t>
            </a:r>
            <a:r>
              <a:rPr sz="1100" spc="-20" dirty="0">
                <a:latin typeface="Times New Roman"/>
                <a:cs typeface="Times New Roman"/>
              </a:rPr>
              <a:t> </a:t>
            </a:r>
            <a:r>
              <a:rPr sz="1100" dirty="0">
                <a:latin typeface="Times New Roman"/>
                <a:cs typeface="Times New Roman"/>
              </a:rPr>
              <a:t>bits.</a:t>
            </a:r>
            <a:r>
              <a:rPr sz="1100" spc="-15" dirty="0">
                <a:latin typeface="Times New Roman"/>
                <a:cs typeface="Times New Roman"/>
              </a:rPr>
              <a:t> </a:t>
            </a:r>
            <a:r>
              <a:rPr sz="1100" dirty="0">
                <a:latin typeface="Times New Roman"/>
                <a:cs typeface="Times New Roman"/>
              </a:rPr>
              <a:t>Between</a:t>
            </a:r>
            <a:r>
              <a:rPr sz="1100" spc="-20" dirty="0">
                <a:latin typeface="Times New Roman"/>
                <a:cs typeface="Times New Roman"/>
              </a:rPr>
              <a:t> </a:t>
            </a:r>
            <a:r>
              <a:rPr sz="1100" dirty="0">
                <a:latin typeface="Times New Roman"/>
                <a:cs typeface="Times New Roman"/>
              </a:rPr>
              <a:t>8</a:t>
            </a:r>
            <a:r>
              <a:rPr sz="1100" spc="5" dirty="0">
                <a:latin typeface="Times New Roman"/>
                <a:cs typeface="Times New Roman"/>
              </a:rPr>
              <a:t> </a:t>
            </a:r>
            <a:r>
              <a:rPr sz="1100" dirty="0">
                <a:latin typeface="Times New Roman"/>
                <a:cs typeface="Times New Roman"/>
              </a:rPr>
              <a:t>and</a:t>
            </a:r>
            <a:r>
              <a:rPr sz="1100" spc="-5" dirty="0">
                <a:latin typeface="Times New Roman"/>
                <a:cs typeface="Times New Roman"/>
              </a:rPr>
              <a:t> </a:t>
            </a:r>
            <a:r>
              <a:rPr sz="1100" dirty="0">
                <a:latin typeface="Times New Roman"/>
                <a:cs typeface="Times New Roman"/>
              </a:rPr>
              <a:t>32</a:t>
            </a:r>
            <a:r>
              <a:rPr sz="1100" spc="10" dirty="0">
                <a:latin typeface="Times New Roman"/>
                <a:cs typeface="Times New Roman"/>
              </a:rPr>
              <a:t> </a:t>
            </a:r>
            <a:r>
              <a:rPr sz="1100" dirty="0">
                <a:latin typeface="Times New Roman"/>
                <a:cs typeface="Times New Roman"/>
              </a:rPr>
              <a:t>registers</a:t>
            </a:r>
            <a:r>
              <a:rPr sz="1100" spc="-30" dirty="0">
                <a:latin typeface="Times New Roman"/>
                <a:cs typeface="Times New Roman"/>
              </a:rPr>
              <a:t> </a:t>
            </a:r>
            <a:r>
              <a:rPr sz="1100" spc="-10" dirty="0">
                <a:latin typeface="Times New Roman"/>
                <a:cs typeface="Times New Roman"/>
              </a:rPr>
              <a:t>appear </a:t>
            </a:r>
            <a:r>
              <a:rPr sz="1100" dirty="0">
                <a:latin typeface="Times New Roman"/>
                <a:cs typeface="Times New Roman"/>
              </a:rPr>
              <a:t>optimum.</a:t>
            </a:r>
            <a:r>
              <a:rPr sz="1100" spc="5" dirty="0">
                <a:latin typeface="Times New Roman"/>
                <a:cs typeface="Times New Roman"/>
              </a:rPr>
              <a:t> </a:t>
            </a:r>
            <a:r>
              <a:rPr sz="1100" dirty="0">
                <a:latin typeface="Times New Roman"/>
                <a:cs typeface="Times New Roman"/>
              </a:rPr>
              <a:t>Fewer</a:t>
            </a:r>
            <a:r>
              <a:rPr sz="1100" spc="-10" dirty="0">
                <a:latin typeface="Times New Roman"/>
                <a:cs typeface="Times New Roman"/>
              </a:rPr>
              <a:t> </a:t>
            </a:r>
            <a:r>
              <a:rPr sz="1100" dirty="0">
                <a:latin typeface="Times New Roman"/>
                <a:cs typeface="Times New Roman"/>
              </a:rPr>
              <a:t>registers</a:t>
            </a:r>
            <a:r>
              <a:rPr sz="1100" spc="-20" dirty="0">
                <a:latin typeface="Times New Roman"/>
                <a:cs typeface="Times New Roman"/>
              </a:rPr>
              <a:t> </a:t>
            </a:r>
            <a:r>
              <a:rPr sz="1100" dirty="0">
                <a:latin typeface="Times New Roman"/>
                <a:cs typeface="Times New Roman"/>
              </a:rPr>
              <a:t>result</a:t>
            </a:r>
            <a:r>
              <a:rPr sz="1100" spc="-35" dirty="0">
                <a:latin typeface="Times New Roman"/>
                <a:cs typeface="Times New Roman"/>
              </a:rPr>
              <a:t> </a:t>
            </a:r>
            <a:r>
              <a:rPr sz="1100" dirty="0">
                <a:latin typeface="Times New Roman"/>
                <a:cs typeface="Times New Roman"/>
              </a:rPr>
              <a:t>in</a:t>
            </a:r>
            <a:r>
              <a:rPr sz="1100" spc="-15" dirty="0">
                <a:latin typeface="Times New Roman"/>
                <a:cs typeface="Times New Roman"/>
              </a:rPr>
              <a:t> </a:t>
            </a:r>
            <a:r>
              <a:rPr sz="1100" dirty="0">
                <a:latin typeface="Times New Roman"/>
                <a:cs typeface="Times New Roman"/>
              </a:rPr>
              <a:t>more</a:t>
            </a:r>
            <a:r>
              <a:rPr sz="1100" spc="10" dirty="0">
                <a:latin typeface="Times New Roman"/>
                <a:cs typeface="Times New Roman"/>
              </a:rPr>
              <a:t> </a:t>
            </a:r>
            <a:r>
              <a:rPr sz="1100" dirty="0">
                <a:latin typeface="Times New Roman"/>
                <a:cs typeface="Times New Roman"/>
              </a:rPr>
              <a:t>memory</a:t>
            </a:r>
            <a:r>
              <a:rPr sz="1100" spc="10" dirty="0">
                <a:latin typeface="Times New Roman"/>
                <a:cs typeface="Times New Roman"/>
              </a:rPr>
              <a:t> </a:t>
            </a:r>
            <a:r>
              <a:rPr sz="1100" dirty="0">
                <a:latin typeface="Times New Roman"/>
                <a:cs typeface="Times New Roman"/>
              </a:rPr>
              <a:t>references;</a:t>
            </a:r>
            <a:r>
              <a:rPr sz="1100" spc="-45" dirty="0">
                <a:latin typeface="Times New Roman"/>
                <a:cs typeface="Times New Roman"/>
              </a:rPr>
              <a:t> </a:t>
            </a:r>
            <a:r>
              <a:rPr sz="1100" dirty="0">
                <a:latin typeface="Times New Roman"/>
                <a:cs typeface="Times New Roman"/>
              </a:rPr>
              <a:t>more</a:t>
            </a:r>
            <a:r>
              <a:rPr sz="1100" spc="10" dirty="0">
                <a:latin typeface="Times New Roman"/>
                <a:cs typeface="Times New Roman"/>
              </a:rPr>
              <a:t> </a:t>
            </a:r>
            <a:r>
              <a:rPr sz="1100" dirty="0">
                <a:latin typeface="Times New Roman"/>
                <a:cs typeface="Times New Roman"/>
              </a:rPr>
              <a:t>registers</a:t>
            </a:r>
            <a:r>
              <a:rPr sz="1100" spc="-35" dirty="0">
                <a:latin typeface="Times New Roman"/>
                <a:cs typeface="Times New Roman"/>
              </a:rPr>
              <a:t> </a:t>
            </a:r>
            <a:r>
              <a:rPr sz="1100" dirty="0">
                <a:latin typeface="Times New Roman"/>
                <a:cs typeface="Times New Roman"/>
              </a:rPr>
              <a:t>do </a:t>
            </a:r>
            <a:r>
              <a:rPr sz="1100" spc="-25" dirty="0">
                <a:latin typeface="Times New Roman"/>
                <a:cs typeface="Times New Roman"/>
              </a:rPr>
              <a:t>not </a:t>
            </a:r>
            <a:r>
              <a:rPr sz="1100" dirty="0">
                <a:latin typeface="Times New Roman"/>
                <a:cs typeface="Times New Roman"/>
              </a:rPr>
              <a:t>noticeably</a:t>
            </a:r>
            <a:r>
              <a:rPr sz="1100" spc="-50" dirty="0">
                <a:latin typeface="Times New Roman"/>
                <a:cs typeface="Times New Roman"/>
              </a:rPr>
              <a:t> </a:t>
            </a:r>
            <a:r>
              <a:rPr sz="1100" dirty="0">
                <a:latin typeface="Times New Roman"/>
                <a:cs typeface="Times New Roman"/>
              </a:rPr>
              <a:t>reduce</a:t>
            </a:r>
            <a:r>
              <a:rPr sz="1100" spc="-30" dirty="0">
                <a:latin typeface="Times New Roman"/>
                <a:cs typeface="Times New Roman"/>
              </a:rPr>
              <a:t> </a:t>
            </a:r>
            <a:r>
              <a:rPr sz="1100" dirty="0">
                <a:latin typeface="Times New Roman"/>
                <a:cs typeface="Times New Roman"/>
              </a:rPr>
              <a:t>memory</a:t>
            </a:r>
            <a:r>
              <a:rPr sz="1100" spc="15" dirty="0">
                <a:latin typeface="Times New Roman"/>
                <a:cs typeface="Times New Roman"/>
              </a:rPr>
              <a:t> </a:t>
            </a:r>
            <a:r>
              <a:rPr sz="1100" spc="-10" dirty="0">
                <a:latin typeface="Times New Roman"/>
                <a:cs typeface="Times New Roman"/>
              </a:rPr>
              <a:t>references.</a:t>
            </a:r>
            <a:endParaRPr sz="1100">
              <a:latin typeface="Times New Roman"/>
              <a:cs typeface="Times New Roman"/>
            </a:endParaRPr>
          </a:p>
          <a:p>
            <a:pPr marL="434975" indent="-172720">
              <a:lnSpc>
                <a:spcPct val="100000"/>
              </a:lnSpc>
              <a:spcBef>
                <a:spcPts val="600"/>
              </a:spcBef>
              <a:buClr>
                <a:srgbClr val="3E762B"/>
              </a:buClr>
              <a:buFont typeface="Wingdings"/>
              <a:buChar char=""/>
              <a:tabLst>
                <a:tab pos="434975" algn="l"/>
              </a:tabLst>
            </a:pPr>
            <a:r>
              <a:rPr sz="1100" b="1" dirty="0">
                <a:latin typeface="Times New Roman"/>
                <a:cs typeface="Times New Roman"/>
              </a:rPr>
              <a:t>Registers</a:t>
            </a:r>
            <a:r>
              <a:rPr sz="1100" b="1" spc="-35" dirty="0">
                <a:latin typeface="Times New Roman"/>
                <a:cs typeface="Times New Roman"/>
              </a:rPr>
              <a:t> </a:t>
            </a:r>
            <a:r>
              <a:rPr sz="1100" b="1" spc="-10" dirty="0">
                <a:latin typeface="Times New Roman"/>
                <a:cs typeface="Times New Roman"/>
              </a:rPr>
              <a:t>length</a:t>
            </a:r>
            <a:r>
              <a:rPr sz="1100" spc="-10" dirty="0">
                <a:latin typeface="Times New Roman"/>
                <a:cs typeface="Times New Roman"/>
              </a:rPr>
              <a:t>.</a:t>
            </a:r>
            <a:endParaRPr sz="1100">
              <a:latin typeface="Times New Roman"/>
              <a:cs typeface="Times New Roman"/>
            </a:endParaRPr>
          </a:p>
          <a:p>
            <a:pPr marL="436245" marR="340995">
              <a:lnSpc>
                <a:spcPct val="100000"/>
              </a:lnSpc>
              <a:spcBef>
                <a:spcPts val="600"/>
              </a:spcBef>
            </a:pPr>
            <a:r>
              <a:rPr sz="1100" dirty="0">
                <a:latin typeface="Times New Roman"/>
                <a:cs typeface="Times New Roman"/>
              </a:rPr>
              <a:t>Registers</a:t>
            </a:r>
            <a:r>
              <a:rPr sz="1100" spc="-20" dirty="0">
                <a:latin typeface="Times New Roman"/>
                <a:cs typeface="Times New Roman"/>
              </a:rPr>
              <a:t> </a:t>
            </a:r>
            <a:r>
              <a:rPr sz="1100" dirty="0">
                <a:latin typeface="Times New Roman"/>
                <a:cs typeface="Times New Roman"/>
              </a:rPr>
              <a:t>that</a:t>
            </a:r>
            <a:r>
              <a:rPr sz="1100" spc="-20" dirty="0">
                <a:latin typeface="Times New Roman"/>
                <a:cs typeface="Times New Roman"/>
              </a:rPr>
              <a:t> </a:t>
            </a:r>
            <a:r>
              <a:rPr sz="1100" dirty="0">
                <a:latin typeface="Times New Roman"/>
                <a:cs typeface="Times New Roman"/>
              </a:rPr>
              <a:t>must</a:t>
            </a:r>
            <a:r>
              <a:rPr sz="1100" spc="10" dirty="0">
                <a:latin typeface="Times New Roman"/>
                <a:cs typeface="Times New Roman"/>
              </a:rPr>
              <a:t> </a:t>
            </a:r>
            <a:r>
              <a:rPr sz="1100" dirty="0">
                <a:latin typeface="Times New Roman"/>
                <a:cs typeface="Times New Roman"/>
              </a:rPr>
              <a:t>hold</a:t>
            </a:r>
            <a:r>
              <a:rPr sz="1100" spc="-15" dirty="0">
                <a:latin typeface="Times New Roman"/>
                <a:cs typeface="Times New Roman"/>
              </a:rPr>
              <a:t> </a:t>
            </a:r>
            <a:r>
              <a:rPr sz="1100" dirty="0">
                <a:latin typeface="Times New Roman"/>
                <a:cs typeface="Times New Roman"/>
              </a:rPr>
              <a:t>addresses</a:t>
            </a:r>
            <a:r>
              <a:rPr sz="1100" spc="-50" dirty="0">
                <a:latin typeface="Times New Roman"/>
                <a:cs typeface="Times New Roman"/>
              </a:rPr>
              <a:t> </a:t>
            </a:r>
            <a:r>
              <a:rPr sz="1100" dirty="0">
                <a:latin typeface="Times New Roman"/>
                <a:cs typeface="Times New Roman"/>
              </a:rPr>
              <a:t>must</a:t>
            </a:r>
            <a:r>
              <a:rPr sz="1100" spc="10" dirty="0">
                <a:latin typeface="Times New Roman"/>
                <a:cs typeface="Times New Roman"/>
              </a:rPr>
              <a:t> </a:t>
            </a:r>
            <a:r>
              <a:rPr sz="1100" dirty="0">
                <a:latin typeface="Times New Roman"/>
                <a:cs typeface="Times New Roman"/>
              </a:rPr>
              <a:t>be at</a:t>
            </a:r>
            <a:r>
              <a:rPr sz="1100" spc="-10" dirty="0">
                <a:latin typeface="Times New Roman"/>
                <a:cs typeface="Times New Roman"/>
              </a:rPr>
              <a:t> </a:t>
            </a:r>
            <a:r>
              <a:rPr sz="1100" dirty="0">
                <a:latin typeface="Times New Roman"/>
                <a:cs typeface="Times New Roman"/>
              </a:rPr>
              <a:t>least</a:t>
            </a:r>
            <a:r>
              <a:rPr sz="1100" spc="-25" dirty="0">
                <a:latin typeface="Times New Roman"/>
                <a:cs typeface="Times New Roman"/>
              </a:rPr>
              <a:t> </a:t>
            </a:r>
            <a:r>
              <a:rPr sz="1100" dirty="0">
                <a:latin typeface="Times New Roman"/>
                <a:cs typeface="Times New Roman"/>
              </a:rPr>
              <a:t>long</a:t>
            </a:r>
            <a:r>
              <a:rPr sz="1100" spc="-15" dirty="0">
                <a:latin typeface="Times New Roman"/>
                <a:cs typeface="Times New Roman"/>
              </a:rPr>
              <a:t> </a:t>
            </a:r>
            <a:r>
              <a:rPr sz="1100" dirty="0">
                <a:latin typeface="Times New Roman"/>
                <a:cs typeface="Times New Roman"/>
              </a:rPr>
              <a:t>enough to</a:t>
            </a:r>
            <a:r>
              <a:rPr sz="1100" spc="-10" dirty="0">
                <a:latin typeface="Times New Roman"/>
                <a:cs typeface="Times New Roman"/>
              </a:rPr>
              <a:t> </a:t>
            </a:r>
            <a:r>
              <a:rPr sz="1100" dirty="0">
                <a:latin typeface="Times New Roman"/>
                <a:cs typeface="Times New Roman"/>
              </a:rPr>
              <a:t>hold</a:t>
            </a:r>
            <a:r>
              <a:rPr sz="1100" spc="-15" dirty="0">
                <a:latin typeface="Times New Roman"/>
                <a:cs typeface="Times New Roman"/>
              </a:rPr>
              <a:t> </a:t>
            </a:r>
            <a:r>
              <a:rPr sz="1100" dirty="0">
                <a:latin typeface="Times New Roman"/>
                <a:cs typeface="Times New Roman"/>
              </a:rPr>
              <a:t>the</a:t>
            </a:r>
            <a:r>
              <a:rPr sz="1100" spc="-5" dirty="0">
                <a:latin typeface="Times New Roman"/>
                <a:cs typeface="Times New Roman"/>
              </a:rPr>
              <a:t> </a:t>
            </a:r>
            <a:r>
              <a:rPr sz="1100" dirty="0">
                <a:latin typeface="Times New Roman"/>
                <a:cs typeface="Times New Roman"/>
              </a:rPr>
              <a:t>largest</a:t>
            </a:r>
            <a:r>
              <a:rPr sz="1100" spc="-10" dirty="0">
                <a:latin typeface="Times New Roman"/>
                <a:cs typeface="Times New Roman"/>
              </a:rPr>
              <a:t> address. </a:t>
            </a:r>
            <a:r>
              <a:rPr sz="1100" dirty="0">
                <a:latin typeface="Times New Roman"/>
                <a:cs typeface="Times New Roman"/>
              </a:rPr>
              <a:t>Data</a:t>
            </a:r>
            <a:r>
              <a:rPr sz="1100" spc="-10" dirty="0">
                <a:latin typeface="Times New Roman"/>
                <a:cs typeface="Times New Roman"/>
              </a:rPr>
              <a:t> </a:t>
            </a:r>
            <a:r>
              <a:rPr sz="1100" dirty="0">
                <a:latin typeface="Times New Roman"/>
                <a:cs typeface="Times New Roman"/>
              </a:rPr>
              <a:t>registers</a:t>
            </a:r>
            <a:r>
              <a:rPr sz="1100" spc="-35" dirty="0">
                <a:latin typeface="Times New Roman"/>
                <a:cs typeface="Times New Roman"/>
              </a:rPr>
              <a:t> </a:t>
            </a:r>
            <a:r>
              <a:rPr sz="1100" dirty="0">
                <a:latin typeface="Times New Roman"/>
                <a:cs typeface="Times New Roman"/>
              </a:rPr>
              <a:t>should</a:t>
            </a:r>
            <a:r>
              <a:rPr sz="1100" spc="-25" dirty="0">
                <a:latin typeface="Times New Roman"/>
                <a:cs typeface="Times New Roman"/>
              </a:rPr>
              <a:t> </a:t>
            </a:r>
            <a:r>
              <a:rPr sz="1100" dirty="0">
                <a:latin typeface="Times New Roman"/>
                <a:cs typeface="Times New Roman"/>
              </a:rPr>
              <a:t>be able</a:t>
            </a:r>
            <a:r>
              <a:rPr sz="1100" spc="-25" dirty="0">
                <a:latin typeface="Times New Roman"/>
                <a:cs typeface="Times New Roman"/>
              </a:rPr>
              <a:t> </a:t>
            </a:r>
            <a:r>
              <a:rPr sz="1100" dirty="0">
                <a:latin typeface="Times New Roman"/>
                <a:cs typeface="Times New Roman"/>
              </a:rPr>
              <a:t>to hold</a:t>
            </a:r>
            <a:r>
              <a:rPr sz="1100" spc="-25" dirty="0">
                <a:latin typeface="Times New Roman"/>
                <a:cs typeface="Times New Roman"/>
              </a:rPr>
              <a:t> </a:t>
            </a:r>
            <a:r>
              <a:rPr sz="1100" dirty="0">
                <a:latin typeface="Times New Roman"/>
                <a:cs typeface="Times New Roman"/>
              </a:rPr>
              <a:t>values</a:t>
            </a:r>
            <a:r>
              <a:rPr sz="1100" spc="-10" dirty="0">
                <a:latin typeface="Times New Roman"/>
                <a:cs typeface="Times New Roman"/>
              </a:rPr>
              <a:t> </a:t>
            </a:r>
            <a:r>
              <a:rPr sz="1100" dirty="0">
                <a:latin typeface="Times New Roman"/>
                <a:cs typeface="Times New Roman"/>
              </a:rPr>
              <a:t>of most</a:t>
            </a:r>
            <a:r>
              <a:rPr sz="1100" spc="10" dirty="0">
                <a:latin typeface="Times New Roman"/>
                <a:cs typeface="Times New Roman"/>
              </a:rPr>
              <a:t> </a:t>
            </a:r>
            <a:r>
              <a:rPr sz="1100" dirty="0">
                <a:latin typeface="Times New Roman"/>
                <a:cs typeface="Times New Roman"/>
              </a:rPr>
              <a:t>data</a:t>
            </a:r>
            <a:r>
              <a:rPr sz="1100" spc="-25" dirty="0">
                <a:latin typeface="Times New Roman"/>
                <a:cs typeface="Times New Roman"/>
              </a:rPr>
              <a:t> </a:t>
            </a:r>
            <a:r>
              <a:rPr sz="1100" dirty="0">
                <a:latin typeface="Times New Roman"/>
                <a:cs typeface="Times New Roman"/>
              </a:rPr>
              <a:t>types.</a:t>
            </a:r>
            <a:r>
              <a:rPr sz="1100" spc="-15" dirty="0">
                <a:latin typeface="Times New Roman"/>
                <a:cs typeface="Times New Roman"/>
              </a:rPr>
              <a:t> </a:t>
            </a:r>
            <a:r>
              <a:rPr sz="1100" dirty="0">
                <a:latin typeface="Times New Roman"/>
                <a:cs typeface="Times New Roman"/>
              </a:rPr>
              <a:t>Some</a:t>
            </a:r>
            <a:r>
              <a:rPr sz="1100" spc="10" dirty="0">
                <a:latin typeface="Times New Roman"/>
                <a:cs typeface="Times New Roman"/>
              </a:rPr>
              <a:t> </a:t>
            </a:r>
            <a:r>
              <a:rPr sz="1100" dirty="0">
                <a:latin typeface="Times New Roman"/>
                <a:cs typeface="Times New Roman"/>
              </a:rPr>
              <a:t>machines</a:t>
            </a:r>
            <a:r>
              <a:rPr sz="1100" spc="-10" dirty="0">
                <a:latin typeface="Times New Roman"/>
                <a:cs typeface="Times New Roman"/>
              </a:rPr>
              <a:t> </a:t>
            </a:r>
            <a:r>
              <a:rPr sz="1100" dirty="0">
                <a:latin typeface="Times New Roman"/>
                <a:cs typeface="Times New Roman"/>
              </a:rPr>
              <a:t>allow</a:t>
            </a:r>
            <a:r>
              <a:rPr sz="1100" spc="-30" dirty="0">
                <a:latin typeface="Times New Roman"/>
                <a:cs typeface="Times New Roman"/>
              </a:rPr>
              <a:t> </a:t>
            </a:r>
            <a:r>
              <a:rPr sz="1100" spc="-25" dirty="0">
                <a:latin typeface="Times New Roman"/>
                <a:cs typeface="Times New Roman"/>
              </a:rPr>
              <a:t>two </a:t>
            </a:r>
            <a:r>
              <a:rPr sz="1100" dirty="0">
                <a:latin typeface="Times New Roman"/>
                <a:cs typeface="Times New Roman"/>
              </a:rPr>
              <a:t>contiguous</a:t>
            </a:r>
            <a:r>
              <a:rPr sz="1100" spc="-20" dirty="0">
                <a:latin typeface="Times New Roman"/>
                <a:cs typeface="Times New Roman"/>
              </a:rPr>
              <a:t> </a:t>
            </a:r>
            <a:r>
              <a:rPr sz="1100" dirty="0">
                <a:latin typeface="Times New Roman"/>
                <a:cs typeface="Times New Roman"/>
              </a:rPr>
              <a:t>registers</a:t>
            </a:r>
            <a:r>
              <a:rPr sz="1100" spc="-30" dirty="0">
                <a:latin typeface="Times New Roman"/>
                <a:cs typeface="Times New Roman"/>
              </a:rPr>
              <a:t> </a:t>
            </a:r>
            <a:r>
              <a:rPr sz="1100" dirty="0">
                <a:latin typeface="Times New Roman"/>
                <a:cs typeface="Times New Roman"/>
              </a:rPr>
              <a:t>to</a:t>
            </a:r>
            <a:r>
              <a:rPr sz="1100" spc="5" dirty="0">
                <a:latin typeface="Times New Roman"/>
                <a:cs typeface="Times New Roman"/>
              </a:rPr>
              <a:t> </a:t>
            </a:r>
            <a:r>
              <a:rPr sz="1100" dirty="0">
                <a:latin typeface="Times New Roman"/>
                <a:cs typeface="Times New Roman"/>
              </a:rPr>
              <a:t>be</a:t>
            </a:r>
            <a:r>
              <a:rPr sz="1100" spc="-5" dirty="0">
                <a:latin typeface="Times New Roman"/>
                <a:cs typeface="Times New Roman"/>
              </a:rPr>
              <a:t> </a:t>
            </a:r>
            <a:r>
              <a:rPr sz="1100" dirty="0">
                <a:latin typeface="Times New Roman"/>
                <a:cs typeface="Times New Roman"/>
              </a:rPr>
              <a:t>used</a:t>
            </a:r>
            <a:r>
              <a:rPr sz="1100" spc="-10" dirty="0">
                <a:latin typeface="Times New Roman"/>
                <a:cs typeface="Times New Roman"/>
              </a:rPr>
              <a:t> </a:t>
            </a:r>
            <a:r>
              <a:rPr sz="1100" dirty="0">
                <a:latin typeface="Times New Roman"/>
                <a:cs typeface="Times New Roman"/>
              </a:rPr>
              <a:t>as</a:t>
            </a:r>
            <a:r>
              <a:rPr sz="1100" spc="-10" dirty="0">
                <a:latin typeface="Times New Roman"/>
                <a:cs typeface="Times New Roman"/>
              </a:rPr>
              <a:t> </a:t>
            </a:r>
            <a:r>
              <a:rPr sz="1100" dirty="0">
                <a:latin typeface="Times New Roman"/>
                <a:cs typeface="Times New Roman"/>
              </a:rPr>
              <a:t>one</a:t>
            </a:r>
            <a:r>
              <a:rPr sz="1100" spc="-5" dirty="0">
                <a:latin typeface="Times New Roman"/>
                <a:cs typeface="Times New Roman"/>
              </a:rPr>
              <a:t> </a:t>
            </a:r>
            <a:r>
              <a:rPr sz="1100" dirty="0">
                <a:latin typeface="Times New Roman"/>
                <a:cs typeface="Times New Roman"/>
              </a:rPr>
              <a:t>for</a:t>
            </a:r>
            <a:r>
              <a:rPr sz="1100" spc="-5" dirty="0">
                <a:latin typeface="Times New Roman"/>
                <a:cs typeface="Times New Roman"/>
              </a:rPr>
              <a:t> </a:t>
            </a:r>
            <a:r>
              <a:rPr sz="1100" dirty="0">
                <a:latin typeface="Times New Roman"/>
                <a:cs typeface="Times New Roman"/>
              </a:rPr>
              <a:t>holding</a:t>
            </a:r>
            <a:r>
              <a:rPr sz="1100" spc="-20" dirty="0">
                <a:latin typeface="Times New Roman"/>
                <a:cs typeface="Times New Roman"/>
              </a:rPr>
              <a:t> </a:t>
            </a:r>
            <a:r>
              <a:rPr sz="1100" dirty="0">
                <a:latin typeface="Times New Roman"/>
                <a:cs typeface="Times New Roman"/>
              </a:rPr>
              <a:t>double-length</a:t>
            </a:r>
            <a:r>
              <a:rPr sz="1100" spc="-10" dirty="0">
                <a:latin typeface="Times New Roman"/>
                <a:cs typeface="Times New Roman"/>
              </a:rPr>
              <a:t> values.</a:t>
            </a:r>
            <a:endParaRPr sz="1100">
              <a:latin typeface="Times New Roman"/>
              <a:cs typeface="Times New Roman"/>
            </a:endParaRPr>
          </a:p>
          <a:p>
            <a:pPr marR="144780" algn="r">
              <a:lnSpc>
                <a:spcPct val="100000"/>
              </a:lnSpc>
              <a:spcBef>
                <a:spcPts val="25"/>
              </a:spcBef>
            </a:pPr>
            <a:r>
              <a:rPr sz="1000" b="1" spc="-25" dirty="0">
                <a:solidFill>
                  <a:srgbClr val="3E762B"/>
                </a:solidFill>
                <a:latin typeface="Corbel"/>
                <a:cs typeface="Corbel"/>
              </a:rPr>
              <a:t>39</a:t>
            </a:r>
            <a:endParaRPr sz="1000">
              <a:latin typeface="Corbel"/>
              <a:cs typeface="Corbel"/>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22</a:t>
            </a:fld>
            <a:endParaRPr spc="-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81000" y="868680"/>
            <a:ext cx="6096000" cy="3429000"/>
            <a:chOff x="381000" y="868680"/>
            <a:chExt cx="6096000" cy="3429000"/>
          </a:xfrm>
        </p:grpSpPr>
        <p:sp>
          <p:nvSpPr>
            <p:cNvPr id="3" name="object 3"/>
            <p:cNvSpPr/>
            <p:nvPr/>
          </p:nvSpPr>
          <p:spPr>
            <a:xfrm>
              <a:off x="381000" y="868680"/>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4" name="object 4"/>
            <p:cNvSpPr/>
            <p:nvPr/>
          </p:nvSpPr>
          <p:spPr>
            <a:xfrm>
              <a:off x="1370838" y="2736341"/>
              <a:ext cx="4114800" cy="0"/>
            </a:xfrm>
            <a:custGeom>
              <a:avLst/>
              <a:gdLst/>
              <a:ahLst/>
              <a:cxnLst/>
              <a:rect l="l" t="t" r="r" b="b"/>
              <a:pathLst>
                <a:path w="4114800">
                  <a:moveTo>
                    <a:pt x="0" y="0"/>
                  </a:moveTo>
                  <a:lnTo>
                    <a:pt x="4114800" y="0"/>
                  </a:lnTo>
                </a:path>
              </a:pathLst>
            </a:custGeom>
            <a:ln w="4572">
              <a:solidFill>
                <a:srgbClr val="FFFFFF"/>
              </a:solidFill>
            </a:ln>
          </p:spPr>
          <p:txBody>
            <a:bodyPr wrap="square" lIns="0" tIns="0" rIns="0" bIns="0" rtlCol="0"/>
            <a:lstStyle/>
            <a:p>
              <a:endParaRPr/>
            </a:p>
          </p:txBody>
        </p:sp>
      </p:grpSp>
      <p:sp>
        <p:nvSpPr>
          <p:cNvPr id="5" name="object 5"/>
          <p:cNvSpPr txBox="1"/>
          <p:nvPr/>
        </p:nvSpPr>
        <p:spPr>
          <a:xfrm>
            <a:off x="496823" y="990600"/>
            <a:ext cx="5862955" cy="3188335"/>
          </a:xfrm>
          <a:prstGeom prst="rect">
            <a:avLst/>
          </a:prstGeom>
          <a:ln w="6096">
            <a:solidFill>
              <a:srgbClr val="FFFFFF"/>
            </a:solidFill>
          </a:ln>
        </p:spPr>
        <p:txBody>
          <a:bodyPr vert="horz" wrap="square" lIns="0" tIns="0" rIns="0" bIns="0" rtlCol="0">
            <a:spAutoFit/>
          </a:bodyPr>
          <a:lstStyle/>
          <a:p>
            <a:pPr>
              <a:lnSpc>
                <a:spcPct val="100000"/>
              </a:lnSpc>
            </a:pPr>
            <a:endParaRPr sz="3600">
              <a:latin typeface="Times New Roman"/>
              <a:cs typeface="Times New Roman"/>
            </a:endParaRPr>
          </a:p>
          <a:p>
            <a:pPr>
              <a:lnSpc>
                <a:spcPct val="100000"/>
              </a:lnSpc>
              <a:spcBef>
                <a:spcPts val="1065"/>
              </a:spcBef>
            </a:pPr>
            <a:endParaRPr sz="3600">
              <a:latin typeface="Times New Roman"/>
              <a:cs typeface="Times New Roman"/>
            </a:endParaRPr>
          </a:p>
          <a:p>
            <a:pPr algn="ctr">
              <a:lnSpc>
                <a:spcPct val="100000"/>
              </a:lnSpc>
            </a:pPr>
            <a:r>
              <a:rPr sz="3600" b="1" spc="-35" dirty="0">
                <a:solidFill>
                  <a:srgbClr val="FFFFFF"/>
                </a:solidFill>
                <a:latin typeface="Times New Roman"/>
                <a:cs typeface="Times New Roman"/>
              </a:rPr>
              <a:t>Stack</a:t>
            </a:r>
            <a:r>
              <a:rPr sz="3600" b="1" spc="-180" dirty="0">
                <a:solidFill>
                  <a:srgbClr val="FFFFFF"/>
                </a:solidFill>
                <a:latin typeface="Times New Roman"/>
                <a:cs typeface="Times New Roman"/>
              </a:rPr>
              <a:t> </a:t>
            </a:r>
            <a:r>
              <a:rPr sz="3600" b="1" spc="-10" dirty="0">
                <a:solidFill>
                  <a:srgbClr val="FFFFFF"/>
                </a:solidFill>
                <a:latin typeface="Times New Roman"/>
                <a:cs typeface="Times New Roman"/>
              </a:rPr>
              <a:t>Organization</a:t>
            </a:r>
            <a:endParaRPr sz="3600">
              <a:latin typeface="Times New Roman"/>
              <a:cs typeface="Times New Roman"/>
            </a:endParaRPr>
          </a:p>
          <a:p>
            <a:pPr>
              <a:lnSpc>
                <a:spcPct val="100000"/>
              </a:lnSpc>
            </a:pPr>
            <a:endParaRPr sz="3600">
              <a:latin typeface="Times New Roman"/>
              <a:cs typeface="Times New Roman"/>
            </a:endParaRPr>
          </a:p>
          <a:p>
            <a:pPr>
              <a:lnSpc>
                <a:spcPct val="100000"/>
              </a:lnSpc>
              <a:spcBef>
                <a:spcPts val="1925"/>
              </a:spcBef>
            </a:pPr>
            <a:endParaRPr sz="3600">
              <a:latin typeface="Times New Roman"/>
              <a:cs typeface="Times New Roman"/>
            </a:endParaRPr>
          </a:p>
          <a:p>
            <a:pPr marR="499109" algn="r">
              <a:lnSpc>
                <a:spcPct val="100000"/>
              </a:lnSpc>
            </a:pPr>
            <a:r>
              <a:rPr sz="600" spc="-25" dirty="0">
                <a:solidFill>
                  <a:srgbClr val="FFFFFF"/>
                </a:solidFill>
                <a:latin typeface="Corbel"/>
                <a:cs typeface="Corbel"/>
              </a:rPr>
              <a:t>40</a:t>
            </a:r>
            <a:endParaRPr sz="600">
              <a:latin typeface="Corbel"/>
              <a:cs typeface="Corbel"/>
            </a:endParaRPr>
          </a:p>
        </p:txBody>
      </p:sp>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Register</a:t>
            </a:r>
            <a:r>
              <a:rPr sz="2200" spc="-40" dirty="0">
                <a:latin typeface="Georgia"/>
                <a:cs typeface="Georgia"/>
              </a:rPr>
              <a:t> </a:t>
            </a:r>
            <a:r>
              <a:rPr sz="2200" dirty="0">
                <a:latin typeface="Georgia"/>
                <a:cs typeface="Georgia"/>
              </a:rPr>
              <a:t>Stack</a:t>
            </a:r>
            <a:r>
              <a:rPr sz="2200" spc="-60" dirty="0">
                <a:latin typeface="Georgia"/>
                <a:cs typeface="Georgia"/>
              </a:rPr>
              <a:t> </a:t>
            </a:r>
            <a:r>
              <a:rPr sz="2200" spc="-10" dirty="0">
                <a:latin typeface="Georgia"/>
                <a:cs typeface="Georgia"/>
              </a:rPr>
              <a:t>Organization</a:t>
            </a:r>
            <a:endParaRPr sz="2200" dirty="0">
              <a:latin typeface="Georgia"/>
              <a:cs typeface="Georgia"/>
            </a:endParaRPr>
          </a:p>
          <a:p>
            <a:pPr marL="262255">
              <a:lnSpc>
                <a:spcPct val="100000"/>
              </a:lnSpc>
              <a:spcBef>
                <a:spcPts val="1290"/>
              </a:spcBef>
            </a:pPr>
            <a:r>
              <a:rPr sz="1400" b="1" u="sng" spc="-10" dirty="0">
                <a:uFill>
                  <a:solidFill>
                    <a:srgbClr val="000000"/>
                  </a:solidFill>
                </a:uFill>
                <a:latin typeface="Times New Roman"/>
                <a:cs typeface="Times New Roman"/>
              </a:rPr>
              <a:t>Stack</a:t>
            </a:r>
            <a:endParaRPr sz="1400" dirty="0">
              <a:latin typeface="Times New Roman"/>
              <a:cs typeface="Times New Roman"/>
            </a:endParaRPr>
          </a:p>
          <a:p>
            <a:pPr marL="570865" indent="-80010">
              <a:lnSpc>
                <a:spcPct val="100000"/>
              </a:lnSpc>
              <a:spcBef>
                <a:spcPts val="610"/>
              </a:spcBef>
              <a:buChar char="-"/>
              <a:tabLst>
                <a:tab pos="570865"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very</a:t>
            </a:r>
            <a:r>
              <a:rPr sz="1200" spc="-60" dirty="0">
                <a:latin typeface="Times New Roman"/>
                <a:cs typeface="Times New Roman"/>
              </a:rPr>
              <a:t> </a:t>
            </a:r>
            <a:r>
              <a:rPr sz="1200" dirty="0">
                <a:latin typeface="Times New Roman"/>
                <a:cs typeface="Times New Roman"/>
              </a:rPr>
              <a:t>useful</a:t>
            </a:r>
            <a:r>
              <a:rPr sz="1200" spc="-30" dirty="0">
                <a:latin typeface="Times New Roman"/>
                <a:cs typeface="Times New Roman"/>
              </a:rPr>
              <a:t> </a:t>
            </a:r>
            <a:r>
              <a:rPr sz="1200" dirty="0">
                <a:latin typeface="Times New Roman"/>
                <a:cs typeface="Times New Roman"/>
              </a:rPr>
              <a:t>feature</a:t>
            </a:r>
            <a:r>
              <a:rPr sz="1200" spc="-35" dirty="0">
                <a:latin typeface="Times New Roman"/>
                <a:cs typeface="Times New Roman"/>
              </a:rPr>
              <a:t> </a:t>
            </a:r>
            <a:r>
              <a:rPr sz="1200" dirty="0">
                <a:latin typeface="Times New Roman"/>
                <a:cs typeface="Times New Roman"/>
              </a:rPr>
              <a:t>for</a:t>
            </a:r>
            <a:r>
              <a:rPr sz="1200" spc="-35" dirty="0">
                <a:latin typeface="Times New Roman"/>
                <a:cs typeface="Times New Roman"/>
              </a:rPr>
              <a:t> </a:t>
            </a:r>
            <a:r>
              <a:rPr sz="1200" b="1" dirty="0">
                <a:latin typeface="Times New Roman"/>
                <a:cs typeface="Times New Roman"/>
              </a:rPr>
              <a:t>nested</a:t>
            </a:r>
            <a:r>
              <a:rPr sz="1200" b="1" spc="-20" dirty="0">
                <a:latin typeface="Times New Roman"/>
                <a:cs typeface="Times New Roman"/>
              </a:rPr>
              <a:t> </a:t>
            </a:r>
            <a:r>
              <a:rPr sz="1200" dirty="0">
                <a:latin typeface="Times New Roman"/>
                <a:cs typeface="Times New Roman"/>
              </a:rPr>
              <a:t>subroutines,</a:t>
            </a:r>
            <a:r>
              <a:rPr sz="1200" spc="-35" dirty="0">
                <a:latin typeface="Times New Roman"/>
                <a:cs typeface="Times New Roman"/>
              </a:rPr>
              <a:t> </a:t>
            </a:r>
            <a:r>
              <a:rPr sz="1200" dirty="0">
                <a:latin typeface="Times New Roman"/>
                <a:cs typeface="Times New Roman"/>
              </a:rPr>
              <a:t>nested</a:t>
            </a:r>
            <a:r>
              <a:rPr sz="1200" spc="-35" dirty="0">
                <a:latin typeface="Times New Roman"/>
                <a:cs typeface="Times New Roman"/>
              </a:rPr>
              <a:t> </a:t>
            </a:r>
            <a:r>
              <a:rPr sz="1200" dirty="0">
                <a:latin typeface="Times New Roman"/>
                <a:cs typeface="Times New Roman"/>
              </a:rPr>
              <a:t>interrupt</a:t>
            </a:r>
            <a:r>
              <a:rPr sz="1200" spc="-35" dirty="0">
                <a:latin typeface="Times New Roman"/>
                <a:cs typeface="Times New Roman"/>
              </a:rPr>
              <a:t> </a:t>
            </a:r>
            <a:r>
              <a:rPr sz="1200" spc="-10" dirty="0">
                <a:latin typeface="Times New Roman"/>
                <a:cs typeface="Times New Roman"/>
              </a:rPr>
              <a:t>services.</a:t>
            </a:r>
            <a:endParaRPr sz="1200" dirty="0">
              <a:latin typeface="Times New Roman"/>
              <a:cs typeface="Times New Roman"/>
            </a:endParaRPr>
          </a:p>
          <a:p>
            <a:pPr marL="570865" indent="-80010">
              <a:lnSpc>
                <a:spcPct val="100000"/>
              </a:lnSpc>
              <a:spcBef>
                <a:spcPts val="600"/>
              </a:spcBef>
              <a:buChar char="-"/>
              <a:tabLst>
                <a:tab pos="570865" algn="l"/>
              </a:tabLst>
            </a:pPr>
            <a:r>
              <a:rPr sz="1200" dirty="0">
                <a:latin typeface="Times New Roman"/>
                <a:cs typeface="Times New Roman"/>
              </a:rPr>
              <a:t>Also</a:t>
            </a:r>
            <a:r>
              <a:rPr sz="1200" spc="-30" dirty="0">
                <a:latin typeface="Times New Roman"/>
                <a:cs typeface="Times New Roman"/>
              </a:rPr>
              <a:t> </a:t>
            </a:r>
            <a:r>
              <a:rPr sz="1200" spc="-10" dirty="0">
                <a:latin typeface="Times New Roman"/>
                <a:cs typeface="Times New Roman"/>
              </a:rPr>
              <a:t>efficient</a:t>
            </a:r>
            <a:r>
              <a:rPr sz="1200" spc="-25" dirty="0">
                <a:latin typeface="Times New Roman"/>
                <a:cs typeface="Times New Roman"/>
              </a:rPr>
              <a:t> </a:t>
            </a:r>
            <a:r>
              <a:rPr sz="1200" dirty="0">
                <a:latin typeface="Times New Roman"/>
                <a:cs typeface="Times New Roman"/>
              </a:rPr>
              <a:t>for</a:t>
            </a:r>
            <a:r>
              <a:rPr sz="1200" spc="-20" dirty="0">
                <a:latin typeface="Times New Roman"/>
                <a:cs typeface="Times New Roman"/>
              </a:rPr>
              <a:t> </a:t>
            </a:r>
            <a:r>
              <a:rPr sz="1200" b="1" dirty="0">
                <a:latin typeface="Times New Roman"/>
                <a:cs typeface="Times New Roman"/>
              </a:rPr>
              <a:t>arithmetic</a:t>
            </a:r>
            <a:r>
              <a:rPr sz="1200" b="1" spc="-15" dirty="0">
                <a:latin typeface="Times New Roman"/>
                <a:cs typeface="Times New Roman"/>
              </a:rPr>
              <a:t> </a:t>
            </a:r>
            <a:r>
              <a:rPr sz="1200" b="1" dirty="0">
                <a:latin typeface="Times New Roman"/>
                <a:cs typeface="Times New Roman"/>
              </a:rPr>
              <a:t>expression</a:t>
            </a:r>
            <a:r>
              <a:rPr sz="1200" b="1" spc="-25" dirty="0">
                <a:latin typeface="Times New Roman"/>
                <a:cs typeface="Times New Roman"/>
              </a:rPr>
              <a:t> </a:t>
            </a:r>
            <a:r>
              <a:rPr sz="1200" b="1" spc="-10" dirty="0">
                <a:latin typeface="Times New Roman"/>
                <a:cs typeface="Times New Roman"/>
              </a:rPr>
              <a:t>evaluation</a:t>
            </a:r>
            <a:endParaRPr sz="1200" dirty="0">
              <a:latin typeface="Times New Roman"/>
              <a:cs typeface="Times New Roman"/>
            </a:endParaRPr>
          </a:p>
          <a:p>
            <a:pPr marL="578485" indent="-87630">
              <a:lnSpc>
                <a:spcPct val="100000"/>
              </a:lnSpc>
              <a:spcBef>
                <a:spcPts val="600"/>
              </a:spcBef>
              <a:buChar char="-"/>
              <a:tabLst>
                <a:tab pos="578485" algn="l"/>
              </a:tabLst>
            </a:pPr>
            <a:r>
              <a:rPr sz="1200" dirty="0">
                <a:latin typeface="Times New Roman"/>
                <a:cs typeface="Times New Roman"/>
              </a:rPr>
              <a:t>Storage</a:t>
            </a:r>
            <a:r>
              <a:rPr sz="1200" spc="-10" dirty="0">
                <a:latin typeface="Times New Roman"/>
                <a:cs typeface="Times New Roman"/>
              </a:rPr>
              <a:t> </a:t>
            </a:r>
            <a:r>
              <a:rPr sz="1200" dirty="0">
                <a:latin typeface="Times New Roman"/>
                <a:cs typeface="Times New Roman"/>
              </a:rPr>
              <a:t>which</a:t>
            </a:r>
            <a:r>
              <a:rPr sz="1200" spc="-20" dirty="0">
                <a:latin typeface="Times New Roman"/>
                <a:cs typeface="Times New Roman"/>
              </a:rPr>
              <a:t> </a:t>
            </a:r>
            <a:r>
              <a:rPr sz="1200" dirty="0">
                <a:latin typeface="Times New Roman"/>
                <a:cs typeface="Times New Roman"/>
              </a:rPr>
              <a:t>can</a:t>
            </a:r>
            <a:r>
              <a:rPr sz="1200" spc="-20" dirty="0">
                <a:latin typeface="Times New Roman"/>
                <a:cs typeface="Times New Roman"/>
              </a:rPr>
              <a:t> </a:t>
            </a:r>
            <a:r>
              <a:rPr sz="1200" dirty="0">
                <a:latin typeface="Times New Roman"/>
                <a:cs typeface="Times New Roman"/>
              </a:rPr>
              <a:t>be</a:t>
            </a:r>
            <a:r>
              <a:rPr sz="1200" spc="-15" dirty="0">
                <a:latin typeface="Times New Roman"/>
                <a:cs typeface="Times New Roman"/>
              </a:rPr>
              <a:t> </a:t>
            </a:r>
            <a:r>
              <a:rPr sz="1200" dirty="0">
                <a:latin typeface="Times New Roman"/>
                <a:cs typeface="Times New Roman"/>
              </a:rPr>
              <a:t>accessed</a:t>
            </a:r>
            <a:r>
              <a:rPr sz="1200" spc="-15" dirty="0">
                <a:latin typeface="Times New Roman"/>
                <a:cs typeface="Times New Roman"/>
              </a:rPr>
              <a:t> </a:t>
            </a:r>
            <a:r>
              <a:rPr sz="1200" dirty="0">
                <a:latin typeface="Times New Roman"/>
                <a:cs typeface="Times New Roman"/>
              </a:rPr>
              <a:t>in</a:t>
            </a:r>
            <a:r>
              <a:rPr sz="1200" spc="-10" dirty="0">
                <a:latin typeface="Times New Roman"/>
                <a:cs typeface="Times New Roman"/>
              </a:rPr>
              <a:t> </a:t>
            </a:r>
            <a:r>
              <a:rPr sz="1200" b="1" dirty="0">
                <a:latin typeface="Times New Roman"/>
                <a:cs typeface="Times New Roman"/>
              </a:rPr>
              <a:t>Last</a:t>
            </a:r>
            <a:r>
              <a:rPr sz="1200" b="1" spc="-20" dirty="0">
                <a:latin typeface="Times New Roman"/>
                <a:cs typeface="Times New Roman"/>
              </a:rPr>
              <a:t> </a:t>
            </a:r>
            <a:r>
              <a:rPr sz="1200" b="1" dirty="0">
                <a:latin typeface="Times New Roman"/>
                <a:cs typeface="Times New Roman"/>
              </a:rPr>
              <a:t>In</a:t>
            </a:r>
            <a:r>
              <a:rPr sz="1200" b="1" spc="-20" dirty="0">
                <a:latin typeface="Times New Roman"/>
                <a:cs typeface="Times New Roman"/>
              </a:rPr>
              <a:t> </a:t>
            </a:r>
            <a:r>
              <a:rPr sz="1200" b="1" dirty="0">
                <a:latin typeface="Times New Roman"/>
                <a:cs typeface="Times New Roman"/>
              </a:rPr>
              <a:t>First</a:t>
            </a:r>
            <a:r>
              <a:rPr sz="1200" b="1" spc="-15" dirty="0">
                <a:latin typeface="Times New Roman"/>
                <a:cs typeface="Times New Roman"/>
              </a:rPr>
              <a:t> </a:t>
            </a:r>
            <a:r>
              <a:rPr sz="1200" b="1" dirty="0">
                <a:latin typeface="Times New Roman"/>
                <a:cs typeface="Times New Roman"/>
              </a:rPr>
              <a:t>Out</a:t>
            </a:r>
            <a:r>
              <a:rPr sz="1200" b="1" spc="-35" dirty="0">
                <a:latin typeface="Times New Roman"/>
                <a:cs typeface="Times New Roman"/>
              </a:rPr>
              <a:t> </a:t>
            </a:r>
            <a:r>
              <a:rPr sz="1200" b="1" spc="-10" dirty="0">
                <a:latin typeface="Times New Roman"/>
                <a:cs typeface="Times New Roman"/>
              </a:rPr>
              <a:t>(LIFO)</a:t>
            </a:r>
            <a:endParaRPr sz="1200" dirty="0">
              <a:latin typeface="Times New Roman"/>
              <a:cs typeface="Times New Roman"/>
            </a:endParaRPr>
          </a:p>
          <a:p>
            <a:pPr marL="578485" indent="-87630">
              <a:lnSpc>
                <a:spcPct val="100000"/>
              </a:lnSpc>
              <a:spcBef>
                <a:spcPts val="600"/>
              </a:spcBef>
              <a:buChar char="-"/>
              <a:tabLst>
                <a:tab pos="578485" algn="l"/>
              </a:tabLst>
            </a:pPr>
            <a:r>
              <a:rPr sz="1200" dirty="0">
                <a:latin typeface="Times New Roman"/>
                <a:cs typeface="Times New Roman"/>
              </a:rPr>
              <a:t>Pointer:</a:t>
            </a:r>
            <a:r>
              <a:rPr sz="1200" spc="-40" dirty="0">
                <a:latin typeface="Times New Roman"/>
                <a:cs typeface="Times New Roman"/>
              </a:rPr>
              <a:t> </a:t>
            </a:r>
            <a:r>
              <a:rPr sz="1200" dirty="0">
                <a:latin typeface="Times New Roman"/>
                <a:cs typeface="Times New Roman"/>
              </a:rPr>
              <a:t>SP</a:t>
            </a:r>
            <a:r>
              <a:rPr sz="1200" spc="-65" dirty="0">
                <a:latin typeface="Times New Roman"/>
                <a:cs typeface="Times New Roman"/>
              </a:rPr>
              <a:t> </a:t>
            </a:r>
            <a:r>
              <a:rPr sz="1200" dirty="0">
                <a:latin typeface="Times New Roman"/>
                <a:cs typeface="Times New Roman"/>
              </a:rPr>
              <a:t>(stack</a:t>
            </a:r>
            <a:r>
              <a:rPr sz="1200" spc="-15" dirty="0">
                <a:latin typeface="Times New Roman"/>
                <a:cs typeface="Times New Roman"/>
              </a:rPr>
              <a:t> </a:t>
            </a:r>
            <a:r>
              <a:rPr sz="1200" spc="-10" dirty="0">
                <a:latin typeface="Times New Roman"/>
                <a:cs typeface="Times New Roman"/>
              </a:rPr>
              <a:t>pointer)</a:t>
            </a:r>
            <a:endParaRPr sz="1200" dirty="0">
              <a:latin typeface="Times New Roman"/>
              <a:cs typeface="Times New Roman"/>
            </a:endParaRPr>
          </a:p>
          <a:p>
            <a:pPr marL="578485" indent="-87630">
              <a:lnSpc>
                <a:spcPct val="100000"/>
              </a:lnSpc>
              <a:spcBef>
                <a:spcPts val="600"/>
              </a:spcBef>
              <a:buChar char="-"/>
              <a:tabLst>
                <a:tab pos="578485" algn="l"/>
              </a:tabLst>
            </a:pPr>
            <a:r>
              <a:rPr sz="1200" dirty="0">
                <a:latin typeface="Times New Roman"/>
                <a:cs typeface="Times New Roman"/>
              </a:rPr>
              <a:t>Only</a:t>
            </a:r>
            <a:r>
              <a:rPr sz="1200" spc="-20" dirty="0">
                <a:latin typeface="Times New Roman"/>
                <a:cs typeface="Times New Roman"/>
              </a:rPr>
              <a:t> </a:t>
            </a:r>
            <a:r>
              <a:rPr sz="1200" dirty="0">
                <a:latin typeface="Times New Roman"/>
                <a:cs typeface="Times New Roman"/>
              </a:rPr>
              <a:t>PUSH</a:t>
            </a:r>
            <a:r>
              <a:rPr sz="1200" spc="-5" dirty="0">
                <a:latin typeface="Times New Roman"/>
                <a:cs typeface="Times New Roman"/>
              </a:rPr>
              <a:t> </a:t>
            </a:r>
            <a:r>
              <a:rPr sz="1200" dirty="0">
                <a:latin typeface="Times New Roman"/>
                <a:cs typeface="Times New Roman"/>
              </a:rPr>
              <a:t>and</a:t>
            </a:r>
            <a:r>
              <a:rPr sz="1200" spc="-15" dirty="0">
                <a:latin typeface="Times New Roman"/>
                <a:cs typeface="Times New Roman"/>
              </a:rPr>
              <a:t> </a:t>
            </a:r>
            <a:r>
              <a:rPr sz="1200" dirty="0">
                <a:latin typeface="Times New Roman"/>
                <a:cs typeface="Times New Roman"/>
              </a:rPr>
              <a:t>POP</a:t>
            </a:r>
            <a:r>
              <a:rPr sz="1200" spc="-65" dirty="0">
                <a:latin typeface="Times New Roman"/>
                <a:cs typeface="Times New Roman"/>
              </a:rPr>
              <a:t> </a:t>
            </a:r>
            <a:r>
              <a:rPr sz="1200" dirty="0">
                <a:latin typeface="Times New Roman"/>
                <a:cs typeface="Times New Roman"/>
              </a:rPr>
              <a:t>operations</a:t>
            </a:r>
            <a:r>
              <a:rPr sz="1200" spc="-15" dirty="0">
                <a:latin typeface="Times New Roman"/>
                <a:cs typeface="Times New Roman"/>
              </a:rPr>
              <a:t> </a:t>
            </a:r>
            <a:r>
              <a:rPr sz="1200" dirty="0">
                <a:latin typeface="Times New Roman"/>
                <a:cs typeface="Times New Roman"/>
              </a:rPr>
              <a:t>are</a:t>
            </a:r>
            <a:r>
              <a:rPr sz="1200" spc="-15" dirty="0">
                <a:latin typeface="Times New Roman"/>
                <a:cs typeface="Times New Roman"/>
              </a:rPr>
              <a:t> </a:t>
            </a:r>
            <a:r>
              <a:rPr sz="1200" spc="-10" dirty="0">
                <a:latin typeface="Times New Roman"/>
                <a:cs typeface="Times New Roman"/>
              </a:rPr>
              <a:t>applicable</a:t>
            </a:r>
            <a:endParaRPr sz="1200" dirty="0">
              <a:latin typeface="Times New Roman"/>
              <a:cs typeface="Times New Roman"/>
            </a:endParaRPr>
          </a:p>
          <a:p>
            <a:pPr>
              <a:lnSpc>
                <a:spcPct val="100000"/>
              </a:lnSpc>
              <a:spcBef>
                <a:spcPts val="1260"/>
              </a:spcBef>
            </a:pPr>
            <a:endParaRPr sz="1200" dirty="0">
              <a:latin typeface="Times New Roman"/>
              <a:cs typeface="Times New Roman"/>
            </a:endParaRPr>
          </a:p>
          <a:p>
            <a:pPr marL="262255" marR="229235">
              <a:lnSpc>
                <a:spcPct val="100000"/>
              </a:lnSpc>
            </a:pPr>
            <a:r>
              <a:rPr sz="1200" b="1" dirty="0">
                <a:latin typeface="Times New Roman"/>
                <a:cs typeface="Times New Roman"/>
              </a:rPr>
              <a:t>A</a:t>
            </a:r>
            <a:r>
              <a:rPr sz="1200" b="1" spc="-75" dirty="0">
                <a:latin typeface="Times New Roman"/>
                <a:cs typeface="Times New Roman"/>
              </a:rPr>
              <a:t> </a:t>
            </a:r>
            <a:r>
              <a:rPr sz="1200" b="1" dirty="0">
                <a:latin typeface="Times New Roman"/>
                <a:cs typeface="Times New Roman"/>
              </a:rPr>
              <a:t>stack</a:t>
            </a:r>
            <a:r>
              <a:rPr sz="1200" b="1" spc="-20" dirty="0">
                <a:latin typeface="Times New Roman"/>
                <a:cs typeface="Times New Roman"/>
              </a:rPr>
              <a:t> </a:t>
            </a:r>
            <a:r>
              <a:rPr sz="1200" b="1" dirty="0">
                <a:latin typeface="Times New Roman"/>
                <a:cs typeface="Times New Roman"/>
              </a:rPr>
              <a:t>can</a:t>
            </a:r>
            <a:r>
              <a:rPr sz="1200" b="1" spc="-15" dirty="0">
                <a:latin typeface="Times New Roman"/>
                <a:cs typeface="Times New Roman"/>
              </a:rPr>
              <a:t> </a:t>
            </a:r>
            <a:r>
              <a:rPr sz="1200" b="1" dirty="0">
                <a:latin typeface="Times New Roman"/>
                <a:cs typeface="Times New Roman"/>
              </a:rPr>
              <a:t>exist</a:t>
            </a:r>
            <a:r>
              <a:rPr sz="1200" b="1" spc="-5" dirty="0">
                <a:latin typeface="Times New Roman"/>
                <a:cs typeface="Times New Roman"/>
              </a:rPr>
              <a:t> </a:t>
            </a:r>
            <a:r>
              <a:rPr sz="1200" b="1" dirty="0">
                <a:latin typeface="Times New Roman"/>
                <a:cs typeface="Times New Roman"/>
              </a:rPr>
              <a:t>as</a:t>
            </a:r>
            <a:r>
              <a:rPr sz="1200" b="1" spc="-15" dirty="0">
                <a:latin typeface="Times New Roman"/>
                <a:cs typeface="Times New Roman"/>
              </a:rPr>
              <a:t> </a:t>
            </a:r>
            <a:r>
              <a:rPr sz="1200" b="1" dirty="0">
                <a:latin typeface="Times New Roman"/>
                <a:cs typeface="Times New Roman"/>
              </a:rPr>
              <a:t>a</a:t>
            </a:r>
            <a:r>
              <a:rPr sz="1200" b="1" spc="-15" dirty="0">
                <a:latin typeface="Times New Roman"/>
                <a:cs typeface="Times New Roman"/>
              </a:rPr>
              <a:t> </a:t>
            </a:r>
            <a:r>
              <a:rPr sz="1200" b="1" dirty="0">
                <a:latin typeface="Times New Roman"/>
                <a:cs typeface="Times New Roman"/>
              </a:rPr>
              <a:t>stand-alone</a:t>
            </a:r>
            <a:r>
              <a:rPr sz="1200" b="1" spc="-35" dirty="0">
                <a:latin typeface="Times New Roman"/>
                <a:cs typeface="Times New Roman"/>
              </a:rPr>
              <a:t> </a:t>
            </a:r>
            <a:r>
              <a:rPr sz="1200" b="1" dirty="0">
                <a:latin typeface="Times New Roman"/>
                <a:cs typeface="Times New Roman"/>
              </a:rPr>
              <a:t>unit</a:t>
            </a:r>
            <a:r>
              <a:rPr sz="1200" b="1" spc="-15" dirty="0">
                <a:latin typeface="Times New Roman"/>
                <a:cs typeface="Times New Roman"/>
              </a:rPr>
              <a:t> </a:t>
            </a:r>
            <a:r>
              <a:rPr sz="1200" b="1" dirty="0">
                <a:latin typeface="Times New Roman"/>
                <a:cs typeface="Times New Roman"/>
              </a:rPr>
              <a:t>or</a:t>
            </a:r>
            <a:r>
              <a:rPr sz="1200" b="1" spc="-45" dirty="0">
                <a:latin typeface="Times New Roman"/>
                <a:cs typeface="Times New Roman"/>
              </a:rPr>
              <a:t> </a:t>
            </a:r>
            <a:r>
              <a:rPr sz="1200" b="1" dirty="0">
                <a:latin typeface="Times New Roman"/>
                <a:cs typeface="Times New Roman"/>
              </a:rPr>
              <a:t>can</a:t>
            </a:r>
            <a:r>
              <a:rPr sz="1200" b="1" spc="-15" dirty="0">
                <a:latin typeface="Times New Roman"/>
                <a:cs typeface="Times New Roman"/>
              </a:rPr>
              <a:t> </a:t>
            </a:r>
            <a:r>
              <a:rPr sz="1200" b="1" dirty="0">
                <a:latin typeface="Times New Roman"/>
                <a:cs typeface="Times New Roman"/>
              </a:rPr>
              <a:t>be</a:t>
            </a:r>
            <a:r>
              <a:rPr sz="1200" b="1" spc="-20" dirty="0">
                <a:latin typeface="Times New Roman"/>
                <a:cs typeface="Times New Roman"/>
              </a:rPr>
              <a:t> </a:t>
            </a:r>
            <a:r>
              <a:rPr sz="1200" b="1" dirty="0">
                <a:latin typeface="Times New Roman"/>
                <a:cs typeface="Times New Roman"/>
              </a:rPr>
              <a:t>implemented</a:t>
            </a:r>
            <a:r>
              <a:rPr sz="1200" b="1" spc="5" dirty="0">
                <a:latin typeface="Times New Roman"/>
                <a:cs typeface="Times New Roman"/>
              </a:rPr>
              <a:t> </a:t>
            </a:r>
            <a:r>
              <a:rPr sz="1200" b="1" dirty="0">
                <a:latin typeface="Times New Roman"/>
                <a:cs typeface="Times New Roman"/>
              </a:rPr>
              <a:t>in</a:t>
            </a:r>
            <a:r>
              <a:rPr sz="1200" b="1" spc="-10" dirty="0">
                <a:latin typeface="Times New Roman"/>
                <a:cs typeface="Times New Roman"/>
              </a:rPr>
              <a:t> </a:t>
            </a:r>
            <a:r>
              <a:rPr sz="1200" b="1" dirty="0">
                <a:latin typeface="Times New Roman"/>
                <a:cs typeface="Times New Roman"/>
              </a:rPr>
              <a:t>the</a:t>
            </a:r>
            <a:r>
              <a:rPr sz="1200" b="1" spc="-15" dirty="0">
                <a:latin typeface="Times New Roman"/>
                <a:cs typeface="Times New Roman"/>
              </a:rPr>
              <a:t> </a:t>
            </a:r>
            <a:r>
              <a:rPr sz="1200" b="1" dirty="0">
                <a:latin typeface="Times New Roman"/>
                <a:cs typeface="Times New Roman"/>
              </a:rPr>
              <a:t>RAM</a:t>
            </a:r>
            <a:r>
              <a:rPr sz="1200" b="1" spc="-15" dirty="0">
                <a:latin typeface="Times New Roman"/>
                <a:cs typeface="Times New Roman"/>
              </a:rPr>
              <a:t> </a:t>
            </a:r>
            <a:r>
              <a:rPr sz="1200" b="1" spc="-10" dirty="0">
                <a:latin typeface="Times New Roman"/>
                <a:cs typeface="Times New Roman"/>
              </a:rPr>
              <a:t>memory </a:t>
            </a:r>
            <a:r>
              <a:rPr sz="1200" b="1" dirty="0">
                <a:latin typeface="Times New Roman"/>
                <a:cs typeface="Times New Roman"/>
              </a:rPr>
              <a:t>attached</a:t>
            </a:r>
            <a:r>
              <a:rPr sz="1200" b="1" spc="-15" dirty="0">
                <a:latin typeface="Times New Roman"/>
                <a:cs typeface="Times New Roman"/>
              </a:rPr>
              <a:t> </a:t>
            </a:r>
            <a:r>
              <a:rPr sz="1200" b="1" dirty="0">
                <a:latin typeface="Times New Roman"/>
                <a:cs typeface="Times New Roman"/>
              </a:rPr>
              <a:t>to</a:t>
            </a:r>
            <a:r>
              <a:rPr sz="1200" b="1" spc="-20" dirty="0">
                <a:latin typeface="Times New Roman"/>
                <a:cs typeface="Times New Roman"/>
              </a:rPr>
              <a:t> </a:t>
            </a:r>
            <a:r>
              <a:rPr sz="1200" b="1" dirty="0">
                <a:latin typeface="Times New Roman"/>
                <a:cs typeface="Times New Roman"/>
              </a:rPr>
              <a:t>a</a:t>
            </a:r>
            <a:r>
              <a:rPr sz="1200" b="1" spc="-20" dirty="0">
                <a:latin typeface="Times New Roman"/>
                <a:cs typeface="Times New Roman"/>
              </a:rPr>
              <a:t> CPU.</a:t>
            </a:r>
            <a:endParaRPr sz="1200" dirty="0">
              <a:latin typeface="Times New Roman"/>
              <a:cs typeface="Times New Roman"/>
            </a:endParaRPr>
          </a:p>
          <a:p>
            <a:pPr marR="142875" algn="r">
              <a:lnSpc>
                <a:spcPct val="100000"/>
              </a:lnSpc>
              <a:spcBef>
                <a:spcPts val="1360"/>
              </a:spcBef>
            </a:pPr>
            <a:r>
              <a:rPr sz="1000" b="1" spc="-25" dirty="0">
                <a:solidFill>
                  <a:srgbClr val="3E762B"/>
                </a:solidFill>
                <a:latin typeface="Corbel"/>
                <a:cs typeface="Corbel"/>
              </a:rPr>
              <a:t>41</a:t>
            </a:r>
            <a:endParaRPr sz="1000" dirty="0">
              <a:latin typeface="Corbel"/>
              <a:cs typeface="Corbel"/>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23</a:t>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9788" y="2750819"/>
            <a:ext cx="3555491" cy="1371600"/>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Register</a:t>
            </a:r>
            <a:r>
              <a:rPr sz="2200" spc="-40" dirty="0">
                <a:latin typeface="Georgia"/>
                <a:cs typeface="Georgia"/>
              </a:rPr>
              <a:t> </a:t>
            </a:r>
            <a:r>
              <a:rPr sz="2200" dirty="0">
                <a:latin typeface="Georgia"/>
                <a:cs typeface="Georgia"/>
              </a:rPr>
              <a:t>Stack</a:t>
            </a:r>
            <a:r>
              <a:rPr sz="2200" spc="-60" dirty="0">
                <a:latin typeface="Georgia"/>
                <a:cs typeface="Georgia"/>
              </a:rPr>
              <a:t> </a:t>
            </a:r>
            <a:r>
              <a:rPr sz="2200" spc="-10" dirty="0">
                <a:latin typeface="Georgia"/>
                <a:cs typeface="Georgia"/>
              </a:rPr>
              <a:t>Organization</a:t>
            </a: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pPr>
            <a:endParaRPr sz="2200">
              <a:latin typeface="Georgia"/>
              <a:cs typeface="Georgia"/>
            </a:endParaRPr>
          </a:p>
          <a:p>
            <a:pPr>
              <a:lnSpc>
                <a:spcPct val="100000"/>
              </a:lnSpc>
              <a:spcBef>
                <a:spcPts val="60"/>
              </a:spcBef>
            </a:pPr>
            <a:endParaRPr sz="2200">
              <a:latin typeface="Georgia"/>
              <a:cs typeface="Georgia"/>
            </a:endParaRPr>
          </a:p>
          <a:p>
            <a:pPr marR="142875" algn="r">
              <a:lnSpc>
                <a:spcPct val="100000"/>
              </a:lnSpc>
              <a:spcBef>
                <a:spcPts val="5"/>
              </a:spcBef>
            </a:pPr>
            <a:r>
              <a:rPr sz="1000" b="1" spc="-25" dirty="0">
                <a:solidFill>
                  <a:srgbClr val="3E762B"/>
                </a:solidFill>
                <a:latin typeface="Corbel"/>
                <a:cs typeface="Corbel"/>
              </a:rPr>
              <a:t>42</a:t>
            </a:r>
            <a:endParaRPr sz="1000">
              <a:latin typeface="Corbel"/>
              <a:cs typeface="Corbel"/>
            </a:endParaRPr>
          </a:p>
        </p:txBody>
      </p:sp>
      <p:pic>
        <p:nvPicPr>
          <p:cNvPr id="4" name="object 4"/>
          <p:cNvPicPr/>
          <p:nvPr/>
        </p:nvPicPr>
        <p:blipFill>
          <a:blip r:embed="rId3" cstate="print"/>
          <a:stretch>
            <a:fillRect/>
          </a:stretch>
        </p:blipFill>
        <p:spPr>
          <a:xfrm>
            <a:off x="3418332" y="1656588"/>
            <a:ext cx="2913888" cy="1783080"/>
          </a:xfrm>
          <a:prstGeom prst="rect">
            <a:avLst/>
          </a:prstGeom>
        </p:spPr>
      </p:pic>
      <p:grpSp>
        <p:nvGrpSpPr>
          <p:cNvPr id="5" name="object 5"/>
          <p:cNvGrpSpPr/>
          <p:nvPr/>
        </p:nvGrpSpPr>
        <p:grpSpPr>
          <a:xfrm>
            <a:off x="381000" y="4844796"/>
            <a:ext cx="6096000" cy="3429000"/>
            <a:chOff x="381000" y="4844796"/>
            <a:chExt cx="6096000" cy="3429000"/>
          </a:xfrm>
        </p:grpSpPr>
        <p:sp>
          <p:nvSpPr>
            <p:cNvPr id="6" name="object 6"/>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7" name="object 7"/>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8" name="object 8"/>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pic>
          <p:nvPicPr>
            <p:cNvPr id="9" name="object 9"/>
            <p:cNvPicPr/>
            <p:nvPr/>
          </p:nvPicPr>
          <p:blipFill>
            <a:blip r:embed="rId4" cstate="print"/>
            <a:stretch>
              <a:fillRect/>
            </a:stretch>
          </p:blipFill>
          <p:spPr>
            <a:xfrm>
              <a:off x="3336035" y="5824728"/>
              <a:ext cx="3014472" cy="2148840"/>
            </a:xfrm>
            <a:prstGeom prst="rect">
              <a:avLst/>
            </a:prstGeom>
          </p:spPr>
        </p:pic>
      </p:grpSp>
      <p:sp>
        <p:nvSpPr>
          <p:cNvPr id="10" name="object 10"/>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Memory</a:t>
            </a:r>
            <a:r>
              <a:rPr sz="2200" spc="-75" dirty="0">
                <a:latin typeface="Georgia"/>
                <a:cs typeface="Georgia"/>
              </a:rPr>
              <a:t> </a:t>
            </a:r>
            <a:r>
              <a:rPr sz="2200" dirty="0">
                <a:latin typeface="Georgia"/>
                <a:cs typeface="Georgia"/>
              </a:rPr>
              <a:t>Stack</a:t>
            </a:r>
            <a:r>
              <a:rPr sz="2200" spc="-65" dirty="0">
                <a:latin typeface="Georgia"/>
                <a:cs typeface="Georgia"/>
              </a:rPr>
              <a:t> </a:t>
            </a:r>
            <a:r>
              <a:rPr sz="2200" spc="-10" dirty="0">
                <a:latin typeface="Georgia"/>
                <a:cs typeface="Georgia"/>
              </a:rPr>
              <a:t>Organization</a:t>
            </a:r>
            <a:endParaRPr sz="2200">
              <a:latin typeface="Georgia"/>
              <a:cs typeface="Georgia"/>
            </a:endParaRPr>
          </a:p>
          <a:p>
            <a:pPr marL="262255" marR="901065" indent="169545">
              <a:lnSpc>
                <a:spcPts val="1300"/>
              </a:lnSpc>
              <a:spcBef>
                <a:spcPts val="1425"/>
              </a:spcBef>
              <a:buClr>
                <a:srgbClr val="3E762B"/>
              </a:buClr>
              <a:buFont typeface="Wingdings"/>
              <a:buChar char=""/>
              <a:tabLst>
                <a:tab pos="431800" algn="l"/>
              </a:tabLst>
            </a:pPr>
            <a:r>
              <a:rPr sz="1200" dirty="0">
                <a:latin typeface="Times New Roman"/>
                <a:cs typeface="Times New Roman"/>
              </a:rPr>
              <a:t>A</a:t>
            </a:r>
            <a:r>
              <a:rPr sz="1200" spc="-75" dirty="0">
                <a:latin typeface="Times New Roman"/>
                <a:cs typeface="Times New Roman"/>
              </a:rPr>
              <a:t> </a:t>
            </a:r>
            <a:r>
              <a:rPr sz="1200" dirty="0">
                <a:latin typeface="Times New Roman"/>
                <a:cs typeface="Times New Roman"/>
              </a:rPr>
              <a:t>portion</a:t>
            </a:r>
            <a:r>
              <a:rPr sz="1200" spc="-40" dirty="0">
                <a:latin typeface="Times New Roman"/>
                <a:cs typeface="Times New Roman"/>
              </a:rPr>
              <a:t> </a:t>
            </a:r>
            <a:r>
              <a:rPr sz="1200" dirty="0">
                <a:latin typeface="Times New Roman"/>
                <a:cs typeface="Times New Roman"/>
              </a:rPr>
              <a:t>of</a:t>
            </a:r>
            <a:r>
              <a:rPr sz="1200" spc="-20" dirty="0">
                <a:latin typeface="Times New Roman"/>
                <a:cs typeface="Times New Roman"/>
              </a:rPr>
              <a:t> </a:t>
            </a:r>
            <a:r>
              <a:rPr sz="1200" dirty="0">
                <a:latin typeface="Times New Roman"/>
                <a:cs typeface="Times New Roman"/>
              </a:rPr>
              <a:t>memory</a:t>
            </a:r>
            <a:r>
              <a:rPr sz="1200" spc="-25" dirty="0">
                <a:latin typeface="Times New Roman"/>
                <a:cs typeface="Times New Roman"/>
              </a:rPr>
              <a:t> </a:t>
            </a:r>
            <a:r>
              <a:rPr sz="1200" dirty="0">
                <a:latin typeface="Times New Roman"/>
                <a:cs typeface="Times New Roman"/>
              </a:rPr>
              <a:t>is</a:t>
            </a:r>
            <a:r>
              <a:rPr sz="1200" spc="-25" dirty="0">
                <a:latin typeface="Times New Roman"/>
                <a:cs typeface="Times New Roman"/>
              </a:rPr>
              <a:t> </a:t>
            </a:r>
            <a:r>
              <a:rPr sz="1200" dirty="0">
                <a:latin typeface="Times New Roman"/>
                <a:cs typeface="Times New Roman"/>
              </a:rPr>
              <a:t>used</a:t>
            </a:r>
            <a:r>
              <a:rPr sz="1200" spc="-15" dirty="0">
                <a:latin typeface="Times New Roman"/>
                <a:cs typeface="Times New Roman"/>
              </a:rPr>
              <a:t> </a:t>
            </a:r>
            <a:r>
              <a:rPr sz="1200" dirty="0">
                <a:latin typeface="Times New Roman"/>
                <a:cs typeface="Times New Roman"/>
              </a:rPr>
              <a:t>as</a:t>
            </a:r>
            <a:r>
              <a:rPr sz="1200" spc="-20" dirty="0">
                <a:latin typeface="Times New Roman"/>
                <a:cs typeface="Times New Roman"/>
              </a:rPr>
              <a:t> </a:t>
            </a:r>
            <a:r>
              <a:rPr sz="1200" dirty="0">
                <a:latin typeface="Times New Roman"/>
                <a:cs typeface="Times New Roman"/>
              </a:rPr>
              <a:t>a</a:t>
            </a:r>
            <a:r>
              <a:rPr sz="1200" spc="-25" dirty="0">
                <a:latin typeface="Times New Roman"/>
                <a:cs typeface="Times New Roman"/>
              </a:rPr>
              <a:t> </a:t>
            </a:r>
            <a:r>
              <a:rPr sz="1200" dirty="0">
                <a:latin typeface="Times New Roman"/>
                <a:cs typeface="Times New Roman"/>
              </a:rPr>
              <a:t>stack</a:t>
            </a:r>
            <a:r>
              <a:rPr sz="1200" spc="-20" dirty="0">
                <a:latin typeface="Times New Roman"/>
                <a:cs typeface="Times New Roman"/>
              </a:rPr>
              <a:t> </a:t>
            </a:r>
            <a:r>
              <a:rPr sz="1200" dirty="0">
                <a:latin typeface="Times New Roman"/>
                <a:cs typeface="Times New Roman"/>
              </a:rPr>
              <a:t>with</a:t>
            </a:r>
            <a:r>
              <a:rPr sz="1200" spc="-20"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processor register</a:t>
            </a:r>
            <a:r>
              <a:rPr sz="1200" spc="-15" dirty="0">
                <a:latin typeface="Times New Roman"/>
                <a:cs typeface="Times New Roman"/>
              </a:rPr>
              <a:t> </a:t>
            </a:r>
            <a:r>
              <a:rPr sz="1200" dirty="0">
                <a:latin typeface="Times New Roman"/>
                <a:cs typeface="Times New Roman"/>
              </a:rPr>
              <a:t>as</a:t>
            </a:r>
            <a:r>
              <a:rPr sz="1200" spc="-20" dirty="0">
                <a:latin typeface="Times New Roman"/>
                <a:cs typeface="Times New Roman"/>
              </a:rPr>
              <a:t> </a:t>
            </a:r>
            <a:r>
              <a:rPr sz="1200" dirty="0">
                <a:latin typeface="Times New Roman"/>
                <a:cs typeface="Times New Roman"/>
              </a:rPr>
              <a:t>a</a:t>
            </a:r>
            <a:r>
              <a:rPr sz="1200" spc="-15" dirty="0">
                <a:latin typeface="Times New Roman"/>
                <a:cs typeface="Times New Roman"/>
              </a:rPr>
              <a:t> </a:t>
            </a:r>
            <a:r>
              <a:rPr sz="1200" spc="-10" dirty="0">
                <a:latin typeface="Times New Roman"/>
                <a:cs typeface="Times New Roman"/>
              </a:rPr>
              <a:t>stack pointer</a:t>
            </a: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1370"/>
              </a:spcBef>
            </a:pPr>
            <a:endParaRPr sz="1200">
              <a:latin typeface="Times New Roman"/>
              <a:cs typeface="Times New Roman"/>
            </a:endParaRPr>
          </a:p>
          <a:p>
            <a:pPr marL="379730" marR="2929255" indent="-117475">
              <a:lnSpc>
                <a:spcPct val="100000"/>
              </a:lnSpc>
              <a:spcBef>
                <a:spcPts val="5"/>
              </a:spcBef>
            </a:pPr>
            <a:r>
              <a:rPr sz="1100" b="1" dirty="0">
                <a:latin typeface="Times New Roman"/>
                <a:cs typeface="Times New Roman"/>
              </a:rPr>
              <a:t>- Most</a:t>
            </a:r>
            <a:r>
              <a:rPr sz="1100" b="1" spc="-20" dirty="0">
                <a:latin typeface="Times New Roman"/>
                <a:cs typeface="Times New Roman"/>
              </a:rPr>
              <a:t> </a:t>
            </a:r>
            <a:r>
              <a:rPr sz="1100" b="1" dirty="0">
                <a:latin typeface="Times New Roman"/>
                <a:cs typeface="Times New Roman"/>
              </a:rPr>
              <a:t>computers</a:t>
            </a:r>
            <a:r>
              <a:rPr sz="1100" b="1" spc="-35" dirty="0">
                <a:latin typeface="Times New Roman"/>
                <a:cs typeface="Times New Roman"/>
              </a:rPr>
              <a:t> </a:t>
            </a:r>
            <a:r>
              <a:rPr sz="1100" b="1" dirty="0">
                <a:latin typeface="Times New Roman"/>
                <a:cs typeface="Times New Roman"/>
              </a:rPr>
              <a:t>don’t provide</a:t>
            </a:r>
            <a:r>
              <a:rPr sz="1100" b="1" spc="-15" dirty="0">
                <a:latin typeface="Times New Roman"/>
                <a:cs typeface="Times New Roman"/>
              </a:rPr>
              <a:t> </a:t>
            </a:r>
            <a:r>
              <a:rPr sz="1100" b="1" spc="-10" dirty="0">
                <a:latin typeface="Times New Roman"/>
                <a:cs typeface="Times New Roman"/>
              </a:rPr>
              <a:t>hardware</a:t>
            </a:r>
            <a:r>
              <a:rPr sz="1100" b="1" spc="500" dirty="0">
                <a:latin typeface="Times New Roman"/>
                <a:cs typeface="Times New Roman"/>
              </a:rPr>
              <a:t> </a:t>
            </a:r>
            <a:r>
              <a:rPr sz="1100" b="1" dirty="0">
                <a:latin typeface="Times New Roman"/>
                <a:cs typeface="Times New Roman"/>
              </a:rPr>
              <a:t>to</a:t>
            </a:r>
            <a:r>
              <a:rPr sz="1100" b="1" spc="-5" dirty="0">
                <a:latin typeface="Times New Roman"/>
                <a:cs typeface="Times New Roman"/>
              </a:rPr>
              <a:t> </a:t>
            </a:r>
            <a:r>
              <a:rPr sz="1100" b="1" dirty="0">
                <a:latin typeface="Times New Roman"/>
                <a:cs typeface="Times New Roman"/>
              </a:rPr>
              <a:t>check</a:t>
            </a:r>
            <a:r>
              <a:rPr sz="1100" b="1" spc="-5" dirty="0">
                <a:latin typeface="Times New Roman"/>
                <a:cs typeface="Times New Roman"/>
              </a:rPr>
              <a:t> </a:t>
            </a:r>
            <a:r>
              <a:rPr sz="1100" b="1" dirty="0">
                <a:latin typeface="Times New Roman"/>
                <a:cs typeface="Times New Roman"/>
              </a:rPr>
              <a:t>overflow</a:t>
            </a:r>
            <a:r>
              <a:rPr sz="1100" b="1" spc="-35" dirty="0">
                <a:latin typeface="Times New Roman"/>
                <a:cs typeface="Times New Roman"/>
              </a:rPr>
              <a:t> </a:t>
            </a:r>
            <a:r>
              <a:rPr sz="1100" b="1" dirty="0">
                <a:latin typeface="Times New Roman"/>
                <a:cs typeface="Times New Roman"/>
              </a:rPr>
              <a:t>(full</a:t>
            </a:r>
            <a:r>
              <a:rPr sz="1100" b="1" spc="-10" dirty="0">
                <a:latin typeface="Times New Roman"/>
                <a:cs typeface="Times New Roman"/>
              </a:rPr>
              <a:t> </a:t>
            </a:r>
            <a:r>
              <a:rPr sz="1100" b="1" dirty="0">
                <a:latin typeface="Times New Roman"/>
                <a:cs typeface="Times New Roman"/>
              </a:rPr>
              <a:t>stack)</a:t>
            </a:r>
            <a:r>
              <a:rPr sz="1100" b="1" spc="-10" dirty="0">
                <a:latin typeface="Times New Roman"/>
                <a:cs typeface="Times New Roman"/>
              </a:rPr>
              <a:t> </a:t>
            </a:r>
            <a:r>
              <a:rPr sz="1100" b="1" dirty="0">
                <a:latin typeface="Times New Roman"/>
                <a:cs typeface="Times New Roman"/>
              </a:rPr>
              <a:t>or</a:t>
            </a:r>
            <a:r>
              <a:rPr sz="1100" b="1" spc="-15" dirty="0">
                <a:latin typeface="Times New Roman"/>
                <a:cs typeface="Times New Roman"/>
              </a:rPr>
              <a:t> </a:t>
            </a:r>
            <a:r>
              <a:rPr sz="1100" b="1" spc="-10" dirty="0">
                <a:latin typeface="Times New Roman"/>
                <a:cs typeface="Times New Roman"/>
              </a:rPr>
              <a:t>underflow </a:t>
            </a:r>
            <a:r>
              <a:rPr sz="1100" b="1" dirty="0">
                <a:latin typeface="Times New Roman"/>
                <a:cs typeface="Times New Roman"/>
              </a:rPr>
              <a:t>(empty</a:t>
            </a:r>
            <a:r>
              <a:rPr sz="1100" b="1" spc="-20" dirty="0">
                <a:latin typeface="Times New Roman"/>
                <a:cs typeface="Times New Roman"/>
              </a:rPr>
              <a:t> </a:t>
            </a:r>
            <a:r>
              <a:rPr sz="1100" b="1" dirty="0">
                <a:latin typeface="Times New Roman"/>
                <a:cs typeface="Times New Roman"/>
              </a:rPr>
              <a:t>stack) </a:t>
            </a:r>
            <a:r>
              <a:rPr sz="1100" dirty="0">
                <a:latin typeface="Wingdings"/>
                <a:cs typeface="Wingdings"/>
              </a:rPr>
              <a:t></a:t>
            </a:r>
            <a:r>
              <a:rPr sz="1100" spc="-10" dirty="0">
                <a:latin typeface="Times New Roman"/>
                <a:cs typeface="Times New Roman"/>
              </a:rPr>
              <a:t> </a:t>
            </a:r>
            <a:r>
              <a:rPr sz="1100" b="1" dirty="0">
                <a:latin typeface="Times New Roman"/>
                <a:cs typeface="Times New Roman"/>
              </a:rPr>
              <a:t>must</a:t>
            </a:r>
            <a:r>
              <a:rPr sz="1100" b="1" spc="-5" dirty="0">
                <a:latin typeface="Times New Roman"/>
                <a:cs typeface="Times New Roman"/>
              </a:rPr>
              <a:t> </a:t>
            </a:r>
            <a:r>
              <a:rPr sz="1100" b="1" dirty="0">
                <a:latin typeface="Times New Roman"/>
                <a:cs typeface="Times New Roman"/>
              </a:rPr>
              <a:t>be</a:t>
            </a:r>
            <a:r>
              <a:rPr sz="1100" b="1" spc="-15" dirty="0">
                <a:latin typeface="Times New Roman"/>
                <a:cs typeface="Times New Roman"/>
              </a:rPr>
              <a:t> </a:t>
            </a:r>
            <a:r>
              <a:rPr sz="1100" b="1" dirty="0">
                <a:latin typeface="Times New Roman"/>
                <a:cs typeface="Times New Roman"/>
              </a:rPr>
              <a:t>done</a:t>
            </a:r>
            <a:r>
              <a:rPr sz="1100" b="1" spc="5" dirty="0">
                <a:latin typeface="Times New Roman"/>
                <a:cs typeface="Times New Roman"/>
              </a:rPr>
              <a:t> </a:t>
            </a:r>
            <a:r>
              <a:rPr sz="1100" b="1" dirty="0">
                <a:latin typeface="Times New Roman"/>
                <a:cs typeface="Times New Roman"/>
              </a:rPr>
              <a:t>in</a:t>
            </a:r>
            <a:r>
              <a:rPr sz="1100" b="1" spc="-10" dirty="0">
                <a:latin typeface="Times New Roman"/>
                <a:cs typeface="Times New Roman"/>
              </a:rPr>
              <a:t> software.</a:t>
            </a:r>
            <a:endParaRPr sz="1100">
              <a:latin typeface="Times New Roman"/>
              <a:cs typeface="Times New Roman"/>
            </a:endParaRPr>
          </a:p>
        </p:txBody>
      </p:sp>
      <p:pic>
        <p:nvPicPr>
          <p:cNvPr id="11" name="object 11"/>
          <p:cNvPicPr/>
          <p:nvPr/>
        </p:nvPicPr>
        <p:blipFill>
          <a:blip r:embed="rId5" cstate="print"/>
          <a:stretch>
            <a:fillRect/>
          </a:stretch>
        </p:blipFill>
        <p:spPr>
          <a:xfrm>
            <a:off x="1004316" y="6606540"/>
            <a:ext cx="1455420" cy="579119"/>
          </a:xfrm>
          <a:prstGeom prst="rect">
            <a:avLst/>
          </a:prstGeom>
        </p:spPr>
      </p:pic>
      <p:sp>
        <p:nvSpPr>
          <p:cNvPr id="12" name="object 12"/>
          <p:cNvSpPr txBox="1"/>
          <p:nvPr/>
        </p:nvSpPr>
        <p:spPr>
          <a:xfrm>
            <a:off x="6067425" y="7984837"/>
            <a:ext cx="154940"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43</a:t>
            </a:r>
            <a:endParaRPr sz="1000">
              <a:latin typeface="Corbel"/>
              <a:cs typeface="Corbel"/>
            </a:endParaRPr>
          </a:p>
        </p:txBody>
      </p:sp>
      <p:sp>
        <p:nvSpPr>
          <p:cNvPr id="13" name="object 13"/>
          <p:cNvSpPr txBox="1"/>
          <p:nvPr/>
        </p:nvSpPr>
        <p:spPr>
          <a:xfrm>
            <a:off x="6596633" y="8933180"/>
            <a:ext cx="180975" cy="177800"/>
          </a:xfrm>
          <a:prstGeom prst="rect">
            <a:avLst/>
          </a:prstGeom>
        </p:spPr>
        <p:txBody>
          <a:bodyPr vert="horz" wrap="square" lIns="0" tIns="0" rIns="0" bIns="0" rtlCol="0">
            <a:spAutoFit/>
          </a:bodyPr>
          <a:lstStyle/>
          <a:p>
            <a:pPr marL="12700">
              <a:lnSpc>
                <a:spcPts val="1240"/>
              </a:lnSpc>
            </a:pPr>
            <a:r>
              <a:rPr sz="1200" spc="-25" dirty="0">
                <a:latin typeface="Calibri"/>
                <a:cs typeface="Calibri"/>
              </a:rPr>
              <a:t>20</a:t>
            </a:r>
            <a:endParaRPr sz="12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28772" y="2378963"/>
            <a:ext cx="2932176" cy="242316"/>
          </a:xfrm>
          <a:prstGeom prst="rect">
            <a:avLst/>
          </a:prstGeom>
        </p:spPr>
      </p:pic>
      <p:sp>
        <p:nvSpPr>
          <p:cNvPr id="3" name="object 3"/>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dirty="0">
                <a:latin typeface="Georgia"/>
                <a:cs typeface="Georgia"/>
              </a:rPr>
              <a:t>Evaluation</a:t>
            </a:r>
            <a:r>
              <a:rPr sz="2200" spc="-80" dirty="0">
                <a:latin typeface="Georgia"/>
                <a:cs typeface="Georgia"/>
              </a:rPr>
              <a:t> </a:t>
            </a:r>
            <a:r>
              <a:rPr sz="2200" dirty="0">
                <a:latin typeface="Georgia"/>
                <a:cs typeface="Georgia"/>
              </a:rPr>
              <a:t>of</a:t>
            </a:r>
            <a:r>
              <a:rPr sz="2200" spc="-95" dirty="0">
                <a:latin typeface="Georgia"/>
                <a:cs typeface="Georgia"/>
              </a:rPr>
              <a:t> </a:t>
            </a:r>
            <a:r>
              <a:rPr sz="2200" dirty="0">
                <a:latin typeface="Georgia"/>
                <a:cs typeface="Georgia"/>
              </a:rPr>
              <a:t>Arithmetic</a:t>
            </a:r>
            <a:r>
              <a:rPr sz="2200" spc="-75" dirty="0">
                <a:latin typeface="Georgia"/>
                <a:cs typeface="Georgia"/>
              </a:rPr>
              <a:t> </a:t>
            </a:r>
            <a:r>
              <a:rPr sz="2200" spc="-10" dirty="0">
                <a:latin typeface="Georgia"/>
                <a:cs typeface="Georgia"/>
              </a:rPr>
              <a:t>Expressions</a:t>
            </a:r>
            <a:endParaRPr sz="2200">
              <a:latin typeface="Georgia"/>
              <a:cs typeface="Georgia"/>
            </a:endParaRPr>
          </a:p>
          <a:p>
            <a:pPr marL="434975" marR="1153795" indent="-172720">
              <a:lnSpc>
                <a:spcPts val="1300"/>
              </a:lnSpc>
              <a:spcBef>
                <a:spcPts val="1530"/>
              </a:spcBef>
              <a:buClr>
                <a:srgbClr val="3E762B"/>
              </a:buClr>
              <a:buFont typeface="Wingdings"/>
              <a:buChar char=""/>
              <a:tabLst>
                <a:tab pos="436245" algn="l"/>
              </a:tabLst>
            </a:pPr>
            <a:r>
              <a:rPr sz="1200" dirty="0">
                <a:latin typeface="Times New Roman"/>
                <a:cs typeface="Times New Roman"/>
              </a:rPr>
              <a:t>Any</a:t>
            </a:r>
            <a:r>
              <a:rPr sz="1200" spc="-25" dirty="0">
                <a:latin typeface="Times New Roman"/>
                <a:cs typeface="Times New Roman"/>
              </a:rPr>
              <a:t> </a:t>
            </a:r>
            <a:r>
              <a:rPr sz="1200" dirty="0">
                <a:latin typeface="Times New Roman"/>
                <a:cs typeface="Times New Roman"/>
              </a:rPr>
              <a:t>arithmetic</a:t>
            </a:r>
            <a:r>
              <a:rPr sz="1200" spc="-20" dirty="0">
                <a:latin typeface="Times New Roman"/>
                <a:cs typeface="Times New Roman"/>
              </a:rPr>
              <a:t> </a:t>
            </a:r>
            <a:r>
              <a:rPr sz="1200" dirty="0">
                <a:latin typeface="Times New Roman"/>
                <a:cs typeface="Times New Roman"/>
              </a:rPr>
              <a:t>expression</a:t>
            </a:r>
            <a:r>
              <a:rPr sz="1200" spc="-30" dirty="0">
                <a:latin typeface="Times New Roman"/>
                <a:cs typeface="Times New Roman"/>
              </a:rPr>
              <a:t> </a:t>
            </a:r>
            <a:r>
              <a:rPr sz="1200" dirty="0">
                <a:latin typeface="Times New Roman"/>
                <a:cs typeface="Times New Roman"/>
              </a:rPr>
              <a:t>can</a:t>
            </a:r>
            <a:r>
              <a:rPr sz="1200" spc="-5" dirty="0">
                <a:latin typeface="Times New Roman"/>
                <a:cs typeface="Times New Roman"/>
              </a:rPr>
              <a:t> </a:t>
            </a:r>
            <a:r>
              <a:rPr sz="1200" dirty="0">
                <a:latin typeface="Times New Roman"/>
                <a:cs typeface="Times New Roman"/>
              </a:rPr>
              <a:t>be</a:t>
            </a:r>
            <a:r>
              <a:rPr sz="1200" spc="-25" dirty="0">
                <a:latin typeface="Times New Roman"/>
                <a:cs typeface="Times New Roman"/>
              </a:rPr>
              <a:t> </a:t>
            </a:r>
            <a:r>
              <a:rPr sz="1200" dirty="0">
                <a:latin typeface="Times New Roman"/>
                <a:cs typeface="Times New Roman"/>
              </a:rPr>
              <a:t>expressed</a:t>
            </a:r>
            <a:r>
              <a:rPr sz="1200" spc="-15" dirty="0">
                <a:latin typeface="Times New Roman"/>
                <a:cs typeface="Times New Roman"/>
              </a:rPr>
              <a:t> </a:t>
            </a:r>
            <a:r>
              <a:rPr sz="1200" dirty="0">
                <a:latin typeface="Times New Roman"/>
                <a:cs typeface="Times New Roman"/>
              </a:rPr>
              <a:t>in</a:t>
            </a:r>
            <a:r>
              <a:rPr sz="1200" spc="-15" dirty="0">
                <a:latin typeface="Times New Roman"/>
                <a:cs typeface="Times New Roman"/>
              </a:rPr>
              <a:t> </a:t>
            </a:r>
            <a:r>
              <a:rPr sz="1200" spc="-10" dirty="0">
                <a:latin typeface="Times New Roman"/>
                <a:cs typeface="Times New Roman"/>
              </a:rPr>
              <a:t>parenthesis-</a:t>
            </a:r>
            <a:r>
              <a:rPr sz="1200" dirty="0">
                <a:latin typeface="Times New Roman"/>
                <a:cs typeface="Times New Roman"/>
              </a:rPr>
              <a:t>free</a:t>
            </a:r>
            <a:r>
              <a:rPr sz="1200" spc="-5" dirty="0">
                <a:latin typeface="Times New Roman"/>
                <a:cs typeface="Times New Roman"/>
              </a:rPr>
              <a:t> </a:t>
            </a:r>
            <a:r>
              <a:rPr sz="1200" spc="-10" dirty="0">
                <a:latin typeface="Times New Roman"/>
                <a:cs typeface="Times New Roman"/>
              </a:rPr>
              <a:t>Polish 	</a:t>
            </a:r>
            <a:r>
              <a:rPr sz="1200" dirty="0">
                <a:latin typeface="Times New Roman"/>
                <a:cs typeface="Times New Roman"/>
              </a:rPr>
              <a:t>notation,</a:t>
            </a:r>
            <a:r>
              <a:rPr sz="1200" spc="-60" dirty="0">
                <a:latin typeface="Times New Roman"/>
                <a:cs typeface="Times New Roman"/>
              </a:rPr>
              <a:t> </a:t>
            </a:r>
            <a:r>
              <a:rPr sz="1200" dirty="0">
                <a:latin typeface="Times New Roman"/>
                <a:cs typeface="Times New Roman"/>
              </a:rPr>
              <a:t>including</a:t>
            </a:r>
            <a:r>
              <a:rPr sz="1200" spc="-60" dirty="0">
                <a:latin typeface="Times New Roman"/>
                <a:cs typeface="Times New Roman"/>
              </a:rPr>
              <a:t> </a:t>
            </a:r>
            <a:r>
              <a:rPr sz="1200" b="1" dirty="0">
                <a:latin typeface="Times New Roman"/>
                <a:cs typeface="Times New Roman"/>
              </a:rPr>
              <a:t>reverse</a:t>
            </a:r>
            <a:r>
              <a:rPr sz="1200" b="1" spc="-40" dirty="0">
                <a:latin typeface="Times New Roman"/>
                <a:cs typeface="Times New Roman"/>
              </a:rPr>
              <a:t> </a:t>
            </a:r>
            <a:r>
              <a:rPr sz="1200" b="1" dirty="0">
                <a:latin typeface="Times New Roman"/>
                <a:cs typeface="Times New Roman"/>
              </a:rPr>
              <a:t>Polish</a:t>
            </a:r>
            <a:r>
              <a:rPr sz="1200" b="1" spc="-55" dirty="0">
                <a:latin typeface="Times New Roman"/>
                <a:cs typeface="Times New Roman"/>
              </a:rPr>
              <a:t> </a:t>
            </a:r>
            <a:r>
              <a:rPr sz="1200" b="1" spc="-10" dirty="0">
                <a:latin typeface="Times New Roman"/>
                <a:cs typeface="Times New Roman"/>
              </a:rPr>
              <a:t>notation</a:t>
            </a:r>
            <a:endParaRPr sz="1200">
              <a:latin typeface="Times New Roman"/>
              <a:cs typeface="Times New Roman"/>
            </a:endParaRPr>
          </a:p>
          <a:p>
            <a:pPr>
              <a:lnSpc>
                <a:spcPct val="100000"/>
              </a:lnSpc>
              <a:spcBef>
                <a:spcPts val="505"/>
              </a:spcBef>
              <a:buClr>
                <a:srgbClr val="3E762B"/>
              </a:buClr>
              <a:buFont typeface="Wingdings"/>
              <a:buChar char=""/>
            </a:pPr>
            <a:endParaRPr sz="1200">
              <a:latin typeface="Times New Roman"/>
              <a:cs typeface="Times New Roman"/>
            </a:endParaRPr>
          </a:p>
          <a:p>
            <a:pPr marL="719455" lvl="1" indent="-228600">
              <a:lnSpc>
                <a:spcPct val="100000"/>
              </a:lnSpc>
              <a:spcBef>
                <a:spcPts val="5"/>
              </a:spcBef>
              <a:buClr>
                <a:srgbClr val="3E762B"/>
              </a:buClr>
              <a:buAutoNum type="arabicPeriod"/>
              <a:tabLst>
                <a:tab pos="719455" algn="l"/>
              </a:tabLst>
            </a:pPr>
            <a:r>
              <a:rPr sz="1200" b="1" dirty="0">
                <a:latin typeface="Times New Roman"/>
                <a:cs typeface="Times New Roman"/>
              </a:rPr>
              <a:t>Put</a:t>
            </a:r>
            <a:r>
              <a:rPr sz="1200" b="1" spc="-25" dirty="0">
                <a:latin typeface="Times New Roman"/>
                <a:cs typeface="Times New Roman"/>
              </a:rPr>
              <a:t> </a:t>
            </a:r>
            <a:r>
              <a:rPr sz="1200" b="1" dirty="0">
                <a:latin typeface="Times New Roman"/>
                <a:cs typeface="Times New Roman"/>
              </a:rPr>
              <a:t>expression</a:t>
            </a:r>
            <a:r>
              <a:rPr sz="1200" b="1" spc="-30" dirty="0">
                <a:latin typeface="Times New Roman"/>
                <a:cs typeface="Times New Roman"/>
              </a:rPr>
              <a:t> </a:t>
            </a:r>
            <a:r>
              <a:rPr sz="1200" b="1" dirty="0">
                <a:latin typeface="Times New Roman"/>
                <a:cs typeface="Times New Roman"/>
              </a:rPr>
              <a:t>in</a:t>
            </a:r>
            <a:r>
              <a:rPr sz="1200" b="1" spc="-25" dirty="0">
                <a:latin typeface="Times New Roman"/>
                <a:cs typeface="Times New Roman"/>
              </a:rPr>
              <a:t> </a:t>
            </a:r>
            <a:r>
              <a:rPr sz="1200" b="1" spc="-10" dirty="0">
                <a:latin typeface="Times New Roman"/>
                <a:cs typeface="Times New Roman"/>
              </a:rPr>
              <a:t>reverse</a:t>
            </a:r>
            <a:r>
              <a:rPr sz="1200" b="1" spc="-25" dirty="0">
                <a:latin typeface="Times New Roman"/>
                <a:cs typeface="Times New Roman"/>
              </a:rPr>
              <a:t> </a:t>
            </a:r>
            <a:r>
              <a:rPr sz="1200" b="1" dirty="0">
                <a:latin typeface="Times New Roman"/>
                <a:cs typeface="Times New Roman"/>
              </a:rPr>
              <a:t>Polish</a:t>
            </a:r>
            <a:r>
              <a:rPr sz="1200" b="1" spc="-30" dirty="0">
                <a:latin typeface="Times New Roman"/>
                <a:cs typeface="Times New Roman"/>
              </a:rPr>
              <a:t> </a:t>
            </a:r>
            <a:r>
              <a:rPr sz="1200" b="1" dirty="0">
                <a:latin typeface="Times New Roman"/>
                <a:cs typeface="Times New Roman"/>
              </a:rPr>
              <a:t>(Postfix)</a:t>
            </a:r>
            <a:r>
              <a:rPr sz="1200" b="1" spc="-20" dirty="0">
                <a:latin typeface="Times New Roman"/>
                <a:cs typeface="Times New Roman"/>
              </a:rPr>
              <a:t> </a:t>
            </a:r>
            <a:r>
              <a:rPr sz="1200" b="1" spc="-10" dirty="0">
                <a:latin typeface="Times New Roman"/>
                <a:cs typeface="Times New Roman"/>
              </a:rPr>
              <a:t>notation</a:t>
            </a:r>
            <a:endParaRPr sz="1200">
              <a:latin typeface="Times New Roman"/>
              <a:cs typeface="Times New Roman"/>
            </a:endParaRPr>
          </a:p>
          <a:p>
            <a:pPr lvl="1">
              <a:lnSpc>
                <a:spcPct val="100000"/>
              </a:lnSpc>
              <a:spcBef>
                <a:spcPts val="800"/>
              </a:spcBef>
              <a:buClr>
                <a:srgbClr val="3E762B"/>
              </a:buClr>
              <a:buFont typeface="Times New Roman"/>
              <a:buAutoNum type="arabicPeriod"/>
            </a:pPr>
            <a:endParaRPr sz="1200">
              <a:latin typeface="Times New Roman"/>
              <a:cs typeface="Times New Roman"/>
            </a:endParaRPr>
          </a:p>
          <a:p>
            <a:pPr marL="757555" lvl="1" indent="-266700">
              <a:lnSpc>
                <a:spcPct val="100000"/>
              </a:lnSpc>
              <a:buClr>
                <a:srgbClr val="3E762B"/>
              </a:buClr>
              <a:buFont typeface="Times New Roman"/>
              <a:buAutoNum type="arabicPeriod"/>
              <a:tabLst>
                <a:tab pos="757555" algn="l"/>
              </a:tabLst>
            </a:pPr>
            <a:r>
              <a:rPr sz="1200" dirty="0">
                <a:latin typeface="Times New Roman"/>
                <a:cs typeface="Times New Roman"/>
              </a:rPr>
              <a:t>Use</a:t>
            </a:r>
            <a:r>
              <a:rPr sz="1200" spc="-5" dirty="0">
                <a:latin typeface="Times New Roman"/>
                <a:cs typeface="Times New Roman"/>
              </a:rPr>
              <a:t> </a:t>
            </a:r>
            <a:r>
              <a:rPr sz="1200" dirty="0">
                <a:latin typeface="Times New Roman"/>
                <a:cs typeface="Times New Roman"/>
              </a:rPr>
              <a:t>PUSH</a:t>
            </a:r>
            <a:r>
              <a:rPr sz="1200" spc="-5" dirty="0">
                <a:latin typeface="Times New Roman"/>
                <a:cs typeface="Times New Roman"/>
              </a:rPr>
              <a:t> </a:t>
            </a:r>
            <a:r>
              <a:rPr sz="1200" dirty="0">
                <a:latin typeface="Times New Roman"/>
                <a:cs typeface="Times New Roman"/>
              </a:rPr>
              <a:t>and POP</a:t>
            </a:r>
            <a:r>
              <a:rPr sz="1200" spc="-55" dirty="0">
                <a:latin typeface="Times New Roman"/>
                <a:cs typeface="Times New Roman"/>
              </a:rPr>
              <a:t> </a:t>
            </a:r>
            <a:r>
              <a:rPr sz="1200" spc="-10" dirty="0">
                <a:latin typeface="Times New Roman"/>
                <a:cs typeface="Times New Roman"/>
              </a:rPr>
              <a:t>operations</a:t>
            </a:r>
            <a:endParaRPr sz="1200">
              <a:latin typeface="Times New Roman"/>
              <a:cs typeface="Times New Roman"/>
            </a:endParaRPr>
          </a:p>
          <a:p>
            <a:pPr marL="985519" lvl="2" indent="-128905">
              <a:lnSpc>
                <a:spcPct val="100000"/>
              </a:lnSpc>
              <a:spcBef>
                <a:spcPts val="300"/>
              </a:spcBef>
              <a:buClr>
                <a:srgbClr val="3E762B"/>
              </a:buClr>
              <a:buFont typeface="Wingdings"/>
              <a:buChar char=""/>
              <a:tabLst>
                <a:tab pos="985519" algn="l"/>
              </a:tabLst>
            </a:pPr>
            <a:r>
              <a:rPr sz="1200" dirty="0">
                <a:latin typeface="Times New Roman"/>
                <a:cs typeface="Times New Roman"/>
              </a:rPr>
              <a:t>Number:</a:t>
            </a:r>
            <a:r>
              <a:rPr sz="1200" spc="-25" dirty="0">
                <a:latin typeface="Times New Roman"/>
                <a:cs typeface="Times New Roman"/>
              </a:rPr>
              <a:t> </a:t>
            </a:r>
            <a:r>
              <a:rPr sz="1200" spc="-20" dirty="0">
                <a:latin typeface="Times New Roman"/>
                <a:cs typeface="Times New Roman"/>
              </a:rPr>
              <a:t>push</a:t>
            </a:r>
            <a:endParaRPr sz="1200">
              <a:latin typeface="Times New Roman"/>
              <a:cs typeface="Times New Roman"/>
            </a:endParaRPr>
          </a:p>
          <a:p>
            <a:pPr marL="985519" lvl="2" indent="-128905">
              <a:lnSpc>
                <a:spcPct val="100000"/>
              </a:lnSpc>
              <a:spcBef>
                <a:spcPts val="160"/>
              </a:spcBef>
              <a:buClr>
                <a:srgbClr val="3E762B"/>
              </a:buClr>
              <a:buFont typeface="Wingdings"/>
              <a:buChar char=""/>
              <a:tabLst>
                <a:tab pos="985519" algn="l"/>
              </a:tabLst>
            </a:pPr>
            <a:r>
              <a:rPr sz="1200" dirty="0">
                <a:latin typeface="Times New Roman"/>
                <a:cs typeface="Times New Roman"/>
              </a:rPr>
              <a:t>Operation:</a:t>
            </a:r>
            <a:r>
              <a:rPr sz="1200" spc="-25" dirty="0">
                <a:latin typeface="Times New Roman"/>
                <a:cs typeface="Times New Roman"/>
              </a:rPr>
              <a:t> </a:t>
            </a:r>
            <a:r>
              <a:rPr sz="1200" dirty="0">
                <a:latin typeface="Times New Roman"/>
                <a:cs typeface="Times New Roman"/>
              </a:rPr>
              <a:t>pop,</a:t>
            </a:r>
            <a:r>
              <a:rPr sz="1200" spc="-25" dirty="0">
                <a:latin typeface="Times New Roman"/>
                <a:cs typeface="Times New Roman"/>
              </a:rPr>
              <a:t> </a:t>
            </a:r>
            <a:r>
              <a:rPr sz="1200" dirty="0">
                <a:latin typeface="Times New Roman"/>
                <a:cs typeface="Times New Roman"/>
              </a:rPr>
              <a:t>pop,</a:t>
            </a:r>
            <a:r>
              <a:rPr sz="1200" spc="-25" dirty="0">
                <a:latin typeface="Times New Roman"/>
                <a:cs typeface="Times New Roman"/>
              </a:rPr>
              <a:t> </a:t>
            </a:r>
            <a:r>
              <a:rPr sz="1200" dirty="0">
                <a:latin typeface="Times New Roman"/>
                <a:cs typeface="Times New Roman"/>
              </a:rPr>
              <a:t>operation,</a:t>
            </a:r>
            <a:r>
              <a:rPr sz="1200" spc="-25" dirty="0">
                <a:latin typeface="Times New Roman"/>
                <a:cs typeface="Times New Roman"/>
              </a:rPr>
              <a:t> </a:t>
            </a:r>
            <a:r>
              <a:rPr sz="1200" dirty="0">
                <a:latin typeface="Times New Roman"/>
                <a:cs typeface="Times New Roman"/>
              </a:rPr>
              <a:t>then</a:t>
            </a:r>
            <a:r>
              <a:rPr sz="1200" spc="-25" dirty="0">
                <a:latin typeface="Times New Roman"/>
                <a:cs typeface="Times New Roman"/>
              </a:rPr>
              <a:t> </a:t>
            </a:r>
            <a:r>
              <a:rPr sz="1200" dirty="0">
                <a:latin typeface="Times New Roman"/>
                <a:cs typeface="Times New Roman"/>
              </a:rPr>
              <a:t>push</a:t>
            </a:r>
            <a:r>
              <a:rPr sz="1200" spc="-25" dirty="0">
                <a:latin typeface="Times New Roman"/>
                <a:cs typeface="Times New Roman"/>
              </a:rPr>
              <a:t> </a:t>
            </a:r>
            <a:r>
              <a:rPr sz="1200" spc="-10" dirty="0">
                <a:latin typeface="Times New Roman"/>
                <a:cs typeface="Times New Roman"/>
              </a:rPr>
              <a:t>result</a:t>
            </a:r>
            <a:endParaRPr sz="1200">
              <a:latin typeface="Times New Roman"/>
              <a:cs typeface="Times New Roman"/>
            </a:endParaRPr>
          </a:p>
        </p:txBody>
      </p:sp>
      <p:sp>
        <p:nvSpPr>
          <p:cNvPr id="4" name="object 4"/>
          <p:cNvSpPr txBox="1"/>
          <p:nvPr/>
        </p:nvSpPr>
        <p:spPr>
          <a:xfrm>
            <a:off x="6074028" y="4020987"/>
            <a:ext cx="134620" cy="127000"/>
          </a:xfrm>
          <a:prstGeom prst="rect">
            <a:avLst/>
          </a:prstGeom>
        </p:spPr>
        <p:txBody>
          <a:bodyPr vert="horz" wrap="square" lIns="0" tIns="0" rIns="0" bIns="0" rtlCol="0">
            <a:spAutoFit/>
          </a:bodyPr>
          <a:lstStyle/>
          <a:p>
            <a:pPr>
              <a:lnSpc>
                <a:spcPts val="940"/>
              </a:lnSpc>
            </a:pPr>
            <a:r>
              <a:rPr sz="1000" b="1" spc="-25" dirty="0">
                <a:solidFill>
                  <a:srgbClr val="3E762B"/>
                </a:solidFill>
                <a:latin typeface="Corbel"/>
                <a:cs typeface="Corbel"/>
              </a:rPr>
              <a:t>44</a:t>
            </a:r>
            <a:endParaRPr sz="1000">
              <a:latin typeface="Corbel"/>
              <a:cs typeface="Corbel"/>
            </a:endParaRPr>
          </a:p>
        </p:txBody>
      </p:sp>
      <p:pic>
        <p:nvPicPr>
          <p:cNvPr id="5" name="object 5"/>
          <p:cNvPicPr/>
          <p:nvPr/>
        </p:nvPicPr>
        <p:blipFill>
          <a:blip r:embed="rId3" cstate="print"/>
          <a:stretch>
            <a:fillRect/>
          </a:stretch>
        </p:blipFill>
        <p:spPr>
          <a:xfrm>
            <a:off x="2727960" y="3331464"/>
            <a:ext cx="3566160" cy="813815"/>
          </a:xfrm>
          <a:prstGeom prst="rect">
            <a:avLst/>
          </a:prstGeom>
        </p:spPr>
      </p:pic>
      <p:grpSp>
        <p:nvGrpSpPr>
          <p:cNvPr id="6" name="object 6"/>
          <p:cNvGrpSpPr/>
          <p:nvPr/>
        </p:nvGrpSpPr>
        <p:grpSpPr>
          <a:xfrm>
            <a:off x="381000" y="4844796"/>
            <a:ext cx="6096000" cy="3429000"/>
            <a:chOff x="381000" y="4844796"/>
            <a:chExt cx="6096000" cy="3429000"/>
          </a:xfrm>
        </p:grpSpPr>
        <p:sp>
          <p:nvSpPr>
            <p:cNvPr id="7" name="object 7"/>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8" name="object 8"/>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9" name="object 9"/>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10" name="object 10"/>
          <p:cNvSpPr txBox="1"/>
          <p:nvPr/>
        </p:nvSpPr>
        <p:spPr>
          <a:xfrm>
            <a:off x="725423" y="5069586"/>
            <a:ext cx="2981960" cy="703580"/>
          </a:xfrm>
          <a:prstGeom prst="rect">
            <a:avLst/>
          </a:prstGeom>
        </p:spPr>
        <p:txBody>
          <a:bodyPr vert="horz" wrap="square" lIns="0" tIns="12065" rIns="0" bIns="0" rtlCol="0">
            <a:spAutoFit/>
          </a:bodyPr>
          <a:lstStyle/>
          <a:p>
            <a:pPr>
              <a:lnSpc>
                <a:spcPct val="100000"/>
              </a:lnSpc>
              <a:spcBef>
                <a:spcPts val="95"/>
              </a:spcBef>
            </a:pPr>
            <a:r>
              <a:rPr sz="2200" dirty="0">
                <a:latin typeface="Georgia"/>
                <a:cs typeface="Georgia"/>
              </a:rPr>
              <a:t>Reverse</a:t>
            </a:r>
            <a:r>
              <a:rPr sz="2200" spc="-75" dirty="0">
                <a:latin typeface="Georgia"/>
                <a:cs typeface="Georgia"/>
              </a:rPr>
              <a:t> </a:t>
            </a:r>
            <a:r>
              <a:rPr sz="2200" dirty="0">
                <a:latin typeface="Georgia"/>
                <a:cs typeface="Georgia"/>
              </a:rPr>
              <a:t>Polish</a:t>
            </a:r>
            <a:r>
              <a:rPr sz="2200" spc="-85" dirty="0">
                <a:latin typeface="Georgia"/>
                <a:cs typeface="Georgia"/>
              </a:rPr>
              <a:t> </a:t>
            </a:r>
            <a:r>
              <a:rPr sz="2200" spc="-10" dirty="0">
                <a:latin typeface="Georgia"/>
                <a:cs typeface="Georgia"/>
              </a:rPr>
              <a:t>Notation</a:t>
            </a:r>
            <a:endParaRPr sz="2200">
              <a:latin typeface="Georgia"/>
              <a:cs typeface="Georgia"/>
            </a:endParaRPr>
          </a:p>
          <a:p>
            <a:pPr marL="203200" indent="-169545">
              <a:lnSpc>
                <a:spcPct val="100000"/>
              </a:lnSpc>
              <a:spcBef>
                <a:spcPts val="1265"/>
              </a:spcBef>
              <a:buClr>
                <a:srgbClr val="3E762B"/>
              </a:buClr>
              <a:buFont typeface="Wingdings"/>
              <a:buChar char=""/>
              <a:tabLst>
                <a:tab pos="203200" algn="l"/>
              </a:tabLst>
            </a:pPr>
            <a:r>
              <a:rPr sz="1200" b="1" dirty="0">
                <a:latin typeface="Times New Roman"/>
                <a:cs typeface="Times New Roman"/>
              </a:rPr>
              <a:t>Arithmetic</a:t>
            </a:r>
            <a:r>
              <a:rPr sz="1200" b="1" spc="5" dirty="0">
                <a:latin typeface="Times New Roman"/>
                <a:cs typeface="Times New Roman"/>
              </a:rPr>
              <a:t> </a:t>
            </a:r>
            <a:r>
              <a:rPr sz="1200" b="1" spc="-10" dirty="0">
                <a:latin typeface="Times New Roman"/>
                <a:cs typeface="Times New Roman"/>
              </a:rPr>
              <a:t>Expressions:</a:t>
            </a:r>
            <a:r>
              <a:rPr sz="1200" b="1" spc="-65" dirty="0">
                <a:latin typeface="Times New Roman"/>
                <a:cs typeface="Times New Roman"/>
              </a:rPr>
              <a:t> </a:t>
            </a:r>
            <a:r>
              <a:rPr sz="1200" b="1" dirty="0">
                <a:latin typeface="Times New Roman"/>
                <a:cs typeface="Times New Roman"/>
              </a:rPr>
              <a:t>A</a:t>
            </a:r>
            <a:r>
              <a:rPr sz="1200" b="1" spc="-75" dirty="0">
                <a:latin typeface="Times New Roman"/>
                <a:cs typeface="Times New Roman"/>
              </a:rPr>
              <a:t> </a:t>
            </a:r>
            <a:r>
              <a:rPr sz="1200" b="1" dirty="0">
                <a:latin typeface="Times New Roman"/>
                <a:cs typeface="Times New Roman"/>
              </a:rPr>
              <a:t>+ </a:t>
            </a:r>
            <a:r>
              <a:rPr sz="1200" b="1" spc="-50" dirty="0">
                <a:latin typeface="Times New Roman"/>
                <a:cs typeface="Times New Roman"/>
              </a:rPr>
              <a:t>B</a:t>
            </a:r>
            <a:endParaRPr sz="1200">
              <a:latin typeface="Times New Roman"/>
              <a:cs typeface="Times New Roman"/>
            </a:endParaRPr>
          </a:p>
        </p:txBody>
      </p:sp>
      <p:sp>
        <p:nvSpPr>
          <p:cNvPr id="14" name="object 14"/>
          <p:cNvSpPr txBox="1"/>
          <p:nvPr/>
        </p:nvSpPr>
        <p:spPr>
          <a:xfrm>
            <a:off x="6065901" y="7984837"/>
            <a:ext cx="154940"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45</a:t>
            </a:r>
            <a:endParaRPr sz="1000">
              <a:latin typeface="Corbel"/>
              <a:cs typeface="Corbel"/>
            </a:endParaRPr>
          </a:p>
        </p:txBody>
      </p:sp>
      <p:sp>
        <p:nvSpPr>
          <p:cNvPr id="15" name="object 15"/>
          <p:cNvSpPr txBox="1"/>
          <p:nvPr/>
        </p:nvSpPr>
        <p:spPr>
          <a:xfrm>
            <a:off x="6596633" y="8933180"/>
            <a:ext cx="180975" cy="177800"/>
          </a:xfrm>
          <a:prstGeom prst="rect">
            <a:avLst/>
          </a:prstGeom>
        </p:spPr>
        <p:txBody>
          <a:bodyPr vert="horz" wrap="square" lIns="0" tIns="0" rIns="0" bIns="0" rtlCol="0">
            <a:spAutoFit/>
          </a:bodyPr>
          <a:lstStyle/>
          <a:p>
            <a:pPr marL="12700">
              <a:lnSpc>
                <a:spcPts val="1240"/>
              </a:lnSpc>
            </a:pPr>
            <a:r>
              <a:rPr sz="1200" spc="-25" dirty="0">
                <a:latin typeface="Calibri"/>
                <a:cs typeface="Calibri"/>
              </a:rPr>
              <a:t>21</a:t>
            </a:r>
            <a:endParaRPr sz="1200">
              <a:latin typeface="Calibri"/>
              <a:cs typeface="Calibri"/>
            </a:endParaRPr>
          </a:p>
        </p:txBody>
      </p:sp>
      <p:sp>
        <p:nvSpPr>
          <p:cNvPr id="11" name="object 11"/>
          <p:cNvSpPr txBox="1"/>
          <p:nvPr/>
        </p:nvSpPr>
        <p:spPr>
          <a:xfrm>
            <a:off x="1043025" y="5878830"/>
            <a:ext cx="553085" cy="633730"/>
          </a:xfrm>
          <a:prstGeom prst="rect">
            <a:avLst/>
          </a:prstGeom>
        </p:spPr>
        <p:txBody>
          <a:bodyPr vert="horz" wrap="square" lIns="0" tIns="32384" rIns="0" bIns="0" rtlCol="0">
            <a:spAutoFit/>
          </a:bodyPr>
          <a:lstStyle/>
          <a:p>
            <a:pPr marL="172720" indent="-172720">
              <a:lnSpc>
                <a:spcPct val="100000"/>
              </a:lnSpc>
              <a:spcBef>
                <a:spcPts val="254"/>
              </a:spcBef>
              <a:buClr>
                <a:srgbClr val="3E762B"/>
              </a:buClr>
              <a:buFont typeface="Wingdings"/>
              <a:buChar char=""/>
              <a:tabLst>
                <a:tab pos="172720" algn="l"/>
              </a:tabLst>
            </a:pPr>
            <a:r>
              <a:rPr sz="1200" dirty="0">
                <a:latin typeface="Times New Roman"/>
                <a:cs typeface="Times New Roman"/>
              </a:rPr>
              <a:t>A</a:t>
            </a:r>
            <a:r>
              <a:rPr sz="1200" spc="-65" dirty="0">
                <a:latin typeface="Times New Roman"/>
                <a:cs typeface="Times New Roman"/>
              </a:rPr>
              <a:t> </a:t>
            </a:r>
            <a:r>
              <a:rPr sz="1200" dirty="0">
                <a:latin typeface="Times New Roman"/>
                <a:cs typeface="Times New Roman"/>
              </a:rPr>
              <a:t>+</a:t>
            </a:r>
            <a:r>
              <a:rPr sz="1200" spc="-5" dirty="0">
                <a:latin typeface="Times New Roman"/>
                <a:cs typeface="Times New Roman"/>
              </a:rPr>
              <a:t> </a:t>
            </a:r>
            <a:r>
              <a:rPr sz="1200" spc="-50" dirty="0">
                <a:latin typeface="Times New Roman"/>
                <a:cs typeface="Times New Roman"/>
              </a:rPr>
              <a:t>B</a:t>
            </a:r>
            <a:endParaRPr sz="1200">
              <a:latin typeface="Times New Roman"/>
              <a:cs typeface="Times New Roman"/>
            </a:endParaRPr>
          </a:p>
          <a:p>
            <a:pPr>
              <a:lnSpc>
                <a:spcPct val="100000"/>
              </a:lnSpc>
              <a:spcBef>
                <a:spcPts val="155"/>
              </a:spcBef>
            </a:pPr>
            <a:r>
              <a:rPr sz="1200" dirty="0">
                <a:solidFill>
                  <a:srgbClr val="3E762B"/>
                </a:solidFill>
                <a:latin typeface="Wingdings"/>
                <a:cs typeface="Wingdings"/>
              </a:rPr>
              <a:t></a:t>
            </a:r>
            <a:r>
              <a:rPr sz="1200" spc="105" dirty="0">
                <a:solidFill>
                  <a:srgbClr val="3E762B"/>
                </a:solidFill>
                <a:latin typeface="Times New Roman"/>
                <a:cs typeface="Times New Roman"/>
              </a:rPr>
              <a:t>  </a:t>
            </a:r>
            <a:r>
              <a:rPr sz="1200" dirty="0">
                <a:latin typeface="Times New Roman"/>
                <a:cs typeface="Times New Roman"/>
              </a:rPr>
              <a:t>+</a:t>
            </a:r>
            <a:r>
              <a:rPr sz="1200" spc="-65" dirty="0">
                <a:latin typeface="Times New Roman"/>
                <a:cs typeface="Times New Roman"/>
              </a:rPr>
              <a:t> </a:t>
            </a:r>
            <a:r>
              <a:rPr sz="1200" dirty="0">
                <a:latin typeface="Times New Roman"/>
                <a:cs typeface="Times New Roman"/>
              </a:rPr>
              <a:t>A</a:t>
            </a:r>
            <a:r>
              <a:rPr sz="1200" spc="-70" dirty="0">
                <a:latin typeface="Times New Roman"/>
                <a:cs typeface="Times New Roman"/>
              </a:rPr>
              <a:t> </a:t>
            </a:r>
            <a:r>
              <a:rPr sz="1200" spc="-50" dirty="0">
                <a:latin typeface="Times New Roman"/>
                <a:cs typeface="Times New Roman"/>
              </a:rPr>
              <a:t>B</a:t>
            </a:r>
            <a:endParaRPr sz="1200">
              <a:latin typeface="Times New Roman"/>
              <a:cs typeface="Times New Roman"/>
            </a:endParaRPr>
          </a:p>
          <a:p>
            <a:pPr marL="173355" indent="-173355">
              <a:lnSpc>
                <a:spcPct val="100000"/>
              </a:lnSpc>
              <a:spcBef>
                <a:spcPts val="155"/>
              </a:spcBef>
              <a:buClr>
                <a:srgbClr val="3E762B"/>
              </a:buClr>
              <a:buFont typeface="Wingdings"/>
              <a:buChar char=""/>
              <a:tabLst>
                <a:tab pos="173355" algn="l"/>
              </a:tabLst>
            </a:pPr>
            <a:r>
              <a:rPr sz="1200" dirty="0">
                <a:latin typeface="Times New Roman"/>
                <a:cs typeface="Times New Roman"/>
              </a:rPr>
              <a:t>A</a:t>
            </a:r>
            <a:r>
              <a:rPr sz="1200" spc="-70" dirty="0">
                <a:latin typeface="Times New Roman"/>
                <a:cs typeface="Times New Roman"/>
              </a:rPr>
              <a:t> </a:t>
            </a:r>
            <a:r>
              <a:rPr sz="1200" dirty="0">
                <a:latin typeface="Times New Roman"/>
                <a:cs typeface="Times New Roman"/>
              </a:rPr>
              <a:t>B </a:t>
            </a:r>
            <a:r>
              <a:rPr sz="1200" spc="-50" dirty="0">
                <a:latin typeface="Times New Roman"/>
                <a:cs typeface="Times New Roman"/>
              </a:rPr>
              <a:t>+</a:t>
            </a:r>
            <a:endParaRPr sz="1200">
              <a:latin typeface="Times New Roman"/>
              <a:cs typeface="Times New Roman"/>
            </a:endParaRPr>
          </a:p>
        </p:txBody>
      </p:sp>
      <p:sp>
        <p:nvSpPr>
          <p:cNvPr id="12" name="object 12"/>
          <p:cNvSpPr txBox="1"/>
          <p:nvPr/>
        </p:nvSpPr>
        <p:spPr>
          <a:xfrm>
            <a:off x="2131441" y="5878830"/>
            <a:ext cx="2146300" cy="633730"/>
          </a:xfrm>
          <a:prstGeom prst="rect">
            <a:avLst/>
          </a:prstGeom>
        </p:spPr>
        <p:txBody>
          <a:bodyPr vert="horz" wrap="square" lIns="0" tIns="32384" rIns="0" bIns="0" rtlCol="0">
            <a:spAutoFit/>
          </a:bodyPr>
          <a:lstStyle/>
          <a:p>
            <a:pPr>
              <a:lnSpc>
                <a:spcPct val="100000"/>
              </a:lnSpc>
              <a:spcBef>
                <a:spcPts val="254"/>
              </a:spcBef>
            </a:pPr>
            <a:r>
              <a:rPr sz="1200" dirty="0">
                <a:latin typeface="Times New Roman"/>
                <a:cs typeface="Times New Roman"/>
              </a:rPr>
              <a:t>(Infix</a:t>
            </a:r>
            <a:r>
              <a:rPr sz="1200" spc="-35" dirty="0">
                <a:latin typeface="Times New Roman"/>
                <a:cs typeface="Times New Roman"/>
              </a:rPr>
              <a:t> </a:t>
            </a:r>
            <a:r>
              <a:rPr sz="1200" spc="-10" dirty="0">
                <a:latin typeface="Times New Roman"/>
                <a:cs typeface="Times New Roman"/>
              </a:rPr>
              <a:t>notation)</a:t>
            </a:r>
            <a:endParaRPr sz="1200">
              <a:latin typeface="Times New Roman"/>
              <a:cs typeface="Times New Roman"/>
            </a:endParaRPr>
          </a:p>
          <a:p>
            <a:pPr>
              <a:lnSpc>
                <a:spcPct val="100000"/>
              </a:lnSpc>
              <a:spcBef>
                <a:spcPts val="155"/>
              </a:spcBef>
            </a:pPr>
            <a:r>
              <a:rPr sz="1200" dirty="0">
                <a:latin typeface="Times New Roman"/>
                <a:cs typeface="Times New Roman"/>
              </a:rPr>
              <a:t>(Prefix</a:t>
            </a:r>
            <a:r>
              <a:rPr sz="1200" spc="-15" dirty="0">
                <a:latin typeface="Times New Roman"/>
                <a:cs typeface="Times New Roman"/>
              </a:rPr>
              <a:t> </a:t>
            </a:r>
            <a:r>
              <a:rPr sz="1200" dirty="0">
                <a:latin typeface="Times New Roman"/>
                <a:cs typeface="Times New Roman"/>
              </a:rPr>
              <a:t>or</a:t>
            </a:r>
            <a:r>
              <a:rPr sz="1200" spc="-20" dirty="0">
                <a:latin typeface="Times New Roman"/>
                <a:cs typeface="Times New Roman"/>
              </a:rPr>
              <a:t> </a:t>
            </a:r>
            <a:r>
              <a:rPr sz="1200" dirty="0">
                <a:latin typeface="Times New Roman"/>
                <a:cs typeface="Times New Roman"/>
              </a:rPr>
              <a:t>Polish</a:t>
            </a:r>
            <a:r>
              <a:rPr sz="1200" spc="-25" dirty="0">
                <a:latin typeface="Times New Roman"/>
                <a:cs typeface="Times New Roman"/>
              </a:rPr>
              <a:t> </a:t>
            </a:r>
            <a:r>
              <a:rPr sz="1200" spc="-10" dirty="0">
                <a:latin typeface="Times New Roman"/>
                <a:cs typeface="Times New Roman"/>
              </a:rPr>
              <a:t>notation)</a:t>
            </a:r>
            <a:endParaRPr sz="1200">
              <a:latin typeface="Times New Roman"/>
              <a:cs typeface="Times New Roman"/>
            </a:endParaRPr>
          </a:p>
          <a:p>
            <a:pPr>
              <a:lnSpc>
                <a:spcPct val="100000"/>
              </a:lnSpc>
              <a:spcBef>
                <a:spcPts val="155"/>
              </a:spcBef>
            </a:pPr>
            <a:r>
              <a:rPr sz="1200" dirty="0">
                <a:latin typeface="Times New Roman"/>
                <a:cs typeface="Times New Roman"/>
              </a:rPr>
              <a:t>(Postfix</a:t>
            </a:r>
            <a:r>
              <a:rPr sz="1200" spc="-25" dirty="0">
                <a:latin typeface="Times New Roman"/>
                <a:cs typeface="Times New Roman"/>
              </a:rPr>
              <a:t> </a:t>
            </a:r>
            <a:r>
              <a:rPr sz="1200" dirty="0">
                <a:latin typeface="Times New Roman"/>
                <a:cs typeface="Times New Roman"/>
              </a:rPr>
              <a:t>or</a:t>
            </a:r>
            <a:r>
              <a:rPr sz="1200" spc="-25" dirty="0">
                <a:latin typeface="Times New Roman"/>
                <a:cs typeface="Times New Roman"/>
              </a:rPr>
              <a:t> </a:t>
            </a:r>
            <a:r>
              <a:rPr sz="1200" dirty="0">
                <a:latin typeface="Times New Roman"/>
                <a:cs typeface="Times New Roman"/>
              </a:rPr>
              <a:t>reverse</a:t>
            </a:r>
            <a:r>
              <a:rPr sz="1200" spc="-5" dirty="0">
                <a:latin typeface="Times New Roman"/>
                <a:cs typeface="Times New Roman"/>
              </a:rPr>
              <a:t> </a:t>
            </a:r>
            <a:r>
              <a:rPr sz="1200" dirty="0">
                <a:latin typeface="Times New Roman"/>
                <a:cs typeface="Times New Roman"/>
              </a:rPr>
              <a:t>Polish</a:t>
            </a:r>
            <a:r>
              <a:rPr sz="1200" spc="-30" dirty="0">
                <a:latin typeface="Times New Roman"/>
                <a:cs typeface="Times New Roman"/>
              </a:rPr>
              <a:t> </a:t>
            </a:r>
            <a:r>
              <a:rPr sz="1200" spc="-10" dirty="0">
                <a:latin typeface="Times New Roman"/>
                <a:cs typeface="Times New Roman"/>
              </a:rPr>
              <a:t>notation)</a:t>
            </a:r>
            <a:endParaRPr sz="1200">
              <a:latin typeface="Times New Roman"/>
              <a:cs typeface="Times New Roman"/>
            </a:endParaRPr>
          </a:p>
        </p:txBody>
      </p:sp>
      <p:sp>
        <p:nvSpPr>
          <p:cNvPr id="13" name="object 13"/>
          <p:cNvSpPr txBox="1"/>
          <p:nvPr/>
        </p:nvSpPr>
        <p:spPr>
          <a:xfrm>
            <a:off x="759561" y="6837680"/>
            <a:ext cx="4488815" cy="208279"/>
          </a:xfrm>
          <a:prstGeom prst="rect">
            <a:avLst/>
          </a:prstGeom>
        </p:spPr>
        <p:txBody>
          <a:bodyPr vert="horz" wrap="square" lIns="0" tIns="12700" rIns="0" bIns="0" rtlCol="0">
            <a:spAutoFit/>
          </a:bodyPr>
          <a:lstStyle/>
          <a:p>
            <a:pPr marL="169545" indent="-169545">
              <a:lnSpc>
                <a:spcPct val="100000"/>
              </a:lnSpc>
              <a:spcBef>
                <a:spcPts val="100"/>
              </a:spcBef>
              <a:buClr>
                <a:srgbClr val="3E762B"/>
              </a:buClr>
              <a:buFont typeface="Wingdings"/>
              <a:buChar char=""/>
              <a:tabLst>
                <a:tab pos="169545" algn="l"/>
              </a:tabLst>
            </a:pPr>
            <a:r>
              <a:rPr sz="1200" b="1" dirty="0">
                <a:latin typeface="Times New Roman"/>
                <a:cs typeface="Times New Roman"/>
              </a:rPr>
              <a:t>The</a:t>
            </a:r>
            <a:r>
              <a:rPr sz="1200" b="1" spc="-25" dirty="0">
                <a:latin typeface="Times New Roman"/>
                <a:cs typeface="Times New Roman"/>
              </a:rPr>
              <a:t> </a:t>
            </a:r>
            <a:r>
              <a:rPr sz="1200" b="1" spc="-10" dirty="0">
                <a:latin typeface="Times New Roman"/>
                <a:cs typeface="Times New Roman"/>
              </a:rPr>
              <a:t>reverse</a:t>
            </a:r>
            <a:r>
              <a:rPr sz="1200" b="1" spc="-15" dirty="0">
                <a:latin typeface="Times New Roman"/>
                <a:cs typeface="Times New Roman"/>
              </a:rPr>
              <a:t> </a:t>
            </a:r>
            <a:r>
              <a:rPr sz="1200" b="1" dirty="0">
                <a:latin typeface="Times New Roman"/>
                <a:cs typeface="Times New Roman"/>
              </a:rPr>
              <a:t>Polish</a:t>
            </a:r>
            <a:r>
              <a:rPr sz="1200" b="1" spc="-20" dirty="0">
                <a:latin typeface="Times New Roman"/>
                <a:cs typeface="Times New Roman"/>
              </a:rPr>
              <a:t> </a:t>
            </a:r>
            <a:r>
              <a:rPr sz="1200" b="1" dirty="0">
                <a:latin typeface="Times New Roman"/>
                <a:cs typeface="Times New Roman"/>
              </a:rPr>
              <a:t>notation</a:t>
            </a:r>
            <a:r>
              <a:rPr sz="1200" b="1" spc="-15" dirty="0">
                <a:latin typeface="Times New Roman"/>
                <a:cs typeface="Times New Roman"/>
              </a:rPr>
              <a:t> </a:t>
            </a:r>
            <a:r>
              <a:rPr sz="1200" b="1" dirty="0">
                <a:latin typeface="Times New Roman"/>
                <a:cs typeface="Times New Roman"/>
              </a:rPr>
              <a:t>is</a:t>
            </a:r>
            <a:r>
              <a:rPr sz="1200" b="1" spc="-15" dirty="0">
                <a:latin typeface="Times New Roman"/>
                <a:cs typeface="Times New Roman"/>
              </a:rPr>
              <a:t> </a:t>
            </a:r>
            <a:r>
              <a:rPr sz="1200" b="1" dirty="0">
                <a:latin typeface="Times New Roman"/>
                <a:cs typeface="Times New Roman"/>
              </a:rPr>
              <a:t>very</a:t>
            </a:r>
            <a:r>
              <a:rPr sz="1200" b="1" spc="-20" dirty="0">
                <a:latin typeface="Times New Roman"/>
                <a:cs typeface="Times New Roman"/>
              </a:rPr>
              <a:t> </a:t>
            </a:r>
            <a:r>
              <a:rPr sz="1200" b="1" dirty="0">
                <a:latin typeface="Times New Roman"/>
                <a:cs typeface="Times New Roman"/>
              </a:rPr>
              <a:t>suitable</a:t>
            </a:r>
            <a:r>
              <a:rPr sz="1200" b="1" spc="-35" dirty="0">
                <a:latin typeface="Times New Roman"/>
                <a:cs typeface="Times New Roman"/>
              </a:rPr>
              <a:t> </a:t>
            </a:r>
            <a:r>
              <a:rPr sz="1200" b="1" dirty="0">
                <a:latin typeface="Times New Roman"/>
                <a:cs typeface="Times New Roman"/>
              </a:rPr>
              <a:t>for</a:t>
            </a:r>
            <a:r>
              <a:rPr sz="1200" b="1" spc="-45" dirty="0">
                <a:latin typeface="Times New Roman"/>
                <a:cs typeface="Times New Roman"/>
              </a:rPr>
              <a:t> </a:t>
            </a:r>
            <a:r>
              <a:rPr sz="1200" b="1" dirty="0">
                <a:latin typeface="Times New Roman"/>
                <a:cs typeface="Times New Roman"/>
              </a:rPr>
              <a:t>stack</a:t>
            </a:r>
            <a:r>
              <a:rPr sz="1200" b="1" spc="-10" dirty="0">
                <a:latin typeface="Times New Roman"/>
                <a:cs typeface="Times New Roman"/>
              </a:rPr>
              <a:t> manipulation</a:t>
            </a:r>
            <a:endParaRPr sz="12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6823" y="990600"/>
            <a:ext cx="5862955" cy="3188335"/>
          </a:xfrm>
          <a:prstGeom prst="rect">
            <a:avLst/>
          </a:prstGeom>
        </p:spPr>
        <p:txBody>
          <a:bodyPr vert="horz" wrap="square" lIns="0" tIns="114300" rIns="0" bIns="0" rtlCol="0">
            <a:spAutoFit/>
          </a:bodyPr>
          <a:lstStyle/>
          <a:p>
            <a:pPr marL="228600">
              <a:lnSpc>
                <a:spcPct val="100000"/>
              </a:lnSpc>
              <a:spcBef>
                <a:spcPts val="900"/>
              </a:spcBef>
            </a:pPr>
            <a:r>
              <a:rPr sz="2200" spc="-10" dirty="0">
                <a:latin typeface="Georgia"/>
                <a:cs typeface="Georgia"/>
              </a:rPr>
              <a:t>Example</a:t>
            </a:r>
            <a:endParaRPr sz="2200">
              <a:latin typeface="Georgia"/>
              <a:cs typeface="Georgia"/>
            </a:endParaRPr>
          </a:p>
          <a:p>
            <a:pPr marL="431800" indent="-169545">
              <a:lnSpc>
                <a:spcPct val="100000"/>
              </a:lnSpc>
              <a:spcBef>
                <a:spcPts val="1700"/>
              </a:spcBef>
              <a:buClr>
                <a:srgbClr val="3E762B"/>
              </a:buClr>
              <a:buFont typeface="Wingdings"/>
              <a:buChar char=""/>
              <a:tabLst>
                <a:tab pos="431800" algn="l"/>
              </a:tabLst>
            </a:pPr>
            <a:r>
              <a:rPr sz="1200" spc="-10" dirty="0">
                <a:latin typeface="Times New Roman"/>
                <a:cs typeface="Times New Roman"/>
              </a:rPr>
              <a:t>Write</a:t>
            </a:r>
            <a:r>
              <a:rPr sz="1200" spc="-45" dirty="0">
                <a:latin typeface="Times New Roman"/>
                <a:cs typeface="Times New Roman"/>
              </a:rPr>
              <a:t> </a:t>
            </a:r>
            <a:r>
              <a:rPr sz="1200" dirty="0">
                <a:latin typeface="Times New Roman"/>
                <a:cs typeface="Times New Roman"/>
              </a:rPr>
              <a:t>in</a:t>
            </a:r>
            <a:r>
              <a:rPr sz="1200" spc="-20" dirty="0">
                <a:latin typeface="Times New Roman"/>
                <a:cs typeface="Times New Roman"/>
              </a:rPr>
              <a:t> </a:t>
            </a:r>
            <a:r>
              <a:rPr sz="1200" dirty="0">
                <a:latin typeface="Times New Roman"/>
                <a:cs typeface="Times New Roman"/>
              </a:rPr>
              <a:t>postfix</a:t>
            </a:r>
            <a:r>
              <a:rPr sz="1200" spc="-40" dirty="0">
                <a:latin typeface="Times New Roman"/>
                <a:cs typeface="Times New Roman"/>
              </a:rPr>
              <a:t> </a:t>
            </a:r>
            <a:r>
              <a:rPr sz="1200" dirty="0">
                <a:latin typeface="Times New Roman"/>
                <a:cs typeface="Times New Roman"/>
              </a:rPr>
              <a:t>notation</a:t>
            </a:r>
            <a:r>
              <a:rPr sz="1200" spc="-30" dirty="0">
                <a:latin typeface="Times New Roman"/>
                <a:cs typeface="Times New Roman"/>
              </a:rPr>
              <a:t> </a:t>
            </a:r>
            <a:r>
              <a:rPr sz="1200" dirty="0">
                <a:latin typeface="Times New Roman"/>
                <a:cs typeface="Times New Roman"/>
              </a:rPr>
              <a:t>then</a:t>
            </a:r>
            <a:r>
              <a:rPr sz="1200" spc="-25" dirty="0">
                <a:latin typeface="Times New Roman"/>
                <a:cs typeface="Times New Roman"/>
              </a:rPr>
              <a:t> </a:t>
            </a:r>
            <a:r>
              <a:rPr sz="1200" dirty="0">
                <a:latin typeface="Times New Roman"/>
                <a:cs typeface="Times New Roman"/>
              </a:rPr>
              <a:t>write</a:t>
            </a:r>
            <a:r>
              <a:rPr sz="1200" spc="-25" dirty="0">
                <a:latin typeface="Times New Roman"/>
                <a:cs typeface="Times New Roman"/>
              </a:rPr>
              <a:t> </a:t>
            </a:r>
            <a:r>
              <a:rPr sz="1200" dirty="0">
                <a:latin typeface="Times New Roman"/>
                <a:cs typeface="Times New Roman"/>
              </a:rPr>
              <a:t>stack</a:t>
            </a:r>
            <a:r>
              <a:rPr sz="1200" spc="-15" dirty="0">
                <a:latin typeface="Times New Roman"/>
                <a:cs typeface="Times New Roman"/>
              </a:rPr>
              <a:t> </a:t>
            </a:r>
            <a:r>
              <a:rPr sz="1200" spc="-10" dirty="0">
                <a:latin typeface="Times New Roman"/>
                <a:cs typeface="Times New Roman"/>
              </a:rPr>
              <a:t>statements</a:t>
            </a:r>
            <a:endParaRPr sz="1200">
              <a:latin typeface="Times New Roman"/>
              <a:cs typeface="Times New Roman"/>
            </a:endParaRPr>
          </a:p>
          <a:p>
            <a:pPr marL="1634489">
              <a:lnSpc>
                <a:spcPct val="100000"/>
              </a:lnSpc>
              <a:spcBef>
                <a:spcPts val="555"/>
              </a:spcBef>
            </a:pPr>
            <a:r>
              <a:rPr sz="1200" dirty="0">
                <a:latin typeface="Times New Roman"/>
                <a:cs typeface="Times New Roman"/>
              </a:rPr>
              <a:t>(3</a:t>
            </a:r>
            <a:r>
              <a:rPr sz="1200" spc="-5" dirty="0">
                <a:latin typeface="Times New Roman"/>
                <a:cs typeface="Times New Roman"/>
              </a:rPr>
              <a:t> </a:t>
            </a:r>
            <a:r>
              <a:rPr sz="1200" dirty="0">
                <a:latin typeface="Times New Roman"/>
                <a:cs typeface="Times New Roman"/>
              </a:rPr>
              <a:t>+ 4)</a:t>
            </a:r>
            <a:r>
              <a:rPr sz="1200" spc="-5" dirty="0">
                <a:latin typeface="Times New Roman"/>
                <a:cs typeface="Times New Roman"/>
              </a:rPr>
              <a:t> </a:t>
            </a:r>
            <a:r>
              <a:rPr sz="1200" dirty="0">
                <a:latin typeface="Times New Roman"/>
                <a:cs typeface="Times New Roman"/>
              </a:rPr>
              <a:t>[10</a:t>
            </a:r>
            <a:r>
              <a:rPr sz="1200" spc="-15" dirty="0">
                <a:latin typeface="Times New Roman"/>
                <a:cs typeface="Times New Roman"/>
              </a:rPr>
              <a:t> </a:t>
            </a:r>
            <a:r>
              <a:rPr sz="1200" dirty="0">
                <a:latin typeface="Times New Roman"/>
                <a:cs typeface="Times New Roman"/>
              </a:rPr>
              <a:t>(2</a:t>
            </a:r>
            <a:r>
              <a:rPr sz="1200" spc="10"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dirty="0">
                <a:latin typeface="Times New Roman"/>
                <a:cs typeface="Times New Roman"/>
              </a:rPr>
              <a:t>6)</a:t>
            </a:r>
            <a:r>
              <a:rPr sz="1200" spc="-5" dirty="0">
                <a:latin typeface="Times New Roman"/>
                <a:cs typeface="Times New Roman"/>
              </a:rPr>
              <a:t> </a:t>
            </a:r>
            <a:r>
              <a:rPr sz="1200" dirty="0">
                <a:latin typeface="Times New Roman"/>
                <a:cs typeface="Times New Roman"/>
              </a:rPr>
              <a:t>+</a:t>
            </a:r>
            <a:r>
              <a:rPr sz="1200" spc="-10" dirty="0">
                <a:latin typeface="Times New Roman"/>
                <a:cs typeface="Times New Roman"/>
              </a:rPr>
              <a:t> </a:t>
            </a:r>
            <a:r>
              <a:rPr sz="1200" spc="-25" dirty="0">
                <a:latin typeface="Times New Roman"/>
                <a:cs typeface="Times New Roman"/>
              </a:rPr>
              <a:t>8]</a:t>
            </a: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405"/>
              </a:spcBef>
            </a:pPr>
            <a:endParaRPr sz="1200">
              <a:latin typeface="Times New Roman"/>
              <a:cs typeface="Times New Roman"/>
            </a:endParaRPr>
          </a:p>
          <a:p>
            <a:pPr marL="262255">
              <a:lnSpc>
                <a:spcPct val="100000"/>
              </a:lnSpc>
            </a:pPr>
            <a:r>
              <a:rPr sz="1200" u="sng" spc="-20" dirty="0">
                <a:uFill>
                  <a:solidFill>
                    <a:srgbClr val="000000"/>
                  </a:solidFill>
                </a:uFill>
                <a:latin typeface="Times New Roman"/>
                <a:cs typeface="Times New Roman"/>
              </a:rPr>
              <a:t>Sol:</a:t>
            </a:r>
            <a:endParaRPr sz="1200">
              <a:latin typeface="Times New Roman"/>
              <a:cs typeface="Times New Roman"/>
            </a:endParaRPr>
          </a:p>
          <a:p>
            <a:pPr>
              <a:lnSpc>
                <a:spcPct val="100000"/>
              </a:lnSpc>
              <a:spcBef>
                <a:spcPts val="580"/>
              </a:spcBef>
            </a:pPr>
            <a:endParaRPr sz="1200">
              <a:latin typeface="Times New Roman"/>
              <a:cs typeface="Times New Roman"/>
            </a:endParaRPr>
          </a:p>
          <a:p>
            <a:pPr marL="628015">
              <a:lnSpc>
                <a:spcPct val="100000"/>
              </a:lnSpc>
            </a:pPr>
            <a:r>
              <a:rPr sz="1200" dirty="0">
                <a:latin typeface="Times New Roman"/>
                <a:cs typeface="Times New Roman"/>
              </a:rPr>
              <a:t>2 6 +</a:t>
            </a:r>
            <a:r>
              <a:rPr sz="1200" spc="-5" dirty="0">
                <a:latin typeface="Times New Roman"/>
                <a:cs typeface="Times New Roman"/>
              </a:rPr>
              <a:t> </a:t>
            </a:r>
            <a:r>
              <a:rPr sz="1200" dirty="0">
                <a:latin typeface="Times New Roman"/>
                <a:cs typeface="Times New Roman"/>
              </a:rPr>
              <a:t>10 * 8 +</a:t>
            </a:r>
            <a:r>
              <a:rPr sz="1200" spc="5" dirty="0">
                <a:latin typeface="Times New Roman"/>
                <a:cs typeface="Times New Roman"/>
              </a:rPr>
              <a:t> </a:t>
            </a:r>
            <a:r>
              <a:rPr sz="1200" dirty="0">
                <a:latin typeface="Times New Roman"/>
                <a:cs typeface="Times New Roman"/>
              </a:rPr>
              <a:t>3 4 </a:t>
            </a:r>
            <a:r>
              <a:rPr sz="1200" spc="-25" dirty="0">
                <a:latin typeface="Times New Roman"/>
                <a:cs typeface="Times New Roman"/>
              </a:rPr>
              <a:t>+*</a:t>
            </a:r>
            <a:endParaRPr sz="1200">
              <a:latin typeface="Times New Roman"/>
              <a:cs typeface="Times New Roman"/>
            </a:endParaRPr>
          </a:p>
          <a:p>
            <a:pPr marL="379730">
              <a:lnSpc>
                <a:spcPct val="100000"/>
              </a:lnSpc>
              <a:spcBef>
                <a:spcPts val="125"/>
              </a:spcBef>
            </a:pPr>
            <a:r>
              <a:rPr sz="1400" spc="-25" dirty="0">
                <a:latin typeface="Times New Roman"/>
                <a:cs typeface="Times New Roman"/>
              </a:rPr>
              <a:t>or</a:t>
            </a:r>
            <a:endParaRPr sz="1400">
              <a:latin typeface="Times New Roman"/>
              <a:cs typeface="Times New Roman"/>
            </a:endParaRPr>
          </a:p>
          <a:p>
            <a:pPr marL="628015">
              <a:lnSpc>
                <a:spcPct val="100000"/>
              </a:lnSpc>
              <a:spcBef>
                <a:spcPts val="160"/>
              </a:spcBef>
            </a:pPr>
            <a:r>
              <a:rPr sz="1200" dirty="0">
                <a:latin typeface="Times New Roman"/>
                <a:cs typeface="Times New Roman"/>
              </a:rPr>
              <a:t>3 4 +</a:t>
            </a:r>
            <a:r>
              <a:rPr sz="1200" spc="-5" dirty="0">
                <a:latin typeface="Times New Roman"/>
                <a:cs typeface="Times New Roman"/>
              </a:rPr>
              <a:t> </a:t>
            </a:r>
            <a:r>
              <a:rPr sz="1200" dirty="0">
                <a:latin typeface="Times New Roman"/>
                <a:cs typeface="Times New Roman"/>
              </a:rPr>
              <a:t>2 6 +</a:t>
            </a:r>
            <a:r>
              <a:rPr sz="1200" spc="5" dirty="0">
                <a:latin typeface="Times New Roman"/>
                <a:cs typeface="Times New Roman"/>
              </a:rPr>
              <a:t> </a:t>
            </a:r>
            <a:r>
              <a:rPr sz="1200" dirty="0">
                <a:latin typeface="Times New Roman"/>
                <a:cs typeface="Times New Roman"/>
              </a:rPr>
              <a:t>10 * 8 +</a:t>
            </a:r>
            <a:r>
              <a:rPr sz="1200" spc="-5" dirty="0">
                <a:latin typeface="Times New Roman"/>
                <a:cs typeface="Times New Roman"/>
              </a:rPr>
              <a:t> </a:t>
            </a:r>
            <a:r>
              <a:rPr sz="1200" spc="-50" dirty="0">
                <a:latin typeface="Times New Roman"/>
                <a:cs typeface="Times New Roman"/>
              </a:rPr>
              <a:t>*</a:t>
            </a:r>
            <a:endParaRPr sz="1200">
              <a:latin typeface="Times New Roman"/>
              <a:cs typeface="Times New Roman"/>
            </a:endParaRPr>
          </a:p>
          <a:p>
            <a:pPr>
              <a:lnSpc>
                <a:spcPct val="100000"/>
              </a:lnSpc>
              <a:spcBef>
                <a:spcPts val="755"/>
              </a:spcBef>
            </a:pPr>
            <a:endParaRPr sz="1200">
              <a:latin typeface="Times New Roman"/>
              <a:cs typeface="Times New Roman"/>
            </a:endParaRPr>
          </a:p>
          <a:p>
            <a:pPr marR="144145" algn="r">
              <a:lnSpc>
                <a:spcPct val="100000"/>
              </a:lnSpc>
            </a:pPr>
            <a:r>
              <a:rPr sz="1000" b="1" spc="-25" dirty="0">
                <a:solidFill>
                  <a:srgbClr val="3E762B"/>
                </a:solidFill>
                <a:latin typeface="Corbel"/>
                <a:cs typeface="Corbel"/>
              </a:rPr>
              <a:t>46</a:t>
            </a:r>
            <a:endParaRPr sz="1000">
              <a:latin typeface="Corbel"/>
              <a:cs typeface="Corbel"/>
            </a:endParaRPr>
          </a:p>
        </p:txBody>
      </p:sp>
      <p:grpSp>
        <p:nvGrpSpPr>
          <p:cNvPr id="3" name="object 3"/>
          <p:cNvGrpSpPr/>
          <p:nvPr/>
        </p:nvGrpSpPr>
        <p:grpSpPr>
          <a:xfrm>
            <a:off x="381000" y="4844796"/>
            <a:ext cx="6096000" cy="3429000"/>
            <a:chOff x="381000" y="4844796"/>
            <a:chExt cx="6096000" cy="3429000"/>
          </a:xfrm>
        </p:grpSpPr>
        <p:sp>
          <p:nvSpPr>
            <p:cNvPr id="4" name="object 4"/>
            <p:cNvSpPr/>
            <p:nvPr/>
          </p:nvSpPr>
          <p:spPr>
            <a:xfrm>
              <a:off x="381000" y="4844796"/>
              <a:ext cx="6096000" cy="3429000"/>
            </a:xfrm>
            <a:custGeom>
              <a:avLst/>
              <a:gdLst/>
              <a:ahLst/>
              <a:cxnLst/>
              <a:rect l="l" t="t" r="r" b="b"/>
              <a:pathLst>
                <a:path w="6096000" h="3429000">
                  <a:moveTo>
                    <a:pt x="6096000" y="0"/>
                  </a:moveTo>
                  <a:lnTo>
                    <a:pt x="0" y="0"/>
                  </a:lnTo>
                  <a:lnTo>
                    <a:pt x="0" y="3429000"/>
                  </a:lnTo>
                  <a:lnTo>
                    <a:pt x="6096000" y="3429000"/>
                  </a:lnTo>
                  <a:lnTo>
                    <a:pt x="6096000" y="0"/>
                  </a:lnTo>
                  <a:close/>
                </a:path>
              </a:pathLst>
            </a:custGeom>
            <a:solidFill>
              <a:srgbClr val="539E39"/>
            </a:solidFill>
          </p:spPr>
          <p:txBody>
            <a:bodyPr wrap="square" lIns="0" tIns="0" rIns="0" bIns="0" rtlCol="0"/>
            <a:lstStyle/>
            <a:p>
              <a:endParaRPr/>
            </a:p>
          </p:txBody>
        </p:sp>
        <p:sp>
          <p:nvSpPr>
            <p:cNvPr id="5" name="object 5"/>
            <p:cNvSpPr/>
            <p:nvPr/>
          </p:nvSpPr>
          <p:spPr>
            <a:xfrm>
              <a:off x="496823" y="4966716"/>
              <a:ext cx="5862955" cy="3188335"/>
            </a:xfrm>
            <a:custGeom>
              <a:avLst/>
              <a:gdLst/>
              <a:ahLst/>
              <a:cxnLst/>
              <a:rect l="l" t="t" r="r" b="b"/>
              <a:pathLst>
                <a:path w="5862955" h="3188334">
                  <a:moveTo>
                    <a:pt x="5862828" y="0"/>
                  </a:moveTo>
                  <a:lnTo>
                    <a:pt x="0" y="0"/>
                  </a:lnTo>
                  <a:lnTo>
                    <a:pt x="0" y="3188207"/>
                  </a:lnTo>
                  <a:lnTo>
                    <a:pt x="5862828" y="3188207"/>
                  </a:lnTo>
                  <a:lnTo>
                    <a:pt x="5862828" y="0"/>
                  </a:lnTo>
                  <a:close/>
                </a:path>
              </a:pathLst>
            </a:custGeom>
            <a:solidFill>
              <a:srgbClr val="FFFFFF"/>
            </a:solidFill>
          </p:spPr>
          <p:txBody>
            <a:bodyPr wrap="square" lIns="0" tIns="0" rIns="0" bIns="0" rtlCol="0"/>
            <a:lstStyle/>
            <a:p>
              <a:endParaRPr/>
            </a:p>
          </p:txBody>
        </p:sp>
        <p:sp>
          <p:nvSpPr>
            <p:cNvPr id="6" name="object 6"/>
            <p:cNvSpPr/>
            <p:nvPr/>
          </p:nvSpPr>
          <p:spPr>
            <a:xfrm>
              <a:off x="662177" y="5514594"/>
              <a:ext cx="4660900" cy="0"/>
            </a:xfrm>
            <a:custGeom>
              <a:avLst/>
              <a:gdLst/>
              <a:ahLst/>
              <a:cxnLst/>
              <a:rect l="l" t="t" r="r" b="b"/>
              <a:pathLst>
                <a:path w="4660900">
                  <a:moveTo>
                    <a:pt x="0" y="0"/>
                  </a:moveTo>
                  <a:lnTo>
                    <a:pt x="4660773" y="0"/>
                  </a:lnTo>
                </a:path>
              </a:pathLst>
            </a:custGeom>
            <a:ln w="19812">
              <a:solidFill>
                <a:srgbClr val="539E39"/>
              </a:solidFill>
            </a:ln>
          </p:spPr>
          <p:txBody>
            <a:bodyPr wrap="square" lIns="0" tIns="0" rIns="0" bIns="0" rtlCol="0"/>
            <a:lstStyle/>
            <a:p>
              <a:endParaRPr/>
            </a:p>
          </p:txBody>
        </p:sp>
      </p:grpSp>
      <p:sp>
        <p:nvSpPr>
          <p:cNvPr id="7" name="object 7"/>
          <p:cNvSpPr txBox="1"/>
          <p:nvPr/>
        </p:nvSpPr>
        <p:spPr>
          <a:xfrm>
            <a:off x="496823" y="4966715"/>
            <a:ext cx="5862955" cy="3188335"/>
          </a:xfrm>
          <a:prstGeom prst="rect">
            <a:avLst/>
          </a:prstGeom>
        </p:spPr>
        <p:txBody>
          <a:bodyPr vert="horz" wrap="square" lIns="0" tIns="114935" rIns="0" bIns="0" rtlCol="0">
            <a:spAutoFit/>
          </a:bodyPr>
          <a:lstStyle/>
          <a:p>
            <a:pPr marL="228600">
              <a:lnSpc>
                <a:spcPct val="100000"/>
              </a:lnSpc>
              <a:spcBef>
                <a:spcPts val="905"/>
              </a:spcBef>
            </a:pPr>
            <a:r>
              <a:rPr sz="2200" dirty="0">
                <a:latin typeface="Georgia"/>
                <a:cs typeface="Georgia"/>
              </a:rPr>
              <a:t>Example</a:t>
            </a:r>
            <a:r>
              <a:rPr sz="2200" spc="-20" dirty="0">
                <a:latin typeface="Georgia"/>
                <a:cs typeface="Georgia"/>
              </a:rPr>
              <a:t> </a:t>
            </a:r>
            <a:r>
              <a:rPr sz="2200" dirty="0">
                <a:latin typeface="Georgia"/>
                <a:cs typeface="Georgia"/>
              </a:rPr>
              <a:t>(3</a:t>
            </a:r>
            <a:r>
              <a:rPr sz="2200" spc="-30" dirty="0">
                <a:latin typeface="Georgia"/>
                <a:cs typeface="Georgia"/>
              </a:rPr>
              <a:t> </a:t>
            </a:r>
            <a:r>
              <a:rPr sz="2200" dirty="0">
                <a:latin typeface="Georgia"/>
                <a:cs typeface="Georgia"/>
              </a:rPr>
              <a:t>+</a:t>
            </a:r>
            <a:r>
              <a:rPr sz="2200" spc="-25" dirty="0">
                <a:latin typeface="Georgia"/>
                <a:cs typeface="Georgia"/>
              </a:rPr>
              <a:t> </a:t>
            </a:r>
            <a:r>
              <a:rPr sz="2200" dirty="0">
                <a:latin typeface="Georgia"/>
                <a:cs typeface="Georgia"/>
              </a:rPr>
              <a:t>4)</a:t>
            </a:r>
            <a:r>
              <a:rPr sz="2200" spc="-20" dirty="0">
                <a:latin typeface="Georgia"/>
                <a:cs typeface="Georgia"/>
              </a:rPr>
              <a:t> </a:t>
            </a:r>
            <a:r>
              <a:rPr sz="2200" dirty="0">
                <a:latin typeface="Georgia"/>
                <a:cs typeface="Georgia"/>
              </a:rPr>
              <a:t>[10</a:t>
            </a:r>
            <a:r>
              <a:rPr sz="2200" spc="-30" dirty="0">
                <a:latin typeface="Georgia"/>
                <a:cs typeface="Georgia"/>
              </a:rPr>
              <a:t> </a:t>
            </a:r>
            <a:r>
              <a:rPr sz="2200" dirty="0">
                <a:latin typeface="Georgia"/>
                <a:cs typeface="Georgia"/>
              </a:rPr>
              <a:t>(2</a:t>
            </a:r>
            <a:r>
              <a:rPr sz="2200" spc="-30" dirty="0">
                <a:latin typeface="Georgia"/>
                <a:cs typeface="Georgia"/>
              </a:rPr>
              <a:t> </a:t>
            </a:r>
            <a:r>
              <a:rPr sz="2200" dirty="0">
                <a:latin typeface="Georgia"/>
                <a:cs typeface="Georgia"/>
              </a:rPr>
              <a:t>+</a:t>
            </a:r>
            <a:r>
              <a:rPr sz="2200" spc="-20" dirty="0">
                <a:latin typeface="Georgia"/>
                <a:cs typeface="Georgia"/>
              </a:rPr>
              <a:t> </a:t>
            </a:r>
            <a:r>
              <a:rPr sz="2200" dirty="0">
                <a:latin typeface="Georgia"/>
                <a:cs typeface="Georgia"/>
              </a:rPr>
              <a:t>6)</a:t>
            </a:r>
            <a:r>
              <a:rPr sz="2200" spc="-35" dirty="0">
                <a:latin typeface="Georgia"/>
                <a:cs typeface="Georgia"/>
              </a:rPr>
              <a:t> </a:t>
            </a:r>
            <a:r>
              <a:rPr sz="2200" dirty="0">
                <a:latin typeface="Georgia"/>
                <a:cs typeface="Georgia"/>
              </a:rPr>
              <a:t>+</a:t>
            </a:r>
            <a:r>
              <a:rPr sz="2200" spc="-30" dirty="0">
                <a:latin typeface="Georgia"/>
                <a:cs typeface="Georgia"/>
              </a:rPr>
              <a:t> </a:t>
            </a:r>
            <a:r>
              <a:rPr sz="2200" spc="-25" dirty="0">
                <a:latin typeface="Georgia"/>
                <a:cs typeface="Georgia"/>
              </a:rPr>
              <a:t>8]</a:t>
            </a:r>
            <a:endParaRPr sz="2200">
              <a:latin typeface="Georgia"/>
              <a:cs typeface="Georgia"/>
            </a:endParaRPr>
          </a:p>
          <a:p>
            <a:pPr marL="262255">
              <a:lnSpc>
                <a:spcPct val="100000"/>
              </a:lnSpc>
              <a:spcBef>
                <a:spcPts val="1190"/>
              </a:spcBef>
            </a:pPr>
            <a:r>
              <a:rPr sz="1200" b="1" u="sng" dirty="0">
                <a:uFill>
                  <a:solidFill>
                    <a:srgbClr val="000000"/>
                  </a:solidFill>
                </a:uFill>
                <a:latin typeface="Times New Roman"/>
                <a:cs typeface="Times New Roman"/>
              </a:rPr>
              <a:t>Stack</a:t>
            </a:r>
            <a:r>
              <a:rPr sz="1200" b="1" u="sng" spc="-40" dirty="0">
                <a:uFill>
                  <a:solidFill>
                    <a:srgbClr val="000000"/>
                  </a:solidFill>
                </a:uFill>
                <a:latin typeface="Times New Roman"/>
                <a:cs typeface="Times New Roman"/>
              </a:rPr>
              <a:t> </a:t>
            </a:r>
            <a:r>
              <a:rPr sz="1200" b="1" u="sng" dirty="0">
                <a:uFill>
                  <a:solidFill>
                    <a:srgbClr val="000000"/>
                  </a:solidFill>
                </a:uFill>
                <a:latin typeface="Times New Roman"/>
                <a:cs typeface="Times New Roman"/>
              </a:rPr>
              <a:t>organization</a:t>
            </a:r>
            <a:r>
              <a:rPr sz="1200" b="1" u="sng" spc="-35" dirty="0">
                <a:uFill>
                  <a:solidFill>
                    <a:srgbClr val="000000"/>
                  </a:solidFill>
                </a:uFill>
                <a:latin typeface="Times New Roman"/>
                <a:cs typeface="Times New Roman"/>
              </a:rPr>
              <a:t> </a:t>
            </a:r>
            <a:r>
              <a:rPr sz="1200" b="1" u="sng" spc="-20" dirty="0">
                <a:uFill>
                  <a:solidFill>
                    <a:srgbClr val="000000"/>
                  </a:solidFill>
                </a:uFill>
                <a:latin typeface="Times New Roman"/>
                <a:cs typeface="Times New Roman"/>
              </a:rPr>
              <a:t>CPU:</a:t>
            </a:r>
            <a:endParaRPr sz="1200">
              <a:latin typeface="Times New Roman"/>
              <a:cs typeface="Times New Roman"/>
            </a:endParaRPr>
          </a:p>
          <a:p>
            <a:pPr marL="490855">
              <a:lnSpc>
                <a:spcPct val="100000"/>
              </a:lnSpc>
              <a:spcBef>
                <a:spcPts val="300"/>
              </a:spcBef>
            </a:pPr>
            <a:r>
              <a:rPr sz="1100" dirty="0">
                <a:latin typeface="Times New Roman"/>
                <a:cs typeface="Times New Roman"/>
              </a:rPr>
              <a:t>Push</a:t>
            </a:r>
            <a:r>
              <a:rPr sz="1100" spc="-10" dirty="0">
                <a:latin typeface="Times New Roman"/>
                <a:cs typeface="Times New Roman"/>
              </a:rPr>
              <a:t> </a:t>
            </a:r>
            <a:r>
              <a:rPr sz="1100" spc="-60" dirty="0">
                <a:latin typeface="Times New Roman"/>
                <a:cs typeface="Times New Roman"/>
              </a:rPr>
              <a:t>2</a:t>
            </a:r>
            <a:endParaRPr sz="1100">
              <a:latin typeface="Times New Roman"/>
              <a:cs typeface="Times New Roman"/>
            </a:endParaRPr>
          </a:p>
          <a:p>
            <a:pPr marL="490855" marR="4916805">
              <a:lnSpc>
                <a:spcPct val="122800"/>
              </a:lnSpc>
            </a:pPr>
            <a:r>
              <a:rPr sz="1100" dirty="0">
                <a:latin typeface="Times New Roman"/>
                <a:cs typeface="Times New Roman"/>
              </a:rPr>
              <a:t>Push</a:t>
            </a:r>
            <a:r>
              <a:rPr sz="1100" spc="-10" dirty="0">
                <a:latin typeface="Times New Roman"/>
                <a:cs typeface="Times New Roman"/>
              </a:rPr>
              <a:t> </a:t>
            </a:r>
            <a:r>
              <a:rPr sz="1100" spc="-60" dirty="0">
                <a:latin typeface="Times New Roman"/>
                <a:cs typeface="Times New Roman"/>
              </a:rPr>
              <a:t>6 </a:t>
            </a:r>
            <a:r>
              <a:rPr sz="1100" spc="-25" dirty="0">
                <a:latin typeface="Times New Roman"/>
                <a:cs typeface="Times New Roman"/>
              </a:rPr>
              <a:t>Add </a:t>
            </a:r>
            <a:r>
              <a:rPr sz="1100" dirty="0">
                <a:latin typeface="Times New Roman"/>
                <a:cs typeface="Times New Roman"/>
              </a:rPr>
              <a:t>Push</a:t>
            </a:r>
            <a:r>
              <a:rPr sz="1100" spc="-20" dirty="0">
                <a:latin typeface="Times New Roman"/>
                <a:cs typeface="Times New Roman"/>
              </a:rPr>
              <a:t> </a:t>
            </a:r>
            <a:r>
              <a:rPr sz="1100" spc="-35" dirty="0">
                <a:latin typeface="Times New Roman"/>
                <a:cs typeface="Times New Roman"/>
              </a:rPr>
              <a:t>10 </a:t>
            </a:r>
            <a:r>
              <a:rPr sz="1100" spc="-25" dirty="0">
                <a:latin typeface="Times New Roman"/>
                <a:cs typeface="Times New Roman"/>
              </a:rPr>
              <a:t>Mul </a:t>
            </a:r>
            <a:r>
              <a:rPr sz="1100" dirty="0">
                <a:latin typeface="Times New Roman"/>
                <a:cs typeface="Times New Roman"/>
              </a:rPr>
              <a:t>Push</a:t>
            </a:r>
            <a:r>
              <a:rPr sz="1100" spc="-10" dirty="0">
                <a:latin typeface="Times New Roman"/>
                <a:cs typeface="Times New Roman"/>
              </a:rPr>
              <a:t> </a:t>
            </a:r>
            <a:r>
              <a:rPr sz="1100" spc="-60" dirty="0">
                <a:latin typeface="Times New Roman"/>
                <a:cs typeface="Times New Roman"/>
              </a:rPr>
              <a:t>8 </a:t>
            </a:r>
            <a:r>
              <a:rPr sz="1100" spc="-25" dirty="0">
                <a:latin typeface="Times New Roman"/>
                <a:cs typeface="Times New Roman"/>
              </a:rPr>
              <a:t>Add </a:t>
            </a:r>
            <a:r>
              <a:rPr sz="1100" dirty="0">
                <a:latin typeface="Times New Roman"/>
                <a:cs typeface="Times New Roman"/>
              </a:rPr>
              <a:t>Push</a:t>
            </a:r>
            <a:r>
              <a:rPr sz="1100" spc="-10" dirty="0">
                <a:latin typeface="Times New Roman"/>
                <a:cs typeface="Times New Roman"/>
              </a:rPr>
              <a:t> </a:t>
            </a:r>
            <a:r>
              <a:rPr sz="1100" spc="-60" dirty="0">
                <a:latin typeface="Times New Roman"/>
                <a:cs typeface="Times New Roman"/>
              </a:rPr>
              <a:t>3</a:t>
            </a:r>
            <a:endParaRPr sz="1100">
              <a:latin typeface="Times New Roman"/>
              <a:cs typeface="Times New Roman"/>
            </a:endParaRPr>
          </a:p>
          <a:p>
            <a:pPr marL="490855" marR="4987290">
              <a:lnSpc>
                <a:spcPct val="122700"/>
              </a:lnSpc>
            </a:pPr>
            <a:r>
              <a:rPr sz="1100" dirty="0">
                <a:latin typeface="Times New Roman"/>
                <a:cs typeface="Times New Roman"/>
              </a:rPr>
              <a:t>Push</a:t>
            </a:r>
            <a:r>
              <a:rPr sz="1100" spc="-10" dirty="0">
                <a:latin typeface="Times New Roman"/>
                <a:cs typeface="Times New Roman"/>
              </a:rPr>
              <a:t> </a:t>
            </a:r>
            <a:r>
              <a:rPr sz="1100" spc="-60" dirty="0">
                <a:latin typeface="Times New Roman"/>
                <a:cs typeface="Times New Roman"/>
              </a:rPr>
              <a:t>4 </a:t>
            </a:r>
            <a:r>
              <a:rPr sz="1100" spc="-25" dirty="0">
                <a:latin typeface="Times New Roman"/>
                <a:cs typeface="Times New Roman"/>
              </a:rPr>
              <a:t>Add Mul</a:t>
            </a:r>
            <a:endParaRPr sz="1100">
              <a:latin typeface="Times New Roman"/>
              <a:cs typeface="Times New Roman"/>
            </a:endParaRPr>
          </a:p>
        </p:txBody>
      </p:sp>
      <p:sp>
        <p:nvSpPr>
          <p:cNvPr id="8" name="object 8"/>
          <p:cNvSpPr txBox="1"/>
          <p:nvPr/>
        </p:nvSpPr>
        <p:spPr>
          <a:xfrm>
            <a:off x="6065901" y="7984837"/>
            <a:ext cx="154940" cy="152400"/>
          </a:xfrm>
          <a:prstGeom prst="rect">
            <a:avLst/>
          </a:prstGeom>
        </p:spPr>
        <p:txBody>
          <a:bodyPr vert="horz" wrap="square" lIns="0" tIns="0" rIns="0" bIns="0" rtlCol="0">
            <a:spAutoFit/>
          </a:bodyPr>
          <a:lstStyle/>
          <a:p>
            <a:pPr marL="12700">
              <a:lnSpc>
                <a:spcPts val="1040"/>
              </a:lnSpc>
            </a:pPr>
            <a:r>
              <a:rPr sz="1000" b="1" spc="-25" dirty="0">
                <a:solidFill>
                  <a:srgbClr val="3E762B"/>
                </a:solidFill>
                <a:latin typeface="Corbel"/>
                <a:cs typeface="Corbel"/>
              </a:rPr>
              <a:t>47</a:t>
            </a:r>
            <a:endParaRPr sz="1000">
              <a:latin typeface="Corbel"/>
              <a:cs typeface="Corbel"/>
            </a:endParaRPr>
          </a:p>
        </p:txBody>
      </p:sp>
      <p:sp>
        <p:nvSpPr>
          <p:cNvPr id="9" name="object 9"/>
          <p:cNvSpPr txBox="1"/>
          <p:nvPr/>
        </p:nvSpPr>
        <p:spPr>
          <a:xfrm>
            <a:off x="6596633" y="8933180"/>
            <a:ext cx="180975" cy="177800"/>
          </a:xfrm>
          <a:prstGeom prst="rect">
            <a:avLst/>
          </a:prstGeom>
        </p:spPr>
        <p:txBody>
          <a:bodyPr vert="horz" wrap="square" lIns="0" tIns="0" rIns="0" bIns="0" rtlCol="0">
            <a:spAutoFit/>
          </a:bodyPr>
          <a:lstStyle/>
          <a:p>
            <a:pPr marL="12700">
              <a:lnSpc>
                <a:spcPts val="1240"/>
              </a:lnSpc>
            </a:pPr>
            <a:r>
              <a:rPr sz="1200" spc="-25" dirty="0">
                <a:latin typeface="Calibri"/>
                <a:cs typeface="Calibri"/>
              </a:rPr>
              <a:t>22</a:t>
            </a:r>
            <a:endParaRPr sz="12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1656</TotalTime>
  <Words>6475</Words>
  <Application>Microsoft Office PowerPoint</Application>
  <PresentationFormat>On-screen Show (4:3)</PresentationFormat>
  <Paragraphs>704</Paragraphs>
  <Slides>26</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Aptos</vt:lpstr>
      <vt:lpstr>Arial</vt:lpstr>
      <vt:lpstr>Arial MT</vt:lpstr>
      <vt:lpstr>Calibri</vt:lpstr>
      <vt:lpstr>Corbel</vt:lpstr>
      <vt:lpstr>Georgia</vt:lpstr>
      <vt:lpstr>Times New Roman</vt:lpstr>
      <vt:lpstr>Wingdings</vt:lpstr>
      <vt:lpstr>Office Theme</vt:lpstr>
      <vt:lpstr>PowerPoint Presentation</vt:lpstr>
      <vt:lpstr>PowerPoint Presentation</vt:lpstr>
      <vt:lpstr>CPU Architecture: Key Components</vt:lpstr>
      <vt:lpstr>PowerPoint Presentation</vt:lpstr>
      <vt:lpstr>PowerPoint Presentation</vt:lpstr>
      <vt:lpstr>PowerPoint Presentation</vt:lpstr>
      <vt:lpstr>PowerPoint Presentation</vt:lpstr>
      <vt:lpstr>PowerPoint Presentation</vt:lpstr>
      <vt:lpstr>PowerPoint Presentation</vt:lpstr>
      <vt:lpstr>Processor Registers</vt:lpstr>
      <vt:lpstr>PowerPoint Presentation</vt:lpstr>
      <vt:lpstr>PowerPoint Presentation</vt:lpstr>
      <vt:lpstr>PowerPoint Presentation</vt:lpstr>
      <vt:lpstr>PowerPoint Presentation</vt:lpstr>
      <vt:lpstr>Mano’s Basic-Computer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Zahraa.Ismail</cp:lastModifiedBy>
  <cp:revision>14</cp:revision>
  <dcterms:created xsi:type="dcterms:W3CDTF">2025-11-27T08:57:06Z</dcterms:created>
  <dcterms:modified xsi:type="dcterms:W3CDTF">2026-02-01T08:18:00Z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2025-02-08T00:00:00Z</vt:filetime>
  </property>
  <property fmtid="{D5CDD505-2E9C-101B-9397-08002B2CF9AE}" pid="3" name="Creator">
    <vt:lpwstr>Microsoft® PowerPoint® 2016</vt:lpwstr>
  </property>
  <property fmtid="{D5CDD505-2E9C-101B-9397-08002B2CF9AE}" pid="4" name="LastSaved">
    <vt:filetime>2025-11-27T00:00:00Z</vt:filetime>
  </property>
  <property fmtid="{D5CDD505-2E9C-101B-9397-08002B2CF9AE}" pid="5" name="Producer">
    <vt:lpwstr>Microsoft® PowerPoint® 2016</vt:lpwstr>
  </property>
</Properties>
</file>