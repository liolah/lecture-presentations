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65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86868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6096000" y="0"/>
                </a:moveTo>
                <a:lnTo>
                  <a:pt x="0" y="0"/>
                </a:lnTo>
                <a:lnTo>
                  <a:pt x="0" y="3429000"/>
                </a:lnTo>
                <a:lnTo>
                  <a:pt x="6096000" y="3429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6823" y="990600"/>
            <a:ext cx="5862955" cy="3188335"/>
          </a:xfrm>
          <a:custGeom>
            <a:avLst/>
            <a:gdLst/>
            <a:ahLst/>
            <a:cxnLst/>
            <a:rect l="l" t="t" r="r" b="b"/>
            <a:pathLst>
              <a:path w="5862955" h="3188335">
                <a:moveTo>
                  <a:pt x="5862828" y="0"/>
                </a:moveTo>
                <a:lnTo>
                  <a:pt x="0" y="0"/>
                </a:lnTo>
                <a:lnTo>
                  <a:pt x="0" y="3188208"/>
                </a:lnTo>
                <a:lnTo>
                  <a:pt x="5862828" y="3188208"/>
                </a:lnTo>
                <a:lnTo>
                  <a:pt x="58628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62177" y="1538478"/>
            <a:ext cx="4660900" cy="0"/>
          </a:xfrm>
          <a:custGeom>
            <a:avLst/>
            <a:gdLst/>
            <a:ahLst/>
            <a:cxnLst/>
            <a:rect l="l" t="t" r="r" b="b"/>
            <a:pathLst>
              <a:path w="4660900">
                <a:moveTo>
                  <a:pt x="0" y="0"/>
                </a:moveTo>
                <a:lnTo>
                  <a:pt x="4660773" y="0"/>
                </a:lnTo>
              </a:path>
            </a:pathLst>
          </a:custGeom>
          <a:ln w="19812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2723" y="1092835"/>
            <a:ext cx="3678554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96633" y="8933180"/>
            <a:ext cx="219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NN_tTXABU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0838" y="2736341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2477601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360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0" dirty="0">
              <a:latin typeface="Corbel"/>
              <a:cs typeface="Corbel"/>
            </a:endParaRPr>
          </a:p>
          <a:p>
            <a:pPr marL="74295">
              <a:lnSpc>
                <a:spcPct val="100000"/>
              </a:lnSpc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Reference:</a:t>
            </a:r>
            <a:endParaRPr sz="1400" dirty="0">
              <a:latin typeface="Times New Roman"/>
              <a:cs typeface="Times New Roman"/>
            </a:endParaRPr>
          </a:p>
          <a:p>
            <a:pPr marL="53213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Mano,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“Computer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Architecture”,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Prentice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Hall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Int.,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1993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000" y="4844796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6096000" y="0"/>
                </a:moveTo>
                <a:lnTo>
                  <a:pt x="0" y="0"/>
                </a:lnTo>
                <a:lnTo>
                  <a:pt x="0" y="3429000"/>
                </a:lnTo>
                <a:lnTo>
                  <a:pt x="6096000" y="3429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9600" y="5065776"/>
            <a:ext cx="5486400" cy="502920"/>
          </a:xfrm>
          <a:prstGeom prst="rect">
            <a:avLst/>
          </a:prstGeom>
          <a:solidFill>
            <a:srgbClr val="539E39"/>
          </a:solidFill>
          <a:ln w="9144">
            <a:solidFill>
              <a:srgbClr val="3A7327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685"/>
              </a:spcBef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Computer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Architecture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Module</a:t>
            </a:r>
            <a:r>
              <a:rPr sz="2000" b="1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Content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Central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Processing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Unit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</a:t>
            </a:r>
            <a:endParaRPr sz="1200">
              <a:latin typeface="Times New Roman"/>
              <a:cs typeface="Times New Roman"/>
            </a:endParaRPr>
          </a:p>
          <a:p>
            <a:pPr marL="719455" lvl="1" indent="-111125">
              <a:lnSpc>
                <a:spcPts val="137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Design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Approaches [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Stack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Interrupt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Processor</a:t>
            </a:r>
            <a:r>
              <a:rPr sz="1200" b="1" spc="-2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 marL="719455">
              <a:lnSpc>
                <a:spcPts val="1370"/>
              </a:lnSpc>
            </a:pP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Registers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Organization</a:t>
            </a:r>
            <a:r>
              <a:rPr sz="1200" spc="-1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719455" lvl="1" indent="-111125">
              <a:lnSpc>
                <a:spcPts val="137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Instruction</a:t>
            </a:r>
            <a:r>
              <a:rPr sz="1200" b="1" spc="-3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Format</a:t>
            </a:r>
            <a:r>
              <a:rPr sz="1200" b="1" spc="1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616B1A"/>
                </a:solidFill>
                <a:latin typeface="Times New Roman"/>
                <a:cs typeface="Times New Roman"/>
              </a:rPr>
              <a:t>Addressing</a:t>
            </a:r>
            <a:r>
              <a:rPr sz="1200" b="1" spc="-20" dirty="0">
                <a:solidFill>
                  <a:srgbClr val="616B1A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616B1A"/>
                </a:solidFill>
                <a:latin typeface="Times New Roman"/>
                <a:cs typeface="Times New Roman"/>
              </a:rPr>
              <a:t>modes</a:t>
            </a:r>
            <a:r>
              <a:rPr sz="1200" b="1" spc="-5" dirty="0">
                <a:solidFill>
                  <a:srgbClr val="616B1A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–</a:t>
            </a:r>
            <a:endParaRPr sz="1200">
              <a:latin typeface="Times New Roman"/>
              <a:cs typeface="Times New Roman"/>
            </a:endParaRPr>
          </a:p>
          <a:p>
            <a:pPr marL="719455">
              <a:lnSpc>
                <a:spcPts val="1370"/>
              </a:lnSpc>
            </a:pP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1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Transfer</a:t>
            </a:r>
            <a:r>
              <a:rPr sz="1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2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Manipulation</a:t>
            </a:r>
            <a:r>
              <a:rPr sz="1200" spc="-1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719455" lvl="1" indent="-109855">
              <a:lnSpc>
                <a:spcPct val="100000"/>
              </a:lnSpc>
              <a:spcBef>
                <a:spcPts val="459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Example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architectures </a:t>
            </a:r>
            <a:r>
              <a:rPr sz="1200" dirty="0">
                <a:latin typeface="Times New Roman"/>
                <a:cs typeface="Times New Roman"/>
              </a:rPr>
              <a:t>(e.g.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CISC, </a:t>
            </a:r>
            <a:r>
              <a:rPr sz="1200" spc="-20" dirty="0">
                <a:latin typeface="Times New Roman"/>
                <a:cs typeface="Times New Roman"/>
              </a:rPr>
              <a:t>RISC)</a:t>
            </a:r>
            <a:endParaRPr sz="1200">
              <a:latin typeface="Times New Roman"/>
              <a:cs typeface="Times New Roman"/>
            </a:endParaRPr>
          </a:p>
          <a:p>
            <a:pPr marL="602615" indent="-16954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Wingdings"/>
              <a:buChar char=""/>
              <a:tabLst>
                <a:tab pos="602615" algn="l"/>
              </a:tabLst>
            </a:pPr>
            <a:r>
              <a:rPr sz="1200" b="1" dirty="0">
                <a:latin typeface="Times New Roman"/>
                <a:cs typeface="Times New Roman"/>
              </a:rPr>
              <a:t>Timing,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Clock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Parameters,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Performance</a:t>
            </a:r>
            <a:endParaRPr sz="1200">
              <a:latin typeface="Times New Roman"/>
              <a:cs typeface="Times New Roman"/>
            </a:endParaRPr>
          </a:p>
          <a:p>
            <a:pPr marL="602615" indent="-16954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Wingdings"/>
              <a:buChar char=""/>
              <a:tabLst>
                <a:tab pos="602615" algn="l"/>
              </a:tabLst>
            </a:pP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Hierarchy</a:t>
            </a:r>
            <a:endParaRPr sz="1200">
              <a:latin typeface="Times New Roman"/>
              <a:cs typeface="Times New Roman"/>
            </a:endParaRPr>
          </a:p>
          <a:p>
            <a:pPr marL="719455" lvl="1" indent="-10985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719455" lvl="1" indent="-10985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719455" lvl="1" indent="-109855">
              <a:lnSpc>
                <a:spcPct val="100000"/>
              </a:lnSpc>
              <a:spcBef>
                <a:spcPts val="53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  <a:tab pos="5671185" algn="l"/>
              </a:tabLst>
            </a:pPr>
            <a:r>
              <a:rPr sz="1800" spc="-15" baseline="4629" dirty="0">
                <a:latin typeface="Times New Roman"/>
                <a:cs typeface="Times New Roman"/>
              </a:rPr>
              <a:t>Virtual</a:t>
            </a:r>
            <a:r>
              <a:rPr sz="1800" spc="-60" baseline="4629" dirty="0">
                <a:latin typeface="Times New Roman"/>
                <a:cs typeface="Times New Roman"/>
              </a:rPr>
              <a:t> </a:t>
            </a:r>
            <a:r>
              <a:rPr sz="1800" spc="-15" baseline="4629" dirty="0">
                <a:latin typeface="Times New Roman"/>
                <a:cs typeface="Times New Roman"/>
              </a:rPr>
              <a:t>Memory</a:t>
            </a:r>
            <a:r>
              <a:rPr sz="1800" baseline="4629" dirty="0">
                <a:latin typeface="Times New Roman"/>
                <a:cs typeface="Times New Roman"/>
              </a:rPr>
              <a:t>	</a:t>
            </a: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2</a:t>
            </a:r>
            <a:endParaRPr sz="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908" y="1001268"/>
              <a:ext cx="5282184" cy="2971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400">
              <a:latin typeface="Times New Roman"/>
              <a:cs typeface="Times New Roman"/>
            </a:endParaRPr>
          </a:p>
          <a:p>
            <a:pPr marR="25400" algn="ctr">
              <a:lnSpc>
                <a:spcPct val="100000"/>
              </a:lnSpc>
              <a:spcBef>
                <a:spcPts val="5"/>
              </a:spcBef>
            </a:pPr>
            <a:r>
              <a:rPr sz="1400" b="1" u="sng" spc="-10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Corbel"/>
                <a:cs typeface="Corbel"/>
                <a:hlinkClick r:id="rId3"/>
              </a:rPr>
              <a:t>https://www.youtube.com/watch?v=cNN_tTXABUA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0838" y="6712458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279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0"/>
              </a:spcBef>
            </a:pPr>
            <a:endParaRPr sz="3600">
              <a:latin typeface="Times New Roman"/>
              <a:cs typeface="Times New Roman"/>
            </a:endParaRPr>
          </a:p>
          <a:p>
            <a:pPr marL="2226945" marR="1115060" indent="-1106805">
              <a:lnSpc>
                <a:spcPts val="3670"/>
              </a:lnSpc>
            </a:pP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360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Modes Review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3600">
              <a:latin typeface="Times New Roman"/>
              <a:cs typeface="Times New Roman"/>
            </a:endParaRPr>
          </a:p>
          <a:p>
            <a:pPr marR="499109" algn="r">
              <a:lnSpc>
                <a:spcPct val="100000"/>
              </a:lnSpc>
            </a:pPr>
            <a:r>
              <a:rPr sz="600" spc="-50" dirty="0">
                <a:solidFill>
                  <a:srgbClr val="FFFFFF"/>
                </a:solidFill>
                <a:latin typeface="Corbel"/>
                <a:cs typeface="Corbel"/>
              </a:rPr>
              <a:t>4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Types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1834895"/>
            <a:ext cx="5852160" cy="18288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  <a:tabLst>
                <a:tab pos="2851150" algn="l"/>
              </a:tabLst>
            </a:pPr>
            <a:r>
              <a:rPr sz="2200" dirty="0">
                <a:latin typeface="Georgia"/>
                <a:cs typeface="Georgia"/>
              </a:rPr>
              <a:t>Types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dirty="0">
                <a:latin typeface="Georgia"/>
                <a:cs typeface="Georgia"/>
              </a:rPr>
              <a:t>	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19" y="5769864"/>
            <a:ext cx="5623560" cy="20574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Relative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  <a:p>
            <a:pPr marL="431800" marR="614045" indent="-169545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 	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CPU.</a:t>
            </a:r>
            <a:endParaRPr sz="1200">
              <a:latin typeface="Times New Roman"/>
              <a:cs typeface="Times New Roman"/>
            </a:endParaRPr>
          </a:p>
          <a:p>
            <a:pPr marL="445134">
              <a:lnSpc>
                <a:spcPct val="100000"/>
              </a:lnSpc>
              <a:spcBef>
                <a:spcPts val="600"/>
              </a:spcBef>
            </a:pPr>
            <a:r>
              <a:rPr sz="1200" b="1" dirty="0">
                <a:latin typeface="Times New Roman"/>
                <a:cs typeface="Times New Roman"/>
              </a:rPr>
              <a:t>effective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+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CPU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00">
              <a:latin typeface="Times New Roman"/>
              <a:cs typeface="Times New Roman"/>
            </a:endParaRPr>
          </a:p>
          <a:p>
            <a:pPr marL="431800" marR="726440" indent="-16954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(PC), 	</a:t>
            </a:r>
            <a:r>
              <a:rPr sz="1200" b="1" dirty="0">
                <a:latin typeface="Times New Roman"/>
                <a:cs typeface="Times New Roman"/>
              </a:rPr>
              <a:t>an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index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(IX),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base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register(BAR)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836294" lvl="1" indent="-110489"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"/>
              <a:tabLst>
                <a:tab pos="836294" algn="l"/>
              </a:tabLst>
            </a:pP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Relative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</a:t>
            </a:r>
            <a:endParaRPr sz="1200">
              <a:latin typeface="Times New Roman"/>
              <a:cs typeface="Times New Roman"/>
            </a:endParaRPr>
          </a:p>
          <a:p>
            <a:pPr marL="836294" lvl="1" indent="-110489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836294" algn="l"/>
              </a:tabLst>
            </a:pPr>
            <a:r>
              <a:rPr sz="1200" spc="-10" dirty="0">
                <a:latin typeface="Times New Roman"/>
                <a:cs typeface="Times New Roman"/>
              </a:rPr>
              <a:t>Indexed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</a:t>
            </a:r>
            <a:endParaRPr sz="1200">
              <a:latin typeface="Times New Roman"/>
              <a:cs typeface="Times New Roman"/>
            </a:endParaRPr>
          </a:p>
          <a:p>
            <a:pPr marL="836294" lvl="1" indent="-110489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836294" algn="l"/>
              </a:tabLst>
            </a:pP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Relative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Applications:</a:t>
            </a:r>
            <a:endParaRPr sz="1200">
              <a:latin typeface="Times New Roman"/>
              <a:cs typeface="Times New Roman"/>
            </a:endParaRPr>
          </a:p>
          <a:p>
            <a:pPr marL="665480" lvl="1" indent="-119380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Arial MT"/>
              <a:buChar char="•"/>
              <a:tabLst>
                <a:tab pos="66548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Branch-</a:t>
            </a:r>
            <a:r>
              <a:rPr sz="1200" b="1" dirty="0">
                <a:latin typeface="Times New Roman"/>
                <a:cs typeface="Times New Roman"/>
              </a:rPr>
              <a:t>type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 while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loop)</a:t>
            </a:r>
            <a:endParaRPr sz="1200">
              <a:latin typeface="Times New Roman"/>
              <a:cs typeface="Times New Roman"/>
            </a:endParaRPr>
          </a:p>
          <a:p>
            <a:pPr marL="664845" marR="445134" lvl="1" indent="-119380">
              <a:lnSpc>
                <a:spcPct val="100000"/>
              </a:lnSpc>
              <a:spcBef>
                <a:spcPts val="595"/>
              </a:spcBef>
              <a:buClr>
                <a:srgbClr val="3E762B"/>
              </a:buClr>
              <a:buFont typeface="Arial MT"/>
              <a:buChar char="•"/>
              <a:tabLst>
                <a:tab pos="664845" algn="l"/>
              </a:tabLst>
            </a:pPr>
            <a:r>
              <a:rPr sz="1200" b="1" dirty="0">
                <a:latin typeface="Times New Roman"/>
                <a:cs typeface="Times New Roman"/>
              </a:rPr>
              <a:t>Large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physical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bits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200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12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fields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instruction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specify</a:t>
            </a:r>
            <a:r>
              <a:rPr sz="12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part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(abbreviated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designated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operand.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65"/>
              </a:spcBef>
              <a:buClr>
                <a:srgbClr val="3E762B"/>
              </a:buClr>
              <a:buFont typeface="Arial MT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434975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usually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signed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number</a:t>
            </a:r>
            <a:endParaRPr sz="1200">
              <a:latin typeface="Times New Roman"/>
              <a:cs typeface="Times New Roman"/>
            </a:endParaRPr>
          </a:p>
          <a:p>
            <a:pPr marL="436245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(in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2’</a:t>
            </a:r>
            <a:r>
              <a:rPr sz="1200" b="1" spc="-9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complement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representation)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which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either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positive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negative.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Relative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spc="-10" dirty="0">
                <a:latin typeface="Times New Roman"/>
                <a:cs typeface="Times New Roman"/>
              </a:rPr>
              <a:t>EA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IR(address)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sometimes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implied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718185" marR="3303904" lvl="1" indent="-110489">
              <a:lnSpc>
                <a:spcPct val="141700"/>
              </a:lnSpc>
              <a:buClr>
                <a:srgbClr val="3E762B"/>
              </a:buClr>
              <a:buFont typeface="Wingdings"/>
              <a:buChar char=""/>
              <a:tabLst>
                <a:tab pos="948055" algn="l"/>
              </a:tabLst>
            </a:pP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Relative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 	</a:t>
            </a:r>
            <a:r>
              <a:rPr sz="1200" spc="-10" dirty="0">
                <a:latin typeface="Times New Roman"/>
                <a:cs typeface="Times New Roman"/>
              </a:rPr>
              <a:t>EA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IR(address)</a:t>
            </a:r>
            <a:endParaRPr sz="1200">
              <a:latin typeface="Times New Roman"/>
              <a:cs typeface="Times New Roman"/>
            </a:endParaRPr>
          </a:p>
          <a:p>
            <a:pPr marL="718185" marR="3519804" lvl="1" indent="-110489">
              <a:lnSpc>
                <a:spcPct val="1417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"/>
              <a:tabLst>
                <a:tab pos="948055" algn="l"/>
              </a:tabLst>
            </a:pPr>
            <a:r>
              <a:rPr sz="1200" spc="-10" dirty="0">
                <a:latin typeface="Times New Roman"/>
                <a:cs typeface="Times New Roman"/>
              </a:rPr>
              <a:t>Indexed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 	</a:t>
            </a:r>
            <a:r>
              <a:rPr sz="1200" spc="-10" dirty="0">
                <a:latin typeface="Times New Roman"/>
                <a:cs typeface="Times New Roman"/>
              </a:rPr>
              <a:t>EA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IX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0" dirty="0">
                <a:latin typeface="Times New Roman"/>
                <a:cs typeface="Times New Roman"/>
              </a:rPr>
              <a:t> IR(address)</a:t>
            </a:r>
            <a:endParaRPr sz="1200">
              <a:latin typeface="Times New Roman"/>
              <a:cs typeface="Times New Roman"/>
            </a:endParaRPr>
          </a:p>
          <a:p>
            <a:pPr marL="718185" marR="3176905" lvl="1" indent="-110489">
              <a:lnSpc>
                <a:spcPct val="141700"/>
              </a:lnSpc>
              <a:buClr>
                <a:srgbClr val="3E762B"/>
              </a:buClr>
              <a:buFont typeface="Wingdings"/>
              <a:buChar char=""/>
              <a:tabLst>
                <a:tab pos="948055" algn="l"/>
              </a:tabLst>
            </a:pP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 	</a:t>
            </a:r>
            <a:r>
              <a:rPr sz="1200" spc="-10" dirty="0">
                <a:latin typeface="Times New Roman"/>
                <a:cs typeface="Times New Roman"/>
              </a:rPr>
              <a:t>EA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0" dirty="0">
                <a:latin typeface="Times New Roman"/>
                <a:cs typeface="Times New Roman"/>
              </a:rPr>
              <a:t> IR(address)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25423" y="5069586"/>
            <a:ext cx="33629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Georgia"/>
                <a:cs typeface="Georgia"/>
              </a:rPr>
              <a:t>Relative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5509" y="6912609"/>
            <a:ext cx="173926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marR="5080" indent="-110489">
              <a:lnSpc>
                <a:spcPct val="1417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"/>
              <a:tabLst>
                <a:tab pos="339725" algn="l"/>
              </a:tabLst>
            </a:pPr>
            <a:r>
              <a:rPr sz="1200" spc="-10" dirty="0">
                <a:latin typeface="Times New Roman"/>
                <a:cs typeface="Times New Roman"/>
              </a:rPr>
              <a:t>Indexed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 	</a:t>
            </a:r>
            <a:r>
              <a:rPr sz="1200" spc="-10" dirty="0">
                <a:latin typeface="Times New Roman"/>
                <a:cs typeface="Times New Roman"/>
              </a:rPr>
              <a:t>EA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IX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0" dirty="0">
                <a:latin typeface="Times New Roman"/>
                <a:cs typeface="Times New Roman"/>
              </a:rPr>
              <a:t> IR(address)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5509" y="7506665"/>
            <a:ext cx="4788535" cy="46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indent="-111125">
              <a:lnSpc>
                <a:spcPts val="1135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"/>
              <a:tabLst>
                <a:tab pos="111125" algn="l"/>
              </a:tabLst>
            </a:pP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-20" dirty="0">
                <a:latin typeface="Times New Roman"/>
                <a:cs typeface="Times New Roman"/>
              </a:rPr>
              <a:t> Mode</a:t>
            </a:r>
            <a:endParaRPr sz="1200">
              <a:latin typeface="Times New Roman"/>
              <a:cs typeface="Times New Roman"/>
            </a:endParaRPr>
          </a:p>
          <a:p>
            <a:pPr marL="2424430">
              <a:lnSpc>
                <a:spcPts val="775"/>
              </a:lnSpc>
            </a:pP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Base</a:t>
            </a:r>
            <a:r>
              <a:rPr sz="900" b="1" spc="-30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register is</a:t>
            </a:r>
            <a:r>
              <a:rPr sz="900" b="1" spc="-1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assumed</a:t>
            </a:r>
            <a:r>
              <a:rPr sz="900" b="1" spc="-30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to</a:t>
            </a:r>
            <a:r>
              <a:rPr sz="900" b="1" spc="-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hold</a:t>
            </a:r>
            <a:r>
              <a:rPr sz="900" b="1" spc="-2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a</a:t>
            </a:r>
            <a:r>
              <a:rPr sz="900" b="1" spc="-20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base</a:t>
            </a:r>
            <a:r>
              <a:rPr sz="900" b="1" spc="-2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spc="-10" dirty="0">
                <a:solidFill>
                  <a:srgbClr val="2A4F1D"/>
                </a:solidFill>
                <a:latin typeface="Corbel"/>
                <a:cs typeface="Corbel"/>
              </a:rPr>
              <a:t>address.</a:t>
            </a:r>
            <a:endParaRPr sz="900">
              <a:latin typeface="Corbel"/>
              <a:cs typeface="Corbel"/>
            </a:endParaRPr>
          </a:p>
          <a:p>
            <a:pPr marL="339725">
              <a:lnSpc>
                <a:spcPct val="100000"/>
              </a:lnSpc>
              <a:spcBef>
                <a:spcPts val="130"/>
              </a:spcBef>
            </a:pPr>
            <a:r>
              <a:rPr sz="1200" spc="-10" dirty="0">
                <a:latin typeface="Times New Roman"/>
                <a:cs typeface="Times New Roman"/>
              </a:rPr>
              <a:t>EA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0" dirty="0">
                <a:latin typeface="Times New Roman"/>
                <a:cs typeface="Times New Roman"/>
              </a:rPr>
              <a:t> IR(address)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1225" y="7063485"/>
            <a:ext cx="24815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Index</a:t>
            </a:r>
            <a:r>
              <a:rPr sz="900" b="1" spc="-30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register is</a:t>
            </a:r>
            <a:r>
              <a:rPr sz="900" b="1" spc="-2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assumed</a:t>
            </a:r>
            <a:r>
              <a:rPr sz="900" b="1" spc="-30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to</a:t>
            </a:r>
            <a:r>
              <a:rPr sz="900" b="1" spc="-1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hold</a:t>
            </a:r>
            <a:r>
              <a:rPr sz="900" b="1" spc="-2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an</a:t>
            </a:r>
            <a:r>
              <a:rPr sz="900" b="1" spc="-2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dirty="0">
                <a:solidFill>
                  <a:srgbClr val="2A4F1D"/>
                </a:solidFill>
                <a:latin typeface="Corbel"/>
                <a:cs typeface="Corbel"/>
              </a:rPr>
              <a:t>index</a:t>
            </a:r>
            <a:r>
              <a:rPr sz="900" b="1" spc="-25" dirty="0">
                <a:solidFill>
                  <a:srgbClr val="2A4F1D"/>
                </a:solidFill>
                <a:latin typeface="Corbel"/>
                <a:cs typeface="Corbel"/>
              </a:rPr>
              <a:t> </a:t>
            </a:r>
            <a:r>
              <a:rPr sz="900" b="1" spc="-10" dirty="0">
                <a:solidFill>
                  <a:srgbClr val="2A4F1D"/>
                </a:solidFill>
                <a:latin typeface="Corbel"/>
                <a:cs typeface="Corbel"/>
              </a:rPr>
              <a:t>number</a:t>
            </a:r>
            <a:endParaRPr sz="900">
              <a:latin typeface="Corbel"/>
              <a:cs typeface="Corbe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6303" y="5553455"/>
            <a:ext cx="2188464" cy="13716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PC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Relative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Address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 marL="432434" indent="-170180">
              <a:lnSpc>
                <a:spcPct val="100000"/>
              </a:lnSpc>
              <a:spcBef>
                <a:spcPts val="115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4A8D33"/>
                </a:solidFill>
                <a:latin typeface="Times New Roman"/>
                <a:cs typeface="Times New Roman"/>
              </a:rPr>
              <a:t>Relative</a:t>
            </a:r>
            <a:r>
              <a:rPr sz="1200" b="1" spc="-65" dirty="0">
                <a:solidFill>
                  <a:srgbClr val="4A8D33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A8D33"/>
                </a:solidFill>
                <a:latin typeface="Times New Roman"/>
                <a:cs typeface="Times New Roman"/>
              </a:rPr>
              <a:t>Address</a:t>
            </a:r>
            <a:r>
              <a:rPr sz="1200" b="1" spc="-10" dirty="0">
                <a:solidFill>
                  <a:srgbClr val="4A8D33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4A8D33"/>
                </a:solidFill>
                <a:latin typeface="Times New Roman"/>
                <a:cs typeface="Times New Roman"/>
              </a:rPr>
              <a:t>mode</a:t>
            </a:r>
            <a:endParaRPr sz="1200">
              <a:latin typeface="Times New Roman"/>
              <a:cs typeface="Times New Roman"/>
            </a:endParaRPr>
          </a:p>
          <a:p>
            <a:pPr marL="431800" marR="306705" indent="-169545">
              <a:lnSpc>
                <a:spcPts val="1300"/>
              </a:lnSpc>
              <a:spcBef>
                <a:spcPts val="61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next 	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719455" lvl="1" indent="-11112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counter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825</a:t>
            </a:r>
            <a:endParaRPr sz="1200">
              <a:latin typeface="Times New Roman"/>
              <a:cs typeface="Times New Roman"/>
            </a:endParaRPr>
          </a:p>
          <a:p>
            <a:pPr marL="719455" lvl="1" indent="-11112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contains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24.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>
              <a:latin typeface="Times New Roman"/>
              <a:cs typeface="Times New Roman"/>
            </a:endParaRPr>
          </a:p>
          <a:p>
            <a:pPr marL="490855" marR="427990">
              <a:lnSpc>
                <a:spcPts val="13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825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during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fetch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phase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incremented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826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90855" marR="308610">
              <a:lnSpc>
                <a:spcPts val="1300"/>
              </a:lnSpc>
              <a:spcBef>
                <a:spcPts val="59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 mode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826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+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24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850</a:t>
            </a:r>
            <a:r>
              <a:rPr sz="1200" spc="-20" dirty="0">
                <a:latin typeface="Times New Roman"/>
                <a:cs typeface="Times New Roman"/>
              </a:rPr>
              <a:t>.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24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forward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next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PC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Relative</a:t>
            </a:r>
            <a:r>
              <a:rPr sz="2200" spc="-3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6339" y="5632703"/>
            <a:ext cx="3971544" cy="226009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03019" y="5884164"/>
            <a:ext cx="283845" cy="2000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841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45"/>
              </a:spcBef>
            </a:pPr>
            <a:r>
              <a:rPr sz="1000" b="1" spc="-25" dirty="0">
                <a:latin typeface="Times New Roman"/>
                <a:cs typeface="Times New Roman"/>
              </a:rPr>
              <a:t>825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Indexed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 marL="431800" marR="557530" indent="-169545">
              <a:lnSpc>
                <a:spcPct val="100000"/>
              </a:lnSpc>
              <a:spcBef>
                <a:spcPts val="135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	</a:t>
            </a:r>
            <a:r>
              <a:rPr sz="1200" dirty="0">
                <a:latin typeface="Times New Roman"/>
                <a:cs typeface="Times New Roman"/>
              </a:rPr>
              <a:t>obtain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address.</a:t>
            </a:r>
            <a:endParaRPr sz="12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894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index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assumed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hold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index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the</a:t>
            </a:r>
            <a:endParaRPr sz="1200">
              <a:latin typeface="Times New Roman"/>
              <a:cs typeface="Times New Roman"/>
            </a:endParaRPr>
          </a:p>
          <a:p>
            <a:pPr marL="43307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 marL="431800" marR="611505" indent="-169545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field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defines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beginning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data 	</a:t>
            </a:r>
            <a:r>
              <a:rPr sz="1200" b="1" dirty="0">
                <a:latin typeface="Times New Roman"/>
                <a:cs typeface="Times New Roman"/>
              </a:rPr>
              <a:t>array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endParaRPr sz="1200">
              <a:latin typeface="Times New Roman"/>
              <a:cs typeface="Times New Roman"/>
            </a:endParaRPr>
          </a:p>
          <a:p>
            <a:pPr marL="431800" marR="481330" indent="-169545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value.</a:t>
            </a:r>
            <a:endParaRPr sz="1200">
              <a:latin typeface="Times New Roman"/>
              <a:cs typeface="Times New Roman"/>
            </a:endParaRPr>
          </a:p>
          <a:p>
            <a:pPr marL="169545" marR="517525" indent="-169545" algn="r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169545" algn="l"/>
              </a:tabLst>
            </a:pP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dedicate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register.</a:t>
            </a:r>
            <a:endParaRPr sz="1200">
              <a:latin typeface="Times New Roman"/>
              <a:cs typeface="Times New Roman"/>
            </a:endParaRPr>
          </a:p>
          <a:p>
            <a:pPr marR="529590" algn="r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This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involved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implicitly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when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index-mode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used.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Indexed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036" y="5632703"/>
            <a:ext cx="4262628" cy="226009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Base</a:t>
            </a:r>
            <a:r>
              <a:rPr sz="2200" spc="-8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Register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 marL="362585" marR="127635" indent="-169545">
              <a:lnSpc>
                <a:spcPct val="100000"/>
              </a:lnSpc>
              <a:spcBef>
                <a:spcPts val="1300"/>
              </a:spcBef>
              <a:buClr>
                <a:srgbClr val="3E762B"/>
              </a:buClr>
              <a:buFont typeface="Wingdings"/>
              <a:buChar char=""/>
              <a:tabLst>
                <a:tab pos="3638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</a:t>
            </a:r>
            <a:r>
              <a:rPr sz="1200" spc="-25" dirty="0">
                <a:latin typeface="Times New Roman"/>
                <a:cs typeface="Times New Roman"/>
              </a:rPr>
              <a:t> the 	</a:t>
            </a:r>
            <a:r>
              <a:rPr sz="1200" spc="-10" dirty="0">
                <a:latin typeface="Times New Roman"/>
                <a:cs typeface="Times New Roman"/>
              </a:rPr>
              <a:t>effective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address.</a:t>
            </a:r>
            <a:endParaRPr sz="1200">
              <a:latin typeface="Times New Roman"/>
              <a:cs typeface="Times New Roman"/>
            </a:endParaRPr>
          </a:p>
          <a:p>
            <a:pPr marL="365760" indent="-172720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365760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base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assumed to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hold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base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address.</a:t>
            </a:r>
            <a:endParaRPr sz="1200">
              <a:latin typeface="Times New Roman"/>
              <a:cs typeface="Times New Roman"/>
            </a:endParaRPr>
          </a:p>
          <a:p>
            <a:pPr marL="365760" indent="-172720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36576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displacement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address.</a:t>
            </a:r>
            <a:endParaRPr sz="1200">
              <a:latin typeface="Times New Roman"/>
              <a:cs typeface="Times New Roman"/>
            </a:endParaRPr>
          </a:p>
          <a:p>
            <a:pPr marL="362585" marR="246379" indent="-169545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3638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2A4F1D"/>
                </a:solidFill>
                <a:latin typeface="Times New Roman"/>
                <a:cs typeface="Times New Roman"/>
              </a:rPr>
              <a:t>facilitate</a:t>
            </a:r>
            <a:r>
              <a:rPr sz="1200" b="1" spc="-3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the</a:t>
            </a:r>
            <a:r>
              <a:rPr sz="1200" b="1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2A4F1D"/>
                </a:solidFill>
                <a:latin typeface="Times New Roman"/>
                <a:cs typeface="Times New Roman"/>
              </a:rPr>
              <a:t>relocation </a:t>
            </a:r>
            <a:r>
              <a:rPr sz="1200" b="1" spc="-25" dirty="0">
                <a:solidFill>
                  <a:srgbClr val="2A4F1D"/>
                </a:solidFill>
                <a:latin typeface="Times New Roman"/>
                <a:cs typeface="Times New Roman"/>
              </a:rPr>
              <a:t>of 	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programs</a:t>
            </a:r>
            <a:r>
              <a:rPr sz="1200" b="1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in</a:t>
            </a:r>
            <a:r>
              <a:rPr sz="1200" b="1" spc="-5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2A4F1D"/>
                </a:solidFill>
                <a:latin typeface="Times New Roman"/>
                <a:cs typeface="Times New Roman"/>
              </a:rPr>
              <a:t>memory.</a:t>
            </a:r>
            <a:r>
              <a:rPr sz="1200" b="1" spc="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multiprogramming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	</a:t>
            </a:r>
            <a:r>
              <a:rPr sz="1200" dirty="0">
                <a:latin typeface="Times New Roman"/>
                <a:cs typeface="Times New Roman"/>
              </a:rPr>
              <a:t>moved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segment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another,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instructions'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must 	</a:t>
            </a:r>
            <a:r>
              <a:rPr sz="1200" dirty="0">
                <a:latin typeface="Times New Roman"/>
                <a:cs typeface="Times New Roman"/>
              </a:rPr>
              <a:t>reflect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change.</a:t>
            </a:r>
            <a:endParaRPr sz="1200">
              <a:latin typeface="Times New Roman"/>
              <a:cs typeface="Times New Roman"/>
            </a:endParaRPr>
          </a:p>
          <a:p>
            <a:pPr marL="362585" marR="85725" indent="-169545" algn="just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363855" algn="l"/>
              </a:tabLst>
            </a:pPr>
            <a:r>
              <a:rPr sz="1200" spc="-10" dirty="0">
                <a:latin typeface="Times New Roman"/>
                <a:cs typeface="Times New Roman"/>
              </a:rPr>
              <a:t>With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register,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displacement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change. </a:t>
            </a:r>
            <a:r>
              <a:rPr sz="1200" spc="-20" dirty="0">
                <a:latin typeface="Times New Roman"/>
                <a:cs typeface="Times New Roman"/>
              </a:rPr>
              <a:t>Only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 	segment.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Base</a:t>
            </a:r>
            <a:r>
              <a:rPr sz="2200" spc="-8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Register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863" y="5632703"/>
            <a:ext cx="3968496" cy="226009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959864" y="6600443"/>
            <a:ext cx="285115" cy="2000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1841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45"/>
              </a:spcBef>
            </a:pPr>
            <a:r>
              <a:rPr sz="1000" b="1" spc="-25" dirty="0">
                <a:latin typeface="Times New Roman"/>
                <a:cs typeface="Times New Roman"/>
              </a:rPr>
              <a:t>100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3967" y="1039368"/>
              <a:ext cx="2743200" cy="27142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068" y="2642615"/>
              <a:ext cx="3678935" cy="9631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7210" y="2635758"/>
              <a:ext cx="3693160" cy="977265"/>
            </a:xfrm>
            <a:custGeom>
              <a:avLst/>
              <a:gdLst/>
              <a:ahLst/>
              <a:cxnLst/>
              <a:rect l="l" t="t" r="r" b="b"/>
              <a:pathLst>
                <a:path w="3693160" h="977264">
                  <a:moveTo>
                    <a:pt x="0" y="976884"/>
                  </a:moveTo>
                  <a:lnTo>
                    <a:pt x="3692652" y="976884"/>
                  </a:lnTo>
                  <a:lnTo>
                    <a:pt x="3692652" y="0"/>
                  </a:lnTo>
                  <a:lnTo>
                    <a:pt x="0" y="0"/>
                  </a:lnTo>
                  <a:lnTo>
                    <a:pt x="0" y="976884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21180" y="2941319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21180" y="2941319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21180" y="3070859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21180" y="3070859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R="4126865" algn="ctr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Example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1</a:t>
            </a:r>
            <a:endParaRPr sz="2200">
              <a:latin typeface="Georgia"/>
              <a:cs typeface="Georgia"/>
            </a:endParaRPr>
          </a:p>
          <a:p>
            <a:pPr marR="4183379" algn="ctr">
              <a:lnSpc>
                <a:spcPct val="100000"/>
              </a:lnSpc>
              <a:spcBef>
                <a:spcPts val="1810"/>
              </a:spcBef>
            </a:pP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16607" y="3192779"/>
            <a:ext cx="2303145" cy="382905"/>
            <a:chOff x="1816607" y="3192779"/>
            <a:chExt cx="2303145" cy="382905"/>
          </a:xfrm>
        </p:grpSpPr>
        <p:sp>
          <p:nvSpPr>
            <p:cNvPr id="12" name="object 12"/>
            <p:cNvSpPr/>
            <p:nvPr/>
          </p:nvSpPr>
          <p:spPr>
            <a:xfrm>
              <a:off x="1821179" y="3329939"/>
              <a:ext cx="2292350" cy="111760"/>
            </a:xfrm>
            <a:custGeom>
              <a:avLst/>
              <a:gdLst/>
              <a:ahLst/>
              <a:cxnLst/>
              <a:rect l="l" t="t" r="r" b="b"/>
              <a:pathLst>
                <a:path w="2292350" h="111760">
                  <a:moveTo>
                    <a:pt x="2292096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2096" y="111251"/>
                  </a:lnTo>
                  <a:lnTo>
                    <a:pt x="2292096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21179" y="3329939"/>
              <a:ext cx="2292350" cy="111760"/>
            </a:xfrm>
            <a:custGeom>
              <a:avLst/>
              <a:gdLst/>
              <a:ahLst/>
              <a:cxnLst/>
              <a:rect l="l" t="t" r="r" b="b"/>
              <a:pathLst>
                <a:path w="2292350" h="111760">
                  <a:moveTo>
                    <a:pt x="0" y="111251"/>
                  </a:moveTo>
                  <a:lnTo>
                    <a:pt x="2292096" y="111251"/>
                  </a:lnTo>
                  <a:lnTo>
                    <a:pt x="2292096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3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21179" y="3461003"/>
              <a:ext cx="2292350" cy="109855"/>
            </a:xfrm>
            <a:custGeom>
              <a:avLst/>
              <a:gdLst/>
              <a:ahLst/>
              <a:cxnLst/>
              <a:rect l="l" t="t" r="r" b="b"/>
              <a:pathLst>
                <a:path w="2292350" h="109854">
                  <a:moveTo>
                    <a:pt x="229209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292096" y="109727"/>
                  </a:lnTo>
                  <a:lnTo>
                    <a:pt x="2292096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21179" y="3461003"/>
              <a:ext cx="2292350" cy="109855"/>
            </a:xfrm>
            <a:custGeom>
              <a:avLst/>
              <a:gdLst/>
              <a:ahLst/>
              <a:cxnLst/>
              <a:rect l="l" t="t" r="r" b="b"/>
              <a:pathLst>
                <a:path w="2292350" h="109854">
                  <a:moveTo>
                    <a:pt x="0" y="109727"/>
                  </a:moveTo>
                  <a:lnTo>
                    <a:pt x="2292096" y="109727"/>
                  </a:lnTo>
                  <a:lnTo>
                    <a:pt x="2292096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1179" y="3197351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229362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293620" y="109727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21179" y="3197351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0" y="109727"/>
                  </a:moveTo>
                  <a:lnTo>
                    <a:pt x="2293620" y="109727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9" name="object 19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3967" y="5015484"/>
              <a:ext cx="2743200" cy="271424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068" y="6618732"/>
              <a:ext cx="3678935" cy="96316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37210" y="6611874"/>
              <a:ext cx="3693160" cy="977265"/>
            </a:xfrm>
            <a:custGeom>
              <a:avLst/>
              <a:gdLst/>
              <a:ahLst/>
              <a:cxnLst/>
              <a:rect l="l" t="t" r="r" b="b"/>
              <a:pathLst>
                <a:path w="3693160" h="977265">
                  <a:moveTo>
                    <a:pt x="0" y="976884"/>
                  </a:moveTo>
                  <a:lnTo>
                    <a:pt x="3692652" y="976884"/>
                  </a:lnTo>
                  <a:lnTo>
                    <a:pt x="3692652" y="0"/>
                  </a:lnTo>
                  <a:lnTo>
                    <a:pt x="0" y="0"/>
                  </a:lnTo>
                  <a:lnTo>
                    <a:pt x="0" y="976884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21180" y="6917436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21180" y="6917436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21180" y="7046976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21180" y="7046976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R="4126865" algn="ctr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Example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1</a:t>
            </a:r>
            <a:endParaRPr sz="2200">
              <a:latin typeface="Georgia"/>
              <a:cs typeface="Georgia"/>
            </a:endParaRPr>
          </a:p>
          <a:p>
            <a:pPr marR="4183379" algn="ctr">
              <a:lnSpc>
                <a:spcPct val="100000"/>
              </a:lnSpc>
              <a:spcBef>
                <a:spcPts val="1805"/>
              </a:spcBef>
            </a:pP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16607" y="7168895"/>
            <a:ext cx="2303145" cy="119380"/>
            <a:chOff x="1816607" y="7168895"/>
            <a:chExt cx="2303145" cy="119380"/>
          </a:xfrm>
        </p:grpSpPr>
        <p:sp>
          <p:nvSpPr>
            <p:cNvPr id="31" name="object 31"/>
            <p:cNvSpPr/>
            <p:nvPr/>
          </p:nvSpPr>
          <p:spPr>
            <a:xfrm>
              <a:off x="1821179" y="7173467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2293620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293620" y="109728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21179" y="7173467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0" y="109728"/>
                  </a:moveTo>
                  <a:lnTo>
                    <a:pt x="2293620" y="109728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Example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2</a:t>
            </a:r>
            <a:endParaRPr sz="2200">
              <a:latin typeface="Georgia"/>
              <a:cs typeface="Georgia"/>
            </a:endParaRPr>
          </a:p>
          <a:p>
            <a:pPr marL="431800" marR="74803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branch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750</a:t>
            </a:r>
            <a:r>
              <a:rPr sz="1200" spc="-20" dirty="0">
                <a:latin typeface="Times New Roman"/>
                <a:cs typeface="Times New Roman"/>
              </a:rPr>
              <a:t>.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branch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500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719455" marR="763905" lvl="1" indent="-140335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719455" algn="l"/>
                <a:tab pos="721995" algn="l"/>
              </a:tabLst>
            </a:pPr>
            <a:r>
              <a:rPr sz="1200" dirty="0">
                <a:latin typeface="Times New Roman"/>
                <a:cs typeface="Times New Roman"/>
              </a:rPr>
              <a:t>	Determine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fetch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binary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500.</a:t>
            </a:r>
            <a:endParaRPr sz="1200">
              <a:latin typeface="Times New Roman"/>
              <a:cs typeface="Times New Roman"/>
            </a:endParaRPr>
          </a:p>
          <a:p>
            <a:pPr marL="728345" lvl="1" indent="-149225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728345" algn="l"/>
              </a:tabLst>
            </a:pP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instruction?</a:t>
            </a:r>
            <a:endParaRPr sz="1200">
              <a:latin typeface="Times New Roman"/>
              <a:cs typeface="Times New Roman"/>
            </a:endParaRPr>
          </a:p>
          <a:p>
            <a:pPr marL="721995" lvl="1" indent="-142875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721995" algn="l"/>
              </a:tabLst>
            </a:pPr>
            <a:r>
              <a:rPr sz="1200" dirty="0">
                <a:latin typeface="Times New Roman"/>
                <a:cs typeface="Times New Roman"/>
              </a:rPr>
              <a:t>Determine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bits.</a:t>
            </a:r>
            <a:endParaRPr sz="1200">
              <a:latin typeface="Times New Roman"/>
              <a:cs typeface="Times New Roman"/>
            </a:endParaRPr>
          </a:p>
          <a:p>
            <a:pPr marL="719455" marR="795020" lvl="1" indent="-140335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719455" algn="l"/>
                <a:tab pos="731520" algn="l"/>
              </a:tabLst>
            </a:pPr>
            <a:r>
              <a:rPr sz="1200" dirty="0">
                <a:latin typeface="Times New Roman"/>
                <a:cs typeface="Times New Roman"/>
              </a:rPr>
              <a:t>	Show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(b)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500.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Example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2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69847" y="5835396"/>
            <a:ext cx="4157979" cy="1724025"/>
            <a:chOff x="1069847" y="5835396"/>
            <a:chExt cx="4157979" cy="172402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847" y="5835396"/>
              <a:ext cx="4157472" cy="2057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9847" y="6187440"/>
              <a:ext cx="3386328" cy="1371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0838" y="2736341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278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95"/>
              </a:spcBef>
            </a:pPr>
            <a:endParaRPr sz="3600">
              <a:latin typeface="Times New Roman"/>
              <a:cs typeface="Times New Roman"/>
            </a:endParaRPr>
          </a:p>
          <a:p>
            <a:pPr marL="1617345" marR="1170940" indent="-442595">
              <a:lnSpc>
                <a:spcPts val="3670"/>
              </a:lnSpc>
            </a:pP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36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36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Manipulation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3600">
              <a:latin typeface="Times New Roman"/>
              <a:cs typeface="Times New Roman"/>
            </a:endParaRPr>
          </a:p>
          <a:p>
            <a:pPr marR="497205" algn="r">
              <a:lnSpc>
                <a:spcPct val="100000"/>
              </a:lnSpc>
            </a:pPr>
            <a:r>
              <a:rPr sz="600" spc="-25" dirty="0">
                <a:solidFill>
                  <a:srgbClr val="FFFFFF"/>
                </a:solidFill>
                <a:latin typeface="Corbel"/>
                <a:cs typeface="Corbel"/>
              </a:rPr>
              <a:t>21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Data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Transfer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Instructions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Typical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Transfer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455" y="6071615"/>
            <a:ext cx="1874520" cy="142341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7591" y="1965960"/>
            <a:ext cx="3962400" cy="17800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Data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Transfer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Instructions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LOAD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Different</a:t>
            </a:r>
            <a:r>
              <a:rPr sz="1200" b="1" spc="-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Addressing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Modes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Times New Roman"/>
              <a:cs typeface="Times New Roman"/>
            </a:endParaRPr>
          </a:p>
          <a:p>
            <a:pPr marL="410209">
              <a:lnSpc>
                <a:spcPct val="100000"/>
              </a:lnSpc>
            </a:pPr>
            <a:r>
              <a:rPr sz="1000" b="1" dirty="0">
                <a:latin typeface="Corbel"/>
                <a:cs typeface="Corbel"/>
              </a:rPr>
              <a:t>ADR</a:t>
            </a:r>
            <a:r>
              <a:rPr sz="1000" b="1" spc="-20" dirty="0">
                <a:latin typeface="Corbel"/>
                <a:cs typeface="Corbel"/>
              </a:rPr>
              <a:t> </a:t>
            </a:r>
            <a:r>
              <a:rPr sz="1000" b="1" dirty="0">
                <a:latin typeface="Corbel"/>
                <a:cs typeface="Corbel"/>
              </a:rPr>
              <a:t>~</a:t>
            </a:r>
            <a:r>
              <a:rPr sz="1000" b="1" spc="-20" dirty="0">
                <a:latin typeface="Corbel"/>
                <a:cs typeface="Corbel"/>
              </a:rPr>
              <a:t> </a:t>
            </a:r>
            <a:r>
              <a:rPr sz="1000" b="1" spc="-10" dirty="0">
                <a:latin typeface="Corbel"/>
                <a:cs typeface="Corbel"/>
              </a:rPr>
              <a:t>address</a:t>
            </a:r>
            <a:endParaRPr sz="100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Data</a:t>
            </a:r>
            <a:r>
              <a:rPr sz="2200" spc="-3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Manipulation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Instructions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Arithmetic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1451" y="5992367"/>
            <a:ext cx="2767583" cy="149352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Data</a:t>
            </a:r>
            <a:r>
              <a:rPr sz="2200" spc="-3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Manipulation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Instructions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Logical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Manipulation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444" y="2106167"/>
            <a:ext cx="2289048" cy="173736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Data</a:t>
            </a:r>
            <a:r>
              <a:rPr sz="2200" spc="-3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Manipulation</a:t>
            </a:r>
            <a:r>
              <a:rPr sz="2200" spc="-3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Instructions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Shift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3351" y="5984747"/>
            <a:ext cx="2491740" cy="150875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Program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Control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Instructions</a:t>
            </a:r>
            <a:endParaRPr sz="2200">
              <a:latin typeface="Georgia"/>
              <a:cs typeface="Georgia"/>
            </a:endParaRPr>
          </a:p>
          <a:p>
            <a:pPr marL="443230" indent="-171450">
              <a:lnSpc>
                <a:spcPct val="100000"/>
              </a:lnSpc>
              <a:spcBef>
                <a:spcPts val="1850"/>
              </a:spcBef>
              <a:buClr>
                <a:srgbClr val="3E762B"/>
              </a:buClr>
              <a:buFont typeface="Wingdings"/>
              <a:buChar char=""/>
              <a:tabLst>
                <a:tab pos="44323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Program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Control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200">
              <a:latin typeface="Times New Roman"/>
              <a:cs typeface="Times New Roman"/>
            </a:endParaRPr>
          </a:p>
          <a:p>
            <a:pPr marL="387985" indent="-116205">
              <a:lnSpc>
                <a:spcPct val="100000"/>
              </a:lnSpc>
              <a:buFont typeface="Arial MT"/>
              <a:buChar char="•"/>
              <a:tabLst>
                <a:tab pos="387985" algn="l"/>
              </a:tabLst>
            </a:pPr>
            <a:r>
              <a:rPr sz="1200" b="1" dirty="0">
                <a:solidFill>
                  <a:srgbClr val="006FC0"/>
                </a:solidFill>
                <a:latin typeface="Times New Roman"/>
                <a:cs typeface="Times New Roman"/>
              </a:rPr>
              <a:t>Jump</a:t>
            </a:r>
            <a:r>
              <a:rPr sz="12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unconditional.</a:t>
            </a:r>
            <a:endParaRPr sz="1200">
              <a:latin typeface="Times New Roman"/>
              <a:cs typeface="Times New Roman"/>
            </a:endParaRPr>
          </a:p>
          <a:p>
            <a:pPr marL="387985" indent="-11620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87985" algn="l"/>
              </a:tabLst>
            </a:pPr>
            <a:r>
              <a:rPr sz="1200" b="1" dirty="0">
                <a:solidFill>
                  <a:srgbClr val="006FC0"/>
                </a:solidFill>
                <a:latin typeface="Times New Roman"/>
                <a:cs typeface="Times New Roman"/>
              </a:rPr>
              <a:t>Branch</a:t>
            </a:r>
            <a:r>
              <a:rPr sz="12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conditional.</a:t>
            </a:r>
            <a:endParaRPr sz="1200">
              <a:latin typeface="Times New Roman"/>
              <a:cs typeface="Times New Roman"/>
            </a:endParaRPr>
          </a:p>
          <a:p>
            <a:pPr marL="387985" indent="-11620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87985" algn="l"/>
              </a:tabLst>
            </a:pPr>
            <a:r>
              <a:rPr sz="1200" b="1" dirty="0">
                <a:solidFill>
                  <a:srgbClr val="6F2F9F"/>
                </a:solidFill>
                <a:latin typeface="Times New Roman"/>
                <a:cs typeface="Times New Roman"/>
              </a:rPr>
              <a:t>Compare</a:t>
            </a:r>
            <a:r>
              <a:rPr sz="12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subtraction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</a:t>
            </a:r>
            <a:endParaRPr sz="1200">
              <a:latin typeface="Times New Roman"/>
              <a:cs typeface="Times New Roman"/>
            </a:endParaRPr>
          </a:p>
          <a:p>
            <a:pPr marL="387985" indent="-11620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87985" algn="l"/>
              </a:tabLst>
            </a:pPr>
            <a:r>
              <a:rPr sz="1200" b="1" spc="-20" dirty="0">
                <a:solidFill>
                  <a:srgbClr val="6F2F9F"/>
                </a:solidFill>
                <a:latin typeface="Times New Roman"/>
                <a:cs typeface="Times New Roman"/>
              </a:rPr>
              <a:t>Test</a:t>
            </a:r>
            <a:r>
              <a:rPr sz="1200" b="1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operation.</a:t>
            </a:r>
            <a:endParaRPr sz="1200">
              <a:latin typeface="Times New Roman"/>
              <a:cs typeface="Times New Roman"/>
            </a:endParaRPr>
          </a:p>
          <a:p>
            <a:pPr marL="501015" marR="1577340" lvl="1" indent="-109855">
              <a:lnSpc>
                <a:spcPct val="100000"/>
              </a:lnSpc>
              <a:spcBef>
                <a:spcPts val="605"/>
              </a:spcBef>
              <a:buSzPct val="90909"/>
              <a:buFont typeface="Wingdings"/>
              <a:buChar char=""/>
              <a:tabLst>
                <a:tab pos="501015" algn="l"/>
              </a:tabLst>
            </a:pPr>
            <a:r>
              <a:rPr sz="1100" b="1" dirty="0">
                <a:solidFill>
                  <a:srgbClr val="6F2F9F"/>
                </a:solidFill>
                <a:latin typeface="Times New Roman"/>
                <a:cs typeface="Times New Roman"/>
              </a:rPr>
              <a:t>CMP</a:t>
            </a:r>
            <a:r>
              <a:rPr sz="1100" b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6F2F9F"/>
                </a:solidFill>
                <a:latin typeface="Times New Roman"/>
                <a:cs typeface="Times New Roman"/>
              </a:rPr>
              <a:t>TST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retain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operations.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set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or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clear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certain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Flags.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7723" y="1656588"/>
            <a:ext cx="2377440" cy="13914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Flags,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Status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Word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38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flags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combined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endParaRPr sz="1200">
              <a:latin typeface="Times New Roman"/>
              <a:cs typeface="Times New Roman"/>
            </a:endParaRPr>
          </a:p>
          <a:p>
            <a:pPr marL="800100" lvl="1" indent="-17208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8001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processor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status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register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b="1" spc="-20" dirty="0">
                <a:latin typeface="Times New Roman"/>
                <a:cs typeface="Times New Roman"/>
              </a:rPr>
              <a:t>PSR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799465" lvl="1" indent="-17145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799465" algn="l"/>
              </a:tabLst>
            </a:pPr>
            <a:r>
              <a:rPr sz="1200" dirty="0">
                <a:latin typeface="Times New Roman"/>
                <a:cs typeface="Times New Roman"/>
              </a:rPr>
              <a:t>Sometimes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processor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status</a:t>
            </a:r>
            <a:r>
              <a:rPr sz="12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word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b="1" spc="-20" dirty="0">
                <a:latin typeface="Times New Roman"/>
                <a:cs typeface="Times New Roman"/>
              </a:rPr>
              <a:t>PSW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0544" y="2407919"/>
            <a:ext cx="2729483" cy="1600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Flags,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Status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Word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38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Common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flags</a:t>
            </a:r>
            <a:endParaRPr sz="1200">
              <a:latin typeface="Times New Roman"/>
              <a:cs typeface="Times New Roman"/>
            </a:endParaRPr>
          </a:p>
          <a:p>
            <a:pPr marL="608965" lvl="1" indent="-11811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608965" algn="l"/>
              </a:tabLst>
            </a:pP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(Sign):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MSB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ALU’s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output.</a:t>
            </a:r>
            <a:endParaRPr sz="1200">
              <a:latin typeface="Times New Roman"/>
              <a:cs typeface="Times New Roman"/>
            </a:endParaRPr>
          </a:p>
          <a:p>
            <a:pPr marL="608965" lvl="1" indent="-11811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608965" algn="l"/>
              </a:tabLst>
            </a:pPr>
            <a:r>
              <a:rPr sz="1200" dirty="0">
                <a:latin typeface="Times New Roman"/>
                <a:cs typeface="Times New Roman"/>
              </a:rPr>
              <a:t>Z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(Zero): 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ALU’s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0" dirty="0">
                <a:latin typeface="Times New Roman"/>
                <a:cs typeface="Times New Roman"/>
              </a:rPr>
              <a:t> 0’s.</a:t>
            </a:r>
            <a:endParaRPr sz="1200">
              <a:latin typeface="Times New Roman"/>
              <a:cs typeface="Times New Roman"/>
            </a:endParaRPr>
          </a:p>
          <a:p>
            <a:pPr marL="608965" lvl="1" indent="-11811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608965" algn="l"/>
              </a:tabLst>
            </a:pPr>
            <a:r>
              <a:rPr sz="1200" dirty="0">
                <a:latin typeface="Times New Roman"/>
                <a:cs typeface="Times New Roman"/>
              </a:rPr>
              <a:t>C: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bit.</a:t>
            </a:r>
            <a:endParaRPr sz="1200">
              <a:latin typeface="Times New Roman"/>
              <a:cs typeface="Times New Roman"/>
            </a:endParaRPr>
          </a:p>
          <a:p>
            <a:pPr marL="608965" lvl="1" indent="-11811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608965" algn="l"/>
              </a:tabLst>
            </a:pPr>
            <a:r>
              <a:rPr sz="1200" spc="-30" dirty="0">
                <a:latin typeface="Times New Roman"/>
                <a:cs typeface="Times New Roman"/>
              </a:rPr>
              <a:t>V: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Overflow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Times New Roman"/>
              <a:cs typeface="Times New Roman"/>
            </a:endParaRPr>
          </a:p>
          <a:p>
            <a:pPr marL="3905250">
              <a:lnSpc>
                <a:spcPct val="100000"/>
              </a:lnSpc>
            </a:pPr>
            <a:r>
              <a:rPr sz="1100" b="1" dirty="0">
                <a:latin typeface="Corbel"/>
                <a:cs typeface="Corbel"/>
              </a:rPr>
              <a:t>Status</a:t>
            </a:r>
            <a:r>
              <a:rPr sz="1100" b="1" spc="-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Flag</a:t>
            </a:r>
            <a:r>
              <a:rPr sz="1100" b="1" spc="-50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Circuit</a:t>
            </a:r>
            <a:endParaRPr sz="110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0479" y="6678168"/>
              <a:ext cx="2497836" cy="146304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Unsigned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and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Signed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numbers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8-bit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ALU,</a:t>
            </a:r>
            <a:endParaRPr sz="1200">
              <a:latin typeface="Times New Roman"/>
              <a:cs typeface="Times New Roman"/>
            </a:endParaRPr>
          </a:p>
          <a:p>
            <a:pPr marL="490220" lvl="1" indent="-9080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"/>
              <a:tabLst>
                <a:tab pos="49022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largest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unsigned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0" dirty="0">
                <a:latin typeface="Times New Roman"/>
                <a:cs typeface="Times New Roman"/>
              </a:rPr>
              <a:t> accommodated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255.</a:t>
            </a:r>
            <a:endParaRPr sz="1200">
              <a:latin typeface="Times New Roman"/>
              <a:cs typeface="Times New Roman"/>
            </a:endParaRPr>
          </a:p>
          <a:p>
            <a:pPr marL="490220" lvl="1" indent="-90805">
              <a:lnSpc>
                <a:spcPct val="100000"/>
              </a:lnSpc>
              <a:spcBef>
                <a:spcPts val="595"/>
              </a:spcBef>
              <a:buClr>
                <a:srgbClr val="3E762B"/>
              </a:buClr>
              <a:buFont typeface="Wingdings"/>
              <a:buChar char=""/>
              <a:tabLst>
                <a:tab pos="49022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 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signed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numbers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+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127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20" dirty="0">
                <a:latin typeface="Times New Roman"/>
                <a:cs typeface="Times New Roman"/>
              </a:rPr>
              <a:t> 128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5"/>
              </a:spcBef>
              <a:buClr>
                <a:srgbClr val="3E762B"/>
              </a:buClr>
              <a:buFont typeface="Wingdings"/>
              <a:buChar char=""/>
            </a:pPr>
            <a:endParaRPr sz="1200">
              <a:latin typeface="Times New Roman"/>
              <a:cs typeface="Times New Roman"/>
            </a:endParaRPr>
          </a:p>
          <a:p>
            <a:pPr marL="490855" marR="858519" lvl="1" indent="-91440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4908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subtraction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unsigned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signed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(in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2's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complement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representation)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Flags,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Status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Word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38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(carry)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C8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0.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(sign)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highest-</a:t>
            </a: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F7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0.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Z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(zero)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contains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0’s.</a:t>
            </a:r>
            <a:endParaRPr sz="1200">
              <a:latin typeface="Times New Roman"/>
              <a:cs typeface="Times New Roman"/>
            </a:endParaRPr>
          </a:p>
          <a:p>
            <a:pPr marL="43307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Z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zero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zero.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434975" marR="620395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(overflow)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carries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	</a:t>
            </a:r>
            <a:r>
              <a:rPr sz="1200" dirty="0">
                <a:latin typeface="Times New Roman"/>
                <a:cs typeface="Times New Roman"/>
              </a:rPr>
              <a:t>cleared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otherwise.</a:t>
            </a:r>
            <a:endParaRPr sz="1200">
              <a:latin typeface="Times New Roman"/>
              <a:cs typeface="Times New Roman"/>
            </a:endParaRPr>
          </a:p>
          <a:p>
            <a:pPr marL="43624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negative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numbers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2's</a:t>
            </a:r>
            <a:r>
              <a:rPr sz="1200" spc="-10" dirty="0">
                <a:latin typeface="Times New Roman"/>
                <a:cs typeface="Times New Roman"/>
              </a:rPr>
              <a:t> complement,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limits.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8-bit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greater than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127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 </a:t>
            </a: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128.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Unsigned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and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Signed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numbers</a:t>
            </a:r>
            <a:endParaRPr sz="2200">
              <a:latin typeface="Georgia"/>
              <a:cs typeface="Georgia"/>
            </a:endParaRPr>
          </a:p>
          <a:p>
            <a:pPr marL="544830" marR="1327785" indent="-145415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"/>
              <a:tabLst>
                <a:tab pos="546100" algn="l"/>
              </a:tabLst>
            </a:pPr>
            <a:r>
              <a:rPr sz="1200" spc="-20" dirty="0">
                <a:latin typeface="Times New Roman"/>
                <a:cs typeface="Times New Roman"/>
              </a:rPr>
              <a:t>Let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11110000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00010100.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ALU 	</a:t>
            </a:r>
            <a:r>
              <a:rPr sz="1200" dirty="0">
                <a:latin typeface="Times New Roman"/>
                <a:cs typeface="Times New Roman"/>
              </a:rPr>
              <a:t>takes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2’s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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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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  <a:buClr>
                <a:srgbClr val="3E762B"/>
              </a:buClr>
              <a:buFont typeface="Wingdings"/>
              <a:buChar char=""/>
            </a:pPr>
            <a:endParaRPr sz="1200">
              <a:latin typeface="Times New Roman"/>
              <a:cs typeface="Times New Roman"/>
            </a:endParaRPr>
          </a:p>
          <a:p>
            <a:pPr marL="544830" indent="-145415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544830" algn="l"/>
              </a:tabLst>
            </a:pP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carry-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stage.</a:t>
            </a:r>
            <a:endParaRPr sz="1200">
              <a:latin typeface="Times New Roman"/>
              <a:cs typeface="Times New Roman"/>
            </a:endParaRPr>
          </a:p>
          <a:p>
            <a:pPr marL="544830" indent="-14541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544830" algn="l"/>
              </a:tabLst>
            </a:pP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leftmost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  <a:p>
            <a:pPr marL="544830" indent="-14541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544830" algn="l"/>
              </a:tabLst>
            </a:pP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carries 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544830" indent="-14541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544830" algn="l"/>
              </a:tabLst>
            </a:pPr>
            <a:r>
              <a:rPr sz="1200" dirty="0">
                <a:latin typeface="Times New Roman"/>
                <a:cs typeface="Times New Roman"/>
              </a:rPr>
              <a:t>Z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0.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86255" y="6030467"/>
            <a:ext cx="4676140" cy="661670"/>
            <a:chOff x="1286255" y="6030467"/>
            <a:chExt cx="4676140" cy="6616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6255" y="6030467"/>
              <a:ext cx="3724655" cy="6004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97379" y="6444995"/>
              <a:ext cx="4060190" cy="242570"/>
            </a:xfrm>
            <a:custGeom>
              <a:avLst/>
              <a:gdLst/>
              <a:ahLst/>
              <a:cxnLst/>
              <a:rect l="l" t="t" r="r" b="b"/>
              <a:pathLst>
                <a:path w="4060190" h="242570">
                  <a:moveTo>
                    <a:pt x="4059936" y="0"/>
                  </a:moveTo>
                  <a:lnTo>
                    <a:pt x="0" y="0"/>
                  </a:lnTo>
                  <a:lnTo>
                    <a:pt x="0" y="242315"/>
                  </a:lnTo>
                  <a:lnTo>
                    <a:pt x="4059936" y="242315"/>
                  </a:lnTo>
                  <a:lnTo>
                    <a:pt x="40599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97379" y="6444995"/>
              <a:ext cx="4060190" cy="242570"/>
            </a:xfrm>
            <a:custGeom>
              <a:avLst/>
              <a:gdLst/>
              <a:ahLst/>
              <a:cxnLst/>
              <a:rect l="l" t="t" r="r" b="b"/>
              <a:pathLst>
                <a:path w="4060190" h="242570">
                  <a:moveTo>
                    <a:pt x="0" y="242315"/>
                  </a:moveTo>
                  <a:lnTo>
                    <a:pt x="4059936" y="242315"/>
                  </a:lnTo>
                  <a:lnTo>
                    <a:pt x="4059936" y="0"/>
                  </a:lnTo>
                  <a:lnTo>
                    <a:pt x="0" y="0"/>
                  </a:lnTo>
                  <a:lnTo>
                    <a:pt x="0" y="242315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05177" y="7850885"/>
            <a:ext cx="3249295" cy="230504"/>
          </a:xfrm>
          <a:prstGeom prst="rect">
            <a:avLst/>
          </a:prstGeom>
          <a:solidFill>
            <a:srgbClr val="FFFFFF"/>
          </a:solidFill>
          <a:ln w="13716">
            <a:solidFill>
              <a:srgbClr val="539E39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compare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updates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status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bits.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Signed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numbers</a:t>
            </a:r>
            <a:endParaRPr sz="2200">
              <a:latin typeface="Georgia"/>
              <a:cs typeface="Georgia"/>
            </a:endParaRPr>
          </a:p>
          <a:p>
            <a:pPr marL="544830" marR="1327785" indent="-145415">
              <a:lnSpc>
                <a:spcPts val="1300"/>
              </a:lnSpc>
              <a:spcBef>
                <a:spcPts val="1425"/>
              </a:spcBef>
              <a:buClr>
                <a:srgbClr val="3E762B"/>
              </a:buClr>
              <a:buFont typeface="Wingdings"/>
              <a:buChar char=""/>
              <a:tabLst>
                <a:tab pos="546100" algn="l"/>
              </a:tabLst>
            </a:pPr>
            <a:r>
              <a:rPr sz="1200" spc="-20" dirty="0">
                <a:latin typeface="Times New Roman"/>
                <a:cs typeface="Times New Roman"/>
              </a:rPr>
              <a:t>Let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11110000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00010100.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ALU 	</a:t>
            </a:r>
            <a:r>
              <a:rPr sz="1200" dirty="0">
                <a:latin typeface="Times New Roman"/>
                <a:cs typeface="Times New Roman"/>
              </a:rPr>
              <a:t>takes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2’s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>
              <a:latin typeface="Times New Roman"/>
              <a:cs typeface="Times New Roman"/>
            </a:endParaRPr>
          </a:p>
          <a:p>
            <a:pPr marL="407670" indent="-145415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4076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decimal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equivalent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16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+20.</a:t>
            </a:r>
            <a:endParaRPr sz="1200">
              <a:latin typeface="Times New Roman"/>
              <a:cs typeface="Times New Roman"/>
            </a:endParaRPr>
          </a:p>
          <a:p>
            <a:pPr marL="407670" marR="1009015" indent="-145415" algn="just">
              <a:lnSpc>
                <a:spcPts val="1300"/>
              </a:lnSpc>
              <a:spcBef>
                <a:spcPts val="920"/>
              </a:spcBef>
              <a:buClr>
                <a:srgbClr val="3E762B"/>
              </a:buClr>
              <a:buFont typeface="Wingdings"/>
              <a:buChar char=""/>
              <a:tabLst>
                <a:tab pos="40894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subtraction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decimal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(-</a:t>
            </a:r>
            <a:r>
              <a:rPr sz="1200" dirty="0">
                <a:latin typeface="Times New Roman"/>
                <a:cs typeface="Times New Roman"/>
              </a:rPr>
              <a:t>16)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(+20)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36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(11011100)</a:t>
            </a:r>
            <a:r>
              <a:rPr sz="1200" spc="-15" baseline="-20833" dirty="0">
                <a:latin typeface="Times New Roman"/>
                <a:cs typeface="Times New Roman"/>
              </a:rPr>
              <a:t>b</a:t>
            </a:r>
            <a:r>
              <a:rPr sz="1200" spc="142" baseline="-20833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2’s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00100100,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equivalent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36.</a:t>
            </a:r>
            <a:endParaRPr sz="1200">
              <a:latin typeface="Times New Roman"/>
              <a:cs typeface="Times New Roman"/>
            </a:endParaRPr>
          </a:p>
          <a:p>
            <a:pPr marL="407670" marR="1085215" indent="-145415" algn="just">
              <a:lnSpc>
                <a:spcPts val="1300"/>
              </a:lnSpc>
              <a:spcBef>
                <a:spcPts val="890"/>
              </a:spcBef>
              <a:buClr>
                <a:srgbClr val="3E762B"/>
              </a:buClr>
              <a:buFont typeface="Wingdings"/>
              <a:buChar char=""/>
              <a:tabLst>
                <a:tab pos="408940" algn="l"/>
              </a:tabLst>
            </a:pPr>
            <a:r>
              <a:rPr sz="1200" spc="-45" dirty="0">
                <a:latin typeface="Times New Roman"/>
                <a:cs typeface="Times New Roman"/>
              </a:rPr>
              <a:t>We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 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 </a:t>
            </a:r>
            <a:r>
              <a:rPr sz="1200" spc="-20" dirty="0">
                <a:latin typeface="Times New Roman"/>
                <a:cs typeface="Times New Roman"/>
              </a:rPr>
              <a:t>from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0" dirty="0">
                <a:latin typeface="Times New Roman"/>
                <a:cs typeface="Times New Roman"/>
              </a:rPr>
              <a:t> (negative),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(no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overflow),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0 	</a:t>
            </a:r>
            <a:r>
              <a:rPr sz="1200" dirty="0">
                <a:latin typeface="Times New Roman"/>
                <a:cs typeface="Times New Roman"/>
              </a:rPr>
              <a:t>(not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zero).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255" y="2054351"/>
            <a:ext cx="3724655" cy="6004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Signed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numbers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200">
              <a:latin typeface="Georgia"/>
              <a:cs typeface="Georgia"/>
            </a:endParaRPr>
          </a:p>
          <a:p>
            <a:pPr marL="407670" indent="-14541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"/>
              <a:tabLst>
                <a:tab pos="4076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magnitude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</a:t>
            </a:r>
            <a:endParaRPr sz="1200">
              <a:latin typeface="Times New Roman"/>
              <a:cs typeface="Times New Roman"/>
            </a:endParaRPr>
          </a:p>
          <a:p>
            <a:pPr marL="40894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values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80" dirty="0">
                <a:latin typeface="Times New Roman"/>
                <a:cs typeface="Times New Roman"/>
              </a:rPr>
              <a:t>V,</a:t>
            </a:r>
            <a:r>
              <a:rPr sz="1200" b="1" dirty="0">
                <a:latin typeface="Times New Roman"/>
                <a:cs typeface="Times New Roman"/>
              </a:rPr>
              <a:t> and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Z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Times New Roman"/>
              <a:cs typeface="Times New Roman"/>
            </a:endParaRPr>
          </a:p>
          <a:p>
            <a:pPr marL="407670" marR="2417445" indent="-145415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408940" algn="l"/>
              </a:tabLst>
            </a:pP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0,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if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0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&gt;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B)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if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1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&lt;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B) 	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2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 1 </a:t>
            </a:r>
            <a:r>
              <a:rPr sz="1200" b="1" spc="-10" dirty="0">
                <a:latin typeface="Times New Roman"/>
                <a:cs typeface="Times New Roman"/>
              </a:rPr>
              <a:t>reverse</a:t>
            </a:r>
            <a:endParaRPr sz="1200">
              <a:latin typeface="Times New Roman"/>
              <a:cs typeface="Times New Roman"/>
            </a:endParaRPr>
          </a:p>
          <a:p>
            <a:pPr marL="40894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Z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=1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(equal)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Unsigned</a:t>
            </a:r>
            <a:r>
              <a:rPr sz="2200" spc="-12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numbers</a:t>
            </a:r>
            <a:endParaRPr sz="2200">
              <a:latin typeface="Georgia"/>
              <a:cs typeface="Georgia"/>
            </a:endParaRPr>
          </a:p>
          <a:p>
            <a:pPr marL="544830" marR="972819" indent="-145415">
              <a:lnSpc>
                <a:spcPts val="1300"/>
              </a:lnSpc>
              <a:spcBef>
                <a:spcPts val="1425"/>
              </a:spcBef>
              <a:buClr>
                <a:srgbClr val="3E762B"/>
              </a:buClr>
              <a:buFont typeface="Wingdings"/>
              <a:buChar char=""/>
              <a:tabLst>
                <a:tab pos="546100" algn="l"/>
              </a:tabLst>
            </a:pPr>
            <a:r>
              <a:rPr sz="1200" spc="-20" dirty="0">
                <a:latin typeface="Times New Roman"/>
                <a:cs typeface="Times New Roman"/>
              </a:rPr>
              <a:t>Let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11110000</a:t>
            </a:r>
            <a:r>
              <a:rPr sz="1200" dirty="0">
                <a:latin typeface="Times New Roman"/>
                <a:cs typeface="Times New Roman"/>
              </a:rPr>
              <a:t> and 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00010100.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perform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B,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takes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2’s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adds 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Times New Roman"/>
              <a:cs typeface="Times New Roman"/>
            </a:endParaRPr>
          </a:p>
          <a:p>
            <a:pPr marL="407670" marR="991235" indent="-145415">
              <a:lnSpc>
                <a:spcPts val="1300"/>
              </a:lnSpc>
              <a:buClr>
                <a:srgbClr val="3E762B"/>
              </a:buClr>
              <a:buFont typeface="Wingdings"/>
              <a:buChar char=""/>
              <a:tabLst>
                <a:tab pos="408940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assume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unsigned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numbers</a:t>
            </a:r>
            <a:r>
              <a:rPr sz="1200" dirty="0">
                <a:latin typeface="Times New Roman"/>
                <a:cs typeface="Times New Roman"/>
              </a:rPr>
              <a:t>, 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equivalent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240</a:t>
            </a:r>
            <a:r>
              <a:rPr sz="1200" spc="-25" dirty="0">
                <a:latin typeface="Times New Roman"/>
                <a:cs typeface="Times New Roman"/>
              </a:rPr>
              <a:t> and 	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20.</a:t>
            </a:r>
            <a:endParaRPr sz="1200">
              <a:latin typeface="Times New Roman"/>
              <a:cs typeface="Times New Roman"/>
            </a:endParaRPr>
          </a:p>
          <a:p>
            <a:pPr marL="407670" indent="-145415">
              <a:lnSpc>
                <a:spcPct val="100000"/>
              </a:lnSpc>
              <a:spcBef>
                <a:spcPts val="735"/>
              </a:spcBef>
              <a:buClr>
                <a:srgbClr val="3E762B"/>
              </a:buClr>
              <a:buFont typeface="Wingdings"/>
              <a:buChar char=""/>
              <a:tabLst>
                <a:tab pos="4076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subtraction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decimal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240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220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(11011100)</a:t>
            </a:r>
            <a:r>
              <a:rPr sz="1200" spc="-15" baseline="-20833" dirty="0">
                <a:latin typeface="Times New Roman"/>
                <a:cs typeface="Times New Roman"/>
              </a:rPr>
              <a:t>b</a:t>
            </a:r>
            <a:endParaRPr sz="1200" baseline="-20833">
              <a:latin typeface="Times New Roman"/>
              <a:cs typeface="Times New Roman"/>
            </a:endParaRPr>
          </a:p>
          <a:p>
            <a:pPr marL="407670" marR="862965" indent="-145415">
              <a:lnSpc>
                <a:spcPts val="1300"/>
              </a:lnSpc>
              <a:spcBef>
                <a:spcPts val="915"/>
              </a:spcBef>
              <a:buClr>
                <a:srgbClr val="3E762B"/>
              </a:buClr>
              <a:buFont typeface="Wingdings"/>
              <a:buChar char=""/>
              <a:tabLst>
                <a:tab pos="408940" algn="l"/>
              </a:tabLst>
            </a:pPr>
            <a:r>
              <a:rPr sz="1200" spc="-45" dirty="0">
                <a:latin typeface="Times New Roman"/>
                <a:cs typeface="Times New Roman"/>
              </a:rPr>
              <a:t>We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have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≠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10" dirty="0">
                <a:latin typeface="Times New Roman"/>
                <a:cs typeface="Times New Roman"/>
              </a:rPr>
              <a:t> relations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fact 	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equal to</a:t>
            </a:r>
            <a:r>
              <a:rPr sz="1200" spc="-25" dirty="0">
                <a:latin typeface="Times New Roman"/>
                <a:cs typeface="Times New Roman"/>
              </a:rPr>
              <a:t> 0.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255" y="2054351"/>
            <a:ext cx="3724655" cy="6004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Unsigned</a:t>
            </a:r>
            <a:r>
              <a:rPr sz="2200" spc="-12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numbers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200">
              <a:latin typeface="Georgia"/>
              <a:cs typeface="Georgia"/>
            </a:endParaRPr>
          </a:p>
          <a:p>
            <a:pPr marL="407670" marR="828040" indent="-14541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"/>
              <a:tabLst>
                <a:tab pos="40894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magnitude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unsigned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(after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	</a:t>
            </a:r>
            <a:r>
              <a:rPr sz="1200" dirty="0">
                <a:latin typeface="Times New Roman"/>
                <a:cs typeface="Times New Roman"/>
              </a:rPr>
              <a:t>compare</a:t>
            </a:r>
            <a:r>
              <a:rPr sz="1200" spc="-10" dirty="0">
                <a:latin typeface="Times New Roman"/>
                <a:cs typeface="Times New Roman"/>
              </a:rPr>
              <a:t> instruction)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b="1" dirty="0">
                <a:latin typeface="Times New Roman"/>
                <a:cs typeface="Times New Roman"/>
              </a:rPr>
              <a:t>status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bits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Z</a:t>
            </a:r>
            <a:r>
              <a:rPr sz="1200" spc="-25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07670" marR="4591050" indent="-145415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"/>
              <a:tabLst>
                <a:tab pos="408940" algn="l"/>
              </a:tabLst>
            </a:pPr>
            <a:r>
              <a:rPr sz="1200" b="1" dirty="0">
                <a:latin typeface="Times New Roman"/>
                <a:cs typeface="Times New Roman"/>
              </a:rPr>
              <a:t>C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 1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&gt; </a:t>
            </a:r>
            <a:r>
              <a:rPr sz="1200" b="1" spc="-25" dirty="0">
                <a:latin typeface="Times New Roman"/>
                <a:cs typeface="Times New Roman"/>
              </a:rPr>
              <a:t>B) 	</a:t>
            </a:r>
            <a:r>
              <a:rPr sz="1200" b="1" dirty="0">
                <a:latin typeface="Times New Roman"/>
                <a:cs typeface="Times New Roman"/>
              </a:rPr>
              <a:t>C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 0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&lt; </a:t>
            </a:r>
            <a:r>
              <a:rPr sz="1200" b="1" spc="-25" dirty="0">
                <a:latin typeface="Times New Roman"/>
                <a:cs typeface="Times New Roman"/>
              </a:rPr>
              <a:t>B)</a:t>
            </a:r>
            <a:endParaRPr sz="1200">
              <a:latin typeface="Times New Roman"/>
              <a:cs typeface="Times New Roman"/>
            </a:endParaRPr>
          </a:p>
          <a:p>
            <a:pPr marL="40894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Z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=1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(equal)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4051" y="982980"/>
              <a:ext cx="2915412" cy="32004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755">
              <a:lnSpc>
                <a:spcPts val="2055"/>
              </a:lnSpc>
            </a:pPr>
            <a:r>
              <a:rPr sz="2000" dirty="0">
                <a:latin typeface="Georgia"/>
                <a:cs typeface="Georgia"/>
              </a:rPr>
              <a:t>Conditional</a:t>
            </a:r>
            <a:r>
              <a:rPr sz="2000" spc="-8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Branch</a:t>
            </a:r>
            <a:endParaRPr sz="2000">
              <a:latin typeface="Georgia"/>
              <a:cs typeface="Georgia"/>
            </a:endParaRPr>
          </a:p>
          <a:p>
            <a:pPr marL="165100">
              <a:lnSpc>
                <a:spcPts val="2280"/>
              </a:lnSpc>
              <a:tabLst>
                <a:tab pos="4826000" algn="l"/>
              </a:tabLst>
            </a:pPr>
            <a:r>
              <a:rPr sz="2000" u="heavy" spc="-22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Instructions,</a:t>
            </a:r>
            <a:r>
              <a:rPr sz="2000" u="heavy" spc="-6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Table</a:t>
            </a:r>
            <a:r>
              <a:rPr sz="2000" u="heavy" spc="-3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spc="-1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8-</a:t>
            </a:r>
            <a:r>
              <a:rPr sz="2000" u="heavy" spc="-2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11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	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0838" y="6712458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3600">
              <a:latin typeface="Times New Roman"/>
              <a:cs typeface="Times New Roman"/>
            </a:endParaRPr>
          </a:p>
          <a:p>
            <a:pPr marL="497205">
              <a:lnSpc>
                <a:spcPct val="100000"/>
              </a:lnSpc>
            </a:pPr>
            <a:r>
              <a:rPr sz="36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Interrupt</a:t>
            </a:r>
            <a:r>
              <a:rPr sz="360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60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Subroutine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25"/>
              </a:spcBef>
            </a:pPr>
            <a:endParaRPr sz="3600">
              <a:latin typeface="Times New Roman"/>
              <a:cs typeface="Times New Roman"/>
            </a:endParaRPr>
          </a:p>
          <a:p>
            <a:pPr marR="498475" algn="r">
              <a:lnSpc>
                <a:spcPct val="100000"/>
              </a:lnSpc>
            </a:pPr>
            <a:r>
              <a:rPr sz="600" spc="-25" dirty="0">
                <a:solidFill>
                  <a:srgbClr val="FFFFFF"/>
                </a:solidFill>
                <a:latin typeface="Corbel"/>
                <a:cs typeface="Corbel"/>
              </a:rPr>
              <a:t>44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</a:t>
            </a:r>
            <a:r>
              <a:rPr spc="-95" dirty="0"/>
              <a:t> </a:t>
            </a:r>
            <a:r>
              <a:rPr dirty="0"/>
              <a:t>Control</a:t>
            </a:r>
            <a:r>
              <a:rPr spc="-90" dirty="0"/>
              <a:t> </a:t>
            </a:r>
            <a:r>
              <a:rPr spc="-10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577467"/>
            <a:ext cx="2549525" cy="23914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240"/>
              </a:spcBef>
              <a:buClr>
                <a:srgbClr val="3E762B"/>
              </a:buClr>
              <a:buFont typeface="Wingdings"/>
              <a:buChar char=""/>
              <a:tabLst>
                <a:tab pos="185420" algn="l"/>
              </a:tabLst>
            </a:pP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always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endParaRPr sz="1200">
              <a:latin typeface="Times New Roman"/>
              <a:cs typeface="Times New Roman"/>
            </a:endParaRPr>
          </a:p>
          <a:p>
            <a:pPr marL="186055">
              <a:lnSpc>
                <a:spcPct val="100000"/>
              </a:lnSpc>
              <a:spcBef>
                <a:spcPts val="145"/>
              </a:spcBef>
            </a:pPr>
            <a:r>
              <a:rPr sz="1200" b="1" dirty="0">
                <a:latin typeface="Times New Roman"/>
                <a:cs typeface="Times New Roman"/>
              </a:rPr>
              <a:t>successive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locations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84785" marR="74295" indent="-172720">
              <a:lnSpc>
                <a:spcPct val="11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186055" algn="l"/>
              </a:tabLst>
            </a:pP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fetched 	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	</a:t>
            </a:r>
            <a:r>
              <a:rPr sz="1200" dirty="0">
                <a:latin typeface="Times New Roman"/>
                <a:cs typeface="Times New Roman"/>
              </a:rPr>
              <a:t>incremented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next 	</a:t>
            </a:r>
            <a:r>
              <a:rPr sz="1200" dirty="0">
                <a:latin typeface="Times New Roman"/>
                <a:cs typeface="Times New Roman"/>
              </a:rPr>
              <a:t>instruction's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sequence.</a:t>
            </a:r>
            <a:endParaRPr sz="1200">
              <a:latin typeface="Times New Roman"/>
              <a:cs typeface="Times New Roman"/>
            </a:endParaRPr>
          </a:p>
          <a:p>
            <a:pPr marL="184785" marR="5080" indent="-172720">
              <a:lnSpc>
                <a:spcPct val="11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186055" algn="l"/>
              </a:tabLst>
            </a:pP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control 	</a:t>
            </a:r>
            <a:r>
              <a:rPr sz="1200" b="1" dirty="0">
                <a:latin typeface="Times New Roman"/>
                <a:cs typeface="Times New Roman"/>
              </a:rPr>
              <a:t>type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executed</a:t>
            </a:r>
            <a:r>
              <a:rPr sz="1200" spc="-10" dirty="0">
                <a:latin typeface="Times New Roman"/>
                <a:cs typeface="Times New Roman"/>
              </a:rPr>
              <a:t>, 	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	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	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altered.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50335" y="1659635"/>
            <a:ext cx="2794000" cy="2413000"/>
            <a:chOff x="3450335" y="1659635"/>
            <a:chExt cx="2794000" cy="2413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0335" y="1659635"/>
              <a:ext cx="2793491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6819" y="3189731"/>
              <a:ext cx="646176" cy="8778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34533" y="3187445"/>
              <a:ext cx="650875" cy="882650"/>
            </a:xfrm>
            <a:custGeom>
              <a:avLst/>
              <a:gdLst/>
              <a:ahLst/>
              <a:cxnLst/>
              <a:rect l="l" t="t" r="r" b="b"/>
              <a:pathLst>
                <a:path w="650875" h="882650">
                  <a:moveTo>
                    <a:pt x="0" y="882396"/>
                  </a:moveTo>
                  <a:lnTo>
                    <a:pt x="650748" y="882396"/>
                  </a:lnTo>
                  <a:lnTo>
                    <a:pt x="650748" y="0"/>
                  </a:lnTo>
                  <a:lnTo>
                    <a:pt x="0" y="0"/>
                  </a:lnTo>
                  <a:lnTo>
                    <a:pt x="0" y="882396"/>
                  </a:lnTo>
                  <a:close/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26102" y="2958846"/>
            <a:ext cx="1455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orbel"/>
                <a:cs typeface="Corbel"/>
              </a:rPr>
              <a:t>Program</a:t>
            </a:r>
            <a:r>
              <a:rPr sz="900" b="1" spc="-40" dirty="0">
                <a:latin typeface="Corbel"/>
                <a:cs typeface="Corbel"/>
              </a:rPr>
              <a:t> </a:t>
            </a:r>
            <a:r>
              <a:rPr sz="900" b="1" dirty="0">
                <a:latin typeface="Corbel"/>
                <a:cs typeface="Corbel"/>
              </a:rPr>
              <a:t>Control </a:t>
            </a:r>
            <a:r>
              <a:rPr sz="900" b="1" spc="-10" dirty="0">
                <a:latin typeface="Corbel"/>
                <a:cs typeface="Corbel"/>
              </a:rPr>
              <a:t>Instructions</a:t>
            </a:r>
            <a:endParaRPr sz="900">
              <a:latin typeface="Corbel"/>
              <a:cs typeface="Corbe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0" name="object 10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Program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Control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Instructions</a:t>
            </a:r>
            <a:endParaRPr sz="2200">
              <a:latin typeface="Georgia"/>
              <a:cs typeface="Georgia"/>
            </a:endParaRPr>
          </a:p>
          <a:p>
            <a:pPr marL="434975" marR="862330" indent="-172720">
              <a:lnSpc>
                <a:spcPct val="120100"/>
              </a:lnSpc>
              <a:spcBef>
                <a:spcPts val="141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execution 	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break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25" dirty="0">
                <a:latin typeface="Times New Roman"/>
                <a:cs typeface="Times New Roman"/>
              </a:rPr>
              <a:t> of 	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execution.</a:t>
            </a:r>
            <a:endParaRPr sz="1200">
              <a:latin typeface="Times New Roman"/>
              <a:cs typeface="Times New Roman"/>
            </a:endParaRPr>
          </a:p>
          <a:p>
            <a:pPr marL="434975" marR="817244" indent="-172720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over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capability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branching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 	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segments.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Transfer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Control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via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Interrupts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183" y="1722120"/>
            <a:ext cx="3419855" cy="212902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Subroutine/Interrupt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Call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and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Return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35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Subroutine/Interrupt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Call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Two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Important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Operations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Implied</a:t>
            </a:r>
            <a:endParaRPr sz="1200">
              <a:latin typeface="Times New Roman"/>
              <a:cs typeface="Times New Roman"/>
            </a:endParaRPr>
          </a:p>
          <a:p>
            <a:pPr marL="607695" lvl="1" indent="-116839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"/>
              <a:tabLst>
                <a:tab pos="607695" algn="l"/>
              </a:tabLst>
            </a:pPr>
            <a:r>
              <a:rPr sz="1100" dirty="0">
                <a:latin typeface="Times New Roman"/>
                <a:cs typeface="Times New Roman"/>
              </a:rPr>
              <a:t>Branch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beginning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the</a:t>
            </a:r>
            <a:r>
              <a:rPr sz="1100" spc="-10" dirty="0">
                <a:latin typeface="Times New Roman"/>
                <a:cs typeface="Times New Roman"/>
              </a:rPr>
              <a:t> Subroutine</a:t>
            </a:r>
            <a:endParaRPr sz="1100">
              <a:latin typeface="Times New Roman"/>
              <a:cs typeface="Times New Roman"/>
            </a:endParaRPr>
          </a:p>
          <a:p>
            <a:pPr marL="608330" marR="395605" lvl="1" indent="-11747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"/>
              <a:tabLst>
                <a:tab pos="608330" algn="l"/>
              </a:tabLst>
            </a:pPr>
            <a:r>
              <a:rPr sz="1100" dirty="0">
                <a:latin typeface="Times New Roman"/>
                <a:cs typeface="Times New Roman"/>
              </a:rPr>
              <a:t>Save 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upon </a:t>
            </a:r>
            <a:r>
              <a:rPr sz="1100" dirty="0">
                <a:latin typeface="Times New Roman"/>
                <a:cs typeface="Times New Roman"/>
              </a:rPr>
              <a:t>exit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 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Subroutine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29"/>
              </a:spcBef>
              <a:buClr>
                <a:srgbClr val="3E762B"/>
              </a:buClr>
              <a:buFont typeface="Wingdings"/>
              <a:buChar char=""/>
            </a:pPr>
            <a:endParaRPr sz="1100">
              <a:latin typeface="Times New Roman"/>
              <a:cs typeface="Times New Roman"/>
            </a:endParaRPr>
          </a:p>
          <a:p>
            <a:pPr marL="435609" indent="-17145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5609" algn="l"/>
              </a:tabLst>
            </a:pPr>
            <a:r>
              <a:rPr sz="1200" b="1" spc="-20" dirty="0">
                <a:latin typeface="Times New Roman"/>
                <a:cs typeface="Times New Roman"/>
              </a:rPr>
              <a:t>CALL</a:t>
            </a:r>
            <a:endParaRPr sz="1200">
              <a:latin typeface="Times New Roman"/>
              <a:cs typeface="Times New Roman"/>
            </a:endParaRPr>
          </a:p>
          <a:p>
            <a:pPr marL="719455" marR="4407535">
              <a:lnSpc>
                <a:spcPct val="141700"/>
              </a:lnSpc>
            </a:pPr>
            <a:r>
              <a:rPr sz="1200" dirty="0">
                <a:latin typeface="Times New Roman"/>
                <a:cs typeface="Times New Roman"/>
              </a:rPr>
              <a:t>M[x]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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PC </a:t>
            </a: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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EA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00">
              <a:latin typeface="Times New Roman"/>
              <a:cs typeface="Times New Roman"/>
            </a:endParaRPr>
          </a:p>
          <a:p>
            <a:pPr marL="434975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RETURN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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M[x]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Locations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for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storing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Return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6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Locations for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storing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Subroutine</a:t>
            </a:r>
            <a:r>
              <a:rPr sz="1200" b="1" spc="-7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Address</a:t>
            </a:r>
            <a:endParaRPr sz="1200">
              <a:latin typeface="Times New Roman"/>
              <a:cs typeface="Times New Roman"/>
            </a:endParaRPr>
          </a:p>
          <a:p>
            <a:pPr marL="662305" lvl="1" indent="-171450">
              <a:lnSpc>
                <a:spcPct val="100000"/>
              </a:lnSpc>
              <a:spcBef>
                <a:spcPts val="305"/>
              </a:spcBef>
              <a:buClr>
                <a:srgbClr val="3E762B"/>
              </a:buClr>
              <a:buFont typeface="Wingdings"/>
              <a:buChar char=""/>
              <a:tabLst>
                <a:tab pos="662305" algn="l"/>
              </a:tabLst>
            </a:pPr>
            <a:r>
              <a:rPr sz="1200" dirty="0">
                <a:latin typeface="Times New Roman"/>
                <a:cs typeface="Times New Roman"/>
              </a:rPr>
              <a:t>Fixed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subroutine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(Memory)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subroutine]</a:t>
            </a:r>
            <a:endParaRPr sz="1200">
              <a:latin typeface="Times New Roman"/>
              <a:cs typeface="Times New Roman"/>
            </a:endParaRPr>
          </a:p>
          <a:p>
            <a:pPr marL="662305" lvl="1" indent="-171450">
              <a:lnSpc>
                <a:spcPct val="100000"/>
              </a:lnSpc>
              <a:spcBef>
                <a:spcPts val="300"/>
              </a:spcBef>
              <a:buClr>
                <a:srgbClr val="3E762B"/>
              </a:buClr>
              <a:buFont typeface="Wingdings"/>
              <a:buChar char=""/>
              <a:tabLst>
                <a:tab pos="662305" algn="l"/>
              </a:tabLst>
            </a:pPr>
            <a:r>
              <a:rPr sz="1200" dirty="0">
                <a:latin typeface="Times New Roman"/>
                <a:cs typeface="Times New Roman"/>
              </a:rPr>
              <a:t>Fixed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662305" lvl="1" indent="-171450">
              <a:lnSpc>
                <a:spcPct val="100000"/>
              </a:lnSpc>
              <a:spcBef>
                <a:spcPts val="295"/>
              </a:spcBef>
              <a:buClr>
                <a:srgbClr val="3E762B"/>
              </a:buClr>
              <a:buFont typeface="Wingdings"/>
              <a:buChar char=""/>
              <a:tabLst>
                <a:tab pos="662305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</a:t>
            </a:r>
            <a:endParaRPr sz="1200">
              <a:latin typeface="Times New Roman"/>
              <a:cs typeface="Times New Roman"/>
            </a:endParaRPr>
          </a:p>
          <a:p>
            <a:pPr marL="662305" lvl="1" indent="-171450">
              <a:lnSpc>
                <a:spcPct val="100000"/>
              </a:lnSpc>
              <a:spcBef>
                <a:spcPts val="305"/>
              </a:spcBef>
              <a:buClr>
                <a:srgbClr val="3E762B"/>
              </a:buClr>
              <a:buFont typeface="Wingdings"/>
              <a:buChar char=""/>
              <a:tabLst>
                <a:tab pos="662305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stack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way</a:t>
            </a:r>
            <a:endParaRPr sz="1200">
              <a:latin typeface="Times New Roman"/>
              <a:cs typeface="Times New Roman"/>
            </a:endParaRPr>
          </a:p>
          <a:p>
            <a:pPr marL="780415" lvl="2" indent="-115570">
              <a:lnSpc>
                <a:spcPct val="100000"/>
              </a:lnSpc>
              <a:spcBef>
                <a:spcPts val="440"/>
              </a:spcBef>
              <a:buClr>
                <a:srgbClr val="3E762B"/>
              </a:buClr>
              <a:buFont typeface="Arial MT"/>
              <a:buChar char="•"/>
              <a:tabLst>
                <a:tab pos="780415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Stack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927" y="2764535"/>
            <a:ext cx="1048512" cy="1143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Locations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for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storing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Return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35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Locations for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storing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Interrupt</a:t>
            </a:r>
            <a:r>
              <a:rPr sz="1200" b="1" spc="-5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Address</a:t>
            </a:r>
            <a:endParaRPr sz="1200">
              <a:latin typeface="Times New Roman"/>
              <a:cs typeface="Times New Roman"/>
            </a:endParaRPr>
          </a:p>
          <a:p>
            <a:pPr marL="662940" lvl="1" indent="-116839">
              <a:lnSpc>
                <a:spcPct val="100000"/>
              </a:lnSpc>
              <a:spcBef>
                <a:spcPts val="450"/>
              </a:spcBef>
              <a:buClr>
                <a:srgbClr val="3E762B"/>
              </a:buClr>
              <a:buFont typeface="Arial MT"/>
              <a:buChar char="•"/>
              <a:tabLst>
                <a:tab pos="662940" algn="l"/>
              </a:tabLst>
            </a:pP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assign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possible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interrupt.</a:t>
            </a:r>
            <a:endParaRPr sz="1100">
              <a:latin typeface="Times New Roman"/>
              <a:cs typeface="Times New Roman"/>
            </a:endParaRPr>
          </a:p>
          <a:p>
            <a:pPr marL="662305" marR="989965" lvl="1" indent="-116839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664845" algn="l"/>
              </a:tabLst>
            </a:pPr>
            <a:r>
              <a:rPr sz="1100" dirty="0">
                <a:latin typeface="Times New Roman"/>
                <a:cs typeface="Times New Roman"/>
              </a:rPr>
              <a:t>Sometimes, 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hardware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interrupt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own address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	</a:t>
            </a:r>
            <a:r>
              <a:rPr sz="1100" dirty="0">
                <a:latin typeface="Times New Roman"/>
                <a:cs typeface="Times New Roman"/>
              </a:rPr>
              <a:t>CPU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desired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routine.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0838" y="2736341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Interrupt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25"/>
              </a:spcBef>
            </a:pPr>
            <a:endParaRPr sz="3600">
              <a:latin typeface="Times New Roman"/>
              <a:cs typeface="Times New Roman"/>
            </a:endParaRPr>
          </a:p>
          <a:p>
            <a:pPr marR="497840" algn="r">
              <a:lnSpc>
                <a:spcPct val="100000"/>
              </a:lnSpc>
            </a:pPr>
            <a:r>
              <a:rPr sz="600" spc="-25" dirty="0">
                <a:solidFill>
                  <a:srgbClr val="FFFFFF"/>
                </a:solidFill>
                <a:latin typeface="Corbel"/>
                <a:cs typeface="Corbel"/>
              </a:rPr>
              <a:t>51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Interrupt</a:t>
            </a:r>
            <a:r>
              <a:rPr sz="2200" spc="-12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Procedure</a:t>
            </a:r>
            <a:endParaRPr sz="2200">
              <a:latin typeface="Georgia"/>
              <a:cs typeface="Georgia"/>
            </a:endParaRPr>
          </a:p>
          <a:p>
            <a:pPr marL="434975" marR="849630" indent="-172720">
              <a:lnSpc>
                <a:spcPct val="100000"/>
              </a:lnSpc>
              <a:spcBef>
                <a:spcPts val="135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currently 	</a:t>
            </a:r>
            <a:r>
              <a:rPr sz="1200" dirty="0">
                <a:latin typeface="Times New Roman"/>
                <a:cs typeface="Times New Roman"/>
              </a:rPr>
              <a:t>running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another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service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external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	</a:t>
            </a:r>
            <a:r>
              <a:rPr sz="1200" b="1" dirty="0">
                <a:latin typeface="Times New Roman"/>
                <a:cs typeface="Times New Roman"/>
              </a:rPr>
              <a:t>internally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returns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original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after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executed.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4975" marR="765175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routine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	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return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occurred.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	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resumed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exactly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nothing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had 	</a:t>
            </a:r>
            <a:r>
              <a:rPr sz="1200" spc="-10" dirty="0">
                <a:latin typeface="Times New Roman"/>
                <a:cs typeface="Times New Roman"/>
              </a:rPr>
              <a:t>happened.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Sequential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interrupt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processing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532" y="1674876"/>
            <a:ext cx="3678936" cy="24688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Nested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interrupt</a:t>
            </a:r>
            <a:r>
              <a:rPr sz="2200" spc="-10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processing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9155" y="5684520"/>
            <a:ext cx="3599688" cy="237744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935"/>
              </a:spcBef>
            </a:pPr>
            <a:r>
              <a:rPr sz="1900" dirty="0">
                <a:latin typeface="Georgia"/>
                <a:cs typeface="Georgia"/>
              </a:rPr>
              <a:t>Example</a:t>
            </a:r>
            <a:r>
              <a:rPr sz="1900" spc="-50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Time</a:t>
            </a:r>
            <a:r>
              <a:rPr sz="1900" spc="-50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Sequence</a:t>
            </a:r>
            <a:r>
              <a:rPr sz="1900" spc="-3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of</a:t>
            </a:r>
            <a:r>
              <a:rPr sz="1900" spc="-45" dirty="0">
                <a:latin typeface="Georgia"/>
                <a:cs typeface="Georgia"/>
              </a:rPr>
              <a:t> </a:t>
            </a:r>
            <a:r>
              <a:rPr sz="1900" b="1" dirty="0">
                <a:latin typeface="Georgia"/>
                <a:cs typeface="Georgia"/>
              </a:rPr>
              <a:t>Multiple</a:t>
            </a:r>
            <a:r>
              <a:rPr sz="1900" b="1" spc="-55" dirty="0">
                <a:latin typeface="Georgia"/>
                <a:cs typeface="Georgia"/>
              </a:rPr>
              <a:t> </a:t>
            </a:r>
            <a:r>
              <a:rPr sz="1900" b="1" spc="-10" dirty="0">
                <a:latin typeface="Georgia"/>
                <a:cs typeface="Georgia"/>
              </a:rPr>
              <a:t>Interrupts</a:t>
            </a:r>
            <a:endParaRPr sz="19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44" y="1656588"/>
            <a:ext cx="3486911" cy="242315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Types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Interrupts</a:t>
            </a:r>
            <a:endParaRPr sz="2200">
              <a:latin typeface="Georgia"/>
              <a:cs typeface="Georgia"/>
            </a:endParaRPr>
          </a:p>
          <a:p>
            <a:pPr marL="545465" indent="-165735">
              <a:lnSpc>
                <a:spcPct val="100000"/>
              </a:lnSpc>
              <a:spcBef>
                <a:spcPts val="2240"/>
              </a:spcBef>
              <a:buClr>
                <a:srgbClr val="3E762B"/>
              </a:buClr>
              <a:buAutoNum type="arabicPeriod"/>
              <a:tabLst>
                <a:tab pos="545465" algn="l"/>
              </a:tabLst>
            </a:pPr>
            <a:r>
              <a:rPr sz="1200" b="1" dirty="0">
                <a:latin typeface="Times New Roman"/>
                <a:cs typeface="Times New Roman"/>
              </a:rPr>
              <a:t>External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interrupts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Clr>
                <a:srgbClr val="3E762B"/>
              </a:buClr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545465" indent="-165735">
              <a:lnSpc>
                <a:spcPct val="100000"/>
              </a:lnSpc>
              <a:buClr>
                <a:srgbClr val="3E762B"/>
              </a:buClr>
              <a:buAutoNum type="arabicPeriod"/>
              <a:tabLst>
                <a:tab pos="545465" algn="l"/>
              </a:tabLst>
            </a:pPr>
            <a:r>
              <a:rPr sz="1200" b="1" dirty="0">
                <a:latin typeface="Times New Roman"/>
                <a:cs typeface="Times New Roman"/>
              </a:rPr>
              <a:t>Internal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interrupts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(traps)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Clr>
                <a:srgbClr val="3E762B"/>
              </a:buClr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545465" indent="-165735">
              <a:lnSpc>
                <a:spcPct val="100000"/>
              </a:lnSpc>
              <a:buClr>
                <a:srgbClr val="3E762B"/>
              </a:buClr>
              <a:buAutoNum type="arabicPeriod"/>
              <a:tabLst>
                <a:tab pos="545465" algn="l"/>
              </a:tabLst>
            </a:pPr>
            <a:r>
              <a:rPr sz="1200" b="1" dirty="0">
                <a:latin typeface="Times New Roman"/>
                <a:cs typeface="Times New Roman"/>
              </a:rPr>
              <a:t>Software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Interrupts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External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interrupts</a:t>
            </a:r>
            <a:endParaRPr sz="2200">
              <a:latin typeface="Georgia"/>
              <a:cs typeface="Georgia"/>
            </a:endParaRPr>
          </a:p>
          <a:p>
            <a:pPr marL="434975" indent="-172720">
              <a:lnSpc>
                <a:spcPct val="100000"/>
              </a:lnSpc>
              <a:spcBef>
                <a:spcPts val="1245"/>
              </a:spcBef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spc="-10" dirty="0">
                <a:latin typeface="Times New Roman"/>
                <a:cs typeface="Times New Roman"/>
              </a:rPr>
              <a:t>Initiated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outside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from</a:t>
            </a:r>
            <a:endParaRPr sz="1200">
              <a:latin typeface="Times New Roman"/>
              <a:cs typeface="Times New Roman"/>
            </a:endParaRPr>
          </a:p>
          <a:p>
            <a:pPr marL="774065" lvl="1" indent="-1092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774065" algn="l"/>
              </a:tabLst>
            </a:pPr>
            <a:r>
              <a:rPr sz="1200" b="1" dirty="0">
                <a:latin typeface="Times New Roman"/>
                <a:cs typeface="Times New Roman"/>
              </a:rPr>
              <a:t>I/O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Device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(Mouse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Keyboard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Printer)</a:t>
            </a:r>
            <a:endParaRPr sz="1200">
              <a:latin typeface="Times New Roman"/>
              <a:cs typeface="Times New Roman"/>
            </a:endParaRPr>
          </a:p>
          <a:p>
            <a:pPr marL="774700" marR="991869" lvl="1" indent="-10985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774700" algn="l"/>
              </a:tabLst>
            </a:pPr>
            <a:r>
              <a:rPr sz="1200" b="1" dirty="0">
                <a:latin typeface="Times New Roman"/>
                <a:cs typeface="Times New Roman"/>
              </a:rPr>
              <a:t>Timing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Device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 </a:t>
            </a:r>
            <a:r>
              <a:rPr sz="1200" dirty="0">
                <a:latin typeface="Times New Roman"/>
                <a:cs typeface="Times New Roman"/>
              </a:rPr>
              <a:t>endless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exceeded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allocation.</a:t>
            </a:r>
            <a:endParaRPr sz="1200">
              <a:latin typeface="Times New Roman"/>
              <a:cs typeface="Times New Roman"/>
            </a:endParaRPr>
          </a:p>
          <a:p>
            <a:pPr marL="774065" lvl="1" indent="-1092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774065" algn="l"/>
              </a:tabLst>
            </a:pPr>
            <a:r>
              <a:rPr sz="1200" b="1" dirty="0">
                <a:latin typeface="Times New Roman"/>
                <a:cs typeface="Times New Roman"/>
              </a:rPr>
              <a:t>Circuit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monitoring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power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supply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(Power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Failure)</a:t>
            </a:r>
            <a:endParaRPr sz="1200">
              <a:latin typeface="Times New Roman"/>
              <a:cs typeface="Times New Roman"/>
            </a:endParaRPr>
          </a:p>
          <a:p>
            <a:pPr marL="893444" marR="593090" lvl="2" indent="-11938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893444" algn="l"/>
              </a:tabLst>
            </a:pP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complete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destructive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milliseconds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off.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Internal</a:t>
            </a:r>
            <a:r>
              <a:rPr sz="2200" spc="-114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interrupts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(traps)</a:t>
            </a:r>
            <a:endParaRPr sz="2200">
              <a:latin typeface="Georgia"/>
              <a:cs typeface="Georgia"/>
            </a:endParaRPr>
          </a:p>
          <a:p>
            <a:pPr marL="434975" indent="-172720">
              <a:lnSpc>
                <a:spcPct val="100000"/>
              </a:lnSpc>
              <a:spcBef>
                <a:spcPts val="1245"/>
              </a:spcBef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dirty="0">
                <a:latin typeface="Times New Roman"/>
                <a:cs typeface="Times New Roman"/>
              </a:rPr>
              <a:t>Arise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illegal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invalid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 comes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from</a:t>
            </a:r>
            <a:endParaRPr sz="1200">
              <a:latin typeface="Times New Roman"/>
              <a:cs typeface="Times New Roman"/>
            </a:endParaRPr>
          </a:p>
          <a:p>
            <a:pPr marL="779780" lvl="1" indent="-11493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779780" algn="l"/>
              </a:tabLst>
            </a:pP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Overflow</a:t>
            </a:r>
            <a:endParaRPr sz="1200">
              <a:latin typeface="Times New Roman"/>
              <a:cs typeface="Times New Roman"/>
            </a:endParaRPr>
          </a:p>
          <a:p>
            <a:pPr marL="779780" lvl="1" indent="-11493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779780" algn="l"/>
              </a:tabLst>
            </a:pPr>
            <a:r>
              <a:rPr sz="1200" dirty="0">
                <a:latin typeface="Times New Roman"/>
                <a:cs typeface="Times New Roman"/>
              </a:rPr>
              <a:t>Divide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zero</a:t>
            </a:r>
            <a:endParaRPr sz="1200">
              <a:latin typeface="Times New Roman"/>
              <a:cs typeface="Times New Roman"/>
            </a:endParaRPr>
          </a:p>
          <a:p>
            <a:pPr marL="779780" lvl="1" indent="-11493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779780" algn="l"/>
              </a:tabLst>
            </a:pPr>
            <a:r>
              <a:rPr sz="1200" dirty="0">
                <a:latin typeface="Times New Roman"/>
                <a:cs typeface="Times New Roman"/>
              </a:rPr>
              <a:t>Invalid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OP-</a:t>
            </a:r>
            <a:r>
              <a:rPr sz="1200" spc="-20" dirty="0">
                <a:latin typeface="Times New Roman"/>
                <a:cs typeface="Times New Roman"/>
              </a:rPr>
              <a:t>code</a:t>
            </a:r>
            <a:endParaRPr sz="1200">
              <a:latin typeface="Times New Roman"/>
              <a:cs typeface="Times New Roman"/>
            </a:endParaRPr>
          </a:p>
          <a:p>
            <a:pPr marL="779780" lvl="1" indent="-11493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779780" algn="l"/>
              </a:tabLst>
            </a:pPr>
            <a:r>
              <a:rPr sz="1200" spc="-10" dirty="0">
                <a:latin typeface="Times New Roman"/>
                <a:cs typeface="Times New Roman"/>
              </a:rPr>
              <a:t>Protection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Violation</a:t>
            </a:r>
            <a:endParaRPr sz="1200">
              <a:latin typeface="Times New Roman"/>
              <a:cs typeface="Times New Roman"/>
            </a:endParaRPr>
          </a:p>
          <a:p>
            <a:pPr marL="780415" marR="33909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(e.g.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read-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only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portion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1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memory</a:t>
            </a:r>
            <a:r>
              <a:rPr sz="1100" spc="-10" dirty="0">
                <a:latin typeface="Times New Roman"/>
                <a:cs typeface="Times New Roman"/>
              </a:rPr>
              <a:t>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</a:t>
            </a:r>
            <a:r>
              <a:rPr sz="11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</a:t>
            </a:r>
            <a:r>
              <a:rPr sz="11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tries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 execute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supervised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instruction</a:t>
            </a:r>
            <a:r>
              <a:rPr sz="1100" spc="-10" dirty="0">
                <a:latin typeface="Times New Roman"/>
                <a:cs typeface="Times New Roman"/>
              </a:rPr>
              <a:t>,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read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part</a:t>
            </a:r>
            <a:r>
              <a:rPr sz="11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10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memory</a:t>
            </a:r>
            <a:r>
              <a:rPr sz="110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which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designated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instructions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…..)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100">
              <a:latin typeface="Times New Roman"/>
              <a:cs typeface="Times New Roman"/>
            </a:endParaRPr>
          </a:p>
          <a:p>
            <a:pPr marL="607060" marR="647065" indent="-170815">
              <a:lnSpc>
                <a:spcPct val="100000"/>
              </a:lnSpc>
              <a:buClr>
                <a:srgbClr val="3E762B"/>
              </a:buClr>
              <a:buFont typeface="Wingdings"/>
              <a:buChar char=""/>
              <a:tabLst>
                <a:tab pos="60706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 that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internal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interrupt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determines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</a:t>
            </a:r>
            <a:r>
              <a:rPr sz="1100" spc="-10" dirty="0">
                <a:latin typeface="Times New Roman"/>
                <a:cs typeface="Times New Roman"/>
              </a:rPr>
              <a:t>corrective </a:t>
            </a:r>
            <a:r>
              <a:rPr sz="1100" dirty="0">
                <a:latin typeface="Times New Roman"/>
                <a:cs typeface="Times New Roman"/>
              </a:rPr>
              <a:t>measure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 </a:t>
            </a:r>
            <a:r>
              <a:rPr sz="1100" spc="-10" dirty="0">
                <a:latin typeface="Times New Roman"/>
                <a:cs typeface="Times New Roman"/>
              </a:rPr>
              <a:t>taken.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External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vs.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Internal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Interrupts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2200">
              <a:latin typeface="Georgia"/>
              <a:cs typeface="Georgia"/>
            </a:endParaRPr>
          </a:p>
          <a:p>
            <a:pPr marL="433705" indent="-171450">
              <a:lnSpc>
                <a:spcPct val="100000"/>
              </a:lnSpc>
              <a:buClr>
                <a:srgbClr val="3E762B"/>
              </a:buClr>
              <a:buFont typeface="Wingdings"/>
              <a:buChar char=""/>
              <a:tabLst>
                <a:tab pos="433705" algn="l"/>
              </a:tabLst>
            </a:pPr>
            <a:r>
              <a:rPr sz="1200" dirty="0">
                <a:latin typeface="Times New Roman"/>
                <a:cs typeface="Times New Roman"/>
              </a:rPr>
              <a:t>Internal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synchronous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</a:t>
            </a:r>
            <a:endParaRPr sz="1200">
              <a:latin typeface="Times New Roman"/>
              <a:cs typeface="Times New Roman"/>
            </a:endParaRPr>
          </a:p>
          <a:p>
            <a:pPr marL="433705" indent="-17145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433705" algn="l"/>
              </a:tabLst>
            </a:pPr>
            <a:r>
              <a:rPr sz="1200" dirty="0">
                <a:latin typeface="Times New Roman"/>
                <a:cs typeface="Times New Roman"/>
              </a:rPr>
              <a:t>External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asynchronous.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Times New Roman"/>
              <a:cs typeface="Times New Roman"/>
            </a:endParaRPr>
          </a:p>
          <a:p>
            <a:pPr marL="377190" marR="839469" indent="-114935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378460" algn="l"/>
              </a:tabLst>
            </a:pP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External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initiated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hardware 	</a:t>
            </a:r>
            <a:r>
              <a:rPr sz="1200" dirty="0">
                <a:latin typeface="Times New Roman"/>
                <a:cs typeface="Times New Roman"/>
              </a:rPr>
              <a:t>(I/O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Unit).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Software</a:t>
            </a:r>
            <a:r>
              <a:rPr sz="2200" spc="-10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Interrupt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(Supervisor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Call)</a:t>
            </a:r>
            <a:endParaRPr sz="2200">
              <a:latin typeface="Georgia"/>
              <a:cs typeface="Georgia"/>
            </a:endParaRPr>
          </a:p>
          <a:p>
            <a:pPr marL="490220" indent="-170180">
              <a:lnSpc>
                <a:spcPct val="100000"/>
              </a:lnSpc>
              <a:spcBef>
                <a:spcPts val="1190"/>
              </a:spcBef>
              <a:buClr>
                <a:srgbClr val="3E762B"/>
              </a:buClr>
              <a:buFont typeface="Wingdings"/>
              <a:buChar char=""/>
              <a:tabLst>
                <a:tab pos="490220" algn="l"/>
              </a:tabLst>
            </a:pPr>
            <a:r>
              <a:rPr sz="1200" b="1" dirty="0">
                <a:latin typeface="Times New Roman"/>
                <a:cs typeface="Times New Roman"/>
              </a:rPr>
              <a:t>it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initiated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executing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</a:t>
            </a:r>
            <a:endParaRPr sz="1200">
              <a:latin typeface="Times New Roman"/>
              <a:cs typeface="Times New Roman"/>
            </a:endParaRPr>
          </a:p>
          <a:p>
            <a:pPr marL="893444" lvl="1" indent="-11557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893444" algn="l"/>
              </a:tabLst>
            </a:pPr>
            <a:r>
              <a:rPr sz="1200" dirty="0">
                <a:latin typeface="Times New Roman"/>
                <a:cs typeface="Times New Roman"/>
              </a:rPr>
              <a:t>Switching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supervisor</a:t>
            </a:r>
            <a:r>
              <a:rPr sz="1200" spc="-20" dirty="0">
                <a:latin typeface="Times New Roman"/>
                <a:cs typeface="Times New Roman"/>
              </a:rPr>
              <a:t> mode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200">
              <a:latin typeface="Times New Roman"/>
              <a:cs typeface="Times New Roman"/>
            </a:endParaRPr>
          </a:p>
          <a:p>
            <a:pPr marL="546100" marR="833119" indent="-170815" algn="just">
              <a:lnSpc>
                <a:spcPct val="100000"/>
              </a:lnSpc>
              <a:buClr>
                <a:srgbClr val="3E762B"/>
              </a:buClr>
              <a:buFont typeface="Wingdings"/>
              <a:buChar char=""/>
              <a:tabLst>
                <a:tab pos="546100" algn="l"/>
              </a:tabLst>
            </a:pP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CPU </a:t>
            </a:r>
            <a:r>
              <a:rPr sz="1100" dirty="0">
                <a:latin typeface="Times New Roman"/>
                <a:cs typeface="Times New Roman"/>
              </a:rPr>
              <a:t>execu</a:t>
            </a:r>
            <a:r>
              <a:rPr sz="1100" spc="5" dirty="0">
                <a:latin typeface="Times New Roman"/>
                <a:cs typeface="Times New Roman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program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said 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 </a:t>
            </a:r>
            <a:r>
              <a:rPr sz="1100" spc="5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superv</a:t>
            </a:r>
            <a:r>
              <a:rPr sz="1100" b="1" spc="5" dirty="0">
                <a:latin typeface="Times New Roman"/>
                <a:cs typeface="Times New Roman"/>
              </a:rPr>
              <a:t>i</a:t>
            </a:r>
            <a:r>
              <a:rPr sz="1100" b="1" dirty="0">
                <a:latin typeface="Times New Roman"/>
                <a:cs typeface="Times New Roman"/>
              </a:rPr>
              <a:t>sor</a:t>
            </a:r>
            <a:r>
              <a:rPr sz="1100" b="1" spc="-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or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system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</a:t>
            </a:r>
            <a:r>
              <a:rPr sz="1100" b="1" spc="5" dirty="0">
                <a:latin typeface="Times New Roman"/>
                <a:cs typeface="Times New Roman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certain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private 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 executed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mode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r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allowed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mode.</a:t>
            </a:r>
            <a:endParaRPr sz="1100">
              <a:latin typeface="Times New Roman"/>
              <a:cs typeface="Times New Roman"/>
            </a:endParaRPr>
          </a:p>
          <a:p>
            <a:pPr marL="545465" indent="-170180"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"/>
              <a:tabLst>
                <a:tab pos="54546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CPU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programs.</a:t>
            </a:r>
            <a:endParaRPr sz="1100">
              <a:latin typeface="Times New Roman"/>
              <a:cs typeface="Times New Roman"/>
            </a:endParaRPr>
          </a:p>
          <a:p>
            <a:pPr marL="545465" indent="-170180"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"/>
              <a:tabLst>
                <a:tab pos="54546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CPU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operating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determined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special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status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bit in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PSW</a:t>
            </a:r>
            <a:r>
              <a:rPr sz="1100" spc="-2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Program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Interrupt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vs.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3E762B"/>
                </a:solidFill>
                <a:latin typeface="Georgia"/>
                <a:cs typeface="Georgia"/>
              </a:rPr>
              <a:t>Subroutine</a:t>
            </a:r>
            <a:r>
              <a:rPr sz="2200" spc="-60" dirty="0">
                <a:solidFill>
                  <a:srgbClr val="3E762B"/>
                </a:solidFill>
                <a:latin typeface="Georgia"/>
                <a:cs typeface="Georgia"/>
              </a:rPr>
              <a:t> </a:t>
            </a:r>
            <a:r>
              <a:rPr sz="2200" spc="-20" dirty="0">
                <a:solidFill>
                  <a:srgbClr val="3E762B"/>
                </a:solidFill>
                <a:latin typeface="Georgia"/>
                <a:cs typeface="Georgia"/>
              </a:rPr>
              <a:t>Call</a:t>
            </a:r>
            <a:endParaRPr sz="2200">
              <a:latin typeface="Georgia"/>
              <a:cs typeface="Georgia"/>
            </a:endParaRPr>
          </a:p>
          <a:p>
            <a:pPr marL="434975" indent="-172720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interrupt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procedure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similar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subroutine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call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except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for: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3E762B"/>
              </a:buClr>
              <a:buFont typeface="Wingdings"/>
              <a:buChar char=""/>
            </a:pPr>
            <a:endParaRPr sz="1300">
              <a:latin typeface="Times New Roman"/>
              <a:cs typeface="Times New Roman"/>
            </a:endParaRPr>
          </a:p>
          <a:p>
            <a:pPr marL="663575" marR="379095" lvl="1" indent="-172720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"/>
              <a:tabLst>
                <a:tab pos="66484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usually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initiated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internal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external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signal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than 	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execution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of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an</a:t>
            </a:r>
            <a:r>
              <a:rPr sz="1200" b="1" spc="-3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instruction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(except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interrupt).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20"/>
              </a:spcBef>
              <a:buClr>
                <a:srgbClr val="3E762B"/>
              </a:buClr>
              <a:buFont typeface="Wingdings"/>
              <a:buChar char=""/>
            </a:pPr>
            <a:endParaRPr sz="1200">
              <a:latin typeface="Times New Roman"/>
              <a:cs typeface="Times New Roman"/>
            </a:endParaRPr>
          </a:p>
          <a:p>
            <a:pPr marL="663575" lvl="1" indent="-172720">
              <a:lnSpc>
                <a:spcPct val="100000"/>
              </a:lnSpc>
              <a:buClr>
                <a:srgbClr val="3E762B"/>
              </a:buClr>
              <a:buFont typeface="Wingdings"/>
              <a:buChar char=""/>
              <a:tabLst>
                <a:tab pos="66357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determined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by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hardware</a:t>
            </a:r>
            <a:endParaRPr sz="1200">
              <a:latin typeface="Times New Roman"/>
              <a:cs typeface="Times New Roman"/>
            </a:endParaRPr>
          </a:p>
          <a:p>
            <a:pPr marL="66484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rather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field</a:t>
            </a:r>
            <a:r>
              <a:rPr sz="1200" b="1" spc="-3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of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an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instruction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00">
              <a:latin typeface="Times New Roman"/>
              <a:cs typeface="Times New Roman"/>
            </a:endParaRPr>
          </a:p>
          <a:p>
            <a:pPr marL="663575" marR="377190" lvl="1" indent="-172720">
              <a:lnSpc>
                <a:spcPct val="100000"/>
              </a:lnSpc>
              <a:buClr>
                <a:srgbClr val="3E762B"/>
              </a:buClr>
              <a:buFont typeface="Wingdings"/>
              <a:buChar char=""/>
              <a:tabLst>
                <a:tab pos="664845" algn="l"/>
              </a:tabLst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procedure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usually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stores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all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information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necessary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define 	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state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CPU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program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counter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Program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Interrupt</a:t>
            </a:r>
            <a:endParaRPr sz="2200">
              <a:latin typeface="Georgia"/>
              <a:cs typeface="Georgia"/>
            </a:endParaRPr>
          </a:p>
          <a:p>
            <a:pPr marL="434975" indent="-172720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cycle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by:</a:t>
            </a:r>
            <a:endParaRPr sz="1200">
              <a:latin typeface="Times New Roman"/>
              <a:cs typeface="Times New Roman"/>
            </a:endParaRPr>
          </a:p>
          <a:p>
            <a:pPr marL="774065" lvl="1" indent="-16573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AutoNum type="arabicPeriod"/>
              <a:tabLst>
                <a:tab pos="77406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counter</a:t>
            </a:r>
            <a:endParaRPr sz="1200">
              <a:latin typeface="Times New Roman"/>
              <a:cs typeface="Times New Roman"/>
            </a:endParaRPr>
          </a:p>
          <a:p>
            <a:pPr marL="774065" lvl="1" indent="-165735">
              <a:lnSpc>
                <a:spcPct val="100000"/>
              </a:lnSpc>
              <a:spcBef>
                <a:spcPts val="595"/>
              </a:spcBef>
              <a:buClr>
                <a:srgbClr val="3E762B"/>
              </a:buClr>
              <a:buAutoNum type="arabicPeriod"/>
              <a:tabLst>
                <a:tab pos="77406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registers</a:t>
            </a:r>
            <a:endParaRPr sz="1200">
              <a:latin typeface="Times New Roman"/>
              <a:cs typeface="Times New Roman"/>
            </a:endParaRPr>
          </a:p>
          <a:p>
            <a:pPr marL="773430" lvl="1" indent="-165100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AutoNum type="arabicPeriod"/>
              <a:tabLst>
                <a:tab pos="77343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certain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status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conditions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Program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Interrupt</a:t>
            </a:r>
            <a:endParaRPr sz="2200">
              <a:latin typeface="Georgia"/>
              <a:cs typeface="Georgia"/>
            </a:endParaRPr>
          </a:p>
          <a:p>
            <a:pPr marL="262255">
              <a:lnSpc>
                <a:spcPct val="100000"/>
              </a:lnSpc>
              <a:spcBef>
                <a:spcPts val="1785"/>
              </a:spcBef>
            </a:pPr>
            <a:r>
              <a:rPr sz="13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Saving</a:t>
            </a:r>
            <a:r>
              <a:rPr sz="1300" b="1" u="sng" spc="-1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300" b="1" u="sng" spc="-3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CPU</a:t>
            </a:r>
            <a:r>
              <a:rPr sz="1300" b="1" u="sng" spc="-3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state</a:t>
            </a:r>
            <a:r>
              <a:rPr sz="1300" b="1" u="sng" spc="-1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depends</a:t>
            </a:r>
            <a:r>
              <a:rPr sz="1300" b="1" u="sng" spc="-2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1300" b="1" u="sng" spc="-2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300" b="1" u="sng" spc="-25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CPU</a:t>
            </a:r>
            <a:r>
              <a:rPr sz="1300" b="1" u="sng" spc="-15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b="1" u="sng" spc="-1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architecture:</a:t>
            </a:r>
            <a:endParaRPr sz="1300">
              <a:latin typeface="Times New Roman"/>
              <a:cs typeface="Times New Roman"/>
            </a:endParaRPr>
          </a:p>
          <a:p>
            <a:pPr marL="544830" indent="-171450">
              <a:lnSpc>
                <a:spcPct val="100000"/>
              </a:lnSpc>
              <a:spcBef>
                <a:spcPts val="894"/>
              </a:spcBef>
              <a:buClr>
                <a:srgbClr val="3E762B"/>
              </a:buClr>
              <a:buFont typeface="Wingdings"/>
              <a:buChar char=""/>
              <a:tabLst>
                <a:tab pos="544830" algn="l"/>
              </a:tabLst>
            </a:pP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b="1" dirty="0">
                <a:latin typeface="Times New Roman"/>
                <a:cs typeface="Times New Roman"/>
              </a:rPr>
              <a:t>PC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b="1" dirty="0">
                <a:latin typeface="Times New Roman"/>
                <a:cs typeface="Times New Roman"/>
              </a:rPr>
              <a:t>PSW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register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interrupt.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544830" indent="-17145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544830" algn="l"/>
              </a:tabLst>
            </a:pP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PSW.</a:t>
            </a:r>
            <a:endParaRPr sz="1200">
              <a:latin typeface="Times New Roman"/>
              <a:cs typeface="Times New Roman"/>
            </a:endParaRPr>
          </a:p>
          <a:p>
            <a:pPr marL="774700" marR="908050" lvl="1" indent="-10985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774700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two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sets</a:t>
            </a:r>
            <a:r>
              <a:rPr sz="1200" b="1" spc="-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of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processor</a:t>
            </a:r>
            <a:r>
              <a:rPr sz="1200" b="1" spc="-4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registers</a:t>
            </a:r>
            <a:r>
              <a:rPr sz="1200" b="1" spc="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computer,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one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for</a:t>
            </a:r>
            <a:r>
              <a:rPr sz="1200" b="1" spc="-5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each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CPU 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mode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3E762B"/>
              </a:buClr>
              <a:buFont typeface="Arial MT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544830" marR="375920" indent="-17145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546100" algn="l"/>
              </a:tabLst>
            </a:pP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store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only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program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counter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 	</a:t>
            </a:r>
            <a:r>
              <a:rPr sz="1200" spc="-10" dirty="0">
                <a:latin typeface="Times New Roman"/>
                <a:cs typeface="Times New Roman"/>
              </a:rPr>
              <a:t>interrupt.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service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program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39E39"/>
                </a:solidFill>
                <a:latin typeface="Times New Roman"/>
                <a:cs typeface="Times New Roman"/>
              </a:rPr>
              <a:t>store</a:t>
            </a:r>
            <a:r>
              <a:rPr sz="1200" spc="-2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39E39"/>
                </a:solidFill>
                <a:latin typeface="Times New Roman"/>
                <a:cs typeface="Times New Roman"/>
              </a:rPr>
              <a:t>status</a:t>
            </a:r>
            <a:r>
              <a:rPr sz="1200" spc="-3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539E39"/>
                </a:solidFill>
                <a:latin typeface="Times New Roman"/>
                <a:cs typeface="Times New Roman"/>
              </a:rPr>
              <a:t>and 	</a:t>
            </a:r>
            <a:r>
              <a:rPr sz="1200" dirty="0">
                <a:solidFill>
                  <a:srgbClr val="539E39"/>
                </a:solidFill>
                <a:latin typeface="Times New Roman"/>
                <a:cs typeface="Times New Roman"/>
              </a:rPr>
              <a:t>register</a:t>
            </a:r>
            <a:r>
              <a:rPr sz="1200" spc="-4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539E39"/>
                </a:solidFill>
                <a:latin typeface="Times New Roman"/>
                <a:cs typeface="Times New Roman"/>
              </a:rPr>
              <a:t>content</a:t>
            </a:r>
            <a:r>
              <a:rPr sz="1200" spc="-4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used.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Interrupt</a:t>
            </a:r>
            <a:r>
              <a:rPr sz="2200" spc="-12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Procedure</a:t>
            </a:r>
            <a:endParaRPr sz="2200">
              <a:latin typeface="Georgia"/>
              <a:cs typeface="Georgia"/>
            </a:endParaRPr>
          </a:p>
          <a:p>
            <a:pPr marL="434975" marR="701675" indent="-172720">
              <a:lnSpc>
                <a:spcPct val="100000"/>
              </a:lnSpc>
              <a:spcBef>
                <a:spcPts val="135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CPU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interrupt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until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 	</a:t>
            </a:r>
            <a:r>
              <a:rPr sz="1200" b="1" dirty="0">
                <a:latin typeface="Times New Roman"/>
                <a:cs typeface="Times New Roman"/>
              </a:rPr>
              <a:t>execution.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Just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before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next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fetch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phase.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4975" marR="312420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last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service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return</a:t>
            </a:r>
            <a:r>
              <a:rPr sz="1200" b="1" i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from</a:t>
            </a:r>
            <a:r>
              <a:rPr sz="1200" b="1" i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i="1" dirty="0">
                <a:solidFill>
                  <a:srgbClr val="3E762B"/>
                </a:solidFill>
                <a:latin typeface="Times New Roman"/>
                <a:cs typeface="Times New Roman"/>
              </a:rPr>
              <a:t>interrupt</a:t>
            </a:r>
            <a:r>
              <a:rPr sz="1200" b="1" i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 	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popped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retrieve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PSW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return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PSW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transferred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return 	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 counter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(PC).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restored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</a:t>
            </a:r>
            <a:r>
              <a:rPr sz="1200" spc="500" dirty="0">
                <a:latin typeface="Times New Roman"/>
                <a:cs typeface="Times New Roman"/>
              </a:rPr>
              <a:t> 	</a:t>
            </a:r>
            <a:r>
              <a:rPr sz="1200" dirty="0">
                <a:latin typeface="Times New Roman"/>
                <a:cs typeface="Times New Roman"/>
              </a:rPr>
              <a:t>original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2769</Words>
  <Application>Microsoft Office PowerPoint</Application>
  <PresentationFormat>On-screen Show (4:3)</PresentationFormat>
  <Paragraphs>368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 MT</vt:lpstr>
      <vt:lpstr>Calibri</vt:lpstr>
      <vt:lpstr>Corbel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 Control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does design affect CPU performance (frequency/clock cycle)</dc:title>
  <dc:creator>User</dc:creator>
  <cp:lastModifiedBy>Zahraa.Ismail</cp:lastModifiedBy>
  <cp:revision>1</cp:revision>
  <dcterms:created xsi:type="dcterms:W3CDTF">2025-11-27T09:00:08Z</dcterms:created>
  <dcterms:modified xsi:type="dcterms:W3CDTF">2025-12-07T13:21:31Z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2025-11-27T00:00:00Z</vt:filetime>
  </property>
  <property fmtid="{D5CDD505-2E9C-101B-9397-08002B2CF9AE}" pid="5" name="Producer">
    <vt:lpwstr>Microsoft® PowerPoint® 2016</vt:lpwstr>
  </property>
</Properties>
</file>