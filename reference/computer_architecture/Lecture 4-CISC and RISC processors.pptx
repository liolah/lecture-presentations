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6858000" cy="9144000" type="screen4x3"/>
  <p:notesSz cx="6858000" cy="9144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2658"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1139B8-16D5-4F73-8ADE-C33CA8AE8505}" type="datetimeFigureOut">
              <a:rPr lang="en-US" smtClean="0"/>
              <a:t>2/22/2026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96586-7768-4BE2-B746-60BB5130BF54}" type="slidenum">
              <a:rPr lang="en-US" smtClean="0"/>
              <a:t>‹#›</a:t>
            </a:fld>
            <a:endParaRPr lang="en-US"/>
          </a:p>
        </p:txBody>
      </p:sp>
    </p:spTree>
    <p:extLst>
      <p:ext uri="{BB962C8B-B14F-4D97-AF65-F5344CB8AC3E}">
        <p14:creationId xmlns:p14="http://schemas.microsoft.com/office/powerpoint/2010/main" val="4088448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terms CISC (Complex Instruction Set Computer) and RISC (Reduced Instruction Set Computer) represent two differing philosophies in computer architecture, each with its own strengths and weaknesses.</a:t>
            </a:r>
          </a:p>
          <a:p>
            <a:r>
              <a:rPr lang="en-US" b="1" dirty="0"/>
              <a:t>Key Differences between CISC and RISC</a:t>
            </a:r>
          </a:p>
          <a:p>
            <a:r>
              <a:rPr lang="en-US" b="1" dirty="0"/>
              <a:t>Instruction Complexity</a:t>
            </a:r>
            <a:endParaRPr lang="en-US" dirty="0"/>
          </a:p>
          <a:p>
            <a:pPr lvl="1"/>
            <a:r>
              <a:rPr lang="en-US" b="1" dirty="0"/>
              <a:t>CISC:</a:t>
            </a:r>
            <a:endParaRPr lang="en-US" dirty="0"/>
          </a:p>
          <a:p>
            <a:pPr lvl="2"/>
            <a:r>
              <a:rPr lang="en-US" dirty="0"/>
              <a:t>Offers a large set of complex instructions.</a:t>
            </a:r>
          </a:p>
          <a:p>
            <a:pPr lvl="2"/>
            <a:r>
              <a:rPr lang="en-US" dirty="0"/>
              <a:t>These instructions can perform multiple operations in a single instruction (e.g., load, operate, and store).</a:t>
            </a:r>
          </a:p>
          <a:p>
            <a:pPr lvl="2"/>
            <a:r>
              <a:rPr lang="en-US" dirty="0"/>
              <a:t>Generally leads to fewer lines of assembly code for a program.</a:t>
            </a:r>
          </a:p>
          <a:p>
            <a:pPr lvl="1"/>
            <a:r>
              <a:rPr lang="en-US" b="1" dirty="0"/>
              <a:t>RISC:</a:t>
            </a:r>
            <a:endParaRPr lang="en-US" dirty="0"/>
          </a:p>
          <a:p>
            <a:pPr lvl="2"/>
            <a:r>
              <a:rPr lang="en-US" dirty="0"/>
              <a:t>Utilizes a smaller, simplified instruction set.</a:t>
            </a:r>
          </a:p>
          <a:p>
            <a:pPr lvl="2"/>
            <a:r>
              <a:rPr lang="en-US" dirty="0"/>
              <a:t>Each instruction typically performs a single operation.</a:t>
            </a:r>
          </a:p>
          <a:p>
            <a:pPr lvl="2"/>
            <a:r>
              <a:rPr lang="en-US" dirty="0"/>
              <a:t>May require more lines of code, but often results in more optimized execution.</a:t>
            </a:r>
          </a:p>
          <a:p>
            <a:r>
              <a:rPr lang="en-US" b="1" dirty="0"/>
              <a:t>Data Types and Addressing Modes</a:t>
            </a:r>
            <a:endParaRPr lang="en-US" dirty="0"/>
          </a:p>
          <a:p>
            <a:pPr lvl="1"/>
            <a:r>
              <a:rPr lang="en-US" b="1" dirty="0"/>
              <a:t>CISC:</a:t>
            </a:r>
            <a:endParaRPr lang="en-US" dirty="0"/>
          </a:p>
          <a:p>
            <a:pPr lvl="2"/>
            <a:r>
              <a:rPr lang="en-US" dirty="0"/>
              <a:t>Supports a rich variety of data types and addressing modes.</a:t>
            </a:r>
          </a:p>
          <a:p>
            <a:pPr lvl="2"/>
            <a:r>
              <a:rPr lang="en-US" dirty="0"/>
              <a:t>Can facilitate complex manipulations in fewer instructions, making it versatile.</a:t>
            </a:r>
          </a:p>
          <a:p>
            <a:pPr lvl="1"/>
            <a:r>
              <a:rPr lang="en-US" b="1" dirty="0"/>
              <a:t>RISC:</a:t>
            </a:r>
            <a:endParaRPr lang="en-US" dirty="0"/>
          </a:p>
          <a:p>
            <a:pPr lvl="2"/>
            <a:r>
              <a:rPr lang="en-US" dirty="0"/>
              <a:t>Focuses on a more limited set of data types and addressing modes.</a:t>
            </a:r>
          </a:p>
          <a:p>
            <a:pPr lvl="2"/>
            <a:r>
              <a:rPr lang="en-US" dirty="0"/>
              <a:t>This simplicity can lead to easier decoding and execution in hardware.</a:t>
            </a:r>
          </a:p>
          <a:p>
            <a:r>
              <a:rPr lang="en-US" b="1" dirty="0"/>
              <a:t>Hardware vs Software Complexity</a:t>
            </a:r>
            <a:endParaRPr lang="en-US" dirty="0"/>
          </a:p>
          <a:p>
            <a:pPr lvl="1"/>
            <a:r>
              <a:rPr lang="en-US" b="1" dirty="0"/>
              <a:t>CISC:</a:t>
            </a:r>
            <a:endParaRPr lang="en-US" dirty="0"/>
          </a:p>
          <a:p>
            <a:pPr lvl="2"/>
            <a:r>
              <a:rPr lang="en-US" dirty="0"/>
              <a:t>More complex hardware design due to a need to support various types of instructions and addressing modes.</a:t>
            </a:r>
          </a:p>
          <a:p>
            <a:pPr lvl="2"/>
            <a:r>
              <a:rPr lang="en-US" dirty="0"/>
              <a:t>More functionality is built into the hardware level.</a:t>
            </a:r>
          </a:p>
          <a:p>
            <a:pPr lvl="1"/>
            <a:r>
              <a:rPr lang="en-US" b="1" dirty="0"/>
              <a:t>RISC:</a:t>
            </a:r>
            <a:endParaRPr lang="en-US" dirty="0"/>
          </a:p>
          <a:p>
            <a:pPr lvl="2"/>
            <a:r>
              <a:rPr lang="en-US" dirty="0"/>
              <a:t>Tends to simplify hardware complexity by offloading more responsibility to compilers.</a:t>
            </a:r>
          </a:p>
          <a:p>
            <a:pPr lvl="2"/>
            <a:r>
              <a:rPr lang="en-US" dirty="0"/>
              <a:t>This can lead to increased performance as the compiler can optimize instruction usage.</a:t>
            </a:r>
          </a:p>
          <a:p>
            <a:r>
              <a:rPr lang="en-US" b="1" dirty="0"/>
              <a:t>Philosophy Considerations</a:t>
            </a:r>
          </a:p>
          <a:p>
            <a:r>
              <a:rPr lang="en-US" b="1" dirty="0"/>
              <a:t>Complicated or Simple?</a:t>
            </a:r>
            <a:endParaRPr lang="en-US" dirty="0"/>
          </a:p>
          <a:p>
            <a:pPr lvl="1"/>
            <a:r>
              <a:rPr lang="en-US" dirty="0"/>
              <a:t>CISC architectures often provide complicated instruction sets, which can lead to challenges in understanding and programming.</a:t>
            </a:r>
          </a:p>
          <a:p>
            <a:pPr lvl="1"/>
            <a:r>
              <a:rPr lang="en-US" dirty="0"/>
              <a:t>RISC architectures emphasize simplicity, promoting efficient execution and easier understanding.</a:t>
            </a:r>
          </a:p>
          <a:p>
            <a:r>
              <a:rPr lang="en-US" b="1" dirty="0"/>
              <a:t>Rich or Fundamental Operations?</a:t>
            </a:r>
            <a:endParaRPr lang="en-US" dirty="0"/>
          </a:p>
          <a:p>
            <a:pPr lvl="1"/>
            <a:r>
              <a:rPr lang="en-US" dirty="0"/>
              <a:t>CISC systems support richer operations with fewer instructions, beneficial for certain types of applications that leverage this complexity.</a:t>
            </a:r>
          </a:p>
          <a:p>
            <a:pPr lvl="1"/>
            <a:r>
              <a:rPr lang="en-US" dirty="0"/>
              <a:t>RISC emphasizes fundamental operations, allowing more straightforward and predictable behavior.</a:t>
            </a:r>
          </a:p>
          <a:p>
            <a:r>
              <a:rPr lang="en-US" b="1" dirty="0"/>
              <a:t>Sophisticated or Basic Addressing Modes?</a:t>
            </a:r>
            <a:endParaRPr lang="en-US" dirty="0"/>
          </a:p>
          <a:p>
            <a:pPr lvl="1"/>
            <a:r>
              <a:rPr lang="en-US" dirty="0"/>
              <a:t>CISC offers sophisticated addressing modes, which can simplify certain programming tasks.</a:t>
            </a:r>
          </a:p>
          <a:p>
            <a:pPr lvl="1"/>
            <a:r>
              <a:rPr lang="en-US" dirty="0"/>
              <a:t>RISC typically limits addressing modes, which streamlines the instruction execution process, enhancing performance.</a:t>
            </a:r>
          </a:p>
          <a:p>
            <a:r>
              <a:rPr lang="en-US" b="1" dirty="0"/>
              <a:t>Complex in Hardware or Software?</a:t>
            </a:r>
            <a:endParaRPr lang="en-US" dirty="0"/>
          </a:p>
          <a:p>
            <a:pPr lvl="1"/>
            <a:r>
              <a:rPr lang="en-US" dirty="0"/>
              <a:t>CISC tends to be complex in hardware, making it challenging to design but offering rich features.</a:t>
            </a:r>
          </a:p>
          <a:p>
            <a:pPr lvl="1"/>
            <a:r>
              <a:rPr lang="en-US" dirty="0"/>
              <a:t>RISC focuses on complex software (compilers) for optimizations, resulting in significant performance advantages.</a:t>
            </a:r>
          </a:p>
          <a:p>
            <a:r>
              <a:rPr lang="en-US" b="1" dirty="0"/>
              <a:t>Conclusion</a:t>
            </a:r>
          </a:p>
          <a:p>
            <a:r>
              <a:rPr lang="en-US" dirty="0"/>
              <a:t>The choice between CISC and RISC ultimately depends on the specific application requirements, the context of use, and the target performance characteristics desired in a computing environment. As technology evolves, the distinction continues to blur, with many modern processors incorporating elements of both philosophies.</a:t>
            </a:r>
          </a:p>
          <a:p>
            <a:endParaRPr lang="en-US" dirty="0"/>
          </a:p>
        </p:txBody>
      </p:sp>
      <p:sp>
        <p:nvSpPr>
          <p:cNvPr id="4" name="Slide Number Placeholder 3"/>
          <p:cNvSpPr>
            <a:spLocks noGrp="1"/>
          </p:cNvSpPr>
          <p:nvPr>
            <p:ph type="sldNum" sz="quarter" idx="5"/>
          </p:nvPr>
        </p:nvSpPr>
        <p:spPr/>
        <p:txBody>
          <a:bodyPr/>
          <a:lstStyle/>
          <a:p>
            <a:fld id="{64396586-7768-4BE2-B746-60BB5130BF54}" type="slidenum">
              <a:rPr lang="en-US" smtClean="0"/>
              <a:t>5</a:t>
            </a:fld>
            <a:endParaRPr lang="en-US"/>
          </a:p>
        </p:txBody>
      </p:sp>
    </p:spTree>
    <p:extLst>
      <p:ext uri="{BB962C8B-B14F-4D97-AF65-F5344CB8AC3E}">
        <p14:creationId xmlns:p14="http://schemas.microsoft.com/office/powerpoint/2010/main" val="300440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Computer architecture is primarily classified as </a:t>
            </a:r>
            <a:r>
              <a:rPr lang="en-US" b="1" dirty="0"/>
              <a:t>CISC (Complex Instruction Set Computer)</a:t>
            </a:r>
            <a:r>
              <a:rPr lang="en-US" dirty="0"/>
              <a:t> due to several of its characteristics. Here's a detailed explanation:</a:t>
            </a:r>
          </a:p>
          <a:p>
            <a:r>
              <a:rPr lang="en-US" b="1" dirty="0"/>
              <a:t>Characteristics of Basic Computer Aligning with CISC</a:t>
            </a:r>
          </a:p>
          <a:p>
            <a:r>
              <a:rPr lang="en-US" b="1" dirty="0"/>
              <a:t>Large Instruction Set:</a:t>
            </a:r>
            <a:endParaRPr lang="en-US" dirty="0"/>
          </a:p>
          <a:p>
            <a:pPr lvl="1"/>
            <a:r>
              <a:rPr lang="en-US" dirty="0"/>
              <a:t>CISC architectures typically feature a larger number of instructions (ranging from 100 to 250 or more).</a:t>
            </a:r>
          </a:p>
          <a:p>
            <a:pPr lvl="1"/>
            <a:r>
              <a:rPr lang="en-US" dirty="0"/>
              <a:t>The Basic Computer includes a wide variety of instructions that allow users to perform complex operations without extensive programming.</a:t>
            </a:r>
          </a:p>
          <a:p>
            <a:r>
              <a:rPr lang="en-US" b="1" dirty="0"/>
              <a:t>Specialized Instructions:</a:t>
            </a:r>
            <a:endParaRPr lang="en-US" dirty="0"/>
          </a:p>
          <a:p>
            <a:pPr lvl="1"/>
            <a:r>
              <a:rPr lang="en-US" dirty="0"/>
              <a:t>CISC often has specialized instructions that may not be commonly used, but are provided to perform specific, complex functions efficiently.</a:t>
            </a:r>
          </a:p>
          <a:p>
            <a:pPr lvl="1"/>
            <a:r>
              <a:rPr lang="en-US" dirty="0"/>
              <a:t>Basic Computer accommodates specialized tasks, making it versatile for different programming needs.</a:t>
            </a:r>
          </a:p>
          <a:p>
            <a:r>
              <a:rPr lang="en-US" b="1" dirty="0"/>
              <a:t>Variety of Addressing Modes:</a:t>
            </a:r>
            <a:endParaRPr lang="en-US" dirty="0"/>
          </a:p>
          <a:p>
            <a:pPr lvl="1"/>
            <a:r>
              <a:rPr lang="en-US" dirty="0"/>
              <a:t>CISC architectures support numerous addressing modes (typically 5 to 20), which allows for more flexible data access.</a:t>
            </a:r>
          </a:p>
          <a:p>
            <a:pPr lvl="1"/>
            <a:r>
              <a:rPr lang="en-US" dirty="0"/>
              <a:t>The Basic Computer supports various addressing methods, contributing to its flexibility in data manipulation.</a:t>
            </a:r>
          </a:p>
          <a:p>
            <a:r>
              <a:rPr lang="en-US" b="1" dirty="0"/>
              <a:t>Variable-Length Instruction Formats:</a:t>
            </a:r>
            <a:endParaRPr lang="en-US" dirty="0"/>
          </a:p>
          <a:p>
            <a:pPr lvl="1"/>
            <a:r>
              <a:rPr lang="en-US" dirty="0"/>
              <a:t>Instructions in CISC architectures can vary in length, which optimizes memory usage and allows for a more complex operation to be encoded in a single instruction.</a:t>
            </a:r>
          </a:p>
          <a:p>
            <a:pPr lvl="1"/>
            <a:r>
              <a:rPr lang="en-US" dirty="0"/>
              <a:t>The Basic Computer embraces this concept through its instructions, allowing for different operations to be encoded variably.</a:t>
            </a:r>
          </a:p>
          <a:p>
            <a:r>
              <a:rPr lang="en-US" b="1" dirty="0"/>
              <a:t>Memory Operand Manipulation:</a:t>
            </a:r>
            <a:endParaRPr lang="en-US" dirty="0"/>
          </a:p>
          <a:p>
            <a:pPr lvl="1"/>
            <a:r>
              <a:rPr lang="en-US" dirty="0"/>
              <a:t>CISC architectures enable instructions that can manipulate operands directly in memory, reducing the need for multiple operations to accomplish a single task.</a:t>
            </a:r>
          </a:p>
          <a:p>
            <a:pPr lvl="1"/>
            <a:r>
              <a:rPr lang="en-US" dirty="0"/>
              <a:t>The Basic Computer exemplifies this by allowing instructions to directly operate on memory operands.</a:t>
            </a:r>
          </a:p>
          <a:p>
            <a:r>
              <a:rPr lang="en-US" b="1" dirty="0"/>
              <a:t>Conclusion</a:t>
            </a:r>
          </a:p>
          <a:p>
            <a:r>
              <a:rPr lang="en-US" dirty="0"/>
              <a:t>Given these characteristics, the Basic Computer architecture aligns closely with the CISC philosophy. Its design maximizes the complexity and capability of operations at the cost of increased hardware complexity. This structure was advantageous in the early days of computing, where memory and performance enhancements were prioritized through richer instruction sets and addressing modes.</a:t>
            </a:r>
          </a:p>
          <a:p>
            <a:r>
              <a:rPr lang="en-US" b="1" dirty="0"/>
              <a:t>Major Characteristics of RISC Processors</a:t>
            </a:r>
          </a:p>
          <a:p>
            <a:r>
              <a:rPr lang="en-US" dirty="0"/>
              <a:t>RISC (Reduced Instruction Set Computer) architecture focuses on efficiency and performance through simplicity. Here are the key characteristics:</a:t>
            </a:r>
          </a:p>
          <a:p>
            <a:r>
              <a:rPr lang="en-US" b="1" dirty="0"/>
              <a:t>Relatively Few Instructions</a:t>
            </a:r>
            <a:endParaRPr lang="en-US" dirty="0"/>
          </a:p>
          <a:p>
            <a:pPr lvl="1"/>
            <a:r>
              <a:rPr lang="en-US" dirty="0"/>
              <a:t>RISC processors have a small set of instructions, typically fewer than their CISC counterparts. This simplicity allows for more efficient instruction decoding and execution.</a:t>
            </a:r>
          </a:p>
          <a:p>
            <a:r>
              <a:rPr lang="en-US" b="1" dirty="0"/>
              <a:t>Relatively Few Addressing Modes</a:t>
            </a:r>
            <a:endParaRPr lang="en-US" dirty="0"/>
          </a:p>
          <a:p>
            <a:pPr lvl="1"/>
            <a:r>
              <a:rPr lang="en-US" dirty="0"/>
              <a:t>A limited number of addressing modes are available, which simplifies the hardware design and speeds up instruction processing.</a:t>
            </a:r>
          </a:p>
          <a:p>
            <a:r>
              <a:rPr lang="en-US" b="1" dirty="0"/>
              <a:t>Memory Access Limited to Load and Store Instructions</a:t>
            </a:r>
            <a:endParaRPr lang="en-US" dirty="0"/>
          </a:p>
          <a:p>
            <a:pPr lvl="1"/>
            <a:r>
              <a:rPr lang="en-US" dirty="0"/>
              <a:t>RISC architectures restrict memory access operations to specific load and store instructions, limiting direct memory operations to ensure that most data manipulation takes place within the CPU registers.</a:t>
            </a:r>
          </a:p>
          <a:p>
            <a:r>
              <a:rPr lang="en-US" b="1" dirty="0"/>
              <a:t>All Operations Within Registers</a:t>
            </a:r>
            <a:endParaRPr lang="en-US" dirty="0"/>
          </a:p>
          <a:p>
            <a:pPr lvl="1"/>
            <a:r>
              <a:rPr lang="en-US" dirty="0"/>
              <a:t>Operations are primarily performed within registers, eliminating the need for multiple memory accesses during computation.</a:t>
            </a:r>
          </a:p>
          <a:p>
            <a:r>
              <a:rPr lang="en-US" b="1" dirty="0"/>
              <a:t>Fixed-Length, Easily Decoded Instruction Format</a:t>
            </a:r>
            <a:endParaRPr lang="en-US" dirty="0"/>
          </a:p>
          <a:p>
            <a:pPr lvl="1"/>
            <a:r>
              <a:rPr lang="en-US" dirty="0"/>
              <a:t>Instructions are typically of uniform length, facilitating easy and rapid decoding, which enhances execution efficiency.</a:t>
            </a:r>
          </a:p>
          <a:p>
            <a:r>
              <a:rPr lang="en-US" b="1" dirty="0"/>
              <a:t>Single-Cycle Instruction Execution</a:t>
            </a:r>
            <a:endParaRPr lang="en-US" dirty="0"/>
          </a:p>
          <a:p>
            <a:pPr lvl="1"/>
            <a:r>
              <a:rPr lang="en-US" dirty="0"/>
              <a:t>Many RISC designs allow for single-cycle execution of instructions, which contributes to high performance. However, it’s worth noting that load and store operations may require an additional clock cycle due to memory access times.</a:t>
            </a:r>
          </a:p>
          <a:p>
            <a:r>
              <a:rPr lang="en-US" b="1" dirty="0"/>
              <a:t>Hardwired Rather than Microprogrammed Control</a:t>
            </a:r>
            <a:endParaRPr lang="en-US" dirty="0"/>
          </a:p>
          <a:p>
            <a:pPr lvl="1"/>
            <a:r>
              <a:rPr lang="en-US" dirty="0"/>
              <a:t>Control logic is often hardwired instead of being microprogrammed. This choice simplifies the control unit and can lead to faster instruction execution.</a:t>
            </a:r>
          </a:p>
          <a:p>
            <a:r>
              <a:rPr lang="en-US" b="1" dirty="0"/>
              <a:t>Note on Memory Access</a:t>
            </a:r>
          </a:p>
          <a:p>
            <a:r>
              <a:rPr lang="en-US" b="1" dirty="0"/>
              <a:t>Memory Access Timing:</a:t>
            </a:r>
            <a:r>
              <a:rPr lang="en-US" dirty="0"/>
              <a:t> </a:t>
            </a:r>
          </a:p>
          <a:p>
            <a:pPr lvl="1"/>
            <a:r>
              <a:rPr lang="en-US" dirty="0"/>
              <a:t>Although most instructions can be executed in a single cycle, load and store instructions may require two clock cycles since accessing memory is inherently slower than operations within the CPU registers. This distinction is crucial for optimizing performance and understanding potential bottlenecks in RISC architectures.</a:t>
            </a:r>
          </a:p>
          <a:p>
            <a:r>
              <a:rPr lang="en-US" dirty="0"/>
              <a:t>These characteristics collectively allow RISC processors to achieve high performance, making them suitable for a wide range of applications, particularly in environments where efficiency and speed are paramount.</a:t>
            </a:r>
          </a:p>
          <a:p>
            <a:endParaRPr lang="en-US" b="1" dirty="0"/>
          </a:p>
          <a:p>
            <a:endParaRPr lang="en-US" b="1" dirty="0"/>
          </a:p>
        </p:txBody>
      </p:sp>
      <p:sp>
        <p:nvSpPr>
          <p:cNvPr id="4" name="Slide Number Placeholder 3"/>
          <p:cNvSpPr>
            <a:spLocks noGrp="1"/>
          </p:cNvSpPr>
          <p:nvPr>
            <p:ph type="sldNum" sz="quarter" idx="5"/>
          </p:nvPr>
        </p:nvSpPr>
        <p:spPr/>
        <p:txBody>
          <a:bodyPr/>
          <a:lstStyle/>
          <a:p>
            <a:fld id="{64396586-7768-4BE2-B746-60BB5130BF54}" type="slidenum">
              <a:rPr lang="en-US" smtClean="0"/>
              <a:t>9</a:t>
            </a:fld>
            <a:endParaRPr lang="en-US"/>
          </a:p>
        </p:txBody>
      </p:sp>
    </p:spTree>
    <p:extLst>
      <p:ext uri="{BB962C8B-B14F-4D97-AF65-F5344CB8AC3E}">
        <p14:creationId xmlns:p14="http://schemas.microsoft.com/office/powerpoint/2010/main" val="2122927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2834640"/>
            <a:ext cx="5829300" cy="1920240"/>
          </a:xfrm>
          <a:prstGeom prst="rect">
            <a:avLst/>
          </a:prstGeom>
        </p:spPr>
        <p:txBody>
          <a:bodyPr wrap="square" lIns="0" tIns="0" rIns="0" bIns="0">
            <a:spAutoFit/>
          </a:bodyPr>
          <a:lstStyle>
            <a:lvl1pPr>
              <a:defRPr sz="2200" b="0" i="0">
                <a:solidFill>
                  <a:schemeClr val="tx1"/>
                </a:solidFill>
                <a:latin typeface="Georgia"/>
                <a:cs typeface="Georgia"/>
              </a:defRPr>
            </a:lvl1pPr>
          </a:lstStyle>
          <a:p>
            <a:endParaRPr/>
          </a:p>
        </p:txBody>
      </p:sp>
      <p:sp>
        <p:nvSpPr>
          <p:cNvPr id="3" name="Holder 3"/>
          <p:cNvSpPr>
            <a:spLocks noGrp="1"/>
          </p:cNvSpPr>
          <p:nvPr>
            <p:ph type="subTitle" idx="4"/>
          </p:nvPr>
        </p:nvSpPr>
        <p:spPr>
          <a:xfrm>
            <a:off x="1028700" y="5120640"/>
            <a:ext cx="4800600" cy="22860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7" name="bg object 17"/>
          <p:cNvSpPr/>
          <p:nvPr/>
        </p:nvSpPr>
        <p:spPr>
          <a:xfrm>
            <a:off x="496823" y="990600"/>
            <a:ext cx="5862955" cy="3188335"/>
          </a:xfrm>
          <a:custGeom>
            <a:avLst/>
            <a:gdLst/>
            <a:ahLst/>
            <a:cxnLst/>
            <a:rect l="l" t="t" r="r" b="b"/>
            <a:pathLst>
              <a:path w="5862955" h="3188335">
                <a:moveTo>
                  <a:pt x="5862828" y="0"/>
                </a:moveTo>
                <a:lnTo>
                  <a:pt x="0" y="0"/>
                </a:lnTo>
                <a:lnTo>
                  <a:pt x="0" y="3188208"/>
                </a:lnTo>
                <a:lnTo>
                  <a:pt x="5862828" y="3188208"/>
                </a:lnTo>
                <a:lnTo>
                  <a:pt x="5862828" y="0"/>
                </a:lnTo>
                <a:close/>
              </a:path>
            </a:pathLst>
          </a:custGeom>
          <a:solidFill>
            <a:srgbClr val="FFFFFF"/>
          </a:solidFill>
        </p:spPr>
        <p:txBody>
          <a:bodyPr wrap="square" lIns="0" tIns="0" rIns="0" bIns="0" rtlCol="0"/>
          <a:lstStyle/>
          <a:p>
            <a:endParaRPr/>
          </a:p>
        </p:txBody>
      </p:sp>
      <p:sp>
        <p:nvSpPr>
          <p:cNvPr id="18" name="bg object 18"/>
          <p:cNvSpPr/>
          <p:nvPr/>
        </p:nvSpPr>
        <p:spPr>
          <a:xfrm>
            <a:off x="662177" y="1538478"/>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sp>
        <p:nvSpPr>
          <p:cNvPr id="2" name="Holder 2"/>
          <p:cNvSpPr>
            <a:spLocks noGrp="1"/>
          </p:cNvSpPr>
          <p:nvPr>
            <p:ph type="title"/>
          </p:nvPr>
        </p:nvSpPr>
        <p:spPr>
          <a:xfrm>
            <a:off x="712723" y="1092835"/>
            <a:ext cx="1758950" cy="360680"/>
          </a:xfrm>
          <a:prstGeom prst="rect">
            <a:avLst/>
          </a:prstGeom>
        </p:spPr>
        <p:txBody>
          <a:bodyPr wrap="square" lIns="0" tIns="0" rIns="0" bIns="0">
            <a:spAutoFit/>
          </a:bodyPr>
          <a:lstStyle>
            <a:lvl1pPr>
              <a:defRPr sz="2200" b="0" i="0">
                <a:solidFill>
                  <a:schemeClr val="tx1"/>
                </a:solidFill>
                <a:latin typeface="Georgia"/>
                <a:cs typeface="Georgia"/>
              </a:defRPr>
            </a:lvl1pPr>
          </a:lstStyle>
          <a:p>
            <a:endParaRPr/>
          </a:p>
        </p:txBody>
      </p:sp>
      <p:sp>
        <p:nvSpPr>
          <p:cNvPr id="3" name="Holder 3"/>
          <p:cNvSpPr>
            <a:spLocks noGrp="1"/>
          </p:cNvSpPr>
          <p:nvPr>
            <p:ph type="body" idx="1"/>
          </p:nvPr>
        </p:nvSpPr>
        <p:spPr>
          <a:xfrm>
            <a:off x="852347" y="1729104"/>
            <a:ext cx="5111750" cy="228346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2331720" y="8503920"/>
            <a:ext cx="219456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6" name="Holder 6"/>
          <p:cNvSpPr>
            <a:spLocks noGrp="1"/>
          </p:cNvSpPr>
          <p:nvPr>
            <p:ph type="sldNum" sz="quarter" idx="7"/>
          </p:nvPr>
        </p:nvSpPr>
        <p:spPr>
          <a:xfrm>
            <a:off x="6596633" y="8933180"/>
            <a:ext cx="219075" cy="177800"/>
          </a:xfrm>
          <a:prstGeom prst="rect">
            <a:avLst/>
          </a:prstGeom>
        </p:spPr>
        <p:txBody>
          <a:bodyPr wrap="square" lIns="0" tIns="0" rIns="0" bIns="0">
            <a:spAutoFit/>
          </a:bodyPr>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5.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9.jp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p:nvPr/>
        </p:nvSpPr>
        <p:spPr>
          <a:xfrm>
            <a:off x="496823" y="990600"/>
            <a:ext cx="5862955" cy="2808461"/>
          </a:xfrm>
          <a:prstGeom prst="rect">
            <a:avLst/>
          </a:prstGeom>
          <a:ln w="6096">
            <a:solidFill>
              <a:srgbClr val="FFFFFF"/>
            </a:solidFill>
          </a:ln>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spcBef>
                <a:spcPts val="1065"/>
              </a:spcBef>
            </a:pPr>
            <a:endParaRPr sz="3600" dirty="0">
              <a:latin typeface="Times New Roman"/>
              <a:cs typeface="Times New Roman"/>
            </a:endParaRPr>
          </a:p>
          <a:p>
            <a:pPr algn="ctr">
              <a:lnSpc>
                <a:spcPct val="100000"/>
              </a:lnSpc>
            </a:pPr>
            <a:r>
              <a:rPr sz="3600" b="1" spc="-40" dirty="0">
                <a:solidFill>
                  <a:srgbClr val="FFFFFF"/>
                </a:solidFill>
                <a:latin typeface="Times New Roman"/>
                <a:cs typeface="Times New Roman"/>
              </a:rPr>
              <a:t>Computer</a:t>
            </a:r>
            <a:r>
              <a:rPr sz="3600" b="1" spc="-155" dirty="0">
                <a:solidFill>
                  <a:srgbClr val="FFFFFF"/>
                </a:solidFill>
                <a:latin typeface="Times New Roman"/>
                <a:cs typeface="Times New Roman"/>
              </a:rPr>
              <a:t> </a:t>
            </a:r>
            <a:r>
              <a:rPr sz="3600" b="1" spc="-10" dirty="0">
                <a:solidFill>
                  <a:srgbClr val="FFFFFF"/>
                </a:solidFill>
                <a:latin typeface="Times New Roman"/>
                <a:cs typeface="Times New Roman"/>
              </a:rPr>
              <a:t>Architecture</a:t>
            </a:r>
            <a:endParaRPr sz="3600" dirty="0">
              <a:latin typeface="Times New Roman"/>
              <a:cs typeface="Times New Roman"/>
            </a:endParaRPr>
          </a:p>
          <a:p>
            <a:pPr marL="74295">
              <a:lnSpc>
                <a:spcPct val="100000"/>
              </a:lnSpc>
              <a:spcBef>
                <a:spcPts val="1405"/>
              </a:spcBef>
            </a:pPr>
            <a:endParaRPr lang="en-US" sz="1400" u="sng" spc="-10">
              <a:uFill>
                <a:solidFill>
                  <a:srgbClr val="000000"/>
                </a:solidFill>
              </a:uFill>
              <a:latin typeface="Times New Roman"/>
              <a:cs typeface="Times New Roman"/>
            </a:endParaRPr>
          </a:p>
          <a:p>
            <a:pPr marL="74295">
              <a:lnSpc>
                <a:spcPct val="100000"/>
              </a:lnSpc>
              <a:spcBef>
                <a:spcPts val="1405"/>
              </a:spcBef>
            </a:pPr>
            <a:r>
              <a:rPr sz="1400" u="sng" spc="-10">
                <a:uFill>
                  <a:solidFill>
                    <a:srgbClr val="000000"/>
                  </a:solidFill>
                </a:uFill>
                <a:latin typeface="Times New Roman"/>
                <a:cs typeface="Times New Roman"/>
              </a:rPr>
              <a:t>Reference</a:t>
            </a:r>
            <a:r>
              <a:rPr sz="1400" u="sng" spc="-10" dirty="0">
                <a:uFill>
                  <a:solidFill>
                    <a:srgbClr val="000000"/>
                  </a:solidFill>
                </a:uFill>
                <a:latin typeface="Times New Roman"/>
                <a:cs typeface="Times New Roman"/>
              </a:rPr>
              <a:t>:</a:t>
            </a:r>
            <a:endParaRPr sz="1400" dirty="0">
              <a:latin typeface="Times New Roman"/>
              <a:cs typeface="Times New Roman"/>
            </a:endParaRPr>
          </a:p>
          <a:p>
            <a:pPr marL="532130">
              <a:lnSpc>
                <a:spcPct val="100000"/>
              </a:lnSpc>
            </a:pPr>
            <a:r>
              <a:rPr sz="1400" dirty="0">
                <a:latin typeface="Times New Roman"/>
                <a:cs typeface="Times New Roman"/>
              </a:rPr>
              <a:t>-</a:t>
            </a:r>
            <a:r>
              <a:rPr sz="1400" spc="-30" dirty="0">
                <a:latin typeface="Times New Roman"/>
                <a:cs typeface="Times New Roman"/>
              </a:rPr>
              <a:t> </a:t>
            </a:r>
            <a:r>
              <a:rPr sz="1400" dirty="0">
                <a:latin typeface="Times New Roman"/>
                <a:cs typeface="Times New Roman"/>
              </a:rPr>
              <a:t>Mano,</a:t>
            </a:r>
            <a:r>
              <a:rPr sz="1400" spc="-40" dirty="0">
                <a:latin typeface="Times New Roman"/>
                <a:cs typeface="Times New Roman"/>
              </a:rPr>
              <a:t> </a:t>
            </a:r>
            <a:r>
              <a:rPr sz="1400" dirty="0">
                <a:latin typeface="Times New Roman"/>
                <a:cs typeface="Times New Roman"/>
              </a:rPr>
              <a:t>“Computer</a:t>
            </a:r>
            <a:r>
              <a:rPr sz="1400" spc="-10" dirty="0">
                <a:latin typeface="Times New Roman"/>
                <a:cs typeface="Times New Roman"/>
              </a:rPr>
              <a:t> System</a:t>
            </a:r>
            <a:r>
              <a:rPr sz="1400" spc="-90" dirty="0">
                <a:latin typeface="Times New Roman"/>
                <a:cs typeface="Times New Roman"/>
              </a:rPr>
              <a:t> </a:t>
            </a:r>
            <a:r>
              <a:rPr sz="1400" spc="-10" dirty="0">
                <a:latin typeface="Times New Roman"/>
                <a:cs typeface="Times New Roman"/>
              </a:rPr>
              <a:t>Architecture”</a:t>
            </a:r>
            <a:endParaRPr sz="1400" dirty="0">
              <a:latin typeface="Times New Roman"/>
              <a:cs typeface="Times New Roman"/>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grpSp>
      <p:sp>
        <p:nvSpPr>
          <p:cNvPr id="9" name="object 9"/>
          <p:cNvSpPr txBox="1"/>
          <p:nvPr/>
        </p:nvSpPr>
        <p:spPr>
          <a:xfrm>
            <a:off x="609600" y="5065776"/>
            <a:ext cx="5486400" cy="502920"/>
          </a:xfrm>
          <a:prstGeom prst="rect">
            <a:avLst/>
          </a:prstGeom>
          <a:solidFill>
            <a:srgbClr val="539E39"/>
          </a:solidFill>
          <a:ln w="9144">
            <a:solidFill>
              <a:srgbClr val="3A7327"/>
            </a:solidFill>
          </a:ln>
        </p:spPr>
        <p:txBody>
          <a:bodyPr vert="horz" wrap="square" lIns="0" tIns="86995" rIns="0" bIns="0" rtlCol="0">
            <a:spAutoFit/>
          </a:bodyPr>
          <a:lstStyle/>
          <a:p>
            <a:pPr marL="115570">
              <a:lnSpc>
                <a:spcPct val="100000"/>
              </a:lnSpc>
              <a:spcBef>
                <a:spcPts val="685"/>
              </a:spcBef>
            </a:pPr>
            <a:r>
              <a:rPr sz="2000" b="1" dirty="0">
                <a:solidFill>
                  <a:srgbClr val="FFFFFF"/>
                </a:solidFill>
                <a:latin typeface="Georgia"/>
                <a:cs typeface="Georgia"/>
              </a:rPr>
              <a:t>Computer</a:t>
            </a:r>
            <a:r>
              <a:rPr sz="2000" b="1" spc="-40" dirty="0">
                <a:solidFill>
                  <a:srgbClr val="FFFFFF"/>
                </a:solidFill>
                <a:latin typeface="Georgia"/>
                <a:cs typeface="Georgia"/>
              </a:rPr>
              <a:t> </a:t>
            </a:r>
            <a:r>
              <a:rPr sz="2000" b="1" dirty="0">
                <a:solidFill>
                  <a:srgbClr val="FFFFFF"/>
                </a:solidFill>
                <a:latin typeface="Georgia"/>
                <a:cs typeface="Georgia"/>
              </a:rPr>
              <a:t>Architecture</a:t>
            </a:r>
            <a:r>
              <a:rPr sz="2000" b="1" spc="-40" dirty="0">
                <a:solidFill>
                  <a:srgbClr val="FFFFFF"/>
                </a:solidFill>
                <a:latin typeface="Georgia"/>
                <a:cs typeface="Georgia"/>
              </a:rPr>
              <a:t> </a:t>
            </a:r>
            <a:r>
              <a:rPr sz="2000" b="1" dirty="0">
                <a:solidFill>
                  <a:srgbClr val="FFFFFF"/>
                </a:solidFill>
                <a:latin typeface="Georgia"/>
                <a:cs typeface="Georgia"/>
              </a:rPr>
              <a:t>Module</a:t>
            </a:r>
            <a:r>
              <a:rPr sz="2000" b="1" spc="-15" dirty="0">
                <a:solidFill>
                  <a:srgbClr val="FFFFFF"/>
                </a:solidFill>
                <a:latin typeface="Georgia"/>
                <a:cs typeface="Georgia"/>
              </a:rPr>
              <a:t> </a:t>
            </a:r>
            <a:r>
              <a:rPr sz="2000" b="1" spc="-10" dirty="0">
                <a:solidFill>
                  <a:srgbClr val="FFFFFF"/>
                </a:solidFill>
                <a:latin typeface="Georgia"/>
                <a:cs typeface="Georgia"/>
              </a:rPr>
              <a:t>Content</a:t>
            </a:r>
            <a:endParaRPr sz="2000">
              <a:latin typeface="Georgia"/>
              <a:cs typeface="Georgia"/>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a:t>
            </a:fld>
            <a:endParaRPr spc="-25" dirty="0"/>
          </a:p>
        </p:txBody>
      </p:sp>
      <p:sp>
        <p:nvSpPr>
          <p:cNvPr id="10" name="object 10"/>
          <p:cNvSpPr txBox="1"/>
          <p:nvPr/>
        </p:nvSpPr>
        <p:spPr>
          <a:xfrm>
            <a:off x="759561" y="5650484"/>
            <a:ext cx="5344160" cy="2430780"/>
          </a:xfrm>
          <a:prstGeom prst="rect">
            <a:avLst/>
          </a:prstGeom>
        </p:spPr>
        <p:txBody>
          <a:bodyPr vert="horz" wrap="square" lIns="0" tIns="24765" rIns="0" bIns="0" rtlCol="0">
            <a:spAutoFit/>
          </a:bodyPr>
          <a:lstStyle/>
          <a:p>
            <a:pPr marL="169545" indent="-169545">
              <a:lnSpc>
                <a:spcPct val="100000"/>
              </a:lnSpc>
              <a:spcBef>
                <a:spcPts val="195"/>
              </a:spcBef>
              <a:buClr>
                <a:srgbClr val="3E762B"/>
              </a:buClr>
              <a:buFont typeface="Wingdings"/>
              <a:buChar char=""/>
              <a:tabLst>
                <a:tab pos="169545" algn="l"/>
              </a:tabLst>
            </a:pPr>
            <a:r>
              <a:rPr sz="1200" b="1" dirty="0">
                <a:latin typeface="Times New Roman"/>
                <a:cs typeface="Times New Roman"/>
              </a:rPr>
              <a:t>Central</a:t>
            </a:r>
            <a:r>
              <a:rPr sz="1200" b="1" spc="-70" dirty="0">
                <a:latin typeface="Times New Roman"/>
                <a:cs typeface="Times New Roman"/>
              </a:rPr>
              <a:t> </a:t>
            </a:r>
            <a:r>
              <a:rPr sz="1200" b="1" dirty="0">
                <a:latin typeface="Times New Roman"/>
                <a:cs typeface="Times New Roman"/>
              </a:rPr>
              <a:t>Processing</a:t>
            </a:r>
            <a:r>
              <a:rPr sz="1200" b="1" spc="-45" dirty="0">
                <a:latin typeface="Times New Roman"/>
                <a:cs typeface="Times New Roman"/>
              </a:rPr>
              <a:t> </a:t>
            </a:r>
            <a:r>
              <a:rPr sz="1200" b="1" dirty="0">
                <a:latin typeface="Times New Roman"/>
                <a:cs typeface="Times New Roman"/>
              </a:rPr>
              <a:t>Unit</a:t>
            </a:r>
            <a:r>
              <a:rPr sz="1200" b="1" spc="-75" dirty="0">
                <a:latin typeface="Times New Roman"/>
                <a:cs typeface="Times New Roman"/>
              </a:rPr>
              <a:t> </a:t>
            </a:r>
            <a:r>
              <a:rPr sz="1200" b="1" spc="-10" dirty="0">
                <a:latin typeface="Times New Roman"/>
                <a:cs typeface="Times New Roman"/>
              </a:rPr>
              <a:t>Architecture</a:t>
            </a:r>
            <a:endParaRPr sz="1200">
              <a:latin typeface="Times New Roman"/>
              <a:cs typeface="Times New Roman"/>
            </a:endParaRPr>
          </a:p>
          <a:p>
            <a:pPr marL="456565" lvl="1" indent="-111125">
              <a:lnSpc>
                <a:spcPct val="100000"/>
              </a:lnSpc>
              <a:spcBef>
                <a:spcPts val="95"/>
              </a:spcBef>
              <a:buClr>
                <a:srgbClr val="3E762B"/>
              </a:buClr>
              <a:buFont typeface="Arial MT"/>
              <a:buChar char="•"/>
              <a:tabLst>
                <a:tab pos="456565" algn="l"/>
              </a:tabLst>
            </a:pPr>
            <a:r>
              <a:rPr sz="1200" spc="-10" dirty="0">
                <a:latin typeface="Times New Roman"/>
                <a:cs typeface="Times New Roman"/>
              </a:rPr>
              <a:t>Design</a:t>
            </a:r>
            <a:r>
              <a:rPr sz="1200" spc="-65" dirty="0">
                <a:latin typeface="Times New Roman"/>
                <a:cs typeface="Times New Roman"/>
              </a:rPr>
              <a:t> </a:t>
            </a:r>
            <a:r>
              <a:rPr sz="1200" dirty="0">
                <a:latin typeface="Times New Roman"/>
                <a:cs typeface="Times New Roman"/>
              </a:rPr>
              <a:t>Approaches [</a:t>
            </a:r>
            <a:r>
              <a:rPr sz="1200" b="1" dirty="0">
                <a:solidFill>
                  <a:srgbClr val="539E39"/>
                </a:solidFill>
                <a:latin typeface="Times New Roman"/>
                <a:cs typeface="Times New Roman"/>
              </a:rPr>
              <a:t>Stack</a:t>
            </a:r>
            <a:r>
              <a:rPr sz="1200" b="1" spc="-10" dirty="0">
                <a:solidFill>
                  <a:srgbClr val="539E39"/>
                </a:solidFill>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Pipelining</a:t>
            </a:r>
            <a:r>
              <a:rPr sz="1200" spc="-3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b="1" dirty="0">
                <a:solidFill>
                  <a:srgbClr val="539E39"/>
                </a:solidFill>
                <a:latin typeface="Times New Roman"/>
                <a:cs typeface="Times New Roman"/>
              </a:rPr>
              <a:t>Interrupt </a:t>
            </a:r>
            <a:r>
              <a:rPr sz="1200" dirty="0">
                <a:latin typeface="Times New Roman"/>
                <a:cs typeface="Times New Roman"/>
              </a:rPr>
              <a:t>–</a:t>
            </a:r>
            <a:r>
              <a:rPr sz="1200" spc="-15" dirty="0">
                <a:latin typeface="Times New Roman"/>
                <a:cs typeface="Times New Roman"/>
              </a:rPr>
              <a:t> </a:t>
            </a:r>
            <a:r>
              <a:rPr sz="1200" b="1" spc="-10" dirty="0">
                <a:solidFill>
                  <a:srgbClr val="539E39"/>
                </a:solidFill>
                <a:latin typeface="Times New Roman"/>
                <a:cs typeface="Times New Roman"/>
              </a:rPr>
              <a:t>Processor</a:t>
            </a:r>
            <a:r>
              <a:rPr sz="1200" b="1" spc="-20" dirty="0">
                <a:solidFill>
                  <a:srgbClr val="539E39"/>
                </a:solidFill>
                <a:latin typeface="Times New Roman"/>
                <a:cs typeface="Times New Roman"/>
              </a:rPr>
              <a:t> </a:t>
            </a:r>
            <a:r>
              <a:rPr sz="1200" b="1" spc="-10" dirty="0">
                <a:solidFill>
                  <a:srgbClr val="539E39"/>
                </a:solidFill>
                <a:latin typeface="Times New Roman"/>
                <a:cs typeface="Times New Roman"/>
              </a:rPr>
              <a:t>Organization</a:t>
            </a:r>
            <a:endParaRPr sz="1200">
              <a:latin typeface="Times New Roman"/>
              <a:cs typeface="Times New Roman"/>
            </a:endParaRPr>
          </a:p>
          <a:p>
            <a:pPr marL="457200">
              <a:lnSpc>
                <a:spcPct val="100000"/>
              </a:lnSpc>
            </a:pPr>
            <a:r>
              <a:rPr sz="1200" dirty="0">
                <a:latin typeface="Times New Roman"/>
                <a:cs typeface="Times New Roman"/>
              </a:rPr>
              <a:t>–</a:t>
            </a:r>
            <a:r>
              <a:rPr sz="1200" spc="-35" dirty="0">
                <a:latin typeface="Times New Roman"/>
                <a:cs typeface="Times New Roman"/>
              </a:rPr>
              <a:t> </a:t>
            </a:r>
            <a:r>
              <a:rPr sz="1200" b="1" dirty="0">
                <a:solidFill>
                  <a:srgbClr val="539E39"/>
                </a:solidFill>
                <a:latin typeface="Times New Roman"/>
                <a:cs typeface="Times New Roman"/>
              </a:rPr>
              <a:t>Registers</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Organization</a:t>
            </a:r>
            <a:r>
              <a:rPr sz="1200" spc="-10" dirty="0">
                <a:latin typeface="Times New Roman"/>
                <a:cs typeface="Times New Roman"/>
              </a:rPr>
              <a:t>]</a:t>
            </a:r>
            <a:endParaRPr sz="1200">
              <a:latin typeface="Times New Roman"/>
              <a:cs typeface="Times New Roman"/>
            </a:endParaRPr>
          </a:p>
          <a:p>
            <a:pPr marL="456565" lvl="1" indent="-111125">
              <a:lnSpc>
                <a:spcPct val="100000"/>
              </a:lnSpc>
              <a:spcBef>
                <a:spcPts val="300"/>
              </a:spcBef>
              <a:buClr>
                <a:srgbClr val="3E762B"/>
              </a:buClr>
              <a:buFont typeface="Arial MT"/>
              <a:buChar char="•"/>
              <a:tabLst>
                <a:tab pos="456565" algn="l"/>
              </a:tabLst>
            </a:pPr>
            <a:r>
              <a:rPr sz="1200" dirty="0">
                <a:latin typeface="Times New Roman"/>
                <a:cs typeface="Times New Roman"/>
              </a:rPr>
              <a:t>Instruction</a:t>
            </a:r>
            <a:r>
              <a:rPr sz="1200" spc="-20" dirty="0">
                <a:latin typeface="Times New Roman"/>
                <a:cs typeface="Times New Roman"/>
              </a:rPr>
              <a:t> </a:t>
            </a:r>
            <a:r>
              <a:rPr sz="1200" spc="-10" dirty="0">
                <a:latin typeface="Times New Roman"/>
                <a:cs typeface="Times New Roman"/>
              </a:rPr>
              <a:t>Set</a:t>
            </a:r>
            <a:r>
              <a:rPr sz="1200" spc="-75" dirty="0">
                <a:latin typeface="Times New Roman"/>
                <a:cs typeface="Times New Roman"/>
              </a:rPr>
              <a:t> </a:t>
            </a:r>
            <a:r>
              <a:rPr sz="1200" spc="-10" dirty="0">
                <a:latin typeface="Times New Roman"/>
                <a:cs typeface="Times New Roman"/>
              </a:rPr>
              <a:t>Architecture</a:t>
            </a:r>
            <a:r>
              <a:rPr sz="1200" spc="-20" dirty="0">
                <a:latin typeface="Times New Roman"/>
                <a:cs typeface="Times New Roman"/>
              </a:rPr>
              <a:t> </a:t>
            </a:r>
            <a:r>
              <a:rPr sz="1200" dirty="0">
                <a:latin typeface="Times New Roman"/>
                <a:cs typeface="Times New Roman"/>
              </a:rPr>
              <a:t>[</a:t>
            </a:r>
            <a:r>
              <a:rPr sz="1200" b="1" dirty="0">
                <a:solidFill>
                  <a:srgbClr val="539E39"/>
                </a:solidFill>
                <a:latin typeface="Times New Roman"/>
                <a:cs typeface="Times New Roman"/>
              </a:rPr>
              <a:t>Instruction</a:t>
            </a:r>
            <a:r>
              <a:rPr sz="1200" b="1" spc="-30" dirty="0">
                <a:solidFill>
                  <a:srgbClr val="539E39"/>
                </a:solidFill>
                <a:latin typeface="Times New Roman"/>
                <a:cs typeface="Times New Roman"/>
              </a:rPr>
              <a:t> </a:t>
            </a:r>
            <a:r>
              <a:rPr sz="1200" b="1" dirty="0">
                <a:solidFill>
                  <a:srgbClr val="539E39"/>
                </a:solidFill>
                <a:latin typeface="Times New Roman"/>
                <a:cs typeface="Times New Roman"/>
              </a:rPr>
              <a:t>Format</a:t>
            </a:r>
            <a:r>
              <a:rPr sz="1200" b="1" spc="10" dirty="0">
                <a:solidFill>
                  <a:srgbClr val="539E39"/>
                </a:solidFill>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b="1" dirty="0">
                <a:solidFill>
                  <a:srgbClr val="539E39"/>
                </a:solidFill>
                <a:latin typeface="Times New Roman"/>
                <a:cs typeface="Times New Roman"/>
              </a:rPr>
              <a:t>Addressing</a:t>
            </a:r>
            <a:r>
              <a:rPr sz="1200" b="1" spc="-20" dirty="0">
                <a:solidFill>
                  <a:srgbClr val="539E39"/>
                </a:solidFill>
                <a:latin typeface="Times New Roman"/>
                <a:cs typeface="Times New Roman"/>
              </a:rPr>
              <a:t> </a:t>
            </a:r>
            <a:r>
              <a:rPr sz="1200" b="1" dirty="0">
                <a:solidFill>
                  <a:srgbClr val="539E39"/>
                </a:solidFill>
                <a:latin typeface="Times New Roman"/>
                <a:cs typeface="Times New Roman"/>
              </a:rPr>
              <a:t>modes</a:t>
            </a:r>
            <a:r>
              <a:rPr sz="1200" b="1" spc="-5" dirty="0">
                <a:solidFill>
                  <a:srgbClr val="539E39"/>
                </a:solidFill>
                <a:latin typeface="Times New Roman"/>
                <a:cs typeface="Times New Roman"/>
              </a:rPr>
              <a:t> </a:t>
            </a:r>
            <a:r>
              <a:rPr sz="1200" spc="-50" dirty="0">
                <a:latin typeface="Times New Roman"/>
                <a:cs typeface="Times New Roman"/>
              </a:rPr>
              <a:t>–</a:t>
            </a:r>
            <a:endParaRPr sz="1200">
              <a:latin typeface="Times New Roman"/>
              <a:cs typeface="Times New Roman"/>
            </a:endParaRPr>
          </a:p>
          <a:p>
            <a:pPr marL="457200">
              <a:lnSpc>
                <a:spcPct val="100000"/>
              </a:lnSpc>
              <a:spcBef>
                <a:spcPts val="5"/>
              </a:spcBef>
            </a:pPr>
            <a:r>
              <a:rPr sz="1200" b="1" dirty="0">
                <a:solidFill>
                  <a:srgbClr val="539E39"/>
                </a:solidFill>
                <a:latin typeface="Times New Roman"/>
                <a:cs typeface="Times New Roman"/>
              </a:rPr>
              <a:t>Data</a:t>
            </a:r>
            <a:r>
              <a:rPr sz="1200" b="1" spc="-5" dirty="0">
                <a:solidFill>
                  <a:srgbClr val="539E39"/>
                </a:solidFill>
                <a:latin typeface="Times New Roman"/>
                <a:cs typeface="Times New Roman"/>
              </a:rPr>
              <a:t> </a:t>
            </a:r>
            <a:r>
              <a:rPr sz="1200" b="1" spc="-20" dirty="0">
                <a:solidFill>
                  <a:srgbClr val="539E39"/>
                </a:solidFill>
                <a:latin typeface="Times New Roman"/>
                <a:cs typeface="Times New Roman"/>
              </a:rPr>
              <a:t>Transfer</a:t>
            </a:r>
            <a:r>
              <a:rPr sz="1200" b="1" spc="-30" dirty="0">
                <a:solidFill>
                  <a:srgbClr val="539E39"/>
                </a:solidFill>
                <a:latin typeface="Times New Roman"/>
                <a:cs typeface="Times New Roman"/>
              </a:rPr>
              <a:t> </a:t>
            </a:r>
            <a:r>
              <a:rPr sz="1200" b="1" dirty="0">
                <a:solidFill>
                  <a:srgbClr val="539E39"/>
                </a:solidFill>
                <a:latin typeface="Times New Roman"/>
                <a:cs typeface="Times New Roman"/>
              </a:rPr>
              <a:t>and</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Manipulation</a:t>
            </a:r>
            <a:r>
              <a:rPr sz="1200" spc="-10" dirty="0">
                <a:latin typeface="Times New Roman"/>
                <a:cs typeface="Times New Roman"/>
              </a:rPr>
              <a:t>]</a:t>
            </a:r>
            <a:endParaRPr sz="1200">
              <a:latin typeface="Times New Roman"/>
              <a:cs typeface="Times New Roman"/>
            </a:endParaRPr>
          </a:p>
          <a:p>
            <a:pPr marL="457200" lvl="1" indent="-109855">
              <a:lnSpc>
                <a:spcPct val="100000"/>
              </a:lnSpc>
              <a:spcBef>
                <a:spcPts val="295"/>
              </a:spcBef>
              <a:buClr>
                <a:srgbClr val="3E762B"/>
              </a:buClr>
              <a:buFont typeface="Arial MT"/>
              <a:buChar char="•"/>
              <a:tabLst>
                <a:tab pos="457200" algn="l"/>
              </a:tabLst>
            </a:pPr>
            <a:r>
              <a:rPr sz="1200" b="1" dirty="0">
                <a:solidFill>
                  <a:srgbClr val="FF0000"/>
                </a:solidFill>
                <a:latin typeface="Times New Roman"/>
                <a:cs typeface="Times New Roman"/>
              </a:rPr>
              <a:t>Example</a:t>
            </a:r>
            <a:r>
              <a:rPr sz="1200" b="1" spc="-20" dirty="0">
                <a:solidFill>
                  <a:srgbClr val="FF0000"/>
                </a:solidFill>
                <a:latin typeface="Times New Roman"/>
                <a:cs typeface="Times New Roman"/>
              </a:rPr>
              <a:t> </a:t>
            </a:r>
            <a:r>
              <a:rPr sz="1200" b="1" spc="-10" dirty="0">
                <a:solidFill>
                  <a:srgbClr val="FF0000"/>
                </a:solidFill>
                <a:latin typeface="Times New Roman"/>
                <a:cs typeface="Times New Roman"/>
              </a:rPr>
              <a:t>architectures </a:t>
            </a:r>
            <a:r>
              <a:rPr sz="1200" b="1" dirty="0">
                <a:solidFill>
                  <a:srgbClr val="FF0000"/>
                </a:solidFill>
                <a:latin typeface="Times New Roman"/>
                <a:cs typeface="Times New Roman"/>
              </a:rPr>
              <a:t>(e.g.</a:t>
            </a:r>
            <a:r>
              <a:rPr sz="1200" b="1" spc="-15" dirty="0">
                <a:solidFill>
                  <a:srgbClr val="FF0000"/>
                </a:solidFill>
                <a:latin typeface="Times New Roman"/>
                <a:cs typeface="Times New Roman"/>
              </a:rPr>
              <a:t> </a:t>
            </a:r>
            <a:r>
              <a:rPr sz="1200" b="1" dirty="0">
                <a:solidFill>
                  <a:srgbClr val="FF0000"/>
                </a:solidFill>
                <a:latin typeface="Times New Roman"/>
                <a:cs typeface="Times New Roman"/>
              </a:rPr>
              <a:t>CISC,</a:t>
            </a:r>
            <a:r>
              <a:rPr sz="1200" b="1" spc="-15" dirty="0">
                <a:solidFill>
                  <a:srgbClr val="FF0000"/>
                </a:solidFill>
                <a:latin typeface="Times New Roman"/>
                <a:cs typeface="Times New Roman"/>
              </a:rPr>
              <a:t> </a:t>
            </a:r>
            <a:r>
              <a:rPr sz="1200" b="1" spc="-10" dirty="0">
                <a:solidFill>
                  <a:srgbClr val="FF0000"/>
                </a:solidFill>
                <a:latin typeface="Times New Roman"/>
                <a:cs typeface="Times New Roman"/>
              </a:rPr>
              <a:t>RISC)</a:t>
            </a:r>
            <a:endParaRPr sz="1200">
              <a:latin typeface="Times New Roman"/>
              <a:cs typeface="Times New Roman"/>
            </a:endParaRPr>
          </a:p>
          <a:p>
            <a:pPr marL="168275" indent="-168275">
              <a:lnSpc>
                <a:spcPct val="100000"/>
              </a:lnSpc>
              <a:spcBef>
                <a:spcPts val="900"/>
              </a:spcBef>
              <a:buClr>
                <a:srgbClr val="3E762B"/>
              </a:buClr>
              <a:buFont typeface="Wingdings"/>
              <a:buChar char=""/>
              <a:tabLst>
                <a:tab pos="168275" algn="l"/>
              </a:tabLst>
            </a:pPr>
            <a:r>
              <a:rPr sz="1200" b="1" dirty="0">
                <a:latin typeface="Times New Roman"/>
                <a:cs typeface="Times New Roman"/>
              </a:rPr>
              <a:t>Timing,</a:t>
            </a:r>
            <a:r>
              <a:rPr sz="1200" b="1" spc="-40" dirty="0">
                <a:latin typeface="Times New Roman"/>
                <a:cs typeface="Times New Roman"/>
              </a:rPr>
              <a:t> </a:t>
            </a:r>
            <a:r>
              <a:rPr sz="1200" b="1" dirty="0">
                <a:latin typeface="Times New Roman"/>
                <a:cs typeface="Times New Roman"/>
              </a:rPr>
              <a:t>Clock</a:t>
            </a:r>
            <a:r>
              <a:rPr sz="1200" b="1" spc="-35" dirty="0">
                <a:latin typeface="Times New Roman"/>
                <a:cs typeface="Times New Roman"/>
              </a:rPr>
              <a:t> </a:t>
            </a:r>
            <a:r>
              <a:rPr sz="1200" b="1" dirty="0">
                <a:latin typeface="Times New Roman"/>
                <a:cs typeface="Times New Roman"/>
              </a:rPr>
              <a:t>Parameters,</a:t>
            </a:r>
            <a:r>
              <a:rPr sz="1200" b="1" spc="5" dirty="0">
                <a:latin typeface="Times New Roman"/>
                <a:cs typeface="Times New Roman"/>
              </a:rPr>
              <a:t> </a:t>
            </a:r>
            <a:r>
              <a:rPr sz="1200" b="1" dirty="0">
                <a:latin typeface="Times New Roman"/>
                <a:cs typeface="Times New Roman"/>
              </a:rPr>
              <a:t>and</a:t>
            </a:r>
            <a:r>
              <a:rPr sz="1200" b="1" spc="-45" dirty="0">
                <a:latin typeface="Times New Roman"/>
                <a:cs typeface="Times New Roman"/>
              </a:rPr>
              <a:t> </a:t>
            </a:r>
            <a:r>
              <a:rPr sz="1200" b="1" spc="-10" dirty="0">
                <a:latin typeface="Times New Roman"/>
                <a:cs typeface="Times New Roman"/>
              </a:rPr>
              <a:t>Processor</a:t>
            </a:r>
            <a:r>
              <a:rPr sz="1200" b="1" spc="-35" dirty="0">
                <a:latin typeface="Times New Roman"/>
                <a:cs typeface="Times New Roman"/>
              </a:rPr>
              <a:t> </a:t>
            </a:r>
            <a:r>
              <a:rPr sz="1200" b="1" spc="-10" dirty="0">
                <a:latin typeface="Times New Roman"/>
                <a:cs typeface="Times New Roman"/>
              </a:rPr>
              <a:t>Performance</a:t>
            </a:r>
            <a:endParaRPr sz="1200">
              <a:latin typeface="Times New Roman"/>
              <a:cs typeface="Times New Roman"/>
            </a:endParaRPr>
          </a:p>
          <a:p>
            <a:pPr marL="168275" indent="-168275">
              <a:lnSpc>
                <a:spcPct val="100000"/>
              </a:lnSpc>
              <a:spcBef>
                <a:spcPts val="700"/>
              </a:spcBef>
              <a:buClr>
                <a:srgbClr val="3E762B"/>
              </a:buClr>
              <a:buFont typeface="Wingdings"/>
              <a:buChar char=""/>
              <a:tabLst>
                <a:tab pos="168275" algn="l"/>
              </a:tabLst>
            </a:pPr>
            <a:r>
              <a:rPr sz="1200" b="1" dirty="0">
                <a:latin typeface="Times New Roman"/>
                <a:cs typeface="Times New Roman"/>
              </a:rPr>
              <a:t>Memory</a:t>
            </a:r>
            <a:r>
              <a:rPr sz="1200" b="1" spc="-55" dirty="0">
                <a:latin typeface="Times New Roman"/>
                <a:cs typeface="Times New Roman"/>
              </a:rPr>
              <a:t> </a:t>
            </a:r>
            <a:r>
              <a:rPr sz="1200" b="1" spc="-10" dirty="0">
                <a:latin typeface="Times New Roman"/>
                <a:cs typeface="Times New Roman"/>
              </a:rPr>
              <a:t>Hierarchy</a:t>
            </a:r>
            <a:endParaRPr sz="1200">
              <a:latin typeface="Times New Roman"/>
              <a:cs typeface="Times New Roman"/>
            </a:endParaRPr>
          </a:p>
          <a:p>
            <a:pPr marL="457200" lvl="1" indent="-109855">
              <a:lnSpc>
                <a:spcPct val="100000"/>
              </a:lnSpc>
              <a:spcBef>
                <a:spcPts val="105"/>
              </a:spcBef>
              <a:buClr>
                <a:srgbClr val="3E762B"/>
              </a:buClr>
              <a:buFont typeface="Arial MT"/>
              <a:buChar char="•"/>
              <a:tabLst>
                <a:tab pos="457200" algn="l"/>
              </a:tabLst>
            </a:pPr>
            <a:r>
              <a:rPr sz="1200" dirty="0">
                <a:latin typeface="Times New Roman"/>
                <a:cs typeface="Times New Roman"/>
              </a:rPr>
              <a:t>Main</a:t>
            </a:r>
            <a:r>
              <a:rPr sz="1200" spc="-35"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a:p>
            <a:pPr marL="457200" lvl="1" indent="-109855">
              <a:lnSpc>
                <a:spcPct val="100000"/>
              </a:lnSpc>
              <a:spcBef>
                <a:spcPts val="300"/>
              </a:spcBef>
              <a:buClr>
                <a:srgbClr val="3E762B"/>
              </a:buClr>
              <a:buFont typeface="Arial MT"/>
              <a:buChar char="•"/>
              <a:tabLst>
                <a:tab pos="457200" algn="l"/>
              </a:tabLst>
            </a:pPr>
            <a:r>
              <a:rPr sz="1200" dirty="0">
                <a:latin typeface="Times New Roman"/>
                <a:cs typeface="Times New Roman"/>
              </a:rPr>
              <a:t>Cache</a:t>
            </a:r>
            <a:r>
              <a:rPr sz="1200" spc="-40"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a:p>
            <a:pPr marL="457200" lvl="1" indent="-109855">
              <a:lnSpc>
                <a:spcPct val="100000"/>
              </a:lnSpc>
              <a:spcBef>
                <a:spcPts val="300"/>
              </a:spcBef>
              <a:buClr>
                <a:srgbClr val="3E762B"/>
              </a:buClr>
              <a:buFont typeface="Arial MT"/>
              <a:buChar char="•"/>
              <a:tabLst>
                <a:tab pos="457200" algn="l"/>
              </a:tabLst>
            </a:pP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p:txBody>
      </p:sp>
      <p:sp>
        <p:nvSpPr>
          <p:cNvPr id="11" name="object 11"/>
          <p:cNvSpPr txBox="1"/>
          <p:nvPr/>
        </p:nvSpPr>
        <p:spPr>
          <a:xfrm>
            <a:off x="6168516" y="7986166"/>
            <a:ext cx="52069" cy="116839"/>
          </a:xfrm>
          <a:prstGeom prst="rect">
            <a:avLst/>
          </a:prstGeom>
        </p:spPr>
        <p:txBody>
          <a:bodyPr vert="horz" wrap="square" lIns="0" tIns="12700" rIns="0" bIns="0" rtlCol="0">
            <a:spAutoFit/>
          </a:bodyPr>
          <a:lstStyle/>
          <a:p>
            <a:pPr>
              <a:lnSpc>
                <a:spcPct val="100000"/>
              </a:lnSpc>
              <a:spcBef>
                <a:spcPts val="100"/>
              </a:spcBef>
            </a:pPr>
            <a:r>
              <a:rPr sz="600" spc="-50" dirty="0">
                <a:solidFill>
                  <a:srgbClr val="539E39"/>
                </a:solidFill>
                <a:latin typeface="Corbel"/>
                <a:cs typeface="Corbel"/>
              </a:rPr>
              <a:t>2</a:t>
            </a:r>
            <a:endParaRPr sz="600">
              <a:latin typeface="Corbel"/>
              <a:cs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p:nvPr/>
        </p:nvSpPr>
        <p:spPr>
          <a:xfrm>
            <a:off x="496823" y="990600"/>
            <a:ext cx="5862955" cy="3188335"/>
          </a:xfrm>
          <a:prstGeom prst="rect">
            <a:avLst/>
          </a:prstGeom>
          <a:ln w="6096">
            <a:solidFill>
              <a:srgbClr val="FFFFFF"/>
            </a:solidFill>
          </a:ln>
        </p:spPr>
        <p:txBody>
          <a:bodyPr vert="horz" wrap="square" lIns="0" tIns="243840" rIns="0" bIns="0" rtlCol="0">
            <a:spAutoFit/>
          </a:bodyPr>
          <a:lstStyle/>
          <a:p>
            <a:pPr>
              <a:lnSpc>
                <a:spcPct val="100000"/>
              </a:lnSpc>
              <a:spcBef>
                <a:spcPts val="1920"/>
              </a:spcBef>
            </a:pPr>
            <a:endParaRPr sz="3600">
              <a:latin typeface="Times New Roman"/>
              <a:cs typeface="Times New Roman"/>
            </a:endParaRPr>
          </a:p>
          <a:p>
            <a:pPr marL="826769" marR="859155" indent="1266190">
              <a:lnSpc>
                <a:spcPts val="3670"/>
              </a:lnSpc>
            </a:pPr>
            <a:r>
              <a:rPr sz="3600" b="1" dirty="0">
                <a:solidFill>
                  <a:srgbClr val="FFFFFF"/>
                </a:solidFill>
                <a:latin typeface="Times New Roman"/>
                <a:cs typeface="Times New Roman"/>
              </a:rPr>
              <a:t>Flags</a:t>
            </a:r>
            <a:r>
              <a:rPr sz="3600" b="1" spc="200" dirty="0">
                <a:solidFill>
                  <a:srgbClr val="FFFFFF"/>
                </a:solidFill>
                <a:latin typeface="Times New Roman"/>
                <a:cs typeface="Times New Roman"/>
              </a:rPr>
              <a:t> </a:t>
            </a:r>
            <a:r>
              <a:rPr sz="3600" b="1" spc="-25" dirty="0">
                <a:solidFill>
                  <a:srgbClr val="FFFFFF"/>
                </a:solidFill>
                <a:latin typeface="Times New Roman"/>
                <a:cs typeface="Times New Roman"/>
              </a:rPr>
              <a:t>of </a:t>
            </a:r>
            <a:r>
              <a:rPr sz="3600" b="1" dirty="0">
                <a:solidFill>
                  <a:srgbClr val="FFFFFF"/>
                </a:solidFill>
                <a:latin typeface="Times New Roman"/>
                <a:cs typeface="Times New Roman"/>
              </a:rPr>
              <a:t>Signed</a:t>
            </a:r>
            <a:r>
              <a:rPr sz="3600" b="1" spc="-45" dirty="0">
                <a:solidFill>
                  <a:srgbClr val="FFFFFF"/>
                </a:solidFill>
                <a:latin typeface="Times New Roman"/>
                <a:cs typeface="Times New Roman"/>
              </a:rPr>
              <a:t> </a:t>
            </a:r>
            <a:r>
              <a:rPr sz="3600" b="1" dirty="0">
                <a:solidFill>
                  <a:srgbClr val="FFFFFF"/>
                </a:solidFill>
                <a:latin typeface="Times New Roman"/>
                <a:cs typeface="Times New Roman"/>
              </a:rPr>
              <a:t>and</a:t>
            </a:r>
            <a:r>
              <a:rPr sz="3600" b="1" spc="-50" dirty="0">
                <a:solidFill>
                  <a:srgbClr val="FFFFFF"/>
                </a:solidFill>
                <a:latin typeface="Times New Roman"/>
                <a:cs typeface="Times New Roman"/>
              </a:rPr>
              <a:t> </a:t>
            </a:r>
            <a:r>
              <a:rPr sz="3600" b="1" spc="-10" dirty="0">
                <a:solidFill>
                  <a:srgbClr val="FFFFFF"/>
                </a:solidFill>
                <a:latin typeface="Times New Roman"/>
                <a:cs typeface="Times New Roman"/>
              </a:rPr>
              <a:t>Unsigned</a:t>
            </a:r>
            <a:endParaRPr sz="3600">
              <a:latin typeface="Times New Roman"/>
              <a:cs typeface="Times New Roman"/>
            </a:endParaRPr>
          </a:p>
          <a:p>
            <a:pPr marL="2057400">
              <a:lnSpc>
                <a:spcPts val="3660"/>
              </a:lnSpc>
            </a:pPr>
            <a:r>
              <a:rPr sz="3600" b="1" spc="-10" dirty="0">
                <a:solidFill>
                  <a:srgbClr val="FFFFFF"/>
                </a:solidFill>
                <a:latin typeface="Times New Roman"/>
                <a:cs typeface="Times New Roman"/>
              </a:rPr>
              <a:t>numbers</a:t>
            </a:r>
            <a:endParaRPr sz="3600">
              <a:latin typeface="Times New Roman"/>
              <a:cs typeface="Times New Roman"/>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Signed</a:t>
            </a:r>
            <a:r>
              <a:rPr sz="2200" spc="-80" dirty="0">
                <a:latin typeface="Georgia"/>
                <a:cs typeface="Georgia"/>
              </a:rPr>
              <a:t> </a:t>
            </a:r>
            <a:r>
              <a:rPr sz="2200" spc="-10" dirty="0">
                <a:latin typeface="Georgia"/>
                <a:cs typeface="Georgia"/>
              </a:rPr>
              <a:t>numbers</a:t>
            </a:r>
            <a:endParaRPr sz="2200">
              <a:latin typeface="Georgia"/>
              <a:cs typeface="Georgia"/>
            </a:endParaRPr>
          </a:p>
          <a:p>
            <a:pPr marL="407670" indent="-145415">
              <a:lnSpc>
                <a:spcPts val="1370"/>
              </a:lnSpc>
              <a:spcBef>
                <a:spcPts val="2225"/>
              </a:spcBef>
              <a:buClr>
                <a:srgbClr val="3E762B"/>
              </a:buClr>
              <a:buFont typeface="Wingdings"/>
              <a:buChar char=""/>
              <a:tabLst>
                <a:tab pos="407670" algn="l"/>
              </a:tabLst>
            </a:pP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relative</a:t>
            </a:r>
            <a:r>
              <a:rPr sz="1200" spc="-30" dirty="0">
                <a:latin typeface="Times New Roman"/>
                <a:cs typeface="Times New Roman"/>
              </a:rPr>
              <a:t> </a:t>
            </a:r>
            <a:r>
              <a:rPr sz="1200" dirty="0">
                <a:latin typeface="Times New Roman"/>
                <a:cs typeface="Times New Roman"/>
              </a:rPr>
              <a:t>magnitude</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two</a:t>
            </a:r>
            <a:r>
              <a:rPr sz="1200" spc="-35" dirty="0">
                <a:latin typeface="Times New Roman"/>
                <a:cs typeface="Times New Roman"/>
              </a:rPr>
              <a:t> </a:t>
            </a:r>
            <a:r>
              <a:rPr sz="1200" dirty="0">
                <a:latin typeface="Times New Roman"/>
                <a:cs typeface="Times New Roman"/>
              </a:rPr>
              <a:t>signed</a:t>
            </a:r>
            <a:r>
              <a:rPr sz="1200" spc="-20" dirty="0">
                <a:latin typeface="Times New Roman"/>
                <a:cs typeface="Times New Roman"/>
              </a:rPr>
              <a:t> </a:t>
            </a:r>
            <a:r>
              <a:rPr sz="1200" dirty="0">
                <a:latin typeface="Times New Roman"/>
                <a:cs typeface="Times New Roman"/>
              </a:rPr>
              <a:t>numbers</a:t>
            </a:r>
            <a:r>
              <a:rPr sz="1200" spc="-3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dirty="0">
                <a:latin typeface="Times New Roman"/>
                <a:cs typeface="Times New Roman"/>
              </a:rPr>
              <a:t>determined</a:t>
            </a:r>
            <a:r>
              <a:rPr sz="1200" spc="-30" dirty="0">
                <a:latin typeface="Times New Roman"/>
                <a:cs typeface="Times New Roman"/>
              </a:rPr>
              <a:t> </a:t>
            </a:r>
            <a:r>
              <a:rPr sz="1200" dirty="0">
                <a:latin typeface="Times New Roman"/>
                <a:cs typeface="Times New Roman"/>
              </a:rPr>
              <a:t>from</a:t>
            </a:r>
            <a:r>
              <a:rPr sz="1200" spc="-35"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408940">
              <a:lnSpc>
                <a:spcPts val="1370"/>
              </a:lnSpc>
            </a:pPr>
            <a:r>
              <a:rPr sz="1200" b="1" dirty="0">
                <a:latin typeface="Times New Roman"/>
                <a:cs typeface="Times New Roman"/>
              </a:rPr>
              <a:t>values</a:t>
            </a:r>
            <a:r>
              <a:rPr sz="1200" b="1" spc="-10" dirty="0">
                <a:latin typeface="Times New Roman"/>
                <a:cs typeface="Times New Roman"/>
              </a:rPr>
              <a:t> </a:t>
            </a:r>
            <a:r>
              <a:rPr sz="1200" b="1" dirty="0">
                <a:latin typeface="Times New Roman"/>
                <a:cs typeface="Times New Roman"/>
              </a:rPr>
              <a:t>of</a:t>
            </a:r>
            <a:r>
              <a:rPr sz="1200" b="1" spc="-5" dirty="0">
                <a:latin typeface="Times New Roman"/>
                <a:cs typeface="Times New Roman"/>
              </a:rPr>
              <a:t> </a:t>
            </a:r>
            <a:r>
              <a:rPr sz="1200" b="1" dirty="0">
                <a:latin typeface="Times New Roman"/>
                <a:cs typeface="Times New Roman"/>
              </a:rPr>
              <a:t>S,</a:t>
            </a:r>
            <a:r>
              <a:rPr sz="1200" b="1" spc="-30" dirty="0">
                <a:latin typeface="Times New Roman"/>
                <a:cs typeface="Times New Roman"/>
              </a:rPr>
              <a:t> </a:t>
            </a:r>
            <a:r>
              <a:rPr sz="1200" b="1" spc="-80" dirty="0">
                <a:latin typeface="Times New Roman"/>
                <a:cs typeface="Times New Roman"/>
              </a:rPr>
              <a:t>V,</a:t>
            </a:r>
            <a:r>
              <a:rPr sz="1200" b="1" dirty="0">
                <a:latin typeface="Times New Roman"/>
                <a:cs typeface="Times New Roman"/>
              </a:rPr>
              <a:t> and</a:t>
            </a:r>
            <a:r>
              <a:rPr sz="1200" b="1" spc="-5" dirty="0">
                <a:latin typeface="Times New Roman"/>
                <a:cs typeface="Times New Roman"/>
              </a:rPr>
              <a:t> </a:t>
            </a:r>
            <a:r>
              <a:rPr sz="1200" b="1" spc="-25" dirty="0">
                <a:latin typeface="Times New Roman"/>
                <a:cs typeface="Times New Roman"/>
              </a:rPr>
              <a:t>Z</a:t>
            </a:r>
            <a:r>
              <a:rPr sz="1200" spc="-25" dirty="0">
                <a:latin typeface="Times New Roman"/>
                <a:cs typeface="Times New Roman"/>
              </a:rPr>
              <a:t>.</a:t>
            </a:r>
            <a:endParaRPr sz="1200">
              <a:latin typeface="Times New Roman"/>
              <a:cs typeface="Times New Roman"/>
            </a:endParaRPr>
          </a:p>
          <a:p>
            <a:pPr>
              <a:lnSpc>
                <a:spcPct val="100000"/>
              </a:lnSpc>
              <a:spcBef>
                <a:spcPts val="1175"/>
              </a:spcBef>
            </a:pPr>
            <a:endParaRPr sz="1200">
              <a:latin typeface="Times New Roman"/>
              <a:cs typeface="Times New Roman"/>
            </a:endParaRPr>
          </a:p>
          <a:p>
            <a:pPr marL="408305" indent="-146050">
              <a:lnSpc>
                <a:spcPts val="1370"/>
              </a:lnSpc>
              <a:buClr>
                <a:srgbClr val="3E762B"/>
              </a:buClr>
              <a:buFont typeface="Wingdings"/>
              <a:buChar char=""/>
              <a:tabLst>
                <a:tab pos="408305" algn="l"/>
              </a:tabLst>
            </a:pPr>
            <a:r>
              <a:rPr sz="1200" b="1" dirty="0">
                <a:latin typeface="Times New Roman"/>
                <a:cs typeface="Times New Roman"/>
              </a:rPr>
              <a:t>With</a:t>
            </a:r>
            <a:r>
              <a:rPr sz="1200" b="1" spc="-30" dirty="0">
                <a:latin typeface="Times New Roman"/>
                <a:cs typeface="Times New Roman"/>
              </a:rPr>
              <a:t> </a:t>
            </a:r>
            <a:r>
              <a:rPr sz="1200" b="1" dirty="0">
                <a:latin typeface="Times New Roman"/>
                <a:cs typeface="Times New Roman"/>
              </a:rPr>
              <a:t>V</a:t>
            </a:r>
            <a:r>
              <a:rPr sz="1200" b="1" spc="-25" dirty="0">
                <a:latin typeface="Times New Roman"/>
                <a:cs typeface="Times New Roman"/>
              </a:rPr>
              <a:t> </a:t>
            </a:r>
            <a:r>
              <a:rPr sz="1200" b="1" dirty="0">
                <a:latin typeface="Times New Roman"/>
                <a:cs typeface="Times New Roman"/>
              </a:rPr>
              <a:t>=</a:t>
            </a:r>
            <a:r>
              <a:rPr sz="1200" b="1" spc="-20" dirty="0">
                <a:latin typeface="Times New Roman"/>
                <a:cs typeface="Times New Roman"/>
              </a:rPr>
              <a:t> </a:t>
            </a:r>
            <a:r>
              <a:rPr sz="1200" b="1" dirty="0">
                <a:latin typeface="Times New Roman"/>
                <a:cs typeface="Times New Roman"/>
              </a:rPr>
              <a:t>0,</a:t>
            </a:r>
            <a:r>
              <a:rPr sz="1200" b="1" spc="-5" dirty="0">
                <a:latin typeface="Times New Roman"/>
                <a:cs typeface="Times New Roman"/>
              </a:rPr>
              <a:t> </a:t>
            </a:r>
            <a:r>
              <a:rPr sz="1200" b="1" dirty="0">
                <a:latin typeface="Times New Roman"/>
                <a:cs typeface="Times New Roman"/>
              </a:rPr>
              <a:t>if</a:t>
            </a:r>
            <a:r>
              <a:rPr sz="1200" b="1" spc="-15" dirty="0">
                <a:latin typeface="Times New Roman"/>
                <a:cs typeface="Times New Roman"/>
              </a:rPr>
              <a:t> </a:t>
            </a:r>
            <a:r>
              <a:rPr sz="1200" b="1" dirty="0">
                <a:latin typeface="Times New Roman"/>
                <a:cs typeface="Times New Roman"/>
              </a:rPr>
              <a:t>S</a:t>
            </a:r>
            <a:r>
              <a:rPr sz="1200" b="1" spc="-5"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dirty="0">
                <a:latin typeface="Times New Roman"/>
                <a:cs typeface="Times New Roman"/>
              </a:rPr>
              <a:t>0</a:t>
            </a:r>
            <a:r>
              <a:rPr sz="1200" b="1" spc="-10" dirty="0">
                <a:latin typeface="Times New Roman"/>
                <a:cs typeface="Times New Roman"/>
              </a:rPr>
              <a:t> </a:t>
            </a:r>
            <a:r>
              <a:rPr sz="1200" b="1" dirty="0">
                <a:latin typeface="Times New Roman"/>
                <a:cs typeface="Times New Roman"/>
              </a:rPr>
              <a:t>(A</a:t>
            </a:r>
            <a:r>
              <a:rPr sz="1200" b="1" spc="-70" dirty="0">
                <a:latin typeface="Times New Roman"/>
                <a:cs typeface="Times New Roman"/>
              </a:rPr>
              <a:t> </a:t>
            </a:r>
            <a:r>
              <a:rPr sz="1200" b="1" dirty="0">
                <a:latin typeface="Times New Roman"/>
                <a:cs typeface="Times New Roman"/>
              </a:rPr>
              <a:t>&gt;</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dirty="0">
                <a:latin typeface="Times New Roman"/>
                <a:cs typeface="Times New Roman"/>
              </a:rPr>
              <a:t>if</a:t>
            </a:r>
            <a:r>
              <a:rPr sz="1200" b="1" spc="-10" dirty="0">
                <a:latin typeface="Times New Roman"/>
                <a:cs typeface="Times New Roman"/>
              </a:rPr>
              <a:t> </a:t>
            </a:r>
            <a:r>
              <a:rPr sz="1200" b="1" dirty="0">
                <a:latin typeface="Times New Roman"/>
                <a:cs typeface="Times New Roman"/>
              </a:rPr>
              <a:t>S</a:t>
            </a:r>
            <a:r>
              <a:rPr sz="1200" b="1" spc="-5"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dirty="0">
                <a:latin typeface="Times New Roman"/>
                <a:cs typeface="Times New Roman"/>
              </a:rPr>
              <a:t>1</a:t>
            </a:r>
            <a:r>
              <a:rPr sz="1200" b="1" spc="-5" dirty="0">
                <a:latin typeface="Times New Roman"/>
                <a:cs typeface="Times New Roman"/>
              </a:rPr>
              <a:t> </a:t>
            </a:r>
            <a:r>
              <a:rPr sz="1200" b="1" dirty="0">
                <a:latin typeface="Times New Roman"/>
                <a:cs typeface="Times New Roman"/>
              </a:rPr>
              <a:t>(A</a:t>
            </a:r>
            <a:r>
              <a:rPr sz="1200" b="1" spc="-75" dirty="0">
                <a:latin typeface="Times New Roman"/>
                <a:cs typeface="Times New Roman"/>
              </a:rPr>
              <a:t> </a:t>
            </a:r>
            <a:r>
              <a:rPr sz="1200" b="1" dirty="0">
                <a:latin typeface="Times New Roman"/>
                <a:cs typeface="Times New Roman"/>
              </a:rPr>
              <a:t>&lt;</a:t>
            </a:r>
            <a:r>
              <a:rPr sz="1200" b="1" spc="-5" dirty="0">
                <a:latin typeface="Times New Roman"/>
                <a:cs typeface="Times New Roman"/>
              </a:rPr>
              <a:t> </a:t>
            </a:r>
            <a:r>
              <a:rPr sz="1200" b="1" spc="-25" dirty="0">
                <a:latin typeface="Times New Roman"/>
                <a:cs typeface="Times New Roman"/>
              </a:rPr>
              <a:t>B)</a:t>
            </a:r>
            <a:endParaRPr sz="1200">
              <a:latin typeface="Times New Roman"/>
              <a:cs typeface="Times New Roman"/>
            </a:endParaRPr>
          </a:p>
          <a:p>
            <a:pPr marL="408940" marR="4231005">
              <a:lnSpc>
                <a:spcPts val="1300"/>
              </a:lnSpc>
              <a:spcBef>
                <a:spcPts val="90"/>
              </a:spcBef>
            </a:pPr>
            <a:r>
              <a:rPr sz="1200" b="1" dirty="0">
                <a:latin typeface="Times New Roman"/>
                <a:cs typeface="Times New Roman"/>
              </a:rPr>
              <a:t>with</a:t>
            </a:r>
            <a:r>
              <a:rPr sz="1200" b="1" spc="260" dirty="0">
                <a:latin typeface="Times New Roman"/>
                <a:cs typeface="Times New Roman"/>
              </a:rPr>
              <a:t> </a:t>
            </a:r>
            <a:r>
              <a:rPr sz="1200" b="1" dirty="0">
                <a:latin typeface="Times New Roman"/>
                <a:cs typeface="Times New Roman"/>
              </a:rPr>
              <a:t>V</a:t>
            </a:r>
            <a:r>
              <a:rPr sz="1200" b="1" spc="-20" dirty="0">
                <a:latin typeface="Times New Roman"/>
                <a:cs typeface="Times New Roman"/>
              </a:rPr>
              <a:t> </a:t>
            </a:r>
            <a:r>
              <a:rPr sz="1200" b="1" dirty="0">
                <a:latin typeface="Times New Roman"/>
                <a:cs typeface="Times New Roman"/>
              </a:rPr>
              <a:t>= 1 </a:t>
            </a:r>
            <a:r>
              <a:rPr sz="1200" b="1" spc="-20" dirty="0">
                <a:latin typeface="Times New Roman"/>
                <a:cs typeface="Times New Roman"/>
              </a:rPr>
              <a:t>reverse </a:t>
            </a:r>
            <a:r>
              <a:rPr sz="1200" b="1" dirty="0">
                <a:latin typeface="Times New Roman"/>
                <a:cs typeface="Times New Roman"/>
              </a:rPr>
              <a:t>Z</a:t>
            </a:r>
            <a:r>
              <a:rPr sz="1200" b="1" spc="-10" dirty="0">
                <a:latin typeface="Times New Roman"/>
                <a:cs typeface="Times New Roman"/>
              </a:rPr>
              <a:t> </a:t>
            </a:r>
            <a:r>
              <a:rPr sz="1200" b="1" dirty="0">
                <a:latin typeface="Times New Roman"/>
                <a:cs typeface="Times New Roman"/>
              </a:rPr>
              <a:t>=1</a:t>
            </a:r>
            <a:r>
              <a:rPr sz="1200" b="1" spc="-20" dirty="0">
                <a:latin typeface="Times New Roman"/>
                <a:cs typeface="Times New Roman"/>
              </a:rPr>
              <a:t> </a:t>
            </a:r>
            <a:r>
              <a:rPr sz="1200" b="1" spc="-10" dirty="0">
                <a:latin typeface="Times New Roman"/>
                <a:cs typeface="Times New Roman"/>
              </a:rPr>
              <a:t>(equal)</a:t>
            </a:r>
            <a:endParaRPr sz="12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Unsigned</a:t>
            </a:r>
            <a:r>
              <a:rPr sz="2200" spc="-125" dirty="0">
                <a:latin typeface="Georgia"/>
                <a:cs typeface="Georgia"/>
              </a:rPr>
              <a:t> </a:t>
            </a:r>
            <a:r>
              <a:rPr sz="2200" spc="-10" dirty="0">
                <a:latin typeface="Georgia"/>
                <a:cs typeface="Georgia"/>
              </a:rPr>
              <a:t>numbers</a:t>
            </a:r>
            <a:endParaRPr sz="2200">
              <a:latin typeface="Georgia"/>
              <a:cs typeface="Georgia"/>
            </a:endParaRPr>
          </a:p>
          <a:p>
            <a:pPr marL="407670" marR="828040" indent="-145415">
              <a:lnSpc>
                <a:spcPts val="1300"/>
              </a:lnSpc>
              <a:spcBef>
                <a:spcPts val="2385"/>
              </a:spcBef>
              <a:buClr>
                <a:srgbClr val="3E762B"/>
              </a:buClr>
              <a:buFont typeface="Wingdings"/>
              <a:buChar char=""/>
              <a:tabLst>
                <a:tab pos="408940" algn="l"/>
              </a:tabLst>
            </a:pP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relative</a:t>
            </a:r>
            <a:r>
              <a:rPr sz="1200" spc="-35" dirty="0">
                <a:latin typeface="Times New Roman"/>
                <a:cs typeface="Times New Roman"/>
              </a:rPr>
              <a:t> </a:t>
            </a:r>
            <a:r>
              <a:rPr sz="1200" dirty="0">
                <a:latin typeface="Times New Roman"/>
                <a:cs typeface="Times New Roman"/>
              </a:rPr>
              <a:t>magnitude</a:t>
            </a:r>
            <a:r>
              <a:rPr sz="1200" spc="-2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two</a:t>
            </a:r>
            <a:r>
              <a:rPr sz="1200" spc="-35" dirty="0">
                <a:latin typeface="Times New Roman"/>
                <a:cs typeface="Times New Roman"/>
              </a:rPr>
              <a:t> </a:t>
            </a:r>
            <a:r>
              <a:rPr sz="1200" dirty="0">
                <a:latin typeface="Times New Roman"/>
                <a:cs typeface="Times New Roman"/>
              </a:rPr>
              <a:t>unsigned</a:t>
            </a:r>
            <a:r>
              <a:rPr sz="1200" spc="-25" dirty="0">
                <a:latin typeface="Times New Roman"/>
                <a:cs typeface="Times New Roman"/>
              </a:rPr>
              <a:t> </a:t>
            </a:r>
            <a:r>
              <a:rPr sz="1200" dirty="0">
                <a:latin typeface="Times New Roman"/>
                <a:cs typeface="Times New Roman"/>
              </a:rPr>
              <a:t>numbers</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be</a:t>
            </a:r>
            <a:r>
              <a:rPr sz="1200" spc="-40" dirty="0">
                <a:latin typeface="Times New Roman"/>
                <a:cs typeface="Times New Roman"/>
              </a:rPr>
              <a:t> </a:t>
            </a:r>
            <a:r>
              <a:rPr sz="1200" dirty="0">
                <a:latin typeface="Times New Roman"/>
                <a:cs typeface="Times New Roman"/>
              </a:rPr>
              <a:t>determined</a:t>
            </a:r>
            <a:r>
              <a:rPr sz="1200" spc="-35" dirty="0">
                <a:latin typeface="Times New Roman"/>
                <a:cs typeface="Times New Roman"/>
              </a:rPr>
              <a:t> </a:t>
            </a:r>
            <a:r>
              <a:rPr sz="1200" dirty="0">
                <a:latin typeface="Times New Roman"/>
                <a:cs typeface="Times New Roman"/>
              </a:rPr>
              <a:t>(after</a:t>
            </a:r>
            <a:r>
              <a:rPr sz="1200" spc="-25" dirty="0">
                <a:latin typeface="Times New Roman"/>
                <a:cs typeface="Times New Roman"/>
              </a:rPr>
              <a:t> </a:t>
            </a:r>
            <a:r>
              <a:rPr sz="1200" spc="-50" dirty="0">
                <a:latin typeface="Times New Roman"/>
                <a:cs typeface="Times New Roman"/>
              </a:rPr>
              <a:t>a 	</a:t>
            </a:r>
            <a:r>
              <a:rPr sz="1200" dirty="0">
                <a:latin typeface="Times New Roman"/>
                <a:cs typeface="Times New Roman"/>
              </a:rPr>
              <a:t>compare</a:t>
            </a:r>
            <a:r>
              <a:rPr sz="1200" spc="-10" dirty="0">
                <a:latin typeface="Times New Roman"/>
                <a:cs typeface="Times New Roman"/>
              </a:rPr>
              <a:t> instruction)</a:t>
            </a:r>
            <a:r>
              <a:rPr sz="1200" spc="-30" dirty="0">
                <a:latin typeface="Times New Roman"/>
                <a:cs typeface="Times New Roman"/>
              </a:rPr>
              <a:t> </a:t>
            </a:r>
            <a:r>
              <a:rPr sz="1200" dirty="0">
                <a:latin typeface="Times New Roman"/>
                <a:cs typeface="Times New Roman"/>
              </a:rPr>
              <a:t>from</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values</a:t>
            </a:r>
            <a:r>
              <a:rPr sz="1200" spc="-5" dirty="0">
                <a:latin typeface="Times New Roman"/>
                <a:cs typeface="Times New Roman"/>
              </a:rPr>
              <a:t> </a:t>
            </a:r>
            <a:r>
              <a:rPr sz="1200" dirty="0">
                <a:latin typeface="Times New Roman"/>
                <a:cs typeface="Times New Roman"/>
              </a:rPr>
              <a:t>of </a:t>
            </a:r>
            <a:r>
              <a:rPr sz="1200" b="1" dirty="0">
                <a:latin typeface="Times New Roman"/>
                <a:cs typeface="Times New Roman"/>
              </a:rPr>
              <a:t>status</a:t>
            </a:r>
            <a:r>
              <a:rPr sz="1200" b="1" spc="-15" dirty="0">
                <a:latin typeface="Times New Roman"/>
                <a:cs typeface="Times New Roman"/>
              </a:rPr>
              <a:t> </a:t>
            </a:r>
            <a:r>
              <a:rPr sz="1200" b="1" dirty="0">
                <a:latin typeface="Times New Roman"/>
                <a:cs typeface="Times New Roman"/>
              </a:rPr>
              <a:t>bits</a:t>
            </a:r>
            <a:r>
              <a:rPr sz="1200" b="1" spc="-10" dirty="0">
                <a:latin typeface="Times New Roman"/>
                <a:cs typeface="Times New Roman"/>
              </a:rPr>
              <a:t> </a:t>
            </a:r>
            <a:r>
              <a:rPr sz="1200" b="1" dirty="0">
                <a:latin typeface="Times New Roman"/>
                <a:cs typeface="Times New Roman"/>
              </a:rPr>
              <a:t>C</a:t>
            </a:r>
            <a:r>
              <a:rPr sz="1200" b="1" spc="-5" dirty="0">
                <a:latin typeface="Times New Roman"/>
                <a:cs typeface="Times New Roman"/>
              </a:rPr>
              <a:t> </a:t>
            </a:r>
            <a:r>
              <a:rPr sz="1200" b="1" dirty="0">
                <a:latin typeface="Times New Roman"/>
                <a:cs typeface="Times New Roman"/>
              </a:rPr>
              <a:t>and</a:t>
            </a:r>
            <a:r>
              <a:rPr sz="1200" b="1" spc="-25" dirty="0">
                <a:latin typeface="Times New Roman"/>
                <a:cs typeface="Times New Roman"/>
              </a:rPr>
              <a:t> Z</a:t>
            </a:r>
            <a:r>
              <a:rPr sz="1200" spc="-25" dirty="0">
                <a:latin typeface="Times New Roman"/>
                <a:cs typeface="Times New Roman"/>
              </a:rPr>
              <a:t>.</a:t>
            </a:r>
            <a:endParaRPr sz="1200">
              <a:latin typeface="Times New Roman"/>
              <a:cs typeface="Times New Roman"/>
            </a:endParaRPr>
          </a:p>
          <a:p>
            <a:pPr marL="407670" marR="4591050" indent="-145415">
              <a:lnSpc>
                <a:spcPts val="1300"/>
              </a:lnSpc>
              <a:spcBef>
                <a:spcPts val="700"/>
              </a:spcBef>
              <a:buClr>
                <a:srgbClr val="3E762B"/>
              </a:buClr>
              <a:buFont typeface="Wingdings"/>
              <a:buChar char=""/>
              <a:tabLst>
                <a:tab pos="408940" algn="l"/>
              </a:tabLst>
            </a:pPr>
            <a:r>
              <a:rPr sz="1200" b="1" dirty="0">
                <a:latin typeface="Times New Roman"/>
                <a:cs typeface="Times New Roman"/>
              </a:rPr>
              <a:t>C</a:t>
            </a:r>
            <a:r>
              <a:rPr sz="1200" b="1" spc="-5" dirty="0">
                <a:latin typeface="Times New Roman"/>
                <a:cs typeface="Times New Roman"/>
              </a:rPr>
              <a:t> </a:t>
            </a:r>
            <a:r>
              <a:rPr sz="1200" b="1" dirty="0">
                <a:latin typeface="Times New Roman"/>
                <a:cs typeface="Times New Roman"/>
              </a:rPr>
              <a:t>= 1</a:t>
            </a:r>
            <a:r>
              <a:rPr sz="1200" b="1" spc="-5" dirty="0">
                <a:latin typeface="Times New Roman"/>
                <a:cs typeface="Times New Roman"/>
              </a:rPr>
              <a:t> </a:t>
            </a:r>
            <a:r>
              <a:rPr sz="1200" b="1" spc="-10" dirty="0">
                <a:latin typeface="Times New Roman"/>
                <a:cs typeface="Times New Roman"/>
              </a:rPr>
              <a:t>(A</a:t>
            </a:r>
            <a:r>
              <a:rPr sz="1200" b="1" spc="-65" dirty="0">
                <a:latin typeface="Times New Roman"/>
                <a:cs typeface="Times New Roman"/>
              </a:rPr>
              <a:t> </a:t>
            </a:r>
            <a:r>
              <a:rPr sz="1200" b="1" dirty="0">
                <a:latin typeface="Times New Roman"/>
                <a:cs typeface="Times New Roman"/>
              </a:rPr>
              <a:t>&gt; </a:t>
            </a:r>
            <a:r>
              <a:rPr sz="1200" b="1" spc="-25" dirty="0">
                <a:latin typeface="Times New Roman"/>
                <a:cs typeface="Times New Roman"/>
              </a:rPr>
              <a:t>B) 	</a:t>
            </a:r>
            <a:r>
              <a:rPr sz="1200" b="1" dirty="0">
                <a:latin typeface="Times New Roman"/>
                <a:cs typeface="Times New Roman"/>
              </a:rPr>
              <a:t>C</a:t>
            </a:r>
            <a:r>
              <a:rPr sz="1200" b="1" spc="-5" dirty="0">
                <a:latin typeface="Times New Roman"/>
                <a:cs typeface="Times New Roman"/>
              </a:rPr>
              <a:t> </a:t>
            </a:r>
            <a:r>
              <a:rPr sz="1200" b="1" dirty="0">
                <a:latin typeface="Times New Roman"/>
                <a:cs typeface="Times New Roman"/>
              </a:rPr>
              <a:t>= 0</a:t>
            </a:r>
            <a:r>
              <a:rPr sz="1200" b="1" spc="-5" dirty="0">
                <a:latin typeface="Times New Roman"/>
                <a:cs typeface="Times New Roman"/>
              </a:rPr>
              <a:t> </a:t>
            </a:r>
            <a:r>
              <a:rPr sz="1200" b="1" spc="-10" dirty="0">
                <a:latin typeface="Times New Roman"/>
                <a:cs typeface="Times New Roman"/>
              </a:rPr>
              <a:t>(A</a:t>
            </a:r>
            <a:r>
              <a:rPr sz="1200" b="1" spc="-65" dirty="0">
                <a:latin typeface="Times New Roman"/>
                <a:cs typeface="Times New Roman"/>
              </a:rPr>
              <a:t> </a:t>
            </a:r>
            <a:r>
              <a:rPr sz="1200" b="1" dirty="0">
                <a:latin typeface="Times New Roman"/>
                <a:cs typeface="Times New Roman"/>
              </a:rPr>
              <a:t>&lt; </a:t>
            </a:r>
            <a:r>
              <a:rPr sz="1200" b="1" spc="-25" dirty="0">
                <a:latin typeface="Times New Roman"/>
                <a:cs typeface="Times New Roman"/>
              </a:rPr>
              <a:t>B)</a:t>
            </a:r>
            <a:endParaRPr sz="1200">
              <a:latin typeface="Times New Roman"/>
              <a:cs typeface="Times New Roman"/>
            </a:endParaRPr>
          </a:p>
          <a:p>
            <a:pPr marL="408940">
              <a:lnSpc>
                <a:spcPts val="1270"/>
              </a:lnSpc>
            </a:pPr>
            <a:r>
              <a:rPr sz="1200" b="1" dirty="0">
                <a:latin typeface="Times New Roman"/>
                <a:cs typeface="Times New Roman"/>
              </a:rPr>
              <a:t>Z</a:t>
            </a:r>
            <a:r>
              <a:rPr sz="1200" b="1" spc="-10" dirty="0">
                <a:latin typeface="Times New Roman"/>
                <a:cs typeface="Times New Roman"/>
              </a:rPr>
              <a:t> </a:t>
            </a:r>
            <a:r>
              <a:rPr sz="1200" b="1" dirty="0">
                <a:latin typeface="Times New Roman"/>
                <a:cs typeface="Times New Roman"/>
              </a:rPr>
              <a:t>=1</a:t>
            </a:r>
            <a:r>
              <a:rPr sz="1200" b="1" spc="-20" dirty="0">
                <a:latin typeface="Times New Roman"/>
                <a:cs typeface="Times New Roman"/>
              </a:rPr>
              <a:t> </a:t>
            </a:r>
            <a:r>
              <a:rPr sz="1200" b="1" spc="-10" dirty="0">
                <a:latin typeface="Times New Roman"/>
                <a:cs typeface="Times New Roman"/>
              </a:rPr>
              <a:t>(equal)</a:t>
            </a:r>
            <a:endParaRPr sz="12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Arithmetic</a:t>
            </a:r>
            <a:r>
              <a:rPr sz="2200" spc="-95" dirty="0">
                <a:latin typeface="Georgia"/>
                <a:cs typeface="Georgia"/>
              </a:rPr>
              <a:t> </a:t>
            </a:r>
            <a:r>
              <a:rPr sz="2200" spc="-10" dirty="0">
                <a:latin typeface="Georgia"/>
                <a:cs typeface="Georgia"/>
              </a:rPr>
              <a:t>Operations</a:t>
            </a:r>
            <a:r>
              <a:rPr sz="2200" spc="-100" dirty="0">
                <a:latin typeface="Georgia"/>
                <a:cs typeface="Georgia"/>
              </a:rPr>
              <a:t> </a:t>
            </a:r>
            <a:r>
              <a:rPr sz="2200" dirty="0">
                <a:latin typeface="Georgia"/>
                <a:cs typeface="Georgia"/>
              </a:rPr>
              <a:t>(Important</a:t>
            </a:r>
            <a:r>
              <a:rPr sz="2200" spc="-85" dirty="0">
                <a:latin typeface="Georgia"/>
                <a:cs typeface="Georgia"/>
              </a:rPr>
              <a:t> </a:t>
            </a:r>
            <a:r>
              <a:rPr sz="2200" spc="-10" dirty="0">
                <a:latin typeface="Georgia"/>
                <a:cs typeface="Georgia"/>
              </a:rPr>
              <a:t>Note)</a:t>
            </a:r>
            <a:endParaRPr sz="2200">
              <a:latin typeface="Georgia"/>
              <a:cs typeface="Georgia"/>
            </a:endParaRPr>
          </a:p>
          <a:p>
            <a:pPr marL="399415" marR="3943350">
              <a:lnSpc>
                <a:spcPct val="138300"/>
              </a:lnSpc>
              <a:spcBef>
                <a:spcPts val="1095"/>
              </a:spcBef>
            </a:pPr>
            <a:r>
              <a:rPr sz="1200" spc="-10" dirty="0">
                <a:latin typeface="Times New Roman"/>
                <a:cs typeface="Times New Roman"/>
              </a:rPr>
              <a:t>n-</a:t>
            </a:r>
            <a:r>
              <a:rPr sz="1200" dirty="0">
                <a:latin typeface="Times New Roman"/>
                <a:cs typeface="Times New Roman"/>
              </a:rPr>
              <a:t>bit</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n-</a:t>
            </a:r>
            <a:r>
              <a:rPr sz="1200" dirty="0">
                <a:latin typeface="Times New Roman"/>
                <a:cs typeface="Times New Roman"/>
              </a:rPr>
              <a:t>bit</a:t>
            </a:r>
            <a:r>
              <a:rPr sz="1200" spc="-15" dirty="0">
                <a:latin typeface="Times New Roman"/>
                <a:cs typeface="Times New Roman"/>
              </a:rPr>
              <a:t> </a:t>
            </a:r>
            <a:r>
              <a:rPr sz="1200" dirty="0">
                <a:latin typeface="Times New Roman"/>
                <a:cs typeface="Times New Roman"/>
              </a:rPr>
              <a:t>= (n+1) </a:t>
            </a:r>
            <a:r>
              <a:rPr sz="1200" spc="-25" dirty="0">
                <a:latin typeface="Times New Roman"/>
                <a:cs typeface="Times New Roman"/>
              </a:rPr>
              <a:t>bit </a:t>
            </a:r>
            <a:r>
              <a:rPr sz="1200" spc="-10" dirty="0">
                <a:latin typeface="Times New Roman"/>
                <a:cs typeface="Times New Roman"/>
              </a:rPr>
              <a:t>n-</a:t>
            </a:r>
            <a:r>
              <a:rPr sz="1200" dirty="0">
                <a:latin typeface="Times New Roman"/>
                <a:cs typeface="Times New Roman"/>
              </a:rPr>
              <a:t>bit</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m-</a:t>
            </a:r>
            <a:r>
              <a:rPr sz="1200" dirty="0">
                <a:latin typeface="Times New Roman"/>
                <a:cs typeface="Times New Roman"/>
              </a:rPr>
              <a:t>bit</a:t>
            </a:r>
            <a:r>
              <a:rPr sz="1200" spc="-1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(n+m)</a:t>
            </a:r>
            <a:r>
              <a:rPr sz="1200" spc="-10" dirty="0">
                <a:latin typeface="Times New Roman"/>
                <a:cs typeface="Times New Roman"/>
              </a:rPr>
              <a:t> </a:t>
            </a:r>
            <a:r>
              <a:rPr sz="1200" spc="-25" dirty="0">
                <a:latin typeface="Times New Roman"/>
                <a:cs typeface="Times New Roman"/>
              </a:rPr>
              <a:t>bit </a:t>
            </a:r>
            <a:r>
              <a:rPr sz="1200" spc="-10" dirty="0">
                <a:latin typeface="Times New Roman"/>
                <a:cs typeface="Times New Roman"/>
              </a:rPr>
              <a:t>n-</a:t>
            </a:r>
            <a:r>
              <a:rPr sz="1200" dirty="0">
                <a:latin typeface="Times New Roman"/>
                <a:cs typeface="Times New Roman"/>
              </a:rPr>
              <a:t>bit</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m-</a:t>
            </a:r>
            <a:r>
              <a:rPr sz="1200" dirty="0">
                <a:latin typeface="Times New Roman"/>
                <a:cs typeface="Times New Roman"/>
              </a:rPr>
              <a:t>bit</a:t>
            </a:r>
            <a:r>
              <a:rPr sz="1200" spc="-20" dirty="0">
                <a:latin typeface="Times New Roman"/>
                <a:cs typeface="Times New Roman"/>
              </a:rPr>
              <a:t> </a:t>
            </a:r>
            <a:r>
              <a:rPr sz="1200" dirty="0">
                <a:latin typeface="Times New Roman"/>
                <a:cs typeface="Times New Roman"/>
              </a:rPr>
              <a:t>= </a:t>
            </a:r>
            <a:r>
              <a:rPr sz="1200" spc="-10" dirty="0">
                <a:latin typeface="Times New Roman"/>
                <a:cs typeface="Times New Roman"/>
              </a:rPr>
              <a:t>(n-</a:t>
            </a:r>
            <a:r>
              <a:rPr sz="1200" dirty="0">
                <a:latin typeface="Times New Roman"/>
                <a:cs typeface="Times New Roman"/>
              </a:rPr>
              <a:t>m)</a:t>
            </a:r>
            <a:r>
              <a:rPr sz="1200" spc="-5" dirty="0">
                <a:latin typeface="Times New Roman"/>
                <a:cs typeface="Times New Roman"/>
              </a:rPr>
              <a:t> </a:t>
            </a:r>
            <a:r>
              <a:rPr sz="1200" spc="-25" dirty="0">
                <a:latin typeface="Times New Roman"/>
                <a:cs typeface="Times New Roman"/>
              </a:rPr>
              <a:t>bit</a:t>
            </a:r>
            <a:endParaRPr sz="1200">
              <a:latin typeface="Times New Roman"/>
              <a:cs typeface="Times New Roman"/>
            </a:endParaRPr>
          </a:p>
          <a:p>
            <a:pPr marL="220979">
              <a:lnSpc>
                <a:spcPct val="100000"/>
              </a:lnSpc>
              <a:spcBef>
                <a:spcPts val="740"/>
              </a:spcBef>
            </a:pPr>
            <a:r>
              <a:rPr sz="2150" u="sng" dirty="0">
                <a:uFill>
                  <a:solidFill>
                    <a:srgbClr val="000000"/>
                  </a:solidFill>
                </a:uFill>
                <a:latin typeface="Georgia"/>
                <a:cs typeface="Georgia"/>
              </a:rPr>
              <a:t>Unsigned</a:t>
            </a:r>
            <a:r>
              <a:rPr sz="2150" u="sng" spc="-50" dirty="0">
                <a:uFill>
                  <a:solidFill>
                    <a:srgbClr val="000000"/>
                  </a:solidFill>
                </a:uFill>
                <a:latin typeface="Georgia"/>
                <a:cs typeface="Georgia"/>
              </a:rPr>
              <a:t> </a:t>
            </a:r>
            <a:r>
              <a:rPr sz="2150" u="sng" dirty="0">
                <a:uFill>
                  <a:solidFill>
                    <a:srgbClr val="000000"/>
                  </a:solidFill>
                </a:uFill>
                <a:latin typeface="Georgia"/>
                <a:cs typeface="Georgia"/>
              </a:rPr>
              <a:t>numbers</a:t>
            </a:r>
            <a:r>
              <a:rPr sz="2150" u="sng" spc="-55" dirty="0">
                <a:uFill>
                  <a:solidFill>
                    <a:srgbClr val="000000"/>
                  </a:solidFill>
                </a:uFill>
                <a:latin typeface="Georgia"/>
                <a:cs typeface="Georgia"/>
              </a:rPr>
              <a:t> </a:t>
            </a:r>
            <a:r>
              <a:rPr sz="2150" u="sng" dirty="0">
                <a:uFill>
                  <a:solidFill>
                    <a:srgbClr val="000000"/>
                  </a:solidFill>
                </a:uFill>
                <a:latin typeface="Georgia"/>
                <a:cs typeface="Georgia"/>
              </a:rPr>
              <a:t>(In</a:t>
            </a:r>
            <a:r>
              <a:rPr sz="2150" u="sng" spc="-45" dirty="0">
                <a:uFill>
                  <a:solidFill>
                    <a:srgbClr val="000000"/>
                  </a:solidFill>
                </a:uFill>
                <a:latin typeface="Georgia"/>
                <a:cs typeface="Georgia"/>
              </a:rPr>
              <a:t> </a:t>
            </a:r>
            <a:r>
              <a:rPr sz="2150" u="sng" dirty="0">
                <a:uFill>
                  <a:solidFill>
                    <a:srgbClr val="000000"/>
                  </a:solidFill>
                </a:uFill>
                <a:latin typeface="Georgia"/>
                <a:cs typeface="Georgia"/>
              </a:rPr>
              <a:t>HDL</a:t>
            </a:r>
            <a:r>
              <a:rPr sz="2150" u="sng" spc="-45" dirty="0">
                <a:uFill>
                  <a:solidFill>
                    <a:srgbClr val="000000"/>
                  </a:solidFill>
                </a:uFill>
                <a:latin typeface="Georgia"/>
                <a:cs typeface="Georgia"/>
              </a:rPr>
              <a:t> </a:t>
            </a:r>
            <a:r>
              <a:rPr sz="2150" u="sng" spc="-10" dirty="0">
                <a:uFill>
                  <a:solidFill>
                    <a:srgbClr val="000000"/>
                  </a:solidFill>
                </a:uFill>
                <a:latin typeface="Georgia"/>
                <a:cs typeface="Georgia"/>
              </a:rPr>
              <a:t>languages)</a:t>
            </a:r>
            <a:endParaRPr sz="2150">
              <a:latin typeface="Georgia"/>
              <a:cs typeface="Georgia"/>
            </a:endParaRPr>
          </a:p>
          <a:p>
            <a:pPr marL="407670" indent="-145415">
              <a:lnSpc>
                <a:spcPct val="100000"/>
              </a:lnSpc>
              <a:spcBef>
                <a:spcPts val="640"/>
              </a:spcBef>
              <a:buClr>
                <a:srgbClr val="3E762B"/>
              </a:buClr>
              <a:buFont typeface="Wingdings"/>
              <a:buChar char=""/>
              <a:tabLst>
                <a:tab pos="407670" algn="l"/>
              </a:tabLst>
            </a:pPr>
            <a:r>
              <a:rPr sz="1200" spc="-30" dirty="0">
                <a:latin typeface="Times New Roman"/>
                <a:cs typeface="Times New Roman"/>
              </a:rPr>
              <a:t>To</a:t>
            </a:r>
            <a:r>
              <a:rPr sz="1200" spc="-25" dirty="0">
                <a:latin typeface="Times New Roman"/>
                <a:cs typeface="Times New Roman"/>
              </a:rPr>
              <a:t> </a:t>
            </a:r>
            <a:r>
              <a:rPr sz="1200" dirty="0">
                <a:latin typeface="Times New Roman"/>
                <a:cs typeface="Times New Roman"/>
              </a:rPr>
              <a:t>add/subtract</a:t>
            </a:r>
            <a:r>
              <a:rPr sz="1200" spc="-25" dirty="0">
                <a:latin typeface="Times New Roman"/>
                <a:cs typeface="Times New Roman"/>
              </a:rPr>
              <a:t> </a:t>
            </a:r>
            <a:r>
              <a:rPr sz="1200" dirty="0">
                <a:latin typeface="Times New Roman"/>
                <a:cs typeface="Times New Roman"/>
              </a:rPr>
              <a:t>two</a:t>
            </a:r>
            <a:r>
              <a:rPr sz="1200" spc="-25" dirty="0">
                <a:latin typeface="Times New Roman"/>
                <a:cs typeface="Times New Roman"/>
              </a:rPr>
              <a:t> </a:t>
            </a:r>
            <a:r>
              <a:rPr sz="1200" spc="-10" dirty="0">
                <a:latin typeface="Times New Roman"/>
                <a:cs typeface="Times New Roman"/>
              </a:rPr>
              <a:t>n-</a:t>
            </a:r>
            <a:r>
              <a:rPr sz="1200" dirty="0">
                <a:latin typeface="Times New Roman"/>
                <a:cs typeface="Times New Roman"/>
              </a:rPr>
              <a:t>bits</a:t>
            </a:r>
            <a:r>
              <a:rPr sz="1200" spc="-20" dirty="0">
                <a:latin typeface="Times New Roman"/>
                <a:cs typeface="Times New Roman"/>
              </a:rPr>
              <a:t> </a:t>
            </a:r>
            <a:r>
              <a:rPr sz="1200" dirty="0">
                <a:latin typeface="Times New Roman"/>
                <a:cs typeface="Times New Roman"/>
              </a:rPr>
              <a:t>unsigned</a:t>
            </a:r>
            <a:r>
              <a:rPr sz="1200" spc="-15" dirty="0">
                <a:latin typeface="Times New Roman"/>
                <a:cs typeface="Times New Roman"/>
              </a:rPr>
              <a:t> </a:t>
            </a:r>
            <a:r>
              <a:rPr sz="1200" dirty="0">
                <a:latin typeface="Times New Roman"/>
                <a:cs typeface="Times New Roman"/>
              </a:rPr>
              <a:t>numbers,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result</a:t>
            </a:r>
            <a:r>
              <a:rPr sz="1200" spc="-25" dirty="0">
                <a:latin typeface="Times New Roman"/>
                <a:cs typeface="Times New Roman"/>
              </a:rPr>
              <a:t> </a:t>
            </a:r>
            <a:r>
              <a:rPr sz="1200" dirty="0">
                <a:latin typeface="Times New Roman"/>
                <a:cs typeface="Times New Roman"/>
              </a:rPr>
              <a:t>should</a:t>
            </a:r>
            <a:r>
              <a:rPr sz="1200" spc="-40" dirty="0">
                <a:latin typeface="Times New Roman"/>
                <a:cs typeface="Times New Roman"/>
              </a:rPr>
              <a:t> </a:t>
            </a:r>
            <a:r>
              <a:rPr sz="1200" dirty="0">
                <a:latin typeface="Times New Roman"/>
                <a:cs typeface="Times New Roman"/>
              </a:rPr>
              <a:t>take</a:t>
            </a:r>
            <a:r>
              <a:rPr sz="1200" spc="-30" dirty="0">
                <a:latin typeface="Times New Roman"/>
                <a:cs typeface="Times New Roman"/>
              </a:rPr>
              <a:t> </a:t>
            </a:r>
            <a:r>
              <a:rPr sz="1200" dirty="0">
                <a:latin typeface="Times New Roman"/>
                <a:cs typeface="Times New Roman"/>
              </a:rPr>
              <a:t>n+1</a:t>
            </a:r>
            <a:r>
              <a:rPr sz="1200" spc="-15" dirty="0">
                <a:latin typeface="Times New Roman"/>
                <a:cs typeface="Times New Roman"/>
              </a:rPr>
              <a:t> </a:t>
            </a:r>
            <a:r>
              <a:rPr sz="1200" spc="-10" dirty="0">
                <a:latin typeface="Times New Roman"/>
                <a:cs typeface="Times New Roman"/>
              </a:rPr>
              <a:t>bits.</a:t>
            </a:r>
            <a:endParaRPr sz="1200">
              <a:latin typeface="Times New Roman"/>
              <a:cs typeface="Times New Roman"/>
            </a:endParaRPr>
          </a:p>
          <a:p>
            <a:pPr marL="407670" indent="-145415">
              <a:lnSpc>
                <a:spcPct val="100000"/>
              </a:lnSpc>
              <a:spcBef>
                <a:spcPts val="550"/>
              </a:spcBef>
              <a:buClr>
                <a:srgbClr val="3E762B"/>
              </a:buClr>
              <a:buFont typeface="Wingdings"/>
              <a:buChar char=""/>
              <a:tabLst>
                <a:tab pos="407670" algn="l"/>
              </a:tabLst>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HDL</a:t>
            </a:r>
            <a:r>
              <a:rPr sz="1200" spc="-60" dirty="0">
                <a:latin typeface="Times New Roman"/>
                <a:cs typeface="Times New Roman"/>
              </a:rPr>
              <a:t> </a:t>
            </a:r>
            <a:r>
              <a:rPr sz="1200" spc="-10" dirty="0">
                <a:latin typeface="Times New Roman"/>
                <a:cs typeface="Times New Roman"/>
              </a:rPr>
              <a:t>languages.</a:t>
            </a:r>
            <a:endParaRPr sz="1200">
              <a:latin typeface="Times New Roman"/>
              <a:cs typeface="Times New Roman"/>
            </a:endParaRPr>
          </a:p>
          <a:p>
            <a:pPr marL="719455">
              <a:lnSpc>
                <a:spcPct val="100000"/>
              </a:lnSpc>
              <a:spcBef>
                <a:spcPts val="550"/>
              </a:spcBef>
            </a:pPr>
            <a:r>
              <a:rPr sz="1200" spc="-10" dirty="0">
                <a:latin typeface="Times New Roman"/>
                <a:cs typeface="Times New Roman"/>
              </a:rPr>
              <a:t>(‘0’</a:t>
            </a:r>
            <a:r>
              <a:rPr sz="1200" spc="-80" dirty="0">
                <a:latin typeface="Times New Roman"/>
                <a:cs typeface="Times New Roman"/>
              </a:rPr>
              <a:t> </a:t>
            </a:r>
            <a:r>
              <a:rPr sz="1200" spc="-10" dirty="0">
                <a:latin typeface="Times New Roman"/>
                <a:cs typeface="Times New Roman"/>
              </a:rPr>
              <a:t>&amp;</a:t>
            </a:r>
            <a:r>
              <a:rPr sz="1200" spc="-7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 </a:t>
            </a:r>
            <a:r>
              <a:rPr sz="1200" spc="-10" dirty="0">
                <a:latin typeface="Times New Roman"/>
                <a:cs typeface="Times New Roman"/>
              </a:rPr>
              <a:t>(‘0’</a:t>
            </a:r>
            <a:r>
              <a:rPr sz="1200" spc="-80" dirty="0">
                <a:latin typeface="Times New Roman"/>
                <a:cs typeface="Times New Roman"/>
              </a:rPr>
              <a:t> </a:t>
            </a:r>
            <a:r>
              <a:rPr sz="1200" dirty="0">
                <a:latin typeface="Times New Roman"/>
                <a:cs typeface="Times New Roman"/>
              </a:rPr>
              <a:t>&amp; B) =</a:t>
            </a:r>
            <a:r>
              <a:rPr sz="1200" spc="-5" dirty="0">
                <a:latin typeface="Times New Roman"/>
                <a:cs typeface="Times New Roman"/>
              </a:rPr>
              <a:t> </a:t>
            </a:r>
            <a:r>
              <a:rPr sz="1200" dirty="0">
                <a:latin typeface="Times New Roman"/>
                <a:cs typeface="Times New Roman"/>
              </a:rPr>
              <a:t>F (n+1 </a:t>
            </a:r>
            <a:r>
              <a:rPr sz="1200" spc="-10" dirty="0">
                <a:latin typeface="Times New Roman"/>
                <a:cs typeface="Times New Roman"/>
              </a:rPr>
              <a:t>bits)</a:t>
            </a:r>
            <a:endParaRPr sz="1200">
              <a:latin typeface="Times New Roman"/>
              <a:cs typeface="Times New Roman"/>
            </a:endParaRPr>
          </a:p>
          <a:p>
            <a:pPr marL="399415">
              <a:lnSpc>
                <a:spcPct val="100000"/>
              </a:lnSpc>
              <a:spcBef>
                <a:spcPts val="1090"/>
              </a:spcBef>
            </a:pPr>
            <a:r>
              <a:rPr sz="1000" dirty="0">
                <a:solidFill>
                  <a:srgbClr val="455C18"/>
                </a:solidFill>
                <a:latin typeface="Times New Roman"/>
                <a:cs typeface="Times New Roman"/>
              </a:rPr>
              <a:t>if</a:t>
            </a:r>
            <a:r>
              <a:rPr sz="1000" spc="-25" dirty="0">
                <a:solidFill>
                  <a:srgbClr val="455C18"/>
                </a:solidFill>
                <a:latin typeface="Times New Roman"/>
                <a:cs typeface="Times New Roman"/>
              </a:rPr>
              <a:t> </a:t>
            </a:r>
            <a:r>
              <a:rPr sz="1000" dirty="0">
                <a:solidFill>
                  <a:srgbClr val="455C18"/>
                </a:solidFill>
                <a:latin typeface="Times New Roman"/>
                <a:cs typeface="Times New Roman"/>
              </a:rPr>
              <a:t>C</a:t>
            </a:r>
            <a:r>
              <a:rPr sz="1000" spc="-10" dirty="0">
                <a:solidFill>
                  <a:srgbClr val="455C18"/>
                </a:solidFill>
                <a:latin typeface="Times New Roman"/>
                <a:cs typeface="Times New Roman"/>
              </a:rPr>
              <a:t> </a:t>
            </a:r>
            <a:r>
              <a:rPr sz="1000" dirty="0">
                <a:solidFill>
                  <a:srgbClr val="455C18"/>
                </a:solidFill>
                <a:latin typeface="Times New Roman"/>
                <a:cs typeface="Times New Roman"/>
              </a:rPr>
              <a:t>=1,</a:t>
            </a:r>
            <a:r>
              <a:rPr sz="1000" spc="-25" dirty="0">
                <a:solidFill>
                  <a:srgbClr val="455C18"/>
                </a:solidFill>
                <a:latin typeface="Times New Roman"/>
                <a:cs typeface="Times New Roman"/>
              </a:rPr>
              <a:t> </a:t>
            </a:r>
            <a:r>
              <a:rPr sz="1000" dirty="0">
                <a:solidFill>
                  <a:srgbClr val="455C18"/>
                </a:solidFill>
                <a:latin typeface="Times New Roman"/>
                <a:cs typeface="Times New Roman"/>
              </a:rPr>
              <a:t>it</a:t>
            </a:r>
            <a:r>
              <a:rPr sz="1000" spc="-20" dirty="0">
                <a:solidFill>
                  <a:srgbClr val="455C18"/>
                </a:solidFill>
                <a:latin typeface="Times New Roman"/>
                <a:cs typeface="Times New Roman"/>
              </a:rPr>
              <a:t> </a:t>
            </a:r>
            <a:r>
              <a:rPr sz="1000" dirty="0">
                <a:solidFill>
                  <a:srgbClr val="455C18"/>
                </a:solidFill>
                <a:latin typeface="Times New Roman"/>
                <a:cs typeface="Times New Roman"/>
              </a:rPr>
              <a:t>will be</a:t>
            </a:r>
            <a:r>
              <a:rPr sz="1000" spc="-20" dirty="0">
                <a:solidFill>
                  <a:srgbClr val="455C18"/>
                </a:solidFill>
                <a:latin typeface="Times New Roman"/>
                <a:cs typeface="Times New Roman"/>
              </a:rPr>
              <a:t> </a:t>
            </a:r>
            <a:r>
              <a:rPr sz="1000" dirty="0">
                <a:solidFill>
                  <a:srgbClr val="455C18"/>
                </a:solidFill>
                <a:latin typeface="Times New Roman"/>
                <a:cs typeface="Times New Roman"/>
              </a:rPr>
              <a:t>added</a:t>
            </a:r>
            <a:r>
              <a:rPr sz="1000" spc="-20" dirty="0">
                <a:solidFill>
                  <a:srgbClr val="455C18"/>
                </a:solidFill>
                <a:latin typeface="Times New Roman"/>
                <a:cs typeface="Times New Roman"/>
              </a:rPr>
              <a:t> </a:t>
            </a:r>
            <a:r>
              <a:rPr sz="1000" dirty="0">
                <a:solidFill>
                  <a:srgbClr val="455C18"/>
                </a:solidFill>
                <a:latin typeface="Times New Roman"/>
                <a:cs typeface="Times New Roman"/>
              </a:rPr>
              <a:t>to</a:t>
            </a:r>
            <a:r>
              <a:rPr sz="1000" spc="-25" dirty="0">
                <a:solidFill>
                  <a:srgbClr val="455C18"/>
                </a:solidFill>
                <a:latin typeface="Times New Roman"/>
                <a:cs typeface="Times New Roman"/>
              </a:rPr>
              <a:t> </a:t>
            </a:r>
            <a:r>
              <a:rPr sz="1000" dirty="0">
                <a:solidFill>
                  <a:srgbClr val="455C18"/>
                </a:solidFill>
                <a:latin typeface="Times New Roman"/>
                <a:cs typeface="Times New Roman"/>
              </a:rPr>
              <a:t>1</a:t>
            </a:r>
            <a:r>
              <a:rPr sz="1000" spc="-10" dirty="0">
                <a:solidFill>
                  <a:srgbClr val="455C18"/>
                </a:solidFill>
                <a:latin typeface="Times New Roman"/>
                <a:cs typeface="Times New Roman"/>
              </a:rPr>
              <a:t> (2’s</a:t>
            </a:r>
            <a:r>
              <a:rPr sz="1000" spc="-20" dirty="0">
                <a:solidFill>
                  <a:srgbClr val="455C18"/>
                </a:solidFill>
                <a:latin typeface="Times New Roman"/>
                <a:cs typeface="Times New Roman"/>
              </a:rPr>
              <a:t> </a:t>
            </a:r>
            <a:r>
              <a:rPr sz="1000" dirty="0">
                <a:solidFill>
                  <a:srgbClr val="455C18"/>
                </a:solidFill>
                <a:latin typeface="Times New Roman"/>
                <a:cs typeface="Times New Roman"/>
              </a:rPr>
              <a:t>comp.</a:t>
            </a:r>
            <a:r>
              <a:rPr sz="1000" spc="-5" dirty="0">
                <a:solidFill>
                  <a:srgbClr val="455C18"/>
                </a:solidFill>
                <a:latin typeface="Times New Roman"/>
                <a:cs typeface="Times New Roman"/>
              </a:rPr>
              <a:t> </a:t>
            </a:r>
            <a:r>
              <a:rPr sz="1000" dirty="0">
                <a:solidFill>
                  <a:srgbClr val="455C18"/>
                </a:solidFill>
                <a:latin typeface="Times New Roman"/>
                <a:cs typeface="Times New Roman"/>
              </a:rPr>
              <a:t>of</a:t>
            </a:r>
            <a:r>
              <a:rPr sz="1000" spc="-25" dirty="0">
                <a:solidFill>
                  <a:srgbClr val="455C18"/>
                </a:solidFill>
                <a:latin typeface="Times New Roman"/>
                <a:cs typeface="Times New Roman"/>
              </a:rPr>
              <a:t> </a:t>
            </a:r>
            <a:r>
              <a:rPr sz="1000" dirty="0">
                <a:solidFill>
                  <a:srgbClr val="455C18"/>
                </a:solidFill>
                <a:latin typeface="Times New Roman"/>
                <a:cs typeface="Times New Roman"/>
              </a:rPr>
              <a:t>B)</a:t>
            </a:r>
            <a:r>
              <a:rPr sz="1000" spc="-25" dirty="0">
                <a:solidFill>
                  <a:srgbClr val="455C18"/>
                </a:solidFill>
                <a:latin typeface="Times New Roman"/>
                <a:cs typeface="Times New Roman"/>
              </a:rPr>
              <a:t> </a:t>
            </a:r>
            <a:r>
              <a:rPr sz="1000" dirty="0">
                <a:solidFill>
                  <a:srgbClr val="455C18"/>
                </a:solidFill>
                <a:latin typeface="Times New Roman"/>
                <a:cs typeface="Times New Roman"/>
              </a:rPr>
              <a:t>=</a:t>
            </a:r>
            <a:r>
              <a:rPr sz="1000" spc="-15" dirty="0">
                <a:solidFill>
                  <a:srgbClr val="455C18"/>
                </a:solidFill>
                <a:latin typeface="Times New Roman"/>
                <a:cs typeface="Times New Roman"/>
              </a:rPr>
              <a:t> </a:t>
            </a:r>
            <a:r>
              <a:rPr sz="1000" dirty="0">
                <a:solidFill>
                  <a:srgbClr val="455C18"/>
                </a:solidFill>
                <a:latin typeface="Times New Roman"/>
                <a:cs typeface="Times New Roman"/>
              </a:rPr>
              <a:t>0</a:t>
            </a:r>
            <a:r>
              <a:rPr sz="1000" spc="-20" dirty="0">
                <a:solidFill>
                  <a:srgbClr val="455C18"/>
                </a:solidFill>
                <a:latin typeface="Times New Roman"/>
                <a:cs typeface="Times New Roman"/>
              </a:rPr>
              <a:t> </a:t>
            </a:r>
            <a:r>
              <a:rPr sz="1000" dirty="0">
                <a:solidFill>
                  <a:srgbClr val="455C18"/>
                </a:solidFill>
                <a:latin typeface="Times New Roman"/>
                <a:cs typeface="Times New Roman"/>
              </a:rPr>
              <a:t>(positive</a:t>
            </a:r>
            <a:r>
              <a:rPr sz="1000" spc="-15" dirty="0">
                <a:solidFill>
                  <a:srgbClr val="455C18"/>
                </a:solidFill>
                <a:latin typeface="Times New Roman"/>
                <a:cs typeface="Times New Roman"/>
              </a:rPr>
              <a:t> </a:t>
            </a:r>
            <a:r>
              <a:rPr sz="1000" spc="-10" dirty="0">
                <a:solidFill>
                  <a:srgbClr val="455C18"/>
                </a:solidFill>
                <a:latin typeface="Times New Roman"/>
                <a:cs typeface="Times New Roman"/>
              </a:rPr>
              <a:t>number)</a:t>
            </a:r>
            <a:endParaRPr sz="1000">
              <a:latin typeface="Times New Roman"/>
              <a:cs typeface="Times New Roman"/>
            </a:endParaRPr>
          </a:p>
          <a:p>
            <a:pPr marL="399415">
              <a:lnSpc>
                <a:spcPct val="100000"/>
              </a:lnSpc>
              <a:spcBef>
                <a:spcPts val="480"/>
              </a:spcBef>
            </a:pPr>
            <a:r>
              <a:rPr sz="1000" dirty="0">
                <a:solidFill>
                  <a:srgbClr val="455C18"/>
                </a:solidFill>
                <a:latin typeface="Times New Roman"/>
                <a:cs typeface="Times New Roman"/>
              </a:rPr>
              <a:t>if</a:t>
            </a:r>
            <a:r>
              <a:rPr sz="1000" spc="-35" dirty="0">
                <a:solidFill>
                  <a:srgbClr val="455C18"/>
                </a:solidFill>
                <a:latin typeface="Times New Roman"/>
                <a:cs typeface="Times New Roman"/>
              </a:rPr>
              <a:t> </a:t>
            </a:r>
            <a:r>
              <a:rPr sz="1000" dirty="0">
                <a:solidFill>
                  <a:srgbClr val="455C18"/>
                </a:solidFill>
                <a:latin typeface="Times New Roman"/>
                <a:cs typeface="Times New Roman"/>
              </a:rPr>
              <a:t>C</a:t>
            </a:r>
            <a:r>
              <a:rPr sz="1000" spc="-10" dirty="0">
                <a:solidFill>
                  <a:srgbClr val="455C18"/>
                </a:solidFill>
                <a:latin typeface="Times New Roman"/>
                <a:cs typeface="Times New Roman"/>
              </a:rPr>
              <a:t> </a:t>
            </a:r>
            <a:r>
              <a:rPr sz="1000" dirty="0">
                <a:solidFill>
                  <a:srgbClr val="455C18"/>
                </a:solidFill>
                <a:latin typeface="Times New Roman"/>
                <a:cs typeface="Times New Roman"/>
              </a:rPr>
              <a:t>=0,</a:t>
            </a:r>
            <a:r>
              <a:rPr sz="1000" spc="-30" dirty="0">
                <a:solidFill>
                  <a:srgbClr val="455C18"/>
                </a:solidFill>
                <a:latin typeface="Times New Roman"/>
                <a:cs typeface="Times New Roman"/>
              </a:rPr>
              <a:t> </a:t>
            </a:r>
            <a:r>
              <a:rPr sz="1000" dirty="0">
                <a:solidFill>
                  <a:srgbClr val="455C18"/>
                </a:solidFill>
                <a:latin typeface="Times New Roman"/>
                <a:cs typeface="Times New Roman"/>
              </a:rPr>
              <a:t>it</a:t>
            </a:r>
            <a:r>
              <a:rPr sz="1000" spc="-20" dirty="0">
                <a:solidFill>
                  <a:srgbClr val="455C18"/>
                </a:solidFill>
                <a:latin typeface="Times New Roman"/>
                <a:cs typeface="Times New Roman"/>
              </a:rPr>
              <a:t> </a:t>
            </a:r>
            <a:r>
              <a:rPr sz="1000" dirty="0">
                <a:solidFill>
                  <a:srgbClr val="455C18"/>
                </a:solidFill>
                <a:latin typeface="Times New Roman"/>
                <a:cs typeface="Times New Roman"/>
              </a:rPr>
              <a:t>will be</a:t>
            </a:r>
            <a:r>
              <a:rPr sz="1000" spc="-25" dirty="0">
                <a:solidFill>
                  <a:srgbClr val="455C18"/>
                </a:solidFill>
                <a:latin typeface="Times New Roman"/>
                <a:cs typeface="Times New Roman"/>
              </a:rPr>
              <a:t> </a:t>
            </a:r>
            <a:r>
              <a:rPr sz="1000" dirty="0">
                <a:solidFill>
                  <a:srgbClr val="455C18"/>
                </a:solidFill>
                <a:latin typeface="Times New Roman"/>
                <a:cs typeface="Times New Roman"/>
              </a:rPr>
              <a:t>added</a:t>
            </a:r>
            <a:r>
              <a:rPr sz="1000" spc="-25" dirty="0">
                <a:solidFill>
                  <a:srgbClr val="455C18"/>
                </a:solidFill>
                <a:latin typeface="Times New Roman"/>
                <a:cs typeface="Times New Roman"/>
              </a:rPr>
              <a:t> </a:t>
            </a:r>
            <a:r>
              <a:rPr sz="1000" dirty="0">
                <a:solidFill>
                  <a:srgbClr val="455C18"/>
                </a:solidFill>
                <a:latin typeface="Times New Roman"/>
                <a:cs typeface="Times New Roman"/>
              </a:rPr>
              <a:t>to</a:t>
            </a:r>
            <a:r>
              <a:rPr sz="1000" spc="-30" dirty="0">
                <a:solidFill>
                  <a:srgbClr val="455C18"/>
                </a:solidFill>
                <a:latin typeface="Times New Roman"/>
                <a:cs typeface="Times New Roman"/>
              </a:rPr>
              <a:t> </a:t>
            </a:r>
            <a:r>
              <a:rPr sz="1000" dirty="0">
                <a:solidFill>
                  <a:srgbClr val="455C18"/>
                </a:solidFill>
                <a:latin typeface="Times New Roman"/>
                <a:cs typeface="Times New Roman"/>
              </a:rPr>
              <a:t>1</a:t>
            </a:r>
            <a:r>
              <a:rPr sz="1000" spc="-15" dirty="0">
                <a:solidFill>
                  <a:srgbClr val="455C18"/>
                </a:solidFill>
                <a:latin typeface="Times New Roman"/>
                <a:cs typeface="Times New Roman"/>
              </a:rPr>
              <a:t> </a:t>
            </a:r>
            <a:r>
              <a:rPr sz="1000" spc="-10" dirty="0">
                <a:solidFill>
                  <a:srgbClr val="455C18"/>
                </a:solidFill>
                <a:latin typeface="Times New Roman"/>
                <a:cs typeface="Times New Roman"/>
              </a:rPr>
              <a:t>(2’s</a:t>
            </a:r>
            <a:r>
              <a:rPr sz="1000" spc="-20" dirty="0">
                <a:solidFill>
                  <a:srgbClr val="455C18"/>
                </a:solidFill>
                <a:latin typeface="Times New Roman"/>
                <a:cs typeface="Times New Roman"/>
              </a:rPr>
              <a:t> </a:t>
            </a:r>
            <a:r>
              <a:rPr sz="1000" dirty="0">
                <a:solidFill>
                  <a:srgbClr val="455C18"/>
                </a:solidFill>
                <a:latin typeface="Times New Roman"/>
                <a:cs typeface="Times New Roman"/>
              </a:rPr>
              <a:t>comp.</a:t>
            </a:r>
            <a:r>
              <a:rPr sz="1000" spc="-5" dirty="0">
                <a:solidFill>
                  <a:srgbClr val="455C18"/>
                </a:solidFill>
                <a:latin typeface="Times New Roman"/>
                <a:cs typeface="Times New Roman"/>
              </a:rPr>
              <a:t> </a:t>
            </a:r>
            <a:r>
              <a:rPr sz="1000" dirty="0">
                <a:solidFill>
                  <a:srgbClr val="455C18"/>
                </a:solidFill>
                <a:latin typeface="Times New Roman"/>
                <a:cs typeface="Times New Roman"/>
              </a:rPr>
              <a:t>of</a:t>
            </a:r>
            <a:r>
              <a:rPr sz="1000" spc="-25" dirty="0">
                <a:solidFill>
                  <a:srgbClr val="455C18"/>
                </a:solidFill>
                <a:latin typeface="Times New Roman"/>
                <a:cs typeface="Times New Roman"/>
              </a:rPr>
              <a:t> </a:t>
            </a:r>
            <a:r>
              <a:rPr sz="1000" dirty="0">
                <a:solidFill>
                  <a:srgbClr val="455C18"/>
                </a:solidFill>
                <a:latin typeface="Times New Roman"/>
                <a:cs typeface="Times New Roman"/>
              </a:rPr>
              <a:t>B)</a:t>
            </a:r>
            <a:r>
              <a:rPr sz="1000" spc="-30" dirty="0">
                <a:solidFill>
                  <a:srgbClr val="455C18"/>
                </a:solidFill>
                <a:latin typeface="Times New Roman"/>
                <a:cs typeface="Times New Roman"/>
              </a:rPr>
              <a:t> </a:t>
            </a:r>
            <a:r>
              <a:rPr sz="1000" dirty="0">
                <a:solidFill>
                  <a:srgbClr val="455C18"/>
                </a:solidFill>
                <a:latin typeface="Times New Roman"/>
                <a:cs typeface="Times New Roman"/>
              </a:rPr>
              <a:t>=</a:t>
            </a:r>
            <a:r>
              <a:rPr sz="1000" spc="-15" dirty="0">
                <a:solidFill>
                  <a:srgbClr val="455C18"/>
                </a:solidFill>
                <a:latin typeface="Times New Roman"/>
                <a:cs typeface="Times New Roman"/>
              </a:rPr>
              <a:t> </a:t>
            </a:r>
            <a:r>
              <a:rPr sz="1000" dirty="0">
                <a:solidFill>
                  <a:srgbClr val="455C18"/>
                </a:solidFill>
                <a:latin typeface="Times New Roman"/>
                <a:cs typeface="Times New Roman"/>
              </a:rPr>
              <a:t>1</a:t>
            </a:r>
            <a:r>
              <a:rPr sz="1000" spc="-25" dirty="0">
                <a:solidFill>
                  <a:srgbClr val="455C18"/>
                </a:solidFill>
                <a:latin typeface="Times New Roman"/>
                <a:cs typeface="Times New Roman"/>
              </a:rPr>
              <a:t> </a:t>
            </a:r>
            <a:r>
              <a:rPr sz="1000" dirty="0">
                <a:solidFill>
                  <a:srgbClr val="455C18"/>
                </a:solidFill>
                <a:latin typeface="Times New Roman"/>
                <a:cs typeface="Times New Roman"/>
              </a:rPr>
              <a:t>(negative</a:t>
            </a:r>
            <a:r>
              <a:rPr sz="1000" spc="5" dirty="0">
                <a:solidFill>
                  <a:srgbClr val="455C18"/>
                </a:solidFill>
                <a:latin typeface="Times New Roman"/>
                <a:cs typeface="Times New Roman"/>
              </a:rPr>
              <a:t> </a:t>
            </a:r>
            <a:r>
              <a:rPr sz="1000" spc="-10" dirty="0">
                <a:solidFill>
                  <a:srgbClr val="455C18"/>
                </a:solidFill>
                <a:latin typeface="Times New Roman"/>
                <a:cs typeface="Times New Roman"/>
              </a:rPr>
              <a:t>number)</a:t>
            </a:r>
            <a:endParaRPr sz="10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p:nvPr/>
        </p:nvSpPr>
        <p:spPr>
          <a:xfrm>
            <a:off x="496823" y="990600"/>
            <a:ext cx="5862955" cy="3188335"/>
          </a:xfrm>
          <a:prstGeom prst="rect">
            <a:avLst/>
          </a:prstGeom>
          <a:ln w="6096">
            <a:solidFill>
              <a:srgbClr val="FFFFFF"/>
            </a:solidFill>
          </a:ln>
        </p:spPr>
        <p:txBody>
          <a:bodyPr vert="horz" wrap="square" lIns="0" tIns="194310" rIns="0" bIns="0" rtlCol="0">
            <a:spAutoFit/>
          </a:bodyPr>
          <a:lstStyle/>
          <a:p>
            <a:pPr>
              <a:lnSpc>
                <a:spcPct val="100000"/>
              </a:lnSpc>
              <a:spcBef>
                <a:spcPts val="1530"/>
              </a:spcBef>
            </a:pPr>
            <a:endParaRPr sz="3600">
              <a:latin typeface="Times New Roman"/>
              <a:cs typeface="Times New Roman"/>
            </a:endParaRPr>
          </a:p>
          <a:p>
            <a:pPr algn="ctr">
              <a:lnSpc>
                <a:spcPts val="3995"/>
              </a:lnSpc>
              <a:spcBef>
                <a:spcPts val="5"/>
              </a:spcBef>
            </a:pPr>
            <a:r>
              <a:rPr sz="3600" b="1" spc="-105" dirty="0">
                <a:solidFill>
                  <a:srgbClr val="FFFFFF"/>
                </a:solidFill>
                <a:latin typeface="Times New Roman"/>
                <a:cs typeface="Times New Roman"/>
              </a:rPr>
              <a:t>CISC</a:t>
            </a:r>
            <a:r>
              <a:rPr sz="3600" b="1" spc="-120" dirty="0">
                <a:solidFill>
                  <a:srgbClr val="FFFFFF"/>
                </a:solidFill>
                <a:latin typeface="Times New Roman"/>
                <a:cs typeface="Times New Roman"/>
              </a:rPr>
              <a:t> </a:t>
            </a:r>
            <a:r>
              <a:rPr sz="3600" b="1" dirty="0">
                <a:solidFill>
                  <a:srgbClr val="FFFFFF"/>
                </a:solidFill>
                <a:latin typeface="Times New Roman"/>
                <a:cs typeface="Times New Roman"/>
              </a:rPr>
              <a:t>and</a:t>
            </a:r>
            <a:r>
              <a:rPr sz="3600" b="1" spc="-130" dirty="0">
                <a:solidFill>
                  <a:srgbClr val="FFFFFF"/>
                </a:solidFill>
                <a:latin typeface="Times New Roman"/>
                <a:cs typeface="Times New Roman"/>
              </a:rPr>
              <a:t> </a:t>
            </a:r>
            <a:r>
              <a:rPr sz="3600" b="1" spc="-20" dirty="0">
                <a:solidFill>
                  <a:srgbClr val="FFFFFF"/>
                </a:solidFill>
                <a:latin typeface="Times New Roman"/>
                <a:cs typeface="Times New Roman"/>
              </a:rPr>
              <a:t>RISC</a:t>
            </a:r>
            <a:endParaRPr sz="3600">
              <a:latin typeface="Times New Roman"/>
              <a:cs typeface="Times New Roman"/>
            </a:endParaRPr>
          </a:p>
          <a:p>
            <a:pPr algn="ctr">
              <a:lnSpc>
                <a:spcPts val="3995"/>
              </a:lnSpc>
            </a:pPr>
            <a:r>
              <a:rPr sz="3600" b="1" spc="-10" dirty="0">
                <a:solidFill>
                  <a:srgbClr val="FFFFFF"/>
                </a:solidFill>
                <a:latin typeface="Times New Roman"/>
                <a:cs typeface="Times New Roman"/>
              </a:rPr>
              <a:t>Architectures</a:t>
            </a: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20"/>
              </a:spcBef>
            </a:pPr>
            <a:endParaRPr sz="3600">
              <a:latin typeface="Times New Roman"/>
              <a:cs typeface="Times New Roman"/>
            </a:endParaRPr>
          </a:p>
          <a:p>
            <a:pPr marR="497840" algn="r">
              <a:lnSpc>
                <a:spcPct val="100000"/>
              </a:lnSpc>
              <a:spcBef>
                <a:spcPts val="5"/>
              </a:spcBef>
            </a:pPr>
            <a:r>
              <a:rPr sz="600" spc="-50" dirty="0">
                <a:solidFill>
                  <a:srgbClr val="FFFFFF"/>
                </a:solidFill>
                <a:latin typeface="Corbel"/>
                <a:cs typeface="Corbel"/>
              </a:rPr>
              <a:t>7</a:t>
            </a:r>
            <a:endParaRPr sz="600">
              <a:latin typeface="Corbel"/>
              <a:cs typeface="Corbel"/>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CISC</a:t>
            </a:r>
            <a:r>
              <a:rPr sz="2200" spc="-55" dirty="0">
                <a:latin typeface="Georgia"/>
                <a:cs typeface="Georgia"/>
              </a:rPr>
              <a:t> </a:t>
            </a:r>
            <a:r>
              <a:rPr sz="2200" dirty="0">
                <a:latin typeface="Georgia"/>
                <a:cs typeface="Georgia"/>
              </a:rPr>
              <a:t>and</a:t>
            </a:r>
            <a:r>
              <a:rPr sz="2200" spc="-65" dirty="0">
                <a:latin typeface="Georgia"/>
                <a:cs typeface="Georgia"/>
              </a:rPr>
              <a:t> </a:t>
            </a:r>
            <a:r>
              <a:rPr sz="2200" dirty="0">
                <a:latin typeface="Georgia"/>
                <a:cs typeface="Georgia"/>
              </a:rPr>
              <a:t>RISC</a:t>
            </a:r>
            <a:r>
              <a:rPr sz="2200" spc="-65" dirty="0">
                <a:latin typeface="Georgia"/>
                <a:cs typeface="Georgia"/>
              </a:rPr>
              <a:t> </a:t>
            </a:r>
            <a:r>
              <a:rPr sz="2200" spc="-10" dirty="0">
                <a:latin typeface="Georgia"/>
                <a:cs typeface="Georgia"/>
              </a:rPr>
              <a:t>Architectures</a:t>
            </a:r>
            <a:endParaRPr sz="2200">
              <a:latin typeface="Georgia"/>
              <a:cs typeface="Georgia"/>
            </a:endParaRPr>
          </a:p>
          <a:p>
            <a:pPr marL="434975" indent="-172720">
              <a:lnSpc>
                <a:spcPct val="100000"/>
              </a:lnSpc>
              <a:spcBef>
                <a:spcPts val="1205"/>
              </a:spcBef>
              <a:buClr>
                <a:srgbClr val="3E762B"/>
              </a:buClr>
              <a:buFont typeface="Wingdings"/>
              <a:buChar char=""/>
              <a:tabLst>
                <a:tab pos="434975" algn="l"/>
              </a:tabLst>
            </a:pPr>
            <a:r>
              <a:rPr sz="1200" b="1" dirty="0">
                <a:latin typeface="Times New Roman"/>
                <a:cs typeface="Times New Roman"/>
              </a:rPr>
              <a:t>CISC:</a:t>
            </a:r>
            <a:r>
              <a:rPr sz="1200" b="1" spc="-30" dirty="0">
                <a:latin typeface="Times New Roman"/>
                <a:cs typeface="Times New Roman"/>
              </a:rPr>
              <a:t> </a:t>
            </a:r>
            <a:r>
              <a:rPr sz="1200" b="1" dirty="0">
                <a:latin typeface="Times New Roman"/>
                <a:cs typeface="Times New Roman"/>
              </a:rPr>
              <a:t>Complex</a:t>
            </a:r>
            <a:r>
              <a:rPr sz="1200" b="1" spc="-25" dirty="0">
                <a:latin typeface="Times New Roman"/>
                <a:cs typeface="Times New Roman"/>
              </a:rPr>
              <a:t> </a:t>
            </a:r>
            <a:r>
              <a:rPr sz="1200" dirty="0">
                <a:latin typeface="Times New Roman"/>
                <a:cs typeface="Times New Roman"/>
              </a:rPr>
              <a:t>Instruction</a:t>
            </a:r>
            <a:r>
              <a:rPr sz="1200" spc="-15" dirty="0">
                <a:latin typeface="Times New Roman"/>
                <a:cs typeface="Times New Roman"/>
              </a:rPr>
              <a:t> </a:t>
            </a:r>
            <a:r>
              <a:rPr sz="1200" dirty="0">
                <a:latin typeface="Times New Roman"/>
                <a:cs typeface="Times New Roman"/>
              </a:rPr>
              <a:t>Set</a:t>
            </a:r>
            <a:r>
              <a:rPr sz="1200" spc="-30" dirty="0">
                <a:latin typeface="Times New Roman"/>
                <a:cs typeface="Times New Roman"/>
              </a:rPr>
              <a:t> </a:t>
            </a:r>
            <a:r>
              <a:rPr sz="1200" spc="-10" dirty="0">
                <a:latin typeface="Times New Roman"/>
                <a:cs typeface="Times New Roman"/>
              </a:rPr>
              <a:t>Computer</a:t>
            </a:r>
            <a:endParaRPr sz="1200">
              <a:latin typeface="Times New Roman"/>
              <a:cs typeface="Times New Roman"/>
            </a:endParaRPr>
          </a:p>
          <a:p>
            <a:pPr>
              <a:lnSpc>
                <a:spcPct val="100000"/>
              </a:lnSpc>
              <a:spcBef>
                <a:spcPts val="1170"/>
              </a:spcBef>
              <a:buClr>
                <a:srgbClr val="3E762B"/>
              </a:buClr>
              <a:buFont typeface="Wingdings"/>
              <a:buChar char=""/>
            </a:pPr>
            <a:endParaRPr sz="1200">
              <a:latin typeface="Times New Roman"/>
              <a:cs typeface="Times New Roman"/>
            </a:endParaRPr>
          </a:p>
          <a:p>
            <a:pPr marL="434975" indent="-172720">
              <a:lnSpc>
                <a:spcPct val="100000"/>
              </a:lnSpc>
              <a:buClr>
                <a:srgbClr val="3E762B"/>
              </a:buClr>
              <a:buFont typeface="Wingdings"/>
              <a:buChar char=""/>
              <a:tabLst>
                <a:tab pos="434975" algn="l"/>
              </a:tabLst>
            </a:pPr>
            <a:r>
              <a:rPr sz="1200" b="1" dirty="0">
                <a:latin typeface="Times New Roman"/>
                <a:cs typeface="Times New Roman"/>
              </a:rPr>
              <a:t>RISC:</a:t>
            </a:r>
            <a:r>
              <a:rPr sz="1200" b="1" spc="-35" dirty="0">
                <a:latin typeface="Times New Roman"/>
                <a:cs typeface="Times New Roman"/>
              </a:rPr>
              <a:t> </a:t>
            </a:r>
            <a:r>
              <a:rPr sz="1200" b="1" dirty="0">
                <a:latin typeface="Times New Roman"/>
                <a:cs typeface="Times New Roman"/>
              </a:rPr>
              <a:t>Reduced</a:t>
            </a:r>
            <a:r>
              <a:rPr sz="1200" b="1" spc="-30" dirty="0">
                <a:latin typeface="Times New Roman"/>
                <a:cs typeface="Times New Roman"/>
              </a:rPr>
              <a:t> </a:t>
            </a:r>
            <a:r>
              <a:rPr sz="1200" dirty="0">
                <a:latin typeface="Times New Roman"/>
                <a:cs typeface="Times New Roman"/>
              </a:rPr>
              <a:t>Instruction</a:t>
            </a:r>
            <a:r>
              <a:rPr sz="1200" spc="-15" dirty="0">
                <a:latin typeface="Times New Roman"/>
                <a:cs typeface="Times New Roman"/>
              </a:rPr>
              <a:t> </a:t>
            </a:r>
            <a:r>
              <a:rPr sz="1200" dirty="0">
                <a:latin typeface="Times New Roman"/>
                <a:cs typeface="Times New Roman"/>
              </a:rPr>
              <a:t>Set</a:t>
            </a:r>
            <a:r>
              <a:rPr sz="1200" spc="-35" dirty="0">
                <a:latin typeface="Times New Roman"/>
                <a:cs typeface="Times New Roman"/>
              </a:rPr>
              <a:t> </a:t>
            </a:r>
            <a:r>
              <a:rPr sz="1200" spc="-10" dirty="0">
                <a:latin typeface="Times New Roman"/>
                <a:cs typeface="Times New Roman"/>
              </a:rPr>
              <a:t>Computer</a:t>
            </a:r>
            <a:endParaRPr sz="12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Instruction</a:t>
            </a:r>
            <a:r>
              <a:rPr sz="2200" spc="-30" dirty="0">
                <a:latin typeface="Georgia"/>
                <a:cs typeface="Georgia"/>
              </a:rPr>
              <a:t> </a:t>
            </a:r>
            <a:r>
              <a:rPr sz="2200" dirty="0">
                <a:latin typeface="Georgia"/>
                <a:cs typeface="Georgia"/>
              </a:rPr>
              <a:t>Set</a:t>
            </a:r>
            <a:r>
              <a:rPr sz="2200" spc="-50" dirty="0">
                <a:latin typeface="Georgia"/>
                <a:cs typeface="Georgia"/>
              </a:rPr>
              <a:t> </a:t>
            </a:r>
            <a:r>
              <a:rPr sz="2200" spc="-10" dirty="0">
                <a:latin typeface="Georgia"/>
                <a:cs typeface="Georgia"/>
              </a:rPr>
              <a:t>Architectures</a:t>
            </a:r>
            <a:r>
              <a:rPr sz="2200" spc="-40" dirty="0">
                <a:latin typeface="Georgia"/>
                <a:cs typeface="Georgia"/>
              </a:rPr>
              <a:t> </a:t>
            </a:r>
            <a:r>
              <a:rPr sz="2200" spc="-10" dirty="0">
                <a:latin typeface="Georgia"/>
                <a:cs typeface="Georgia"/>
              </a:rPr>
              <a:t>(ISA)</a:t>
            </a:r>
            <a:endParaRPr sz="2200" dirty="0">
              <a:latin typeface="Georgia"/>
              <a:cs typeface="Georgia"/>
            </a:endParaRPr>
          </a:p>
          <a:p>
            <a:pPr marL="436245" marR="219710" indent="-173990">
              <a:lnSpc>
                <a:spcPct val="100000"/>
              </a:lnSpc>
              <a:spcBef>
                <a:spcPts val="1345"/>
              </a:spcBef>
              <a:buClr>
                <a:srgbClr val="3E762B"/>
              </a:buClr>
              <a:buFont typeface="Wingdings"/>
              <a:buChar char=""/>
              <a:tabLst>
                <a:tab pos="436245" algn="l"/>
              </a:tabLst>
            </a:pPr>
            <a:r>
              <a:rPr sz="1400" dirty="0">
                <a:latin typeface="Times New Roman"/>
                <a:cs typeface="Times New Roman"/>
              </a:rPr>
              <a:t>ISA</a:t>
            </a:r>
            <a:r>
              <a:rPr sz="1400" spc="-95" dirty="0">
                <a:latin typeface="Times New Roman"/>
                <a:cs typeface="Times New Roman"/>
              </a:rPr>
              <a:t> </a:t>
            </a:r>
            <a:r>
              <a:rPr sz="1400" dirty="0">
                <a:latin typeface="Times New Roman"/>
                <a:cs typeface="Times New Roman"/>
              </a:rPr>
              <a:t>is</a:t>
            </a:r>
            <a:r>
              <a:rPr sz="1400" spc="-1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abstract</a:t>
            </a:r>
            <a:r>
              <a:rPr sz="1400" spc="-10" dirty="0">
                <a:latin typeface="Times New Roman"/>
                <a:cs typeface="Times New Roman"/>
              </a:rPr>
              <a:t> </a:t>
            </a:r>
            <a:r>
              <a:rPr sz="1400" dirty="0">
                <a:latin typeface="Times New Roman"/>
                <a:cs typeface="Times New Roman"/>
              </a:rPr>
              <a:t>structure</a:t>
            </a:r>
            <a:r>
              <a:rPr sz="1400" spc="-15"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dirty="0">
                <a:latin typeface="Times New Roman"/>
                <a:cs typeface="Times New Roman"/>
              </a:rPr>
              <a:t>a computer</a:t>
            </a:r>
            <a:r>
              <a:rPr sz="1400" spc="-30" dirty="0">
                <a:latin typeface="Times New Roman"/>
                <a:cs typeface="Times New Roman"/>
              </a:rPr>
              <a:t> </a:t>
            </a:r>
            <a:r>
              <a:rPr sz="1400" dirty="0">
                <a:latin typeface="Times New Roman"/>
                <a:cs typeface="Times New Roman"/>
              </a:rPr>
              <a:t>seen</a:t>
            </a:r>
            <a:r>
              <a:rPr sz="1400" spc="-25" dirty="0">
                <a:latin typeface="Times New Roman"/>
                <a:cs typeface="Times New Roman"/>
              </a:rPr>
              <a:t> </a:t>
            </a:r>
            <a:r>
              <a:rPr sz="1400" dirty="0">
                <a:latin typeface="Times New Roman"/>
                <a:cs typeface="Times New Roman"/>
              </a:rPr>
              <a:t>by</a:t>
            </a:r>
            <a:r>
              <a:rPr sz="1400" spc="-15" dirty="0">
                <a:latin typeface="Times New Roman"/>
                <a:cs typeface="Times New Roman"/>
              </a:rPr>
              <a:t> </a:t>
            </a:r>
            <a:r>
              <a:rPr sz="1400" dirty="0">
                <a:latin typeface="Times New Roman"/>
                <a:cs typeface="Times New Roman"/>
              </a:rPr>
              <a:t>an</a:t>
            </a:r>
            <a:r>
              <a:rPr sz="1400" spc="-10" dirty="0">
                <a:latin typeface="Times New Roman"/>
                <a:cs typeface="Times New Roman"/>
              </a:rPr>
              <a:t> assembly-language programmer.</a:t>
            </a:r>
            <a:endParaRPr sz="1400" dirty="0">
              <a:latin typeface="Times New Roman"/>
              <a:cs typeface="Times New Roman"/>
            </a:endParaRPr>
          </a:p>
          <a:p>
            <a:pPr>
              <a:lnSpc>
                <a:spcPct val="100000"/>
              </a:lnSpc>
              <a:spcBef>
                <a:spcPts val="114"/>
              </a:spcBef>
              <a:buFont typeface="Wingdings"/>
              <a:buChar char=""/>
            </a:pPr>
            <a:endParaRPr sz="1400" dirty="0">
              <a:latin typeface="Times New Roman"/>
              <a:cs typeface="Times New Roman"/>
            </a:endParaRPr>
          </a:p>
          <a:p>
            <a:pPr marL="434975" marR="253365" indent="-172720">
              <a:lnSpc>
                <a:spcPct val="100000"/>
              </a:lnSpc>
              <a:buClr>
                <a:srgbClr val="3E762B"/>
              </a:buClr>
              <a:buFont typeface="Wingdings"/>
              <a:buChar char=""/>
              <a:tabLst>
                <a:tab pos="436245" algn="l"/>
              </a:tabLst>
            </a:pPr>
            <a:r>
              <a:rPr sz="1200" b="1" dirty="0">
                <a:latin typeface="Times New Roman"/>
                <a:cs typeface="Times New Roman"/>
              </a:rPr>
              <a:t>Early</a:t>
            </a:r>
            <a:r>
              <a:rPr sz="1200" b="1" spc="-30" dirty="0">
                <a:latin typeface="Times New Roman"/>
                <a:cs typeface="Times New Roman"/>
              </a:rPr>
              <a:t> </a:t>
            </a:r>
            <a:r>
              <a:rPr sz="1200" b="1" dirty="0">
                <a:latin typeface="Times New Roman"/>
                <a:cs typeface="Times New Roman"/>
              </a:rPr>
              <a:t>computers</a:t>
            </a:r>
            <a:r>
              <a:rPr sz="1200" b="1" spc="5" dirty="0">
                <a:latin typeface="Times New Roman"/>
                <a:cs typeface="Times New Roman"/>
              </a:rPr>
              <a:t> </a:t>
            </a:r>
            <a:r>
              <a:rPr sz="1200" dirty="0">
                <a:latin typeface="Times New Roman"/>
                <a:cs typeface="Times New Roman"/>
              </a:rPr>
              <a:t>had</a:t>
            </a:r>
            <a:r>
              <a:rPr sz="1200" spc="-25" dirty="0">
                <a:latin typeface="Times New Roman"/>
                <a:cs typeface="Times New Roman"/>
              </a:rPr>
              <a:t> </a:t>
            </a:r>
            <a:r>
              <a:rPr sz="1200" b="1" dirty="0">
                <a:latin typeface="Times New Roman"/>
                <a:cs typeface="Times New Roman"/>
              </a:rPr>
              <a:t>small</a:t>
            </a:r>
            <a:r>
              <a:rPr sz="1200" b="1" spc="-25"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dirty="0">
                <a:latin typeface="Times New Roman"/>
                <a:cs typeface="Times New Roman"/>
              </a:rPr>
              <a:t>simple</a:t>
            </a:r>
            <a:r>
              <a:rPr sz="1200" b="1" spc="-25" dirty="0">
                <a:latin typeface="Times New Roman"/>
                <a:cs typeface="Times New Roman"/>
              </a:rPr>
              <a:t> </a:t>
            </a:r>
            <a:r>
              <a:rPr sz="1200" b="1" dirty="0">
                <a:latin typeface="Times New Roman"/>
                <a:cs typeface="Times New Roman"/>
              </a:rPr>
              <a:t>instruction</a:t>
            </a:r>
            <a:r>
              <a:rPr sz="1200" b="1" spc="-25" dirty="0">
                <a:latin typeface="Times New Roman"/>
                <a:cs typeface="Times New Roman"/>
              </a:rPr>
              <a:t> </a:t>
            </a:r>
            <a:r>
              <a:rPr sz="1200" b="1" dirty="0">
                <a:latin typeface="Times New Roman"/>
                <a:cs typeface="Times New Roman"/>
              </a:rPr>
              <a:t>sets</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forced</a:t>
            </a:r>
            <a:r>
              <a:rPr sz="1200" spc="-15" dirty="0">
                <a:latin typeface="Times New Roman"/>
                <a:cs typeface="Times New Roman"/>
              </a:rPr>
              <a:t> </a:t>
            </a:r>
            <a:r>
              <a:rPr sz="1200" dirty="0">
                <a:latin typeface="Times New Roman"/>
                <a:cs typeface="Times New Roman"/>
              </a:rPr>
              <a:t>mainly</a:t>
            </a:r>
            <a:r>
              <a:rPr sz="1200" spc="-4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20" dirty="0">
                <a:latin typeface="Times New Roman"/>
                <a:cs typeface="Times New Roman"/>
              </a:rPr>
              <a:t>need 	</a:t>
            </a:r>
            <a:r>
              <a:rPr sz="1200" dirty="0">
                <a:latin typeface="Times New Roman"/>
                <a:cs typeface="Times New Roman"/>
              </a:rPr>
              <a:t>to</a:t>
            </a:r>
            <a:r>
              <a:rPr sz="1200" spc="-10" dirty="0">
                <a:latin typeface="Times New Roman"/>
                <a:cs typeface="Times New Roman"/>
              </a:rPr>
              <a:t> minimize</a:t>
            </a:r>
            <a:r>
              <a:rPr sz="1200" spc="-4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hardware</a:t>
            </a:r>
            <a:r>
              <a:rPr sz="1200" spc="5" dirty="0">
                <a:latin typeface="Times New Roman"/>
                <a:cs typeface="Times New Roman"/>
              </a:rPr>
              <a:t> </a:t>
            </a:r>
            <a:r>
              <a:rPr sz="1200" dirty="0">
                <a:latin typeface="Times New Roman"/>
                <a:cs typeface="Times New Roman"/>
              </a:rPr>
              <a:t>used</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implement</a:t>
            </a:r>
            <a:r>
              <a:rPr sz="1200" spc="-30" dirty="0">
                <a:latin typeface="Times New Roman"/>
                <a:cs typeface="Times New Roman"/>
              </a:rPr>
              <a:t> </a:t>
            </a:r>
            <a:r>
              <a:rPr sz="1200" spc="-10" dirty="0">
                <a:latin typeface="Times New Roman"/>
                <a:cs typeface="Times New Roman"/>
              </a:rPr>
              <a:t>them.</a:t>
            </a:r>
            <a:endParaRPr sz="1200" dirty="0">
              <a:latin typeface="Times New Roman"/>
              <a:cs typeface="Times New Roman"/>
            </a:endParaRPr>
          </a:p>
          <a:p>
            <a:pPr>
              <a:lnSpc>
                <a:spcPct val="100000"/>
              </a:lnSpc>
              <a:spcBef>
                <a:spcPts val="540"/>
              </a:spcBef>
              <a:buFont typeface="Wingdings"/>
              <a:buChar char=""/>
            </a:pPr>
            <a:endParaRPr sz="1200" dirty="0">
              <a:latin typeface="Times New Roman"/>
              <a:cs typeface="Times New Roman"/>
            </a:endParaRPr>
          </a:p>
          <a:p>
            <a:pPr marL="434975" marR="229235" indent="-172720">
              <a:lnSpc>
                <a:spcPct val="100000"/>
              </a:lnSpc>
              <a:buClr>
                <a:srgbClr val="3E762B"/>
              </a:buClr>
              <a:buFont typeface="Wingdings"/>
              <a:buChar char=""/>
              <a:tabLst>
                <a:tab pos="436245" algn="l"/>
              </a:tabLst>
            </a:pPr>
            <a:r>
              <a:rPr sz="1200" dirty="0">
                <a:latin typeface="Times New Roman"/>
                <a:cs typeface="Times New Roman"/>
              </a:rPr>
              <a:t>As</a:t>
            </a:r>
            <a:r>
              <a:rPr sz="1200" spc="-40" dirty="0">
                <a:latin typeface="Times New Roman"/>
                <a:cs typeface="Times New Roman"/>
              </a:rPr>
              <a:t> </a:t>
            </a:r>
            <a:r>
              <a:rPr sz="1200" dirty="0">
                <a:latin typeface="Times New Roman"/>
                <a:cs typeface="Times New Roman"/>
              </a:rPr>
              <a:t>digital</a:t>
            </a:r>
            <a:r>
              <a:rPr sz="1200" spc="-40" dirty="0">
                <a:latin typeface="Times New Roman"/>
                <a:cs typeface="Times New Roman"/>
              </a:rPr>
              <a:t> </a:t>
            </a:r>
            <a:r>
              <a:rPr sz="1200" dirty="0">
                <a:latin typeface="Times New Roman"/>
                <a:cs typeface="Times New Roman"/>
              </a:rPr>
              <a:t>hardware</a:t>
            </a:r>
            <a:r>
              <a:rPr sz="1200" spc="-35" dirty="0">
                <a:latin typeface="Times New Roman"/>
                <a:cs typeface="Times New Roman"/>
              </a:rPr>
              <a:t> </a:t>
            </a:r>
            <a:r>
              <a:rPr sz="1200" dirty="0">
                <a:latin typeface="Times New Roman"/>
                <a:cs typeface="Times New Roman"/>
              </a:rPr>
              <a:t>became</a:t>
            </a:r>
            <a:r>
              <a:rPr sz="1200" spc="-35" dirty="0">
                <a:latin typeface="Times New Roman"/>
                <a:cs typeface="Times New Roman"/>
              </a:rPr>
              <a:t> </a:t>
            </a:r>
            <a:r>
              <a:rPr sz="1200" dirty="0">
                <a:latin typeface="Times New Roman"/>
                <a:cs typeface="Times New Roman"/>
              </a:rPr>
              <a:t>cheaper</a:t>
            </a:r>
            <a:r>
              <a:rPr sz="1200" spc="-3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advent</a:t>
            </a:r>
            <a:r>
              <a:rPr sz="1200" spc="-4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integrated</a:t>
            </a:r>
            <a:r>
              <a:rPr sz="1200" spc="-35" dirty="0">
                <a:latin typeface="Times New Roman"/>
                <a:cs typeface="Times New Roman"/>
              </a:rPr>
              <a:t> </a:t>
            </a:r>
            <a:r>
              <a:rPr sz="1200" dirty="0">
                <a:latin typeface="Times New Roman"/>
                <a:cs typeface="Times New Roman"/>
              </a:rPr>
              <a:t>circuits,</a:t>
            </a:r>
            <a:r>
              <a:rPr sz="1200" spc="-20" dirty="0">
                <a:latin typeface="Times New Roman"/>
                <a:cs typeface="Times New Roman"/>
              </a:rPr>
              <a:t> </a:t>
            </a:r>
            <a:r>
              <a:rPr sz="1200" b="1" spc="-10" dirty="0">
                <a:latin typeface="Times New Roman"/>
                <a:cs typeface="Times New Roman"/>
              </a:rPr>
              <a:t>computer 	</a:t>
            </a:r>
            <a:r>
              <a:rPr sz="1200" b="1" dirty="0">
                <a:latin typeface="Times New Roman"/>
                <a:cs typeface="Times New Roman"/>
              </a:rPr>
              <a:t>instructions</a:t>
            </a:r>
            <a:r>
              <a:rPr sz="1200" b="1" spc="-25" dirty="0">
                <a:latin typeface="Times New Roman"/>
                <a:cs typeface="Times New Roman"/>
              </a:rPr>
              <a:t> </a:t>
            </a:r>
            <a:r>
              <a:rPr sz="1200" b="1" dirty="0">
                <a:latin typeface="Times New Roman"/>
                <a:cs typeface="Times New Roman"/>
              </a:rPr>
              <a:t>tended</a:t>
            </a:r>
            <a:r>
              <a:rPr sz="1200" b="1" spc="-25" dirty="0">
                <a:latin typeface="Times New Roman"/>
                <a:cs typeface="Times New Roman"/>
              </a:rPr>
              <a:t> </a:t>
            </a:r>
            <a:r>
              <a:rPr sz="1200" b="1" dirty="0">
                <a:latin typeface="Times New Roman"/>
                <a:cs typeface="Times New Roman"/>
              </a:rPr>
              <a:t>to</a:t>
            </a:r>
            <a:r>
              <a:rPr sz="1200" b="1" spc="-25" dirty="0">
                <a:latin typeface="Times New Roman"/>
                <a:cs typeface="Times New Roman"/>
              </a:rPr>
              <a:t> </a:t>
            </a:r>
            <a:r>
              <a:rPr sz="1200" b="1" dirty="0">
                <a:latin typeface="Times New Roman"/>
                <a:cs typeface="Times New Roman"/>
              </a:rPr>
              <a:t>increase</a:t>
            </a:r>
            <a:r>
              <a:rPr sz="1200" b="1" spc="-20" dirty="0">
                <a:latin typeface="Times New Roman"/>
                <a:cs typeface="Times New Roman"/>
              </a:rPr>
              <a:t> </a:t>
            </a:r>
            <a:r>
              <a:rPr sz="1200" b="1" dirty="0">
                <a:latin typeface="Times New Roman"/>
                <a:cs typeface="Times New Roman"/>
              </a:rPr>
              <a:t>both</a:t>
            </a:r>
            <a:r>
              <a:rPr sz="1200" b="1" spc="-25" dirty="0">
                <a:latin typeface="Times New Roman"/>
                <a:cs typeface="Times New Roman"/>
              </a:rPr>
              <a:t> </a:t>
            </a:r>
            <a:r>
              <a:rPr sz="1200" b="1" dirty="0">
                <a:latin typeface="Times New Roman"/>
                <a:cs typeface="Times New Roman"/>
              </a:rPr>
              <a:t>in</a:t>
            </a:r>
            <a:r>
              <a:rPr sz="1200" b="1" spc="-35" dirty="0">
                <a:latin typeface="Times New Roman"/>
                <a:cs typeface="Times New Roman"/>
              </a:rPr>
              <a:t> </a:t>
            </a:r>
            <a:r>
              <a:rPr sz="1200" b="1" dirty="0">
                <a:latin typeface="Times New Roman"/>
                <a:cs typeface="Times New Roman"/>
              </a:rPr>
              <a:t>number</a:t>
            </a:r>
            <a:r>
              <a:rPr sz="1200" b="1" spc="-4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spc="-10" dirty="0">
                <a:latin typeface="Times New Roman"/>
                <a:cs typeface="Times New Roman"/>
              </a:rPr>
              <a:t>complexity</a:t>
            </a:r>
            <a:r>
              <a:rPr sz="1200" spc="-10" dirty="0">
                <a:latin typeface="Times New Roman"/>
                <a:cs typeface="Times New Roman"/>
              </a:rPr>
              <a:t>.</a:t>
            </a:r>
            <a:endParaRPr sz="12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Instruction</a:t>
            </a:r>
            <a:r>
              <a:rPr sz="2200" spc="-30" dirty="0">
                <a:latin typeface="Georgia"/>
                <a:cs typeface="Georgia"/>
              </a:rPr>
              <a:t> </a:t>
            </a:r>
            <a:r>
              <a:rPr sz="2200" dirty="0">
                <a:latin typeface="Georgia"/>
                <a:cs typeface="Georgia"/>
              </a:rPr>
              <a:t>Set</a:t>
            </a:r>
            <a:r>
              <a:rPr sz="2200" spc="-50" dirty="0">
                <a:latin typeface="Georgia"/>
                <a:cs typeface="Georgia"/>
              </a:rPr>
              <a:t> </a:t>
            </a:r>
            <a:r>
              <a:rPr sz="2200" spc="-10" dirty="0">
                <a:latin typeface="Georgia"/>
                <a:cs typeface="Georgia"/>
              </a:rPr>
              <a:t>Architectures</a:t>
            </a:r>
            <a:r>
              <a:rPr sz="2200" spc="-40" dirty="0">
                <a:latin typeface="Georgia"/>
                <a:cs typeface="Georgia"/>
              </a:rPr>
              <a:t> </a:t>
            </a:r>
            <a:r>
              <a:rPr sz="2200" spc="-10" dirty="0">
                <a:latin typeface="Georgia"/>
                <a:cs typeface="Georgia"/>
              </a:rPr>
              <a:t>(ISA)</a:t>
            </a:r>
            <a:endParaRPr sz="2200" dirty="0">
              <a:latin typeface="Georgia"/>
              <a:cs typeface="Georgia"/>
            </a:endParaRPr>
          </a:p>
          <a:p>
            <a:pPr marL="434975" marR="848360" indent="-172720">
              <a:lnSpc>
                <a:spcPct val="100000"/>
              </a:lnSpc>
              <a:spcBef>
                <a:spcPts val="1350"/>
              </a:spcBef>
              <a:buClr>
                <a:srgbClr val="3E762B"/>
              </a:buClr>
              <a:buFont typeface="Wingdings"/>
              <a:buChar char=""/>
              <a:tabLst>
                <a:tab pos="436245" algn="l"/>
              </a:tabLst>
            </a:pPr>
            <a:r>
              <a:rPr sz="1200" dirty="0">
                <a:latin typeface="Times New Roman"/>
                <a:cs typeface="Times New Roman"/>
              </a:rPr>
              <a:t>Many</a:t>
            </a:r>
            <a:r>
              <a:rPr sz="1200" spc="-35" dirty="0">
                <a:latin typeface="Times New Roman"/>
                <a:cs typeface="Times New Roman"/>
              </a:rPr>
              <a:t> </a:t>
            </a:r>
            <a:r>
              <a:rPr sz="1200" dirty="0">
                <a:latin typeface="Times New Roman"/>
                <a:cs typeface="Times New Roman"/>
              </a:rPr>
              <a:t>computers</a:t>
            </a:r>
            <a:r>
              <a:rPr sz="1200" spc="-25" dirty="0">
                <a:latin typeface="Times New Roman"/>
                <a:cs typeface="Times New Roman"/>
              </a:rPr>
              <a:t> </a:t>
            </a:r>
            <a:r>
              <a:rPr sz="1200" dirty="0">
                <a:latin typeface="Times New Roman"/>
                <a:cs typeface="Times New Roman"/>
              </a:rPr>
              <a:t>have</a:t>
            </a:r>
            <a:r>
              <a:rPr sz="1200" spc="-20" dirty="0">
                <a:latin typeface="Times New Roman"/>
                <a:cs typeface="Times New Roman"/>
              </a:rPr>
              <a:t> </a:t>
            </a:r>
            <a:r>
              <a:rPr sz="1200" dirty="0">
                <a:latin typeface="Times New Roman"/>
                <a:cs typeface="Times New Roman"/>
              </a:rPr>
              <a:t>instruction</a:t>
            </a:r>
            <a:r>
              <a:rPr sz="1200" spc="-40" dirty="0">
                <a:latin typeface="Times New Roman"/>
                <a:cs typeface="Times New Roman"/>
              </a:rPr>
              <a:t> </a:t>
            </a:r>
            <a:r>
              <a:rPr sz="1200" dirty="0">
                <a:latin typeface="Times New Roman"/>
                <a:cs typeface="Times New Roman"/>
              </a:rPr>
              <a:t>sets</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more</a:t>
            </a:r>
            <a:r>
              <a:rPr sz="1200" spc="-35" dirty="0">
                <a:latin typeface="Times New Roman"/>
                <a:cs typeface="Times New Roman"/>
              </a:rPr>
              <a:t> </a:t>
            </a:r>
            <a:r>
              <a:rPr sz="1200" dirty="0">
                <a:latin typeface="Times New Roman"/>
                <a:cs typeface="Times New Roman"/>
              </a:rPr>
              <a:t>than</a:t>
            </a:r>
            <a:r>
              <a:rPr sz="1200" spc="-25" dirty="0">
                <a:latin typeface="Times New Roman"/>
                <a:cs typeface="Times New Roman"/>
              </a:rPr>
              <a:t> </a:t>
            </a:r>
            <a:r>
              <a:rPr sz="1200" dirty="0">
                <a:latin typeface="Times New Roman"/>
                <a:cs typeface="Times New Roman"/>
              </a:rPr>
              <a:t>100</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sometimes 	</a:t>
            </a:r>
            <a:r>
              <a:rPr sz="1200" dirty="0">
                <a:latin typeface="Times New Roman"/>
                <a:cs typeface="Times New Roman"/>
              </a:rPr>
              <a:t>even</a:t>
            </a:r>
            <a:r>
              <a:rPr sz="1200" spc="-30" dirty="0">
                <a:latin typeface="Times New Roman"/>
                <a:cs typeface="Times New Roman"/>
              </a:rPr>
              <a:t> </a:t>
            </a:r>
            <a:r>
              <a:rPr sz="1200" dirty="0">
                <a:latin typeface="Times New Roman"/>
                <a:cs typeface="Times New Roman"/>
              </a:rPr>
              <a:t>more</a:t>
            </a:r>
            <a:r>
              <a:rPr sz="1200" spc="-40" dirty="0">
                <a:latin typeface="Times New Roman"/>
                <a:cs typeface="Times New Roman"/>
              </a:rPr>
              <a:t> </a:t>
            </a:r>
            <a:r>
              <a:rPr sz="1200" dirty="0">
                <a:latin typeface="Times New Roman"/>
                <a:cs typeface="Times New Roman"/>
              </a:rPr>
              <a:t>than</a:t>
            </a:r>
            <a:r>
              <a:rPr sz="1200" spc="-30" dirty="0">
                <a:latin typeface="Times New Roman"/>
                <a:cs typeface="Times New Roman"/>
              </a:rPr>
              <a:t> </a:t>
            </a:r>
            <a:r>
              <a:rPr sz="1200" dirty="0">
                <a:latin typeface="Times New Roman"/>
                <a:cs typeface="Times New Roman"/>
              </a:rPr>
              <a:t>200</a:t>
            </a:r>
            <a:r>
              <a:rPr sz="1200" spc="-30" dirty="0">
                <a:latin typeface="Times New Roman"/>
                <a:cs typeface="Times New Roman"/>
              </a:rPr>
              <a:t> </a:t>
            </a:r>
            <a:r>
              <a:rPr sz="1200" dirty="0">
                <a:latin typeface="Times New Roman"/>
                <a:cs typeface="Times New Roman"/>
              </a:rPr>
              <a:t>instructions.</a:t>
            </a:r>
            <a:r>
              <a:rPr sz="1200" spc="-70" dirty="0">
                <a:latin typeface="Times New Roman"/>
                <a:cs typeface="Times New Roman"/>
              </a:rPr>
              <a:t> </a:t>
            </a:r>
            <a:r>
              <a:rPr sz="1200" dirty="0">
                <a:latin typeface="Times New Roman"/>
                <a:cs typeface="Times New Roman"/>
              </a:rPr>
              <a:t>These</a:t>
            </a:r>
            <a:r>
              <a:rPr sz="1200" spc="-30" dirty="0">
                <a:latin typeface="Times New Roman"/>
                <a:cs typeface="Times New Roman"/>
              </a:rPr>
              <a:t> </a:t>
            </a:r>
            <a:r>
              <a:rPr sz="1200" dirty="0">
                <a:latin typeface="Times New Roman"/>
                <a:cs typeface="Times New Roman"/>
              </a:rPr>
              <a:t>computers</a:t>
            </a:r>
            <a:r>
              <a:rPr sz="1200" spc="-30" dirty="0">
                <a:latin typeface="Times New Roman"/>
                <a:cs typeface="Times New Roman"/>
              </a:rPr>
              <a:t> </a:t>
            </a:r>
            <a:r>
              <a:rPr sz="1200" dirty="0">
                <a:latin typeface="Times New Roman"/>
                <a:cs typeface="Times New Roman"/>
              </a:rPr>
              <a:t>also</a:t>
            </a:r>
            <a:r>
              <a:rPr sz="1200" spc="-30" dirty="0">
                <a:latin typeface="Times New Roman"/>
                <a:cs typeface="Times New Roman"/>
              </a:rPr>
              <a:t> </a:t>
            </a:r>
            <a:r>
              <a:rPr sz="1200" dirty="0">
                <a:latin typeface="Times New Roman"/>
                <a:cs typeface="Times New Roman"/>
              </a:rPr>
              <a:t>employ</a:t>
            </a:r>
            <a:r>
              <a:rPr sz="1200" spc="-4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variety</a:t>
            </a:r>
            <a:r>
              <a:rPr sz="1200" spc="-35" dirty="0">
                <a:latin typeface="Times New Roman"/>
                <a:cs typeface="Times New Roman"/>
              </a:rPr>
              <a:t> </a:t>
            </a:r>
            <a:r>
              <a:rPr sz="1200" spc="-25" dirty="0">
                <a:latin typeface="Times New Roman"/>
                <a:cs typeface="Times New Roman"/>
              </a:rPr>
              <a:t>of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types</a:t>
            </a:r>
            <a:r>
              <a:rPr sz="1200" spc="-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large</a:t>
            </a:r>
            <a:r>
              <a:rPr sz="1200" spc="-30" dirty="0">
                <a:latin typeface="Times New Roman"/>
                <a:cs typeface="Times New Roman"/>
              </a:rPr>
              <a:t> </a:t>
            </a:r>
            <a:r>
              <a:rPr sz="1200" dirty="0">
                <a:latin typeface="Times New Roman"/>
                <a:cs typeface="Times New Roman"/>
              </a:rPr>
              <a:t>number</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addressing</a:t>
            </a:r>
            <a:r>
              <a:rPr sz="1200" spc="-40" dirty="0">
                <a:latin typeface="Times New Roman"/>
                <a:cs typeface="Times New Roman"/>
              </a:rPr>
              <a:t> </a:t>
            </a:r>
            <a:r>
              <a:rPr sz="1200" spc="-10" dirty="0">
                <a:latin typeface="Times New Roman"/>
                <a:cs typeface="Times New Roman"/>
              </a:rPr>
              <a:t>modes.</a:t>
            </a:r>
            <a:endParaRPr sz="1200" dirty="0">
              <a:latin typeface="Times New Roman"/>
              <a:cs typeface="Times New Roman"/>
            </a:endParaRPr>
          </a:p>
          <a:p>
            <a:pPr>
              <a:lnSpc>
                <a:spcPct val="100000"/>
              </a:lnSpc>
              <a:spcBef>
                <a:spcPts val="535"/>
              </a:spcBef>
              <a:buFont typeface="Wingdings"/>
              <a:buChar char=""/>
            </a:pPr>
            <a:endParaRPr sz="1200" dirty="0">
              <a:latin typeface="Times New Roman"/>
              <a:cs typeface="Times New Roman"/>
            </a:endParaRPr>
          </a:p>
          <a:p>
            <a:pPr marL="435609" indent="-173355">
              <a:lnSpc>
                <a:spcPct val="100000"/>
              </a:lnSpc>
              <a:buClr>
                <a:srgbClr val="3E762B"/>
              </a:buClr>
              <a:buFont typeface="Wingdings"/>
              <a:buChar char=""/>
              <a:tabLst>
                <a:tab pos="435609" algn="l"/>
              </a:tabLst>
            </a:pPr>
            <a:r>
              <a:rPr sz="1400" dirty="0">
                <a:latin typeface="Times New Roman"/>
                <a:cs typeface="Times New Roman"/>
              </a:rPr>
              <a:t>A</a:t>
            </a:r>
            <a:r>
              <a:rPr sz="1400" spc="-90" dirty="0">
                <a:latin typeface="Times New Roman"/>
                <a:cs typeface="Times New Roman"/>
              </a:rPr>
              <a:t> </a:t>
            </a:r>
            <a:r>
              <a:rPr sz="1400" dirty="0">
                <a:latin typeface="Times New Roman"/>
                <a:cs typeface="Times New Roman"/>
              </a:rPr>
              <a:t>computer</a:t>
            </a:r>
            <a:r>
              <a:rPr sz="1400" spc="-50" dirty="0">
                <a:latin typeface="Times New Roman"/>
                <a:cs typeface="Times New Roman"/>
              </a:rPr>
              <a:t> </a:t>
            </a:r>
            <a:r>
              <a:rPr sz="1400" dirty="0">
                <a:latin typeface="Times New Roman"/>
                <a:cs typeface="Times New Roman"/>
              </a:rPr>
              <a:t>with</a:t>
            </a:r>
            <a:r>
              <a:rPr sz="1400" spc="-30" dirty="0">
                <a:latin typeface="Times New Roman"/>
                <a:cs typeface="Times New Roman"/>
              </a:rPr>
              <a:t> </a:t>
            </a:r>
            <a:r>
              <a:rPr sz="1400" dirty="0">
                <a:latin typeface="Times New Roman"/>
                <a:cs typeface="Times New Roman"/>
              </a:rPr>
              <a:t>a</a:t>
            </a:r>
            <a:r>
              <a:rPr sz="1400" spc="-20" dirty="0">
                <a:latin typeface="Times New Roman"/>
                <a:cs typeface="Times New Roman"/>
              </a:rPr>
              <a:t> </a:t>
            </a:r>
            <a:r>
              <a:rPr sz="1400" dirty="0">
                <a:latin typeface="Times New Roman"/>
                <a:cs typeface="Times New Roman"/>
              </a:rPr>
              <a:t>large</a:t>
            </a:r>
            <a:r>
              <a:rPr sz="1400" spc="-55" dirty="0">
                <a:latin typeface="Times New Roman"/>
                <a:cs typeface="Times New Roman"/>
              </a:rPr>
              <a:t> </a:t>
            </a:r>
            <a:r>
              <a:rPr sz="1400" dirty="0">
                <a:latin typeface="Times New Roman"/>
                <a:cs typeface="Times New Roman"/>
              </a:rPr>
              <a:t>number</a:t>
            </a:r>
            <a:r>
              <a:rPr sz="1400" spc="-20"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dirty="0">
                <a:latin typeface="Times New Roman"/>
                <a:cs typeface="Times New Roman"/>
              </a:rPr>
              <a:t>instructions</a:t>
            </a:r>
            <a:r>
              <a:rPr sz="1400" spc="-60"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dirty="0">
                <a:latin typeface="Times New Roman"/>
                <a:cs typeface="Times New Roman"/>
              </a:rPr>
              <a:t>classified</a:t>
            </a:r>
            <a:r>
              <a:rPr sz="1400" spc="-55" dirty="0">
                <a:latin typeface="Times New Roman"/>
                <a:cs typeface="Times New Roman"/>
              </a:rPr>
              <a:t> </a:t>
            </a:r>
            <a:r>
              <a:rPr sz="1400" dirty="0">
                <a:latin typeface="Times New Roman"/>
                <a:cs typeface="Times New Roman"/>
              </a:rPr>
              <a:t>as</a:t>
            </a:r>
            <a:r>
              <a:rPr sz="1400" spc="-25" dirty="0">
                <a:latin typeface="Times New Roman"/>
                <a:cs typeface="Times New Roman"/>
              </a:rPr>
              <a:t> </a:t>
            </a:r>
            <a:r>
              <a:rPr sz="1400" spc="-50" dirty="0">
                <a:latin typeface="Times New Roman"/>
                <a:cs typeface="Times New Roman"/>
              </a:rPr>
              <a:t>a</a:t>
            </a:r>
            <a:endParaRPr sz="1400" dirty="0">
              <a:latin typeface="Times New Roman"/>
              <a:cs typeface="Times New Roman"/>
            </a:endParaRPr>
          </a:p>
          <a:p>
            <a:pPr marL="436245">
              <a:lnSpc>
                <a:spcPct val="100000"/>
              </a:lnSpc>
            </a:pPr>
            <a:r>
              <a:rPr sz="1400" b="1" i="1" dirty="0">
                <a:solidFill>
                  <a:srgbClr val="3E762B"/>
                </a:solidFill>
                <a:latin typeface="Times New Roman"/>
                <a:cs typeface="Times New Roman"/>
              </a:rPr>
              <a:t>Complex</a:t>
            </a:r>
            <a:r>
              <a:rPr sz="1400" b="1" i="1" spc="-60" dirty="0">
                <a:solidFill>
                  <a:srgbClr val="3E762B"/>
                </a:solidFill>
                <a:latin typeface="Times New Roman"/>
                <a:cs typeface="Times New Roman"/>
              </a:rPr>
              <a:t> </a:t>
            </a:r>
            <a:r>
              <a:rPr sz="1400" b="1" i="1" dirty="0">
                <a:solidFill>
                  <a:srgbClr val="3E762B"/>
                </a:solidFill>
                <a:latin typeface="Times New Roman"/>
                <a:cs typeface="Times New Roman"/>
              </a:rPr>
              <a:t>Instruction</a:t>
            </a:r>
            <a:r>
              <a:rPr sz="1400" b="1" i="1" spc="-50" dirty="0">
                <a:solidFill>
                  <a:srgbClr val="3E762B"/>
                </a:solidFill>
                <a:latin typeface="Times New Roman"/>
                <a:cs typeface="Times New Roman"/>
              </a:rPr>
              <a:t> </a:t>
            </a:r>
            <a:r>
              <a:rPr sz="1400" b="1" i="1" dirty="0">
                <a:solidFill>
                  <a:srgbClr val="3E762B"/>
                </a:solidFill>
                <a:latin typeface="Times New Roman"/>
                <a:cs typeface="Times New Roman"/>
              </a:rPr>
              <a:t>Set</a:t>
            </a:r>
            <a:r>
              <a:rPr sz="1400" b="1" i="1" spc="-10" dirty="0">
                <a:solidFill>
                  <a:srgbClr val="3E762B"/>
                </a:solidFill>
                <a:latin typeface="Times New Roman"/>
                <a:cs typeface="Times New Roman"/>
              </a:rPr>
              <a:t> </a:t>
            </a:r>
            <a:r>
              <a:rPr sz="1400" b="1" i="1" dirty="0">
                <a:solidFill>
                  <a:srgbClr val="3E762B"/>
                </a:solidFill>
                <a:latin typeface="Times New Roman"/>
                <a:cs typeface="Times New Roman"/>
              </a:rPr>
              <a:t>Computer</a:t>
            </a:r>
            <a:r>
              <a:rPr sz="1400" i="1" dirty="0">
                <a:latin typeface="Times New Roman"/>
                <a:cs typeface="Times New Roman"/>
              </a:rPr>
              <a:t>,</a:t>
            </a:r>
            <a:r>
              <a:rPr sz="1400" i="1" spc="-55" dirty="0">
                <a:latin typeface="Times New Roman"/>
                <a:cs typeface="Times New Roman"/>
              </a:rPr>
              <a:t> </a:t>
            </a:r>
            <a:r>
              <a:rPr sz="1400" dirty="0">
                <a:latin typeface="Times New Roman"/>
                <a:cs typeface="Times New Roman"/>
              </a:rPr>
              <a:t>abbreviated</a:t>
            </a:r>
            <a:r>
              <a:rPr sz="1400" spc="-50" dirty="0">
                <a:latin typeface="Times New Roman"/>
                <a:cs typeface="Times New Roman"/>
              </a:rPr>
              <a:t> </a:t>
            </a:r>
            <a:r>
              <a:rPr sz="1400" b="1" spc="-10" dirty="0">
                <a:solidFill>
                  <a:srgbClr val="3E762B"/>
                </a:solidFill>
                <a:latin typeface="Times New Roman"/>
                <a:cs typeface="Times New Roman"/>
              </a:rPr>
              <a:t>CISC</a:t>
            </a:r>
            <a:r>
              <a:rPr sz="1400" spc="-10" dirty="0">
                <a:latin typeface="Times New Roman"/>
                <a:cs typeface="Times New Roman"/>
              </a:rPr>
              <a:t>.</a:t>
            </a:r>
            <a:endParaRPr sz="14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Instruction</a:t>
            </a:r>
            <a:r>
              <a:rPr sz="2200" spc="-30" dirty="0">
                <a:latin typeface="Georgia"/>
                <a:cs typeface="Georgia"/>
              </a:rPr>
              <a:t> </a:t>
            </a:r>
            <a:r>
              <a:rPr sz="2200" dirty="0">
                <a:latin typeface="Georgia"/>
                <a:cs typeface="Georgia"/>
              </a:rPr>
              <a:t>Set</a:t>
            </a:r>
            <a:r>
              <a:rPr sz="2200" spc="-50" dirty="0">
                <a:latin typeface="Georgia"/>
                <a:cs typeface="Georgia"/>
              </a:rPr>
              <a:t> </a:t>
            </a:r>
            <a:r>
              <a:rPr sz="2200" spc="-10" dirty="0">
                <a:latin typeface="Georgia"/>
                <a:cs typeface="Georgia"/>
              </a:rPr>
              <a:t>Architectures</a:t>
            </a:r>
            <a:r>
              <a:rPr sz="2200" spc="-40" dirty="0">
                <a:latin typeface="Georgia"/>
                <a:cs typeface="Georgia"/>
              </a:rPr>
              <a:t> </a:t>
            </a:r>
            <a:r>
              <a:rPr sz="2200" spc="-10" dirty="0">
                <a:latin typeface="Georgia"/>
                <a:cs typeface="Georgia"/>
              </a:rPr>
              <a:t>(ISA)</a:t>
            </a:r>
            <a:endParaRPr sz="2200">
              <a:latin typeface="Georgia"/>
              <a:cs typeface="Georgia"/>
            </a:endParaRPr>
          </a:p>
          <a:p>
            <a:pPr marL="434975" marR="932180" indent="-172720" algn="just">
              <a:lnSpc>
                <a:spcPts val="1300"/>
              </a:lnSpc>
              <a:spcBef>
                <a:spcPts val="1370"/>
              </a:spcBef>
              <a:buClr>
                <a:srgbClr val="3E762B"/>
              </a:buClr>
              <a:buFont typeface="Wingdings"/>
              <a:buChar char=""/>
              <a:tabLst>
                <a:tab pos="436245" algn="l"/>
              </a:tabLst>
            </a:pPr>
            <a:r>
              <a:rPr sz="1200" dirty="0">
                <a:latin typeface="Times New Roman"/>
                <a:cs typeface="Times New Roman"/>
              </a:rPr>
              <a:t>In the</a:t>
            </a:r>
            <a:r>
              <a:rPr sz="1200" spc="-20" dirty="0">
                <a:latin typeface="Times New Roman"/>
                <a:cs typeface="Times New Roman"/>
              </a:rPr>
              <a:t> </a:t>
            </a:r>
            <a:r>
              <a:rPr sz="1200" dirty="0">
                <a:latin typeface="Times New Roman"/>
                <a:cs typeface="Times New Roman"/>
              </a:rPr>
              <a:t>early</a:t>
            </a:r>
            <a:r>
              <a:rPr sz="1200" spc="-10" dirty="0">
                <a:latin typeface="Times New Roman"/>
                <a:cs typeface="Times New Roman"/>
              </a:rPr>
              <a:t> </a:t>
            </a:r>
            <a:r>
              <a:rPr sz="1200" dirty="0">
                <a:latin typeface="Times New Roman"/>
                <a:cs typeface="Times New Roman"/>
              </a:rPr>
              <a:t>1980s,</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number</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b="1" spc="-10" dirty="0">
                <a:latin typeface="Times New Roman"/>
                <a:cs typeface="Times New Roman"/>
              </a:rPr>
              <a:t>computer</a:t>
            </a:r>
            <a:r>
              <a:rPr sz="1200" b="1" spc="-25" dirty="0">
                <a:latin typeface="Times New Roman"/>
                <a:cs typeface="Times New Roman"/>
              </a:rPr>
              <a:t> </a:t>
            </a:r>
            <a:r>
              <a:rPr sz="1200" b="1" dirty="0">
                <a:latin typeface="Times New Roman"/>
                <a:cs typeface="Times New Roman"/>
              </a:rPr>
              <a:t>designers</a:t>
            </a:r>
            <a:r>
              <a:rPr sz="1200" b="1" spc="-20" dirty="0">
                <a:latin typeface="Times New Roman"/>
                <a:cs typeface="Times New Roman"/>
              </a:rPr>
              <a:t> </a:t>
            </a:r>
            <a:r>
              <a:rPr sz="1200" b="1" spc="-10" dirty="0">
                <a:latin typeface="Times New Roman"/>
                <a:cs typeface="Times New Roman"/>
              </a:rPr>
              <a:t>recommended</a:t>
            </a:r>
            <a:r>
              <a:rPr sz="1200" b="1" spc="25" dirty="0">
                <a:latin typeface="Times New Roman"/>
                <a:cs typeface="Times New Roman"/>
              </a:rPr>
              <a:t> </a:t>
            </a:r>
            <a:r>
              <a:rPr sz="1200" spc="-20" dirty="0">
                <a:latin typeface="Times New Roman"/>
                <a:cs typeface="Times New Roman"/>
              </a:rPr>
              <a:t>that 	</a:t>
            </a:r>
            <a:r>
              <a:rPr sz="1200" dirty="0">
                <a:latin typeface="Times New Roman"/>
                <a:cs typeface="Times New Roman"/>
              </a:rPr>
              <a:t>computers</a:t>
            </a:r>
            <a:r>
              <a:rPr sz="1200" spc="-25" dirty="0">
                <a:latin typeface="Times New Roman"/>
                <a:cs typeface="Times New Roman"/>
              </a:rPr>
              <a:t> </a:t>
            </a:r>
            <a:r>
              <a:rPr sz="1200" dirty="0">
                <a:latin typeface="Times New Roman"/>
                <a:cs typeface="Times New Roman"/>
              </a:rPr>
              <a:t>use</a:t>
            </a:r>
            <a:r>
              <a:rPr sz="1200" spc="-30" dirty="0">
                <a:latin typeface="Times New Roman"/>
                <a:cs typeface="Times New Roman"/>
              </a:rPr>
              <a:t> </a:t>
            </a:r>
            <a:r>
              <a:rPr sz="1200" b="1" dirty="0">
                <a:latin typeface="Times New Roman"/>
                <a:cs typeface="Times New Roman"/>
              </a:rPr>
              <a:t>fewer</a:t>
            </a:r>
            <a:r>
              <a:rPr sz="1200" b="1" spc="-50" dirty="0">
                <a:latin typeface="Times New Roman"/>
                <a:cs typeface="Times New Roman"/>
              </a:rPr>
              <a:t> </a:t>
            </a:r>
            <a:r>
              <a:rPr sz="1200" b="1" dirty="0">
                <a:latin typeface="Times New Roman"/>
                <a:cs typeface="Times New Roman"/>
              </a:rPr>
              <a:t>instructions</a:t>
            </a:r>
            <a:r>
              <a:rPr sz="1200" b="1" spc="-25" dirty="0">
                <a:latin typeface="Times New Roman"/>
                <a:cs typeface="Times New Roman"/>
              </a:rPr>
              <a:t> </a:t>
            </a:r>
            <a:r>
              <a:rPr sz="1200" b="1" dirty="0">
                <a:latin typeface="Times New Roman"/>
                <a:cs typeface="Times New Roman"/>
              </a:rPr>
              <a:t>with</a:t>
            </a:r>
            <a:r>
              <a:rPr sz="1200" b="1" spc="-30" dirty="0">
                <a:latin typeface="Times New Roman"/>
                <a:cs typeface="Times New Roman"/>
              </a:rPr>
              <a:t> </a:t>
            </a:r>
            <a:r>
              <a:rPr sz="1200" b="1" dirty="0">
                <a:latin typeface="Times New Roman"/>
                <a:cs typeface="Times New Roman"/>
              </a:rPr>
              <a:t>simple</a:t>
            </a:r>
            <a:r>
              <a:rPr sz="1200" b="1" spc="-20" dirty="0">
                <a:latin typeface="Times New Roman"/>
                <a:cs typeface="Times New Roman"/>
              </a:rPr>
              <a:t> </a:t>
            </a:r>
            <a:r>
              <a:rPr sz="1200" b="1" dirty="0">
                <a:latin typeface="Times New Roman"/>
                <a:cs typeface="Times New Roman"/>
              </a:rPr>
              <a:t>constructs </a:t>
            </a:r>
            <a:r>
              <a:rPr sz="1200" dirty="0">
                <a:latin typeface="Times New Roman"/>
                <a:cs typeface="Times New Roman"/>
              </a:rPr>
              <a:t>so</a:t>
            </a:r>
            <a:r>
              <a:rPr sz="1200" spc="-25"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5" dirty="0">
                <a:latin typeface="Times New Roman"/>
                <a:cs typeface="Times New Roman"/>
              </a:rPr>
              <a:t> be 	</a:t>
            </a:r>
            <a:r>
              <a:rPr sz="1200" b="1" dirty="0">
                <a:latin typeface="Times New Roman"/>
                <a:cs typeface="Times New Roman"/>
              </a:rPr>
              <a:t>executed</a:t>
            </a:r>
            <a:r>
              <a:rPr sz="1200" b="1" spc="-25" dirty="0">
                <a:latin typeface="Times New Roman"/>
                <a:cs typeface="Times New Roman"/>
              </a:rPr>
              <a:t> </a:t>
            </a:r>
            <a:r>
              <a:rPr sz="1200" b="1" dirty="0">
                <a:latin typeface="Times New Roman"/>
                <a:cs typeface="Times New Roman"/>
              </a:rPr>
              <a:t>much</a:t>
            </a:r>
            <a:r>
              <a:rPr sz="1200" b="1" spc="-20" dirty="0">
                <a:latin typeface="Times New Roman"/>
                <a:cs typeface="Times New Roman"/>
              </a:rPr>
              <a:t> </a:t>
            </a:r>
            <a:r>
              <a:rPr sz="1200" b="1" dirty="0">
                <a:latin typeface="Times New Roman"/>
                <a:cs typeface="Times New Roman"/>
              </a:rPr>
              <a:t>faster</a:t>
            </a:r>
            <a:r>
              <a:rPr sz="1200" b="1" spc="-55" dirty="0">
                <a:latin typeface="Times New Roman"/>
                <a:cs typeface="Times New Roman"/>
              </a:rPr>
              <a:t> </a:t>
            </a:r>
            <a:r>
              <a:rPr sz="1200" b="1" dirty="0">
                <a:latin typeface="Times New Roman"/>
                <a:cs typeface="Times New Roman"/>
              </a:rPr>
              <a:t>within</a:t>
            </a:r>
            <a:r>
              <a:rPr sz="1200" b="1" spc="-40" dirty="0">
                <a:latin typeface="Times New Roman"/>
                <a:cs typeface="Times New Roman"/>
              </a:rPr>
              <a:t> </a:t>
            </a:r>
            <a:r>
              <a:rPr sz="1200" b="1" dirty="0">
                <a:latin typeface="Times New Roman"/>
                <a:cs typeface="Times New Roman"/>
              </a:rPr>
              <a:t>the</a:t>
            </a:r>
            <a:r>
              <a:rPr sz="1200" b="1" spc="-30" dirty="0">
                <a:latin typeface="Times New Roman"/>
                <a:cs typeface="Times New Roman"/>
              </a:rPr>
              <a:t> </a:t>
            </a:r>
            <a:r>
              <a:rPr sz="1200" b="1" dirty="0">
                <a:latin typeface="Times New Roman"/>
                <a:cs typeface="Times New Roman"/>
              </a:rPr>
              <a:t>CPU </a:t>
            </a:r>
            <a:r>
              <a:rPr sz="1200" dirty="0">
                <a:latin typeface="Times New Roman"/>
                <a:cs typeface="Times New Roman"/>
              </a:rPr>
              <a:t>without</a:t>
            </a:r>
            <a:r>
              <a:rPr sz="1200" spc="-40" dirty="0">
                <a:latin typeface="Times New Roman"/>
                <a:cs typeface="Times New Roman"/>
              </a:rPr>
              <a:t> </a:t>
            </a:r>
            <a:r>
              <a:rPr sz="1200" dirty="0">
                <a:latin typeface="Times New Roman"/>
                <a:cs typeface="Times New Roman"/>
              </a:rPr>
              <a:t>having</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use</a:t>
            </a:r>
            <a:r>
              <a:rPr sz="1200" spc="-30" dirty="0">
                <a:latin typeface="Times New Roman"/>
                <a:cs typeface="Times New Roman"/>
              </a:rPr>
              <a:t> </a:t>
            </a:r>
            <a:r>
              <a:rPr sz="1200" dirty="0">
                <a:latin typeface="Times New Roman"/>
                <a:cs typeface="Times New Roman"/>
              </a:rPr>
              <a:t>memory</a:t>
            </a:r>
            <a:r>
              <a:rPr sz="1200" spc="-35" dirty="0">
                <a:latin typeface="Times New Roman"/>
                <a:cs typeface="Times New Roman"/>
              </a:rPr>
              <a:t> </a:t>
            </a:r>
            <a:r>
              <a:rPr sz="1200" spc="-25" dirty="0">
                <a:latin typeface="Times New Roman"/>
                <a:cs typeface="Times New Roman"/>
              </a:rPr>
              <a:t>as 	</a:t>
            </a:r>
            <a:r>
              <a:rPr sz="1200" spc="-10" dirty="0">
                <a:latin typeface="Times New Roman"/>
                <a:cs typeface="Times New Roman"/>
              </a:rPr>
              <a:t>often.</a:t>
            </a:r>
            <a:endParaRPr sz="1200">
              <a:latin typeface="Times New Roman"/>
              <a:cs typeface="Times New Roman"/>
            </a:endParaRPr>
          </a:p>
          <a:p>
            <a:pPr>
              <a:lnSpc>
                <a:spcPct val="100000"/>
              </a:lnSpc>
              <a:spcBef>
                <a:spcPts val="645"/>
              </a:spcBef>
              <a:buFont typeface="Wingdings"/>
              <a:buChar char=""/>
            </a:pPr>
            <a:endParaRPr sz="1200">
              <a:latin typeface="Times New Roman"/>
              <a:cs typeface="Times New Roman"/>
            </a:endParaRPr>
          </a:p>
          <a:p>
            <a:pPr marL="436245" marR="840105" indent="-173990">
              <a:lnSpc>
                <a:spcPts val="1510"/>
              </a:lnSpc>
              <a:buClr>
                <a:srgbClr val="3E762B"/>
              </a:buClr>
              <a:buFont typeface="Wingdings"/>
              <a:buChar char=""/>
              <a:tabLst>
                <a:tab pos="436245" algn="l"/>
              </a:tabLst>
            </a:pPr>
            <a:r>
              <a:rPr sz="1400" dirty="0">
                <a:latin typeface="Times New Roman"/>
                <a:cs typeface="Times New Roman"/>
              </a:rPr>
              <a:t>This</a:t>
            </a:r>
            <a:r>
              <a:rPr sz="1400" spc="-45" dirty="0">
                <a:latin typeface="Times New Roman"/>
                <a:cs typeface="Times New Roman"/>
              </a:rPr>
              <a:t> </a:t>
            </a:r>
            <a:r>
              <a:rPr sz="1400" dirty="0">
                <a:latin typeface="Times New Roman"/>
                <a:cs typeface="Times New Roman"/>
              </a:rPr>
              <a:t>type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computer</a:t>
            </a:r>
            <a:r>
              <a:rPr sz="1400" spc="-40" dirty="0">
                <a:latin typeface="Times New Roman"/>
                <a:cs typeface="Times New Roman"/>
              </a:rPr>
              <a:t> </a:t>
            </a:r>
            <a:r>
              <a:rPr sz="1400" dirty="0">
                <a:latin typeface="Times New Roman"/>
                <a:cs typeface="Times New Roman"/>
              </a:rPr>
              <a:t>is</a:t>
            </a:r>
            <a:r>
              <a:rPr sz="1400" spc="-35" dirty="0">
                <a:latin typeface="Times New Roman"/>
                <a:cs typeface="Times New Roman"/>
              </a:rPr>
              <a:t> </a:t>
            </a:r>
            <a:r>
              <a:rPr sz="1400" dirty="0">
                <a:latin typeface="Times New Roman"/>
                <a:cs typeface="Times New Roman"/>
              </a:rPr>
              <a:t>classified</a:t>
            </a:r>
            <a:r>
              <a:rPr sz="1400" spc="-20" dirty="0">
                <a:latin typeface="Times New Roman"/>
                <a:cs typeface="Times New Roman"/>
              </a:rPr>
              <a:t> </a:t>
            </a:r>
            <a:r>
              <a:rPr sz="1400" dirty="0">
                <a:latin typeface="Times New Roman"/>
                <a:cs typeface="Times New Roman"/>
              </a:rPr>
              <a:t>as</a:t>
            </a:r>
            <a:r>
              <a:rPr sz="1400" spc="-30" dirty="0">
                <a:latin typeface="Times New Roman"/>
                <a:cs typeface="Times New Roman"/>
              </a:rPr>
              <a:t> </a:t>
            </a:r>
            <a:r>
              <a:rPr sz="1400" dirty="0">
                <a:latin typeface="Times New Roman"/>
                <a:cs typeface="Times New Roman"/>
              </a:rPr>
              <a:t>a</a:t>
            </a:r>
            <a:r>
              <a:rPr sz="1400" spc="-35" dirty="0">
                <a:latin typeface="Times New Roman"/>
                <a:cs typeface="Times New Roman"/>
              </a:rPr>
              <a:t> </a:t>
            </a:r>
            <a:r>
              <a:rPr sz="1400" b="1" i="1" dirty="0">
                <a:solidFill>
                  <a:srgbClr val="3E762B"/>
                </a:solidFill>
                <a:latin typeface="Times New Roman"/>
                <a:cs typeface="Times New Roman"/>
              </a:rPr>
              <a:t>Reduced</a:t>
            </a:r>
            <a:r>
              <a:rPr sz="1400" b="1" i="1" spc="-40" dirty="0">
                <a:solidFill>
                  <a:srgbClr val="3E762B"/>
                </a:solidFill>
                <a:latin typeface="Times New Roman"/>
                <a:cs typeface="Times New Roman"/>
              </a:rPr>
              <a:t> </a:t>
            </a:r>
            <a:r>
              <a:rPr sz="1400" b="1" i="1" dirty="0">
                <a:solidFill>
                  <a:srgbClr val="3E762B"/>
                </a:solidFill>
                <a:latin typeface="Times New Roman"/>
                <a:cs typeface="Times New Roman"/>
              </a:rPr>
              <a:t>Instruction</a:t>
            </a:r>
            <a:r>
              <a:rPr sz="1400" b="1" i="1" spc="-50" dirty="0">
                <a:solidFill>
                  <a:srgbClr val="3E762B"/>
                </a:solidFill>
                <a:latin typeface="Times New Roman"/>
                <a:cs typeface="Times New Roman"/>
              </a:rPr>
              <a:t> </a:t>
            </a:r>
            <a:r>
              <a:rPr sz="1400" b="1" i="1" spc="-25" dirty="0">
                <a:solidFill>
                  <a:srgbClr val="3E762B"/>
                </a:solidFill>
                <a:latin typeface="Times New Roman"/>
                <a:cs typeface="Times New Roman"/>
              </a:rPr>
              <a:t>Set </a:t>
            </a:r>
            <a:r>
              <a:rPr sz="1400" b="1" i="1" dirty="0">
                <a:solidFill>
                  <a:srgbClr val="3E762B"/>
                </a:solidFill>
                <a:latin typeface="Times New Roman"/>
                <a:cs typeface="Times New Roman"/>
              </a:rPr>
              <a:t>Computer</a:t>
            </a:r>
            <a:r>
              <a:rPr sz="1400" b="1" i="1" spc="-45" dirty="0">
                <a:solidFill>
                  <a:srgbClr val="3E762B"/>
                </a:solidFill>
                <a:latin typeface="Times New Roman"/>
                <a:cs typeface="Times New Roman"/>
              </a:rPr>
              <a:t> </a:t>
            </a:r>
            <a:r>
              <a:rPr sz="1400" dirty="0">
                <a:latin typeface="Times New Roman"/>
                <a:cs typeface="Times New Roman"/>
              </a:rPr>
              <a:t>or</a:t>
            </a:r>
            <a:r>
              <a:rPr sz="1400" spc="-5" dirty="0">
                <a:latin typeface="Times New Roman"/>
                <a:cs typeface="Times New Roman"/>
              </a:rPr>
              <a:t> </a:t>
            </a:r>
            <a:r>
              <a:rPr sz="1400" b="1" spc="-20" dirty="0">
                <a:solidFill>
                  <a:srgbClr val="3E762B"/>
                </a:solidFill>
                <a:latin typeface="Times New Roman"/>
                <a:cs typeface="Times New Roman"/>
              </a:rPr>
              <a:t>RISC</a:t>
            </a:r>
            <a:r>
              <a:rPr sz="1400" spc="-20" dirty="0">
                <a:latin typeface="Times New Roman"/>
                <a:cs typeface="Times New Roman"/>
              </a:rPr>
              <a:t>.</a:t>
            </a:r>
            <a:endParaRPr sz="14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Instruction</a:t>
            </a:r>
            <a:r>
              <a:rPr sz="2200" spc="-30" dirty="0">
                <a:latin typeface="Georgia"/>
                <a:cs typeface="Georgia"/>
              </a:rPr>
              <a:t> </a:t>
            </a:r>
            <a:r>
              <a:rPr sz="2200" dirty="0">
                <a:latin typeface="Georgia"/>
                <a:cs typeface="Georgia"/>
              </a:rPr>
              <a:t>Set</a:t>
            </a:r>
            <a:r>
              <a:rPr sz="2200" spc="-50" dirty="0">
                <a:latin typeface="Georgia"/>
                <a:cs typeface="Georgia"/>
              </a:rPr>
              <a:t> </a:t>
            </a:r>
            <a:r>
              <a:rPr sz="2200" spc="-10" dirty="0">
                <a:latin typeface="Georgia"/>
                <a:cs typeface="Georgia"/>
              </a:rPr>
              <a:t>Architectures</a:t>
            </a:r>
            <a:r>
              <a:rPr sz="2200" spc="-40" dirty="0">
                <a:latin typeface="Georgia"/>
                <a:cs typeface="Georgia"/>
              </a:rPr>
              <a:t> </a:t>
            </a:r>
            <a:r>
              <a:rPr sz="2200" spc="-10" dirty="0">
                <a:latin typeface="Georgia"/>
                <a:cs typeface="Georgia"/>
              </a:rPr>
              <a:t>(ISA)</a:t>
            </a:r>
            <a:endParaRPr sz="2200">
              <a:latin typeface="Georgia"/>
              <a:cs typeface="Georgia"/>
            </a:endParaRPr>
          </a:p>
          <a:p>
            <a:pPr marL="434975" indent="-172720">
              <a:lnSpc>
                <a:spcPct val="100000"/>
              </a:lnSpc>
              <a:spcBef>
                <a:spcPts val="1350"/>
              </a:spcBef>
              <a:buClr>
                <a:srgbClr val="3E762B"/>
              </a:buClr>
              <a:buFont typeface="Wingdings"/>
              <a:buChar char=""/>
              <a:tabLst>
                <a:tab pos="434975" algn="l"/>
              </a:tabLst>
            </a:pPr>
            <a:r>
              <a:rPr sz="1200" dirty="0">
                <a:latin typeface="Times New Roman"/>
                <a:cs typeface="Times New Roman"/>
              </a:rPr>
              <a:t>ISA</a:t>
            </a:r>
            <a:r>
              <a:rPr sz="1200" spc="-5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collection</a:t>
            </a:r>
            <a:r>
              <a:rPr sz="1200" spc="-3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instructions</a:t>
            </a:r>
            <a:r>
              <a:rPr sz="1200" spc="-15" dirty="0">
                <a:latin typeface="Times New Roman"/>
                <a:cs typeface="Times New Roman"/>
              </a:rPr>
              <a:t> </a:t>
            </a:r>
            <a:r>
              <a:rPr sz="1200" dirty="0">
                <a:latin typeface="Times New Roman"/>
                <a:cs typeface="Times New Roman"/>
              </a:rPr>
              <a:t>supported</a:t>
            </a:r>
            <a:r>
              <a:rPr sz="1200" spc="-15" dirty="0">
                <a:latin typeface="Times New Roman"/>
                <a:cs typeface="Times New Roman"/>
              </a:rPr>
              <a:t> </a:t>
            </a:r>
            <a:r>
              <a:rPr sz="1200" dirty="0">
                <a:latin typeface="Times New Roman"/>
                <a:cs typeface="Times New Roman"/>
              </a:rPr>
              <a:t>by</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common</a:t>
            </a:r>
            <a:r>
              <a:rPr sz="1200" spc="-15" dirty="0">
                <a:latin typeface="Times New Roman"/>
                <a:cs typeface="Times New Roman"/>
              </a:rPr>
              <a:t> </a:t>
            </a:r>
            <a:r>
              <a:rPr sz="1200" dirty="0">
                <a:latin typeface="Times New Roman"/>
                <a:cs typeface="Times New Roman"/>
              </a:rPr>
              <a:t>set</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processors.</a:t>
            </a:r>
            <a:endParaRPr sz="1200">
              <a:latin typeface="Times New Roman"/>
              <a:cs typeface="Times New Roman"/>
            </a:endParaRPr>
          </a:p>
          <a:p>
            <a:pPr marL="608330" lvl="1" indent="-111125">
              <a:lnSpc>
                <a:spcPct val="100000"/>
              </a:lnSpc>
              <a:spcBef>
                <a:spcPts val="95"/>
              </a:spcBef>
              <a:buClr>
                <a:srgbClr val="3E762B"/>
              </a:buClr>
              <a:buFont typeface="Arial MT"/>
              <a:buChar char="•"/>
              <a:tabLst>
                <a:tab pos="608330" algn="l"/>
              </a:tabLst>
            </a:pPr>
            <a:r>
              <a:rPr sz="1200" dirty="0">
                <a:latin typeface="Times New Roman"/>
                <a:cs typeface="Times New Roman"/>
              </a:rPr>
              <a:t>Intel</a:t>
            </a:r>
            <a:r>
              <a:rPr sz="1200" spc="-40" dirty="0">
                <a:latin typeface="Times New Roman"/>
                <a:cs typeface="Times New Roman"/>
              </a:rPr>
              <a:t> </a:t>
            </a:r>
            <a:r>
              <a:rPr sz="1200" spc="-10" dirty="0">
                <a:latin typeface="Times New Roman"/>
                <a:cs typeface="Times New Roman"/>
              </a:rPr>
              <a:t>processors</a:t>
            </a:r>
            <a:endParaRPr sz="1200">
              <a:latin typeface="Times New Roman"/>
              <a:cs typeface="Times New Roman"/>
            </a:endParaRPr>
          </a:p>
          <a:p>
            <a:pPr marL="608330" lvl="1" indent="-111125">
              <a:lnSpc>
                <a:spcPct val="100000"/>
              </a:lnSpc>
              <a:spcBef>
                <a:spcPts val="305"/>
              </a:spcBef>
              <a:buClr>
                <a:srgbClr val="3E762B"/>
              </a:buClr>
              <a:buFont typeface="Arial MT"/>
              <a:buChar char="•"/>
              <a:tabLst>
                <a:tab pos="608330" algn="l"/>
              </a:tabLst>
            </a:pPr>
            <a:r>
              <a:rPr sz="1200" dirty="0">
                <a:latin typeface="Times New Roman"/>
                <a:cs typeface="Times New Roman"/>
              </a:rPr>
              <a:t>ARM</a:t>
            </a:r>
            <a:r>
              <a:rPr sz="1200" spc="-20"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Mobile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embedded</a:t>
            </a:r>
            <a:r>
              <a:rPr sz="1200" spc="-20" dirty="0">
                <a:latin typeface="Times New Roman"/>
                <a:cs typeface="Times New Roman"/>
              </a:rPr>
              <a:t> </a:t>
            </a:r>
            <a:r>
              <a:rPr sz="1200" spc="-10" dirty="0">
                <a:latin typeface="Times New Roman"/>
                <a:cs typeface="Times New Roman"/>
              </a:rPr>
              <a:t>systems</a:t>
            </a:r>
            <a:endParaRPr sz="1200">
              <a:latin typeface="Times New Roman"/>
              <a:cs typeface="Times New Roman"/>
            </a:endParaRPr>
          </a:p>
        </p:txBody>
      </p:sp>
      <p:pic>
        <p:nvPicPr>
          <p:cNvPr id="8" name="object 8"/>
          <p:cNvPicPr/>
          <p:nvPr/>
        </p:nvPicPr>
        <p:blipFill>
          <a:blip r:embed="rId2" cstate="print"/>
          <a:stretch>
            <a:fillRect/>
          </a:stretch>
        </p:blipFill>
        <p:spPr>
          <a:xfrm>
            <a:off x="2409443" y="6225580"/>
            <a:ext cx="3923480" cy="1920199"/>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CISC</a:t>
            </a:r>
            <a:r>
              <a:rPr sz="2200" spc="-55" dirty="0">
                <a:latin typeface="Georgia"/>
                <a:cs typeface="Georgia"/>
              </a:rPr>
              <a:t> </a:t>
            </a:r>
            <a:r>
              <a:rPr sz="2200" dirty="0">
                <a:latin typeface="Georgia"/>
                <a:cs typeface="Georgia"/>
              </a:rPr>
              <a:t>and</a:t>
            </a:r>
            <a:r>
              <a:rPr sz="2200" spc="-65" dirty="0">
                <a:latin typeface="Georgia"/>
                <a:cs typeface="Georgia"/>
              </a:rPr>
              <a:t> </a:t>
            </a:r>
            <a:r>
              <a:rPr sz="2200" dirty="0">
                <a:latin typeface="Georgia"/>
                <a:cs typeface="Georgia"/>
              </a:rPr>
              <a:t>RISC</a:t>
            </a:r>
            <a:r>
              <a:rPr sz="2200" spc="-65" dirty="0">
                <a:latin typeface="Georgia"/>
                <a:cs typeface="Georgia"/>
              </a:rPr>
              <a:t> </a:t>
            </a:r>
            <a:r>
              <a:rPr sz="2200" spc="-10" dirty="0">
                <a:latin typeface="Georgia"/>
                <a:cs typeface="Georgia"/>
              </a:rPr>
              <a:t>Architectures</a:t>
            </a:r>
            <a:endParaRPr sz="2200" dirty="0">
              <a:latin typeface="Georgia"/>
              <a:cs typeface="Georgia"/>
            </a:endParaRPr>
          </a:p>
          <a:p>
            <a:pPr marL="431800" indent="-169545">
              <a:lnSpc>
                <a:spcPct val="100000"/>
              </a:lnSpc>
              <a:spcBef>
                <a:spcPts val="1375"/>
              </a:spcBef>
              <a:buClr>
                <a:srgbClr val="3E762B"/>
              </a:buClr>
              <a:buFont typeface="Wingdings"/>
              <a:buChar char=""/>
              <a:tabLst>
                <a:tab pos="431800" algn="l"/>
              </a:tabLst>
            </a:pPr>
            <a:r>
              <a:rPr sz="1200" b="1" dirty="0">
                <a:latin typeface="Times New Roman"/>
                <a:cs typeface="Times New Roman"/>
              </a:rPr>
              <a:t>CISC</a:t>
            </a:r>
            <a:r>
              <a:rPr sz="1200" b="1" spc="-5" dirty="0">
                <a:latin typeface="Times New Roman"/>
                <a:cs typeface="Times New Roman"/>
              </a:rPr>
              <a:t> </a:t>
            </a:r>
            <a:r>
              <a:rPr sz="1200" b="1" dirty="0">
                <a:latin typeface="Times New Roman"/>
                <a:cs typeface="Times New Roman"/>
              </a:rPr>
              <a:t>versus</a:t>
            </a:r>
            <a:r>
              <a:rPr sz="1200" b="1" spc="-15" dirty="0">
                <a:latin typeface="Times New Roman"/>
                <a:cs typeface="Times New Roman"/>
              </a:rPr>
              <a:t> </a:t>
            </a:r>
            <a:r>
              <a:rPr sz="1200" b="1" dirty="0">
                <a:latin typeface="Times New Roman"/>
                <a:cs typeface="Times New Roman"/>
              </a:rPr>
              <a:t>RISC</a:t>
            </a:r>
            <a:r>
              <a:rPr sz="1200" b="1" spc="-5" dirty="0">
                <a:latin typeface="Times New Roman"/>
                <a:cs typeface="Times New Roman"/>
              </a:rPr>
              <a:t> </a:t>
            </a:r>
            <a:r>
              <a:rPr sz="1200" b="1" spc="-10" dirty="0">
                <a:latin typeface="Times New Roman"/>
                <a:cs typeface="Times New Roman"/>
              </a:rPr>
              <a:t>philosophy,</a:t>
            </a:r>
            <a:r>
              <a:rPr sz="1200" b="1" spc="-25" dirty="0">
                <a:latin typeface="Times New Roman"/>
                <a:cs typeface="Times New Roman"/>
              </a:rPr>
              <a:t> </a:t>
            </a:r>
            <a:r>
              <a:rPr sz="1200" dirty="0">
                <a:latin typeface="Times New Roman"/>
                <a:cs typeface="Times New Roman"/>
              </a:rPr>
              <a:t>should</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instruction</a:t>
            </a:r>
            <a:r>
              <a:rPr sz="1200" spc="-30" dirty="0">
                <a:latin typeface="Times New Roman"/>
                <a:cs typeface="Times New Roman"/>
              </a:rPr>
              <a:t> </a:t>
            </a:r>
            <a:r>
              <a:rPr sz="1200" dirty="0">
                <a:latin typeface="Times New Roman"/>
                <a:cs typeface="Times New Roman"/>
              </a:rPr>
              <a:t>set</a:t>
            </a:r>
            <a:r>
              <a:rPr sz="1200" spc="-10" dirty="0">
                <a:latin typeface="Times New Roman"/>
                <a:cs typeface="Times New Roman"/>
              </a:rPr>
              <a:t> </a:t>
            </a:r>
            <a:r>
              <a:rPr sz="1200" spc="-25" dirty="0">
                <a:latin typeface="Times New Roman"/>
                <a:cs typeface="Times New Roman"/>
              </a:rPr>
              <a:t>be</a:t>
            </a:r>
            <a:endParaRPr sz="1200" dirty="0">
              <a:latin typeface="Times New Roman"/>
              <a:cs typeface="Times New Roman"/>
            </a:endParaRPr>
          </a:p>
          <a:p>
            <a:pPr marL="490855" lvl="1" indent="-91440">
              <a:lnSpc>
                <a:spcPct val="100000"/>
              </a:lnSpc>
              <a:spcBef>
                <a:spcPts val="745"/>
              </a:spcBef>
              <a:buClr>
                <a:srgbClr val="3E762B"/>
              </a:buClr>
              <a:buFont typeface="Arial MT"/>
              <a:buChar char="•"/>
              <a:tabLst>
                <a:tab pos="490855" algn="l"/>
              </a:tabLst>
            </a:pPr>
            <a:r>
              <a:rPr sz="1200" spc="-10" dirty="0">
                <a:latin typeface="Times New Roman"/>
                <a:cs typeface="Times New Roman"/>
              </a:rPr>
              <a:t>Complicated</a:t>
            </a:r>
            <a:r>
              <a:rPr sz="1200" dirty="0">
                <a:latin typeface="Times New Roman"/>
                <a:cs typeface="Times New Roman"/>
              </a:rPr>
              <a:t> or</a:t>
            </a:r>
            <a:r>
              <a:rPr sz="1200" spc="20" dirty="0">
                <a:latin typeface="Times New Roman"/>
                <a:cs typeface="Times New Roman"/>
              </a:rPr>
              <a:t> </a:t>
            </a:r>
            <a:r>
              <a:rPr sz="1200" spc="-10" dirty="0">
                <a:latin typeface="Times New Roman"/>
                <a:cs typeface="Times New Roman"/>
              </a:rPr>
              <a:t>Simple?</a:t>
            </a:r>
            <a:endParaRPr sz="1200" dirty="0">
              <a:latin typeface="Times New Roman"/>
              <a:cs typeface="Times New Roman"/>
            </a:endParaRPr>
          </a:p>
          <a:p>
            <a:pPr marL="490855" lvl="1" indent="-91440">
              <a:lnSpc>
                <a:spcPct val="100000"/>
              </a:lnSpc>
              <a:spcBef>
                <a:spcPts val="745"/>
              </a:spcBef>
              <a:buClr>
                <a:srgbClr val="3E762B"/>
              </a:buClr>
              <a:buFont typeface="Arial MT"/>
              <a:buChar char="•"/>
              <a:tabLst>
                <a:tab pos="490855" algn="l"/>
              </a:tabLst>
            </a:pPr>
            <a:r>
              <a:rPr sz="1200" dirty="0">
                <a:latin typeface="Times New Roman"/>
                <a:cs typeface="Times New Roman"/>
              </a:rPr>
              <a:t>Rich</a:t>
            </a:r>
            <a:r>
              <a:rPr sz="1200" spc="-35"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Fundamental</a:t>
            </a:r>
            <a:r>
              <a:rPr sz="1200" spc="-30" dirty="0">
                <a:latin typeface="Times New Roman"/>
                <a:cs typeface="Times New Roman"/>
              </a:rPr>
              <a:t> </a:t>
            </a:r>
            <a:r>
              <a:rPr sz="1200" spc="-10" dirty="0">
                <a:solidFill>
                  <a:srgbClr val="455C18"/>
                </a:solidFill>
                <a:latin typeface="Times New Roman"/>
                <a:cs typeface="Times New Roman"/>
              </a:rPr>
              <a:t>operations</a:t>
            </a:r>
            <a:r>
              <a:rPr sz="1200" spc="-10" dirty="0">
                <a:latin typeface="Times New Roman"/>
                <a:cs typeface="Times New Roman"/>
              </a:rPr>
              <a:t>?</a:t>
            </a:r>
            <a:endParaRPr sz="1200" dirty="0">
              <a:latin typeface="Times New Roman"/>
              <a:cs typeface="Times New Roman"/>
            </a:endParaRPr>
          </a:p>
          <a:p>
            <a:pPr marL="490855" lvl="1" indent="-91440">
              <a:lnSpc>
                <a:spcPct val="100000"/>
              </a:lnSpc>
              <a:spcBef>
                <a:spcPts val="745"/>
              </a:spcBef>
              <a:buClr>
                <a:srgbClr val="3E762B"/>
              </a:buClr>
              <a:buFont typeface="Arial MT"/>
              <a:buChar char="•"/>
              <a:tabLst>
                <a:tab pos="490855" algn="l"/>
              </a:tabLst>
            </a:pPr>
            <a:r>
              <a:rPr sz="1200" dirty="0">
                <a:latin typeface="Times New Roman"/>
                <a:cs typeface="Times New Roman"/>
              </a:rPr>
              <a:t>Sophisticated</a:t>
            </a:r>
            <a:r>
              <a:rPr sz="1200" spc="-50" dirty="0">
                <a:latin typeface="Times New Roman"/>
                <a:cs typeface="Times New Roman"/>
              </a:rPr>
              <a:t> </a:t>
            </a:r>
            <a:r>
              <a:rPr sz="1200" dirty="0">
                <a:latin typeface="Times New Roman"/>
                <a:cs typeface="Times New Roman"/>
              </a:rPr>
              <a:t>or</a:t>
            </a:r>
            <a:r>
              <a:rPr sz="1200" spc="-35" dirty="0">
                <a:latin typeface="Times New Roman"/>
                <a:cs typeface="Times New Roman"/>
              </a:rPr>
              <a:t> </a:t>
            </a:r>
            <a:r>
              <a:rPr sz="1200" dirty="0">
                <a:latin typeface="Times New Roman"/>
                <a:cs typeface="Times New Roman"/>
              </a:rPr>
              <a:t>Basic</a:t>
            </a:r>
            <a:r>
              <a:rPr sz="1200" spc="-20" dirty="0">
                <a:latin typeface="Times New Roman"/>
                <a:cs typeface="Times New Roman"/>
              </a:rPr>
              <a:t> </a:t>
            </a:r>
            <a:r>
              <a:rPr sz="1200" dirty="0">
                <a:solidFill>
                  <a:srgbClr val="455C18"/>
                </a:solidFill>
                <a:latin typeface="Times New Roman"/>
                <a:cs typeface="Times New Roman"/>
              </a:rPr>
              <a:t>addressing</a:t>
            </a:r>
            <a:r>
              <a:rPr sz="1200" spc="-25" dirty="0">
                <a:solidFill>
                  <a:srgbClr val="455C18"/>
                </a:solidFill>
                <a:latin typeface="Times New Roman"/>
                <a:cs typeface="Times New Roman"/>
              </a:rPr>
              <a:t> </a:t>
            </a:r>
            <a:r>
              <a:rPr sz="1200" spc="-10" dirty="0">
                <a:solidFill>
                  <a:srgbClr val="455C18"/>
                </a:solidFill>
                <a:latin typeface="Times New Roman"/>
                <a:cs typeface="Times New Roman"/>
              </a:rPr>
              <a:t>modes</a:t>
            </a:r>
            <a:r>
              <a:rPr sz="1200" spc="-10" dirty="0">
                <a:latin typeface="Times New Roman"/>
                <a:cs typeface="Times New Roman"/>
              </a:rPr>
              <a:t>?</a:t>
            </a:r>
            <a:endParaRPr sz="1200" dirty="0">
              <a:latin typeface="Times New Roman"/>
              <a:cs typeface="Times New Roman"/>
            </a:endParaRPr>
          </a:p>
          <a:p>
            <a:pPr marL="490855" lvl="1" indent="-91440">
              <a:lnSpc>
                <a:spcPct val="100000"/>
              </a:lnSpc>
              <a:spcBef>
                <a:spcPts val="745"/>
              </a:spcBef>
              <a:buClr>
                <a:srgbClr val="3E762B"/>
              </a:buClr>
              <a:buFont typeface="Arial MT"/>
              <a:buChar char="•"/>
              <a:tabLst>
                <a:tab pos="490855" algn="l"/>
              </a:tabLst>
            </a:pPr>
            <a:r>
              <a:rPr sz="1200" dirty="0">
                <a:latin typeface="Times New Roman"/>
                <a:cs typeface="Times New Roman"/>
              </a:rPr>
              <a:t>Complex</a:t>
            </a:r>
            <a:r>
              <a:rPr sz="1200" spc="-30"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hardware</a:t>
            </a:r>
            <a:r>
              <a:rPr sz="1200" spc="-5" dirty="0">
                <a:latin typeface="Times New Roman"/>
                <a:cs typeface="Times New Roman"/>
              </a:rPr>
              <a:t> </a:t>
            </a:r>
            <a:r>
              <a:rPr sz="1200" spc="-10" dirty="0">
                <a:latin typeface="Times New Roman"/>
                <a:cs typeface="Times New Roman"/>
              </a:rPr>
              <a:t>(microarchitecture)</a:t>
            </a:r>
            <a:r>
              <a:rPr sz="1200" spc="-15" dirty="0">
                <a:latin typeface="Times New Roman"/>
                <a:cs typeface="Times New Roman"/>
              </a:rPr>
              <a:t> </a:t>
            </a:r>
            <a:r>
              <a:rPr sz="1200" dirty="0">
                <a:latin typeface="Times New Roman"/>
                <a:cs typeface="Times New Roman"/>
              </a:rPr>
              <a:t>or</a:t>
            </a:r>
            <a:r>
              <a:rPr sz="1200" spc="-10" dirty="0">
                <a:latin typeface="Times New Roman"/>
                <a:cs typeface="Times New Roman"/>
              </a:rPr>
              <a:t> </a:t>
            </a:r>
            <a:r>
              <a:rPr sz="1200" dirty="0">
                <a:latin typeface="Times New Roman"/>
                <a:cs typeface="Times New Roman"/>
              </a:rPr>
              <a:t>software</a:t>
            </a:r>
            <a:r>
              <a:rPr sz="1200" spc="-10" dirty="0">
                <a:latin typeface="Times New Roman"/>
                <a:cs typeface="Times New Roman"/>
              </a:rPr>
              <a:t> (compiler)?</a:t>
            </a:r>
            <a:endParaRPr sz="12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CISC</a:t>
            </a:r>
            <a:r>
              <a:rPr sz="2200" spc="-55" dirty="0">
                <a:latin typeface="Georgia"/>
                <a:cs typeface="Georgia"/>
              </a:rPr>
              <a:t> </a:t>
            </a:r>
            <a:r>
              <a:rPr sz="2200" dirty="0">
                <a:latin typeface="Georgia"/>
                <a:cs typeface="Georgia"/>
              </a:rPr>
              <a:t>and</a:t>
            </a:r>
            <a:r>
              <a:rPr sz="2200" spc="-65" dirty="0">
                <a:latin typeface="Georgia"/>
                <a:cs typeface="Georgia"/>
              </a:rPr>
              <a:t> </a:t>
            </a:r>
            <a:r>
              <a:rPr sz="2200" dirty="0">
                <a:latin typeface="Georgia"/>
                <a:cs typeface="Georgia"/>
              </a:rPr>
              <a:t>RISC</a:t>
            </a:r>
            <a:r>
              <a:rPr sz="2200" spc="-65" dirty="0">
                <a:latin typeface="Georgia"/>
                <a:cs typeface="Georgia"/>
              </a:rPr>
              <a:t> </a:t>
            </a:r>
            <a:r>
              <a:rPr sz="2200" spc="-10" dirty="0">
                <a:latin typeface="Georgia"/>
                <a:cs typeface="Georgia"/>
              </a:rPr>
              <a:t>Architectures</a:t>
            </a:r>
            <a:endParaRPr sz="2200">
              <a:latin typeface="Georgia"/>
              <a:cs typeface="Georgia"/>
            </a:endParaRPr>
          </a:p>
          <a:p>
            <a:pPr marL="431800" indent="-169545">
              <a:lnSpc>
                <a:spcPct val="100000"/>
              </a:lnSpc>
              <a:spcBef>
                <a:spcPts val="1155"/>
              </a:spcBef>
              <a:buFont typeface="Wingdings"/>
              <a:buChar char=""/>
              <a:tabLst>
                <a:tab pos="431800" algn="l"/>
              </a:tabLst>
            </a:pPr>
            <a:r>
              <a:rPr sz="1200" b="1" dirty="0">
                <a:solidFill>
                  <a:srgbClr val="3E762B"/>
                </a:solidFill>
                <a:latin typeface="Times New Roman"/>
                <a:cs typeface="Times New Roman"/>
              </a:rPr>
              <a:t>CISC:</a:t>
            </a:r>
            <a:r>
              <a:rPr sz="1200" b="1" spc="-20" dirty="0">
                <a:solidFill>
                  <a:srgbClr val="3E762B"/>
                </a:solidFill>
                <a:latin typeface="Times New Roman"/>
                <a:cs typeface="Times New Roman"/>
              </a:rPr>
              <a:t> </a:t>
            </a:r>
            <a:r>
              <a:rPr sz="1200" b="1" dirty="0">
                <a:solidFill>
                  <a:srgbClr val="3E762B"/>
                </a:solidFill>
                <a:latin typeface="Times New Roman"/>
                <a:cs typeface="Times New Roman"/>
              </a:rPr>
              <a:t>Complex</a:t>
            </a:r>
            <a:r>
              <a:rPr sz="1200" b="1" spc="-15" dirty="0">
                <a:solidFill>
                  <a:srgbClr val="3E762B"/>
                </a:solidFill>
                <a:latin typeface="Times New Roman"/>
                <a:cs typeface="Times New Roman"/>
              </a:rPr>
              <a:t> </a:t>
            </a:r>
            <a:r>
              <a:rPr sz="1200" b="1" dirty="0">
                <a:solidFill>
                  <a:srgbClr val="3E762B"/>
                </a:solidFill>
                <a:latin typeface="Times New Roman"/>
                <a:cs typeface="Times New Roman"/>
              </a:rPr>
              <a:t>Instruction</a:t>
            </a:r>
            <a:r>
              <a:rPr sz="1200" b="1" spc="-20" dirty="0">
                <a:solidFill>
                  <a:srgbClr val="3E762B"/>
                </a:solidFill>
                <a:latin typeface="Times New Roman"/>
                <a:cs typeface="Times New Roman"/>
              </a:rPr>
              <a:t> </a:t>
            </a:r>
            <a:r>
              <a:rPr sz="1200" b="1" dirty="0">
                <a:solidFill>
                  <a:srgbClr val="3E762B"/>
                </a:solidFill>
                <a:latin typeface="Times New Roman"/>
                <a:cs typeface="Times New Roman"/>
              </a:rPr>
              <a:t>Set</a:t>
            </a:r>
            <a:r>
              <a:rPr sz="1200" b="1" spc="-15" dirty="0">
                <a:solidFill>
                  <a:srgbClr val="3E762B"/>
                </a:solidFill>
                <a:latin typeface="Times New Roman"/>
                <a:cs typeface="Times New Roman"/>
              </a:rPr>
              <a:t> </a:t>
            </a:r>
            <a:r>
              <a:rPr sz="1200" b="1" spc="-10" dirty="0">
                <a:solidFill>
                  <a:srgbClr val="3E762B"/>
                </a:solidFill>
                <a:latin typeface="Times New Roman"/>
                <a:cs typeface="Times New Roman"/>
              </a:rPr>
              <a:t>Computer</a:t>
            </a:r>
            <a:endParaRPr sz="1200">
              <a:latin typeface="Times New Roman"/>
              <a:cs typeface="Times New Roman"/>
            </a:endParaRPr>
          </a:p>
          <a:p>
            <a:pPr marL="490855" lvl="1" indent="-91440">
              <a:lnSpc>
                <a:spcPct val="100000"/>
              </a:lnSpc>
              <a:spcBef>
                <a:spcPts val="750"/>
              </a:spcBef>
              <a:buClr>
                <a:srgbClr val="3E762B"/>
              </a:buClr>
              <a:buFont typeface="Arial MT"/>
              <a:buChar char="•"/>
              <a:tabLst>
                <a:tab pos="490855" algn="l"/>
              </a:tabLst>
            </a:pPr>
            <a:r>
              <a:rPr sz="1200" dirty="0">
                <a:latin typeface="Times New Roman"/>
                <a:cs typeface="Times New Roman"/>
              </a:rPr>
              <a:t>Examples:</a:t>
            </a:r>
            <a:r>
              <a:rPr sz="1200" spc="-75" dirty="0">
                <a:latin typeface="Times New Roman"/>
                <a:cs typeface="Times New Roman"/>
              </a:rPr>
              <a:t> </a:t>
            </a:r>
            <a:r>
              <a:rPr sz="1200" dirty="0">
                <a:latin typeface="Times New Roman"/>
                <a:cs typeface="Times New Roman"/>
              </a:rPr>
              <a:t>Intel</a:t>
            </a:r>
            <a:r>
              <a:rPr sz="1200" spc="-30" dirty="0">
                <a:latin typeface="Times New Roman"/>
                <a:cs typeface="Times New Roman"/>
              </a:rPr>
              <a:t> </a:t>
            </a:r>
            <a:r>
              <a:rPr sz="1200" spc="-10" dirty="0">
                <a:latin typeface="Times New Roman"/>
                <a:cs typeface="Times New Roman"/>
              </a:rPr>
              <a:t>80x86</a:t>
            </a:r>
            <a:endParaRPr sz="1200">
              <a:latin typeface="Times New Roman"/>
              <a:cs typeface="Times New Roman"/>
            </a:endParaRPr>
          </a:p>
          <a:p>
            <a:pPr lvl="1">
              <a:lnSpc>
                <a:spcPct val="100000"/>
              </a:lnSpc>
              <a:buClr>
                <a:srgbClr val="3E762B"/>
              </a:buClr>
              <a:buFont typeface="Arial MT"/>
              <a:buChar char="•"/>
            </a:pPr>
            <a:endParaRPr sz="1200">
              <a:latin typeface="Times New Roman"/>
              <a:cs typeface="Times New Roman"/>
            </a:endParaRPr>
          </a:p>
          <a:p>
            <a:pPr lvl="1">
              <a:lnSpc>
                <a:spcPct val="100000"/>
              </a:lnSpc>
              <a:spcBef>
                <a:spcPts val="165"/>
              </a:spcBef>
              <a:buClr>
                <a:srgbClr val="3E762B"/>
              </a:buClr>
              <a:buFont typeface="Arial MT"/>
              <a:buChar char="•"/>
            </a:pPr>
            <a:endParaRPr sz="1200">
              <a:latin typeface="Times New Roman"/>
              <a:cs typeface="Times New Roman"/>
            </a:endParaRPr>
          </a:p>
          <a:p>
            <a:pPr marL="431800" indent="-169545">
              <a:lnSpc>
                <a:spcPct val="100000"/>
              </a:lnSpc>
              <a:buFont typeface="Wingdings"/>
              <a:buChar char=""/>
              <a:tabLst>
                <a:tab pos="431800" algn="l"/>
              </a:tabLst>
            </a:pPr>
            <a:r>
              <a:rPr sz="1200" b="1" dirty="0">
                <a:solidFill>
                  <a:srgbClr val="3E762B"/>
                </a:solidFill>
                <a:latin typeface="Times New Roman"/>
                <a:cs typeface="Times New Roman"/>
              </a:rPr>
              <a:t>RISC:</a:t>
            </a:r>
            <a:r>
              <a:rPr sz="1200" b="1" spc="-20" dirty="0">
                <a:solidFill>
                  <a:srgbClr val="3E762B"/>
                </a:solidFill>
                <a:latin typeface="Times New Roman"/>
                <a:cs typeface="Times New Roman"/>
              </a:rPr>
              <a:t> </a:t>
            </a:r>
            <a:r>
              <a:rPr sz="1200" b="1" dirty="0">
                <a:solidFill>
                  <a:srgbClr val="3E762B"/>
                </a:solidFill>
                <a:latin typeface="Times New Roman"/>
                <a:cs typeface="Times New Roman"/>
              </a:rPr>
              <a:t>Reduced</a:t>
            </a:r>
            <a:r>
              <a:rPr sz="1200" b="1" spc="-25" dirty="0">
                <a:solidFill>
                  <a:srgbClr val="3E762B"/>
                </a:solidFill>
                <a:latin typeface="Times New Roman"/>
                <a:cs typeface="Times New Roman"/>
              </a:rPr>
              <a:t> </a:t>
            </a:r>
            <a:r>
              <a:rPr sz="1200" b="1" dirty="0">
                <a:solidFill>
                  <a:srgbClr val="3E762B"/>
                </a:solidFill>
                <a:latin typeface="Times New Roman"/>
                <a:cs typeface="Times New Roman"/>
              </a:rPr>
              <a:t>Instruction</a:t>
            </a:r>
            <a:r>
              <a:rPr sz="1200" b="1" spc="-20" dirty="0">
                <a:solidFill>
                  <a:srgbClr val="3E762B"/>
                </a:solidFill>
                <a:latin typeface="Times New Roman"/>
                <a:cs typeface="Times New Roman"/>
              </a:rPr>
              <a:t> </a:t>
            </a:r>
            <a:r>
              <a:rPr sz="1200" b="1" dirty="0">
                <a:solidFill>
                  <a:srgbClr val="3E762B"/>
                </a:solidFill>
                <a:latin typeface="Times New Roman"/>
                <a:cs typeface="Times New Roman"/>
              </a:rPr>
              <a:t>Set</a:t>
            </a:r>
            <a:r>
              <a:rPr sz="1200" b="1" spc="-20" dirty="0">
                <a:solidFill>
                  <a:srgbClr val="3E762B"/>
                </a:solidFill>
                <a:latin typeface="Times New Roman"/>
                <a:cs typeface="Times New Roman"/>
              </a:rPr>
              <a:t> </a:t>
            </a:r>
            <a:r>
              <a:rPr sz="1200" b="1" spc="-10" dirty="0">
                <a:solidFill>
                  <a:srgbClr val="3E762B"/>
                </a:solidFill>
                <a:latin typeface="Times New Roman"/>
                <a:cs typeface="Times New Roman"/>
              </a:rPr>
              <a:t>Computer</a:t>
            </a:r>
            <a:endParaRPr sz="1200">
              <a:latin typeface="Times New Roman"/>
              <a:cs typeface="Times New Roman"/>
            </a:endParaRPr>
          </a:p>
          <a:p>
            <a:pPr marL="490855" lvl="1" indent="-91440">
              <a:lnSpc>
                <a:spcPct val="100000"/>
              </a:lnSpc>
              <a:spcBef>
                <a:spcPts val="745"/>
              </a:spcBef>
              <a:buClr>
                <a:srgbClr val="3E762B"/>
              </a:buClr>
              <a:buFont typeface="Arial MT"/>
              <a:buChar char="•"/>
              <a:tabLst>
                <a:tab pos="490855" algn="l"/>
              </a:tabLst>
            </a:pPr>
            <a:r>
              <a:rPr sz="1200" dirty="0">
                <a:latin typeface="Times New Roman"/>
                <a:cs typeface="Times New Roman"/>
              </a:rPr>
              <a:t>Examples:</a:t>
            </a:r>
            <a:r>
              <a:rPr sz="1200" spc="-55" dirty="0">
                <a:latin typeface="Times New Roman"/>
                <a:cs typeface="Times New Roman"/>
              </a:rPr>
              <a:t> </a:t>
            </a:r>
            <a:r>
              <a:rPr sz="1200" dirty="0">
                <a:latin typeface="Times New Roman"/>
                <a:cs typeface="Times New Roman"/>
              </a:rPr>
              <a:t>MIPS,</a:t>
            </a:r>
            <a:r>
              <a:rPr sz="1200" spc="-60" dirty="0">
                <a:latin typeface="Times New Roman"/>
                <a:cs typeface="Times New Roman"/>
              </a:rPr>
              <a:t> </a:t>
            </a:r>
            <a:r>
              <a:rPr sz="1200" dirty="0">
                <a:latin typeface="Times New Roman"/>
                <a:cs typeface="Times New Roman"/>
              </a:rPr>
              <a:t>ARM,</a:t>
            </a:r>
            <a:r>
              <a:rPr sz="1200" spc="-30" dirty="0">
                <a:latin typeface="Times New Roman"/>
                <a:cs typeface="Times New Roman"/>
              </a:rPr>
              <a:t> </a:t>
            </a:r>
            <a:r>
              <a:rPr sz="1200" spc="-10" dirty="0">
                <a:latin typeface="Times New Roman"/>
                <a:cs typeface="Times New Roman"/>
              </a:rPr>
              <a:t>PowerPC</a:t>
            </a:r>
            <a:endParaRPr sz="1200">
              <a:latin typeface="Times New Roman"/>
              <a:cs typeface="Times New Roman"/>
            </a:endParaRPr>
          </a:p>
          <a:p>
            <a:pPr marL="490855" lvl="1" indent="-91440">
              <a:lnSpc>
                <a:spcPct val="100000"/>
              </a:lnSpc>
              <a:spcBef>
                <a:spcPts val="745"/>
              </a:spcBef>
              <a:buClr>
                <a:srgbClr val="3E762B"/>
              </a:buClr>
              <a:buFont typeface="Arial MT"/>
              <a:buChar char="•"/>
              <a:tabLst>
                <a:tab pos="490855" algn="l"/>
              </a:tabLst>
            </a:pPr>
            <a:r>
              <a:rPr sz="1200" dirty="0">
                <a:latin typeface="Times New Roman"/>
                <a:cs typeface="Times New Roman"/>
              </a:rPr>
              <a:t>Almost</a:t>
            </a:r>
            <a:r>
              <a:rPr sz="1200" spc="-35"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new</a:t>
            </a:r>
            <a:r>
              <a:rPr sz="1200" spc="-20" dirty="0">
                <a:latin typeface="Times New Roman"/>
                <a:cs typeface="Times New Roman"/>
              </a:rPr>
              <a:t> </a:t>
            </a:r>
            <a:r>
              <a:rPr sz="1200" dirty="0">
                <a:latin typeface="Times New Roman"/>
                <a:cs typeface="Times New Roman"/>
              </a:rPr>
              <a:t>instruction</a:t>
            </a:r>
            <a:r>
              <a:rPr sz="1200" spc="-25" dirty="0">
                <a:latin typeface="Times New Roman"/>
                <a:cs typeface="Times New Roman"/>
              </a:rPr>
              <a:t> </a:t>
            </a:r>
            <a:r>
              <a:rPr sz="1200" dirty="0">
                <a:latin typeface="Times New Roman"/>
                <a:cs typeface="Times New Roman"/>
              </a:rPr>
              <a:t>sets</a:t>
            </a:r>
            <a:r>
              <a:rPr sz="1200" spc="-25" dirty="0">
                <a:latin typeface="Times New Roman"/>
                <a:cs typeface="Times New Roman"/>
              </a:rPr>
              <a:t> </a:t>
            </a:r>
            <a:r>
              <a:rPr sz="1200" dirty="0">
                <a:latin typeface="Times New Roman"/>
                <a:cs typeface="Times New Roman"/>
              </a:rPr>
              <a:t>since</a:t>
            </a:r>
            <a:r>
              <a:rPr sz="1200" spc="-30" dirty="0">
                <a:latin typeface="Times New Roman"/>
                <a:cs typeface="Times New Roman"/>
              </a:rPr>
              <a:t> </a:t>
            </a:r>
            <a:r>
              <a:rPr sz="1200" dirty="0">
                <a:latin typeface="Times New Roman"/>
                <a:cs typeface="Times New Roman"/>
              </a:rPr>
              <a:t>1982</a:t>
            </a:r>
            <a:r>
              <a:rPr sz="1200" spc="-25" dirty="0">
                <a:latin typeface="Times New Roman"/>
                <a:cs typeface="Times New Roman"/>
              </a:rPr>
              <a:t> </a:t>
            </a:r>
            <a:r>
              <a:rPr sz="1200" dirty="0">
                <a:latin typeface="Times New Roman"/>
                <a:cs typeface="Times New Roman"/>
              </a:rPr>
              <a:t>followed</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RISC</a:t>
            </a:r>
            <a:r>
              <a:rPr sz="1200" spc="-10" dirty="0">
                <a:latin typeface="Times New Roman"/>
                <a:cs typeface="Times New Roman"/>
              </a:rPr>
              <a:t> philosophy.</a:t>
            </a:r>
            <a:endParaRPr sz="1200">
              <a:latin typeface="Times New Roman"/>
              <a:cs typeface="Times New Roman"/>
            </a:endParaRPr>
          </a:p>
        </p:txBody>
      </p:sp>
      <p:grpSp>
        <p:nvGrpSpPr>
          <p:cNvPr id="8" name="object 8"/>
          <p:cNvGrpSpPr/>
          <p:nvPr/>
        </p:nvGrpSpPr>
        <p:grpSpPr>
          <a:xfrm>
            <a:off x="3704844" y="5625084"/>
            <a:ext cx="2543810" cy="2467610"/>
            <a:chOff x="3704844" y="5625084"/>
            <a:chExt cx="2543810" cy="2467610"/>
          </a:xfrm>
        </p:grpSpPr>
        <p:pic>
          <p:nvPicPr>
            <p:cNvPr id="9" name="object 9"/>
            <p:cNvPicPr/>
            <p:nvPr/>
          </p:nvPicPr>
          <p:blipFill>
            <a:blip r:embed="rId2" cstate="print"/>
            <a:stretch>
              <a:fillRect/>
            </a:stretch>
          </p:blipFill>
          <p:spPr>
            <a:xfrm>
              <a:off x="4966716" y="5625084"/>
              <a:ext cx="987551" cy="822959"/>
            </a:xfrm>
            <a:prstGeom prst="rect">
              <a:avLst/>
            </a:prstGeom>
          </p:spPr>
        </p:pic>
        <p:pic>
          <p:nvPicPr>
            <p:cNvPr id="10" name="object 10"/>
            <p:cNvPicPr/>
            <p:nvPr/>
          </p:nvPicPr>
          <p:blipFill>
            <a:blip r:embed="rId3" cstate="print"/>
            <a:stretch>
              <a:fillRect/>
            </a:stretch>
          </p:blipFill>
          <p:spPr>
            <a:xfrm>
              <a:off x="3704844" y="7223760"/>
              <a:ext cx="995172" cy="868679"/>
            </a:xfrm>
            <a:prstGeom prst="rect">
              <a:avLst/>
            </a:prstGeom>
          </p:spPr>
        </p:pic>
        <p:pic>
          <p:nvPicPr>
            <p:cNvPr id="11" name="object 11"/>
            <p:cNvPicPr/>
            <p:nvPr/>
          </p:nvPicPr>
          <p:blipFill>
            <a:blip r:embed="rId4" cstate="print"/>
            <a:stretch>
              <a:fillRect/>
            </a:stretch>
          </p:blipFill>
          <p:spPr>
            <a:xfrm>
              <a:off x="4849368" y="7197852"/>
              <a:ext cx="1399032" cy="868680"/>
            </a:xfrm>
            <a:prstGeom prst="rect">
              <a:avLst/>
            </a:prstGeom>
          </p:spPr>
        </p:pic>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CISC</a:t>
            </a:r>
            <a:r>
              <a:rPr spc="-30" dirty="0"/>
              <a:t> </a:t>
            </a:r>
            <a:r>
              <a:rPr dirty="0"/>
              <a:t>vs.</a:t>
            </a:r>
            <a:r>
              <a:rPr spc="-35" dirty="0"/>
              <a:t> </a:t>
            </a:r>
            <a:r>
              <a:rPr spc="-20" dirty="0"/>
              <a:t>RISC</a:t>
            </a:r>
          </a:p>
        </p:txBody>
      </p:sp>
      <p:sp>
        <p:nvSpPr>
          <p:cNvPr id="3" name="object 3"/>
          <p:cNvSpPr/>
          <p:nvPr/>
        </p:nvSpPr>
        <p:spPr>
          <a:xfrm>
            <a:off x="3408171" y="1729104"/>
            <a:ext cx="0" cy="2292350"/>
          </a:xfrm>
          <a:custGeom>
            <a:avLst/>
            <a:gdLst/>
            <a:ahLst/>
            <a:cxnLst/>
            <a:rect l="l" t="t" r="r" b="b"/>
            <a:pathLst>
              <a:path h="2292350">
                <a:moveTo>
                  <a:pt x="0" y="0"/>
                </a:moveTo>
                <a:lnTo>
                  <a:pt x="0" y="2292350"/>
                </a:lnTo>
              </a:path>
            </a:pathLst>
          </a:custGeom>
          <a:ln w="6350">
            <a:solidFill>
              <a:srgbClr val="FFFFFF"/>
            </a:solidFill>
          </a:ln>
        </p:spPr>
        <p:txBody>
          <a:bodyPr wrap="square" lIns="0" tIns="0" rIns="0" bIns="0" rtlCol="0"/>
          <a:lstStyle/>
          <a:p>
            <a:endParaRPr/>
          </a:p>
        </p:txBody>
      </p:sp>
      <p:graphicFrame>
        <p:nvGraphicFramePr>
          <p:cNvPr id="4" name="object 4"/>
          <p:cNvGraphicFramePr>
            <a:graphicFrameLocks noGrp="1"/>
          </p:cNvGraphicFramePr>
          <p:nvPr/>
        </p:nvGraphicFramePr>
        <p:xfrm>
          <a:off x="890447" y="1729104"/>
          <a:ext cx="5029835" cy="2283460"/>
        </p:xfrm>
        <a:graphic>
          <a:graphicData uri="http://schemas.openxmlformats.org/drawingml/2006/table">
            <a:tbl>
              <a:tblPr firstRow="1" bandRow="1">
                <a:tableStyleId>{2D5ABB26-0587-4C30-8999-92F81FD0307C}</a:tableStyleId>
              </a:tblPr>
              <a:tblGrid>
                <a:gridCol w="2562860">
                  <a:extLst>
                    <a:ext uri="{9D8B030D-6E8A-4147-A177-3AD203B41FA5}">
                      <a16:colId xmlns:a16="http://schemas.microsoft.com/office/drawing/2014/main" val="20000"/>
                    </a:ext>
                  </a:extLst>
                </a:gridCol>
                <a:gridCol w="2466975">
                  <a:extLst>
                    <a:ext uri="{9D8B030D-6E8A-4147-A177-3AD203B41FA5}">
                      <a16:colId xmlns:a16="http://schemas.microsoft.com/office/drawing/2014/main" val="20001"/>
                    </a:ext>
                  </a:extLst>
                </a:gridCol>
              </a:tblGrid>
              <a:tr h="258445">
                <a:tc>
                  <a:txBody>
                    <a:bodyPr/>
                    <a:lstStyle/>
                    <a:p>
                      <a:pPr marR="38100" algn="ctr">
                        <a:lnSpc>
                          <a:spcPct val="100000"/>
                        </a:lnSpc>
                        <a:spcBef>
                          <a:spcPts val="90"/>
                        </a:spcBef>
                      </a:pPr>
                      <a:r>
                        <a:rPr sz="1400" b="1" spc="-20" dirty="0">
                          <a:solidFill>
                            <a:srgbClr val="FFFFFF"/>
                          </a:solidFill>
                          <a:latin typeface="Corbel"/>
                          <a:cs typeface="Corbel"/>
                        </a:rPr>
                        <a:t>CISC</a:t>
                      </a:r>
                      <a:endParaRPr sz="1400">
                        <a:latin typeface="Corbel"/>
                        <a:cs typeface="Corbel"/>
                      </a:endParaRPr>
                    </a:p>
                  </a:txBody>
                  <a:tcPr marL="0" marR="0" marT="11430" marB="0">
                    <a:lnL w="6350">
                      <a:solidFill>
                        <a:srgbClr val="FFFFFF"/>
                      </a:solidFill>
                      <a:prstDash val="solid"/>
                    </a:lnL>
                    <a:lnT w="6350">
                      <a:solidFill>
                        <a:srgbClr val="FFFFFF"/>
                      </a:solidFill>
                      <a:prstDash val="solid"/>
                    </a:lnT>
                    <a:lnB w="19050">
                      <a:solidFill>
                        <a:srgbClr val="FFFFFF"/>
                      </a:solidFill>
                      <a:prstDash val="solid"/>
                    </a:lnB>
                    <a:solidFill>
                      <a:srgbClr val="539E39"/>
                    </a:solidFill>
                  </a:tcPr>
                </a:tc>
                <a:tc>
                  <a:txBody>
                    <a:bodyPr/>
                    <a:lstStyle/>
                    <a:p>
                      <a:pPr marR="39370" algn="ctr">
                        <a:lnSpc>
                          <a:spcPct val="100000"/>
                        </a:lnSpc>
                        <a:spcBef>
                          <a:spcPts val="90"/>
                        </a:spcBef>
                      </a:pPr>
                      <a:r>
                        <a:rPr sz="1400" b="1" spc="-20" dirty="0">
                          <a:solidFill>
                            <a:srgbClr val="FFFFFF"/>
                          </a:solidFill>
                          <a:latin typeface="Corbel"/>
                          <a:cs typeface="Corbel"/>
                        </a:rPr>
                        <a:t>RISC</a:t>
                      </a:r>
                      <a:endParaRPr sz="1400">
                        <a:latin typeface="Corbel"/>
                        <a:cs typeface="Corbel"/>
                      </a:endParaRPr>
                    </a:p>
                  </a:txBody>
                  <a:tcPr marL="0" marR="0" marT="11430" marB="0">
                    <a:lnR w="6350">
                      <a:solidFill>
                        <a:srgbClr val="FFFFFF"/>
                      </a:solidFill>
                      <a:prstDash val="solid"/>
                    </a:lnR>
                    <a:lnT w="6350">
                      <a:solidFill>
                        <a:srgbClr val="FFFFFF"/>
                      </a:solidFill>
                      <a:prstDash val="solid"/>
                    </a:lnT>
                    <a:lnB w="19050">
                      <a:solidFill>
                        <a:srgbClr val="FFFFFF"/>
                      </a:solidFill>
                      <a:prstDash val="solid"/>
                    </a:lnB>
                    <a:solidFill>
                      <a:srgbClr val="539E39"/>
                    </a:solidFill>
                  </a:tcPr>
                </a:tc>
                <a:extLst>
                  <a:ext uri="{0D108BD9-81ED-4DB2-BD59-A6C34878D82A}">
                    <a16:rowId xmlns:a16="http://schemas.microsoft.com/office/drawing/2014/main" val="10000"/>
                  </a:ext>
                </a:extLst>
              </a:tr>
              <a:tr h="274320">
                <a:tc>
                  <a:txBody>
                    <a:bodyPr/>
                    <a:lstStyle/>
                    <a:p>
                      <a:pPr marR="39370" algn="ctr">
                        <a:lnSpc>
                          <a:spcPct val="100000"/>
                        </a:lnSpc>
                        <a:spcBef>
                          <a:spcPts val="355"/>
                        </a:spcBef>
                      </a:pPr>
                      <a:r>
                        <a:rPr sz="1100" dirty="0">
                          <a:latin typeface="Corbel"/>
                          <a:cs typeface="Corbel"/>
                        </a:rPr>
                        <a:t>Focus</a:t>
                      </a:r>
                      <a:r>
                        <a:rPr sz="1100" spc="-30" dirty="0">
                          <a:latin typeface="Corbel"/>
                          <a:cs typeface="Corbel"/>
                        </a:rPr>
                        <a:t> </a:t>
                      </a:r>
                      <a:r>
                        <a:rPr sz="1100" dirty="0">
                          <a:latin typeface="Corbel"/>
                          <a:cs typeface="Corbel"/>
                        </a:rPr>
                        <a:t>on</a:t>
                      </a:r>
                      <a:r>
                        <a:rPr sz="1100" spc="-20" dirty="0">
                          <a:latin typeface="Corbel"/>
                          <a:cs typeface="Corbel"/>
                        </a:rPr>
                        <a:t> </a:t>
                      </a:r>
                      <a:r>
                        <a:rPr sz="1100" spc="-10" dirty="0">
                          <a:latin typeface="Corbel"/>
                          <a:cs typeface="Corbel"/>
                        </a:rPr>
                        <a:t>hardware</a:t>
                      </a:r>
                      <a:endParaRPr sz="1100">
                        <a:latin typeface="Corbel"/>
                        <a:cs typeface="Corbel"/>
                      </a:endParaRPr>
                    </a:p>
                  </a:txBody>
                  <a:tcPr marL="0" marR="0" marT="45085" marB="0">
                    <a:lnL w="6350">
                      <a:solidFill>
                        <a:srgbClr val="FFFFFF"/>
                      </a:solidFill>
                      <a:prstDash val="solid"/>
                    </a:lnL>
                    <a:lnT w="19050">
                      <a:solidFill>
                        <a:srgbClr val="FFFFFF"/>
                      </a:solidFill>
                      <a:prstDash val="solid"/>
                    </a:lnT>
                    <a:lnB w="6350">
                      <a:solidFill>
                        <a:srgbClr val="FFFFFF"/>
                      </a:solidFill>
                      <a:prstDash val="solid"/>
                    </a:lnB>
                    <a:solidFill>
                      <a:srgbClr val="D1DFCE"/>
                    </a:solidFill>
                  </a:tcPr>
                </a:tc>
                <a:tc>
                  <a:txBody>
                    <a:bodyPr/>
                    <a:lstStyle/>
                    <a:p>
                      <a:pPr marR="40005" algn="ctr">
                        <a:lnSpc>
                          <a:spcPct val="100000"/>
                        </a:lnSpc>
                        <a:spcBef>
                          <a:spcPts val="355"/>
                        </a:spcBef>
                      </a:pPr>
                      <a:r>
                        <a:rPr sz="1100" dirty="0">
                          <a:latin typeface="Corbel"/>
                          <a:cs typeface="Corbel"/>
                        </a:rPr>
                        <a:t>Focus</a:t>
                      </a:r>
                      <a:r>
                        <a:rPr sz="1100" spc="-30" dirty="0">
                          <a:latin typeface="Corbel"/>
                          <a:cs typeface="Corbel"/>
                        </a:rPr>
                        <a:t> </a:t>
                      </a:r>
                      <a:r>
                        <a:rPr sz="1100" dirty="0">
                          <a:latin typeface="Corbel"/>
                          <a:cs typeface="Corbel"/>
                        </a:rPr>
                        <a:t>on</a:t>
                      </a:r>
                      <a:r>
                        <a:rPr sz="1100" spc="-20" dirty="0">
                          <a:latin typeface="Corbel"/>
                          <a:cs typeface="Corbel"/>
                        </a:rPr>
                        <a:t> </a:t>
                      </a:r>
                      <a:r>
                        <a:rPr sz="1100" spc="-10" dirty="0">
                          <a:latin typeface="Corbel"/>
                          <a:cs typeface="Corbel"/>
                        </a:rPr>
                        <a:t>software</a:t>
                      </a:r>
                      <a:endParaRPr sz="1100">
                        <a:latin typeface="Corbel"/>
                        <a:cs typeface="Corbel"/>
                      </a:endParaRPr>
                    </a:p>
                  </a:txBody>
                  <a:tcPr marL="0" marR="0" marT="45085" marB="0">
                    <a:lnR w="6350">
                      <a:solidFill>
                        <a:srgbClr val="FFFFFF"/>
                      </a:solidFill>
                      <a:prstDash val="solid"/>
                    </a:lnR>
                    <a:lnT w="19050">
                      <a:solidFill>
                        <a:srgbClr val="FFFFFF"/>
                      </a:solidFill>
                      <a:prstDash val="solid"/>
                    </a:lnT>
                    <a:lnB w="6350">
                      <a:solidFill>
                        <a:srgbClr val="FFFFFF"/>
                      </a:solidFill>
                      <a:prstDash val="solid"/>
                    </a:lnB>
                    <a:solidFill>
                      <a:srgbClr val="D1DFCE"/>
                    </a:solidFill>
                  </a:tcPr>
                </a:tc>
                <a:extLst>
                  <a:ext uri="{0D108BD9-81ED-4DB2-BD59-A6C34878D82A}">
                    <a16:rowId xmlns:a16="http://schemas.microsoft.com/office/drawing/2014/main" val="10001"/>
                  </a:ext>
                </a:extLst>
              </a:tr>
              <a:tr h="300990">
                <a:tc>
                  <a:txBody>
                    <a:bodyPr/>
                    <a:lstStyle/>
                    <a:p>
                      <a:pPr marR="38100" algn="ctr">
                        <a:lnSpc>
                          <a:spcPct val="100000"/>
                        </a:lnSpc>
                        <a:spcBef>
                          <a:spcPts val="455"/>
                        </a:spcBef>
                      </a:pPr>
                      <a:r>
                        <a:rPr sz="1100" dirty="0">
                          <a:latin typeface="Corbel"/>
                          <a:cs typeface="Corbel"/>
                        </a:rPr>
                        <a:t>Code</a:t>
                      </a:r>
                      <a:r>
                        <a:rPr sz="1100" spc="-10" dirty="0">
                          <a:latin typeface="Corbel"/>
                          <a:cs typeface="Corbel"/>
                        </a:rPr>
                        <a:t> </a:t>
                      </a:r>
                      <a:r>
                        <a:rPr sz="1100" dirty="0">
                          <a:latin typeface="Corbel"/>
                          <a:cs typeface="Corbel"/>
                        </a:rPr>
                        <a:t>size</a:t>
                      </a:r>
                      <a:r>
                        <a:rPr sz="1100" spc="-10" dirty="0">
                          <a:latin typeface="Corbel"/>
                          <a:cs typeface="Corbel"/>
                        </a:rPr>
                        <a:t> </a:t>
                      </a:r>
                      <a:r>
                        <a:rPr sz="1100" dirty="0">
                          <a:latin typeface="Corbel"/>
                          <a:cs typeface="Corbel"/>
                        </a:rPr>
                        <a:t>is</a:t>
                      </a:r>
                      <a:r>
                        <a:rPr sz="1100" spc="-10" dirty="0">
                          <a:latin typeface="Corbel"/>
                          <a:cs typeface="Corbel"/>
                        </a:rPr>
                        <a:t> </a:t>
                      </a:r>
                      <a:r>
                        <a:rPr sz="1100" spc="-20" dirty="0">
                          <a:latin typeface="Corbel"/>
                          <a:cs typeface="Corbel"/>
                        </a:rPr>
                        <a:t>small</a:t>
                      </a:r>
                      <a:endParaRPr sz="1100">
                        <a:latin typeface="Corbel"/>
                        <a:cs typeface="Corbel"/>
                      </a:endParaRPr>
                    </a:p>
                  </a:txBody>
                  <a:tcPr marL="0" marR="0" marT="57785" marB="0">
                    <a:lnL w="6350">
                      <a:solidFill>
                        <a:srgbClr val="FFFFFF"/>
                      </a:solidFill>
                      <a:prstDash val="solid"/>
                    </a:lnL>
                    <a:lnT w="6350">
                      <a:solidFill>
                        <a:srgbClr val="FFFFFF"/>
                      </a:solidFill>
                      <a:prstDash val="solid"/>
                    </a:lnT>
                    <a:lnB w="6350">
                      <a:solidFill>
                        <a:srgbClr val="FFFFFF"/>
                      </a:solidFill>
                      <a:prstDash val="solid"/>
                    </a:lnB>
                    <a:solidFill>
                      <a:srgbClr val="E9EFE8"/>
                    </a:solidFill>
                  </a:tcPr>
                </a:tc>
                <a:tc>
                  <a:txBody>
                    <a:bodyPr/>
                    <a:lstStyle/>
                    <a:p>
                      <a:pPr marR="38100" algn="ctr">
                        <a:lnSpc>
                          <a:spcPct val="100000"/>
                        </a:lnSpc>
                        <a:spcBef>
                          <a:spcPts val="455"/>
                        </a:spcBef>
                      </a:pPr>
                      <a:r>
                        <a:rPr sz="1100" dirty="0">
                          <a:latin typeface="Corbel"/>
                          <a:cs typeface="Corbel"/>
                        </a:rPr>
                        <a:t>Code</a:t>
                      </a:r>
                      <a:r>
                        <a:rPr sz="1100" spc="-10" dirty="0">
                          <a:latin typeface="Corbel"/>
                          <a:cs typeface="Corbel"/>
                        </a:rPr>
                        <a:t> </a:t>
                      </a:r>
                      <a:r>
                        <a:rPr sz="1100" dirty="0">
                          <a:latin typeface="Corbel"/>
                          <a:cs typeface="Corbel"/>
                        </a:rPr>
                        <a:t>size</a:t>
                      </a:r>
                      <a:r>
                        <a:rPr sz="1100" spc="-10" dirty="0">
                          <a:latin typeface="Corbel"/>
                          <a:cs typeface="Corbel"/>
                        </a:rPr>
                        <a:t> </a:t>
                      </a:r>
                      <a:r>
                        <a:rPr sz="1100" dirty="0">
                          <a:latin typeface="Corbel"/>
                          <a:cs typeface="Corbel"/>
                        </a:rPr>
                        <a:t>is</a:t>
                      </a:r>
                      <a:r>
                        <a:rPr sz="1100" spc="-10" dirty="0">
                          <a:latin typeface="Corbel"/>
                          <a:cs typeface="Corbel"/>
                        </a:rPr>
                        <a:t> large</a:t>
                      </a:r>
                      <a:endParaRPr sz="1100">
                        <a:latin typeface="Corbel"/>
                        <a:cs typeface="Corbel"/>
                      </a:endParaRPr>
                    </a:p>
                  </a:txBody>
                  <a:tcPr marL="0" marR="0" marT="57785" marB="0">
                    <a:lnR w="6350">
                      <a:solidFill>
                        <a:srgbClr val="FFFFFF"/>
                      </a:solidFill>
                      <a:prstDash val="solid"/>
                    </a:lnR>
                    <a:lnT w="6350">
                      <a:solidFill>
                        <a:srgbClr val="FFFFFF"/>
                      </a:solidFill>
                      <a:prstDash val="solid"/>
                    </a:lnT>
                    <a:lnB w="6350">
                      <a:solidFill>
                        <a:srgbClr val="FFFFFF"/>
                      </a:solidFill>
                      <a:prstDash val="solid"/>
                    </a:lnB>
                    <a:solidFill>
                      <a:srgbClr val="E9EFE8"/>
                    </a:solidFill>
                  </a:tcPr>
                </a:tc>
                <a:extLst>
                  <a:ext uri="{0D108BD9-81ED-4DB2-BD59-A6C34878D82A}">
                    <a16:rowId xmlns:a16="http://schemas.microsoft.com/office/drawing/2014/main" val="10002"/>
                  </a:ext>
                </a:extLst>
              </a:tr>
              <a:tr h="381000">
                <a:tc>
                  <a:txBody>
                    <a:bodyPr/>
                    <a:lstStyle/>
                    <a:p>
                      <a:pPr marL="363220" marR="404495" indent="175260">
                        <a:lnSpc>
                          <a:spcPct val="100000"/>
                        </a:lnSpc>
                        <a:spcBef>
                          <a:spcPts val="115"/>
                        </a:spcBef>
                      </a:pPr>
                      <a:r>
                        <a:rPr sz="1100" dirty="0">
                          <a:latin typeface="Corbel"/>
                          <a:cs typeface="Corbel"/>
                        </a:rPr>
                        <a:t>Uses</a:t>
                      </a:r>
                      <a:r>
                        <a:rPr sz="1100" spc="-40" dirty="0">
                          <a:latin typeface="Corbel"/>
                          <a:cs typeface="Corbel"/>
                        </a:rPr>
                        <a:t> </a:t>
                      </a:r>
                      <a:r>
                        <a:rPr sz="1100" dirty="0">
                          <a:latin typeface="Corbel"/>
                          <a:cs typeface="Corbel"/>
                        </a:rPr>
                        <a:t>both</a:t>
                      </a:r>
                      <a:r>
                        <a:rPr sz="1100" spc="-25" dirty="0">
                          <a:latin typeface="Corbel"/>
                          <a:cs typeface="Corbel"/>
                        </a:rPr>
                        <a:t> </a:t>
                      </a:r>
                      <a:r>
                        <a:rPr sz="1100" dirty="0">
                          <a:latin typeface="Corbel"/>
                          <a:cs typeface="Corbel"/>
                        </a:rPr>
                        <a:t>hardwired</a:t>
                      </a:r>
                      <a:r>
                        <a:rPr sz="1100" spc="-35" dirty="0">
                          <a:latin typeface="Corbel"/>
                          <a:cs typeface="Corbel"/>
                        </a:rPr>
                        <a:t> </a:t>
                      </a:r>
                      <a:r>
                        <a:rPr sz="1100" spc="-25" dirty="0">
                          <a:latin typeface="Corbel"/>
                          <a:cs typeface="Corbel"/>
                        </a:rPr>
                        <a:t>and</a:t>
                      </a:r>
                      <a:r>
                        <a:rPr sz="1100" spc="-10" dirty="0">
                          <a:latin typeface="Corbel"/>
                          <a:cs typeface="Corbel"/>
                        </a:rPr>
                        <a:t> microprogrammed</a:t>
                      </a:r>
                      <a:r>
                        <a:rPr sz="1100" spc="20" dirty="0">
                          <a:latin typeface="Corbel"/>
                          <a:cs typeface="Corbel"/>
                        </a:rPr>
                        <a:t> </a:t>
                      </a:r>
                      <a:r>
                        <a:rPr sz="1100" dirty="0">
                          <a:latin typeface="Corbel"/>
                          <a:cs typeface="Corbel"/>
                        </a:rPr>
                        <a:t>control</a:t>
                      </a:r>
                      <a:r>
                        <a:rPr sz="1100" spc="45" dirty="0">
                          <a:latin typeface="Corbel"/>
                          <a:cs typeface="Corbel"/>
                        </a:rPr>
                        <a:t> </a:t>
                      </a:r>
                      <a:r>
                        <a:rPr sz="1100" spc="-20" dirty="0">
                          <a:latin typeface="Corbel"/>
                          <a:cs typeface="Corbel"/>
                        </a:rPr>
                        <a:t>unit</a:t>
                      </a:r>
                      <a:endParaRPr sz="1100">
                        <a:latin typeface="Corbel"/>
                        <a:cs typeface="Corbel"/>
                      </a:endParaRPr>
                    </a:p>
                  </a:txBody>
                  <a:tcPr marL="0" marR="0" marT="14605" marB="0">
                    <a:lnL w="6350">
                      <a:solidFill>
                        <a:srgbClr val="FFFFFF"/>
                      </a:solidFill>
                      <a:prstDash val="solid"/>
                    </a:lnL>
                    <a:lnT w="6350">
                      <a:solidFill>
                        <a:srgbClr val="FFFFFF"/>
                      </a:solidFill>
                      <a:prstDash val="solid"/>
                    </a:lnT>
                    <a:lnB w="6350">
                      <a:solidFill>
                        <a:srgbClr val="FFFFFF"/>
                      </a:solidFill>
                      <a:prstDash val="solid"/>
                    </a:lnB>
                    <a:solidFill>
                      <a:srgbClr val="D1DFCE"/>
                    </a:solidFill>
                  </a:tcPr>
                </a:tc>
                <a:tc>
                  <a:txBody>
                    <a:bodyPr/>
                    <a:lstStyle/>
                    <a:p>
                      <a:pPr marR="38735" algn="ctr">
                        <a:lnSpc>
                          <a:spcPct val="100000"/>
                        </a:lnSpc>
                        <a:spcBef>
                          <a:spcPts val="775"/>
                        </a:spcBef>
                      </a:pPr>
                      <a:r>
                        <a:rPr sz="1100" dirty="0">
                          <a:latin typeface="Corbel"/>
                          <a:cs typeface="Corbel"/>
                        </a:rPr>
                        <a:t>Uses</a:t>
                      </a:r>
                      <a:r>
                        <a:rPr sz="1100" spc="-35" dirty="0">
                          <a:latin typeface="Corbel"/>
                          <a:cs typeface="Corbel"/>
                        </a:rPr>
                        <a:t> </a:t>
                      </a:r>
                      <a:r>
                        <a:rPr sz="1100" dirty="0">
                          <a:latin typeface="Corbel"/>
                          <a:cs typeface="Corbel"/>
                        </a:rPr>
                        <a:t>only</a:t>
                      </a:r>
                      <a:r>
                        <a:rPr sz="1100" spc="-25" dirty="0">
                          <a:latin typeface="Corbel"/>
                          <a:cs typeface="Corbel"/>
                        </a:rPr>
                        <a:t> </a:t>
                      </a:r>
                      <a:r>
                        <a:rPr sz="1100" dirty="0">
                          <a:latin typeface="Corbel"/>
                          <a:cs typeface="Corbel"/>
                        </a:rPr>
                        <a:t>Hardwired</a:t>
                      </a:r>
                      <a:r>
                        <a:rPr sz="1100" spc="-35" dirty="0">
                          <a:latin typeface="Corbel"/>
                          <a:cs typeface="Corbel"/>
                        </a:rPr>
                        <a:t> </a:t>
                      </a:r>
                      <a:r>
                        <a:rPr sz="1100" dirty="0">
                          <a:latin typeface="Corbel"/>
                          <a:cs typeface="Corbel"/>
                        </a:rPr>
                        <a:t>control</a:t>
                      </a:r>
                      <a:r>
                        <a:rPr sz="1100" spc="-30" dirty="0">
                          <a:latin typeface="Corbel"/>
                          <a:cs typeface="Corbel"/>
                        </a:rPr>
                        <a:t> </a:t>
                      </a:r>
                      <a:r>
                        <a:rPr sz="1100" spc="-20" dirty="0">
                          <a:latin typeface="Corbel"/>
                          <a:cs typeface="Corbel"/>
                        </a:rPr>
                        <a:t>unit</a:t>
                      </a:r>
                      <a:endParaRPr sz="1100">
                        <a:latin typeface="Corbel"/>
                        <a:cs typeface="Corbel"/>
                      </a:endParaRPr>
                    </a:p>
                  </a:txBody>
                  <a:tcPr marL="0" marR="0" marT="98425" marB="0">
                    <a:lnR w="6350">
                      <a:solidFill>
                        <a:srgbClr val="FFFFFF"/>
                      </a:solidFill>
                      <a:prstDash val="solid"/>
                    </a:lnR>
                    <a:lnT w="6350">
                      <a:solidFill>
                        <a:srgbClr val="FFFFFF"/>
                      </a:solidFill>
                      <a:prstDash val="solid"/>
                    </a:lnT>
                    <a:lnB w="6350">
                      <a:solidFill>
                        <a:srgbClr val="FFFFFF"/>
                      </a:solidFill>
                      <a:prstDash val="solid"/>
                    </a:lnB>
                    <a:solidFill>
                      <a:srgbClr val="D1DFCE"/>
                    </a:solidFill>
                  </a:tcPr>
                </a:tc>
                <a:extLst>
                  <a:ext uri="{0D108BD9-81ED-4DB2-BD59-A6C34878D82A}">
                    <a16:rowId xmlns:a16="http://schemas.microsoft.com/office/drawing/2014/main" val="10003"/>
                  </a:ext>
                </a:extLst>
              </a:tr>
              <a:tr h="300355">
                <a:tc>
                  <a:txBody>
                    <a:bodyPr/>
                    <a:lstStyle/>
                    <a:p>
                      <a:pPr marR="40005" algn="ctr">
                        <a:lnSpc>
                          <a:spcPct val="100000"/>
                        </a:lnSpc>
                        <a:spcBef>
                          <a:spcPts val="459"/>
                        </a:spcBef>
                      </a:pPr>
                      <a:r>
                        <a:rPr sz="1100" dirty="0">
                          <a:latin typeface="Corbel"/>
                          <a:cs typeface="Corbel"/>
                        </a:rPr>
                        <a:t>Variable size </a:t>
                      </a:r>
                      <a:r>
                        <a:rPr sz="1100" spc="-10" dirty="0">
                          <a:latin typeface="Corbel"/>
                          <a:cs typeface="Corbel"/>
                        </a:rPr>
                        <a:t>instructions</a:t>
                      </a:r>
                      <a:endParaRPr sz="1100">
                        <a:latin typeface="Corbel"/>
                        <a:cs typeface="Corbel"/>
                      </a:endParaRPr>
                    </a:p>
                  </a:txBody>
                  <a:tcPr marL="0" marR="0" marT="58419" marB="0">
                    <a:lnL w="6350">
                      <a:solidFill>
                        <a:srgbClr val="FFFFFF"/>
                      </a:solidFill>
                      <a:prstDash val="solid"/>
                    </a:lnL>
                    <a:lnT w="6350">
                      <a:solidFill>
                        <a:srgbClr val="FFFFFF"/>
                      </a:solidFill>
                      <a:prstDash val="solid"/>
                    </a:lnT>
                    <a:lnB w="6350">
                      <a:solidFill>
                        <a:srgbClr val="FFFFFF"/>
                      </a:solidFill>
                      <a:prstDash val="solid"/>
                    </a:lnB>
                    <a:solidFill>
                      <a:srgbClr val="E9EFE8"/>
                    </a:solidFill>
                  </a:tcPr>
                </a:tc>
                <a:tc>
                  <a:txBody>
                    <a:bodyPr/>
                    <a:lstStyle/>
                    <a:p>
                      <a:pPr marR="38735" algn="ctr">
                        <a:lnSpc>
                          <a:spcPct val="100000"/>
                        </a:lnSpc>
                        <a:spcBef>
                          <a:spcPts val="459"/>
                        </a:spcBef>
                      </a:pPr>
                      <a:r>
                        <a:rPr sz="1100" dirty="0">
                          <a:latin typeface="Corbel"/>
                          <a:cs typeface="Corbel"/>
                        </a:rPr>
                        <a:t>Fixed</a:t>
                      </a:r>
                      <a:r>
                        <a:rPr sz="1100" spc="-15" dirty="0">
                          <a:latin typeface="Corbel"/>
                          <a:cs typeface="Corbel"/>
                        </a:rPr>
                        <a:t> </a:t>
                      </a:r>
                      <a:r>
                        <a:rPr sz="1100" dirty="0">
                          <a:latin typeface="Corbel"/>
                          <a:cs typeface="Corbel"/>
                        </a:rPr>
                        <a:t>size</a:t>
                      </a:r>
                      <a:r>
                        <a:rPr sz="1100" spc="-5" dirty="0">
                          <a:latin typeface="Corbel"/>
                          <a:cs typeface="Corbel"/>
                        </a:rPr>
                        <a:t> </a:t>
                      </a:r>
                      <a:r>
                        <a:rPr sz="1100" spc="-10" dirty="0">
                          <a:latin typeface="Corbel"/>
                          <a:cs typeface="Corbel"/>
                        </a:rPr>
                        <a:t>instructions</a:t>
                      </a:r>
                      <a:endParaRPr sz="1100">
                        <a:latin typeface="Corbel"/>
                        <a:cs typeface="Corbel"/>
                      </a:endParaRPr>
                    </a:p>
                  </a:txBody>
                  <a:tcPr marL="0" marR="0" marT="58419" marB="0">
                    <a:lnR w="6350">
                      <a:solidFill>
                        <a:srgbClr val="FFFFFF"/>
                      </a:solidFill>
                      <a:prstDash val="solid"/>
                    </a:lnR>
                    <a:lnT w="6350">
                      <a:solidFill>
                        <a:srgbClr val="FFFFFF"/>
                      </a:solidFill>
                      <a:prstDash val="solid"/>
                    </a:lnT>
                    <a:lnB w="6350">
                      <a:solidFill>
                        <a:srgbClr val="FFFFFF"/>
                      </a:solidFill>
                      <a:prstDash val="solid"/>
                    </a:lnB>
                    <a:solidFill>
                      <a:srgbClr val="E9EFE8"/>
                    </a:solidFill>
                  </a:tcPr>
                </a:tc>
                <a:extLst>
                  <a:ext uri="{0D108BD9-81ED-4DB2-BD59-A6C34878D82A}">
                    <a16:rowId xmlns:a16="http://schemas.microsoft.com/office/drawing/2014/main" val="10004"/>
                  </a:ext>
                </a:extLst>
              </a:tr>
              <a:tr h="467995">
                <a:tc>
                  <a:txBody>
                    <a:bodyPr/>
                    <a:lstStyle/>
                    <a:p>
                      <a:pPr marL="462280" marR="120650" indent="-382905">
                        <a:lnSpc>
                          <a:spcPct val="100000"/>
                        </a:lnSpc>
                        <a:spcBef>
                          <a:spcPts val="459"/>
                        </a:spcBef>
                      </a:pPr>
                      <a:r>
                        <a:rPr sz="1100" dirty="0">
                          <a:latin typeface="Corbel"/>
                          <a:cs typeface="Corbel"/>
                        </a:rPr>
                        <a:t>Can</a:t>
                      </a:r>
                      <a:r>
                        <a:rPr sz="1100" spc="-15" dirty="0">
                          <a:latin typeface="Corbel"/>
                          <a:cs typeface="Corbel"/>
                        </a:rPr>
                        <a:t> </a:t>
                      </a:r>
                      <a:r>
                        <a:rPr sz="1100" dirty="0">
                          <a:latin typeface="Corbel"/>
                          <a:cs typeface="Corbel"/>
                        </a:rPr>
                        <a:t>perform</a:t>
                      </a:r>
                      <a:r>
                        <a:rPr sz="1100" spc="-35" dirty="0">
                          <a:latin typeface="Corbel"/>
                          <a:cs typeface="Corbel"/>
                        </a:rPr>
                        <a:t> </a:t>
                      </a:r>
                      <a:r>
                        <a:rPr sz="1100" dirty="0">
                          <a:latin typeface="Corbel"/>
                          <a:cs typeface="Corbel"/>
                        </a:rPr>
                        <a:t>REG</a:t>
                      </a:r>
                      <a:r>
                        <a:rPr sz="1100" spc="-30" dirty="0">
                          <a:latin typeface="Corbel"/>
                          <a:cs typeface="Corbel"/>
                        </a:rPr>
                        <a:t> </a:t>
                      </a:r>
                      <a:r>
                        <a:rPr sz="1100" dirty="0">
                          <a:latin typeface="Corbel"/>
                          <a:cs typeface="Corbel"/>
                        </a:rPr>
                        <a:t>to</a:t>
                      </a:r>
                      <a:r>
                        <a:rPr sz="1100" spc="-20" dirty="0">
                          <a:latin typeface="Corbel"/>
                          <a:cs typeface="Corbel"/>
                        </a:rPr>
                        <a:t> </a:t>
                      </a:r>
                      <a:r>
                        <a:rPr sz="1100" dirty="0">
                          <a:latin typeface="Corbel"/>
                          <a:cs typeface="Corbel"/>
                        </a:rPr>
                        <a:t>REG</a:t>
                      </a:r>
                      <a:r>
                        <a:rPr sz="1100" spc="-25" dirty="0">
                          <a:latin typeface="Corbel"/>
                          <a:cs typeface="Corbel"/>
                        </a:rPr>
                        <a:t> </a:t>
                      </a:r>
                      <a:r>
                        <a:rPr sz="1100" dirty="0">
                          <a:latin typeface="Corbel"/>
                          <a:cs typeface="Corbel"/>
                        </a:rPr>
                        <a:t>or</a:t>
                      </a:r>
                      <a:r>
                        <a:rPr sz="1100" spc="-15" dirty="0">
                          <a:latin typeface="Corbel"/>
                          <a:cs typeface="Corbel"/>
                        </a:rPr>
                        <a:t> </a:t>
                      </a:r>
                      <a:r>
                        <a:rPr sz="1100" dirty="0">
                          <a:latin typeface="Corbel"/>
                          <a:cs typeface="Corbel"/>
                        </a:rPr>
                        <a:t>REG</a:t>
                      </a:r>
                      <a:r>
                        <a:rPr sz="1100" spc="-20" dirty="0">
                          <a:latin typeface="Corbel"/>
                          <a:cs typeface="Corbel"/>
                        </a:rPr>
                        <a:t> </a:t>
                      </a:r>
                      <a:r>
                        <a:rPr sz="1100" dirty="0">
                          <a:latin typeface="Corbel"/>
                          <a:cs typeface="Corbel"/>
                        </a:rPr>
                        <a:t>to</a:t>
                      </a:r>
                      <a:r>
                        <a:rPr sz="1100" spc="-20" dirty="0">
                          <a:latin typeface="Corbel"/>
                          <a:cs typeface="Corbel"/>
                        </a:rPr>
                        <a:t> </a:t>
                      </a:r>
                      <a:r>
                        <a:rPr sz="1100" spc="-25" dirty="0">
                          <a:latin typeface="Corbel"/>
                          <a:cs typeface="Corbel"/>
                        </a:rPr>
                        <a:t>MEM</a:t>
                      </a:r>
                      <a:r>
                        <a:rPr sz="1100" dirty="0">
                          <a:latin typeface="Corbel"/>
                          <a:cs typeface="Corbel"/>
                        </a:rPr>
                        <a:t> or</a:t>
                      </a:r>
                      <a:r>
                        <a:rPr sz="1100" spc="-10" dirty="0">
                          <a:latin typeface="Corbel"/>
                          <a:cs typeface="Corbel"/>
                        </a:rPr>
                        <a:t> </a:t>
                      </a:r>
                      <a:r>
                        <a:rPr sz="1100" dirty="0">
                          <a:latin typeface="Corbel"/>
                          <a:cs typeface="Corbel"/>
                        </a:rPr>
                        <a:t>MEM</a:t>
                      </a:r>
                      <a:r>
                        <a:rPr sz="1100" spc="-20" dirty="0">
                          <a:latin typeface="Corbel"/>
                          <a:cs typeface="Corbel"/>
                        </a:rPr>
                        <a:t> </a:t>
                      </a:r>
                      <a:r>
                        <a:rPr sz="1100" dirty="0">
                          <a:latin typeface="Corbel"/>
                          <a:cs typeface="Corbel"/>
                        </a:rPr>
                        <a:t>to</a:t>
                      </a:r>
                      <a:r>
                        <a:rPr sz="1100" spc="-10" dirty="0">
                          <a:latin typeface="Corbel"/>
                          <a:cs typeface="Corbel"/>
                        </a:rPr>
                        <a:t> </a:t>
                      </a:r>
                      <a:r>
                        <a:rPr sz="1100" dirty="0">
                          <a:latin typeface="Corbel"/>
                          <a:cs typeface="Corbel"/>
                        </a:rPr>
                        <a:t>MEM</a:t>
                      </a:r>
                      <a:r>
                        <a:rPr sz="1100" spc="-35" dirty="0">
                          <a:latin typeface="Corbel"/>
                          <a:cs typeface="Corbel"/>
                        </a:rPr>
                        <a:t> </a:t>
                      </a:r>
                      <a:r>
                        <a:rPr sz="1100" spc="-10" dirty="0">
                          <a:latin typeface="Corbel"/>
                          <a:cs typeface="Corbel"/>
                        </a:rPr>
                        <a:t>operations</a:t>
                      </a:r>
                      <a:endParaRPr sz="1100">
                        <a:latin typeface="Corbel"/>
                        <a:cs typeface="Corbel"/>
                      </a:endParaRPr>
                    </a:p>
                  </a:txBody>
                  <a:tcPr marL="0" marR="0" marT="58419" marB="0">
                    <a:lnL w="6350">
                      <a:solidFill>
                        <a:srgbClr val="FFFFFF"/>
                      </a:solidFill>
                      <a:prstDash val="solid"/>
                    </a:lnL>
                    <a:lnT w="6350">
                      <a:solidFill>
                        <a:srgbClr val="FFFFFF"/>
                      </a:solidFill>
                      <a:prstDash val="solid"/>
                    </a:lnT>
                    <a:lnB w="6350">
                      <a:solidFill>
                        <a:srgbClr val="FFFFFF"/>
                      </a:solidFill>
                      <a:prstDash val="solid"/>
                    </a:lnB>
                    <a:solidFill>
                      <a:srgbClr val="D1DFCE"/>
                    </a:solidFill>
                  </a:tcPr>
                </a:tc>
                <a:tc>
                  <a:txBody>
                    <a:bodyPr/>
                    <a:lstStyle/>
                    <a:p>
                      <a:pPr marL="575945" marR="168910" indent="-448309">
                        <a:lnSpc>
                          <a:spcPct val="100000"/>
                        </a:lnSpc>
                        <a:spcBef>
                          <a:spcPts val="459"/>
                        </a:spcBef>
                      </a:pPr>
                      <a:r>
                        <a:rPr sz="1100" dirty="0">
                          <a:latin typeface="Corbel"/>
                          <a:cs typeface="Corbel"/>
                        </a:rPr>
                        <a:t>Can</a:t>
                      </a:r>
                      <a:r>
                        <a:rPr sz="1100" spc="-5" dirty="0">
                          <a:latin typeface="Corbel"/>
                          <a:cs typeface="Corbel"/>
                        </a:rPr>
                        <a:t> </a:t>
                      </a:r>
                      <a:r>
                        <a:rPr sz="1100" dirty="0">
                          <a:latin typeface="Corbel"/>
                          <a:cs typeface="Corbel"/>
                        </a:rPr>
                        <a:t>perform</a:t>
                      </a:r>
                      <a:r>
                        <a:rPr sz="1100" spc="-25" dirty="0">
                          <a:latin typeface="Corbel"/>
                          <a:cs typeface="Corbel"/>
                        </a:rPr>
                        <a:t> </a:t>
                      </a:r>
                      <a:r>
                        <a:rPr sz="1100" dirty="0">
                          <a:latin typeface="Corbel"/>
                          <a:cs typeface="Corbel"/>
                        </a:rPr>
                        <a:t>only</a:t>
                      </a:r>
                      <a:r>
                        <a:rPr sz="1100" spc="-25" dirty="0">
                          <a:latin typeface="Corbel"/>
                          <a:cs typeface="Corbel"/>
                        </a:rPr>
                        <a:t> </a:t>
                      </a:r>
                      <a:r>
                        <a:rPr sz="1100" spc="-10" dirty="0">
                          <a:latin typeface="Corbel"/>
                          <a:cs typeface="Corbel"/>
                        </a:rPr>
                        <a:t>Register</a:t>
                      </a:r>
                      <a:r>
                        <a:rPr sz="1100" dirty="0">
                          <a:latin typeface="Corbel"/>
                          <a:cs typeface="Corbel"/>
                        </a:rPr>
                        <a:t> to</a:t>
                      </a:r>
                      <a:r>
                        <a:rPr sz="1100" spc="-15" dirty="0">
                          <a:latin typeface="Corbel"/>
                          <a:cs typeface="Corbel"/>
                        </a:rPr>
                        <a:t> </a:t>
                      </a:r>
                      <a:r>
                        <a:rPr sz="1100" spc="-10" dirty="0">
                          <a:latin typeface="Corbel"/>
                          <a:cs typeface="Corbel"/>
                        </a:rPr>
                        <a:t>Register Arithmetic</a:t>
                      </a:r>
                      <a:r>
                        <a:rPr sz="1100" spc="40" dirty="0">
                          <a:latin typeface="Corbel"/>
                          <a:cs typeface="Corbel"/>
                        </a:rPr>
                        <a:t> </a:t>
                      </a:r>
                      <a:r>
                        <a:rPr sz="1100" spc="-10" dirty="0">
                          <a:latin typeface="Corbel"/>
                          <a:cs typeface="Corbel"/>
                        </a:rPr>
                        <a:t>operations</a:t>
                      </a:r>
                      <a:endParaRPr sz="1100">
                        <a:latin typeface="Corbel"/>
                        <a:cs typeface="Corbel"/>
                      </a:endParaRPr>
                    </a:p>
                  </a:txBody>
                  <a:tcPr marL="0" marR="0" marT="58419" marB="0">
                    <a:lnR w="6350">
                      <a:solidFill>
                        <a:srgbClr val="FFFFFF"/>
                      </a:solidFill>
                      <a:prstDash val="solid"/>
                    </a:lnR>
                    <a:lnT w="6350">
                      <a:solidFill>
                        <a:srgbClr val="FFFFFF"/>
                      </a:solidFill>
                      <a:prstDash val="solid"/>
                    </a:lnT>
                    <a:lnB w="6350">
                      <a:solidFill>
                        <a:srgbClr val="FFFFFF"/>
                      </a:solidFill>
                      <a:prstDash val="solid"/>
                    </a:lnB>
                    <a:solidFill>
                      <a:srgbClr val="D1DFCE"/>
                    </a:solidFill>
                  </a:tcPr>
                </a:tc>
                <a:extLst>
                  <a:ext uri="{0D108BD9-81ED-4DB2-BD59-A6C34878D82A}">
                    <a16:rowId xmlns:a16="http://schemas.microsoft.com/office/drawing/2014/main" val="10005"/>
                  </a:ext>
                </a:extLst>
              </a:tr>
              <a:tr h="300355">
                <a:tc>
                  <a:txBody>
                    <a:bodyPr/>
                    <a:lstStyle/>
                    <a:p>
                      <a:pPr marR="40640" algn="ctr">
                        <a:lnSpc>
                          <a:spcPct val="100000"/>
                        </a:lnSpc>
                        <a:spcBef>
                          <a:spcPts val="459"/>
                        </a:spcBef>
                      </a:pPr>
                      <a:r>
                        <a:rPr sz="1100" dirty="0">
                          <a:latin typeface="Corbel"/>
                          <a:cs typeface="Corbel"/>
                        </a:rPr>
                        <a:t>Require</a:t>
                      </a:r>
                      <a:r>
                        <a:rPr sz="1100" spc="-20" dirty="0">
                          <a:latin typeface="Corbel"/>
                          <a:cs typeface="Corbel"/>
                        </a:rPr>
                        <a:t> </a:t>
                      </a:r>
                      <a:r>
                        <a:rPr sz="1100" dirty="0">
                          <a:latin typeface="Corbel"/>
                          <a:cs typeface="Corbel"/>
                        </a:rPr>
                        <a:t>less</a:t>
                      </a:r>
                      <a:r>
                        <a:rPr sz="1100" spc="-30" dirty="0">
                          <a:latin typeface="Corbel"/>
                          <a:cs typeface="Corbel"/>
                        </a:rPr>
                        <a:t> </a:t>
                      </a:r>
                      <a:r>
                        <a:rPr sz="1100" dirty="0">
                          <a:latin typeface="Corbel"/>
                          <a:cs typeface="Corbel"/>
                        </a:rPr>
                        <a:t>number</a:t>
                      </a:r>
                      <a:r>
                        <a:rPr sz="1100" spc="-35" dirty="0">
                          <a:latin typeface="Corbel"/>
                          <a:cs typeface="Corbel"/>
                        </a:rPr>
                        <a:t> </a:t>
                      </a:r>
                      <a:r>
                        <a:rPr sz="1100" dirty="0">
                          <a:latin typeface="Corbel"/>
                          <a:cs typeface="Corbel"/>
                        </a:rPr>
                        <a:t>of</a:t>
                      </a:r>
                      <a:r>
                        <a:rPr sz="1100" spc="-30" dirty="0">
                          <a:latin typeface="Corbel"/>
                          <a:cs typeface="Corbel"/>
                        </a:rPr>
                        <a:t> </a:t>
                      </a:r>
                      <a:r>
                        <a:rPr sz="1100" spc="-10" dirty="0">
                          <a:latin typeface="Corbel"/>
                          <a:cs typeface="Corbel"/>
                        </a:rPr>
                        <a:t>registers</a:t>
                      </a:r>
                      <a:endParaRPr sz="1100">
                        <a:latin typeface="Corbel"/>
                        <a:cs typeface="Corbel"/>
                      </a:endParaRPr>
                    </a:p>
                  </a:txBody>
                  <a:tcPr marL="0" marR="0" marT="58419" marB="0">
                    <a:lnL w="6350">
                      <a:solidFill>
                        <a:srgbClr val="FFFFFF"/>
                      </a:solidFill>
                      <a:prstDash val="solid"/>
                    </a:lnL>
                    <a:lnT w="6350">
                      <a:solidFill>
                        <a:srgbClr val="FFFFFF"/>
                      </a:solidFill>
                      <a:prstDash val="solid"/>
                    </a:lnT>
                    <a:lnB w="6350">
                      <a:solidFill>
                        <a:srgbClr val="FFFFFF"/>
                      </a:solidFill>
                      <a:prstDash val="solid"/>
                    </a:lnB>
                    <a:solidFill>
                      <a:srgbClr val="E9EFE8"/>
                    </a:solidFill>
                  </a:tcPr>
                </a:tc>
                <a:tc>
                  <a:txBody>
                    <a:bodyPr/>
                    <a:lstStyle/>
                    <a:p>
                      <a:pPr marR="39370" algn="ctr">
                        <a:lnSpc>
                          <a:spcPct val="100000"/>
                        </a:lnSpc>
                        <a:spcBef>
                          <a:spcPts val="459"/>
                        </a:spcBef>
                      </a:pPr>
                      <a:r>
                        <a:rPr sz="1100" dirty="0">
                          <a:latin typeface="Corbel"/>
                          <a:cs typeface="Corbel"/>
                        </a:rPr>
                        <a:t>Require</a:t>
                      </a:r>
                      <a:r>
                        <a:rPr sz="1100" spc="-20" dirty="0">
                          <a:latin typeface="Corbel"/>
                          <a:cs typeface="Corbel"/>
                        </a:rPr>
                        <a:t> </a:t>
                      </a:r>
                      <a:r>
                        <a:rPr sz="1100" dirty="0">
                          <a:latin typeface="Corbel"/>
                          <a:cs typeface="Corbel"/>
                        </a:rPr>
                        <a:t>more</a:t>
                      </a:r>
                      <a:r>
                        <a:rPr sz="1100" spc="-30" dirty="0">
                          <a:latin typeface="Corbel"/>
                          <a:cs typeface="Corbel"/>
                        </a:rPr>
                        <a:t> </a:t>
                      </a:r>
                      <a:r>
                        <a:rPr sz="1100" dirty="0">
                          <a:latin typeface="Corbel"/>
                          <a:cs typeface="Corbel"/>
                        </a:rPr>
                        <a:t>number</a:t>
                      </a:r>
                      <a:r>
                        <a:rPr sz="1100" spc="-30" dirty="0">
                          <a:latin typeface="Corbel"/>
                          <a:cs typeface="Corbel"/>
                        </a:rPr>
                        <a:t> </a:t>
                      </a:r>
                      <a:r>
                        <a:rPr sz="1100" dirty="0">
                          <a:latin typeface="Corbel"/>
                          <a:cs typeface="Corbel"/>
                        </a:rPr>
                        <a:t>of</a:t>
                      </a:r>
                      <a:r>
                        <a:rPr sz="1100" spc="-25" dirty="0">
                          <a:latin typeface="Corbel"/>
                          <a:cs typeface="Corbel"/>
                        </a:rPr>
                        <a:t> </a:t>
                      </a:r>
                      <a:r>
                        <a:rPr sz="1100" spc="-10" dirty="0">
                          <a:latin typeface="Corbel"/>
                          <a:cs typeface="Corbel"/>
                        </a:rPr>
                        <a:t>registers</a:t>
                      </a:r>
                      <a:endParaRPr sz="1100">
                        <a:latin typeface="Corbel"/>
                        <a:cs typeface="Corbel"/>
                      </a:endParaRPr>
                    </a:p>
                  </a:txBody>
                  <a:tcPr marL="0" marR="0" marT="58419" marB="0">
                    <a:lnR w="6350">
                      <a:solidFill>
                        <a:srgbClr val="FFFFFF"/>
                      </a:solidFill>
                      <a:prstDash val="solid"/>
                    </a:lnR>
                    <a:lnT w="6350">
                      <a:solidFill>
                        <a:srgbClr val="FFFFFF"/>
                      </a:solidFill>
                      <a:prstDash val="solid"/>
                    </a:lnT>
                    <a:lnB w="6350">
                      <a:solidFill>
                        <a:srgbClr val="FFFFFF"/>
                      </a:solidFill>
                      <a:prstDash val="solid"/>
                    </a:lnB>
                    <a:solidFill>
                      <a:srgbClr val="E9EFE8"/>
                    </a:solidFill>
                  </a:tcPr>
                </a:tc>
                <a:extLst>
                  <a:ext uri="{0D108BD9-81ED-4DB2-BD59-A6C34878D82A}">
                    <a16:rowId xmlns:a16="http://schemas.microsoft.com/office/drawing/2014/main" val="10006"/>
                  </a:ext>
                </a:extLst>
              </a:tr>
            </a:tbl>
          </a:graphicData>
        </a:graphic>
      </p:graphicFrame>
      <p:grpSp>
        <p:nvGrpSpPr>
          <p:cNvPr id="5" name="object 5"/>
          <p:cNvGrpSpPr/>
          <p:nvPr/>
        </p:nvGrpSpPr>
        <p:grpSpPr>
          <a:xfrm>
            <a:off x="381000" y="4844796"/>
            <a:ext cx="6096000" cy="3429000"/>
            <a:chOff x="381000" y="4844796"/>
            <a:chExt cx="6096000" cy="3429000"/>
          </a:xfrm>
        </p:grpSpPr>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8" name="object 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9" name="object 9"/>
          <p:cNvSpPr txBox="1"/>
          <p:nvPr/>
        </p:nvSpPr>
        <p:spPr>
          <a:xfrm>
            <a:off x="725423" y="5069586"/>
            <a:ext cx="1746250" cy="360680"/>
          </a:xfrm>
          <a:prstGeom prst="rect">
            <a:avLst/>
          </a:prstGeom>
        </p:spPr>
        <p:txBody>
          <a:bodyPr vert="horz" wrap="square" lIns="0" tIns="12065" rIns="0" bIns="0" rtlCol="0">
            <a:spAutoFit/>
          </a:bodyPr>
          <a:lstStyle/>
          <a:p>
            <a:pPr>
              <a:lnSpc>
                <a:spcPct val="100000"/>
              </a:lnSpc>
              <a:spcBef>
                <a:spcPts val="95"/>
              </a:spcBef>
            </a:pPr>
            <a:r>
              <a:rPr sz="2200" dirty="0">
                <a:latin typeface="Georgia"/>
                <a:cs typeface="Georgia"/>
              </a:rPr>
              <a:t>CISC</a:t>
            </a:r>
            <a:r>
              <a:rPr sz="2200" spc="-30" dirty="0">
                <a:latin typeface="Georgia"/>
                <a:cs typeface="Georgia"/>
              </a:rPr>
              <a:t> </a:t>
            </a:r>
            <a:r>
              <a:rPr sz="2200" dirty="0">
                <a:latin typeface="Georgia"/>
                <a:cs typeface="Georgia"/>
              </a:rPr>
              <a:t>vs.</a:t>
            </a:r>
            <a:r>
              <a:rPr sz="2200" spc="-35" dirty="0">
                <a:latin typeface="Georgia"/>
                <a:cs typeface="Georgia"/>
              </a:rPr>
              <a:t> </a:t>
            </a:r>
            <a:r>
              <a:rPr sz="2200" spc="-20" dirty="0">
                <a:latin typeface="Georgia"/>
                <a:cs typeface="Georgia"/>
              </a:rPr>
              <a:t>RISC</a:t>
            </a:r>
            <a:endParaRPr sz="2200">
              <a:latin typeface="Georgia"/>
              <a:cs typeface="Georgia"/>
            </a:endParaRPr>
          </a:p>
        </p:txBody>
      </p:sp>
      <p:grpSp>
        <p:nvGrpSpPr>
          <p:cNvPr id="10" name="object 10"/>
          <p:cNvGrpSpPr/>
          <p:nvPr/>
        </p:nvGrpSpPr>
        <p:grpSpPr>
          <a:xfrm>
            <a:off x="891133" y="5719064"/>
            <a:ext cx="5036185" cy="1503680"/>
            <a:chOff x="891133" y="5719064"/>
            <a:chExt cx="5036185" cy="1503680"/>
          </a:xfrm>
        </p:grpSpPr>
        <p:sp>
          <p:nvSpPr>
            <p:cNvPr id="11" name="object 11"/>
            <p:cNvSpPr/>
            <p:nvPr/>
          </p:nvSpPr>
          <p:spPr>
            <a:xfrm>
              <a:off x="894308" y="5722238"/>
              <a:ext cx="5029835" cy="259079"/>
            </a:xfrm>
            <a:custGeom>
              <a:avLst/>
              <a:gdLst/>
              <a:ahLst/>
              <a:cxnLst/>
              <a:rect l="l" t="t" r="r" b="b"/>
              <a:pathLst>
                <a:path w="5029835" h="259079">
                  <a:moveTo>
                    <a:pt x="2514600" y="0"/>
                  </a:moveTo>
                  <a:lnTo>
                    <a:pt x="0" y="0"/>
                  </a:lnTo>
                  <a:lnTo>
                    <a:pt x="0" y="259080"/>
                  </a:lnTo>
                  <a:lnTo>
                    <a:pt x="2514600" y="259080"/>
                  </a:lnTo>
                  <a:lnTo>
                    <a:pt x="2514600" y="0"/>
                  </a:lnTo>
                  <a:close/>
                </a:path>
                <a:path w="5029835" h="259079">
                  <a:moveTo>
                    <a:pt x="5029225" y="0"/>
                  </a:moveTo>
                  <a:lnTo>
                    <a:pt x="2514625" y="0"/>
                  </a:lnTo>
                  <a:lnTo>
                    <a:pt x="2514625" y="259080"/>
                  </a:lnTo>
                  <a:lnTo>
                    <a:pt x="5029225" y="259080"/>
                  </a:lnTo>
                  <a:lnTo>
                    <a:pt x="5029225" y="0"/>
                  </a:lnTo>
                  <a:close/>
                </a:path>
              </a:pathLst>
            </a:custGeom>
            <a:solidFill>
              <a:srgbClr val="539E39"/>
            </a:solidFill>
          </p:spPr>
          <p:txBody>
            <a:bodyPr wrap="square" lIns="0" tIns="0" rIns="0" bIns="0" rtlCol="0"/>
            <a:lstStyle/>
            <a:p>
              <a:endParaRPr/>
            </a:p>
          </p:txBody>
        </p:sp>
        <p:sp>
          <p:nvSpPr>
            <p:cNvPr id="12" name="object 12"/>
            <p:cNvSpPr/>
            <p:nvPr/>
          </p:nvSpPr>
          <p:spPr>
            <a:xfrm>
              <a:off x="894308" y="5981318"/>
              <a:ext cx="5029835" cy="468630"/>
            </a:xfrm>
            <a:custGeom>
              <a:avLst/>
              <a:gdLst/>
              <a:ahLst/>
              <a:cxnLst/>
              <a:rect l="l" t="t" r="r" b="b"/>
              <a:pathLst>
                <a:path w="5029835" h="468629">
                  <a:moveTo>
                    <a:pt x="2514600" y="0"/>
                  </a:moveTo>
                  <a:lnTo>
                    <a:pt x="0" y="0"/>
                  </a:lnTo>
                  <a:lnTo>
                    <a:pt x="0" y="468630"/>
                  </a:lnTo>
                  <a:lnTo>
                    <a:pt x="2514600" y="468630"/>
                  </a:lnTo>
                  <a:lnTo>
                    <a:pt x="2514600" y="0"/>
                  </a:lnTo>
                  <a:close/>
                </a:path>
                <a:path w="5029835" h="468629">
                  <a:moveTo>
                    <a:pt x="5029225" y="0"/>
                  </a:moveTo>
                  <a:lnTo>
                    <a:pt x="2514625" y="0"/>
                  </a:lnTo>
                  <a:lnTo>
                    <a:pt x="2514625" y="468630"/>
                  </a:lnTo>
                  <a:lnTo>
                    <a:pt x="5029225" y="468630"/>
                  </a:lnTo>
                  <a:lnTo>
                    <a:pt x="5029225" y="0"/>
                  </a:lnTo>
                  <a:close/>
                </a:path>
              </a:pathLst>
            </a:custGeom>
            <a:solidFill>
              <a:srgbClr val="D1DFCE"/>
            </a:solidFill>
          </p:spPr>
          <p:txBody>
            <a:bodyPr wrap="square" lIns="0" tIns="0" rIns="0" bIns="0" rtlCol="0"/>
            <a:lstStyle/>
            <a:p>
              <a:endParaRPr/>
            </a:p>
          </p:txBody>
        </p:sp>
        <p:sp>
          <p:nvSpPr>
            <p:cNvPr id="13" name="object 13"/>
            <p:cNvSpPr/>
            <p:nvPr/>
          </p:nvSpPr>
          <p:spPr>
            <a:xfrm>
              <a:off x="894308" y="6449948"/>
              <a:ext cx="5029835" cy="468630"/>
            </a:xfrm>
            <a:custGeom>
              <a:avLst/>
              <a:gdLst/>
              <a:ahLst/>
              <a:cxnLst/>
              <a:rect l="l" t="t" r="r" b="b"/>
              <a:pathLst>
                <a:path w="5029835" h="468629">
                  <a:moveTo>
                    <a:pt x="2514600" y="0"/>
                  </a:moveTo>
                  <a:lnTo>
                    <a:pt x="0" y="0"/>
                  </a:lnTo>
                  <a:lnTo>
                    <a:pt x="0" y="468630"/>
                  </a:lnTo>
                  <a:lnTo>
                    <a:pt x="2514600" y="468630"/>
                  </a:lnTo>
                  <a:lnTo>
                    <a:pt x="2514600" y="0"/>
                  </a:lnTo>
                  <a:close/>
                </a:path>
                <a:path w="5029835" h="468629">
                  <a:moveTo>
                    <a:pt x="5029225" y="0"/>
                  </a:moveTo>
                  <a:lnTo>
                    <a:pt x="2514625" y="0"/>
                  </a:lnTo>
                  <a:lnTo>
                    <a:pt x="2514625" y="468630"/>
                  </a:lnTo>
                  <a:lnTo>
                    <a:pt x="5029225" y="468630"/>
                  </a:lnTo>
                  <a:lnTo>
                    <a:pt x="5029225" y="0"/>
                  </a:lnTo>
                  <a:close/>
                </a:path>
              </a:pathLst>
            </a:custGeom>
            <a:solidFill>
              <a:srgbClr val="E9EFE8"/>
            </a:solidFill>
          </p:spPr>
          <p:txBody>
            <a:bodyPr wrap="square" lIns="0" tIns="0" rIns="0" bIns="0" rtlCol="0"/>
            <a:lstStyle/>
            <a:p>
              <a:endParaRPr/>
            </a:p>
          </p:txBody>
        </p:sp>
        <p:sp>
          <p:nvSpPr>
            <p:cNvPr id="14" name="object 14"/>
            <p:cNvSpPr/>
            <p:nvPr/>
          </p:nvSpPr>
          <p:spPr>
            <a:xfrm>
              <a:off x="894308" y="6918578"/>
              <a:ext cx="5029835" cy="300990"/>
            </a:xfrm>
            <a:custGeom>
              <a:avLst/>
              <a:gdLst/>
              <a:ahLst/>
              <a:cxnLst/>
              <a:rect l="l" t="t" r="r" b="b"/>
              <a:pathLst>
                <a:path w="5029835" h="300990">
                  <a:moveTo>
                    <a:pt x="2514600" y="0"/>
                  </a:moveTo>
                  <a:lnTo>
                    <a:pt x="0" y="0"/>
                  </a:lnTo>
                  <a:lnTo>
                    <a:pt x="0" y="300990"/>
                  </a:lnTo>
                  <a:lnTo>
                    <a:pt x="2514600" y="300990"/>
                  </a:lnTo>
                  <a:lnTo>
                    <a:pt x="2514600" y="0"/>
                  </a:lnTo>
                  <a:close/>
                </a:path>
                <a:path w="5029835" h="300990">
                  <a:moveTo>
                    <a:pt x="5029225" y="0"/>
                  </a:moveTo>
                  <a:lnTo>
                    <a:pt x="2514625" y="0"/>
                  </a:lnTo>
                  <a:lnTo>
                    <a:pt x="2514625" y="300990"/>
                  </a:lnTo>
                  <a:lnTo>
                    <a:pt x="5029225" y="300990"/>
                  </a:lnTo>
                  <a:lnTo>
                    <a:pt x="5029225" y="0"/>
                  </a:lnTo>
                  <a:close/>
                </a:path>
              </a:pathLst>
            </a:custGeom>
            <a:solidFill>
              <a:srgbClr val="D1DFCE"/>
            </a:solidFill>
          </p:spPr>
          <p:txBody>
            <a:bodyPr wrap="square" lIns="0" tIns="0" rIns="0" bIns="0" rtlCol="0"/>
            <a:lstStyle/>
            <a:p>
              <a:endParaRPr/>
            </a:p>
          </p:txBody>
        </p:sp>
        <p:sp>
          <p:nvSpPr>
            <p:cNvPr id="15" name="object 15"/>
            <p:cNvSpPr/>
            <p:nvPr/>
          </p:nvSpPr>
          <p:spPr>
            <a:xfrm>
              <a:off x="3408933" y="5719064"/>
              <a:ext cx="0" cy="1503680"/>
            </a:xfrm>
            <a:custGeom>
              <a:avLst/>
              <a:gdLst/>
              <a:ahLst/>
              <a:cxnLst/>
              <a:rect l="l" t="t" r="r" b="b"/>
              <a:pathLst>
                <a:path h="1503679">
                  <a:moveTo>
                    <a:pt x="0" y="0"/>
                  </a:moveTo>
                  <a:lnTo>
                    <a:pt x="0" y="1503680"/>
                  </a:lnTo>
                </a:path>
              </a:pathLst>
            </a:custGeom>
            <a:ln w="6350">
              <a:solidFill>
                <a:srgbClr val="FFFFFF"/>
              </a:solidFill>
            </a:ln>
          </p:spPr>
          <p:txBody>
            <a:bodyPr wrap="square" lIns="0" tIns="0" rIns="0" bIns="0" rtlCol="0"/>
            <a:lstStyle/>
            <a:p>
              <a:endParaRPr/>
            </a:p>
          </p:txBody>
        </p:sp>
        <p:sp>
          <p:nvSpPr>
            <p:cNvPr id="16" name="object 16"/>
            <p:cNvSpPr/>
            <p:nvPr/>
          </p:nvSpPr>
          <p:spPr>
            <a:xfrm>
              <a:off x="891133" y="5981319"/>
              <a:ext cx="5036185" cy="0"/>
            </a:xfrm>
            <a:custGeom>
              <a:avLst/>
              <a:gdLst/>
              <a:ahLst/>
              <a:cxnLst/>
              <a:rect l="l" t="t" r="r" b="b"/>
              <a:pathLst>
                <a:path w="5036185">
                  <a:moveTo>
                    <a:pt x="0" y="0"/>
                  </a:moveTo>
                  <a:lnTo>
                    <a:pt x="5035575" y="0"/>
                  </a:lnTo>
                </a:path>
              </a:pathLst>
            </a:custGeom>
            <a:ln w="19050">
              <a:solidFill>
                <a:srgbClr val="FFFFFF"/>
              </a:solidFill>
            </a:ln>
          </p:spPr>
          <p:txBody>
            <a:bodyPr wrap="square" lIns="0" tIns="0" rIns="0" bIns="0" rtlCol="0"/>
            <a:lstStyle/>
            <a:p>
              <a:endParaRPr/>
            </a:p>
          </p:txBody>
        </p:sp>
        <p:sp>
          <p:nvSpPr>
            <p:cNvPr id="17" name="object 17"/>
            <p:cNvSpPr/>
            <p:nvPr/>
          </p:nvSpPr>
          <p:spPr>
            <a:xfrm>
              <a:off x="891133" y="5719064"/>
              <a:ext cx="5036185" cy="1503680"/>
            </a:xfrm>
            <a:custGeom>
              <a:avLst/>
              <a:gdLst/>
              <a:ahLst/>
              <a:cxnLst/>
              <a:rect l="l" t="t" r="r" b="b"/>
              <a:pathLst>
                <a:path w="5036185" h="1503679">
                  <a:moveTo>
                    <a:pt x="0" y="730885"/>
                  </a:moveTo>
                  <a:lnTo>
                    <a:pt x="5035575" y="730885"/>
                  </a:lnTo>
                </a:path>
                <a:path w="5036185" h="1503679">
                  <a:moveTo>
                    <a:pt x="0" y="1199515"/>
                  </a:moveTo>
                  <a:lnTo>
                    <a:pt x="5035575" y="1199515"/>
                  </a:lnTo>
                </a:path>
                <a:path w="5036185" h="1503679">
                  <a:moveTo>
                    <a:pt x="3175" y="0"/>
                  </a:moveTo>
                  <a:lnTo>
                    <a:pt x="3175" y="1503680"/>
                  </a:lnTo>
                </a:path>
                <a:path w="5036185" h="1503679">
                  <a:moveTo>
                    <a:pt x="5032400" y="0"/>
                  </a:moveTo>
                  <a:lnTo>
                    <a:pt x="5032400" y="1503680"/>
                  </a:lnTo>
                </a:path>
                <a:path w="5036185" h="1503679">
                  <a:moveTo>
                    <a:pt x="0" y="3175"/>
                  </a:moveTo>
                  <a:lnTo>
                    <a:pt x="5035575" y="3175"/>
                  </a:lnTo>
                </a:path>
                <a:path w="5036185" h="1503679">
                  <a:moveTo>
                    <a:pt x="0" y="1500505"/>
                  </a:moveTo>
                  <a:lnTo>
                    <a:pt x="5035575" y="1500505"/>
                  </a:lnTo>
                </a:path>
              </a:pathLst>
            </a:custGeom>
            <a:ln w="6350">
              <a:solidFill>
                <a:srgbClr val="FFFFFF"/>
              </a:solidFill>
            </a:ln>
          </p:spPr>
          <p:txBody>
            <a:bodyPr wrap="square" lIns="0" tIns="0" rIns="0" bIns="0" rtlCol="0"/>
            <a:lstStyle/>
            <a:p>
              <a:endParaRPr/>
            </a:p>
          </p:txBody>
        </p:sp>
      </p:grpSp>
      <p:sp>
        <p:nvSpPr>
          <p:cNvPr id="18" name="object 18"/>
          <p:cNvSpPr txBox="1"/>
          <p:nvPr/>
        </p:nvSpPr>
        <p:spPr>
          <a:xfrm>
            <a:off x="1061008" y="5604256"/>
            <a:ext cx="2193290" cy="784225"/>
          </a:xfrm>
          <a:prstGeom prst="rect">
            <a:avLst/>
          </a:prstGeom>
        </p:spPr>
        <p:txBody>
          <a:bodyPr vert="horz" wrap="square" lIns="0" tIns="130175" rIns="0" bIns="0" rtlCol="0">
            <a:spAutoFit/>
          </a:bodyPr>
          <a:lstStyle/>
          <a:p>
            <a:pPr marR="1905" algn="ctr">
              <a:lnSpc>
                <a:spcPct val="100000"/>
              </a:lnSpc>
              <a:spcBef>
                <a:spcPts val="1025"/>
              </a:spcBef>
            </a:pPr>
            <a:r>
              <a:rPr sz="1400" b="1" spc="-20" dirty="0">
                <a:solidFill>
                  <a:srgbClr val="FFFFFF"/>
                </a:solidFill>
                <a:latin typeface="Corbel"/>
                <a:cs typeface="Corbel"/>
              </a:rPr>
              <a:t>CISC</a:t>
            </a:r>
            <a:endParaRPr sz="1400">
              <a:latin typeface="Corbel"/>
              <a:cs typeface="Corbel"/>
            </a:endParaRPr>
          </a:p>
          <a:p>
            <a:pPr marR="5715" algn="ctr">
              <a:lnSpc>
                <a:spcPct val="100000"/>
              </a:lnSpc>
              <a:spcBef>
                <a:spcPts val="725"/>
              </a:spcBef>
            </a:pPr>
            <a:r>
              <a:rPr sz="1100" spc="-10" dirty="0">
                <a:latin typeface="Corbel"/>
                <a:cs typeface="Corbel"/>
              </a:rPr>
              <a:t>Instruction</a:t>
            </a:r>
            <a:r>
              <a:rPr sz="1100" dirty="0">
                <a:latin typeface="Corbel"/>
                <a:cs typeface="Corbel"/>
              </a:rPr>
              <a:t> </a:t>
            </a:r>
            <a:r>
              <a:rPr sz="1100" spc="-10" dirty="0">
                <a:latin typeface="Corbel"/>
                <a:cs typeface="Corbel"/>
              </a:rPr>
              <a:t>execution</a:t>
            </a:r>
            <a:r>
              <a:rPr sz="1100" dirty="0">
                <a:latin typeface="Corbel"/>
                <a:cs typeface="Corbel"/>
              </a:rPr>
              <a:t> </a:t>
            </a:r>
            <a:r>
              <a:rPr sz="1100" spc="-10" dirty="0">
                <a:latin typeface="Corbel"/>
                <a:cs typeface="Corbel"/>
              </a:rPr>
              <a:t>takes</a:t>
            </a:r>
            <a:r>
              <a:rPr sz="1100" spc="20" dirty="0">
                <a:latin typeface="Corbel"/>
                <a:cs typeface="Corbel"/>
              </a:rPr>
              <a:t> </a:t>
            </a:r>
            <a:r>
              <a:rPr sz="1100" dirty="0">
                <a:latin typeface="Corbel"/>
                <a:cs typeface="Corbel"/>
              </a:rPr>
              <a:t>more</a:t>
            </a:r>
            <a:r>
              <a:rPr sz="1100" spc="30" dirty="0">
                <a:latin typeface="Corbel"/>
                <a:cs typeface="Corbel"/>
              </a:rPr>
              <a:t> </a:t>
            </a:r>
            <a:r>
              <a:rPr sz="1100" spc="-20" dirty="0">
                <a:latin typeface="Corbel"/>
                <a:cs typeface="Corbel"/>
              </a:rPr>
              <a:t>than </a:t>
            </a:r>
            <a:r>
              <a:rPr sz="1100" dirty="0">
                <a:latin typeface="Corbel"/>
                <a:cs typeface="Corbel"/>
              </a:rPr>
              <a:t>one</a:t>
            </a:r>
            <a:r>
              <a:rPr sz="1100" spc="-40" dirty="0">
                <a:latin typeface="Corbel"/>
                <a:cs typeface="Corbel"/>
              </a:rPr>
              <a:t> </a:t>
            </a:r>
            <a:r>
              <a:rPr sz="1100" dirty="0">
                <a:latin typeface="Corbel"/>
                <a:cs typeface="Corbel"/>
              </a:rPr>
              <a:t>clock</a:t>
            </a:r>
            <a:r>
              <a:rPr sz="1100" spc="-20" dirty="0">
                <a:latin typeface="Corbel"/>
                <a:cs typeface="Corbel"/>
              </a:rPr>
              <a:t> cycle</a:t>
            </a:r>
            <a:endParaRPr sz="1100">
              <a:latin typeface="Corbel"/>
              <a:cs typeface="Corbel"/>
            </a:endParaRPr>
          </a:p>
        </p:txBody>
      </p:sp>
      <p:sp>
        <p:nvSpPr>
          <p:cNvPr id="25" name="object 2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sp>
        <p:nvSpPr>
          <p:cNvPr id="19" name="object 19"/>
          <p:cNvSpPr txBox="1"/>
          <p:nvPr/>
        </p:nvSpPr>
        <p:spPr>
          <a:xfrm>
            <a:off x="3521328" y="5604256"/>
            <a:ext cx="2302510" cy="784225"/>
          </a:xfrm>
          <a:prstGeom prst="rect">
            <a:avLst/>
          </a:prstGeom>
        </p:spPr>
        <p:txBody>
          <a:bodyPr vert="horz" wrap="square" lIns="0" tIns="130175" rIns="0" bIns="0" rtlCol="0">
            <a:spAutoFit/>
          </a:bodyPr>
          <a:lstStyle/>
          <a:p>
            <a:pPr marR="3810" algn="ctr">
              <a:lnSpc>
                <a:spcPct val="100000"/>
              </a:lnSpc>
              <a:spcBef>
                <a:spcPts val="1025"/>
              </a:spcBef>
            </a:pPr>
            <a:r>
              <a:rPr sz="1400" b="1" spc="-20" dirty="0">
                <a:solidFill>
                  <a:srgbClr val="FFFFFF"/>
                </a:solidFill>
                <a:latin typeface="Corbel"/>
                <a:cs typeface="Corbel"/>
              </a:rPr>
              <a:t>RISC</a:t>
            </a:r>
            <a:endParaRPr sz="1400">
              <a:latin typeface="Corbel"/>
              <a:cs typeface="Corbel"/>
            </a:endParaRPr>
          </a:p>
          <a:p>
            <a:pPr marR="5080" algn="ctr">
              <a:lnSpc>
                <a:spcPct val="100000"/>
              </a:lnSpc>
              <a:spcBef>
                <a:spcPts val="725"/>
              </a:spcBef>
            </a:pPr>
            <a:r>
              <a:rPr sz="1100" dirty="0">
                <a:latin typeface="Corbel"/>
                <a:cs typeface="Corbel"/>
              </a:rPr>
              <a:t>An instruction</a:t>
            </a:r>
            <a:r>
              <a:rPr sz="1100" spc="-10" dirty="0">
                <a:latin typeface="Corbel"/>
                <a:cs typeface="Corbel"/>
              </a:rPr>
              <a:t> executed</a:t>
            </a:r>
            <a:r>
              <a:rPr sz="1100" spc="-30" dirty="0">
                <a:latin typeface="Corbel"/>
                <a:cs typeface="Corbel"/>
              </a:rPr>
              <a:t> </a:t>
            </a:r>
            <a:r>
              <a:rPr sz="1100" dirty="0">
                <a:latin typeface="Corbel"/>
                <a:cs typeface="Corbel"/>
              </a:rPr>
              <a:t>in</a:t>
            </a:r>
            <a:r>
              <a:rPr sz="1100" spc="5" dirty="0">
                <a:latin typeface="Corbel"/>
                <a:cs typeface="Corbel"/>
              </a:rPr>
              <a:t> </a:t>
            </a:r>
            <a:r>
              <a:rPr sz="1100" dirty="0">
                <a:latin typeface="Corbel"/>
                <a:cs typeface="Corbel"/>
              </a:rPr>
              <a:t>a</a:t>
            </a:r>
            <a:r>
              <a:rPr sz="1100" spc="-5" dirty="0">
                <a:latin typeface="Corbel"/>
                <a:cs typeface="Corbel"/>
              </a:rPr>
              <a:t> </a:t>
            </a:r>
            <a:r>
              <a:rPr sz="1100" dirty="0">
                <a:latin typeface="Corbel"/>
                <a:cs typeface="Corbel"/>
              </a:rPr>
              <a:t>single </a:t>
            </a:r>
            <a:r>
              <a:rPr sz="1100" spc="-20" dirty="0">
                <a:latin typeface="Corbel"/>
                <a:cs typeface="Corbel"/>
              </a:rPr>
              <a:t>clock </a:t>
            </a:r>
            <a:r>
              <a:rPr sz="1100" spc="-10" dirty="0">
                <a:latin typeface="Corbel"/>
                <a:cs typeface="Corbel"/>
              </a:rPr>
              <a:t>cycle</a:t>
            </a:r>
            <a:endParaRPr sz="1100">
              <a:latin typeface="Corbel"/>
              <a:cs typeface="Corbel"/>
            </a:endParaRPr>
          </a:p>
        </p:txBody>
      </p:sp>
      <p:sp>
        <p:nvSpPr>
          <p:cNvPr id="20" name="object 20"/>
          <p:cNvSpPr txBox="1"/>
          <p:nvPr/>
        </p:nvSpPr>
        <p:spPr>
          <a:xfrm>
            <a:off x="945184" y="6496050"/>
            <a:ext cx="2426335" cy="361315"/>
          </a:xfrm>
          <a:prstGeom prst="rect">
            <a:avLst/>
          </a:prstGeom>
        </p:spPr>
        <p:txBody>
          <a:bodyPr vert="horz" wrap="square" lIns="0" tIns="12700" rIns="0" bIns="0" rtlCol="0">
            <a:spAutoFit/>
          </a:bodyPr>
          <a:lstStyle/>
          <a:p>
            <a:pPr marL="1057910" marR="5080" indent="-1058545">
              <a:lnSpc>
                <a:spcPct val="100000"/>
              </a:lnSpc>
              <a:spcBef>
                <a:spcPts val="100"/>
              </a:spcBef>
            </a:pPr>
            <a:r>
              <a:rPr sz="1100" spc="-10" dirty="0">
                <a:latin typeface="Corbel"/>
                <a:cs typeface="Corbel"/>
              </a:rPr>
              <a:t>Instructions</a:t>
            </a:r>
            <a:r>
              <a:rPr sz="1100" spc="-30" dirty="0">
                <a:latin typeface="Corbel"/>
                <a:cs typeface="Corbel"/>
              </a:rPr>
              <a:t> </a:t>
            </a:r>
            <a:r>
              <a:rPr sz="1100" dirty="0">
                <a:latin typeface="Corbel"/>
                <a:cs typeface="Corbel"/>
              </a:rPr>
              <a:t>are</a:t>
            </a:r>
            <a:r>
              <a:rPr sz="1100" spc="-5" dirty="0">
                <a:latin typeface="Corbel"/>
                <a:cs typeface="Corbel"/>
              </a:rPr>
              <a:t> </a:t>
            </a:r>
            <a:r>
              <a:rPr sz="1100" dirty="0">
                <a:latin typeface="Corbel"/>
                <a:cs typeface="Corbel"/>
              </a:rPr>
              <a:t>larger</a:t>
            </a:r>
            <a:r>
              <a:rPr sz="1100" spc="-10" dirty="0">
                <a:latin typeface="Corbel"/>
                <a:cs typeface="Corbel"/>
              </a:rPr>
              <a:t> </a:t>
            </a:r>
            <a:r>
              <a:rPr sz="1100" dirty="0">
                <a:latin typeface="Corbel"/>
                <a:cs typeface="Corbel"/>
              </a:rPr>
              <a:t>than</a:t>
            </a:r>
            <a:r>
              <a:rPr sz="1100" spc="-5" dirty="0">
                <a:latin typeface="Corbel"/>
                <a:cs typeface="Corbel"/>
              </a:rPr>
              <a:t> </a:t>
            </a:r>
            <a:r>
              <a:rPr sz="1100" dirty="0">
                <a:latin typeface="Corbel"/>
                <a:cs typeface="Corbel"/>
              </a:rPr>
              <a:t>the size</a:t>
            </a:r>
            <a:r>
              <a:rPr sz="1100" spc="10" dirty="0">
                <a:latin typeface="Corbel"/>
                <a:cs typeface="Corbel"/>
              </a:rPr>
              <a:t> </a:t>
            </a:r>
            <a:r>
              <a:rPr sz="1100" dirty="0">
                <a:latin typeface="Corbel"/>
                <a:cs typeface="Corbel"/>
              </a:rPr>
              <a:t>of</a:t>
            </a:r>
            <a:r>
              <a:rPr sz="1100" spc="10" dirty="0">
                <a:latin typeface="Corbel"/>
                <a:cs typeface="Corbel"/>
              </a:rPr>
              <a:t> </a:t>
            </a:r>
            <a:r>
              <a:rPr sz="1100" spc="-25" dirty="0">
                <a:latin typeface="Corbel"/>
                <a:cs typeface="Corbel"/>
              </a:rPr>
              <a:t>one</a:t>
            </a:r>
            <a:r>
              <a:rPr sz="1100" spc="-20" dirty="0">
                <a:latin typeface="Corbel"/>
                <a:cs typeface="Corbel"/>
              </a:rPr>
              <a:t> word</a:t>
            </a:r>
            <a:endParaRPr sz="1100">
              <a:latin typeface="Corbel"/>
              <a:cs typeface="Corbel"/>
            </a:endParaRPr>
          </a:p>
        </p:txBody>
      </p:sp>
      <p:sp>
        <p:nvSpPr>
          <p:cNvPr id="21" name="object 21"/>
          <p:cNvSpPr txBox="1"/>
          <p:nvPr/>
        </p:nvSpPr>
        <p:spPr>
          <a:xfrm>
            <a:off x="3832225" y="6579869"/>
            <a:ext cx="1682750" cy="193675"/>
          </a:xfrm>
          <a:prstGeom prst="rect">
            <a:avLst/>
          </a:prstGeom>
        </p:spPr>
        <p:txBody>
          <a:bodyPr vert="horz" wrap="square" lIns="0" tIns="12700" rIns="0" bIns="0" rtlCol="0">
            <a:spAutoFit/>
          </a:bodyPr>
          <a:lstStyle/>
          <a:p>
            <a:pPr>
              <a:lnSpc>
                <a:spcPct val="100000"/>
              </a:lnSpc>
              <a:spcBef>
                <a:spcPts val="100"/>
              </a:spcBef>
            </a:pPr>
            <a:r>
              <a:rPr sz="1100" dirty="0">
                <a:latin typeface="Corbel"/>
                <a:cs typeface="Corbel"/>
              </a:rPr>
              <a:t>An</a:t>
            </a:r>
            <a:r>
              <a:rPr sz="1100" spc="-10" dirty="0">
                <a:latin typeface="Corbel"/>
                <a:cs typeface="Corbel"/>
              </a:rPr>
              <a:t> </a:t>
            </a:r>
            <a:r>
              <a:rPr sz="1100" dirty="0">
                <a:latin typeface="Corbel"/>
                <a:cs typeface="Corbel"/>
              </a:rPr>
              <a:t>instruction</a:t>
            </a:r>
            <a:r>
              <a:rPr sz="1100" spc="-25" dirty="0">
                <a:latin typeface="Corbel"/>
                <a:cs typeface="Corbel"/>
              </a:rPr>
              <a:t> </a:t>
            </a:r>
            <a:r>
              <a:rPr sz="1100" dirty="0">
                <a:latin typeface="Corbel"/>
                <a:cs typeface="Corbel"/>
              </a:rPr>
              <a:t>fit</a:t>
            </a:r>
            <a:r>
              <a:rPr sz="1100" spc="-15" dirty="0">
                <a:latin typeface="Corbel"/>
                <a:cs typeface="Corbel"/>
              </a:rPr>
              <a:t> </a:t>
            </a:r>
            <a:r>
              <a:rPr sz="1100" dirty="0">
                <a:latin typeface="Corbel"/>
                <a:cs typeface="Corbel"/>
              </a:rPr>
              <a:t>in</a:t>
            </a:r>
            <a:r>
              <a:rPr sz="1100" spc="-10" dirty="0">
                <a:latin typeface="Corbel"/>
                <a:cs typeface="Corbel"/>
              </a:rPr>
              <a:t> </a:t>
            </a:r>
            <a:r>
              <a:rPr sz="1100" dirty="0">
                <a:latin typeface="Corbel"/>
                <a:cs typeface="Corbel"/>
              </a:rPr>
              <a:t>one</a:t>
            </a:r>
            <a:r>
              <a:rPr sz="1100" spc="-10" dirty="0">
                <a:latin typeface="Corbel"/>
                <a:cs typeface="Corbel"/>
              </a:rPr>
              <a:t> </a:t>
            </a:r>
            <a:r>
              <a:rPr sz="1100" spc="-20" dirty="0">
                <a:latin typeface="Corbel"/>
                <a:cs typeface="Corbel"/>
              </a:rPr>
              <a:t>word</a:t>
            </a:r>
            <a:endParaRPr sz="1100">
              <a:latin typeface="Corbel"/>
              <a:cs typeface="Corbel"/>
            </a:endParaRPr>
          </a:p>
        </p:txBody>
      </p:sp>
      <p:sp>
        <p:nvSpPr>
          <p:cNvPr id="22" name="object 22"/>
          <p:cNvSpPr txBox="1"/>
          <p:nvPr/>
        </p:nvSpPr>
        <p:spPr>
          <a:xfrm>
            <a:off x="1068628" y="6964426"/>
            <a:ext cx="2179955" cy="193675"/>
          </a:xfrm>
          <a:prstGeom prst="rect">
            <a:avLst/>
          </a:prstGeom>
        </p:spPr>
        <p:txBody>
          <a:bodyPr vert="horz" wrap="square" lIns="0" tIns="12700" rIns="0" bIns="0" rtlCol="0">
            <a:spAutoFit/>
          </a:bodyPr>
          <a:lstStyle/>
          <a:p>
            <a:pPr>
              <a:lnSpc>
                <a:spcPct val="100000"/>
              </a:lnSpc>
              <a:spcBef>
                <a:spcPts val="100"/>
              </a:spcBef>
            </a:pPr>
            <a:r>
              <a:rPr sz="1100" dirty="0">
                <a:latin typeface="Corbel"/>
                <a:cs typeface="Corbel"/>
              </a:rPr>
              <a:t>Complex</a:t>
            </a:r>
            <a:r>
              <a:rPr sz="1100" spc="-15" dirty="0">
                <a:latin typeface="Corbel"/>
                <a:cs typeface="Corbel"/>
              </a:rPr>
              <a:t> </a:t>
            </a:r>
            <a:r>
              <a:rPr sz="1100" dirty="0">
                <a:latin typeface="Corbel"/>
                <a:cs typeface="Corbel"/>
              </a:rPr>
              <a:t>and</a:t>
            </a:r>
            <a:r>
              <a:rPr sz="1100" spc="-35" dirty="0">
                <a:latin typeface="Corbel"/>
                <a:cs typeface="Corbel"/>
              </a:rPr>
              <a:t> </a:t>
            </a:r>
            <a:r>
              <a:rPr sz="1100" dirty="0">
                <a:latin typeface="Corbel"/>
                <a:cs typeface="Corbel"/>
              </a:rPr>
              <a:t>more</a:t>
            </a:r>
            <a:r>
              <a:rPr sz="1100" spc="-15" dirty="0">
                <a:latin typeface="Corbel"/>
                <a:cs typeface="Corbel"/>
              </a:rPr>
              <a:t> </a:t>
            </a:r>
            <a:r>
              <a:rPr sz="1100" dirty="0">
                <a:latin typeface="Corbel"/>
                <a:cs typeface="Corbel"/>
              </a:rPr>
              <a:t>addressing</a:t>
            </a:r>
            <a:r>
              <a:rPr sz="1100" spc="-25" dirty="0">
                <a:latin typeface="Corbel"/>
                <a:cs typeface="Corbel"/>
              </a:rPr>
              <a:t> </a:t>
            </a:r>
            <a:r>
              <a:rPr sz="1100" spc="-20" dirty="0">
                <a:latin typeface="Corbel"/>
                <a:cs typeface="Corbel"/>
              </a:rPr>
              <a:t>modes</a:t>
            </a:r>
            <a:endParaRPr sz="1100">
              <a:latin typeface="Corbel"/>
              <a:cs typeface="Corbel"/>
            </a:endParaRPr>
          </a:p>
        </p:txBody>
      </p:sp>
      <p:sp>
        <p:nvSpPr>
          <p:cNvPr id="23" name="object 23"/>
          <p:cNvSpPr txBox="1"/>
          <p:nvPr/>
        </p:nvSpPr>
        <p:spPr>
          <a:xfrm>
            <a:off x="3576192" y="6964426"/>
            <a:ext cx="2167255" cy="193675"/>
          </a:xfrm>
          <a:prstGeom prst="rect">
            <a:avLst/>
          </a:prstGeom>
        </p:spPr>
        <p:txBody>
          <a:bodyPr vert="horz" wrap="square" lIns="0" tIns="12700" rIns="0" bIns="0" rtlCol="0">
            <a:spAutoFit/>
          </a:bodyPr>
          <a:lstStyle/>
          <a:p>
            <a:pPr>
              <a:lnSpc>
                <a:spcPct val="100000"/>
              </a:lnSpc>
              <a:spcBef>
                <a:spcPts val="100"/>
              </a:spcBef>
            </a:pPr>
            <a:r>
              <a:rPr sz="1100" dirty="0">
                <a:latin typeface="Corbel"/>
                <a:cs typeface="Corbel"/>
              </a:rPr>
              <a:t>Simple</a:t>
            </a:r>
            <a:r>
              <a:rPr sz="1100" spc="-25" dirty="0">
                <a:latin typeface="Corbel"/>
                <a:cs typeface="Corbel"/>
              </a:rPr>
              <a:t> </a:t>
            </a:r>
            <a:r>
              <a:rPr sz="1100" dirty="0">
                <a:latin typeface="Corbel"/>
                <a:cs typeface="Corbel"/>
              </a:rPr>
              <a:t>and</a:t>
            </a:r>
            <a:r>
              <a:rPr sz="1100" spc="-30" dirty="0">
                <a:latin typeface="Corbel"/>
                <a:cs typeface="Corbel"/>
              </a:rPr>
              <a:t> </a:t>
            </a:r>
            <a:r>
              <a:rPr sz="1100" dirty="0">
                <a:latin typeface="Corbel"/>
                <a:cs typeface="Corbel"/>
              </a:rPr>
              <a:t>limited</a:t>
            </a:r>
            <a:r>
              <a:rPr sz="1100" spc="-10" dirty="0">
                <a:latin typeface="Corbel"/>
                <a:cs typeface="Corbel"/>
              </a:rPr>
              <a:t> </a:t>
            </a:r>
            <a:r>
              <a:rPr sz="1100" dirty="0">
                <a:latin typeface="Corbel"/>
                <a:cs typeface="Corbel"/>
              </a:rPr>
              <a:t>addressing</a:t>
            </a:r>
            <a:r>
              <a:rPr sz="1100" spc="-30" dirty="0">
                <a:latin typeface="Corbel"/>
                <a:cs typeface="Corbel"/>
              </a:rPr>
              <a:t> </a:t>
            </a:r>
            <a:r>
              <a:rPr sz="1100" spc="-20" dirty="0">
                <a:latin typeface="Corbel"/>
                <a:cs typeface="Corbel"/>
              </a:rPr>
              <a:t>modes</a:t>
            </a:r>
            <a:endParaRPr sz="1100">
              <a:latin typeface="Corbel"/>
              <a:cs typeface="Corbel"/>
            </a:endParaRPr>
          </a:p>
        </p:txBody>
      </p:sp>
      <p:sp>
        <p:nvSpPr>
          <p:cNvPr id="24" name="object 24"/>
          <p:cNvSpPr txBox="1"/>
          <p:nvPr/>
        </p:nvSpPr>
        <p:spPr>
          <a:xfrm>
            <a:off x="1984248" y="7497826"/>
            <a:ext cx="2874645" cy="208279"/>
          </a:xfrm>
          <a:prstGeom prst="rect">
            <a:avLst/>
          </a:prstGeom>
        </p:spPr>
        <p:txBody>
          <a:bodyPr vert="horz" wrap="square" lIns="0" tIns="12700" rIns="0" bIns="0" rtlCol="0">
            <a:spAutoFit/>
          </a:bodyPr>
          <a:lstStyle/>
          <a:p>
            <a:pPr>
              <a:lnSpc>
                <a:spcPct val="100000"/>
              </a:lnSpc>
              <a:spcBef>
                <a:spcPts val="100"/>
              </a:spcBef>
            </a:pPr>
            <a:r>
              <a:rPr sz="1200" spc="-10" dirty="0">
                <a:solidFill>
                  <a:srgbClr val="FF0000"/>
                </a:solidFill>
                <a:latin typeface="Corbel"/>
                <a:cs typeface="Corbel"/>
              </a:rPr>
              <a:t>Basic-Computer</a:t>
            </a:r>
            <a:r>
              <a:rPr sz="1200" spc="-50" dirty="0">
                <a:solidFill>
                  <a:srgbClr val="FF0000"/>
                </a:solidFill>
                <a:latin typeface="Corbel"/>
                <a:cs typeface="Corbel"/>
              </a:rPr>
              <a:t> </a:t>
            </a:r>
            <a:r>
              <a:rPr sz="1200" dirty="0">
                <a:solidFill>
                  <a:srgbClr val="FF0000"/>
                </a:solidFill>
                <a:latin typeface="Corbel"/>
                <a:cs typeface="Corbel"/>
              </a:rPr>
              <a:t>CISC</a:t>
            </a:r>
            <a:r>
              <a:rPr sz="1200" spc="-30" dirty="0">
                <a:solidFill>
                  <a:srgbClr val="FF0000"/>
                </a:solidFill>
                <a:latin typeface="Corbel"/>
                <a:cs typeface="Corbel"/>
              </a:rPr>
              <a:t> </a:t>
            </a:r>
            <a:r>
              <a:rPr sz="1200" dirty="0">
                <a:solidFill>
                  <a:srgbClr val="FF0000"/>
                </a:solidFill>
                <a:latin typeface="Corbel"/>
                <a:cs typeface="Corbel"/>
              </a:rPr>
              <a:t>or</a:t>
            </a:r>
            <a:r>
              <a:rPr sz="1200" spc="-5" dirty="0">
                <a:solidFill>
                  <a:srgbClr val="FF0000"/>
                </a:solidFill>
                <a:latin typeface="Corbel"/>
                <a:cs typeface="Corbel"/>
              </a:rPr>
              <a:t> </a:t>
            </a:r>
            <a:r>
              <a:rPr sz="1200" dirty="0">
                <a:solidFill>
                  <a:srgbClr val="FF0000"/>
                </a:solidFill>
                <a:latin typeface="Corbel"/>
                <a:cs typeface="Corbel"/>
              </a:rPr>
              <a:t>RISC</a:t>
            </a:r>
            <a:r>
              <a:rPr sz="1200" spc="-20" dirty="0">
                <a:solidFill>
                  <a:srgbClr val="FF0000"/>
                </a:solidFill>
                <a:latin typeface="Corbel"/>
                <a:cs typeface="Corbel"/>
              </a:rPr>
              <a:t> </a:t>
            </a:r>
            <a:r>
              <a:rPr sz="1200" spc="-10" dirty="0">
                <a:solidFill>
                  <a:srgbClr val="FF0000"/>
                </a:solidFill>
                <a:latin typeface="Corbel"/>
                <a:cs typeface="Corbel"/>
              </a:rPr>
              <a:t>???</a:t>
            </a:r>
            <a:r>
              <a:rPr sz="1200" spc="-60" dirty="0">
                <a:solidFill>
                  <a:srgbClr val="FF0000"/>
                </a:solidFill>
                <a:latin typeface="Corbel"/>
                <a:cs typeface="Corbel"/>
              </a:rPr>
              <a:t> </a:t>
            </a:r>
            <a:r>
              <a:rPr sz="1200" dirty="0">
                <a:solidFill>
                  <a:srgbClr val="FF0000"/>
                </a:solidFill>
                <a:latin typeface="Corbel"/>
                <a:cs typeface="Corbel"/>
              </a:rPr>
              <a:t>And</a:t>
            </a:r>
            <a:r>
              <a:rPr sz="1200" spc="-25" dirty="0">
                <a:solidFill>
                  <a:srgbClr val="FF0000"/>
                </a:solidFill>
                <a:latin typeface="Corbel"/>
                <a:cs typeface="Corbel"/>
              </a:rPr>
              <a:t> </a:t>
            </a:r>
            <a:r>
              <a:rPr sz="1200" dirty="0">
                <a:solidFill>
                  <a:srgbClr val="FF0000"/>
                </a:solidFill>
                <a:latin typeface="Corbel"/>
                <a:cs typeface="Corbel"/>
              </a:rPr>
              <a:t>why</a:t>
            </a:r>
            <a:r>
              <a:rPr sz="1200" spc="5" dirty="0">
                <a:solidFill>
                  <a:srgbClr val="FF0000"/>
                </a:solidFill>
                <a:latin typeface="Corbel"/>
                <a:cs typeface="Corbel"/>
              </a:rPr>
              <a:t> </a:t>
            </a:r>
            <a:r>
              <a:rPr sz="1200" spc="-25" dirty="0">
                <a:solidFill>
                  <a:srgbClr val="FF0000"/>
                </a:solidFill>
                <a:latin typeface="Corbel"/>
                <a:cs typeface="Corbel"/>
              </a:rPr>
              <a:t>???</a:t>
            </a:r>
            <a:endParaRPr sz="1200" dirty="0">
              <a:latin typeface="Corbel"/>
              <a:cs typeface="Corbe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30175" rIns="0" bIns="0" rtlCol="0">
            <a:spAutoFit/>
          </a:bodyPr>
          <a:lstStyle/>
          <a:p>
            <a:pPr marL="228600">
              <a:lnSpc>
                <a:spcPct val="100000"/>
              </a:lnSpc>
              <a:spcBef>
                <a:spcPts val="1025"/>
              </a:spcBef>
            </a:pPr>
            <a:r>
              <a:rPr sz="2000" dirty="0">
                <a:latin typeface="Georgia"/>
                <a:cs typeface="Georgia"/>
              </a:rPr>
              <a:t>Complex</a:t>
            </a:r>
            <a:r>
              <a:rPr sz="2000" spc="-30" dirty="0">
                <a:latin typeface="Georgia"/>
                <a:cs typeface="Georgia"/>
              </a:rPr>
              <a:t> </a:t>
            </a:r>
            <a:r>
              <a:rPr sz="2000" dirty="0">
                <a:latin typeface="Georgia"/>
                <a:cs typeface="Georgia"/>
              </a:rPr>
              <a:t>Instruction</a:t>
            </a:r>
            <a:r>
              <a:rPr sz="2000" spc="-60" dirty="0">
                <a:latin typeface="Georgia"/>
                <a:cs typeface="Georgia"/>
              </a:rPr>
              <a:t> </a:t>
            </a:r>
            <a:r>
              <a:rPr sz="2000" dirty="0">
                <a:latin typeface="Georgia"/>
                <a:cs typeface="Georgia"/>
              </a:rPr>
              <a:t>Set</a:t>
            </a:r>
            <a:r>
              <a:rPr sz="2000" spc="-30" dirty="0">
                <a:latin typeface="Georgia"/>
                <a:cs typeface="Georgia"/>
              </a:rPr>
              <a:t> </a:t>
            </a:r>
            <a:r>
              <a:rPr sz="2000" dirty="0">
                <a:latin typeface="Georgia"/>
                <a:cs typeface="Georgia"/>
              </a:rPr>
              <a:t>Computer</a:t>
            </a:r>
            <a:r>
              <a:rPr sz="2000" spc="-30" dirty="0">
                <a:latin typeface="Georgia"/>
                <a:cs typeface="Georgia"/>
              </a:rPr>
              <a:t> </a:t>
            </a:r>
            <a:r>
              <a:rPr sz="2000" spc="-10" dirty="0">
                <a:latin typeface="Georgia"/>
                <a:cs typeface="Georgia"/>
              </a:rPr>
              <a:t>(CISC)</a:t>
            </a:r>
            <a:endParaRPr sz="2000" dirty="0">
              <a:latin typeface="Georgia"/>
              <a:cs typeface="Georgia"/>
            </a:endParaRPr>
          </a:p>
          <a:p>
            <a:pPr marL="431800" indent="-169545">
              <a:lnSpc>
                <a:spcPct val="100000"/>
              </a:lnSpc>
              <a:spcBef>
                <a:spcPts val="1650"/>
              </a:spcBef>
              <a:buClr>
                <a:srgbClr val="3E762B"/>
              </a:buClr>
              <a:buFont typeface="Wingdings"/>
              <a:buChar char=""/>
              <a:tabLst>
                <a:tab pos="431800" algn="l"/>
              </a:tabLst>
            </a:pPr>
            <a:r>
              <a:rPr sz="1200" dirty="0">
                <a:latin typeface="Times New Roman"/>
                <a:cs typeface="Times New Roman"/>
              </a:rPr>
              <a:t>Major </a:t>
            </a:r>
            <a:r>
              <a:rPr sz="1200" spc="-10" dirty="0">
                <a:latin typeface="Times New Roman"/>
                <a:cs typeface="Times New Roman"/>
              </a:rPr>
              <a:t>characteristics</a:t>
            </a:r>
            <a:r>
              <a:rPr sz="1200" spc="5" dirty="0">
                <a:latin typeface="Times New Roman"/>
                <a:cs typeface="Times New Roman"/>
              </a:rPr>
              <a:t> </a:t>
            </a:r>
            <a:r>
              <a:rPr sz="1200" dirty="0">
                <a:latin typeface="Times New Roman"/>
                <a:cs typeface="Times New Roman"/>
              </a:rPr>
              <a:t>of CISC</a:t>
            </a:r>
            <a:r>
              <a:rPr sz="1200" spc="25" dirty="0">
                <a:latin typeface="Times New Roman"/>
                <a:cs typeface="Times New Roman"/>
              </a:rPr>
              <a:t> </a:t>
            </a:r>
            <a:r>
              <a:rPr sz="1200" spc="-10" dirty="0">
                <a:latin typeface="Times New Roman"/>
                <a:cs typeface="Times New Roman"/>
              </a:rPr>
              <a:t>architecture</a:t>
            </a:r>
            <a:r>
              <a:rPr sz="1200" dirty="0">
                <a:latin typeface="Times New Roman"/>
                <a:cs typeface="Times New Roman"/>
              </a:rPr>
              <a:t> </a:t>
            </a:r>
            <a:r>
              <a:rPr sz="1200" spc="-20" dirty="0">
                <a:latin typeface="Times New Roman"/>
                <a:cs typeface="Times New Roman"/>
              </a:rPr>
              <a:t>are:</a:t>
            </a:r>
            <a:endParaRPr sz="1200" dirty="0">
              <a:latin typeface="Times New Roman"/>
              <a:cs typeface="Times New Roman"/>
            </a:endParaRPr>
          </a:p>
          <a:p>
            <a:pPr marL="719455" lvl="1" indent="-144780">
              <a:lnSpc>
                <a:spcPct val="100000"/>
              </a:lnSpc>
              <a:spcBef>
                <a:spcPts val="1320"/>
              </a:spcBef>
              <a:buClr>
                <a:srgbClr val="3E762B"/>
              </a:buClr>
              <a:buAutoNum type="arabicPeriod"/>
              <a:tabLst>
                <a:tab pos="71945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large</a:t>
            </a:r>
            <a:r>
              <a:rPr sz="1200" spc="-30" dirty="0">
                <a:latin typeface="Times New Roman"/>
                <a:cs typeface="Times New Roman"/>
              </a:rPr>
              <a:t> </a:t>
            </a:r>
            <a:r>
              <a:rPr sz="1200" dirty="0">
                <a:latin typeface="Times New Roman"/>
                <a:cs typeface="Times New Roman"/>
              </a:rPr>
              <a:t>number</a:t>
            </a:r>
            <a:r>
              <a:rPr sz="1200" spc="-4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instructions</a:t>
            </a:r>
            <a:r>
              <a:rPr sz="1200" spc="-45" dirty="0">
                <a:latin typeface="Times New Roman"/>
                <a:cs typeface="Times New Roman"/>
              </a:rPr>
              <a:t> </a:t>
            </a:r>
            <a:r>
              <a:rPr sz="1200" dirty="0">
                <a:latin typeface="Times New Roman"/>
                <a:cs typeface="Times New Roman"/>
              </a:rPr>
              <a:t>typically</a:t>
            </a:r>
            <a:r>
              <a:rPr sz="1200" spc="-10"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100</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250</a:t>
            </a:r>
            <a:r>
              <a:rPr sz="1200" spc="-30" dirty="0">
                <a:latin typeface="Times New Roman"/>
                <a:cs typeface="Times New Roman"/>
              </a:rPr>
              <a:t> </a:t>
            </a:r>
            <a:r>
              <a:rPr sz="1200" spc="-10" dirty="0">
                <a:latin typeface="Times New Roman"/>
                <a:cs typeface="Times New Roman"/>
              </a:rPr>
              <a:t>instructions</a:t>
            </a:r>
            <a:endParaRPr sz="1200" dirty="0">
              <a:latin typeface="Times New Roman"/>
              <a:cs typeface="Times New Roman"/>
            </a:endParaRPr>
          </a:p>
          <a:p>
            <a:pPr marL="719455" lvl="1" indent="-144780">
              <a:lnSpc>
                <a:spcPct val="100000"/>
              </a:lnSpc>
              <a:spcBef>
                <a:spcPts val="1320"/>
              </a:spcBef>
              <a:buClr>
                <a:srgbClr val="3E762B"/>
              </a:buClr>
              <a:buAutoNum type="arabicPeriod"/>
              <a:tabLst>
                <a:tab pos="719455" algn="l"/>
              </a:tabLst>
            </a:pPr>
            <a:r>
              <a:rPr sz="1200" dirty="0">
                <a:latin typeface="Times New Roman"/>
                <a:cs typeface="Times New Roman"/>
              </a:rPr>
              <a:t>Some</a:t>
            </a:r>
            <a:r>
              <a:rPr sz="1200" spc="-20" dirty="0">
                <a:latin typeface="Times New Roman"/>
                <a:cs typeface="Times New Roman"/>
              </a:rPr>
              <a:t> </a:t>
            </a:r>
            <a:r>
              <a:rPr sz="1200" dirty="0">
                <a:latin typeface="Times New Roman"/>
                <a:cs typeface="Times New Roman"/>
              </a:rPr>
              <a:t>instructions</a:t>
            </a:r>
            <a:r>
              <a:rPr sz="1200" spc="-35"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perform</a:t>
            </a:r>
            <a:r>
              <a:rPr sz="1200" spc="-15" dirty="0">
                <a:latin typeface="Times New Roman"/>
                <a:cs typeface="Times New Roman"/>
              </a:rPr>
              <a:t> </a:t>
            </a:r>
            <a:r>
              <a:rPr sz="1200" spc="-10" dirty="0">
                <a:latin typeface="Times New Roman"/>
                <a:cs typeface="Times New Roman"/>
              </a:rPr>
              <a:t>specialized</a:t>
            </a:r>
            <a:r>
              <a:rPr sz="1200" spc="-35" dirty="0">
                <a:latin typeface="Times New Roman"/>
                <a:cs typeface="Times New Roman"/>
              </a:rPr>
              <a:t> </a:t>
            </a:r>
            <a:r>
              <a:rPr sz="1200" dirty="0">
                <a:latin typeface="Times New Roman"/>
                <a:cs typeface="Times New Roman"/>
              </a:rPr>
              <a:t>tasks</a:t>
            </a:r>
            <a:r>
              <a:rPr sz="1200" spc="-2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used</a:t>
            </a:r>
            <a:r>
              <a:rPr sz="1200" spc="-10" dirty="0">
                <a:latin typeface="Times New Roman"/>
                <a:cs typeface="Times New Roman"/>
              </a:rPr>
              <a:t> infrequently.</a:t>
            </a:r>
            <a:endParaRPr sz="1200" dirty="0">
              <a:latin typeface="Times New Roman"/>
              <a:cs typeface="Times New Roman"/>
            </a:endParaRPr>
          </a:p>
          <a:p>
            <a:pPr marL="719455" lvl="1" indent="-144780">
              <a:lnSpc>
                <a:spcPct val="100000"/>
              </a:lnSpc>
              <a:spcBef>
                <a:spcPts val="1320"/>
              </a:spcBef>
              <a:buClr>
                <a:srgbClr val="3E762B"/>
              </a:buClr>
              <a:buAutoNum type="arabicPeriod"/>
              <a:tabLst>
                <a:tab pos="71945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large</a:t>
            </a:r>
            <a:r>
              <a:rPr sz="1200" spc="-15" dirty="0">
                <a:latin typeface="Times New Roman"/>
                <a:cs typeface="Times New Roman"/>
              </a:rPr>
              <a:t> </a:t>
            </a:r>
            <a:r>
              <a:rPr sz="1200" dirty="0">
                <a:latin typeface="Times New Roman"/>
                <a:cs typeface="Times New Roman"/>
              </a:rPr>
              <a:t>variety</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addressing</a:t>
            </a:r>
            <a:r>
              <a:rPr sz="1200" spc="-10" dirty="0">
                <a:latin typeface="Times New Roman"/>
                <a:cs typeface="Times New Roman"/>
              </a:rPr>
              <a:t> </a:t>
            </a:r>
            <a:r>
              <a:rPr sz="1200" dirty="0">
                <a:latin typeface="Times New Roman"/>
                <a:cs typeface="Times New Roman"/>
              </a:rPr>
              <a:t>modes</a:t>
            </a:r>
            <a:r>
              <a:rPr sz="1200" spc="-20" dirty="0">
                <a:latin typeface="Times New Roman"/>
                <a:cs typeface="Times New Roman"/>
              </a:rPr>
              <a:t> </a:t>
            </a:r>
            <a:r>
              <a:rPr sz="1200" spc="-10" dirty="0">
                <a:latin typeface="Times New Roman"/>
                <a:cs typeface="Times New Roman"/>
              </a:rPr>
              <a:t>typically </a:t>
            </a:r>
            <a:r>
              <a:rPr sz="1200" dirty="0">
                <a:latin typeface="Times New Roman"/>
                <a:cs typeface="Times New Roman"/>
              </a:rPr>
              <a:t>from</a:t>
            </a:r>
            <a:r>
              <a:rPr sz="1200" spc="-15" dirty="0">
                <a:latin typeface="Times New Roman"/>
                <a:cs typeface="Times New Roman"/>
              </a:rPr>
              <a:t> </a:t>
            </a:r>
            <a:r>
              <a:rPr sz="1200" dirty="0">
                <a:latin typeface="Times New Roman"/>
                <a:cs typeface="Times New Roman"/>
              </a:rPr>
              <a:t>5</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20</a:t>
            </a:r>
            <a:r>
              <a:rPr sz="1200" spc="-20" dirty="0">
                <a:latin typeface="Times New Roman"/>
                <a:cs typeface="Times New Roman"/>
              </a:rPr>
              <a:t> </a:t>
            </a:r>
            <a:r>
              <a:rPr sz="1200" spc="-10" dirty="0">
                <a:latin typeface="Times New Roman"/>
                <a:cs typeface="Times New Roman"/>
              </a:rPr>
              <a:t>different modes</a:t>
            </a:r>
            <a:endParaRPr sz="1200" dirty="0">
              <a:latin typeface="Times New Roman"/>
              <a:cs typeface="Times New Roman"/>
            </a:endParaRPr>
          </a:p>
          <a:p>
            <a:pPr marL="719455" lvl="1" indent="-144780">
              <a:lnSpc>
                <a:spcPct val="100000"/>
              </a:lnSpc>
              <a:spcBef>
                <a:spcPts val="1320"/>
              </a:spcBef>
              <a:buClr>
                <a:srgbClr val="3E762B"/>
              </a:buClr>
              <a:buAutoNum type="arabicPeriod"/>
              <a:tabLst>
                <a:tab pos="719455" algn="l"/>
              </a:tabLst>
            </a:pPr>
            <a:r>
              <a:rPr sz="1200" spc="-30" dirty="0">
                <a:latin typeface="Times New Roman"/>
                <a:cs typeface="Times New Roman"/>
              </a:rPr>
              <a:t>Variable-</a:t>
            </a:r>
            <a:r>
              <a:rPr sz="1200" dirty="0">
                <a:latin typeface="Times New Roman"/>
                <a:cs typeface="Times New Roman"/>
              </a:rPr>
              <a:t>length</a:t>
            </a:r>
            <a:r>
              <a:rPr sz="1200" spc="-5" dirty="0">
                <a:latin typeface="Times New Roman"/>
                <a:cs typeface="Times New Roman"/>
              </a:rPr>
              <a:t> </a:t>
            </a:r>
            <a:r>
              <a:rPr sz="1200" dirty="0">
                <a:latin typeface="Times New Roman"/>
                <a:cs typeface="Times New Roman"/>
              </a:rPr>
              <a:t>instruction</a:t>
            </a:r>
            <a:r>
              <a:rPr sz="1200" spc="-10" dirty="0">
                <a:latin typeface="Times New Roman"/>
                <a:cs typeface="Times New Roman"/>
              </a:rPr>
              <a:t> formats</a:t>
            </a:r>
            <a:endParaRPr sz="1200" dirty="0">
              <a:latin typeface="Times New Roman"/>
              <a:cs typeface="Times New Roman"/>
            </a:endParaRPr>
          </a:p>
          <a:p>
            <a:pPr marL="719455" lvl="1" indent="-144780">
              <a:lnSpc>
                <a:spcPct val="100000"/>
              </a:lnSpc>
              <a:spcBef>
                <a:spcPts val="1325"/>
              </a:spcBef>
              <a:buClr>
                <a:srgbClr val="3E762B"/>
              </a:buClr>
              <a:buAutoNum type="arabicPeriod"/>
              <a:tabLst>
                <a:tab pos="719455" algn="l"/>
              </a:tabLst>
            </a:pPr>
            <a:r>
              <a:rPr sz="1200" dirty="0">
                <a:latin typeface="Times New Roman"/>
                <a:cs typeface="Times New Roman"/>
              </a:rPr>
              <a:t>Instructions</a:t>
            </a:r>
            <a:r>
              <a:rPr sz="1200" spc="-20" dirty="0">
                <a:latin typeface="Times New Roman"/>
                <a:cs typeface="Times New Roman"/>
              </a:rPr>
              <a:t> </a:t>
            </a:r>
            <a:r>
              <a:rPr sz="1200" dirty="0">
                <a:latin typeface="Times New Roman"/>
                <a:cs typeface="Times New Roman"/>
              </a:rPr>
              <a:t>that</a:t>
            </a:r>
            <a:r>
              <a:rPr sz="1200" spc="-55" dirty="0">
                <a:latin typeface="Times New Roman"/>
                <a:cs typeface="Times New Roman"/>
              </a:rPr>
              <a:t> </a:t>
            </a:r>
            <a:r>
              <a:rPr sz="1200" dirty="0">
                <a:latin typeface="Times New Roman"/>
                <a:cs typeface="Times New Roman"/>
              </a:rPr>
              <a:t>manipulate</a:t>
            </a:r>
            <a:r>
              <a:rPr sz="1200" spc="-40" dirty="0">
                <a:latin typeface="Times New Roman"/>
                <a:cs typeface="Times New Roman"/>
              </a:rPr>
              <a:t> </a:t>
            </a:r>
            <a:r>
              <a:rPr sz="1200" dirty="0">
                <a:latin typeface="Times New Roman"/>
                <a:cs typeface="Times New Roman"/>
              </a:rPr>
              <a:t>operands</a:t>
            </a:r>
            <a:r>
              <a:rPr sz="1200" spc="-3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spc="-10" dirty="0">
                <a:latin typeface="Times New Roman"/>
                <a:cs typeface="Times New Roman"/>
              </a:rPr>
              <a:t>memory</a:t>
            </a:r>
            <a:endParaRPr sz="12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31445" rIns="0" bIns="0" rtlCol="0">
            <a:spAutoFit/>
          </a:bodyPr>
          <a:lstStyle/>
          <a:p>
            <a:pPr marL="228600">
              <a:lnSpc>
                <a:spcPct val="100000"/>
              </a:lnSpc>
              <a:spcBef>
                <a:spcPts val="1035"/>
              </a:spcBef>
            </a:pPr>
            <a:r>
              <a:rPr sz="2000" dirty="0">
                <a:latin typeface="Georgia"/>
                <a:cs typeface="Georgia"/>
              </a:rPr>
              <a:t>Reduced</a:t>
            </a:r>
            <a:r>
              <a:rPr sz="2000" spc="-30" dirty="0">
                <a:latin typeface="Georgia"/>
                <a:cs typeface="Georgia"/>
              </a:rPr>
              <a:t> </a:t>
            </a:r>
            <a:r>
              <a:rPr sz="2000" dirty="0">
                <a:latin typeface="Georgia"/>
                <a:cs typeface="Georgia"/>
              </a:rPr>
              <a:t>Instruction</a:t>
            </a:r>
            <a:r>
              <a:rPr sz="2000" spc="-55" dirty="0">
                <a:latin typeface="Georgia"/>
                <a:cs typeface="Georgia"/>
              </a:rPr>
              <a:t> </a:t>
            </a:r>
            <a:r>
              <a:rPr sz="2000" dirty="0">
                <a:latin typeface="Georgia"/>
                <a:cs typeface="Georgia"/>
              </a:rPr>
              <a:t>Set</a:t>
            </a:r>
            <a:r>
              <a:rPr sz="2000" spc="-25" dirty="0">
                <a:latin typeface="Georgia"/>
                <a:cs typeface="Georgia"/>
              </a:rPr>
              <a:t> </a:t>
            </a:r>
            <a:r>
              <a:rPr sz="2000" dirty="0">
                <a:latin typeface="Georgia"/>
                <a:cs typeface="Georgia"/>
              </a:rPr>
              <a:t>Computer</a:t>
            </a:r>
            <a:r>
              <a:rPr sz="2000" spc="-35" dirty="0">
                <a:latin typeface="Georgia"/>
                <a:cs typeface="Georgia"/>
              </a:rPr>
              <a:t> </a:t>
            </a:r>
            <a:r>
              <a:rPr sz="2000" spc="-10" dirty="0">
                <a:latin typeface="Georgia"/>
                <a:cs typeface="Georgia"/>
              </a:rPr>
              <a:t>(RISC)</a:t>
            </a:r>
            <a:endParaRPr sz="2000" dirty="0">
              <a:latin typeface="Georgia"/>
              <a:cs typeface="Georgia"/>
            </a:endParaRPr>
          </a:p>
          <a:p>
            <a:pPr marL="431800" indent="-169545">
              <a:lnSpc>
                <a:spcPct val="100000"/>
              </a:lnSpc>
              <a:spcBef>
                <a:spcPts val="1265"/>
              </a:spcBef>
              <a:buClr>
                <a:srgbClr val="3E762B"/>
              </a:buClr>
              <a:buFont typeface="Wingdings"/>
              <a:buChar char=""/>
              <a:tabLst>
                <a:tab pos="431800" algn="l"/>
              </a:tabLst>
            </a:pPr>
            <a:r>
              <a:rPr sz="1200" dirty="0">
                <a:latin typeface="Times New Roman"/>
                <a:cs typeface="Times New Roman"/>
              </a:rPr>
              <a:t>Major</a:t>
            </a:r>
            <a:r>
              <a:rPr sz="1200" spc="-15" dirty="0">
                <a:latin typeface="Times New Roman"/>
                <a:cs typeface="Times New Roman"/>
              </a:rPr>
              <a:t> </a:t>
            </a:r>
            <a:r>
              <a:rPr sz="1200" spc="-10" dirty="0">
                <a:latin typeface="Times New Roman"/>
                <a:cs typeface="Times New Roman"/>
              </a:rPr>
              <a:t>characteristics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RISC</a:t>
            </a:r>
            <a:r>
              <a:rPr sz="1200" spc="5" dirty="0">
                <a:latin typeface="Times New Roman"/>
                <a:cs typeface="Times New Roman"/>
              </a:rPr>
              <a:t> </a:t>
            </a:r>
            <a:r>
              <a:rPr sz="1200" dirty="0">
                <a:latin typeface="Times New Roman"/>
                <a:cs typeface="Times New Roman"/>
              </a:rPr>
              <a:t>processor</a:t>
            </a:r>
            <a:r>
              <a:rPr sz="1200" spc="-10" dirty="0">
                <a:latin typeface="Times New Roman"/>
                <a:cs typeface="Times New Roman"/>
              </a:rPr>
              <a:t> </a:t>
            </a:r>
            <a:r>
              <a:rPr sz="1200" spc="-20" dirty="0">
                <a:latin typeface="Times New Roman"/>
                <a:cs typeface="Times New Roman"/>
              </a:rPr>
              <a:t>are:</a:t>
            </a:r>
            <a:endParaRPr sz="1200" dirty="0">
              <a:latin typeface="Times New Roman"/>
              <a:cs typeface="Times New Roman"/>
            </a:endParaRPr>
          </a:p>
          <a:p>
            <a:pPr marL="719455" lvl="1" indent="-144780">
              <a:lnSpc>
                <a:spcPct val="100000"/>
              </a:lnSpc>
              <a:spcBef>
                <a:spcPts val="455"/>
              </a:spcBef>
              <a:buClr>
                <a:srgbClr val="3E762B"/>
              </a:buClr>
              <a:buAutoNum type="arabicPeriod"/>
              <a:tabLst>
                <a:tab pos="719455" algn="l"/>
              </a:tabLst>
            </a:pPr>
            <a:r>
              <a:rPr sz="1200" dirty="0">
                <a:latin typeface="Times New Roman"/>
                <a:cs typeface="Times New Roman"/>
              </a:rPr>
              <a:t>Relatively</a:t>
            </a:r>
            <a:r>
              <a:rPr sz="1200" spc="-50" dirty="0">
                <a:latin typeface="Times New Roman"/>
                <a:cs typeface="Times New Roman"/>
              </a:rPr>
              <a:t> </a:t>
            </a:r>
            <a:r>
              <a:rPr sz="1200" dirty="0">
                <a:latin typeface="Times New Roman"/>
                <a:cs typeface="Times New Roman"/>
              </a:rPr>
              <a:t>few</a:t>
            </a:r>
            <a:r>
              <a:rPr sz="1200" spc="-30" dirty="0">
                <a:latin typeface="Times New Roman"/>
                <a:cs typeface="Times New Roman"/>
              </a:rPr>
              <a:t> </a:t>
            </a:r>
            <a:r>
              <a:rPr sz="1200" spc="-10" dirty="0">
                <a:latin typeface="Times New Roman"/>
                <a:cs typeface="Times New Roman"/>
              </a:rPr>
              <a:t>instructions</a:t>
            </a:r>
            <a:endParaRPr sz="1200" dirty="0">
              <a:latin typeface="Times New Roman"/>
              <a:cs typeface="Times New Roman"/>
            </a:endParaRPr>
          </a:p>
          <a:p>
            <a:pPr marL="719455" lvl="1" indent="-144780">
              <a:lnSpc>
                <a:spcPct val="100000"/>
              </a:lnSpc>
              <a:spcBef>
                <a:spcPts val="459"/>
              </a:spcBef>
              <a:buClr>
                <a:srgbClr val="3E762B"/>
              </a:buClr>
              <a:buAutoNum type="arabicPeriod"/>
              <a:tabLst>
                <a:tab pos="719455" algn="l"/>
              </a:tabLst>
            </a:pPr>
            <a:r>
              <a:rPr sz="1200" dirty="0">
                <a:latin typeface="Times New Roman"/>
                <a:cs typeface="Times New Roman"/>
              </a:rPr>
              <a:t>Relatively</a:t>
            </a:r>
            <a:r>
              <a:rPr sz="1200" spc="-50" dirty="0">
                <a:latin typeface="Times New Roman"/>
                <a:cs typeface="Times New Roman"/>
              </a:rPr>
              <a:t> </a:t>
            </a:r>
            <a:r>
              <a:rPr sz="1200" dirty="0">
                <a:latin typeface="Times New Roman"/>
                <a:cs typeface="Times New Roman"/>
              </a:rPr>
              <a:t>few</a:t>
            </a:r>
            <a:r>
              <a:rPr sz="1200" spc="-35" dirty="0">
                <a:latin typeface="Times New Roman"/>
                <a:cs typeface="Times New Roman"/>
              </a:rPr>
              <a:t> </a:t>
            </a:r>
            <a:r>
              <a:rPr sz="1200" dirty="0">
                <a:latin typeface="Times New Roman"/>
                <a:cs typeface="Times New Roman"/>
              </a:rPr>
              <a:t>addressing</a:t>
            </a:r>
            <a:r>
              <a:rPr sz="1200" spc="-25" dirty="0">
                <a:latin typeface="Times New Roman"/>
                <a:cs typeface="Times New Roman"/>
              </a:rPr>
              <a:t> </a:t>
            </a:r>
            <a:r>
              <a:rPr sz="1200" spc="-20" dirty="0">
                <a:latin typeface="Times New Roman"/>
                <a:cs typeface="Times New Roman"/>
              </a:rPr>
              <a:t>modes</a:t>
            </a:r>
            <a:endParaRPr sz="1200" dirty="0">
              <a:latin typeface="Times New Roman"/>
              <a:cs typeface="Times New Roman"/>
            </a:endParaRPr>
          </a:p>
          <a:p>
            <a:pPr marL="719455" lvl="1" indent="-144780">
              <a:lnSpc>
                <a:spcPct val="100000"/>
              </a:lnSpc>
              <a:spcBef>
                <a:spcPts val="455"/>
              </a:spcBef>
              <a:buClr>
                <a:srgbClr val="3E762B"/>
              </a:buClr>
              <a:buAutoNum type="arabicPeriod"/>
              <a:tabLst>
                <a:tab pos="719455" algn="l"/>
              </a:tabLst>
            </a:pPr>
            <a:r>
              <a:rPr sz="1200" dirty="0">
                <a:latin typeface="Times New Roman"/>
                <a:cs typeface="Times New Roman"/>
              </a:rPr>
              <a:t>Memory</a:t>
            </a:r>
            <a:r>
              <a:rPr sz="1200" spc="-30" dirty="0">
                <a:latin typeface="Times New Roman"/>
                <a:cs typeface="Times New Roman"/>
              </a:rPr>
              <a:t> </a:t>
            </a:r>
            <a:r>
              <a:rPr sz="1200" dirty="0">
                <a:latin typeface="Times New Roman"/>
                <a:cs typeface="Times New Roman"/>
              </a:rPr>
              <a:t>access</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limited</a:t>
            </a:r>
            <a:r>
              <a:rPr sz="1200" spc="-4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load</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store</a:t>
            </a:r>
            <a:r>
              <a:rPr sz="1200" spc="-30" dirty="0">
                <a:latin typeface="Times New Roman"/>
                <a:cs typeface="Times New Roman"/>
              </a:rPr>
              <a:t> </a:t>
            </a:r>
            <a:r>
              <a:rPr sz="1200" spc="-10" dirty="0">
                <a:latin typeface="Times New Roman"/>
                <a:cs typeface="Times New Roman"/>
              </a:rPr>
              <a:t>instructions</a:t>
            </a:r>
            <a:endParaRPr sz="1200" dirty="0">
              <a:latin typeface="Times New Roman"/>
              <a:cs typeface="Times New Roman"/>
            </a:endParaRPr>
          </a:p>
          <a:p>
            <a:pPr marL="719455" lvl="1" indent="-144780">
              <a:lnSpc>
                <a:spcPct val="100000"/>
              </a:lnSpc>
              <a:spcBef>
                <a:spcPts val="455"/>
              </a:spcBef>
              <a:buClr>
                <a:srgbClr val="3E762B"/>
              </a:buClr>
              <a:buAutoNum type="arabicPeriod"/>
              <a:tabLst>
                <a:tab pos="719455" algn="l"/>
              </a:tabLst>
            </a:pPr>
            <a:r>
              <a:rPr sz="1200" dirty="0">
                <a:latin typeface="Times New Roman"/>
                <a:cs typeface="Times New Roman"/>
              </a:rPr>
              <a:t>All</a:t>
            </a:r>
            <a:r>
              <a:rPr sz="1200" spc="-30" dirty="0">
                <a:latin typeface="Times New Roman"/>
                <a:cs typeface="Times New Roman"/>
              </a:rPr>
              <a:t> </a:t>
            </a:r>
            <a:r>
              <a:rPr sz="1200" dirty="0">
                <a:latin typeface="Times New Roman"/>
                <a:cs typeface="Times New Roman"/>
              </a:rPr>
              <a:t>operations</a:t>
            </a:r>
            <a:r>
              <a:rPr sz="1200" spc="-2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done</a:t>
            </a:r>
            <a:r>
              <a:rPr sz="1200" spc="-35" dirty="0">
                <a:latin typeface="Times New Roman"/>
                <a:cs typeface="Times New Roman"/>
              </a:rPr>
              <a:t> </a:t>
            </a:r>
            <a:r>
              <a:rPr sz="1200" dirty="0">
                <a:latin typeface="Times New Roman"/>
                <a:cs typeface="Times New Roman"/>
              </a:rPr>
              <a:t>within</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registers</a:t>
            </a:r>
            <a:r>
              <a:rPr sz="1200" spc="-1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25" dirty="0">
                <a:latin typeface="Times New Roman"/>
                <a:cs typeface="Times New Roman"/>
              </a:rPr>
              <a:t>CPU</a:t>
            </a:r>
            <a:endParaRPr sz="1200" dirty="0">
              <a:latin typeface="Times New Roman"/>
              <a:cs typeface="Times New Roman"/>
            </a:endParaRPr>
          </a:p>
          <a:p>
            <a:pPr marL="719455" lvl="1" indent="-144780">
              <a:lnSpc>
                <a:spcPct val="100000"/>
              </a:lnSpc>
              <a:spcBef>
                <a:spcPts val="455"/>
              </a:spcBef>
              <a:buClr>
                <a:srgbClr val="3E762B"/>
              </a:buClr>
              <a:buAutoNum type="arabicPeriod"/>
              <a:tabLst>
                <a:tab pos="719455" algn="l"/>
              </a:tabLst>
            </a:pPr>
            <a:r>
              <a:rPr sz="1200" spc="-10" dirty="0">
                <a:latin typeface="Times New Roman"/>
                <a:cs typeface="Times New Roman"/>
              </a:rPr>
              <a:t>Fixed-</a:t>
            </a:r>
            <a:r>
              <a:rPr sz="1200" dirty="0">
                <a:latin typeface="Times New Roman"/>
                <a:cs typeface="Times New Roman"/>
              </a:rPr>
              <a:t>length,</a:t>
            </a:r>
            <a:r>
              <a:rPr sz="1200" spc="-40" dirty="0">
                <a:latin typeface="Times New Roman"/>
                <a:cs typeface="Times New Roman"/>
              </a:rPr>
              <a:t> </a:t>
            </a:r>
            <a:r>
              <a:rPr sz="1200" dirty="0">
                <a:latin typeface="Times New Roman"/>
                <a:cs typeface="Times New Roman"/>
              </a:rPr>
              <a:t>easily</a:t>
            </a:r>
            <a:r>
              <a:rPr sz="1200" spc="-45" dirty="0">
                <a:latin typeface="Times New Roman"/>
                <a:cs typeface="Times New Roman"/>
              </a:rPr>
              <a:t> </a:t>
            </a:r>
            <a:r>
              <a:rPr sz="1200" dirty="0">
                <a:latin typeface="Times New Roman"/>
                <a:cs typeface="Times New Roman"/>
              </a:rPr>
              <a:t>decoded</a:t>
            </a:r>
            <a:r>
              <a:rPr sz="1200" spc="-30" dirty="0">
                <a:latin typeface="Times New Roman"/>
                <a:cs typeface="Times New Roman"/>
              </a:rPr>
              <a:t> </a:t>
            </a:r>
            <a:r>
              <a:rPr sz="1200" dirty="0">
                <a:latin typeface="Times New Roman"/>
                <a:cs typeface="Times New Roman"/>
              </a:rPr>
              <a:t>instruction</a:t>
            </a:r>
            <a:r>
              <a:rPr sz="1200" spc="-50" dirty="0">
                <a:latin typeface="Times New Roman"/>
                <a:cs typeface="Times New Roman"/>
              </a:rPr>
              <a:t> </a:t>
            </a:r>
            <a:r>
              <a:rPr sz="1200" spc="-10" dirty="0">
                <a:latin typeface="Times New Roman"/>
                <a:cs typeface="Times New Roman"/>
              </a:rPr>
              <a:t>format</a:t>
            </a:r>
            <a:endParaRPr sz="1200" dirty="0">
              <a:latin typeface="Times New Roman"/>
              <a:cs typeface="Times New Roman"/>
            </a:endParaRPr>
          </a:p>
          <a:p>
            <a:pPr marL="719455" lvl="1" indent="-144780">
              <a:lnSpc>
                <a:spcPct val="100000"/>
              </a:lnSpc>
              <a:spcBef>
                <a:spcPts val="455"/>
              </a:spcBef>
              <a:buClr>
                <a:srgbClr val="3E762B"/>
              </a:buClr>
              <a:buAutoNum type="arabicPeriod"/>
              <a:tabLst>
                <a:tab pos="719455" algn="l"/>
              </a:tabLst>
            </a:pPr>
            <a:r>
              <a:rPr sz="1200" spc="-10" dirty="0">
                <a:latin typeface="Times New Roman"/>
                <a:cs typeface="Times New Roman"/>
              </a:rPr>
              <a:t>Single-</a:t>
            </a:r>
            <a:r>
              <a:rPr sz="1200" dirty="0">
                <a:latin typeface="Times New Roman"/>
                <a:cs typeface="Times New Roman"/>
              </a:rPr>
              <a:t>cycle</a:t>
            </a:r>
            <a:r>
              <a:rPr sz="1200" spc="-25" dirty="0">
                <a:latin typeface="Times New Roman"/>
                <a:cs typeface="Times New Roman"/>
              </a:rPr>
              <a:t> </a:t>
            </a:r>
            <a:r>
              <a:rPr sz="1200" dirty="0">
                <a:latin typeface="Times New Roman"/>
                <a:cs typeface="Times New Roman"/>
              </a:rPr>
              <a:t>instruction</a:t>
            </a:r>
            <a:r>
              <a:rPr sz="1200" spc="-70" dirty="0">
                <a:latin typeface="Times New Roman"/>
                <a:cs typeface="Times New Roman"/>
              </a:rPr>
              <a:t> </a:t>
            </a:r>
            <a:r>
              <a:rPr sz="1200" spc="-10" dirty="0">
                <a:latin typeface="Times New Roman"/>
                <a:cs typeface="Times New Roman"/>
              </a:rPr>
              <a:t>execution.</a:t>
            </a:r>
            <a:endParaRPr sz="1200" dirty="0">
              <a:latin typeface="Times New Roman"/>
              <a:cs typeface="Times New Roman"/>
            </a:endParaRPr>
          </a:p>
          <a:p>
            <a:pPr marL="718185" lvl="1" indent="-143510">
              <a:lnSpc>
                <a:spcPct val="100000"/>
              </a:lnSpc>
              <a:spcBef>
                <a:spcPts val="459"/>
              </a:spcBef>
              <a:buClr>
                <a:srgbClr val="3E762B"/>
              </a:buClr>
              <a:buAutoNum type="arabicPeriod"/>
              <a:tabLst>
                <a:tab pos="718185" algn="l"/>
              </a:tabLst>
            </a:pPr>
            <a:r>
              <a:rPr sz="1200" dirty="0">
                <a:latin typeface="Times New Roman"/>
                <a:cs typeface="Times New Roman"/>
              </a:rPr>
              <a:t>Hardwired rather</a:t>
            </a:r>
            <a:r>
              <a:rPr sz="1200" spc="-25" dirty="0">
                <a:latin typeface="Times New Roman"/>
                <a:cs typeface="Times New Roman"/>
              </a:rPr>
              <a:t> </a:t>
            </a:r>
            <a:r>
              <a:rPr sz="1200" dirty="0">
                <a:latin typeface="Times New Roman"/>
                <a:cs typeface="Times New Roman"/>
              </a:rPr>
              <a:t>than</a:t>
            </a:r>
            <a:r>
              <a:rPr sz="1200" spc="-15" dirty="0">
                <a:latin typeface="Times New Roman"/>
                <a:cs typeface="Times New Roman"/>
              </a:rPr>
              <a:t> </a:t>
            </a:r>
            <a:r>
              <a:rPr sz="1200" spc="-10" dirty="0">
                <a:latin typeface="Times New Roman"/>
                <a:cs typeface="Times New Roman"/>
              </a:rPr>
              <a:t>microprogrammed</a:t>
            </a:r>
            <a:r>
              <a:rPr sz="1200" dirty="0">
                <a:latin typeface="Times New Roman"/>
                <a:cs typeface="Times New Roman"/>
              </a:rPr>
              <a:t> </a:t>
            </a:r>
            <a:r>
              <a:rPr sz="1200" spc="-10" dirty="0">
                <a:latin typeface="Times New Roman"/>
                <a:cs typeface="Times New Roman"/>
              </a:rPr>
              <a:t>control</a:t>
            </a:r>
            <a:endParaRPr sz="1200" dirty="0">
              <a:latin typeface="Times New Roman"/>
              <a:cs typeface="Times New Roman"/>
            </a:endParaRPr>
          </a:p>
          <a:p>
            <a:pPr>
              <a:lnSpc>
                <a:spcPct val="100000"/>
              </a:lnSpc>
              <a:spcBef>
                <a:spcPts val="380"/>
              </a:spcBef>
            </a:pPr>
            <a:endParaRPr sz="1200" dirty="0">
              <a:latin typeface="Times New Roman"/>
              <a:cs typeface="Times New Roman"/>
            </a:endParaRPr>
          </a:p>
          <a:p>
            <a:pPr marL="346075" marR="826135">
              <a:lnSpc>
                <a:spcPts val="1190"/>
              </a:lnSpc>
            </a:pPr>
            <a:r>
              <a:rPr sz="1100" spc="-10" dirty="0">
                <a:latin typeface="Times New Roman"/>
                <a:cs typeface="Times New Roman"/>
              </a:rPr>
              <a:t>[A</a:t>
            </a:r>
            <a:r>
              <a:rPr sz="1100" spc="-65" dirty="0">
                <a:latin typeface="Times New Roman"/>
                <a:cs typeface="Times New Roman"/>
              </a:rPr>
              <a:t> </a:t>
            </a:r>
            <a:r>
              <a:rPr sz="1100" dirty="0">
                <a:latin typeface="Times New Roman"/>
                <a:cs typeface="Times New Roman"/>
              </a:rPr>
              <a:t>load</a:t>
            </a:r>
            <a:r>
              <a:rPr sz="1100" spc="-15" dirty="0">
                <a:latin typeface="Times New Roman"/>
                <a:cs typeface="Times New Roman"/>
              </a:rPr>
              <a:t> </a:t>
            </a:r>
            <a:r>
              <a:rPr sz="1100" dirty="0">
                <a:latin typeface="Times New Roman"/>
                <a:cs typeface="Times New Roman"/>
              </a:rPr>
              <a:t>or</a:t>
            </a:r>
            <a:r>
              <a:rPr sz="1100" spc="5" dirty="0">
                <a:latin typeface="Times New Roman"/>
                <a:cs typeface="Times New Roman"/>
              </a:rPr>
              <a:t> </a:t>
            </a:r>
            <a:r>
              <a:rPr sz="1100" dirty="0">
                <a:latin typeface="Times New Roman"/>
                <a:cs typeface="Times New Roman"/>
              </a:rPr>
              <a:t>store</a:t>
            </a:r>
            <a:r>
              <a:rPr sz="1100" spc="-20" dirty="0">
                <a:latin typeface="Times New Roman"/>
                <a:cs typeface="Times New Roman"/>
              </a:rPr>
              <a:t> </a:t>
            </a:r>
            <a:r>
              <a:rPr sz="1100" dirty="0">
                <a:latin typeface="Times New Roman"/>
                <a:cs typeface="Times New Roman"/>
              </a:rPr>
              <a:t>instruction</a:t>
            </a:r>
            <a:r>
              <a:rPr sz="1100" spc="-35" dirty="0">
                <a:latin typeface="Times New Roman"/>
                <a:cs typeface="Times New Roman"/>
              </a:rPr>
              <a:t> </a:t>
            </a:r>
            <a:r>
              <a:rPr sz="1100" dirty="0">
                <a:latin typeface="Times New Roman"/>
                <a:cs typeface="Times New Roman"/>
              </a:rPr>
              <a:t>may</a:t>
            </a:r>
            <a:r>
              <a:rPr sz="1100" spc="15" dirty="0">
                <a:latin typeface="Times New Roman"/>
                <a:cs typeface="Times New Roman"/>
              </a:rPr>
              <a:t> </a:t>
            </a:r>
            <a:r>
              <a:rPr sz="1100" dirty="0">
                <a:latin typeface="Times New Roman"/>
                <a:cs typeface="Times New Roman"/>
              </a:rPr>
              <a:t>require</a:t>
            </a:r>
            <a:r>
              <a:rPr sz="1100" spc="-15" dirty="0">
                <a:latin typeface="Times New Roman"/>
                <a:cs typeface="Times New Roman"/>
              </a:rPr>
              <a:t> </a:t>
            </a:r>
            <a:r>
              <a:rPr sz="1100" dirty="0">
                <a:latin typeface="Times New Roman"/>
                <a:cs typeface="Times New Roman"/>
              </a:rPr>
              <a:t>two</a:t>
            </a:r>
            <a:r>
              <a:rPr sz="1100" spc="-10" dirty="0">
                <a:latin typeface="Times New Roman"/>
                <a:cs typeface="Times New Roman"/>
              </a:rPr>
              <a:t> </a:t>
            </a:r>
            <a:r>
              <a:rPr sz="1100" dirty="0">
                <a:latin typeface="Times New Roman"/>
                <a:cs typeface="Times New Roman"/>
              </a:rPr>
              <a:t>clock</a:t>
            </a:r>
            <a:r>
              <a:rPr sz="1100" spc="-20" dirty="0">
                <a:latin typeface="Times New Roman"/>
                <a:cs typeface="Times New Roman"/>
              </a:rPr>
              <a:t> </a:t>
            </a:r>
            <a:r>
              <a:rPr sz="1100" dirty="0">
                <a:latin typeface="Times New Roman"/>
                <a:cs typeface="Times New Roman"/>
              </a:rPr>
              <a:t>cycles</a:t>
            </a:r>
            <a:r>
              <a:rPr sz="1100" spc="-5" dirty="0">
                <a:latin typeface="Times New Roman"/>
                <a:cs typeface="Times New Roman"/>
              </a:rPr>
              <a:t> </a:t>
            </a:r>
            <a:r>
              <a:rPr sz="1100" dirty="0">
                <a:latin typeface="Times New Roman"/>
                <a:cs typeface="Times New Roman"/>
              </a:rPr>
              <a:t>because</a:t>
            </a:r>
            <a:r>
              <a:rPr sz="1100" spc="-30" dirty="0">
                <a:latin typeface="Times New Roman"/>
                <a:cs typeface="Times New Roman"/>
              </a:rPr>
              <a:t> </a:t>
            </a:r>
            <a:r>
              <a:rPr sz="1100" dirty="0">
                <a:latin typeface="Times New Roman"/>
                <a:cs typeface="Times New Roman"/>
              </a:rPr>
              <a:t>access</a:t>
            </a:r>
            <a:r>
              <a:rPr sz="1100" spc="-10" dirty="0">
                <a:latin typeface="Times New Roman"/>
                <a:cs typeface="Times New Roman"/>
              </a:rPr>
              <a:t> </a:t>
            </a:r>
            <a:r>
              <a:rPr sz="1100" dirty="0">
                <a:latin typeface="Times New Roman"/>
                <a:cs typeface="Times New Roman"/>
              </a:rPr>
              <a:t>to</a:t>
            </a:r>
            <a:r>
              <a:rPr sz="1100" spc="-10" dirty="0">
                <a:latin typeface="Times New Roman"/>
                <a:cs typeface="Times New Roman"/>
              </a:rPr>
              <a:t> memory </a:t>
            </a:r>
            <a:r>
              <a:rPr sz="1100" dirty="0">
                <a:latin typeface="Times New Roman"/>
                <a:cs typeface="Times New Roman"/>
              </a:rPr>
              <a:t>takes</a:t>
            </a:r>
            <a:r>
              <a:rPr sz="1100" spc="-10" dirty="0">
                <a:latin typeface="Times New Roman"/>
                <a:cs typeface="Times New Roman"/>
              </a:rPr>
              <a:t> </a:t>
            </a:r>
            <a:r>
              <a:rPr sz="1100" dirty="0">
                <a:latin typeface="Times New Roman"/>
                <a:cs typeface="Times New Roman"/>
              </a:rPr>
              <a:t>more</a:t>
            </a:r>
            <a:r>
              <a:rPr sz="1100" spc="5" dirty="0">
                <a:latin typeface="Times New Roman"/>
                <a:cs typeface="Times New Roman"/>
              </a:rPr>
              <a:t> </a:t>
            </a:r>
            <a:r>
              <a:rPr sz="1100" dirty="0">
                <a:latin typeface="Times New Roman"/>
                <a:cs typeface="Times New Roman"/>
              </a:rPr>
              <a:t>time than</a:t>
            </a:r>
            <a:r>
              <a:rPr sz="1100" spc="-5" dirty="0">
                <a:latin typeface="Times New Roman"/>
                <a:cs typeface="Times New Roman"/>
              </a:rPr>
              <a:t> </a:t>
            </a:r>
            <a:r>
              <a:rPr sz="1100" dirty="0">
                <a:latin typeface="Times New Roman"/>
                <a:cs typeface="Times New Roman"/>
              </a:rPr>
              <a:t>register</a:t>
            </a:r>
            <a:r>
              <a:rPr sz="1100" spc="-20" dirty="0">
                <a:latin typeface="Times New Roman"/>
                <a:cs typeface="Times New Roman"/>
              </a:rPr>
              <a:t> </a:t>
            </a:r>
            <a:r>
              <a:rPr sz="1100" spc="-10" dirty="0">
                <a:latin typeface="Times New Roman"/>
                <a:cs typeface="Times New Roman"/>
              </a:rPr>
              <a:t>operations.]</a:t>
            </a:r>
            <a:endParaRPr sz="11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30175" rIns="0" bIns="0" rtlCol="0">
            <a:spAutoFit/>
          </a:bodyPr>
          <a:lstStyle/>
          <a:p>
            <a:pPr marL="228600">
              <a:lnSpc>
                <a:spcPct val="100000"/>
              </a:lnSpc>
              <a:spcBef>
                <a:spcPts val="1025"/>
              </a:spcBef>
            </a:pPr>
            <a:r>
              <a:rPr sz="2000" dirty="0">
                <a:latin typeface="Georgia"/>
                <a:cs typeface="Georgia"/>
              </a:rPr>
              <a:t>Reduced</a:t>
            </a:r>
            <a:r>
              <a:rPr sz="2000" spc="-30" dirty="0">
                <a:latin typeface="Georgia"/>
                <a:cs typeface="Georgia"/>
              </a:rPr>
              <a:t> </a:t>
            </a:r>
            <a:r>
              <a:rPr sz="2000" dirty="0">
                <a:latin typeface="Georgia"/>
                <a:cs typeface="Georgia"/>
              </a:rPr>
              <a:t>Instruction</a:t>
            </a:r>
            <a:r>
              <a:rPr sz="2000" spc="-55" dirty="0">
                <a:latin typeface="Georgia"/>
                <a:cs typeface="Georgia"/>
              </a:rPr>
              <a:t> </a:t>
            </a:r>
            <a:r>
              <a:rPr sz="2000" dirty="0">
                <a:latin typeface="Georgia"/>
                <a:cs typeface="Georgia"/>
              </a:rPr>
              <a:t>Set</a:t>
            </a:r>
            <a:r>
              <a:rPr sz="2000" spc="-25" dirty="0">
                <a:latin typeface="Georgia"/>
                <a:cs typeface="Georgia"/>
              </a:rPr>
              <a:t> </a:t>
            </a:r>
            <a:r>
              <a:rPr sz="2000" dirty="0">
                <a:latin typeface="Georgia"/>
                <a:cs typeface="Georgia"/>
              </a:rPr>
              <a:t>Computer</a:t>
            </a:r>
            <a:r>
              <a:rPr sz="2000" spc="-35" dirty="0">
                <a:latin typeface="Georgia"/>
                <a:cs typeface="Georgia"/>
              </a:rPr>
              <a:t> </a:t>
            </a:r>
            <a:r>
              <a:rPr sz="2000" spc="-10" dirty="0">
                <a:latin typeface="Georgia"/>
                <a:cs typeface="Georgia"/>
              </a:rPr>
              <a:t>(RISC)</a:t>
            </a:r>
            <a:endParaRPr sz="2000">
              <a:latin typeface="Georgia"/>
              <a:cs typeface="Georgia"/>
            </a:endParaRPr>
          </a:p>
          <a:p>
            <a:pPr marL="431800" indent="-169545">
              <a:lnSpc>
                <a:spcPct val="100000"/>
              </a:lnSpc>
              <a:spcBef>
                <a:spcPts val="1705"/>
              </a:spcBef>
              <a:buClr>
                <a:srgbClr val="3E762B"/>
              </a:buClr>
              <a:buFont typeface="Wingdings"/>
              <a:buChar char=""/>
              <a:tabLst>
                <a:tab pos="431800" algn="l"/>
              </a:tabLst>
            </a:pPr>
            <a:r>
              <a:rPr sz="1200" dirty="0">
                <a:latin typeface="Times New Roman"/>
                <a:cs typeface="Times New Roman"/>
              </a:rPr>
              <a:t>Other</a:t>
            </a:r>
            <a:r>
              <a:rPr sz="1200" spc="-5" dirty="0">
                <a:latin typeface="Times New Roman"/>
                <a:cs typeface="Times New Roman"/>
              </a:rPr>
              <a:t> </a:t>
            </a:r>
            <a:r>
              <a:rPr sz="1200" spc="-10" dirty="0">
                <a:latin typeface="Times New Roman"/>
                <a:cs typeface="Times New Roman"/>
              </a:rPr>
              <a:t>characteristics </a:t>
            </a:r>
            <a:r>
              <a:rPr sz="1200" dirty="0">
                <a:latin typeface="Times New Roman"/>
                <a:cs typeface="Times New Roman"/>
              </a:rPr>
              <a:t>attributed</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RISC</a:t>
            </a:r>
            <a:r>
              <a:rPr sz="1200" spc="20" dirty="0">
                <a:latin typeface="Times New Roman"/>
                <a:cs typeface="Times New Roman"/>
              </a:rPr>
              <a:t> </a:t>
            </a:r>
            <a:r>
              <a:rPr sz="1200" spc="-10" dirty="0">
                <a:latin typeface="Times New Roman"/>
                <a:cs typeface="Times New Roman"/>
              </a:rPr>
              <a:t>architecture </a:t>
            </a:r>
            <a:r>
              <a:rPr sz="1200" spc="-20" dirty="0">
                <a:latin typeface="Times New Roman"/>
                <a:cs typeface="Times New Roman"/>
              </a:rPr>
              <a:t>are:</a:t>
            </a:r>
            <a:endParaRPr sz="1200">
              <a:latin typeface="Times New Roman"/>
              <a:cs typeface="Times New Roman"/>
            </a:endParaRPr>
          </a:p>
          <a:p>
            <a:pPr marL="719455" lvl="1" indent="-144780">
              <a:lnSpc>
                <a:spcPct val="100000"/>
              </a:lnSpc>
              <a:spcBef>
                <a:spcPts val="1325"/>
              </a:spcBef>
              <a:buClr>
                <a:srgbClr val="3E762B"/>
              </a:buClr>
              <a:buAutoNum type="arabicPeriod"/>
              <a:tabLst>
                <a:tab pos="71945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relatively</a:t>
            </a:r>
            <a:r>
              <a:rPr sz="1200" spc="-65" dirty="0">
                <a:latin typeface="Times New Roman"/>
                <a:cs typeface="Times New Roman"/>
              </a:rPr>
              <a:t> </a:t>
            </a:r>
            <a:r>
              <a:rPr sz="1200" dirty="0">
                <a:latin typeface="Times New Roman"/>
                <a:cs typeface="Times New Roman"/>
              </a:rPr>
              <a:t>large</a:t>
            </a:r>
            <a:r>
              <a:rPr sz="1200" spc="-20" dirty="0">
                <a:latin typeface="Times New Roman"/>
                <a:cs typeface="Times New Roman"/>
              </a:rPr>
              <a:t> </a:t>
            </a:r>
            <a:r>
              <a:rPr sz="1200" dirty="0">
                <a:latin typeface="Times New Roman"/>
                <a:cs typeface="Times New Roman"/>
              </a:rPr>
              <a:t>number</a:t>
            </a:r>
            <a:r>
              <a:rPr sz="1200" spc="-4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registers</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processor</a:t>
            </a:r>
            <a:r>
              <a:rPr sz="1200" spc="-30" dirty="0">
                <a:latin typeface="Times New Roman"/>
                <a:cs typeface="Times New Roman"/>
              </a:rPr>
              <a:t> </a:t>
            </a:r>
            <a:r>
              <a:rPr sz="1200" spc="-20" dirty="0">
                <a:latin typeface="Times New Roman"/>
                <a:cs typeface="Times New Roman"/>
              </a:rPr>
              <a:t>unit</a:t>
            </a:r>
            <a:endParaRPr sz="1200">
              <a:latin typeface="Times New Roman"/>
              <a:cs typeface="Times New Roman"/>
            </a:endParaRPr>
          </a:p>
          <a:p>
            <a:pPr marL="719455" lvl="1" indent="-144780">
              <a:lnSpc>
                <a:spcPct val="100000"/>
              </a:lnSpc>
              <a:spcBef>
                <a:spcPts val="1315"/>
              </a:spcBef>
              <a:buClr>
                <a:srgbClr val="3E762B"/>
              </a:buClr>
              <a:buAutoNum type="arabicPeriod"/>
              <a:tabLst>
                <a:tab pos="719455" algn="l"/>
              </a:tabLst>
            </a:pPr>
            <a:r>
              <a:rPr sz="1200" dirty="0">
                <a:latin typeface="Times New Roman"/>
                <a:cs typeface="Times New Roman"/>
              </a:rPr>
              <a:t>Use</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overlapped</a:t>
            </a:r>
            <a:r>
              <a:rPr sz="1200" spc="-15" dirty="0">
                <a:latin typeface="Times New Roman"/>
                <a:cs typeface="Times New Roman"/>
              </a:rPr>
              <a:t> </a:t>
            </a:r>
            <a:r>
              <a:rPr sz="1200" dirty="0">
                <a:latin typeface="Times New Roman"/>
                <a:cs typeface="Times New Roman"/>
              </a:rPr>
              <a:t>register</a:t>
            </a:r>
            <a:r>
              <a:rPr sz="1200" spc="-15" dirty="0">
                <a:latin typeface="Times New Roman"/>
                <a:cs typeface="Times New Roman"/>
              </a:rPr>
              <a:t> </a:t>
            </a:r>
            <a:r>
              <a:rPr sz="1200" dirty="0">
                <a:latin typeface="Times New Roman"/>
                <a:cs typeface="Times New Roman"/>
              </a:rPr>
              <a:t>windows</a:t>
            </a:r>
            <a:r>
              <a:rPr sz="1200" spc="-1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spc="-10" dirty="0">
                <a:latin typeface="Times New Roman"/>
                <a:cs typeface="Times New Roman"/>
              </a:rPr>
              <a:t>speed-</a:t>
            </a:r>
            <a:r>
              <a:rPr sz="1200" dirty="0">
                <a:latin typeface="Times New Roman"/>
                <a:cs typeface="Times New Roman"/>
              </a:rPr>
              <a:t>up</a:t>
            </a:r>
            <a:r>
              <a:rPr sz="1200" spc="-10" dirty="0">
                <a:latin typeface="Times New Roman"/>
                <a:cs typeface="Times New Roman"/>
              </a:rPr>
              <a:t> </a:t>
            </a:r>
            <a:r>
              <a:rPr sz="1200" dirty="0">
                <a:latin typeface="Times New Roman"/>
                <a:cs typeface="Times New Roman"/>
              </a:rPr>
              <a:t>procedure</a:t>
            </a:r>
            <a:r>
              <a:rPr sz="1200" spc="-10" dirty="0">
                <a:latin typeface="Times New Roman"/>
                <a:cs typeface="Times New Roman"/>
              </a:rPr>
              <a:t> </a:t>
            </a:r>
            <a:r>
              <a:rPr sz="1200" dirty="0">
                <a:latin typeface="Times New Roman"/>
                <a:cs typeface="Times New Roman"/>
              </a:rPr>
              <a:t>call</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return</a:t>
            </a:r>
            <a:endParaRPr sz="1200">
              <a:latin typeface="Times New Roman"/>
              <a:cs typeface="Times New Roman"/>
            </a:endParaRPr>
          </a:p>
          <a:p>
            <a:pPr marL="719455" lvl="1" indent="-144780">
              <a:lnSpc>
                <a:spcPct val="100000"/>
              </a:lnSpc>
              <a:spcBef>
                <a:spcPts val="1325"/>
              </a:spcBef>
              <a:buClr>
                <a:srgbClr val="3E762B"/>
              </a:buClr>
              <a:buAutoNum type="arabicPeriod"/>
              <a:tabLst>
                <a:tab pos="719455" algn="l"/>
              </a:tabLst>
            </a:pPr>
            <a:r>
              <a:rPr sz="1200" spc="-10" dirty="0">
                <a:latin typeface="Times New Roman"/>
                <a:cs typeface="Times New Roman"/>
              </a:rPr>
              <a:t>Efficient</a:t>
            </a:r>
            <a:r>
              <a:rPr sz="1200" spc="-20" dirty="0">
                <a:latin typeface="Times New Roman"/>
                <a:cs typeface="Times New Roman"/>
              </a:rPr>
              <a:t> </a:t>
            </a:r>
            <a:r>
              <a:rPr sz="1200" dirty="0">
                <a:latin typeface="Times New Roman"/>
                <a:cs typeface="Times New Roman"/>
              </a:rPr>
              <a:t>instruction</a:t>
            </a:r>
            <a:r>
              <a:rPr sz="1200" spc="-30" dirty="0">
                <a:latin typeface="Times New Roman"/>
                <a:cs typeface="Times New Roman"/>
              </a:rPr>
              <a:t> </a:t>
            </a:r>
            <a:r>
              <a:rPr sz="1200" spc="-10" dirty="0">
                <a:latin typeface="Times New Roman"/>
                <a:cs typeface="Times New Roman"/>
              </a:rPr>
              <a:t>pipeline</a:t>
            </a:r>
            <a:endParaRPr sz="1200">
              <a:latin typeface="Times New Roman"/>
              <a:cs typeface="Times New Roman"/>
            </a:endParaRPr>
          </a:p>
          <a:p>
            <a:pPr marL="719455" marR="608330" lvl="1" indent="-144780">
              <a:lnSpc>
                <a:spcPct val="150000"/>
              </a:lnSpc>
              <a:spcBef>
                <a:spcPts val="595"/>
              </a:spcBef>
              <a:buClr>
                <a:srgbClr val="3E762B"/>
              </a:buClr>
              <a:buAutoNum type="arabicPeriod"/>
              <a:tabLst>
                <a:tab pos="719455" algn="l"/>
              </a:tabLst>
            </a:pPr>
            <a:r>
              <a:rPr sz="1200" dirty="0">
                <a:latin typeface="Times New Roman"/>
                <a:cs typeface="Times New Roman"/>
              </a:rPr>
              <a:t>Compiler</a:t>
            </a:r>
            <a:r>
              <a:rPr sz="1200" spc="-45" dirty="0">
                <a:latin typeface="Times New Roman"/>
                <a:cs typeface="Times New Roman"/>
              </a:rPr>
              <a:t> </a:t>
            </a:r>
            <a:r>
              <a:rPr sz="1200" dirty="0">
                <a:latin typeface="Times New Roman"/>
                <a:cs typeface="Times New Roman"/>
              </a:rPr>
              <a:t>support</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efficient</a:t>
            </a:r>
            <a:r>
              <a:rPr sz="1200" spc="-25" dirty="0">
                <a:latin typeface="Times New Roman"/>
                <a:cs typeface="Times New Roman"/>
              </a:rPr>
              <a:t> </a:t>
            </a:r>
            <a:r>
              <a:rPr sz="1200" dirty="0">
                <a:latin typeface="Times New Roman"/>
                <a:cs typeface="Times New Roman"/>
              </a:rPr>
              <a:t>translation</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10" dirty="0">
                <a:latin typeface="Times New Roman"/>
                <a:cs typeface="Times New Roman"/>
              </a:rPr>
              <a:t>high-</a:t>
            </a:r>
            <a:r>
              <a:rPr sz="1200" dirty="0">
                <a:latin typeface="Times New Roman"/>
                <a:cs typeface="Times New Roman"/>
              </a:rPr>
              <a:t>level</a:t>
            </a:r>
            <a:r>
              <a:rPr sz="1200" spc="-15" dirty="0">
                <a:latin typeface="Times New Roman"/>
                <a:cs typeface="Times New Roman"/>
              </a:rPr>
              <a:t> </a:t>
            </a:r>
            <a:r>
              <a:rPr sz="1200" dirty="0">
                <a:latin typeface="Times New Roman"/>
                <a:cs typeface="Times New Roman"/>
              </a:rPr>
              <a:t>language</a:t>
            </a:r>
            <a:r>
              <a:rPr sz="1200" spc="-15" dirty="0">
                <a:latin typeface="Times New Roman"/>
                <a:cs typeface="Times New Roman"/>
              </a:rPr>
              <a:t> </a:t>
            </a:r>
            <a:r>
              <a:rPr sz="1200" spc="-10" dirty="0">
                <a:latin typeface="Times New Roman"/>
                <a:cs typeface="Times New Roman"/>
              </a:rPr>
              <a:t>programs </a:t>
            </a:r>
            <a:r>
              <a:rPr sz="1200" dirty="0">
                <a:latin typeface="Times New Roman"/>
                <a:cs typeface="Times New Roman"/>
              </a:rPr>
              <a:t>into</a:t>
            </a:r>
            <a:r>
              <a:rPr sz="1200" spc="-60" dirty="0">
                <a:latin typeface="Times New Roman"/>
                <a:cs typeface="Times New Roman"/>
              </a:rPr>
              <a:t> </a:t>
            </a:r>
            <a:r>
              <a:rPr sz="1200" dirty="0">
                <a:latin typeface="Times New Roman"/>
                <a:cs typeface="Times New Roman"/>
              </a:rPr>
              <a:t>machine</a:t>
            </a:r>
            <a:r>
              <a:rPr sz="1200" spc="-45" dirty="0">
                <a:latin typeface="Times New Roman"/>
                <a:cs typeface="Times New Roman"/>
              </a:rPr>
              <a:t> </a:t>
            </a:r>
            <a:r>
              <a:rPr sz="1200" dirty="0">
                <a:latin typeface="Times New Roman"/>
                <a:cs typeface="Times New Roman"/>
              </a:rPr>
              <a:t>language</a:t>
            </a:r>
            <a:r>
              <a:rPr sz="1200" spc="-20" dirty="0">
                <a:latin typeface="Times New Roman"/>
                <a:cs typeface="Times New Roman"/>
              </a:rPr>
              <a:t> </a:t>
            </a:r>
            <a:r>
              <a:rPr sz="1200" spc="-10" dirty="0">
                <a:latin typeface="Times New Roman"/>
                <a:cs typeface="Times New Roman"/>
              </a:rPr>
              <a:t>programs</a:t>
            </a:r>
            <a:endParaRPr sz="12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7" name="object 7"/>
            <p:cNvPicPr/>
            <p:nvPr/>
          </p:nvPicPr>
          <p:blipFill>
            <a:blip r:embed="rId2" cstate="print"/>
            <a:stretch>
              <a:fillRect/>
            </a:stretch>
          </p:blipFill>
          <p:spPr>
            <a:xfrm>
              <a:off x="751331" y="5699760"/>
              <a:ext cx="5378196" cy="1737360"/>
            </a:xfrm>
            <a:prstGeom prst="rect">
              <a:avLst/>
            </a:prstGeom>
          </p:spPr>
        </p:pic>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Instruction</a:t>
            </a:r>
            <a:r>
              <a:rPr sz="2200" spc="-25" dirty="0">
                <a:latin typeface="Georgia"/>
                <a:cs typeface="Georgia"/>
              </a:rPr>
              <a:t> </a:t>
            </a:r>
            <a:r>
              <a:rPr sz="2200" dirty="0">
                <a:latin typeface="Georgia"/>
                <a:cs typeface="Georgia"/>
              </a:rPr>
              <a:t>Set</a:t>
            </a:r>
            <a:r>
              <a:rPr sz="2200" spc="-40" dirty="0">
                <a:latin typeface="Georgia"/>
                <a:cs typeface="Georgia"/>
              </a:rPr>
              <a:t> </a:t>
            </a:r>
            <a:r>
              <a:rPr sz="2200" spc="-10" dirty="0">
                <a:latin typeface="Georgia"/>
                <a:cs typeface="Georgia"/>
              </a:rPr>
              <a:t>Styles</a:t>
            </a:r>
            <a:endParaRPr sz="2200" dirty="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9704" y="1563624"/>
            <a:ext cx="4005072" cy="2606040"/>
          </a:xfrm>
          <a:prstGeom prst="rect">
            <a:avLst/>
          </a:prstGeom>
        </p:spPr>
      </p:pic>
      <p:sp>
        <p:nvSpPr>
          <p:cNvPr id="3" name="object 3"/>
          <p:cNvSpPr txBox="1"/>
          <p:nvPr/>
        </p:nvSpPr>
        <p:spPr>
          <a:xfrm>
            <a:off x="496823" y="990600"/>
            <a:ext cx="5862955" cy="3188335"/>
          </a:xfrm>
          <a:prstGeom prst="rect">
            <a:avLst/>
          </a:prstGeom>
        </p:spPr>
        <p:txBody>
          <a:bodyPr vert="horz" wrap="square" lIns="0" tIns="130175" rIns="0" bIns="0" rtlCol="0">
            <a:spAutoFit/>
          </a:bodyPr>
          <a:lstStyle/>
          <a:p>
            <a:pPr marL="228600">
              <a:lnSpc>
                <a:spcPct val="100000"/>
              </a:lnSpc>
              <a:spcBef>
                <a:spcPts val="1025"/>
              </a:spcBef>
            </a:pPr>
            <a:r>
              <a:rPr sz="2000" dirty="0">
                <a:latin typeface="Georgia"/>
                <a:cs typeface="Georgia"/>
              </a:rPr>
              <a:t>Instruction</a:t>
            </a:r>
            <a:r>
              <a:rPr sz="2000" spc="-65" dirty="0">
                <a:latin typeface="Georgia"/>
                <a:cs typeface="Georgia"/>
              </a:rPr>
              <a:t> </a:t>
            </a:r>
            <a:r>
              <a:rPr sz="2000" dirty="0">
                <a:latin typeface="Georgia"/>
                <a:cs typeface="Georgia"/>
              </a:rPr>
              <a:t>Set</a:t>
            </a:r>
            <a:r>
              <a:rPr sz="2000" spc="-25" dirty="0">
                <a:latin typeface="Georgia"/>
                <a:cs typeface="Georgia"/>
              </a:rPr>
              <a:t> </a:t>
            </a:r>
            <a:r>
              <a:rPr sz="2000" dirty="0">
                <a:latin typeface="Georgia"/>
                <a:cs typeface="Georgia"/>
              </a:rPr>
              <a:t>Styles</a:t>
            </a:r>
            <a:r>
              <a:rPr sz="2000" spc="-25" dirty="0">
                <a:latin typeface="Georgia"/>
                <a:cs typeface="Georgia"/>
              </a:rPr>
              <a:t> </a:t>
            </a:r>
            <a:r>
              <a:rPr sz="2000" dirty="0">
                <a:latin typeface="Georgia"/>
                <a:cs typeface="Georgia"/>
              </a:rPr>
              <a:t>for</a:t>
            </a:r>
            <a:r>
              <a:rPr sz="2000" spc="-20" dirty="0">
                <a:latin typeface="Georgia"/>
                <a:cs typeface="Georgia"/>
              </a:rPr>
              <a:t> </a:t>
            </a:r>
            <a:r>
              <a:rPr sz="2000" dirty="0">
                <a:latin typeface="Georgia"/>
                <a:cs typeface="Georgia"/>
              </a:rPr>
              <a:t>Arithmetic</a:t>
            </a:r>
            <a:r>
              <a:rPr sz="2000" spc="-50" dirty="0">
                <a:latin typeface="Georgia"/>
                <a:cs typeface="Georgia"/>
              </a:rPr>
              <a:t> </a:t>
            </a:r>
            <a:r>
              <a:rPr sz="2000" spc="-10" dirty="0">
                <a:latin typeface="Georgia"/>
                <a:cs typeface="Georgia"/>
              </a:rPr>
              <a:t>Operations</a:t>
            </a:r>
            <a:endParaRPr sz="2000">
              <a:latin typeface="Georgia"/>
              <a:cs typeface="Georgia"/>
            </a:endParaRPr>
          </a:p>
        </p:txBody>
      </p:sp>
      <p:pic>
        <p:nvPicPr>
          <p:cNvPr id="4" name="object 4"/>
          <p:cNvPicPr/>
          <p:nvPr/>
        </p:nvPicPr>
        <p:blipFill>
          <a:blip r:embed="rId3" cstate="print"/>
          <a:stretch>
            <a:fillRect/>
          </a:stretch>
        </p:blipFill>
        <p:spPr>
          <a:xfrm>
            <a:off x="4980432" y="1772411"/>
            <a:ext cx="792479" cy="190500"/>
          </a:xfrm>
          <a:prstGeom prst="rect">
            <a:avLst/>
          </a:prstGeom>
        </p:spPr>
      </p:pic>
      <p:grpSp>
        <p:nvGrpSpPr>
          <p:cNvPr id="5" name="object 5"/>
          <p:cNvGrpSpPr/>
          <p:nvPr/>
        </p:nvGrpSpPr>
        <p:grpSpPr>
          <a:xfrm>
            <a:off x="381000" y="4844796"/>
            <a:ext cx="6096000" cy="3429000"/>
            <a:chOff x="381000" y="4844796"/>
            <a:chExt cx="6096000" cy="3429000"/>
          </a:xfrm>
        </p:grpSpPr>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8" name="object 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9" name="object 9"/>
            <p:cNvPicPr/>
            <p:nvPr/>
          </p:nvPicPr>
          <p:blipFill>
            <a:blip r:embed="rId4" cstate="print"/>
            <a:stretch>
              <a:fillRect/>
            </a:stretch>
          </p:blipFill>
          <p:spPr>
            <a:xfrm>
              <a:off x="679704" y="5605272"/>
              <a:ext cx="4572000" cy="874776"/>
            </a:xfrm>
            <a:prstGeom prst="rect">
              <a:avLst/>
            </a:prstGeom>
          </p:spPr>
        </p:pic>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Instruction</a:t>
            </a:r>
            <a:r>
              <a:rPr sz="2200" spc="-25" dirty="0">
                <a:latin typeface="Georgia"/>
                <a:cs typeface="Georgia"/>
              </a:rPr>
              <a:t> </a:t>
            </a:r>
            <a:r>
              <a:rPr sz="2200" dirty="0">
                <a:latin typeface="Georgia"/>
                <a:cs typeface="Georgia"/>
              </a:rPr>
              <a:t>Set</a:t>
            </a:r>
            <a:r>
              <a:rPr sz="2200" spc="-40" dirty="0">
                <a:latin typeface="Georgia"/>
                <a:cs typeface="Georgia"/>
              </a:rPr>
              <a:t> </a:t>
            </a:r>
            <a:r>
              <a:rPr sz="2200" spc="-10" dirty="0">
                <a:latin typeface="Georgia"/>
                <a:cs typeface="Georgia"/>
              </a:rPr>
              <a:t>Styles</a:t>
            </a:r>
            <a:endParaRPr sz="2200">
              <a:latin typeface="Georgia"/>
              <a:cs typeface="Georgia"/>
            </a:endParaRPr>
          </a:p>
        </p:txBody>
      </p:sp>
      <p:pic>
        <p:nvPicPr>
          <p:cNvPr id="11" name="object 11"/>
          <p:cNvPicPr/>
          <p:nvPr/>
        </p:nvPicPr>
        <p:blipFill>
          <a:blip r:embed="rId5" cstate="print"/>
          <a:stretch>
            <a:fillRect/>
          </a:stretch>
        </p:blipFill>
        <p:spPr>
          <a:xfrm>
            <a:off x="5029200" y="5752731"/>
            <a:ext cx="1143000" cy="404228"/>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9704" y="1618488"/>
            <a:ext cx="4251960" cy="1456943"/>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Instruction</a:t>
            </a:r>
            <a:r>
              <a:rPr sz="2200" spc="-25" dirty="0">
                <a:latin typeface="Georgia"/>
                <a:cs typeface="Georgia"/>
              </a:rPr>
              <a:t> </a:t>
            </a:r>
            <a:r>
              <a:rPr sz="2200" dirty="0">
                <a:latin typeface="Georgia"/>
                <a:cs typeface="Georgia"/>
              </a:rPr>
              <a:t>Set</a:t>
            </a:r>
            <a:r>
              <a:rPr sz="2200" spc="-40" dirty="0">
                <a:latin typeface="Georgia"/>
                <a:cs typeface="Georgia"/>
              </a:rPr>
              <a:t> </a:t>
            </a:r>
            <a:r>
              <a:rPr sz="2200" spc="-10" dirty="0">
                <a:latin typeface="Georgia"/>
                <a:cs typeface="Georgia"/>
              </a:rPr>
              <a:t>Styles</a:t>
            </a:r>
            <a:endParaRPr sz="2200">
              <a:latin typeface="Georgia"/>
              <a:cs typeface="Georgia"/>
            </a:endParaRPr>
          </a:p>
        </p:txBody>
      </p:sp>
      <p:pic>
        <p:nvPicPr>
          <p:cNvPr id="4" name="object 4"/>
          <p:cNvPicPr/>
          <p:nvPr/>
        </p:nvPicPr>
        <p:blipFill>
          <a:blip r:embed="rId3" cstate="print"/>
          <a:stretch>
            <a:fillRect/>
          </a:stretch>
        </p:blipFill>
        <p:spPr>
          <a:xfrm>
            <a:off x="5029200" y="1776615"/>
            <a:ext cx="1143000" cy="404228"/>
          </a:xfrm>
          <a:prstGeom prst="rect">
            <a:avLst/>
          </a:prstGeom>
        </p:spPr>
      </p:pic>
      <p:grpSp>
        <p:nvGrpSpPr>
          <p:cNvPr id="5" name="object 5"/>
          <p:cNvGrpSpPr/>
          <p:nvPr/>
        </p:nvGrpSpPr>
        <p:grpSpPr>
          <a:xfrm>
            <a:off x="381000" y="4844796"/>
            <a:ext cx="6096000" cy="3429000"/>
            <a:chOff x="381000" y="4844796"/>
            <a:chExt cx="6096000" cy="3429000"/>
          </a:xfrm>
        </p:grpSpPr>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8" name="object 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9" name="object 9"/>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Overlapped</a:t>
            </a:r>
            <a:r>
              <a:rPr sz="2200" spc="-80" dirty="0">
                <a:latin typeface="Georgia"/>
                <a:cs typeface="Georgia"/>
              </a:rPr>
              <a:t> </a:t>
            </a:r>
            <a:r>
              <a:rPr sz="2200" dirty="0">
                <a:latin typeface="Georgia"/>
                <a:cs typeface="Georgia"/>
              </a:rPr>
              <a:t>Register</a:t>
            </a:r>
            <a:r>
              <a:rPr sz="2200" spc="-65" dirty="0">
                <a:latin typeface="Georgia"/>
                <a:cs typeface="Georgia"/>
              </a:rPr>
              <a:t> </a:t>
            </a:r>
            <a:r>
              <a:rPr sz="2200" spc="-10" dirty="0">
                <a:latin typeface="Georgia"/>
                <a:cs typeface="Georgia"/>
              </a:rPr>
              <a:t>Windows</a:t>
            </a:r>
            <a:endParaRPr sz="2200">
              <a:latin typeface="Georgia"/>
              <a:cs typeface="Georgia"/>
            </a:endParaRPr>
          </a:p>
          <a:p>
            <a:pPr marL="434975" indent="-172720">
              <a:lnSpc>
                <a:spcPct val="100000"/>
              </a:lnSpc>
              <a:spcBef>
                <a:spcPts val="1155"/>
              </a:spcBef>
              <a:buClr>
                <a:srgbClr val="3E762B"/>
              </a:buClr>
              <a:buFont typeface="Wingdings"/>
              <a:buChar char=""/>
              <a:tabLst>
                <a:tab pos="434975" algn="l"/>
              </a:tabLst>
            </a:pPr>
            <a:r>
              <a:rPr sz="1200" b="1" i="1" dirty="0">
                <a:latin typeface="Times New Roman"/>
                <a:cs typeface="Times New Roman"/>
              </a:rPr>
              <a:t>Overlapped</a:t>
            </a:r>
            <a:r>
              <a:rPr sz="1200" b="1" i="1" spc="-15" dirty="0">
                <a:latin typeface="Times New Roman"/>
                <a:cs typeface="Times New Roman"/>
              </a:rPr>
              <a:t> </a:t>
            </a:r>
            <a:r>
              <a:rPr sz="1200" b="1" i="1" dirty="0">
                <a:latin typeface="Times New Roman"/>
                <a:cs typeface="Times New Roman"/>
              </a:rPr>
              <a:t>register</a:t>
            </a:r>
            <a:r>
              <a:rPr sz="1200" b="1" i="1" spc="-20" dirty="0">
                <a:latin typeface="Times New Roman"/>
                <a:cs typeface="Times New Roman"/>
              </a:rPr>
              <a:t> </a:t>
            </a:r>
            <a:r>
              <a:rPr sz="1200" b="1" i="1" dirty="0">
                <a:latin typeface="Times New Roman"/>
                <a:cs typeface="Times New Roman"/>
              </a:rPr>
              <a:t>windows</a:t>
            </a:r>
            <a:r>
              <a:rPr sz="1200" b="1" i="1"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some</a:t>
            </a:r>
            <a:r>
              <a:rPr sz="1200" spc="-20" dirty="0">
                <a:latin typeface="Times New Roman"/>
                <a:cs typeface="Times New Roman"/>
              </a:rPr>
              <a:t> </a:t>
            </a:r>
            <a:r>
              <a:rPr sz="1200" b="1" dirty="0">
                <a:latin typeface="Times New Roman"/>
                <a:cs typeface="Times New Roman"/>
              </a:rPr>
              <a:t>RISC</a:t>
            </a:r>
            <a:r>
              <a:rPr sz="1200" b="1" spc="-20" dirty="0">
                <a:latin typeface="Times New Roman"/>
                <a:cs typeface="Times New Roman"/>
              </a:rPr>
              <a:t> </a:t>
            </a:r>
            <a:r>
              <a:rPr sz="1200" dirty="0">
                <a:latin typeface="Times New Roman"/>
                <a:cs typeface="Times New Roman"/>
              </a:rPr>
              <a:t>processors</a:t>
            </a:r>
            <a:r>
              <a:rPr sz="1200" spc="-5" dirty="0">
                <a:latin typeface="Times New Roman"/>
                <a:cs typeface="Times New Roman"/>
              </a:rPr>
              <a:t> </a:t>
            </a:r>
            <a:r>
              <a:rPr sz="1200" spc="-25" dirty="0">
                <a:latin typeface="Times New Roman"/>
                <a:cs typeface="Times New Roman"/>
              </a:rPr>
              <a:t>to</a:t>
            </a:r>
            <a:endParaRPr sz="1200">
              <a:latin typeface="Times New Roman"/>
              <a:cs typeface="Times New Roman"/>
            </a:endParaRPr>
          </a:p>
          <a:p>
            <a:pPr marL="665480" lvl="1" indent="-174625">
              <a:lnSpc>
                <a:spcPct val="100000"/>
              </a:lnSpc>
              <a:spcBef>
                <a:spcPts val="455"/>
              </a:spcBef>
              <a:buClr>
                <a:srgbClr val="3E762B"/>
              </a:buClr>
              <a:buFont typeface="Arial MT"/>
              <a:buChar char="•"/>
              <a:tabLst>
                <a:tab pos="665480" algn="l"/>
              </a:tabLst>
            </a:pPr>
            <a:r>
              <a:rPr sz="1200" dirty="0">
                <a:latin typeface="Times New Roman"/>
                <a:cs typeface="Times New Roman"/>
              </a:rPr>
              <a:t>Provide</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passing</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parameters</a:t>
            </a:r>
            <a:endParaRPr sz="1200">
              <a:latin typeface="Times New Roman"/>
              <a:cs typeface="Times New Roman"/>
            </a:endParaRPr>
          </a:p>
          <a:p>
            <a:pPr marL="665480" lvl="1" indent="-174625">
              <a:lnSpc>
                <a:spcPct val="100000"/>
              </a:lnSpc>
              <a:spcBef>
                <a:spcPts val="459"/>
              </a:spcBef>
              <a:buClr>
                <a:srgbClr val="3E762B"/>
              </a:buClr>
              <a:buFont typeface="Arial MT"/>
              <a:buChar char="•"/>
              <a:tabLst>
                <a:tab pos="665480" algn="l"/>
              </a:tabLst>
            </a:pPr>
            <a:r>
              <a:rPr sz="1200" spc="-10" dirty="0">
                <a:latin typeface="Times New Roman"/>
                <a:cs typeface="Times New Roman"/>
              </a:rPr>
              <a:t>Avoid</a:t>
            </a:r>
            <a:r>
              <a:rPr sz="1200" spc="-3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need</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saving</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restoring</a:t>
            </a:r>
            <a:r>
              <a:rPr sz="1200" spc="-35" dirty="0">
                <a:latin typeface="Times New Roman"/>
                <a:cs typeface="Times New Roman"/>
              </a:rPr>
              <a:t> </a:t>
            </a:r>
            <a:r>
              <a:rPr sz="1200" dirty="0">
                <a:latin typeface="Times New Roman"/>
                <a:cs typeface="Times New Roman"/>
              </a:rPr>
              <a:t>register</a:t>
            </a:r>
            <a:r>
              <a:rPr sz="1200" spc="-20" dirty="0">
                <a:latin typeface="Times New Roman"/>
                <a:cs typeface="Times New Roman"/>
              </a:rPr>
              <a:t> </a:t>
            </a:r>
            <a:r>
              <a:rPr sz="1200" spc="-10" dirty="0">
                <a:latin typeface="Times New Roman"/>
                <a:cs typeface="Times New Roman"/>
              </a:rPr>
              <a:t>values.</a:t>
            </a:r>
            <a:endParaRPr sz="1200">
              <a:latin typeface="Times New Roman"/>
              <a:cs typeface="Times New Roman"/>
            </a:endParaRPr>
          </a:p>
          <a:p>
            <a:pPr lvl="1">
              <a:lnSpc>
                <a:spcPct val="100000"/>
              </a:lnSpc>
              <a:spcBef>
                <a:spcPts val="215"/>
              </a:spcBef>
              <a:buClr>
                <a:srgbClr val="3E762B"/>
              </a:buClr>
              <a:buFont typeface="Arial MT"/>
              <a:buChar char="•"/>
            </a:pPr>
            <a:endParaRPr sz="1200">
              <a:latin typeface="Times New Roman"/>
              <a:cs typeface="Times New Roman"/>
            </a:endParaRPr>
          </a:p>
          <a:p>
            <a:pPr marL="434975" indent="-172720">
              <a:lnSpc>
                <a:spcPct val="100000"/>
              </a:lnSpc>
              <a:buClr>
                <a:srgbClr val="3E762B"/>
              </a:buClr>
              <a:buFont typeface="Wingdings"/>
              <a:buChar char=""/>
              <a:tabLst>
                <a:tab pos="434975" algn="l"/>
              </a:tabLst>
            </a:pPr>
            <a:r>
              <a:rPr sz="1200" dirty="0">
                <a:latin typeface="Times New Roman"/>
                <a:cs typeface="Times New Roman"/>
              </a:rPr>
              <a:t>Each</a:t>
            </a:r>
            <a:r>
              <a:rPr sz="1200" spc="-25" dirty="0">
                <a:latin typeface="Times New Roman"/>
                <a:cs typeface="Times New Roman"/>
              </a:rPr>
              <a:t> </a:t>
            </a:r>
            <a:r>
              <a:rPr sz="1200" b="1" spc="-10" dirty="0">
                <a:latin typeface="Times New Roman"/>
                <a:cs typeface="Times New Roman"/>
              </a:rPr>
              <a:t>procedure</a:t>
            </a:r>
            <a:r>
              <a:rPr sz="1200" b="1" spc="-20" dirty="0">
                <a:latin typeface="Times New Roman"/>
                <a:cs typeface="Times New Roman"/>
              </a:rPr>
              <a:t> call:</a:t>
            </a:r>
            <a:endParaRPr sz="1200">
              <a:latin typeface="Times New Roman"/>
              <a:cs typeface="Times New Roman"/>
            </a:endParaRPr>
          </a:p>
          <a:p>
            <a:pPr marL="664845" marR="450215" lvl="1" indent="-173990">
              <a:lnSpc>
                <a:spcPts val="1300"/>
              </a:lnSpc>
              <a:spcBef>
                <a:spcPts val="615"/>
              </a:spcBef>
              <a:buClr>
                <a:srgbClr val="3E762B"/>
              </a:buClr>
              <a:buFont typeface="Arial MT"/>
              <a:buChar char="•"/>
              <a:tabLst>
                <a:tab pos="664845" algn="l"/>
              </a:tabLst>
            </a:pPr>
            <a:r>
              <a:rPr sz="1200" dirty="0">
                <a:latin typeface="Times New Roman"/>
                <a:cs typeface="Times New Roman"/>
              </a:rPr>
              <a:t>Allocates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activates</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new</a:t>
            </a:r>
            <a:r>
              <a:rPr sz="1200" spc="-25" dirty="0">
                <a:latin typeface="Times New Roman"/>
                <a:cs typeface="Times New Roman"/>
              </a:rPr>
              <a:t> </a:t>
            </a:r>
            <a:r>
              <a:rPr sz="1200" dirty="0">
                <a:latin typeface="Times New Roman"/>
                <a:cs typeface="Times New Roman"/>
              </a:rPr>
              <a:t>window</a:t>
            </a:r>
            <a:r>
              <a:rPr sz="1200" spc="-15" dirty="0">
                <a:latin typeface="Times New Roman"/>
                <a:cs typeface="Times New Roman"/>
              </a:rPr>
              <a:t> </a:t>
            </a:r>
            <a:r>
              <a:rPr sz="1200" dirty="0">
                <a:latin typeface="Times New Roman"/>
                <a:cs typeface="Times New Roman"/>
              </a:rPr>
              <a:t>consisting</a:t>
            </a:r>
            <a:r>
              <a:rPr sz="1200" spc="-4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set</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registers</a:t>
            </a:r>
            <a:r>
              <a:rPr sz="1200" spc="-20" dirty="0">
                <a:latin typeface="Times New Roman"/>
                <a:cs typeface="Times New Roman"/>
              </a:rPr>
              <a:t> </a:t>
            </a:r>
            <a:r>
              <a:rPr sz="1200" dirty="0">
                <a:latin typeface="Times New Roman"/>
                <a:cs typeface="Times New Roman"/>
              </a:rPr>
              <a:t>from</a:t>
            </a:r>
            <a:r>
              <a:rPr sz="1200" spc="-15" dirty="0">
                <a:latin typeface="Times New Roman"/>
                <a:cs typeface="Times New Roman"/>
              </a:rPr>
              <a:t> </a:t>
            </a:r>
            <a:r>
              <a:rPr sz="1200" spc="-25" dirty="0">
                <a:latin typeface="Times New Roman"/>
                <a:cs typeface="Times New Roman"/>
              </a:rPr>
              <a:t>the </a:t>
            </a:r>
            <a:r>
              <a:rPr sz="1200" dirty="0">
                <a:latin typeface="Times New Roman"/>
                <a:cs typeface="Times New Roman"/>
              </a:rPr>
              <a:t>register</a:t>
            </a:r>
            <a:r>
              <a:rPr sz="1200" spc="-20" dirty="0">
                <a:latin typeface="Times New Roman"/>
                <a:cs typeface="Times New Roman"/>
              </a:rPr>
              <a:t> </a:t>
            </a:r>
            <a:r>
              <a:rPr sz="1200" dirty="0">
                <a:latin typeface="Times New Roman"/>
                <a:cs typeface="Times New Roman"/>
              </a:rPr>
              <a:t>file</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use</a:t>
            </a:r>
            <a:r>
              <a:rPr sz="1200" spc="-2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new</a:t>
            </a:r>
            <a:r>
              <a:rPr sz="1200" spc="-15" dirty="0">
                <a:latin typeface="Times New Roman"/>
                <a:cs typeface="Times New Roman"/>
              </a:rPr>
              <a:t> </a:t>
            </a:r>
            <a:r>
              <a:rPr sz="1200" spc="-10" dirty="0">
                <a:latin typeface="Times New Roman"/>
                <a:cs typeface="Times New Roman"/>
              </a:rPr>
              <a:t>procedure.</a:t>
            </a:r>
            <a:endParaRPr sz="1200">
              <a:latin typeface="Times New Roman"/>
              <a:cs typeface="Times New Roman"/>
            </a:endParaRPr>
          </a:p>
          <a:p>
            <a:pPr marL="665480" lvl="1" indent="-174625">
              <a:lnSpc>
                <a:spcPts val="1370"/>
              </a:lnSpc>
              <a:spcBef>
                <a:spcPts val="430"/>
              </a:spcBef>
              <a:buClr>
                <a:srgbClr val="3E762B"/>
              </a:buClr>
              <a:buFont typeface="Arial MT"/>
              <a:buChar char="•"/>
              <a:tabLst>
                <a:tab pos="665480" algn="l"/>
              </a:tabLst>
            </a:pPr>
            <a:r>
              <a:rPr sz="1200" dirty="0">
                <a:latin typeface="Times New Roman"/>
                <a:cs typeface="Times New Roman"/>
              </a:rPr>
              <a:t>Increments</a:t>
            </a:r>
            <a:r>
              <a:rPr sz="1200" spc="-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pointer,</a:t>
            </a:r>
            <a:r>
              <a:rPr sz="1200" spc="-35" dirty="0">
                <a:latin typeface="Times New Roman"/>
                <a:cs typeface="Times New Roman"/>
              </a:rPr>
              <a:t> </a:t>
            </a:r>
            <a:r>
              <a:rPr sz="1200" dirty="0">
                <a:latin typeface="Times New Roman"/>
                <a:cs typeface="Times New Roman"/>
              </a:rPr>
              <a:t>while</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return</a:t>
            </a:r>
            <a:r>
              <a:rPr sz="1200" spc="-35" dirty="0">
                <a:latin typeface="Times New Roman"/>
                <a:cs typeface="Times New Roman"/>
              </a:rPr>
              <a:t> </a:t>
            </a:r>
            <a:r>
              <a:rPr sz="1200" dirty="0">
                <a:latin typeface="Times New Roman"/>
                <a:cs typeface="Times New Roman"/>
              </a:rPr>
              <a:t>statement</a:t>
            </a:r>
            <a:r>
              <a:rPr sz="1200" spc="-45" dirty="0">
                <a:latin typeface="Times New Roman"/>
                <a:cs typeface="Times New Roman"/>
              </a:rPr>
              <a:t> </a:t>
            </a:r>
            <a:r>
              <a:rPr sz="1200" dirty="0">
                <a:latin typeface="Times New Roman"/>
                <a:cs typeface="Times New Roman"/>
              </a:rPr>
              <a:t>decrements</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pointer</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causes</a:t>
            </a:r>
            <a:endParaRPr sz="1200">
              <a:latin typeface="Times New Roman"/>
              <a:cs typeface="Times New Roman"/>
            </a:endParaRPr>
          </a:p>
          <a:p>
            <a:pPr marL="664845">
              <a:lnSpc>
                <a:spcPts val="1370"/>
              </a:lnSpc>
            </a:pPr>
            <a:r>
              <a:rPr sz="1200" dirty="0">
                <a:latin typeface="Times New Roman"/>
                <a:cs typeface="Times New Roman"/>
              </a:rPr>
              <a:t>the</a:t>
            </a:r>
            <a:r>
              <a:rPr sz="1200" spc="-10" dirty="0">
                <a:latin typeface="Times New Roman"/>
                <a:cs typeface="Times New Roman"/>
              </a:rPr>
              <a:t> activation</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previous </a:t>
            </a:r>
            <a:r>
              <a:rPr sz="1200" spc="-10" dirty="0">
                <a:latin typeface="Times New Roman"/>
                <a:cs typeface="Times New Roman"/>
              </a:rPr>
              <a:t>window.</a:t>
            </a:r>
            <a:endParaRPr sz="1200">
              <a:latin typeface="Times New Roman"/>
              <a:cs typeface="Times New Roman"/>
            </a:endParaRPr>
          </a:p>
          <a:p>
            <a:pPr>
              <a:lnSpc>
                <a:spcPct val="100000"/>
              </a:lnSpc>
              <a:spcBef>
                <a:spcPts val="380"/>
              </a:spcBef>
            </a:pPr>
            <a:endParaRPr sz="1200">
              <a:latin typeface="Times New Roman"/>
              <a:cs typeface="Times New Roman"/>
            </a:endParaRPr>
          </a:p>
          <a:p>
            <a:pPr marL="434975" marR="554990" indent="-172720">
              <a:lnSpc>
                <a:spcPts val="1300"/>
              </a:lnSpc>
              <a:buClr>
                <a:srgbClr val="3E762B"/>
              </a:buClr>
              <a:buFont typeface="Wingdings"/>
              <a:buChar char=""/>
              <a:tabLst>
                <a:tab pos="436245" algn="l"/>
              </a:tabLst>
            </a:pPr>
            <a:r>
              <a:rPr sz="1200" dirty="0">
                <a:latin typeface="Times New Roman"/>
                <a:cs typeface="Times New Roman"/>
              </a:rPr>
              <a:t>Windows</a:t>
            </a:r>
            <a:r>
              <a:rPr sz="1200" spc="-55"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dirty="0">
                <a:latin typeface="Times New Roman"/>
                <a:cs typeface="Times New Roman"/>
              </a:rPr>
              <a:t>adjacent</a:t>
            </a:r>
            <a:r>
              <a:rPr sz="1200" spc="-40" dirty="0">
                <a:latin typeface="Times New Roman"/>
                <a:cs typeface="Times New Roman"/>
              </a:rPr>
              <a:t> </a:t>
            </a:r>
            <a:r>
              <a:rPr sz="1200" dirty="0">
                <a:latin typeface="Times New Roman"/>
                <a:cs typeface="Times New Roman"/>
              </a:rPr>
              <a:t>procedures</a:t>
            </a:r>
            <a:r>
              <a:rPr sz="1200" spc="-25" dirty="0">
                <a:latin typeface="Times New Roman"/>
                <a:cs typeface="Times New Roman"/>
              </a:rPr>
              <a:t> </a:t>
            </a:r>
            <a:r>
              <a:rPr sz="1200" dirty="0">
                <a:latin typeface="Times New Roman"/>
                <a:cs typeface="Times New Roman"/>
              </a:rPr>
              <a:t>have</a:t>
            </a:r>
            <a:r>
              <a:rPr sz="1200" spc="-40" dirty="0">
                <a:latin typeface="Times New Roman"/>
                <a:cs typeface="Times New Roman"/>
              </a:rPr>
              <a:t> </a:t>
            </a:r>
            <a:r>
              <a:rPr sz="1200" b="1" dirty="0">
                <a:latin typeface="Times New Roman"/>
                <a:cs typeface="Times New Roman"/>
              </a:rPr>
              <a:t>overlapping</a:t>
            </a:r>
            <a:r>
              <a:rPr sz="1200" b="1" spc="-55" dirty="0">
                <a:latin typeface="Times New Roman"/>
                <a:cs typeface="Times New Roman"/>
              </a:rPr>
              <a:t> </a:t>
            </a:r>
            <a:r>
              <a:rPr sz="1200" b="1" dirty="0">
                <a:latin typeface="Times New Roman"/>
                <a:cs typeface="Times New Roman"/>
              </a:rPr>
              <a:t>registers</a:t>
            </a:r>
            <a:r>
              <a:rPr sz="1200" b="1" spc="-15" dirty="0">
                <a:latin typeface="Times New Roman"/>
                <a:cs typeface="Times New Roman"/>
              </a:rPr>
              <a:t> </a:t>
            </a:r>
            <a:r>
              <a:rPr sz="1200" dirty="0">
                <a:latin typeface="Times New Roman"/>
                <a:cs typeface="Times New Roman"/>
              </a:rPr>
              <a:t>that</a:t>
            </a:r>
            <a:r>
              <a:rPr sz="1200" spc="-55" dirty="0">
                <a:latin typeface="Times New Roman"/>
                <a:cs typeface="Times New Roman"/>
              </a:rPr>
              <a:t> </a:t>
            </a:r>
            <a:r>
              <a:rPr sz="1200" dirty="0">
                <a:latin typeface="Times New Roman"/>
                <a:cs typeface="Times New Roman"/>
              </a:rPr>
              <a:t>are</a:t>
            </a:r>
            <a:r>
              <a:rPr sz="1200" spc="-40" dirty="0">
                <a:latin typeface="Times New Roman"/>
                <a:cs typeface="Times New Roman"/>
              </a:rPr>
              <a:t> </a:t>
            </a:r>
            <a:r>
              <a:rPr sz="1200" dirty="0">
                <a:latin typeface="Times New Roman"/>
                <a:cs typeface="Times New Roman"/>
              </a:rPr>
              <a:t>shared</a:t>
            </a:r>
            <a:r>
              <a:rPr sz="1200" spc="-35" dirty="0">
                <a:latin typeface="Times New Roman"/>
                <a:cs typeface="Times New Roman"/>
              </a:rPr>
              <a:t> </a:t>
            </a:r>
            <a:r>
              <a:rPr sz="1200" spc="-25" dirty="0">
                <a:latin typeface="Times New Roman"/>
                <a:cs typeface="Times New Roman"/>
              </a:rPr>
              <a:t>to 	</a:t>
            </a:r>
            <a:r>
              <a:rPr sz="1200" dirty="0">
                <a:latin typeface="Times New Roman"/>
                <a:cs typeface="Times New Roman"/>
              </a:rPr>
              <a:t>provide</a:t>
            </a:r>
            <a:r>
              <a:rPr sz="1200" spc="-35"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dirty="0">
                <a:latin typeface="Times New Roman"/>
                <a:cs typeface="Times New Roman"/>
              </a:rPr>
              <a:t>passing</a:t>
            </a:r>
            <a:r>
              <a:rPr sz="1200" b="1" spc="-40" dirty="0">
                <a:latin typeface="Times New Roman"/>
                <a:cs typeface="Times New Roman"/>
              </a:rPr>
              <a:t> </a:t>
            </a:r>
            <a:r>
              <a:rPr sz="1200" b="1" dirty="0">
                <a:latin typeface="Times New Roman"/>
                <a:cs typeface="Times New Roman"/>
              </a:rPr>
              <a:t>of</a:t>
            </a:r>
            <a:r>
              <a:rPr sz="1200" b="1" spc="-30" dirty="0">
                <a:latin typeface="Times New Roman"/>
                <a:cs typeface="Times New Roman"/>
              </a:rPr>
              <a:t> </a:t>
            </a:r>
            <a:r>
              <a:rPr sz="1200" b="1" dirty="0">
                <a:latin typeface="Times New Roman"/>
                <a:cs typeface="Times New Roman"/>
              </a:rPr>
              <a:t>parameters</a:t>
            </a:r>
            <a:r>
              <a:rPr sz="1200" b="1" spc="5"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spc="-10" dirty="0">
                <a:latin typeface="Times New Roman"/>
                <a:cs typeface="Times New Roman"/>
              </a:rPr>
              <a:t>results</a:t>
            </a:r>
            <a:r>
              <a:rPr sz="1200" spc="-10" dirty="0">
                <a:latin typeface="Times New Roman"/>
                <a:cs typeface="Times New Roman"/>
              </a:rPr>
              <a:t>.</a:t>
            </a:r>
            <a:endParaRPr sz="12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Overlapped</a:t>
            </a:r>
            <a:r>
              <a:rPr sz="2200" spc="-80" dirty="0">
                <a:latin typeface="Georgia"/>
                <a:cs typeface="Georgia"/>
              </a:rPr>
              <a:t> </a:t>
            </a:r>
            <a:r>
              <a:rPr sz="2200" dirty="0">
                <a:latin typeface="Georgia"/>
                <a:cs typeface="Georgia"/>
              </a:rPr>
              <a:t>Register</a:t>
            </a:r>
            <a:r>
              <a:rPr sz="2200" spc="-65" dirty="0">
                <a:latin typeface="Georgia"/>
                <a:cs typeface="Georgia"/>
              </a:rPr>
              <a:t> </a:t>
            </a:r>
            <a:r>
              <a:rPr sz="2200" spc="-10" dirty="0">
                <a:latin typeface="Georgia"/>
                <a:cs typeface="Georgia"/>
              </a:rPr>
              <a:t>Windows</a:t>
            </a:r>
            <a:endParaRPr sz="2200">
              <a:latin typeface="Georgia"/>
              <a:cs typeface="Georgia"/>
            </a:endParaRPr>
          </a:p>
          <a:p>
            <a:pPr marL="434975" indent="-172720">
              <a:lnSpc>
                <a:spcPct val="100000"/>
              </a:lnSpc>
              <a:spcBef>
                <a:spcPts val="1755"/>
              </a:spcBef>
              <a:buClr>
                <a:srgbClr val="3E762B"/>
              </a:buClr>
              <a:buFont typeface="Wingdings"/>
              <a:buChar char=""/>
              <a:tabLst>
                <a:tab pos="434975" algn="l"/>
              </a:tabLst>
            </a:pP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general, the</a:t>
            </a:r>
            <a:r>
              <a:rPr sz="1200" spc="-25" dirty="0">
                <a:latin typeface="Times New Roman"/>
                <a:cs typeface="Times New Roman"/>
              </a:rPr>
              <a:t> </a:t>
            </a:r>
            <a:r>
              <a:rPr sz="1200" spc="-10" dirty="0">
                <a:latin typeface="Times New Roman"/>
                <a:cs typeface="Times New Roman"/>
              </a:rPr>
              <a:t>organization</a:t>
            </a:r>
            <a:r>
              <a:rPr sz="1200" spc="-2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register</a:t>
            </a:r>
            <a:r>
              <a:rPr sz="1200" spc="-5" dirty="0">
                <a:latin typeface="Times New Roman"/>
                <a:cs typeface="Times New Roman"/>
              </a:rPr>
              <a:t> </a:t>
            </a:r>
            <a:r>
              <a:rPr sz="1200" dirty="0">
                <a:latin typeface="Times New Roman"/>
                <a:cs typeface="Times New Roman"/>
              </a:rPr>
              <a:t>windows</a:t>
            </a:r>
            <a:r>
              <a:rPr sz="1200" spc="-25" dirty="0">
                <a:latin typeface="Times New Roman"/>
                <a:cs typeface="Times New Roman"/>
              </a:rPr>
              <a:t> </a:t>
            </a:r>
            <a:r>
              <a:rPr sz="1200" dirty="0">
                <a:latin typeface="Times New Roman"/>
                <a:cs typeface="Times New Roman"/>
              </a:rPr>
              <a:t>has</a:t>
            </a:r>
            <a:r>
              <a:rPr sz="1200" spc="-1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following</a:t>
            </a:r>
            <a:r>
              <a:rPr sz="1200" spc="-35" dirty="0">
                <a:latin typeface="Times New Roman"/>
                <a:cs typeface="Times New Roman"/>
              </a:rPr>
              <a:t> </a:t>
            </a:r>
            <a:r>
              <a:rPr sz="1200" spc="-10" dirty="0">
                <a:latin typeface="Times New Roman"/>
                <a:cs typeface="Times New Roman"/>
              </a:rPr>
              <a:t>relationships:</a:t>
            </a:r>
            <a:endParaRPr sz="1200">
              <a:latin typeface="Times New Roman"/>
              <a:cs typeface="Times New Roman"/>
            </a:endParaRPr>
          </a:p>
          <a:p>
            <a:pPr marL="774065" lvl="1" indent="-165735">
              <a:lnSpc>
                <a:spcPct val="100000"/>
              </a:lnSpc>
              <a:spcBef>
                <a:spcPts val="520"/>
              </a:spcBef>
              <a:buClr>
                <a:srgbClr val="3E762B"/>
              </a:buClr>
              <a:buFont typeface="Wingdings"/>
              <a:buChar char=""/>
              <a:tabLst>
                <a:tab pos="774065" algn="l"/>
              </a:tabLst>
            </a:pPr>
            <a:r>
              <a:rPr sz="1150" dirty="0">
                <a:latin typeface="Times New Roman"/>
                <a:cs typeface="Times New Roman"/>
              </a:rPr>
              <a:t>number</a:t>
            </a:r>
            <a:r>
              <a:rPr sz="1150" spc="-45" dirty="0">
                <a:latin typeface="Times New Roman"/>
                <a:cs typeface="Times New Roman"/>
              </a:rPr>
              <a:t> </a:t>
            </a:r>
            <a:r>
              <a:rPr sz="1150" dirty="0">
                <a:latin typeface="Times New Roman"/>
                <a:cs typeface="Times New Roman"/>
              </a:rPr>
              <a:t>of</a:t>
            </a:r>
            <a:r>
              <a:rPr sz="1150" spc="-40" dirty="0">
                <a:latin typeface="Times New Roman"/>
                <a:cs typeface="Times New Roman"/>
              </a:rPr>
              <a:t> </a:t>
            </a:r>
            <a:r>
              <a:rPr sz="1150" dirty="0">
                <a:latin typeface="Times New Roman"/>
                <a:cs typeface="Times New Roman"/>
              </a:rPr>
              <a:t>global</a:t>
            </a:r>
            <a:r>
              <a:rPr sz="1150" spc="-30" dirty="0">
                <a:latin typeface="Times New Roman"/>
                <a:cs typeface="Times New Roman"/>
              </a:rPr>
              <a:t> </a:t>
            </a:r>
            <a:r>
              <a:rPr sz="1150" dirty="0">
                <a:latin typeface="Times New Roman"/>
                <a:cs typeface="Times New Roman"/>
              </a:rPr>
              <a:t>registers</a:t>
            </a:r>
            <a:r>
              <a:rPr sz="1150" spc="-35" dirty="0">
                <a:latin typeface="Times New Roman"/>
                <a:cs typeface="Times New Roman"/>
              </a:rPr>
              <a:t> </a:t>
            </a:r>
            <a:r>
              <a:rPr sz="1150" dirty="0">
                <a:latin typeface="Times New Roman"/>
                <a:cs typeface="Times New Roman"/>
              </a:rPr>
              <a:t>=</a:t>
            </a:r>
            <a:r>
              <a:rPr sz="1150" spc="-25" dirty="0">
                <a:latin typeface="Times New Roman"/>
                <a:cs typeface="Times New Roman"/>
              </a:rPr>
              <a:t> </a:t>
            </a:r>
            <a:r>
              <a:rPr sz="1150" spc="-50" dirty="0">
                <a:latin typeface="Times New Roman"/>
                <a:cs typeface="Times New Roman"/>
              </a:rPr>
              <a:t>G</a:t>
            </a:r>
            <a:endParaRPr sz="1150">
              <a:latin typeface="Times New Roman"/>
              <a:cs typeface="Times New Roman"/>
            </a:endParaRPr>
          </a:p>
          <a:p>
            <a:pPr marL="774065" lvl="1" indent="-165735">
              <a:lnSpc>
                <a:spcPct val="100000"/>
              </a:lnSpc>
              <a:spcBef>
                <a:spcPts val="165"/>
              </a:spcBef>
              <a:buClr>
                <a:srgbClr val="3E762B"/>
              </a:buClr>
              <a:buFont typeface="Wingdings"/>
              <a:buChar char=""/>
              <a:tabLst>
                <a:tab pos="774065" algn="l"/>
              </a:tabLst>
            </a:pPr>
            <a:r>
              <a:rPr sz="1150" dirty="0">
                <a:latin typeface="Times New Roman"/>
                <a:cs typeface="Times New Roman"/>
              </a:rPr>
              <a:t>number</a:t>
            </a:r>
            <a:r>
              <a:rPr sz="1150" spc="-40" dirty="0">
                <a:latin typeface="Times New Roman"/>
                <a:cs typeface="Times New Roman"/>
              </a:rPr>
              <a:t> </a:t>
            </a:r>
            <a:r>
              <a:rPr sz="1150" dirty="0">
                <a:latin typeface="Times New Roman"/>
                <a:cs typeface="Times New Roman"/>
              </a:rPr>
              <a:t>of</a:t>
            </a:r>
            <a:r>
              <a:rPr sz="1150" spc="-35" dirty="0">
                <a:latin typeface="Times New Roman"/>
                <a:cs typeface="Times New Roman"/>
              </a:rPr>
              <a:t> </a:t>
            </a:r>
            <a:r>
              <a:rPr sz="1150" dirty="0">
                <a:latin typeface="Times New Roman"/>
                <a:cs typeface="Times New Roman"/>
              </a:rPr>
              <a:t>local</a:t>
            </a:r>
            <a:r>
              <a:rPr sz="1150" spc="-30" dirty="0">
                <a:latin typeface="Times New Roman"/>
                <a:cs typeface="Times New Roman"/>
              </a:rPr>
              <a:t> </a:t>
            </a:r>
            <a:r>
              <a:rPr sz="1150" dirty="0">
                <a:latin typeface="Times New Roman"/>
                <a:cs typeface="Times New Roman"/>
              </a:rPr>
              <a:t>registers</a:t>
            </a:r>
            <a:r>
              <a:rPr sz="1150" spc="-30" dirty="0">
                <a:latin typeface="Times New Roman"/>
                <a:cs typeface="Times New Roman"/>
              </a:rPr>
              <a:t> </a:t>
            </a:r>
            <a:r>
              <a:rPr sz="1150" dirty="0">
                <a:latin typeface="Times New Roman"/>
                <a:cs typeface="Times New Roman"/>
              </a:rPr>
              <a:t>in</a:t>
            </a:r>
            <a:r>
              <a:rPr sz="1150" spc="-35" dirty="0">
                <a:latin typeface="Times New Roman"/>
                <a:cs typeface="Times New Roman"/>
              </a:rPr>
              <a:t> </a:t>
            </a:r>
            <a:r>
              <a:rPr sz="1150" dirty="0">
                <a:latin typeface="Times New Roman"/>
                <a:cs typeface="Times New Roman"/>
              </a:rPr>
              <a:t>each</a:t>
            </a:r>
            <a:r>
              <a:rPr sz="1150" spc="-35" dirty="0">
                <a:latin typeface="Times New Roman"/>
                <a:cs typeface="Times New Roman"/>
              </a:rPr>
              <a:t> </a:t>
            </a:r>
            <a:r>
              <a:rPr sz="1150" dirty="0">
                <a:latin typeface="Times New Roman"/>
                <a:cs typeface="Times New Roman"/>
              </a:rPr>
              <a:t>window</a:t>
            </a:r>
            <a:r>
              <a:rPr sz="1150" spc="-30" dirty="0">
                <a:latin typeface="Times New Roman"/>
                <a:cs typeface="Times New Roman"/>
              </a:rPr>
              <a:t> </a:t>
            </a:r>
            <a:r>
              <a:rPr sz="1150" dirty="0">
                <a:latin typeface="Times New Roman"/>
                <a:cs typeface="Times New Roman"/>
              </a:rPr>
              <a:t>=</a:t>
            </a:r>
            <a:r>
              <a:rPr sz="1150" spc="-20" dirty="0">
                <a:latin typeface="Times New Roman"/>
                <a:cs typeface="Times New Roman"/>
              </a:rPr>
              <a:t> </a:t>
            </a:r>
            <a:r>
              <a:rPr sz="1150" spc="-50" dirty="0">
                <a:latin typeface="Times New Roman"/>
                <a:cs typeface="Times New Roman"/>
              </a:rPr>
              <a:t>L</a:t>
            </a:r>
            <a:endParaRPr sz="1150">
              <a:latin typeface="Times New Roman"/>
              <a:cs typeface="Times New Roman"/>
            </a:endParaRPr>
          </a:p>
          <a:p>
            <a:pPr marL="774065" lvl="1" indent="-165735">
              <a:lnSpc>
                <a:spcPct val="100000"/>
              </a:lnSpc>
              <a:spcBef>
                <a:spcPts val="160"/>
              </a:spcBef>
              <a:buClr>
                <a:srgbClr val="3E762B"/>
              </a:buClr>
              <a:buFont typeface="Wingdings"/>
              <a:buChar char=""/>
              <a:tabLst>
                <a:tab pos="774065" algn="l"/>
              </a:tabLst>
            </a:pPr>
            <a:r>
              <a:rPr sz="1150" dirty="0">
                <a:latin typeface="Times New Roman"/>
                <a:cs typeface="Times New Roman"/>
              </a:rPr>
              <a:t>number</a:t>
            </a:r>
            <a:r>
              <a:rPr sz="1150" spc="-40" dirty="0">
                <a:latin typeface="Times New Roman"/>
                <a:cs typeface="Times New Roman"/>
              </a:rPr>
              <a:t> </a:t>
            </a:r>
            <a:r>
              <a:rPr sz="1150" dirty="0">
                <a:latin typeface="Times New Roman"/>
                <a:cs typeface="Times New Roman"/>
              </a:rPr>
              <a:t>of</a:t>
            </a:r>
            <a:r>
              <a:rPr sz="1150" spc="-35" dirty="0">
                <a:latin typeface="Times New Roman"/>
                <a:cs typeface="Times New Roman"/>
              </a:rPr>
              <a:t> </a:t>
            </a:r>
            <a:r>
              <a:rPr sz="1150" dirty="0">
                <a:latin typeface="Times New Roman"/>
                <a:cs typeface="Times New Roman"/>
              </a:rPr>
              <a:t>registers</a:t>
            </a:r>
            <a:r>
              <a:rPr sz="1150" spc="-30" dirty="0">
                <a:latin typeface="Times New Roman"/>
                <a:cs typeface="Times New Roman"/>
              </a:rPr>
              <a:t> </a:t>
            </a:r>
            <a:r>
              <a:rPr sz="1150" dirty="0">
                <a:latin typeface="Times New Roman"/>
                <a:cs typeface="Times New Roman"/>
              </a:rPr>
              <a:t>common</a:t>
            </a:r>
            <a:r>
              <a:rPr sz="1150" spc="-35" dirty="0">
                <a:latin typeface="Times New Roman"/>
                <a:cs typeface="Times New Roman"/>
              </a:rPr>
              <a:t> </a:t>
            </a:r>
            <a:r>
              <a:rPr sz="1150" dirty="0">
                <a:latin typeface="Times New Roman"/>
                <a:cs typeface="Times New Roman"/>
              </a:rPr>
              <a:t>to</a:t>
            </a:r>
            <a:r>
              <a:rPr sz="1150" spc="-40" dirty="0">
                <a:latin typeface="Times New Roman"/>
                <a:cs typeface="Times New Roman"/>
              </a:rPr>
              <a:t> </a:t>
            </a:r>
            <a:r>
              <a:rPr sz="1150" dirty="0">
                <a:latin typeface="Times New Roman"/>
                <a:cs typeface="Times New Roman"/>
              </a:rPr>
              <a:t>two</a:t>
            </a:r>
            <a:r>
              <a:rPr sz="1150" spc="-20" dirty="0">
                <a:latin typeface="Times New Roman"/>
                <a:cs typeface="Times New Roman"/>
              </a:rPr>
              <a:t> </a:t>
            </a:r>
            <a:r>
              <a:rPr sz="1150" dirty="0">
                <a:latin typeface="Times New Roman"/>
                <a:cs typeface="Times New Roman"/>
              </a:rPr>
              <a:t>windows</a:t>
            </a:r>
            <a:r>
              <a:rPr sz="1150" spc="-30" dirty="0">
                <a:latin typeface="Times New Roman"/>
                <a:cs typeface="Times New Roman"/>
              </a:rPr>
              <a:t> </a:t>
            </a:r>
            <a:r>
              <a:rPr sz="1150" dirty="0">
                <a:latin typeface="Times New Roman"/>
                <a:cs typeface="Times New Roman"/>
              </a:rPr>
              <a:t>=</a:t>
            </a:r>
            <a:r>
              <a:rPr sz="1150" spc="-20" dirty="0">
                <a:latin typeface="Times New Roman"/>
                <a:cs typeface="Times New Roman"/>
              </a:rPr>
              <a:t> </a:t>
            </a:r>
            <a:r>
              <a:rPr sz="1150" spc="-50" dirty="0">
                <a:latin typeface="Times New Roman"/>
                <a:cs typeface="Times New Roman"/>
              </a:rPr>
              <a:t>C</a:t>
            </a:r>
            <a:endParaRPr sz="1150">
              <a:latin typeface="Times New Roman"/>
              <a:cs typeface="Times New Roman"/>
            </a:endParaRPr>
          </a:p>
          <a:p>
            <a:pPr marL="774065" lvl="1" indent="-165735">
              <a:lnSpc>
                <a:spcPct val="100000"/>
              </a:lnSpc>
              <a:spcBef>
                <a:spcPts val="165"/>
              </a:spcBef>
              <a:buClr>
                <a:srgbClr val="3E762B"/>
              </a:buClr>
              <a:buFont typeface="Wingdings"/>
              <a:buChar char=""/>
              <a:tabLst>
                <a:tab pos="774065" algn="l"/>
              </a:tabLst>
            </a:pPr>
            <a:r>
              <a:rPr sz="1150" dirty="0">
                <a:latin typeface="Times New Roman"/>
                <a:cs typeface="Times New Roman"/>
              </a:rPr>
              <a:t>number</a:t>
            </a:r>
            <a:r>
              <a:rPr sz="1150" spc="-35" dirty="0">
                <a:latin typeface="Times New Roman"/>
                <a:cs typeface="Times New Roman"/>
              </a:rPr>
              <a:t> </a:t>
            </a:r>
            <a:r>
              <a:rPr sz="1150" dirty="0">
                <a:latin typeface="Times New Roman"/>
                <a:cs typeface="Times New Roman"/>
              </a:rPr>
              <a:t>of</a:t>
            </a:r>
            <a:r>
              <a:rPr sz="1150" spc="-35" dirty="0">
                <a:latin typeface="Times New Roman"/>
                <a:cs typeface="Times New Roman"/>
              </a:rPr>
              <a:t> </a:t>
            </a:r>
            <a:r>
              <a:rPr sz="1150" dirty="0">
                <a:latin typeface="Times New Roman"/>
                <a:cs typeface="Times New Roman"/>
              </a:rPr>
              <a:t>windows</a:t>
            </a:r>
            <a:r>
              <a:rPr sz="1150" spc="-15" dirty="0">
                <a:latin typeface="Times New Roman"/>
                <a:cs typeface="Times New Roman"/>
              </a:rPr>
              <a:t> </a:t>
            </a:r>
            <a:r>
              <a:rPr sz="1150" dirty="0">
                <a:latin typeface="Times New Roman"/>
                <a:cs typeface="Times New Roman"/>
              </a:rPr>
              <a:t>=</a:t>
            </a:r>
            <a:r>
              <a:rPr sz="1150" spc="-40" dirty="0">
                <a:latin typeface="Times New Roman"/>
                <a:cs typeface="Times New Roman"/>
              </a:rPr>
              <a:t> </a:t>
            </a:r>
            <a:r>
              <a:rPr sz="1150" spc="-50" dirty="0">
                <a:latin typeface="Times New Roman"/>
                <a:cs typeface="Times New Roman"/>
              </a:rPr>
              <a:t>W</a:t>
            </a:r>
            <a:endParaRPr sz="1150">
              <a:latin typeface="Times New Roman"/>
              <a:cs typeface="Times New Roman"/>
            </a:endParaRPr>
          </a:p>
          <a:p>
            <a:pPr lvl="1">
              <a:lnSpc>
                <a:spcPct val="100000"/>
              </a:lnSpc>
              <a:spcBef>
                <a:spcPts val="80"/>
              </a:spcBef>
              <a:buClr>
                <a:srgbClr val="3E762B"/>
              </a:buClr>
              <a:buFont typeface="Wingdings"/>
              <a:buChar char=""/>
            </a:pPr>
            <a:endParaRPr sz="1150">
              <a:latin typeface="Times New Roman"/>
              <a:cs typeface="Times New Roman"/>
            </a:endParaRPr>
          </a:p>
          <a:p>
            <a:pPr marL="171450" marR="22860" indent="-171450" algn="ctr">
              <a:lnSpc>
                <a:spcPct val="100000"/>
              </a:lnSpc>
              <a:buClr>
                <a:srgbClr val="3E762B"/>
              </a:buClr>
              <a:buFont typeface="Wingdings"/>
              <a:buChar char=""/>
              <a:tabLst>
                <a:tab pos="171450" algn="l"/>
              </a:tabLst>
            </a:pPr>
            <a:r>
              <a:rPr sz="1150" dirty="0">
                <a:latin typeface="Times New Roman"/>
                <a:cs typeface="Times New Roman"/>
              </a:rPr>
              <a:t>The</a:t>
            </a:r>
            <a:r>
              <a:rPr sz="1150" spc="-25" dirty="0">
                <a:latin typeface="Times New Roman"/>
                <a:cs typeface="Times New Roman"/>
              </a:rPr>
              <a:t> </a:t>
            </a:r>
            <a:r>
              <a:rPr sz="1150" dirty="0">
                <a:latin typeface="Times New Roman"/>
                <a:cs typeface="Times New Roman"/>
              </a:rPr>
              <a:t>number</a:t>
            </a:r>
            <a:r>
              <a:rPr sz="1150" spc="-25" dirty="0">
                <a:latin typeface="Times New Roman"/>
                <a:cs typeface="Times New Roman"/>
              </a:rPr>
              <a:t> </a:t>
            </a:r>
            <a:r>
              <a:rPr sz="1150" dirty="0">
                <a:latin typeface="Times New Roman"/>
                <a:cs typeface="Times New Roman"/>
              </a:rPr>
              <a:t>of</a:t>
            </a:r>
            <a:r>
              <a:rPr sz="1150" spc="-30" dirty="0">
                <a:latin typeface="Times New Roman"/>
                <a:cs typeface="Times New Roman"/>
              </a:rPr>
              <a:t> </a:t>
            </a:r>
            <a:r>
              <a:rPr sz="1150" dirty="0">
                <a:latin typeface="Times New Roman"/>
                <a:cs typeface="Times New Roman"/>
              </a:rPr>
              <a:t>registers</a:t>
            </a:r>
            <a:r>
              <a:rPr sz="1150" spc="-15" dirty="0">
                <a:latin typeface="Times New Roman"/>
                <a:cs typeface="Times New Roman"/>
              </a:rPr>
              <a:t> </a:t>
            </a:r>
            <a:r>
              <a:rPr sz="1150" dirty="0">
                <a:latin typeface="Times New Roman"/>
                <a:cs typeface="Times New Roman"/>
              </a:rPr>
              <a:t>available</a:t>
            </a:r>
            <a:r>
              <a:rPr sz="1150" spc="-20" dirty="0">
                <a:latin typeface="Times New Roman"/>
                <a:cs typeface="Times New Roman"/>
              </a:rPr>
              <a:t> </a:t>
            </a:r>
            <a:r>
              <a:rPr sz="1150" dirty="0">
                <a:latin typeface="Times New Roman"/>
                <a:cs typeface="Times New Roman"/>
              </a:rPr>
              <a:t>for</a:t>
            </a:r>
            <a:r>
              <a:rPr sz="1150" spc="-15" dirty="0">
                <a:latin typeface="Times New Roman"/>
                <a:cs typeface="Times New Roman"/>
              </a:rPr>
              <a:t> </a:t>
            </a:r>
            <a:r>
              <a:rPr sz="1150" dirty="0">
                <a:latin typeface="Times New Roman"/>
                <a:cs typeface="Times New Roman"/>
              </a:rPr>
              <a:t>each</a:t>
            </a:r>
            <a:r>
              <a:rPr sz="1150" spc="-25" dirty="0">
                <a:latin typeface="Times New Roman"/>
                <a:cs typeface="Times New Roman"/>
              </a:rPr>
              <a:t> </a:t>
            </a:r>
            <a:r>
              <a:rPr sz="1150" dirty="0">
                <a:latin typeface="Times New Roman"/>
                <a:cs typeface="Times New Roman"/>
              </a:rPr>
              <a:t>window</a:t>
            </a:r>
            <a:r>
              <a:rPr sz="1150" spc="-15" dirty="0">
                <a:latin typeface="Times New Roman"/>
                <a:cs typeface="Times New Roman"/>
              </a:rPr>
              <a:t> </a:t>
            </a:r>
            <a:r>
              <a:rPr sz="1150" spc="-10" dirty="0">
                <a:latin typeface="Times New Roman"/>
                <a:cs typeface="Times New Roman"/>
              </a:rPr>
              <a:t>(procedure)</a:t>
            </a:r>
            <a:r>
              <a:rPr sz="1150" spc="-40" dirty="0">
                <a:latin typeface="Times New Roman"/>
                <a:cs typeface="Times New Roman"/>
              </a:rPr>
              <a:t> </a:t>
            </a:r>
            <a:r>
              <a:rPr sz="1150" dirty="0">
                <a:latin typeface="Times New Roman"/>
                <a:cs typeface="Times New Roman"/>
              </a:rPr>
              <a:t>is</a:t>
            </a:r>
            <a:r>
              <a:rPr sz="1150" spc="-15" dirty="0">
                <a:latin typeface="Times New Roman"/>
                <a:cs typeface="Times New Roman"/>
              </a:rPr>
              <a:t> </a:t>
            </a:r>
            <a:r>
              <a:rPr sz="1150" spc="-10" dirty="0">
                <a:latin typeface="Times New Roman"/>
                <a:cs typeface="Times New Roman"/>
              </a:rPr>
              <a:t>calculated</a:t>
            </a:r>
            <a:r>
              <a:rPr sz="1150" spc="-50" dirty="0">
                <a:latin typeface="Times New Roman"/>
                <a:cs typeface="Times New Roman"/>
              </a:rPr>
              <a:t> </a:t>
            </a:r>
            <a:r>
              <a:rPr sz="1150" dirty="0">
                <a:latin typeface="Times New Roman"/>
                <a:cs typeface="Times New Roman"/>
              </a:rPr>
              <a:t>as</a:t>
            </a:r>
            <a:r>
              <a:rPr sz="1150" spc="-20" dirty="0">
                <a:latin typeface="Times New Roman"/>
                <a:cs typeface="Times New Roman"/>
              </a:rPr>
              <a:t> </a:t>
            </a:r>
            <a:r>
              <a:rPr sz="1150" spc="-10" dirty="0">
                <a:latin typeface="Times New Roman"/>
                <a:cs typeface="Times New Roman"/>
              </a:rPr>
              <a:t>follows:</a:t>
            </a:r>
            <a:endParaRPr sz="1150">
              <a:latin typeface="Times New Roman"/>
              <a:cs typeface="Times New Roman"/>
            </a:endParaRPr>
          </a:p>
          <a:p>
            <a:pPr marR="2540" algn="ctr">
              <a:lnSpc>
                <a:spcPct val="100000"/>
              </a:lnSpc>
              <a:spcBef>
                <a:spcPts val="600"/>
              </a:spcBef>
            </a:pPr>
            <a:r>
              <a:rPr sz="1200" b="1" dirty="0">
                <a:solidFill>
                  <a:srgbClr val="2A4F1D"/>
                </a:solidFill>
                <a:latin typeface="Times New Roman"/>
                <a:cs typeface="Times New Roman"/>
              </a:rPr>
              <a:t>Window</a:t>
            </a:r>
            <a:r>
              <a:rPr sz="1200" b="1" spc="-20" dirty="0">
                <a:solidFill>
                  <a:srgbClr val="2A4F1D"/>
                </a:solidFill>
                <a:latin typeface="Times New Roman"/>
                <a:cs typeface="Times New Roman"/>
              </a:rPr>
              <a:t> </a:t>
            </a:r>
            <a:r>
              <a:rPr sz="1200" b="1" dirty="0">
                <a:solidFill>
                  <a:srgbClr val="2A4F1D"/>
                </a:solidFill>
                <a:latin typeface="Times New Roman"/>
                <a:cs typeface="Times New Roman"/>
              </a:rPr>
              <a:t>size</a:t>
            </a:r>
            <a:r>
              <a:rPr sz="1200" b="1" spc="-20" dirty="0">
                <a:solidFill>
                  <a:srgbClr val="2A4F1D"/>
                </a:solidFill>
                <a:latin typeface="Times New Roman"/>
                <a:cs typeface="Times New Roman"/>
              </a:rPr>
              <a:t> </a:t>
            </a:r>
            <a:r>
              <a:rPr sz="1200" b="1" dirty="0">
                <a:solidFill>
                  <a:srgbClr val="2A4F1D"/>
                </a:solidFill>
                <a:latin typeface="Times New Roman"/>
                <a:cs typeface="Times New Roman"/>
              </a:rPr>
              <a:t>=</a:t>
            </a:r>
            <a:r>
              <a:rPr sz="1200" b="1" spc="-10" dirty="0">
                <a:solidFill>
                  <a:srgbClr val="2A4F1D"/>
                </a:solidFill>
                <a:latin typeface="Times New Roman"/>
                <a:cs typeface="Times New Roman"/>
              </a:rPr>
              <a:t> </a:t>
            </a:r>
            <a:r>
              <a:rPr sz="1200" b="1" dirty="0">
                <a:solidFill>
                  <a:srgbClr val="2A4F1D"/>
                </a:solidFill>
                <a:latin typeface="Times New Roman"/>
                <a:cs typeface="Times New Roman"/>
              </a:rPr>
              <a:t>G</a:t>
            </a:r>
            <a:r>
              <a:rPr sz="1200" b="1" spc="-20" dirty="0">
                <a:solidFill>
                  <a:srgbClr val="2A4F1D"/>
                </a:solidFill>
                <a:latin typeface="Times New Roman"/>
                <a:cs typeface="Times New Roman"/>
              </a:rPr>
              <a:t> </a:t>
            </a:r>
            <a:r>
              <a:rPr sz="1200" b="1" dirty="0">
                <a:solidFill>
                  <a:srgbClr val="2A4F1D"/>
                </a:solidFill>
                <a:latin typeface="Times New Roman"/>
                <a:cs typeface="Times New Roman"/>
              </a:rPr>
              <a:t>+</a:t>
            </a:r>
            <a:r>
              <a:rPr sz="1200" b="1" spc="-10" dirty="0">
                <a:solidFill>
                  <a:srgbClr val="2A4F1D"/>
                </a:solidFill>
                <a:latin typeface="Times New Roman"/>
                <a:cs typeface="Times New Roman"/>
              </a:rPr>
              <a:t> </a:t>
            </a:r>
            <a:r>
              <a:rPr sz="1200" b="1" dirty="0">
                <a:solidFill>
                  <a:srgbClr val="2A4F1D"/>
                </a:solidFill>
                <a:latin typeface="Times New Roman"/>
                <a:cs typeface="Times New Roman"/>
              </a:rPr>
              <a:t>L</a:t>
            </a:r>
            <a:r>
              <a:rPr sz="1200" b="1" spc="-75" dirty="0">
                <a:solidFill>
                  <a:srgbClr val="2A4F1D"/>
                </a:solidFill>
                <a:latin typeface="Times New Roman"/>
                <a:cs typeface="Times New Roman"/>
              </a:rPr>
              <a:t> </a:t>
            </a:r>
            <a:r>
              <a:rPr sz="1200" b="1" dirty="0">
                <a:solidFill>
                  <a:srgbClr val="2A4F1D"/>
                </a:solidFill>
                <a:latin typeface="Times New Roman"/>
                <a:cs typeface="Times New Roman"/>
              </a:rPr>
              <a:t>+</a:t>
            </a:r>
            <a:r>
              <a:rPr sz="1200" b="1" spc="-10" dirty="0">
                <a:solidFill>
                  <a:srgbClr val="2A4F1D"/>
                </a:solidFill>
                <a:latin typeface="Times New Roman"/>
                <a:cs typeface="Times New Roman"/>
              </a:rPr>
              <a:t> </a:t>
            </a:r>
            <a:r>
              <a:rPr sz="1200" b="1" spc="-25" dirty="0">
                <a:solidFill>
                  <a:srgbClr val="2A4F1D"/>
                </a:solidFill>
                <a:latin typeface="Times New Roman"/>
                <a:cs typeface="Times New Roman"/>
              </a:rPr>
              <a:t>2C</a:t>
            </a:r>
            <a:endParaRPr sz="1200">
              <a:latin typeface="Times New Roman"/>
              <a:cs typeface="Times New Roman"/>
            </a:endParaRPr>
          </a:p>
          <a:p>
            <a:pPr>
              <a:lnSpc>
                <a:spcPct val="100000"/>
              </a:lnSpc>
              <a:spcBef>
                <a:spcPts val="120"/>
              </a:spcBef>
            </a:pPr>
            <a:endParaRPr sz="1200">
              <a:latin typeface="Times New Roman"/>
              <a:cs typeface="Times New Roman"/>
            </a:endParaRPr>
          </a:p>
          <a:p>
            <a:pPr marL="435609" indent="-171450">
              <a:lnSpc>
                <a:spcPct val="100000"/>
              </a:lnSpc>
              <a:buClr>
                <a:srgbClr val="3E762B"/>
              </a:buClr>
              <a:buFont typeface="Wingdings"/>
              <a:buChar char=""/>
              <a:tabLst>
                <a:tab pos="435609" algn="l"/>
              </a:tabLst>
            </a:pPr>
            <a:r>
              <a:rPr sz="1150" dirty="0">
                <a:latin typeface="Times New Roman"/>
                <a:cs typeface="Times New Roman"/>
              </a:rPr>
              <a:t>The</a:t>
            </a:r>
            <a:r>
              <a:rPr sz="1150" spc="-15" dirty="0">
                <a:latin typeface="Times New Roman"/>
                <a:cs typeface="Times New Roman"/>
              </a:rPr>
              <a:t> </a:t>
            </a:r>
            <a:r>
              <a:rPr sz="1150" dirty="0">
                <a:latin typeface="Times New Roman"/>
                <a:cs typeface="Times New Roman"/>
              </a:rPr>
              <a:t>total</a:t>
            </a:r>
            <a:r>
              <a:rPr sz="1150" spc="-25" dirty="0">
                <a:latin typeface="Times New Roman"/>
                <a:cs typeface="Times New Roman"/>
              </a:rPr>
              <a:t> </a:t>
            </a:r>
            <a:r>
              <a:rPr sz="1150" dirty="0">
                <a:latin typeface="Times New Roman"/>
                <a:cs typeface="Times New Roman"/>
              </a:rPr>
              <a:t>number</a:t>
            </a:r>
            <a:r>
              <a:rPr sz="1150" spc="-20" dirty="0">
                <a:latin typeface="Times New Roman"/>
                <a:cs typeface="Times New Roman"/>
              </a:rPr>
              <a:t> </a:t>
            </a:r>
            <a:r>
              <a:rPr sz="1150" dirty="0">
                <a:latin typeface="Times New Roman"/>
                <a:cs typeface="Times New Roman"/>
              </a:rPr>
              <a:t>of</a:t>
            </a:r>
            <a:r>
              <a:rPr sz="1150" spc="-10" dirty="0">
                <a:latin typeface="Times New Roman"/>
                <a:cs typeface="Times New Roman"/>
              </a:rPr>
              <a:t> registers</a:t>
            </a:r>
            <a:r>
              <a:rPr sz="1150" spc="-25" dirty="0">
                <a:latin typeface="Times New Roman"/>
                <a:cs typeface="Times New Roman"/>
              </a:rPr>
              <a:t> </a:t>
            </a:r>
            <a:r>
              <a:rPr sz="1150" dirty="0">
                <a:latin typeface="Times New Roman"/>
                <a:cs typeface="Times New Roman"/>
              </a:rPr>
              <a:t>needed</a:t>
            </a:r>
            <a:r>
              <a:rPr sz="1150" spc="-20" dirty="0">
                <a:latin typeface="Times New Roman"/>
                <a:cs typeface="Times New Roman"/>
              </a:rPr>
              <a:t> </a:t>
            </a:r>
            <a:r>
              <a:rPr sz="1150" dirty="0">
                <a:latin typeface="Times New Roman"/>
                <a:cs typeface="Times New Roman"/>
              </a:rPr>
              <a:t>in the</a:t>
            </a:r>
            <a:r>
              <a:rPr sz="1150" spc="-15" dirty="0">
                <a:latin typeface="Times New Roman"/>
                <a:cs typeface="Times New Roman"/>
              </a:rPr>
              <a:t> </a:t>
            </a:r>
            <a:r>
              <a:rPr sz="1150" dirty="0">
                <a:latin typeface="Times New Roman"/>
                <a:cs typeface="Times New Roman"/>
              </a:rPr>
              <a:t>processor</a:t>
            </a:r>
            <a:r>
              <a:rPr sz="1150" spc="-5" dirty="0">
                <a:latin typeface="Times New Roman"/>
                <a:cs typeface="Times New Roman"/>
              </a:rPr>
              <a:t> </a:t>
            </a:r>
            <a:r>
              <a:rPr sz="1150" spc="-25" dirty="0">
                <a:latin typeface="Times New Roman"/>
                <a:cs typeface="Times New Roman"/>
              </a:rPr>
              <a:t>is</a:t>
            </a:r>
            <a:endParaRPr sz="1150">
              <a:latin typeface="Times New Roman"/>
              <a:cs typeface="Times New Roman"/>
            </a:endParaRPr>
          </a:p>
          <a:p>
            <a:pPr marL="1986280">
              <a:lnSpc>
                <a:spcPct val="100000"/>
              </a:lnSpc>
              <a:spcBef>
                <a:spcPts val="600"/>
              </a:spcBef>
            </a:pPr>
            <a:r>
              <a:rPr sz="1200" b="1" spc="-10" dirty="0">
                <a:solidFill>
                  <a:srgbClr val="2A4F1D"/>
                </a:solidFill>
                <a:latin typeface="Times New Roman"/>
                <a:cs typeface="Times New Roman"/>
              </a:rPr>
              <a:t>Register</a:t>
            </a:r>
            <a:r>
              <a:rPr sz="1200" b="1" spc="-25" dirty="0">
                <a:solidFill>
                  <a:srgbClr val="2A4F1D"/>
                </a:solidFill>
                <a:latin typeface="Times New Roman"/>
                <a:cs typeface="Times New Roman"/>
              </a:rPr>
              <a:t> </a:t>
            </a:r>
            <a:r>
              <a:rPr sz="1200" b="1" dirty="0">
                <a:solidFill>
                  <a:srgbClr val="2A4F1D"/>
                </a:solidFill>
                <a:latin typeface="Times New Roman"/>
                <a:cs typeface="Times New Roman"/>
              </a:rPr>
              <a:t>file</a:t>
            </a:r>
            <a:r>
              <a:rPr sz="1200" b="1" spc="-25" dirty="0">
                <a:solidFill>
                  <a:srgbClr val="2A4F1D"/>
                </a:solidFill>
                <a:latin typeface="Times New Roman"/>
                <a:cs typeface="Times New Roman"/>
              </a:rPr>
              <a:t> </a:t>
            </a:r>
            <a:r>
              <a:rPr sz="1200" b="1" dirty="0">
                <a:solidFill>
                  <a:srgbClr val="2A4F1D"/>
                </a:solidFill>
                <a:latin typeface="Times New Roman"/>
                <a:cs typeface="Times New Roman"/>
              </a:rPr>
              <a:t>= G</a:t>
            </a:r>
            <a:r>
              <a:rPr sz="1200" b="1" spc="-5" dirty="0">
                <a:solidFill>
                  <a:srgbClr val="2A4F1D"/>
                </a:solidFill>
                <a:latin typeface="Times New Roman"/>
                <a:cs typeface="Times New Roman"/>
              </a:rPr>
              <a:t> </a:t>
            </a:r>
            <a:r>
              <a:rPr sz="1200" b="1" dirty="0">
                <a:solidFill>
                  <a:srgbClr val="2A4F1D"/>
                </a:solidFill>
                <a:latin typeface="Times New Roman"/>
                <a:cs typeface="Times New Roman"/>
              </a:rPr>
              <a:t>+</a:t>
            </a:r>
            <a:r>
              <a:rPr sz="1200" b="1" spc="-20" dirty="0">
                <a:solidFill>
                  <a:srgbClr val="2A4F1D"/>
                </a:solidFill>
                <a:latin typeface="Times New Roman"/>
                <a:cs typeface="Times New Roman"/>
              </a:rPr>
              <a:t> </a:t>
            </a:r>
            <a:r>
              <a:rPr sz="1200" b="1" dirty="0">
                <a:solidFill>
                  <a:srgbClr val="2A4F1D"/>
                </a:solidFill>
                <a:latin typeface="Times New Roman"/>
                <a:cs typeface="Times New Roman"/>
              </a:rPr>
              <a:t>(L</a:t>
            </a:r>
            <a:r>
              <a:rPr sz="1200" b="1" spc="-65" dirty="0">
                <a:solidFill>
                  <a:srgbClr val="2A4F1D"/>
                </a:solidFill>
                <a:latin typeface="Times New Roman"/>
                <a:cs typeface="Times New Roman"/>
              </a:rPr>
              <a:t> </a:t>
            </a:r>
            <a:r>
              <a:rPr sz="1200" b="1" dirty="0">
                <a:solidFill>
                  <a:srgbClr val="2A4F1D"/>
                </a:solidFill>
                <a:latin typeface="Times New Roman"/>
                <a:cs typeface="Times New Roman"/>
              </a:rPr>
              <a:t>+</a:t>
            </a:r>
            <a:r>
              <a:rPr sz="1200" b="1" spc="-5" dirty="0">
                <a:solidFill>
                  <a:srgbClr val="2A4F1D"/>
                </a:solidFill>
                <a:latin typeface="Times New Roman"/>
                <a:cs typeface="Times New Roman"/>
              </a:rPr>
              <a:t> </a:t>
            </a:r>
            <a:r>
              <a:rPr sz="1200" b="1" dirty="0">
                <a:solidFill>
                  <a:srgbClr val="2A4F1D"/>
                </a:solidFill>
                <a:latin typeface="Times New Roman"/>
                <a:cs typeface="Times New Roman"/>
              </a:rPr>
              <a:t>C)</a:t>
            </a:r>
            <a:r>
              <a:rPr sz="1200" b="1" spc="-25" dirty="0">
                <a:solidFill>
                  <a:srgbClr val="2A4F1D"/>
                </a:solidFill>
                <a:latin typeface="Times New Roman"/>
                <a:cs typeface="Times New Roman"/>
              </a:rPr>
              <a:t> </a:t>
            </a:r>
            <a:r>
              <a:rPr sz="1200" b="1" spc="-50" dirty="0">
                <a:solidFill>
                  <a:srgbClr val="2A4F1D"/>
                </a:solidFill>
                <a:latin typeface="Times New Roman"/>
                <a:cs typeface="Times New Roman"/>
              </a:rPr>
              <a:t>W</a:t>
            </a:r>
            <a:endParaRPr sz="12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pic>
          <p:nvPicPr>
            <p:cNvPr id="6" name="object 6"/>
            <p:cNvPicPr/>
            <p:nvPr/>
          </p:nvPicPr>
          <p:blipFill>
            <a:blip r:embed="rId2" cstate="print"/>
            <a:stretch>
              <a:fillRect/>
            </a:stretch>
          </p:blipFill>
          <p:spPr>
            <a:xfrm>
              <a:off x="3480816" y="4876800"/>
              <a:ext cx="571500" cy="3236976"/>
            </a:xfrm>
            <a:prstGeom prst="rect">
              <a:avLst/>
            </a:prstGeom>
          </p:spPr>
        </p:pic>
        <p:pic>
          <p:nvPicPr>
            <p:cNvPr id="7" name="object 7"/>
            <p:cNvPicPr/>
            <p:nvPr/>
          </p:nvPicPr>
          <p:blipFill>
            <a:blip r:embed="rId3" cstate="print"/>
            <a:stretch>
              <a:fillRect/>
            </a:stretch>
          </p:blipFill>
          <p:spPr>
            <a:xfrm>
              <a:off x="4128515" y="4870704"/>
              <a:ext cx="2301240" cy="3383279"/>
            </a:xfrm>
            <a:prstGeom prst="rect">
              <a:avLst/>
            </a:prstGeom>
          </p:spPr>
        </p:pic>
      </p:grpSp>
      <p:sp>
        <p:nvSpPr>
          <p:cNvPr id="8" name="object 8"/>
          <p:cNvSpPr txBox="1"/>
          <p:nvPr/>
        </p:nvSpPr>
        <p:spPr>
          <a:xfrm>
            <a:off x="496823" y="4966715"/>
            <a:ext cx="5862955" cy="3188335"/>
          </a:xfrm>
          <a:prstGeom prst="rect">
            <a:avLst/>
          </a:prstGeom>
        </p:spPr>
        <p:txBody>
          <a:bodyPr vert="horz" wrap="square" lIns="0" tIns="0" rIns="0" bIns="0" rtlCol="0">
            <a:spAutoFit/>
          </a:bodyPr>
          <a:lstStyle/>
          <a:p>
            <a:pPr marL="228600">
              <a:lnSpc>
                <a:spcPts val="2014"/>
              </a:lnSpc>
            </a:pPr>
            <a:r>
              <a:rPr sz="2000" dirty="0">
                <a:latin typeface="Georgia"/>
                <a:cs typeface="Georgia"/>
              </a:rPr>
              <a:t>Overlapped</a:t>
            </a:r>
            <a:r>
              <a:rPr sz="2000" spc="-50" dirty="0">
                <a:latin typeface="Georgia"/>
                <a:cs typeface="Georgia"/>
              </a:rPr>
              <a:t> </a:t>
            </a:r>
            <a:r>
              <a:rPr sz="2000" spc="-10" dirty="0">
                <a:latin typeface="Georgia"/>
                <a:cs typeface="Georgia"/>
              </a:rPr>
              <a:t>Register</a:t>
            </a:r>
            <a:endParaRPr sz="2000">
              <a:latin typeface="Georgia"/>
              <a:cs typeface="Georgia"/>
            </a:endParaRPr>
          </a:p>
          <a:p>
            <a:pPr marL="165100">
              <a:lnSpc>
                <a:spcPts val="2280"/>
              </a:lnSpc>
              <a:tabLst>
                <a:tab pos="4826000" algn="l"/>
              </a:tabLst>
            </a:pPr>
            <a:r>
              <a:rPr sz="2000" u="heavy" spc="-25" dirty="0">
                <a:uFill>
                  <a:solidFill>
                    <a:srgbClr val="539E39"/>
                  </a:solidFill>
                </a:uFill>
                <a:latin typeface="Georgia"/>
                <a:cs typeface="Georgia"/>
              </a:rPr>
              <a:t> </a:t>
            </a:r>
            <a:r>
              <a:rPr sz="2000" u="heavy" dirty="0">
                <a:uFill>
                  <a:solidFill>
                    <a:srgbClr val="539E39"/>
                  </a:solidFill>
                </a:uFill>
                <a:latin typeface="Georgia"/>
                <a:cs typeface="Georgia"/>
              </a:rPr>
              <a:t>Windows</a:t>
            </a:r>
            <a:r>
              <a:rPr sz="2000" u="heavy" spc="-45" dirty="0">
                <a:uFill>
                  <a:solidFill>
                    <a:srgbClr val="539E39"/>
                  </a:solidFill>
                </a:uFill>
                <a:latin typeface="Georgia"/>
                <a:cs typeface="Georgia"/>
              </a:rPr>
              <a:t> </a:t>
            </a:r>
            <a:r>
              <a:rPr sz="2000" u="heavy" spc="-10" dirty="0">
                <a:uFill>
                  <a:solidFill>
                    <a:srgbClr val="539E39"/>
                  </a:solidFill>
                </a:uFill>
                <a:latin typeface="Georgia"/>
                <a:cs typeface="Georgia"/>
              </a:rPr>
              <a:t>Example</a:t>
            </a:r>
            <a:r>
              <a:rPr sz="2000" u="heavy" dirty="0">
                <a:uFill>
                  <a:solidFill>
                    <a:srgbClr val="539E39"/>
                  </a:solidFill>
                </a:uFill>
                <a:latin typeface="Georgia"/>
                <a:cs typeface="Georgia"/>
              </a:rPr>
              <a:t>	</a:t>
            </a:r>
            <a:endParaRPr sz="2000">
              <a:latin typeface="Georgia"/>
              <a:cs typeface="Georgia"/>
            </a:endParaRPr>
          </a:p>
          <a:p>
            <a:pPr marL="434975" indent="-172720">
              <a:lnSpc>
                <a:spcPct val="100000"/>
              </a:lnSpc>
              <a:spcBef>
                <a:spcPts val="550"/>
              </a:spcBef>
              <a:buClr>
                <a:srgbClr val="3E762B"/>
              </a:buClr>
              <a:buFont typeface="Wingdings"/>
              <a:buChar char=""/>
              <a:tabLst>
                <a:tab pos="434975" algn="l"/>
              </a:tabLst>
            </a:pPr>
            <a:r>
              <a:rPr sz="1200" dirty="0">
                <a:latin typeface="Times New Roman"/>
                <a:cs typeface="Times New Roman"/>
              </a:rPr>
              <a:t>Register</a:t>
            </a:r>
            <a:r>
              <a:rPr sz="1200" spc="-20" dirty="0">
                <a:latin typeface="Times New Roman"/>
                <a:cs typeface="Times New Roman"/>
              </a:rPr>
              <a:t> </a:t>
            </a:r>
            <a:r>
              <a:rPr sz="1200" dirty="0">
                <a:latin typeface="Times New Roman"/>
                <a:cs typeface="Times New Roman"/>
              </a:rPr>
              <a:t>file</a:t>
            </a:r>
            <a:r>
              <a:rPr sz="1200" spc="-25" dirty="0">
                <a:latin typeface="Times New Roman"/>
                <a:cs typeface="Times New Roman"/>
              </a:rPr>
              <a:t> </a:t>
            </a:r>
            <a:r>
              <a:rPr sz="1200" dirty="0">
                <a:latin typeface="Times New Roman"/>
                <a:cs typeface="Times New Roman"/>
              </a:rPr>
              <a:t>has</a:t>
            </a:r>
            <a:r>
              <a:rPr sz="1200" spc="-20" dirty="0">
                <a:latin typeface="Times New Roman"/>
                <a:cs typeface="Times New Roman"/>
              </a:rPr>
              <a:t> </a:t>
            </a:r>
            <a:r>
              <a:rPr sz="1200" dirty="0">
                <a:latin typeface="Times New Roman"/>
                <a:cs typeface="Times New Roman"/>
              </a:rPr>
              <a:t>74</a:t>
            </a:r>
            <a:r>
              <a:rPr sz="1200" spc="-20" dirty="0">
                <a:latin typeface="Times New Roman"/>
                <a:cs typeface="Times New Roman"/>
              </a:rPr>
              <a:t> </a:t>
            </a:r>
            <a:r>
              <a:rPr sz="1200" spc="-10" dirty="0">
                <a:latin typeface="Times New Roman"/>
                <a:cs typeface="Times New Roman"/>
              </a:rPr>
              <a:t>register</a:t>
            </a:r>
            <a:endParaRPr sz="1200">
              <a:latin typeface="Times New Roman"/>
              <a:cs typeface="Times New Roman"/>
            </a:endParaRPr>
          </a:p>
          <a:p>
            <a:pPr marL="434975" indent="-172720">
              <a:lnSpc>
                <a:spcPct val="100000"/>
              </a:lnSpc>
              <a:spcBef>
                <a:spcPts val="300"/>
              </a:spcBef>
              <a:buClr>
                <a:srgbClr val="3E762B"/>
              </a:buClr>
              <a:buFont typeface="Wingdings"/>
              <a:buChar char=""/>
              <a:tabLst>
                <a:tab pos="434975" algn="l"/>
              </a:tabLst>
            </a:pPr>
            <a:r>
              <a:rPr sz="1200" spc="-10" dirty="0">
                <a:latin typeface="Times New Roman"/>
                <a:cs typeface="Times New Roman"/>
              </a:rPr>
              <a:t>Allocation:</a:t>
            </a:r>
            <a:endParaRPr sz="1200">
              <a:latin typeface="Times New Roman"/>
              <a:cs typeface="Times New Roman"/>
            </a:endParaRPr>
          </a:p>
          <a:p>
            <a:pPr marL="607060" lvl="1" indent="-116205">
              <a:lnSpc>
                <a:spcPct val="100000"/>
              </a:lnSpc>
              <a:spcBef>
                <a:spcPts val="300"/>
              </a:spcBef>
              <a:buClr>
                <a:srgbClr val="3E762B"/>
              </a:buClr>
              <a:buFont typeface="Wingdings"/>
              <a:buChar char=""/>
              <a:tabLst>
                <a:tab pos="607060" algn="l"/>
              </a:tabLst>
            </a:pPr>
            <a:r>
              <a:rPr sz="1150" dirty="0">
                <a:latin typeface="Times New Roman"/>
                <a:cs typeface="Times New Roman"/>
              </a:rPr>
              <a:t>10</a:t>
            </a:r>
            <a:r>
              <a:rPr sz="1150" spc="-10" dirty="0">
                <a:latin typeface="Times New Roman"/>
                <a:cs typeface="Times New Roman"/>
              </a:rPr>
              <a:t> global</a:t>
            </a:r>
            <a:endParaRPr sz="1150">
              <a:latin typeface="Times New Roman"/>
              <a:cs typeface="Times New Roman"/>
            </a:endParaRPr>
          </a:p>
          <a:p>
            <a:pPr marL="607060" lvl="1" indent="-116205">
              <a:lnSpc>
                <a:spcPct val="100000"/>
              </a:lnSpc>
              <a:spcBef>
                <a:spcPts val="300"/>
              </a:spcBef>
              <a:buClr>
                <a:srgbClr val="3E762B"/>
              </a:buClr>
              <a:buFont typeface="Wingdings"/>
              <a:buChar char=""/>
              <a:tabLst>
                <a:tab pos="607060" algn="l"/>
              </a:tabLst>
            </a:pPr>
            <a:r>
              <a:rPr sz="1150" dirty="0">
                <a:latin typeface="Times New Roman"/>
                <a:cs typeface="Times New Roman"/>
              </a:rPr>
              <a:t>10</a:t>
            </a:r>
            <a:r>
              <a:rPr sz="1150" spc="-15" dirty="0">
                <a:latin typeface="Times New Roman"/>
                <a:cs typeface="Times New Roman"/>
              </a:rPr>
              <a:t> </a:t>
            </a:r>
            <a:r>
              <a:rPr sz="1150" dirty="0">
                <a:latin typeface="Times New Roman"/>
                <a:cs typeface="Times New Roman"/>
              </a:rPr>
              <a:t>local</a:t>
            </a:r>
            <a:r>
              <a:rPr sz="1150" spc="-40" dirty="0">
                <a:latin typeface="Times New Roman"/>
                <a:cs typeface="Times New Roman"/>
              </a:rPr>
              <a:t> </a:t>
            </a:r>
            <a:r>
              <a:rPr sz="1150" dirty="0">
                <a:latin typeface="Times New Roman"/>
                <a:cs typeface="Times New Roman"/>
              </a:rPr>
              <a:t>to</a:t>
            </a:r>
            <a:r>
              <a:rPr sz="1150" spc="-10" dirty="0">
                <a:latin typeface="Times New Roman"/>
                <a:cs typeface="Times New Roman"/>
              </a:rPr>
              <a:t> </a:t>
            </a:r>
            <a:r>
              <a:rPr sz="1150" dirty="0">
                <a:latin typeface="Times New Roman"/>
                <a:cs typeface="Times New Roman"/>
              </a:rPr>
              <a:t>each</a:t>
            </a:r>
            <a:r>
              <a:rPr sz="1150" spc="-30" dirty="0">
                <a:latin typeface="Times New Roman"/>
                <a:cs typeface="Times New Roman"/>
              </a:rPr>
              <a:t> </a:t>
            </a:r>
            <a:r>
              <a:rPr sz="1150" spc="-10" dirty="0">
                <a:latin typeface="Times New Roman"/>
                <a:cs typeface="Times New Roman"/>
              </a:rPr>
              <a:t>window</a:t>
            </a:r>
            <a:endParaRPr sz="1150">
              <a:latin typeface="Times New Roman"/>
              <a:cs typeface="Times New Roman"/>
            </a:endParaRPr>
          </a:p>
          <a:p>
            <a:pPr marL="607060" lvl="1" indent="-116205">
              <a:lnSpc>
                <a:spcPct val="100000"/>
              </a:lnSpc>
              <a:spcBef>
                <a:spcPts val="300"/>
              </a:spcBef>
              <a:buClr>
                <a:srgbClr val="3E762B"/>
              </a:buClr>
              <a:buFont typeface="Wingdings"/>
              <a:buChar char=""/>
              <a:tabLst>
                <a:tab pos="607060" algn="l"/>
              </a:tabLst>
            </a:pPr>
            <a:r>
              <a:rPr sz="1150" dirty="0">
                <a:latin typeface="Times New Roman"/>
                <a:cs typeface="Times New Roman"/>
              </a:rPr>
              <a:t>6</a:t>
            </a:r>
            <a:r>
              <a:rPr sz="1150" spc="-30" dirty="0">
                <a:latin typeface="Times New Roman"/>
                <a:cs typeface="Times New Roman"/>
              </a:rPr>
              <a:t> </a:t>
            </a:r>
            <a:r>
              <a:rPr sz="1150" dirty="0">
                <a:latin typeface="Times New Roman"/>
                <a:cs typeface="Times New Roman"/>
              </a:rPr>
              <a:t>shared</a:t>
            </a:r>
            <a:r>
              <a:rPr sz="1150" spc="-40" dirty="0">
                <a:latin typeface="Times New Roman"/>
                <a:cs typeface="Times New Roman"/>
              </a:rPr>
              <a:t> </a:t>
            </a:r>
            <a:r>
              <a:rPr sz="1150" dirty="0">
                <a:latin typeface="Times New Roman"/>
                <a:cs typeface="Times New Roman"/>
              </a:rPr>
              <a:t>between</a:t>
            </a:r>
            <a:r>
              <a:rPr sz="1150" spc="-40" dirty="0">
                <a:latin typeface="Times New Roman"/>
                <a:cs typeface="Times New Roman"/>
              </a:rPr>
              <a:t> </a:t>
            </a:r>
            <a:r>
              <a:rPr sz="1150" dirty="0">
                <a:latin typeface="Times New Roman"/>
                <a:cs typeface="Times New Roman"/>
              </a:rPr>
              <a:t>adjacent</a:t>
            </a:r>
            <a:r>
              <a:rPr sz="1150" spc="-50" dirty="0">
                <a:latin typeface="Times New Roman"/>
                <a:cs typeface="Times New Roman"/>
              </a:rPr>
              <a:t> </a:t>
            </a:r>
            <a:r>
              <a:rPr sz="1150" spc="-10" dirty="0">
                <a:latin typeface="Times New Roman"/>
                <a:cs typeface="Times New Roman"/>
              </a:rPr>
              <a:t>procedures</a:t>
            </a:r>
            <a:endParaRPr sz="1150">
              <a:latin typeface="Times New Roman"/>
              <a:cs typeface="Times New Roman"/>
            </a:endParaRPr>
          </a:p>
          <a:p>
            <a:pPr lvl="1">
              <a:lnSpc>
                <a:spcPct val="100000"/>
              </a:lnSpc>
              <a:spcBef>
                <a:spcPts val="715"/>
              </a:spcBef>
              <a:buClr>
                <a:srgbClr val="3E762B"/>
              </a:buClr>
              <a:buFont typeface="Wingdings"/>
              <a:buChar char=""/>
            </a:pPr>
            <a:endParaRPr sz="1150">
              <a:latin typeface="Times New Roman"/>
              <a:cs typeface="Times New Roman"/>
            </a:endParaRPr>
          </a:p>
          <a:p>
            <a:pPr marL="434975" marR="2905760" indent="-172720">
              <a:lnSpc>
                <a:spcPct val="100000"/>
              </a:lnSpc>
              <a:buClr>
                <a:srgbClr val="3E762B"/>
              </a:buClr>
              <a:buFont typeface="Wingdings"/>
              <a:buChar char=""/>
              <a:tabLst>
                <a:tab pos="436245" algn="l"/>
              </a:tabLst>
            </a:pP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procedure</a:t>
            </a:r>
            <a:r>
              <a:rPr sz="1200" spc="-15" dirty="0">
                <a:latin typeface="Times New Roman"/>
                <a:cs typeface="Times New Roman"/>
              </a:rPr>
              <a:t> </a:t>
            </a:r>
            <a:r>
              <a:rPr sz="1200" dirty="0">
                <a:latin typeface="Times New Roman"/>
                <a:cs typeface="Times New Roman"/>
              </a:rPr>
              <a:t>has</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total</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32</a:t>
            </a:r>
            <a:r>
              <a:rPr sz="1200" spc="-25" dirty="0">
                <a:latin typeface="Times New Roman"/>
                <a:cs typeface="Times New Roman"/>
              </a:rPr>
              <a:t> </a:t>
            </a:r>
            <a:r>
              <a:rPr sz="1200" spc="-10" dirty="0">
                <a:latin typeface="Times New Roman"/>
                <a:cs typeface="Times New Roman"/>
              </a:rPr>
              <a:t>registers 	</a:t>
            </a:r>
            <a:r>
              <a:rPr sz="1200" dirty="0">
                <a:latin typeface="Times New Roman"/>
                <a:cs typeface="Times New Roman"/>
              </a:rPr>
              <a:t>while</a:t>
            </a:r>
            <a:r>
              <a:rPr sz="1200" spc="-10"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is</a:t>
            </a:r>
            <a:r>
              <a:rPr sz="1200" spc="-10" dirty="0">
                <a:latin typeface="Times New Roman"/>
                <a:cs typeface="Times New Roman"/>
              </a:rPr>
              <a:t> active.</a:t>
            </a:r>
            <a:r>
              <a:rPr sz="1200" spc="-30" dirty="0">
                <a:latin typeface="Times New Roman"/>
                <a:cs typeface="Times New Roman"/>
              </a:rPr>
              <a:t> </a:t>
            </a:r>
            <a:r>
              <a:rPr sz="1200" dirty="0">
                <a:latin typeface="Times New Roman"/>
                <a:cs typeface="Times New Roman"/>
              </a:rPr>
              <a:t>This</a:t>
            </a:r>
            <a:r>
              <a:rPr sz="1200" spc="-10" dirty="0">
                <a:latin typeface="Times New Roman"/>
                <a:cs typeface="Times New Roman"/>
              </a:rPr>
              <a:t> includes:</a:t>
            </a:r>
            <a:endParaRPr sz="1200">
              <a:latin typeface="Times New Roman"/>
              <a:cs typeface="Times New Roman"/>
            </a:endParaRPr>
          </a:p>
          <a:p>
            <a:pPr marL="607060" lvl="1" indent="-116205">
              <a:lnSpc>
                <a:spcPct val="100000"/>
              </a:lnSpc>
              <a:spcBef>
                <a:spcPts val="305"/>
              </a:spcBef>
              <a:buClr>
                <a:srgbClr val="3E762B"/>
              </a:buClr>
              <a:buFont typeface="Wingdings"/>
              <a:buChar char=""/>
              <a:tabLst>
                <a:tab pos="607060" algn="l"/>
              </a:tabLst>
            </a:pPr>
            <a:r>
              <a:rPr sz="1150" dirty="0">
                <a:latin typeface="Times New Roman"/>
                <a:cs typeface="Times New Roman"/>
              </a:rPr>
              <a:t>10</a:t>
            </a:r>
            <a:r>
              <a:rPr sz="1150" spc="-15" dirty="0">
                <a:latin typeface="Times New Roman"/>
                <a:cs typeface="Times New Roman"/>
              </a:rPr>
              <a:t> </a:t>
            </a:r>
            <a:r>
              <a:rPr sz="1150" dirty="0">
                <a:latin typeface="Times New Roman"/>
                <a:cs typeface="Times New Roman"/>
              </a:rPr>
              <a:t>global</a:t>
            </a:r>
            <a:r>
              <a:rPr sz="1150" spc="-25" dirty="0">
                <a:latin typeface="Times New Roman"/>
                <a:cs typeface="Times New Roman"/>
              </a:rPr>
              <a:t> </a:t>
            </a:r>
            <a:r>
              <a:rPr sz="1150" spc="-10" dirty="0">
                <a:latin typeface="Times New Roman"/>
                <a:cs typeface="Times New Roman"/>
              </a:rPr>
              <a:t>registers,</a:t>
            </a:r>
            <a:endParaRPr sz="1150">
              <a:latin typeface="Times New Roman"/>
              <a:cs typeface="Times New Roman"/>
            </a:endParaRPr>
          </a:p>
          <a:p>
            <a:pPr marL="607060" lvl="1" indent="-116205">
              <a:lnSpc>
                <a:spcPct val="100000"/>
              </a:lnSpc>
              <a:spcBef>
                <a:spcPts val="300"/>
              </a:spcBef>
              <a:buClr>
                <a:srgbClr val="3E762B"/>
              </a:buClr>
              <a:buFont typeface="Wingdings"/>
              <a:buChar char=""/>
              <a:tabLst>
                <a:tab pos="607060" algn="l"/>
              </a:tabLst>
            </a:pPr>
            <a:r>
              <a:rPr sz="1150" dirty="0">
                <a:latin typeface="Times New Roman"/>
                <a:cs typeface="Times New Roman"/>
              </a:rPr>
              <a:t>10</a:t>
            </a:r>
            <a:r>
              <a:rPr sz="1150" spc="-20" dirty="0">
                <a:latin typeface="Times New Roman"/>
                <a:cs typeface="Times New Roman"/>
              </a:rPr>
              <a:t> </a:t>
            </a:r>
            <a:r>
              <a:rPr sz="1150" dirty="0">
                <a:latin typeface="Times New Roman"/>
                <a:cs typeface="Times New Roman"/>
              </a:rPr>
              <a:t>local</a:t>
            </a:r>
            <a:r>
              <a:rPr sz="1150" spc="-35" dirty="0">
                <a:latin typeface="Times New Roman"/>
                <a:cs typeface="Times New Roman"/>
              </a:rPr>
              <a:t> </a:t>
            </a:r>
            <a:r>
              <a:rPr sz="1150" spc="-10" dirty="0">
                <a:latin typeface="Times New Roman"/>
                <a:cs typeface="Times New Roman"/>
              </a:rPr>
              <a:t>registers,</a:t>
            </a:r>
            <a:endParaRPr sz="1150">
              <a:latin typeface="Times New Roman"/>
              <a:cs typeface="Times New Roman"/>
            </a:endParaRPr>
          </a:p>
          <a:p>
            <a:pPr marL="607060" lvl="1" indent="-116205">
              <a:lnSpc>
                <a:spcPct val="100000"/>
              </a:lnSpc>
              <a:spcBef>
                <a:spcPts val="300"/>
              </a:spcBef>
              <a:buClr>
                <a:srgbClr val="3E762B"/>
              </a:buClr>
              <a:buFont typeface="Wingdings"/>
              <a:buChar char=""/>
              <a:tabLst>
                <a:tab pos="607060" algn="l"/>
              </a:tabLst>
            </a:pPr>
            <a:r>
              <a:rPr sz="1150" dirty="0">
                <a:latin typeface="Times New Roman"/>
                <a:cs typeface="Times New Roman"/>
              </a:rPr>
              <a:t>6</a:t>
            </a:r>
            <a:r>
              <a:rPr sz="1150" spc="15" dirty="0">
                <a:latin typeface="Times New Roman"/>
                <a:cs typeface="Times New Roman"/>
              </a:rPr>
              <a:t> </a:t>
            </a:r>
            <a:r>
              <a:rPr sz="1150" dirty="0">
                <a:latin typeface="Times New Roman"/>
                <a:cs typeface="Times New Roman"/>
              </a:rPr>
              <a:t>low</a:t>
            </a:r>
            <a:r>
              <a:rPr sz="1150" spc="10" dirty="0">
                <a:latin typeface="Times New Roman"/>
                <a:cs typeface="Times New Roman"/>
              </a:rPr>
              <a:t> </a:t>
            </a:r>
            <a:r>
              <a:rPr sz="1150" spc="-10" dirty="0">
                <a:latin typeface="Times New Roman"/>
                <a:cs typeface="Times New Roman"/>
              </a:rPr>
              <a:t>overlapping registers,</a:t>
            </a:r>
            <a:endParaRPr sz="1150">
              <a:latin typeface="Times New Roman"/>
              <a:cs typeface="Times New Roman"/>
            </a:endParaRPr>
          </a:p>
          <a:p>
            <a:pPr marL="607060" lvl="1" indent="-116205">
              <a:lnSpc>
                <a:spcPct val="100000"/>
              </a:lnSpc>
              <a:spcBef>
                <a:spcPts val="300"/>
              </a:spcBef>
              <a:buClr>
                <a:srgbClr val="3E762B"/>
              </a:buClr>
              <a:buFont typeface="Wingdings"/>
              <a:buChar char=""/>
              <a:tabLst>
                <a:tab pos="607060" algn="l"/>
              </a:tabLst>
            </a:pPr>
            <a:r>
              <a:rPr sz="1150" dirty="0">
                <a:latin typeface="Times New Roman"/>
                <a:cs typeface="Times New Roman"/>
              </a:rPr>
              <a:t>and</a:t>
            </a:r>
            <a:r>
              <a:rPr sz="1150" spc="5" dirty="0">
                <a:latin typeface="Times New Roman"/>
                <a:cs typeface="Times New Roman"/>
              </a:rPr>
              <a:t> </a:t>
            </a:r>
            <a:r>
              <a:rPr sz="1150" dirty="0">
                <a:latin typeface="Times New Roman"/>
                <a:cs typeface="Times New Roman"/>
              </a:rPr>
              <a:t>6</a:t>
            </a:r>
            <a:r>
              <a:rPr sz="1150" spc="-10" dirty="0">
                <a:latin typeface="Times New Roman"/>
                <a:cs typeface="Times New Roman"/>
              </a:rPr>
              <a:t> </a:t>
            </a:r>
            <a:r>
              <a:rPr sz="1150" dirty="0">
                <a:latin typeface="Times New Roman"/>
                <a:cs typeface="Times New Roman"/>
              </a:rPr>
              <a:t>high</a:t>
            </a:r>
            <a:r>
              <a:rPr sz="1150" spc="20" dirty="0">
                <a:latin typeface="Times New Roman"/>
                <a:cs typeface="Times New Roman"/>
              </a:rPr>
              <a:t> </a:t>
            </a:r>
            <a:r>
              <a:rPr sz="1150" spc="-10" dirty="0">
                <a:latin typeface="Times New Roman"/>
                <a:cs typeface="Times New Roman"/>
              </a:rPr>
              <a:t>overlapping</a:t>
            </a:r>
            <a:r>
              <a:rPr sz="1150" spc="-20" dirty="0">
                <a:latin typeface="Times New Roman"/>
                <a:cs typeface="Times New Roman"/>
              </a:rPr>
              <a:t> </a:t>
            </a:r>
            <a:r>
              <a:rPr sz="1150" spc="-10" dirty="0">
                <a:latin typeface="Times New Roman"/>
                <a:cs typeface="Times New Roman"/>
              </a:rPr>
              <a:t>registers.</a:t>
            </a:r>
            <a:endParaRPr sz="115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Overlapped</a:t>
            </a:r>
            <a:r>
              <a:rPr sz="2200" spc="-80" dirty="0">
                <a:latin typeface="Georgia"/>
                <a:cs typeface="Georgia"/>
              </a:rPr>
              <a:t> </a:t>
            </a:r>
            <a:r>
              <a:rPr sz="2200" dirty="0">
                <a:latin typeface="Georgia"/>
                <a:cs typeface="Georgia"/>
              </a:rPr>
              <a:t>Register</a:t>
            </a:r>
            <a:r>
              <a:rPr sz="2200" spc="-65" dirty="0">
                <a:latin typeface="Georgia"/>
                <a:cs typeface="Georgia"/>
              </a:rPr>
              <a:t> </a:t>
            </a:r>
            <a:r>
              <a:rPr sz="2200" spc="-10" dirty="0">
                <a:latin typeface="Georgia"/>
                <a:cs typeface="Georgia"/>
              </a:rPr>
              <a:t>Windows</a:t>
            </a:r>
            <a:endParaRPr sz="2200">
              <a:latin typeface="Georgia"/>
              <a:cs typeface="Georgia"/>
            </a:endParaRPr>
          </a:p>
          <a:p>
            <a:pPr marL="433705" indent="-171450">
              <a:lnSpc>
                <a:spcPct val="100000"/>
              </a:lnSpc>
              <a:spcBef>
                <a:spcPts val="1755"/>
              </a:spcBef>
              <a:buClr>
                <a:srgbClr val="3E762B"/>
              </a:buClr>
              <a:buFont typeface="Wingdings"/>
              <a:buChar char=""/>
              <a:tabLst>
                <a:tab pos="433705" algn="l"/>
              </a:tabLst>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example:</a:t>
            </a:r>
            <a:r>
              <a:rPr sz="1200" spc="-20" dirty="0">
                <a:latin typeface="Times New Roman"/>
                <a:cs typeface="Times New Roman"/>
              </a:rPr>
              <a:t> </a:t>
            </a:r>
            <a:r>
              <a:rPr sz="1200" dirty="0">
                <a:latin typeface="Times New Roman"/>
                <a:cs typeface="Times New Roman"/>
              </a:rPr>
              <a:t>G</a:t>
            </a:r>
            <a:r>
              <a:rPr sz="1200" spc="-10"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10,</a:t>
            </a:r>
            <a:r>
              <a:rPr sz="1200" spc="-10" dirty="0">
                <a:latin typeface="Times New Roman"/>
                <a:cs typeface="Times New Roman"/>
              </a:rPr>
              <a:t> </a:t>
            </a:r>
            <a:r>
              <a:rPr sz="1200" dirty="0">
                <a:latin typeface="Times New Roman"/>
                <a:cs typeface="Times New Roman"/>
              </a:rPr>
              <a:t>L</a:t>
            </a:r>
            <a:r>
              <a:rPr sz="1200" spc="-4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10,</a:t>
            </a:r>
            <a:r>
              <a:rPr sz="1200" spc="-10" dirty="0">
                <a:latin typeface="Times New Roman"/>
                <a:cs typeface="Times New Roman"/>
              </a:rPr>
              <a:t> </a:t>
            </a:r>
            <a:r>
              <a:rPr sz="1200" dirty="0">
                <a:latin typeface="Times New Roman"/>
                <a:cs typeface="Times New Roman"/>
              </a:rPr>
              <a:t>C</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6,</a:t>
            </a:r>
            <a:r>
              <a:rPr sz="1200" spc="-35" dirty="0">
                <a:latin typeface="Times New Roman"/>
                <a:cs typeface="Times New Roman"/>
              </a:rPr>
              <a:t> </a:t>
            </a:r>
            <a:r>
              <a:rPr sz="1200" dirty="0">
                <a:latin typeface="Times New Roman"/>
                <a:cs typeface="Times New Roman"/>
              </a:rPr>
              <a:t>W</a:t>
            </a:r>
            <a:r>
              <a:rPr sz="1200" spc="-3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spc="-25" dirty="0">
                <a:latin typeface="Times New Roman"/>
                <a:cs typeface="Times New Roman"/>
              </a:rPr>
              <a:t>4.</a:t>
            </a:r>
            <a:endParaRPr sz="1200">
              <a:latin typeface="Times New Roman"/>
              <a:cs typeface="Times New Roman"/>
            </a:endParaRPr>
          </a:p>
          <a:p>
            <a:pPr marL="773430" lvl="1" indent="-165100">
              <a:lnSpc>
                <a:spcPct val="100000"/>
              </a:lnSpc>
              <a:spcBef>
                <a:spcPts val="865"/>
              </a:spcBef>
              <a:buClr>
                <a:srgbClr val="3E762B"/>
              </a:buClr>
              <a:buFont typeface="Wingdings"/>
              <a:buChar char=""/>
              <a:tabLst>
                <a:tab pos="773430" algn="l"/>
              </a:tabLst>
            </a:pPr>
            <a:r>
              <a:rPr sz="1200" dirty="0">
                <a:latin typeface="Times New Roman"/>
                <a:cs typeface="Times New Roman"/>
              </a:rPr>
              <a:t>window</a:t>
            </a:r>
            <a:r>
              <a:rPr sz="1200" spc="-5" dirty="0">
                <a:latin typeface="Times New Roman"/>
                <a:cs typeface="Times New Roman"/>
              </a:rPr>
              <a:t> </a:t>
            </a:r>
            <a:r>
              <a:rPr sz="1200" dirty="0">
                <a:latin typeface="Times New Roman"/>
                <a:cs typeface="Times New Roman"/>
              </a:rPr>
              <a:t>size</a:t>
            </a:r>
            <a:r>
              <a:rPr sz="1200" spc="-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10</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12 +</a:t>
            </a:r>
            <a:r>
              <a:rPr sz="1200" spc="-5" dirty="0">
                <a:latin typeface="Times New Roman"/>
                <a:cs typeface="Times New Roman"/>
              </a:rPr>
              <a:t> </a:t>
            </a:r>
            <a:r>
              <a:rPr sz="1200" dirty="0">
                <a:latin typeface="Times New Roman"/>
                <a:cs typeface="Times New Roman"/>
              </a:rPr>
              <a:t>10</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32 </a:t>
            </a:r>
            <a:r>
              <a:rPr sz="1200" spc="-10" dirty="0">
                <a:latin typeface="Times New Roman"/>
                <a:cs typeface="Times New Roman"/>
              </a:rPr>
              <a:t>registers</a:t>
            </a:r>
            <a:endParaRPr sz="1200">
              <a:latin typeface="Times New Roman"/>
              <a:cs typeface="Times New Roman"/>
            </a:endParaRPr>
          </a:p>
          <a:p>
            <a:pPr marL="773430" lvl="1" indent="-165100">
              <a:lnSpc>
                <a:spcPct val="100000"/>
              </a:lnSpc>
              <a:spcBef>
                <a:spcPts val="600"/>
              </a:spcBef>
              <a:buClr>
                <a:srgbClr val="3E762B"/>
              </a:buClr>
              <a:buFont typeface="Wingdings"/>
              <a:buChar char=""/>
              <a:tabLst>
                <a:tab pos="773430" algn="l"/>
              </a:tabLst>
            </a:pPr>
            <a:r>
              <a:rPr sz="1200" dirty="0">
                <a:latin typeface="Times New Roman"/>
                <a:cs typeface="Times New Roman"/>
              </a:rPr>
              <a:t>register</a:t>
            </a:r>
            <a:r>
              <a:rPr sz="1200" spc="-5" dirty="0">
                <a:latin typeface="Times New Roman"/>
                <a:cs typeface="Times New Roman"/>
              </a:rPr>
              <a:t> </a:t>
            </a:r>
            <a:r>
              <a:rPr sz="1200" dirty="0">
                <a:latin typeface="Times New Roman"/>
                <a:cs typeface="Times New Roman"/>
              </a:rPr>
              <a:t>file</a:t>
            </a:r>
            <a:r>
              <a:rPr sz="1200" spc="-1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(10</a:t>
            </a:r>
            <a:r>
              <a:rPr sz="1200" spc="-5"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6)</a:t>
            </a:r>
            <a:r>
              <a:rPr sz="1200" spc="-10" dirty="0">
                <a:latin typeface="Times New Roman"/>
                <a:cs typeface="Times New Roman"/>
              </a:rPr>
              <a:t> </a:t>
            </a:r>
            <a:r>
              <a:rPr sz="1200" dirty="0">
                <a:latin typeface="Times New Roman"/>
                <a:cs typeface="Times New Roman"/>
              </a:rPr>
              <a:t>x</a:t>
            </a:r>
            <a:r>
              <a:rPr sz="1200" spc="-10" dirty="0">
                <a:latin typeface="Times New Roman"/>
                <a:cs typeface="Times New Roman"/>
              </a:rPr>
              <a:t> </a:t>
            </a:r>
            <a:r>
              <a:rPr sz="1200" dirty="0">
                <a:latin typeface="Times New Roman"/>
                <a:cs typeface="Times New Roman"/>
              </a:rPr>
              <a:t>4</a:t>
            </a:r>
            <a:r>
              <a:rPr sz="1200" spc="-1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10</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74</a:t>
            </a:r>
            <a:r>
              <a:rPr sz="1200" spc="-10" dirty="0">
                <a:latin typeface="Times New Roman"/>
                <a:cs typeface="Times New Roman"/>
              </a:rPr>
              <a:t> registers.</a:t>
            </a:r>
            <a:endParaRPr sz="12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1370838" y="6712458"/>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6" name="object 6"/>
          <p:cNvSpPr txBox="1"/>
          <p:nvPr/>
        </p:nvSpPr>
        <p:spPr>
          <a:xfrm>
            <a:off x="496823" y="4966715"/>
            <a:ext cx="5862955" cy="3188335"/>
          </a:xfrm>
          <a:prstGeom prst="rect">
            <a:avLst/>
          </a:prstGeom>
          <a:ln w="6096">
            <a:solidFill>
              <a:srgbClr val="FFFFFF"/>
            </a:solidFill>
          </a:ln>
        </p:spPr>
        <p:txBody>
          <a:bodyPr vert="horz" wrap="square" lIns="0" tIns="279400" rIns="0" bIns="0" rtlCol="0">
            <a:spAutoFit/>
          </a:bodyPr>
          <a:lstStyle/>
          <a:p>
            <a:pPr>
              <a:lnSpc>
                <a:spcPct val="100000"/>
              </a:lnSpc>
              <a:spcBef>
                <a:spcPts val="2200"/>
              </a:spcBef>
            </a:pPr>
            <a:endParaRPr sz="3600">
              <a:latin typeface="Times New Roman"/>
              <a:cs typeface="Times New Roman"/>
            </a:endParaRPr>
          </a:p>
          <a:p>
            <a:pPr marL="1987550" marR="1354455" indent="-625475">
              <a:lnSpc>
                <a:spcPts val="3670"/>
              </a:lnSpc>
            </a:pPr>
            <a:r>
              <a:rPr sz="3600" b="1" spc="-35" dirty="0">
                <a:solidFill>
                  <a:srgbClr val="FFFFFF"/>
                </a:solidFill>
                <a:latin typeface="Times New Roman"/>
                <a:cs typeface="Times New Roman"/>
              </a:rPr>
              <a:t>Berkeley</a:t>
            </a:r>
            <a:r>
              <a:rPr sz="3600" b="1" spc="-145" dirty="0">
                <a:solidFill>
                  <a:srgbClr val="FFFFFF"/>
                </a:solidFill>
                <a:latin typeface="Times New Roman"/>
                <a:cs typeface="Times New Roman"/>
              </a:rPr>
              <a:t> </a:t>
            </a:r>
            <a:r>
              <a:rPr sz="3600" b="1" spc="-80" dirty="0">
                <a:solidFill>
                  <a:srgbClr val="FFFFFF"/>
                </a:solidFill>
                <a:latin typeface="Times New Roman"/>
                <a:cs typeface="Times New Roman"/>
              </a:rPr>
              <a:t>RISC</a:t>
            </a:r>
            <a:r>
              <a:rPr sz="3600" b="1" spc="-145" dirty="0">
                <a:solidFill>
                  <a:srgbClr val="FFFFFF"/>
                </a:solidFill>
                <a:latin typeface="Times New Roman"/>
                <a:cs typeface="Times New Roman"/>
              </a:rPr>
              <a:t> </a:t>
            </a:r>
            <a:r>
              <a:rPr sz="3600" b="1" spc="-60" dirty="0">
                <a:solidFill>
                  <a:srgbClr val="FFFFFF"/>
                </a:solidFill>
                <a:latin typeface="Times New Roman"/>
                <a:cs typeface="Times New Roman"/>
              </a:rPr>
              <a:t>I </a:t>
            </a:r>
            <a:r>
              <a:rPr sz="3600" b="1" spc="-10" dirty="0">
                <a:solidFill>
                  <a:srgbClr val="FFFFFF"/>
                </a:solidFill>
                <a:latin typeface="Times New Roman"/>
                <a:cs typeface="Times New Roman"/>
              </a:rPr>
              <a:t>Processor</a:t>
            </a: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14"/>
              </a:spcBef>
            </a:pPr>
            <a:endParaRPr sz="3600">
              <a:latin typeface="Times New Roman"/>
              <a:cs typeface="Times New Roman"/>
            </a:endParaRPr>
          </a:p>
          <a:p>
            <a:pPr marR="498475" algn="r">
              <a:lnSpc>
                <a:spcPct val="100000"/>
              </a:lnSpc>
            </a:pPr>
            <a:r>
              <a:rPr sz="600" spc="-25" dirty="0">
                <a:solidFill>
                  <a:srgbClr val="FFFFFF"/>
                </a:solidFill>
                <a:latin typeface="Corbel"/>
                <a:cs typeface="Corbel"/>
              </a:rPr>
              <a:t>28</a:t>
            </a:r>
            <a:endParaRPr sz="600">
              <a:latin typeface="Corbel"/>
              <a:cs typeface="Corbe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p:txBody>
      </p:sp>
      <p:pic>
        <p:nvPicPr>
          <p:cNvPr id="3" name="object 3"/>
          <p:cNvPicPr/>
          <p:nvPr/>
        </p:nvPicPr>
        <p:blipFill>
          <a:blip r:embed="rId2" cstate="print"/>
          <a:stretch>
            <a:fillRect/>
          </a:stretch>
        </p:blipFill>
        <p:spPr>
          <a:xfrm>
            <a:off x="679704" y="1671827"/>
            <a:ext cx="3608832" cy="1417320"/>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p:txBody>
      </p:sp>
      <p:pic>
        <p:nvPicPr>
          <p:cNvPr id="9" name="object 9"/>
          <p:cNvPicPr/>
          <p:nvPr/>
        </p:nvPicPr>
        <p:blipFill>
          <a:blip r:embed="rId3" cstate="print"/>
          <a:stretch>
            <a:fillRect/>
          </a:stretch>
        </p:blipFill>
        <p:spPr>
          <a:xfrm>
            <a:off x="1071372" y="5666232"/>
            <a:ext cx="4154424" cy="2269236"/>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39700" rIns="0" bIns="0" rtlCol="0">
            <a:spAutoFit/>
          </a:bodyPr>
          <a:lstStyle/>
          <a:p>
            <a:pPr marL="228600">
              <a:lnSpc>
                <a:spcPct val="100000"/>
              </a:lnSpc>
              <a:spcBef>
                <a:spcPts val="1100"/>
              </a:spcBef>
            </a:pPr>
            <a:r>
              <a:rPr sz="1900" dirty="0">
                <a:latin typeface="Georgia"/>
                <a:cs typeface="Georgia"/>
              </a:rPr>
              <a:t>Berkeley</a:t>
            </a:r>
            <a:r>
              <a:rPr sz="1900" spc="-25" dirty="0">
                <a:latin typeface="Georgia"/>
                <a:cs typeface="Georgia"/>
              </a:rPr>
              <a:t> </a:t>
            </a:r>
            <a:r>
              <a:rPr sz="1900" dirty="0">
                <a:latin typeface="Georgia"/>
                <a:cs typeface="Georgia"/>
              </a:rPr>
              <a:t>RISC</a:t>
            </a:r>
            <a:r>
              <a:rPr sz="1900" spc="-60" dirty="0">
                <a:latin typeface="Georgia"/>
                <a:cs typeface="Georgia"/>
              </a:rPr>
              <a:t> </a:t>
            </a:r>
            <a:r>
              <a:rPr sz="1900" spc="-50" dirty="0">
                <a:latin typeface="Georgia"/>
                <a:cs typeface="Georgia"/>
              </a:rPr>
              <a:t>I</a:t>
            </a:r>
            <a:endParaRPr sz="1900">
              <a:latin typeface="Georgia"/>
              <a:cs typeface="Georgia"/>
            </a:endParaRPr>
          </a:p>
        </p:txBody>
      </p:sp>
      <p:pic>
        <p:nvPicPr>
          <p:cNvPr id="3" name="object 3"/>
          <p:cNvPicPr/>
          <p:nvPr/>
        </p:nvPicPr>
        <p:blipFill>
          <a:blip r:embed="rId2" cstate="print"/>
          <a:stretch>
            <a:fillRect/>
          </a:stretch>
        </p:blipFill>
        <p:spPr>
          <a:xfrm>
            <a:off x="2542032" y="996696"/>
            <a:ext cx="3816096" cy="3200400"/>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p:txBody>
      </p:sp>
      <p:pic>
        <p:nvPicPr>
          <p:cNvPr id="9" name="object 9"/>
          <p:cNvPicPr/>
          <p:nvPr/>
        </p:nvPicPr>
        <p:blipFill>
          <a:blip r:embed="rId3" cstate="print"/>
          <a:stretch>
            <a:fillRect/>
          </a:stretch>
        </p:blipFill>
        <p:spPr>
          <a:xfrm>
            <a:off x="845819" y="5646420"/>
            <a:ext cx="4532376" cy="2281428"/>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a:p>
            <a:pPr marL="342265" indent="-170180">
              <a:lnSpc>
                <a:spcPct val="100000"/>
              </a:lnSpc>
              <a:spcBef>
                <a:spcPts val="1755"/>
              </a:spcBef>
              <a:buClr>
                <a:srgbClr val="3E762B"/>
              </a:buClr>
              <a:buFont typeface="Wingdings"/>
              <a:buChar char=""/>
              <a:tabLst>
                <a:tab pos="342265" algn="l"/>
              </a:tabLst>
            </a:pPr>
            <a:r>
              <a:rPr sz="1200" dirty="0">
                <a:latin typeface="Times New Roman"/>
                <a:cs typeface="Times New Roman"/>
              </a:rPr>
              <a:t>8</a:t>
            </a:r>
            <a:r>
              <a:rPr sz="1200" spc="-25" dirty="0">
                <a:latin typeface="Times New Roman"/>
                <a:cs typeface="Times New Roman"/>
              </a:rPr>
              <a:t> </a:t>
            </a:r>
            <a:r>
              <a:rPr sz="1200" dirty="0">
                <a:latin typeface="Times New Roman"/>
                <a:cs typeface="Times New Roman"/>
              </a:rPr>
              <a:t>bits</a:t>
            </a:r>
            <a:r>
              <a:rPr sz="1200" spc="-3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operation</a:t>
            </a:r>
            <a:r>
              <a:rPr sz="1200" spc="-25"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specify</a:t>
            </a:r>
            <a:r>
              <a:rPr sz="1200" spc="-20"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spc="-10" dirty="0">
                <a:latin typeface="Times New Roman"/>
                <a:cs typeface="Times New Roman"/>
              </a:rPr>
              <a:t>operation</a:t>
            </a:r>
            <a:endParaRPr sz="1200">
              <a:latin typeface="Times New Roman"/>
              <a:cs typeface="Times New Roman"/>
            </a:endParaRPr>
          </a:p>
          <a:p>
            <a:pPr marL="344805" marR="579755" indent="-173355">
              <a:lnSpc>
                <a:spcPct val="100000"/>
              </a:lnSpc>
              <a:spcBef>
                <a:spcPts val="960"/>
              </a:spcBef>
              <a:buClr>
                <a:srgbClr val="3E762B"/>
              </a:buClr>
              <a:buFont typeface="Wingdings"/>
              <a:buChar char=""/>
              <a:tabLst>
                <a:tab pos="346075" algn="l"/>
              </a:tabLst>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instruction</a:t>
            </a:r>
            <a:r>
              <a:rPr sz="1200" spc="-40" dirty="0">
                <a:latin typeface="Times New Roman"/>
                <a:cs typeface="Times New Roman"/>
              </a:rPr>
              <a:t> </a:t>
            </a:r>
            <a:r>
              <a:rPr sz="1200" dirty="0">
                <a:latin typeface="Times New Roman"/>
                <a:cs typeface="Times New Roman"/>
              </a:rPr>
              <a:t>has</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three-</a:t>
            </a:r>
            <a:r>
              <a:rPr sz="1200" dirty="0">
                <a:latin typeface="Times New Roman"/>
                <a:cs typeface="Times New Roman"/>
              </a:rPr>
              <a:t>address</a:t>
            </a:r>
            <a:r>
              <a:rPr sz="1200" spc="-5" dirty="0">
                <a:latin typeface="Times New Roman"/>
                <a:cs typeface="Times New Roman"/>
              </a:rPr>
              <a:t> </a:t>
            </a:r>
            <a:r>
              <a:rPr sz="1200" dirty="0">
                <a:latin typeface="Times New Roman"/>
                <a:cs typeface="Times New Roman"/>
              </a:rPr>
              <a:t>format,</a:t>
            </a:r>
            <a:r>
              <a:rPr sz="1200" spc="-25" dirty="0">
                <a:latin typeface="Times New Roman"/>
                <a:cs typeface="Times New Roman"/>
              </a:rPr>
              <a:t> </a:t>
            </a:r>
            <a:r>
              <a:rPr sz="1200" dirty="0">
                <a:latin typeface="Times New Roman"/>
                <a:cs typeface="Times New Roman"/>
              </a:rPr>
              <a:t>but</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second</a:t>
            </a:r>
            <a:r>
              <a:rPr sz="1200" spc="-15" dirty="0">
                <a:latin typeface="Times New Roman"/>
                <a:cs typeface="Times New Roman"/>
              </a:rPr>
              <a:t> </a:t>
            </a:r>
            <a:r>
              <a:rPr sz="1200" dirty="0">
                <a:latin typeface="Times New Roman"/>
                <a:cs typeface="Times New Roman"/>
              </a:rPr>
              <a:t>source</a:t>
            </a:r>
            <a:r>
              <a:rPr sz="1200" spc="-25" dirty="0">
                <a:latin typeface="Times New Roman"/>
                <a:cs typeface="Times New Roman"/>
              </a:rPr>
              <a:t> </a:t>
            </a:r>
            <a:r>
              <a:rPr sz="1200" dirty="0">
                <a:latin typeface="Times New Roman"/>
                <a:cs typeface="Times New Roman"/>
              </a:rPr>
              <a:t>may</a:t>
            </a:r>
            <a:r>
              <a:rPr sz="1200" spc="-30"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dirty="0">
                <a:latin typeface="Times New Roman"/>
                <a:cs typeface="Times New Roman"/>
              </a:rPr>
              <a:t>either</a:t>
            </a:r>
            <a:r>
              <a:rPr sz="1200" spc="-25" dirty="0">
                <a:latin typeface="Times New Roman"/>
                <a:cs typeface="Times New Roman"/>
              </a:rPr>
              <a:t> </a:t>
            </a:r>
            <a:r>
              <a:rPr sz="1200" spc="-50" dirty="0">
                <a:latin typeface="Times New Roman"/>
                <a:cs typeface="Times New Roman"/>
              </a:rPr>
              <a:t>a 	</a:t>
            </a:r>
            <a:r>
              <a:rPr sz="1200" dirty="0">
                <a:latin typeface="Times New Roman"/>
                <a:cs typeface="Times New Roman"/>
              </a:rPr>
              <a:t>register</a:t>
            </a:r>
            <a:r>
              <a:rPr sz="1200" spc="-10" dirty="0">
                <a:latin typeface="Times New Roman"/>
                <a:cs typeface="Times New Roman"/>
              </a:rPr>
              <a:t> </a:t>
            </a:r>
            <a:r>
              <a:rPr sz="1200" dirty="0">
                <a:latin typeface="Times New Roman"/>
                <a:cs typeface="Times New Roman"/>
              </a:rPr>
              <a:t>or</a:t>
            </a:r>
            <a:r>
              <a:rPr sz="1200" spc="-10" dirty="0">
                <a:latin typeface="Times New Roman"/>
                <a:cs typeface="Times New Roman"/>
              </a:rPr>
              <a:t> </a:t>
            </a:r>
            <a:r>
              <a:rPr sz="1200" dirty="0">
                <a:latin typeface="Times New Roman"/>
                <a:cs typeface="Times New Roman"/>
              </a:rPr>
              <a:t>an</a:t>
            </a:r>
            <a:r>
              <a:rPr sz="1200" spc="-15" dirty="0">
                <a:latin typeface="Times New Roman"/>
                <a:cs typeface="Times New Roman"/>
              </a:rPr>
              <a:t> </a:t>
            </a:r>
            <a:r>
              <a:rPr sz="1200" spc="-10" dirty="0">
                <a:latin typeface="Times New Roman"/>
                <a:cs typeface="Times New Roman"/>
              </a:rPr>
              <a:t>immediate</a:t>
            </a:r>
            <a:r>
              <a:rPr sz="1200" spc="-30" dirty="0">
                <a:latin typeface="Times New Roman"/>
                <a:cs typeface="Times New Roman"/>
              </a:rPr>
              <a:t> </a:t>
            </a:r>
            <a:r>
              <a:rPr sz="1200" spc="-10" dirty="0">
                <a:latin typeface="Times New Roman"/>
                <a:cs typeface="Times New Roman"/>
              </a:rPr>
              <a:t>operand.</a:t>
            </a:r>
            <a:endParaRPr sz="1200">
              <a:latin typeface="Times New Roman"/>
              <a:cs typeface="Times New Roman"/>
            </a:endParaRPr>
          </a:p>
          <a:p>
            <a:pPr marL="342265" indent="-170180">
              <a:lnSpc>
                <a:spcPct val="100000"/>
              </a:lnSpc>
              <a:spcBef>
                <a:spcPts val="1165"/>
              </a:spcBef>
              <a:buClr>
                <a:srgbClr val="3E762B"/>
              </a:buClr>
              <a:buFont typeface="Wingdings"/>
              <a:buChar char=""/>
              <a:tabLst>
                <a:tab pos="342265" algn="l"/>
              </a:tabLst>
            </a:pPr>
            <a:r>
              <a:rPr sz="1200" dirty="0">
                <a:latin typeface="Times New Roman"/>
                <a:cs typeface="Times New Roman"/>
              </a:rPr>
              <a:t>The</a:t>
            </a:r>
            <a:r>
              <a:rPr sz="1200" spc="-5" dirty="0">
                <a:latin typeface="Times New Roman"/>
                <a:cs typeface="Times New Roman"/>
              </a:rPr>
              <a:t> </a:t>
            </a:r>
            <a:r>
              <a:rPr sz="1200" spc="-20" dirty="0">
                <a:latin typeface="Times New Roman"/>
                <a:cs typeface="Times New Roman"/>
              </a:rPr>
              <a:t>register-</a:t>
            </a:r>
            <a:r>
              <a:rPr sz="1200" spc="-10" dirty="0">
                <a:latin typeface="Times New Roman"/>
                <a:cs typeface="Times New Roman"/>
              </a:rPr>
              <a:t>to-</a:t>
            </a:r>
            <a:r>
              <a:rPr sz="1200" dirty="0">
                <a:latin typeface="Times New Roman"/>
                <a:cs typeface="Times New Roman"/>
              </a:rPr>
              <a:t>register</a:t>
            </a:r>
            <a:r>
              <a:rPr sz="1200" spc="35" dirty="0">
                <a:latin typeface="Times New Roman"/>
                <a:cs typeface="Times New Roman"/>
              </a:rPr>
              <a:t> </a:t>
            </a:r>
            <a:r>
              <a:rPr sz="1200" spc="-10" dirty="0">
                <a:latin typeface="Times New Roman"/>
                <a:cs typeface="Times New Roman"/>
              </a:rPr>
              <a:t>instructions,</a:t>
            </a:r>
            <a:endParaRPr sz="1200">
              <a:latin typeface="Times New Roman"/>
              <a:cs typeface="Times New Roman"/>
            </a:endParaRPr>
          </a:p>
          <a:p>
            <a:pPr marL="400050" indent="-90170">
              <a:lnSpc>
                <a:spcPct val="100000"/>
              </a:lnSpc>
              <a:spcBef>
                <a:spcPts val="785"/>
              </a:spcBef>
              <a:buClr>
                <a:srgbClr val="3E762B"/>
              </a:buClr>
              <a:buFont typeface="Arial MT"/>
              <a:buChar char="•"/>
              <a:tabLst>
                <a:tab pos="400050" algn="l"/>
              </a:tabLst>
            </a:pPr>
            <a:r>
              <a:rPr sz="1100" dirty="0">
                <a:latin typeface="Times New Roman"/>
                <a:cs typeface="Times New Roman"/>
              </a:rPr>
              <a:t>The</a:t>
            </a:r>
            <a:r>
              <a:rPr sz="1100" spc="-5" dirty="0">
                <a:latin typeface="Times New Roman"/>
                <a:cs typeface="Times New Roman"/>
              </a:rPr>
              <a:t> </a:t>
            </a:r>
            <a:r>
              <a:rPr sz="1100" spc="-10" dirty="0">
                <a:latin typeface="Times New Roman"/>
                <a:cs typeface="Times New Roman"/>
              </a:rPr>
              <a:t>5-</a:t>
            </a:r>
            <a:r>
              <a:rPr sz="1100" dirty="0">
                <a:latin typeface="Times New Roman"/>
                <a:cs typeface="Times New Roman"/>
              </a:rPr>
              <a:t>bit</a:t>
            </a:r>
            <a:r>
              <a:rPr sz="1100" spc="10" dirty="0">
                <a:latin typeface="Times New Roman"/>
                <a:cs typeface="Times New Roman"/>
              </a:rPr>
              <a:t> </a:t>
            </a:r>
            <a:r>
              <a:rPr sz="1100" dirty="0">
                <a:latin typeface="Times New Roman"/>
                <a:cs typeface="Times New Roman"/>
              </a:rPr>
              <a:t>Rd</a:t>
            </a:r>
            <a:r>
              <a:rPr sz="1100" spc="10" dirty="0">
                <a:latin typeface="Times New Roman"/>
                <a:cs typeface="Times New Roman"/>
              </a:rPr>
              <a:t> </a:t>
            </a:r>
            <a:r>
              <a:rPr sz="1100" dirty="0">
                <a:latin typeface="Times New Roman"/>
                <a:cs typeface="Times New Roman"/>
              </a:rPr>
              <a:t>field</a:t>
            </a:r>
            <a:r>
              <a:rPr sz="1100" spc="-20" dirty="0">
                <a:latin typeface="Times New Roman"/>
                <a:cs typeface="Times New Roman"/>
              </a:rPr>
              <a:t> </a:t>
            </a:r>
            <a:r>
              <a:rPr sz="1100" dirty="0">
                <a:latin typeface="Times New Roman"/>
                <a:cs typeface="Times New Roman"/>
              </a:rPr>
              <a:t>selects</a:t>
            </a:r>
            <a:r>
              <a:rPr sz="1100" spc="-35" dirty="0">
                <a:latin typeface="Times New Roman"/>
                <a:cs typeface="Times New Roman"/>
              </a:rPr>
              <a:t> </a:t>
            </a:r>
            <a:r>
              <a:rPr sz="1100" dirty="0">
                <a:latin typeface="Times New Roman"/>
                <a:cs typeface="Times New Roman"/>
              </a:rPr>
              <a:t>one</a:t>
            </a:r>
            <a:r>
              <a:rPr sz="1100" spc="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 32</a:t>
            </a:r>
            <a:r>
              <a:rPr sz="1100" spc="5" dirty="0">
                <a:latin typeface="Times New Roman"/>
                <a:cs typeface="Times New Roman"/>
              </a:rPr>
              <a:t> </a:t>
            </a:r>
            <a:r>
              <a:rPr sz="1100" dirty="0">
                <a:latin typeface="Times New Roman"/>
                <a:cs typeface="Times New Roman"/>
              </a:rPr>
              <a:t>registers</a:t>
            </a:r>
            <a:r>
              <a:rPr sz="1100" spc="-25" dirty="0">
                <a:latin typeface="Times New Roman"/>
                <a:cs typeface="Times New Roman"/>
              </a:rPr>
              <a:t> </a:t>
            </a:r>
            <a:r>
              <a:rPr sz="1100" dirty="0">
                <a:latin typeface="Times New Roman"/>
                <a:cs typeface="Times New Roman"/>
              </a:rPr>
              <a:t>as</a:t>
            </a:r>
            <a:r>
              <a:rPr sz="1100" spc="-5" dirty="0">
                <a:latin typeface="Times New Roman"/>
                <a:cs typeface="Times New Roman"/>
              </a:rPr>
              <a:t> </a:t>
            </a:r>
            <a:r>
              <a:rPr sz="1100" dirty="0">
                <a:latin typeface="Times New Roman"/>
                <a:cs typeface="Times New Roman"/>
              </a:rPr>
              <a:t>a destination</a:t>
            </a:r>
            <a:r>
              <a:rPr sz="1100" spc="-45"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the result</a:t>
            </a:r>
            <a:r>
              <a:rPr sz="1100" spc="-30"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 </a:t>
            </a:r>
            <a:r>
              <a:rPr sz="1100" spc="-10" dirty="0">
                <a:latin typeface="Times New Roman"/>
                <a:cs typeface="Times New Roman"/>
              </a:rPr>
              <a:t>operation.</a:t>
            </a:r>
            <a:endParaRPr sz="1100">
              <a:latin typeface="Times New Roman"/>
              <a:cs typeface="Times New Roman"/>
            </a:endParaRPr>
          </a:p>
          <a:p>
            <a:pPr marL="400050" indent="-90170">
              <a:lnSpc>
                <a:spcPct val="100000"/>
              </a:lnSpc>
              <a:spcBef>
                <a:spcPts val="960"/>
              </a:spcBef>
              <a:buClr>
                <a:srgbClr val="3E762B"/>
              </a:buClr>
              <a:buFont typeface="Arial MT"/>
              <a:buChar char="•"/>
              <a:tabLst>
                <a:tab pos="400050" algn="l"/>
              </a:tabLst>
            </a:pP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operation</a:t>
            </a:r>
            <a:r>
              <a:rPr sz="1100" spc="-35"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performed with</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data</a:t>
            </a:r>
            <a:r>
              <a:rPr sz="1100" spc="-15" dirty="0">
                <a:latin typeface="Times New Roman"/>
                <a:cs typeface="Times New Roman"/>
              </a:rPr>
              <a:t> </a:t>
            </a:r>
            <a:r>
              <a:rPr sz="1100" dirty="0">
                <a:latin typeface="Times New Roman"/>
                <a:cs typeface="Times New Roman"/>
              </a:rPr>
              <a:t>specified</a:t>
            </a:r>
            <a:r>
              <a:rPr sz="1100" spc="-30" dirty="0">
                <a:latin typeface="Times New Roman"/>
                <a:cs typeface="Times New Roman"/>
              </a:rPr>
              <a:t> </a:t>
            </a:r>
            <a:r>
              <a:rPr sz="1100" dirty="0">
                <a:latin typeface="Times New Roman"/>
                <a:cs typeface="Times New Roman"/>
              </a:rPr>
              <a:t>in</a:t>
            </a:r>
            <a:r>
              <a:rPr sz="1100" spc="-10" dirty="0">
                <a:latin typeface="Times New Roman"/>
                <a:cs typeface="Times New Roman"/>
              </a:rPr>
              <a:t> </a:t>
            </a:r>
            <a:r>
              <a:rPr sz="1100" dirty="0">
                <a:latin typeface="Times New Roman"/>
                <a:cs typeface="Times New Roman"/>
              </a:rPr>
              <a:t>fields</a:t>
            </a:r>
            <a:r>
              <a:rPr sz="1100" spc="-15" dirty="0">
                <a:latin typeface="Times New Roman"/>
                <a:cs typeface="Times New Roman"/>
              </a:rPr>
              <a:t> </a:t>
            </a:r>
            <a:r>
              <a:rPr sz="1100" dirty="0">
                <a:latin typeface="Times New Roman"/>
                <a:cs typeface="Times New Roman"/>
              </a:rPr>
              <a:t>Rs and</a:t>
            </a:r>
            <a:r>
              <a:rPr sz="1100" spc="-5" dirty="0">
                <a:latin typeface="Times New Roman"/>
                <a:cs typeface="Times New Roman"/>
              </a:rPr>
              <a:t> </a:t>
            </a:r>
            <a:r>
              <a:rPr sz="1100" spc="-25" dirty="0">
                <a:latin typeface="Times New Roman"/>
                <a:cs typeface="Times New Roman"/>
              </a:rPr>
              <a:t>S2.</a:t>
            </a:r>
            <a:endParaRPr sz="1100">
              <a:latin typeface="Times New Roman"/>
              <a:cs typeface="Times New Roman"/>
            </a:endParaRPr>
          </a:p>
          <a:p>
            <a:pPr marL="400050" indent="-90170">
              <a:lnSpc>
                <a:spcPct val="100000"/>
              </a:lnSpc>
              <a:spcBef>
                <a:spcPts val="960"/>
              </a:spcBef>
              <a:buClr>
                <a:srgbClr val="3E762B"/>
              </a:buClr>
              <a:buFont typeface="Arial MT"/>
              <a:buChar char="•"/>
              <a:tabLst>
                <a:tab pos="400050" algn="l"/>
              </a:tabLst>
            </a:pPr>
            <a:r>
              <a:rPr sz="1100" dirty="0">
                <a:latin typeface="Times New Roman"/>
                <a:cs typeface="Times New Roman"/>
              </a:rPr>
              <a:t>If</a:t>
            </a:r>
            <a:r>
              <a:rPr sz="1100" spc="20" dirty="0">
                <a:latin typeface="Times New Roman"/>
                <a:cs typeface="Times New Roman"/>
              </a:rPr>
              <a:t> </a:t>
            </a:r>
            <a:r>
              <a:rPr sz="1100" dirty="0">
                <a:latin typeface="Times New Roman"/>
                <a:cs typeface="Times New Roman"/>
              </a:rPr>
              <a:t>bit</a:t>
            </a:r>
            <a:r>
              <a:rPr sz="1100" spc="-5" dirty="0">
                <a:latin typeface="Times New Roman"/>
                <a:cs typeface="Times New Roman"/>
              </a:rPr>
              <a:t> </a:t>
            </a:r>
            <a:r>
              <a:rPr sz="1100" dirty="0">
                <a:latin typeface="Times New Roman"/>
                <a:cs typeface="Times New Roman"/>
              </a:rPr>
              <a:t>13</a:t>
            </a:r>
            <a:r>
              <a:rPr sz="1100" spc="10"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instruction</a:t>
            </a:r>
            <a:r>
              <a:rPr sz="1100" spc="-35" dirty="0">
                <a:latin typeface="Times New Roman"/>
                <a:cs typeface="Times New Roman"/>
              </a:rPr>
              <a:t> </a:t>
            </a:r>
            <a:r>
              <a:rPr sz="1100" dirty="0">
                <a:latin typeface="Times New Roman"/>
                <a:cs typeface="Times New Roman"/>
              </a:rPr>
              <a:t>is 0,</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spc="-10" dirty="0">
                <a:latin typeface="Times New Roman"/>
                <a:cs typeface="Times New Roman"/>
              </a:rPr>
              <a:t>low-</a:t>
            </a:r>
            <a:r>
              <a:rPr sz="1100" dirty="0">
                <a:latin typeface="Times New Roman"/>
                <a:cs typeface="Times New Roman"/>
              </a:rPr>
              <a:t>order</a:t>
            </a:r>
            <a:r>
              <a:rPr sz="1100" spc="15" dirty="0">
                <a:latin typeface="Times New Roman"/>
                <a:cs typeface="Times New Roman"/>
              </a:rPr>
              <a:t> </a:t>
            </a:r>
            <a:r>
              <a:rPr sz="1100" dirty="0">
                <a:latin typeface="Times New Roman"/>
                <a:cs typeface="Times New Roman"/>
              </a:rPr>
              <a:t>5</a:t>
            </a:r>
            <a:r>
              <a:rPr sz="1100" spc="-10" dirty="0">
                <a:latin typeface="Times New Roman"/>
                <a:cs typeface="Times New Roman"/>
              </a:rPr>
              <a:t> </a:t>
            </a:r>
            <a:r>
              <a:rPr sz="1100" dirty="0">
                <a:latin typeface="Times New Roman"/>
                <a:cs typeface="Times New Roman"/>
              </a:rPr>
              <a:t>bits</a:t>
            </a:r>
            <a:r>
              <a:rPr sz="1100" spc="-5" dirty="0">
                <a:latin typeface="Times New Roman"/>
                <a:cs typeface="Times New Roman"/>
              </a:rPr>
              <a:t> </a:t>
            </a:r>
            <a:r>
              <a:rPr sz="1100" dirty="0">
                <a:latin typeface="Times New Roman"/>
                <a:cs typeface="Times New Roman"/>
              </a:rPr>
              <a:t>of S2</a:t>
            </a:r>
            <a:r>
              <a:rPr sz="1100" spc="5" dirty="0">
                <a:latin typeface="Times New Roman"/>
                <a:cs typeface="Times New Roman"/>
              </a:rPr>
              <a:t> </a:t>
            </a:r>
            <a:r>
              <a:rPr sz="1100" dirty="0">
                <a:latin typeface="Times New Roman"/>
                <a:cs typeface="Times New Roman"/>
              </a:rPr>
              <a:t>specify</a:t>
            </a:r>
            <a:r>
              <a:rPr sz="1100" spc="-35" dirty="0">
                <a:latin typeface="Times New Roman"/>
                <a:cs typeface="Times New Roman"/>
              </a:rPr>
              <a:t> </a:t>
            </a:r>
            <a:r>
              <a:rPr sz="1100" dirty="0">
                <a:latin typeface="Times New Roman"/>
                <a:cs typeface="Times New Roman"/>
              </a:rPr>
              <a:t>another</a:t>
            </a:r>
            <a:r>
              <a:rPr sz="1100" spc="-10" dirty="0">
                <a:latin typeface="Times New Roman"/>
                <a:cs typeface="Times New Roman"/>
              </a:rPr>
              <a:t> </a:t>
            </a:r>
            <a:r>
              <a:rPr sz="1100" dirty="0">
                <a:latin typeface="Times New Roman"/>
                <a:cs typeface="Times New Roman"/>
              </a:rPr>
              <a:t>source</a:t>
            </a:r>
            <a:r>
              <a:rPr sz="1100" spc="-20" dirty="0">
                <a:latin typeface="Times New Roman"/>
                <a:cs typeface="Times New Roman"/>
              </a:rPr>
              <a:t> </a:t>
            </a:r>
            <a:r>
              <a:rPr sz="1100" spc="-10" dirty="0">
                <a:latin typeface="Times New Roman"/>
                <a:cs typeface="Times New Roman"/>
              </a:rPr>
              <a:t>register.</a:t>
            </a:r>
            <a:endParaRPr sz="1100">
              <a:latin typeface="Times New Roman"/>
              <a:cs typeface="Times New Roman"/>
            </a:endParaRPr>
          </a:p>
          <a:p>
            <a:pPr marL="400050" indent="-90170">
              <a:lnSpc>
                <a:spcPct val="100000"/>
              </a:lnSpc>
              <a:spcBef>
                <a:spcPts val="960"/>
              </a:spcBef>
              <a:buClr>
                <a:srgbClr val="3E762B"/>
              </a:buClr>
              <a:buFont typeface="Arial MT"/>
              <a:buChar char="•"/>
              <a:tabLst>
                <a:tab pos="400050" algn="l"/>
              </a:tabLst>
            </a:pPr>
            <a:r>
              <a:rPr sz="1100" dirty="0">
                <a:latin typeface="Times New Roman"/>
                <a:cs typeface="Times New Roman"/>
              </a:rPr>
              <a:t>If</a:t>
            </a:r>
            <a:r>
              <a:rPr sz="1100" spc="25" dirty="0">
                <a:latin typeface="Times New Roman"/>
                <a:cs typeface="Times New Roman"/>
              </a:rPr>
              <a:t> </a:t>
            </a:r>
            <a:r>
              <a:rPr sz="1100" dirty="0">
                <a:latin typeface="Times New Roman"/>
                <a:cs typeface="Times New Roman"/>
              </a:rPr>
              <a:t>bit</a:t>
            </a:r>
            <a:r>
              <a:rPr sz="1100" spc="5" dirty="0">
                <a:latin typeface="Times New Roman"/>
                <a:cs typeface="Times New Roman"/>
              </a:rPr>
              <a:t> </a:t>
            </a:r>
            <a:r>
              <a:rPr sz="1100" dirty="0">
                <a:latin typeface="Times New Roman"/>
                <a:cs typeface="Times New Roman"/>
              </a:rPr>
              <a:t>l3</a:t>
            </a:r>
            <a:r>
              <a:rPr sz="1100" spc="-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instruction</a:t>
            </a:r>
            <a:r>
              <a:rPr sz="1100" spc="-30" dirty="0">
                <a:latin typeface="Times New Roman"/>
                <a:cs typeface="Times New Roman"/>
              </a:rPr>
              <a:t> </a:t>
            </a:r>
            <a:r>
              <a:rPr sz="1100" dirty="0">
                <a:latin typeface="Times New Roman"/>
                <a:cs typeface="Times New Roman"/>
              </a:rPr>
              <a:t>is 1, S2</a:t>
            </a:r>
            <a:r>
              <a:rPr sz="1100" spc="10" dirty="0">
                <a:latin typeface="Times New Roman"/>
                <a:cs typeface="Times New Roman"/>
              </a:rPr>
              <a:t> </a:t>
            </a:r>
            <a:r>
              <a:rPr sz="1100" dirty="0">
                <a:latin typeface="Times New Roman"/>
                <a:cs typeface="Times New Roman"/>
              </a:rPr>
              <a:t>specifies</a:t>
            </a:r>
            <a:r>
              <a:rPr sz="1100" spc="-35" dirty="0">
                <a:latin typeface="Times New Roman"/>
                <a:cs typeface="Times New Roman"/>
              </a:rPr>
              <a:t> </a:t>
            </a:r>
            <a:r>
              <a:rPr sz="1100" dirty="0">
                <a:latin typeface="Times New Roman"/>
                <a:cs typeface="Times New Roman"/>
              </a:rPr>
              <a:t>a</a:t>
            </a:r>
            <a:r>
              <a:rPr sz="1100" spc="15" dirty="0">
                <a:latin typeface="Times New Roman"/>
                <a:cs typeface="Times New Roman"/>
              </a:rPr>
              <a:t> </a:t>
            </a:r>
            <a:r>
              <a:rPr sz="1100" spc="-10" dirty="0">
                <a:latin typeface="Times New Roman"/>
                <a:cs typeface="Times New Roman"/>
              </a:rPr>
              <a:t>sign-</a:t>
            </a:r>
            <a:r>
              <a:rPr sz="1100" dirty="0">
                <a:latin typeface="Times New Roman"/>
                <a:cs typeface="Times New Roman"/>
              </a:rPr>
              <a:t>extended</a:t>
            </a:r>
            <a:r>
              <a:rPr sz="1100" spc="-5" dirty="0">
                <a:latin typeface="Times New Roman"/>
                <a:cs typeface="Times New Roman"/>
              </a:rPr>
              <a:t> </a:t>
            </a:r>
            <a:r>
              <a:rPr sz="1100" spc="-10" dirty="0">
                <a:latin typeface="Times New Roman"/>
                <a:cs typeface="Times New Roman"/>
              </a:rPr>
              <a:t>l3-</a:t>
            </a:r>
            <a:r>
              <a:rPr sz="1100" dirty="0">
                <a:latin typeface="Times New Roman"/>
                <a:cs typeface="Times New Roman"/>
              </a:rPr>
              <a:t>bit</a:t>
            </a:r>
            <a:r>
              <a:rPr sz="1100" spc="20" dirty="0">
                <a:latin typeface="Times New Roman"/>
                <a:cs typeface="Times New Roman"/>
              </a:rPr>
              <a:t> </a:t>
            </a:r>
            <a:r>
              <a:rPr sz="1100" spc="-10" dirty="0">
                <a:latin typeface="Times New Roman"/>
                <a:cs typeface="Times New Roman"/>
              </a:rPr>
              <a:t>constant.</a:t>
            </a:r>
            <a:endParaRPr sz="11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a:p>
            <a:pPr marL="338455" indent="-172720">
              <a:lnSpc>
                <a:spcPct val="100000"/>
              </a:lnSpc>
              <a:spcBef>
                <a:spcPts val="1410"/>
              </a:spcBef>
              <a:buClr>
                <a:srgbClr val="3E762B"/>
              </a:buClr>
              <a:buFont typeface="Wingdings"/>
              <a:buChar char=""/>
              <a:tabLst>
                <a:tab pos="338455" algn="l"/>
              </a:tabLst>
            </a:pPr>
            <a:r>
              <a:rPr sz="1100" dirty="0">
                <a:latin typeface="Times New Roman"/>
                <a:cs typeface="Times New Roman"/>
              </a:rPr>
              <a:t>The</a:t>
            </a:r>
            <a:r>
              <a:rPr sz="1100" spc="-20" dirty="0">
                <a:latin typeface="Times New Roman"/>
                <a:cs typeface="Times New Roman"/>
              </a:rPr>
              <a:t> </a:t>
            </a:r>
            <a:r>
              <a:rPr sz="1100" dirty="0">
                <a:latin typeface="Times New Roman"/>
                <a:cs typeface="Times New Roman"/>
              </a:rPr>
              <a:t>memory access</a:t>
            </a:r>
            <a:r>
              <a:rPr sz="1100" spc="-25" dirty="0">
                <a:latin typeface="Times New Roman"/>
                <a:cs typeface="Times New Roman"/>
              </a:rPr>
              <a:t> </a:t>
            </a:r>
            <a:r>
              <a:rPr sz="1100" spc="-10" dirty="0">
                <a:latin typeface="Times New Roman"/>
                <a:cs typeface="Times New Roman"/>
              </a:rPr>
              <a:t>instructions</a:t>
            </a:r>
            <a:endParaRPr sz="1100">
              <a:latin typeface="Times New Roman"/>
              <a:cs typeface="Times New Roman"/>
            </a:endParaRPr>
          </a:p>
          <a:p>
            <a:pPr marL="509905" lvl="1" indent="-115570">
              <a:lnSpc>
                <a:spcPct val="100000"/>
              </a:lnSpc>
              <a:spcBef>
                <a:spcPts val="625"/>
              </a:spcBef>
              <a:buClr>
                <a:srgbClr val="3E762B"/>
              </a:buClr>
              <a:buFont typeface="Arial MT"/>
              <a:buChar char="•"/>
              <a:tabLst>
                <a:tab pos="509905" algn="l"/>
              </a:tabLst>
            </a:pPr>
            <a:r>
              <a:rPr sz="1100" dirty="0">
                <a:latin typeface="Times New Roman"/>
                <a:cs typeface="Times New Roman"/>
              </a:rPr>
              <a:t>Use</a:t>
            </a:r>
            <a:r>
              <a:rPr sz="1100" spc="-5" dirty="0">
                <a:latin typeface="Times New Roman"/>
                <a:cs typeface="Times New Roman"/>
              </a:rPr>
              <a:t> </a:t>
            </a:r>
            <a:r>
              <a:rPr sz="1100" dirty="0">
                <a:latin typeface="Times New Roman"/>
                <a:cs typeface="Times New Roman"/>
              </a:rPr>
              <a:t>Rs</a:t>
            </a:r>
            <a:r>
              <a:rPr sz="1100" spc="-5" dirty="0">
                <a:latin typeface="Times New Roman"/>
                <a:cs typeface="Times New Roman"/>
              </a:rPr>
              <a:t> </a:t>
            </a:r>
            <a:r>
              <a:rPr sz="1100" dirty="0">
                <a:latin typeface="Times New Roman"/>
                <a:cs typeface="Times New Roman"/>
              </a:rPr>
              <a:t>to</a:t>
            </a:r>
            <a:r>
              <a:rPr sz="1100" spc="5" dirty="0">
                <a:latin typeface="Times New Roman"/>
                <a:cs typeface="Times New Roman"/>
              </a:rPr>
              <a:t> </a:t>
            </a:r>
            <a:r>
              <a:rPr sz="1100" dirty="0">
                <a:latin typeface="Times New Roman"/>
                <a:cs typeface="Times New Roman"/>
              </a:rPr>
              <a:t>specify</a:t>
            </a:r>
            <a:r>
              <a:rPr sz="1100" spc="-35"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spc="-10" dirty="0">
                <a:latin typeface="Times New Roman"/>
                <a:cs typeface="Times New Roman"/>
              </a:rPr>
              <a:t>32-</a:t>
            </a:r>
            <a:r>
              <a:rPr sz="1100" dirty="0">
                <a:latin typeface="Times New Roman"/>
                <a:cs typeface="Times New Roman"/>
              </a:rPr>
              <a:t>bit</a:t>
            </a:r>
            <a:r>
              <a:rPr sz="1100" spc="15" dirty="0">
                <a:latin typeface="Times New Roman"/>
                <a:cs typeface="Times New Roman"/>
              </a:rPr>
              <a:t> </a:t>
            </a:r>
            <a:r>
              <a:rPr sz="1100" dirty="0">
                <a:latin typeface="Times New Roman"/>
                <a:cs typeface="Times New Roman"/>
              </a:rPr>
              <a:t>address</a:t>
            </a:r>
            <a:r>
              <a:rPr sz="1100" spc="-30"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register</a:t>
            </a:r>
            <a:r>
              <a:rPr sz="1100" spc="-1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S2</a:t>
            </a:r>
            <a:r>
              <a:rPr sz="1100" spc="5" dirty="0">
                <a:latin typeface="Times New Roman"/>
                <a:cs typeface="Times New Roman"/>
              </a:rPr>
              <a:t> </a:t>
            </a:r>
            <a:r>
              <a:rPr sz="1100" dirty="0">
                <a:latin typeface="Times New Roman"/>
                <a:cs typeface="Times New Roman"/>
              </a:rPr>
              <a:t>to specify</a:t>
            </a:r>
            <a:r>
              <a:rPr sz="1100" spc="-20" dirty="0">
                <a:latin typeface="Times New Roman"/>
                <a:cs typeface="Times New Roman"/>
              </a:rPr>
              <a:t> </a:t>
            </a:r>
            <a:r>
              <a:rPr sz="1100" dirty="0">
                <a:latin typeface="Times New Roman"/>
                <a:cs typeface="Times New Roman"/>
              </a:rPr>
              <a:t>an</a:t>
            </a:r>
            <a:r>
              <a:rPr sz="1100" spc="-5" dirty="0">
                <a:latin typeface="Times New Roman"/>
                <a:cs typeface="Times New Roman"/>
              </a:rPr>
              <a:t> </a:t>
            </a:r>
            <a:r>
              <a:rPr sz="1100" spc="-10" dirty="0">
                <a:latin typeface="Times New Roman"/>
                <a:cs typeface="Times New Roman"/>
              </a:rPr>
              <a:t>offset.</a:t>
            </a:r>
            <a:endParaRPr sz="1100">
              <a:latin typeface="Times New Roman"/>
              <a:cs typeface="Times New Roman"/>
            </a:endParaRPr>
          </a:p>
          <a:p>
            <a:pPr lvl="1">
              <a:lnSpc>
                <a:spcPct val="100000"/>
              </a:lnSpc>
              <a:spcBef>
                <a:spcPts val="160"/>
              </a:spcBef>
              <a:buClr>
                <a:srgbClr val="3E762B"/>
              </a:buClr>
              <a:buFont typeface="Arial MT"/>
              <a:buChar char="•"/>
            </a:pPr>
            <a:endParaRPr sz="1100">
              <a:latin typeface="Times New Roman"/>
              <a:cs typeface="Times New Roman"/>
            </a:endParaRPr>
          </a:p>
          <a:p>
            <a:pPr marL="338455" indent="-172720">
              <a:lnSpc>
                <a:spcPct val="100000"/>
              </a:lnSpc>
              <a:buClr>
                <a:srgbClr val="3E762B"/>
              </a:buClr>
              <a:buFont typeface="Wingdings"/>
              <a:buChar char=""/>
              <a:tabLst>
                <a:tab pos="338455" algn="l"/>
              </a:tabLst>
            </a:pPr>
            <a:r>
              <a:rPr sz="1100" b="1" dirty="0">
                <a:latin typeface="Times New Roman"/>
                <a:cs typeface="Times New Roman"/>
              </a:rPr>
              <a:t>Register</a:t>
            </a:r>
            <a:r>
              <a:rPr sz="1100" b="1" spc="-50" dirty="0">
                <a:latin typeface="Times New Roman"/>
                <a:cs typeface="Times New Roman"/>
              </a:rPr>
              <a:t> </a:t>
            </a:r>
            <a:r>
              <a:rPr sz="1100" b="1" dirty="0">
                <a:latin typeface="Times New Roman"/>
                <a:cs typeface="Times New Roman"/>
              </a:rPr>
              <a:t>R0 contains</a:t>
            </a:r>
            <a:r>
              <a:rPr sz="1100" b="1" spc="-25" dirty="0">
                <a:latin typeface="Times New Roman"/>
                <a:cs typeface="Times New Roman"/>
              </a:rPr>
              <a:t> </a:t>
            </a:r>
            <a:r>
              <a:rPr sz="1100" b="1" dirty="0">
                <a:latin typeface="Times New Roman"/>
                <a:cs typeface="Times New Roman"/>
              </a:rPr>
              <a:t>all</a:t>
            </a:r>
            <a:r>
              <a:rPr sz="1100" b="1" spc="-20" dirty="0">
                <a:latin typeface="Times New Roman"/>
                <a:cs typeface="Times New Roman"/>
              </a:rPr>
              <a:t> </a:t>
            </a:r>
            <a:r>
              <a:rPr sz="1100" b="1" dirty="0">
                <a:latin typeface="Times New Roman"/>
                <a:cs typeface="Times New Roman"/>
              </a:rPr>
              <a:t>0’s,</a:t>
            </a:r>
            <a:r>
              <a:rPr sz="1100" b="1" spc="-15" dirty="0">
                <a:latin typeface="Times New Roman"/>
                <a:cs typeface="Times New Roman"/>
              </a:rPr>
              <a:t> </a:t>
            </a:r>
            <a:r>
              <a:rPr sz="1100" b="1" dirty="0">
                <a:latin typeface="Times New Roman"/>
                <a:cs typeface="Times New Roman"/>
              </a:rPr>
              <a:t>so</a:t>
            </a:r>
            <a:r>
              <a:rPr sz="1100" b="1" spc="-10" dirty="0">
                <a:latin typeface="Times New Roman"/>
                <a:cs typeface="Times New Roman"/>
              </a:rPr>
              <a:t> </a:t>
            </a:r>
            <a:r>
              <a:rPr sz="1100" b="1" dirty="0">
                <a:latin typeface="Times New Roman"/>
                <a:cs typeface="Times New Roman"/>
              </a:rPr>
              <a:t>it</a:t>
            </a:r>
            <a:r>
              <a:rPr sz="1100" b="1" spc="-10" dirty="0">
                <a:latin typeface="Times New Roman"/>
                <a:cs typeface="Times New Roman"/>
              </a:rPr>
              <a:t> </a:t>
            </a:r>
            <a:r>
              <a:rPr sz="1100" b="1" dirty="0">
                <a:latin typeface="Times New Roman"/>
                <a:cs typeface="Times New Roman"/>
              </a:rPr>
              <a:t>can be</a:t>
            </a:r>
            <a:r>
              <a:rPr sz="1100" b="1" spc="-15" dirty="0">
                <a:latin typeface="Times New Roman"/>
                <a:cs typeface="Times New Roman"/>
              </a:rPr>
              <a:t> </a:t>
            </a:r>
            <a:r>
              <a:rPr sz="1100" b="1" dirty="0">
                <a:latin typeface="Times New Roman"/>
                <a:cs typeface="Times New Roman"/>
              </a:rPr>
              <a:t>used</a:t>
            </a:r>
            <a:r>
              <a:rPr sz="1100" b="1" spc="-20" dirty="0">
                <a:latin typeface="Times New Roman"/>
                <a:cs typeface="Times New Roman"/>
              </a:rPr>
              <a:t> </a:t>
            </a:r>
            <a:r>
              <a:rPr sz="1100" b="1" dirty="0">
                <a:latin typeface="Times New Roman"/>
                <a:cs typeface="Times New Roman"/>
              </a:rPr>
              <a:t>in any</a:t>
            </a:r>
            <a:r>
              <a:rPr sz="1100" b="1" spc="-15" dirty="0">
                <a:latin typeface="Times New Roman"/>
                <a:cs typeface="Times New Roman"/>
              </a:rPr>
              <a:t> </a:t>
            </a:r>
            <a:r>
              <a:rPr sz="1100" b="1" dirty="0">
                <a:latin typeface="Times New Roman"/>
                <a:cs typeface="Times New Roman"/>
              </a:rPr>
              <a:t>field</a:t>
            </a:r>
            <a:r>
              <a:rPr sz="1100" b="1" spc="-25" dirty="0">
                <a:latin typeface="Times New Roman"/>
                <a:cs typeface="Times New Roman"/>
              </a:rPr>
              <a:t> </a:t>
            </a:r>
            <a:r>
              <a:rPr sz="1100" b="1" dirty="0">
                <a:latin typeface="Times New Roman"/>
                <a:cs typeface="Times New Roman"/>
              </a:rPr>
              <a:t>to</a:t>
            </a:r>
            <a:r>
              <a:rPr sz="1100" b="1" spc="-20" dirty="0">
                <a:latin typeface="Times New Roman"/>
                <a:cs typeface="Times New Roman"/>
              </a:rPr>
              <a:t> </a:t>
            </a:r>
            <a:r>
              <a:rPr sz="1100" b="1" dirty="0">
                <a:latin typeface="Times New Roman"/>
                <a:cs typeface="Times New Roman"/>
              </a:rPr>
              <a:t>specify</a:t>
            </a:r>
            <a:r>
              <a:rPr sz="1100" b="1" spc="-40" dirty="0">
                <a:latin typeface="Times New Roman"/>
                <a:cs typeface="Times New Roman"/>
              </a:rPr>
              <a:t> </a:t>
            </a:r>
            <a:r>
              <a:rPr sz="1100" b="1" dirty="0">
                <a:latin typeface="Times New Roman"/>
                <a:cs typeface="Times New Roman"/>
              </a:rPr>
              <a:t>a zero </a:t>
            </a:r>
            <a:r>
              <a:rPr sz="1100" b="1" spc="-10" dirty="0">
                <a:latin typeface="Times New Roman"/>
                <a:cs typeface="Times New Roman"/>
              </a:rPr>
              <a:t>quantity.</a:t>
            </a:r>
            <a:endParaRPr sz="1100">
              <a:latin typeface="Times New Roman"/>
              <a:cs typeface="Times New Roman"/>
            </a:endParaRPr>
          </a:p>
          <a:p>
            <a:pPr marL="338455" indent="-172720">
              <a:lnSpc>
                <a:spcPct val="100000"/>
              </a:lnSpc>
              <a:spcBef>
                <a:spcPts val="1225"/>
              </a:spcBef>
              <a:buClr>
                <a:srgbClr val="3E762B"/>
              </a:buClr>
              <a:buFont typeface="Wingdings"/>
              <a:buChar char=""/>
              <a:tabLst>
                <a:tab pos="338455" algn="l"/>
              </a:tabLst>
            </a:pPr>
            <a:r>
              <a:rPr sz="1100" b="1" dirty="0">
                <a:latin typeface="Times New Roman"/>
                <a:cs typeface="Times New Roman"/>
              </a:rPr>
              <a:t>#</a:t>
            </a:r>
            <a:r>
              <a:rPr sz="1100" b="1" spc="5" dirty="0">
                <a:latin typeface="Times New Roman"/>
                <a:cs typeface="Times New Roman"/>
              </a:rPr>
              <a:t> </a:t>
            </a:r>
            <a:r>
              <a:rPr sz="1100" b="1" dirty="0">
                <a:latin typeface="Times New Roman"/>
                <a:cs typeface="Times New Roman"/>
              </a:rPr>
              <a:t>for</a:t>
            </a:r>
            <a:r>
              <a:rPr sz="1100" b="1" spc="-40" dirty="0">
                <a:latin typeface="Times New Roman"/>
                <a:cs typeface="Times New Roman"/>
              </a:rPr>
              <a:t> </a:t>
            </a:r>
            <a:r>
              <a:rPr sz="1100" b="1" dirty="0">
                <a:latin typeface="Times New Roman"/>
                <a:cs typeface="Times New Roman"/>
              </a:rPr>
              <a:t>immediate</a:t>
            </a:r>
            <a:r>
              <a:rPr sz="1100" b="1" spc="-30" dirty="0">
                <a:latin typeface="Times New Roman"/>
                <a:cs typeface="Times New Roman"/>
              </a:rPr>
              <a:t> </a:t>
            </a:r>
            <a:r>
              <a:rPr sz="1100" b="1" spc="-10" dirty="0">
                <a:latin typeface="Times New Roman"/>
                <a:cs typeface="Times New Roman"/>
              </a:rPr>
              <a:t>operand</a:t>
            </a:r>
            <a:endParaRPr sz="1100">
              <a:latin typeface="Times New Roman"/>
              <a:cs typeface="Times New Roman"/>
            </a:endParaRPr>
          </a:p>
          <a:p>
            <a:pPr marL="338455" indent="-172720">
              <a:lnSpc>
                <a:spcPct val="100000"/>
              </a:lnSpc>
              <a:spcBef>
                <a:spcPts val="1235"/>
              </a:spcBef>
              <a:buClr>
                <a:srgbClr val="3E762B"/>
              </a:buClr>
              <a:buFont typeface="Wingdings"/>
              <a:buChar char=""/>
              <a:tabLst>
                <a:tab pos="338455" algn="l"/>
              </a:tabLst>
            </a:pP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program</a:t>
            </a:r>
            <a:r>
              <a:rPr sz="1100" spc="-20" dirty="0">
                <a:latin typeface="Times New Roman"/>
                <a:cs typeface="Times New Roman"/>
              </a:rPr>
              <a:t> </a:t>
            </a:r>
            <a:r>
              <a:rPr sz="1100" dirty="0">
                <a:latin typeface="Times New Roman"/>
                <a:cs typeface="Times New Roman"/>
              </a:rPr>
              <a:t>control</a:t>
            </a:r>
            <a:r>
              <a:rPr sz="1100" spc="-20" dirty="0">
                <a:latin typeface="Times New Roman"/>
                <a:cs typeface="Times New Roman"/>
              </a:rPr>
              <a:t> </a:t>
            </a:r>
            <a:r>
              <a:rPr sz="1100" spc="-10" dirty="0">
                <a:latin typeface="Times New Roman"/>
                <a:cs typeface="Times New Roman"/>
              </a:rPr>
              <a:t>instructions:</a:t>
            </a:r>
            <a:endParaRPr sz="1100">
              <a:latin typeface="Times New Roman"/>
              <a:cs typeface="Times New Roman"/>
            </a:endParaRPr>
          </a:p>
          <a:p>
            <a:pPr marL="509905" lvl="1" indent="-115570">
              <a:lnSpc>
                <a:spcPct val="100000"/>
              </a:lnSpc>
              <a:spcBef>
                <a:spcPts val="625"/>
              </a:spcBef>
              <a:buClr>
                <a:srgbClr val="3E762B"/>
              </a:buClr>
              <a:buFont typeface="Arial MT"/>
              <a:buChar char="•"/>
              <a:tabLst>
                <a:tab pos="509905" algn="l"/>
              </a:tabLst>
            </a:pPr>
            <a:r>
              <a:rPr sz="1100" dirty="0">
                <a:latin typeface="Times New Roman"/>
                <a:cs typeface="Times New Roman"/>
              </a:rPr>
              <a:t>Combines</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last</a:t>
            </a:r>
            <a:r>
              <a:rPr sz="1100" spc="-15" dirty="0">
                <a:latin typeface="Times New Roman"/>
                <a:cs typeface="Times New Roman"/>
              </a:rPr>
              <a:t> </a:t>
            </a:r>
            <a:r>
              <a:rPr sz="1100" dirty="0">
                <a:latin typeface="Times New Roman"/>
                <a:cs typeface="Times New Roman"/>
              </a:rPr>
              <a:t>three</a:t>
            </a:r>
            <a:r>
              <a:rPr sz="1100" spc="-10" dirty="0">
                <a:latin typeface="Times New Roman"/>
                <a:cs typeface="Times New Roman"/>
              </a:rPr>
              <a:t> </a:t>
            </a:r>
            <a:r>
              <a:rPr sz="1100" dirty="0">
                <a:latin typeface="Times New Roman"/>
                <a:cs typeface="Times New Roman"/>
              </a:rPr>
              <a:t>fields</a:t>
            </a:r>
            <a:r>
              <a:rPr sz="1100" spc="-15"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form a</a:t>
            </a:r>
            <a:r>
              <a:rPr sz="1100" spc="-5" dirty="0">
                <a:latin typeface="Times New Roman"/>
                <a:cs typeface="Times New Roman"/>
              </a:rPr>
              <a:t> </a:t>
            </a:r>
            <a:r>
              <a:rPr sz="1100" spc="-10" dirty="0">
                <a:latin typeface="Times New Roman"/>
                <a:cs typeface="Times New Roman"/>
              </a:rPr>
              <a:t>19-</a:t>
            </a:r>
            <a:r>
              <a:rPr sz="1100" dirty="0">
                <a:latin typeface="Times New Roman"/>
                <a:cs typeface="Times New Roman"/>
              </a:rPr>
              <a:t>bit</a:t>
            </a:r>
            <a:r>
              <a:rPr sz="1100" spc="25" dirty="0">
                <a:latin typeface="Times New Roman"/>
                <a:cs typeface="Times New Roman"/>
              </a:rPr>
              <a:t> </a:t>
            </a:r>
            <a:r>
              <a:rPr sz="1100" dirty="0">
                <a:latin typeface="Times New Roman"/>
                <a:cs typeface="Times New Roman"/>
              </a:rPr>
              <a:t>relative</a:t>
            </a:r>
            <a:r>
              <a:rPr sz="1100" spc="-30" dirty="0">
                <a:latin typeface="Times New Roman"/>
                <a:cs typeface="Times New Roman"/>
              </a:rPr>
              <a:t> </a:t>
            </a:r>
            <a:r>
              <a:rPr sz="1100" dirty="0">
                <a:latin typeface="Times New Roman"/>
                <a:cs typeface="Times New Roman"/>
              </a:rPr>
              <a:t>address</a:t>
            </a:r>
            <a:r>
              <a:rPr sz="1100" spc="-65" dirty="0">
                <a:latin typeface="Times New Roman"/>
                <a:cs typeface="Times New Roman"/>
              </a:rPr>
              <a:t> </a:t>
            </a:r>
            <a:r>
              <a:rPr sz="1100" spc="-50" dirty="0">
                <a:latin typeface="Times New Roman"/>
                <a:cs typeface="Times New Roman"/>
              </a:rPr>
              <a:t>Y</a:t>
            </a:r>
            <a:endParaRPr sz="1100">
              <a:latin typeface="Times New Roman"/>
              <a:cs typeface="Times New Roman"/>
            </a:endParaRPr>
          </a:p>
          <a:p>
            <a:pPr marL="509905" lvl="1" indent="-115570">
              <a:lnSpc>
                <a:spcPct val="100000"/>
              </a:lnSpc>
              <a:spcBef>
                <a:spcPts val="830"/>
              </a:spcBef>
              <a:buClr>
                <a:srgbClr val="3E762B"/>
              </a:buClr>
              <a:buFont typeface="Arial MT"/>
              <a:buChar char="•"/>
              <a:tabLst>
                <a:tab pos="509905" algn="l"/>
              </a:tabLst>
            </a:pPr>
            <a:r>
              <a:rPr sz="1100" dirty="0">
                <a:latin typeface="Times New Roman"/>
                <a:cs typeface="Times New Roman"/>
              </a:rPr>
              <a:t>It</a:t>
            </a:r>
            <a:r>
              <a:rPr sz="1100" spc="15"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primarily</a:t>
            </a:r>
            <a:r>
              <a:rPr sz="1100" spc="-20" dirty="0">
                <a:latin typeface="Times New Roman"/>
                <a:cs typeface="Times New Roman"/>
              </a:rPr>
              <a:t> </a:t>
            </a:r>
            <a:r>
              <a:rPr sz="1100" dirty="0">
                <a:latin typeface="Times New Roman"/>
                <a:cs typeface="Times New Roman"/>
              </a:rPr>
              <a:t>with</a:t>
            </a:r>
            <a:r>
              <a:rPr sz="1100" spc="-1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jump and</a:t>
            </a:r>
            <a:r>
              <a:rPr sz="1100" spc="-5" dirty="0">
                <a:latin typeface="Times New Roman"/>
                <a:cs typeface="Times New Roman"/>
              </a:rPr>
              <a:t> </a:t>
            </a:r>
            <a:r>
              <a:rPr sz="1100" dirty="0">
                <a:latin typeface="Times New Roman"/>
                <a:cs typeface="Times New Roman"/>
              </a:rPr>
              <a:t>call</a:t>
            </a:r>
            <a:r>
              <a:rPr sz="1100" spc="-20" dirty="0">
                <a:latin typeface="Times New Roman"/>
                <a:cs typeface="Times New Roman"/>
              </a:rPr>
              <a:t> </a:t>
            </a:r>
            <a:r>
              <a:rPr sz="1100" spc="-10" dirty="0">
                <a:latin typeface="Times New Roman"/>
                <a:cs typeface="Times New Roman"/>
              </a:rPr>
              <a:t>instructions.</a:t>
            </a:r>
            <a:endParaRPr sz="1100">
              <a:latin typeface="Times New Roman"/>
              <a:cs typeface="Times New Roman"/>
            </a:endParaRPr>
          </a:p>
          <a:p>
            <a:pPr marL="509270" marR="214629" lvl="1" indent="-115570">
              <a:lnSpc>
                <a:spcPct val="140000"/>
              </a:lnSpc>
              <a:spcBef>
                <a:spcPts val="300"/>
              </a:spcBef>
              <a:buClr>
                <a:srgbClr val="3E762B"/>
              </a:buClr>
              <a:buFont typeface="Arial MT"/>
              <a:buChar char="•"/>
              <a:tabLst>
                <a:tab pos="511175" algn="l"/>
              </a:tabLst>
            </a:pP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COND field</a:t>
            </a:r>
            <a:r>
              <a:rPr sz="1100" spc="-20" dirty="0">
                <a:latin typeface="Times New Roman"/>
                <a:cs typeface="Times New Roman"/>
              </a:rPr>
              <a:t> </a:t>
            </a:r>
            <a:r>
              <a:rPr sz="1100" dirty="0">
                <a:latin typeface="Times New Roman"/>
                <a:cs typeface="Times New Roman"/>
              </a:rPr>
              <a:t>replaces</a:t>
            </a:r>
            <a:r>
              <a:rPr sz="1100" spc="-3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Rd</a:t>
            </a:r>
            <a:r>
              <a:rPr sz="1100" spc="5" dirty="0">
                <a:latin typeface="Times New Roman"/>
                <a:cs typeface="Times New Roman"/>
              </a:rPr>
              <a:t> </a:t>
            </a:r>
            <a:r>
              <a:rPr sz="1100" dirty="0">
                <a:latin typeface="Times New Roman"/>
                <a:cs typeface="Times New Roman"/>
              </a:rPr>
              <a:t>field</a:t>
            </a:r>
            <a:r>
              <a:rPr sz="1100" spc="-20"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jump</a:t>
            </a:r>
            <a:r>
              <a:rPr sz="1100" spc="-15" dirty="0">
                <a:latin typeface="Times New Roman"/>
                <a:cs typeface="Times New Roman"/>
              </a:rPr>
              <a:t> </a:t>
            </a:r>
            <a:r>
              <a:rPr sz="1100" dirty="0">
                <a:latin typeface="Times New Roman"/>
                <a:cs typeface="Times New Roman"/>
              </a:rPr>
              <a:t>instructions</a:t>
            </a:r>
            <a:r>
              <a:rPr sz="1100" spc="-4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specify</a:t>
            </a:r>
            <a:r>
              <a:rPr sz="1100" spc="-35" dirty="0">
                <a:latin typeface="Times New Roman"/>
                <a:cs typeface="Times New Roman"/>
              </a:rPr>
              <a:t> </a:t>
            </a:r>
            <a:r>
              <a:rPr sz="1100" dirty="0">
                <a:latin typeface="Times New Roman"/>
                <a:cs typeface="Times New Roman"/>
              </a:rPr>
              <a:t>one</a:t>
            </a:r>
            <a:r>
              <a:rPr sz="1100" spc="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spc="-25" dirty="0">
                <a:latin typeface="Times New Roman"/>
                <a:cs typeface="Times New Roman"/>
              </a:rPr>
              <a:t>16 	</a:t>
            </a:r>
            <a:r>
              <a:rPr sz="1100" dirty="0">
                <a:latin typeface="Times New Roman"/>
                <a:cs typeface="Times New Roman"/>
              </a:rPr>
              <a:t>possible</a:t>
            </a:r>
            <a:r>
              <a:rPr sz="1100" spc="-30" dirty="0">
                <a:latin typeface="Times New Roman"/>
                <a:cs typeface="Times New Roman"/>
              </a:rPr>
              <a:t> </a:t>
            </a:r>
            <a:r>
              <a:rPr sz="1100" dirty="0">
                <a:latin typeface="Times New Roman"/>
                <a:cs typeface="Times New Roman"/>
              </a:rPr>
              <a:t>branch</a:t>
            </a:r>
            <a:r>
              <a:rPr sz="1100" spc="-20" dirty="0">
                <a:latin typeface="Times New Roman"/>
                <a:cs typeface="Times New Roman"/>
              </a:rPr>
              <a:t> </a:t>
            </a:r>
            <a:r>
              <a:rPr sz="1100" spc="-10" dirty="0">
                <a:latin typeface="Times New Roman"/>
                <a:cs typeface="Times New Roman"/>
              </a:rPr>
              <a:t>conditions.</a:t>
            </a:r>
            <a:endParaRPr sz="11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p:txBody>
      </p:sp>
      <p:pic>
        <p:nvPicPr>
          <p:cNvPr id="3" name="object 3"/>
          <p:cNvPicPr/>
          <p:nvPr/>
        </p:nvPicPr>
        <p:blipFill>
          <a:blip r:embed="rId2" cstate="print"/>
          <a:stretch>
            <a:fillRect/>
          </a:stretch>
        </p:blipFill>
        <p:spPr>
          <a:xfrm>
            <a:off x="816863" y="1572767"/>
            <a:ext cx="3575304" cy="2549652"/>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p:txBody>
      </p:sp>
      <p:pic>
        <p:nvPicPr>
          <p:cNvPr id="9" name="object 9"/>
          <p:cNvPicPr/>
          <p:nvPr/>
        </p:nvPicPr>
        <p:blipFill>
          <a:blip r:embed="rId3" cstate="print"/>
          <a:stretch>
            <a:fillRect/>
          </a:stretch>
        </p:blipFill>
        <p:spPr>
          <a:xfrm>
            <a:off x="720851" y="5562600"/>
            <a:ext cx="4459224" cy="2560320"/>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1163" y="2039112"/>
            <a:ext cx="4434840" cy="1037844"/>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a:p>
            <a:pPr marL="350520" indent="-171450">
              <a:lnSpc>
                <a:spcPct val="100000"/>
              </a:lnSpc>
              <a:spcBef>
                <a:spcPts val="1345"/>
              </a:spcBef>
              <a:buFont typeface="Wingdings"/>
              <a:buChar char=""/>
              <a:tabLst>
                <a:tab pos="350520" algn="l"/>
              </a:tabLst>
            </a:pPr>
            <a:r>
              <a:rPr sz="1200" b="1" dirty="0">
                <a:solidFill>
                  <a:srgbClr val="3E762B"/>
                </a:solidFill>
                <a:latin typeface="Times New Roman"/>
                <a:cs typeface="Times New Roman"/>
              </a:rPr>
              <a:t>ADD</a:t>
            </a:r>
            <a:r>
              <a:rPr sz="1200" b="1" spc="-10" dirty="0">
                <a:solidFill>
                  <a:srgbClr val="3E762B"/>
                </a:solidFill>
                <a:latin typeface="Times New Roman"/>
                <a:cs typeface="Times New Roman"/>
              </a:rPr>
              <a:t> </a:t>
            </a:r>
            <a:r>
              <a:rPr sz="1200" b="1" dirty="0">
                <a:solidFill>
                  <a:srgbClr val="3E762B"/>
                </a:solidFill>
                <a:latin typeface="Times New Roman"/>
                <a:cs typeface="Times New Roman"/>
              </a:rPr>
              <a:t>instruction</a:t>
            </a:r>
            <a:r>
              <a:rPr sz="1200" b="1" spc="-15" dirty="0">
                <a:solidFill>
                  <a:srgbClr val="3E762B"/>
                </a:solidFill>
                <a:latin typeface="Times New Roman"/>
                <a:cs typeface="Times New Roman"/>
              </a:rPr>
              <a:t> </a:t>
            </a:r>
            <a:r>
              <a:rPr sz="1200" b="1" dirty="0">
                <a:solidFill>
                  <a:srgbClr val="3E762B"/>
                </a:solidFill>
                <a:latin typeface="Times New Roman"/>
                <a:cs typeface="Times New Roman"/>
              </a:rPr>
              <a:t>and</a:t>
            </a:r>
            <a:r>
              <a:rPr sz="1200" b="1" spc="-25" dirty="0">
                <a:solidFill>
                  <a:srgbClr val="3E762B"/>
                </a:solidFill>
                <a:latin typeface="Times New Roman"/>
                <a:cs typeface="Times New Roman"/>
              </a:rPr>
              <a:t> </a:t>
            </a:r>
            <a:r>
              <a:rPr sz="1200" b="1" dirty="0">
                <a:solidFill>
                  <a:srgbClr val="3E762B"/>
                </a:solidFill>
                <a:latin typeface="Times New Roman"/>
                <a:cs typeface="Times New Roman"/>
              </a:rPr>
              <a:t>how</a:t>
            </a:r>
            <a:r>
              <a:rPr sz="1200" b="1" spc="-20" dirty="0">
                <a:solidFill>
                  <a:srgbClr val="3E762B"/>
                </a:solidFill>
                <a:latin typeface="Times New Roman"/>
                <a:cs typeface="Times New Roman"/>
              </a:rPr>
              <a:t> </a:t>
            </a:r>
            <a:r>
              <a:rPr sz="1200" b="1" dirty="0">
                <a:solidFill>
                  <a:srgbClr val="3E762B"/>
                </a:solidFill>
                <a:latin typeface="Times New Roman"/>
                <a:cs typeface="Times New Roman"/>
              </a:rPr>
              <a:t>it</a:t>
            </a:r>
            <a:r>
              <a:rPr sz="1200" b="1" spc="-15" dirty="0">
                <a:solidFill>
                  <a:srgbClr val="3E762B"/>
                </a:solidFill>
                <a:latin typeface="Times New Roman"/>
                <a:cs typeface="Times New Roman"/>
              </a:rPr>
              <a:t> </a:t>
            </a:r>
            <a:r>
              <a:rPr sz="1200" b="1" dirty="0">
                <a:solidFill>
                  <a:srgbClr val="3E762B"/>
                </a:solidFill>
                <a:latin typeface="Times New Roman"/>
                <a:cs typeface="Times New Roman"/>
              </a:rPr>
              <a:t>can</a:t>
            </a:r>
            <a:r>
              <a:rPr sz="1200" b="1" spc="-15" dirty="0">
                <a:solidFill>
                  <a:srgbClr val="3E762B"/>
                </a:solidFill>
                <a:latin typeface="Times New Roman"/>
                <a:cs typeface="Times New Roman"/>
              </a:rPr>
              <a:t> </a:t>
            </a:r>
            <a:r>
              <a:rPr sz="1200" b="1" dirty="0">
                <a:solidFill>
                  <a:srgbClr val="3E762B"/>
                </a:solidFill>
                <a:latin typeface="Times New Roman"/>
                <a:cs typeface="Times New Roman"/>
              </a:rPr>
              <a:t>be</a:t>
            </a:r>
            <a:r>
              <a:rPr sz="1200" b="1" spc="-20" dirty="0">
                <a:solidFill>
                  <a:srgbClr val="3E762B"/>
                </a:solidFill>
                <a:latin typeface="Times New Roman"/>
                <a:cs typeface="Times New Roman"/>
              </a:rPr>
              <a:t> </a:t>
            </a:r>
            <a:r>
              <a:rPr sz="1200" b="1" dirty="0">
                <a:solidFill>
                  <a:srgbClr val="3E762B"/>
                </a:solidFill>
                <a:latin typeface="Times New Roman"/>
                <a:cs typeface="Times New Roman"/>
              </a:rPr>
              <a:t>used</a:t>
            </a:r>
            <a:r>
              <a:rPr sz="1200" b="1" spc="-15" dirty="0">
                <a:solidFill>
                  <a:srgbClr val="3E762B"/>
                </a:solidFill>
                <a:latin typeface="Times New Roman"/>
                <a:cs typeface="Times New Roman"/>
              </a:rPr>
              <a:t> </a:t>
            </a:r>
            <a:r>
              <a:rPr sz="1200" b="1" dirty="0">
                <a:solidFill>
                  <a:srgbClr val="3E762B"/>
                </a:solidFill>
                <a:latin typeface="Times New Roman"/>
                <a:cs typeface="Times New Roman"/>
              </a:rPr>
              <a:t>to</a:t>
            </a:r>
            <a:r>
              <a:rPr sz="1200" b="1" spc="-10" dirty="0">
                <a:solidFill>
                  <a:srgbClr val="3E762B"/>
                </a:solidFill>
                <a:latin typeface="Times New Roman"/>
                <a:cs typeface="Times New Roman"/>
              </a:rPr>
              <a:t> </a:t>
            </a:r>
            <a:r>
              <a:rPr sz="1200" b="1" dirty="0">
                <a:solidFill>
                  <a:srgbClr val="3E762B"/>
                </a:solidFill>
                <a:latin typeface="Times New Roman"/>
                <a:cs typeface="Times New Roman"/>
              </a:rPr>
              <a:t>perform</a:t>
            </a:r>
            <a:r>
              <a:rPr sz="1200" b="1" spc="-15" dirty="0">
                <a:solidFill>
                  <a:srgbClr val="3E762B"/>
                </a:solidFill>
                <a:latin typeface="Times New Roman"/>
                <a:cs typeface="Times New Roman"/>
              </a:rPr>
              <a:t> </a:t>
            </a:r>
            <a:r>
              <a:rPr sz="1200" b="1" dirty="0">
                <a:solidFill>
                  <a:srgbClr val="3E762B"/>
                </a:solidFill>
                <a:latin typeface="Times New Roman"/>
                <a:cs typeface="Times New Roman"/>
              </a:rPr>
              <a:t>a</a:t>
            </a:r>
            <a:r>
              <a:rPr sz="1200" b="1" spc="-15" dirty="0">
                <a:solidFill>
                  <a:srgbClr val="3E762B"/>
                </a:solidFill>
                <a:latin typeface="Times New Roman"/>
                <a:cs typeface="Times New Roman"/>
              </a:rPr>
              <a:t> </a:t>
            </a:r>
            <a:r>
              <a:rPr sz="1200" b="1" dirty="0">
                <a:solidFill>
                  <a:srgbClr val="3E762B"/>
                </a:solidFill>
                <a:latin typeface="Times New Roman"/>
                <a:cs typeface="Times New Roman"/>
              </a:rPr>
              <a:t>variety</a:t>
            </a:r>
            <a:r>
              <a:rPr sz="1200" b="1" spc="-15" dirty="0">
                <a:solidFill>
                  <a:srgbClr val="3E762B"/>
                </a:solidFill>
                <a:latin typeface="Times New Roman"/>
                <a:cs typeface="Times New Roman"/>
              </a:rPr>
              <a:t> </a:t>
            </a:r>
            <a:r>
              <a:rPr sz="1200" b="1" dirty="0">
                <a:solidFill>
                  <a:srgbClr val="3E762B"/>
                </a:solidFill>
                <a:latin typeface="Times New Roman"/>
                <a:cs typeface="Times New Roman"/>
              </a:rPr>
              <a:t>of</a:t>
            </a:r>
            <a:r>
              <a:rPr sz="1200" b="1" spc="-10" dirty="0">
                <a:solidFill>
                  <a:srgbClr val="3E762B"/>
                </a:solidFill>
                <a:latin typeface="Times New Roman"/>
                <a:cs typeface="Times New Roman"/>
              </a:rPr>
              <a:t> operations</a:t>
            </a:r>
            <a:endParaRPr sz="1200">
              <a:latin typeface="Times New Roman"/>
              <a:cs typeface="Times New Roman"/>
            </a:endParaRPr>
          </a:p>
        </p:txBody>
      </p:sp>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a:p>
            <a:pPr marR="192405" algn="ctr">
              <a:lnSpc>
                <a:spcPct val="100000"/>
              </a:lnSpc>
              <a:spcBef>
                <a:spcPts val="1835"/>
              </a:spcBef>
            </a:pPr>
            <a:r>
              <a:rPr sz="1200" b="1" dirty="0">
                <a:solidFill>
                  <a:srgbClr val="3E762B"/>
                </a:solidFill>
                <a:latin typeface="Times New Roman"/>
                <a:cs typeface="Times New Roman"/>
              </a:rPr>
              <a:t>R1</a:t>
            </a:r>
            <a:r>
              <a:rPr sz="1200" b="1" spc="-5" dirty="0">
                <a:solidFill>
                  <a:srgbClr val="3E762B"/>
                </a:solidFill>
                <a:latin typeface="Times New Roman"/>
                <a:cs typeface="Times New Roman"/>
              </a:rPr>
              <a:t> </a:t>
            </a:r>
            <a:r>
              <a:rPr sz="1200" dirty="0">
                <a:solidFill>
                  <a:srgbClr val="3E762B"/>
                </a:solidFill>
                <a:latin typeface="Wingdings"/>
                <a:cs typeface="Wingdings"/>
              </a:rPr>
              <a:t></a:t>
            </a:r>
            <a:r>
              <a:rPr sz="1200" dirty="0">
                <a:solidFill>
                  <a:srgbClr val="3E762B"/>
                </a:solidFill>
                <a:latin typeface="Times New Roman"/>
                <a:cs typeface="Times New Roman"/>
              </a:rPr>
              <a:t> </a:t>
            </a:r>
            <a:r>
              <a:rPr sz="1200" b="1" spc="-20" dirty="0">
                <a:solidFill>
                  <a:srgbClr val="3E762B"/>
                </a:solidFill>
                <a:latin typeface="Times New Roman"/>
                <a:cs typeface="Times New Roman"/>
              </a:rPr>
              <a:t>M[B]</a:t>
            </a:r>
            <a:endParaRPr sz="1200">
              <a:latin typeface="Times New Roman"/>
              <a:cs typeface="Times New Roman"/>
            </a:endParaRPr>
          </a:p>
          <a:p>
            <a:pPr marL="349250" indent="-170180">
              <a:lnSpc>
                <a:spcPct val="100000"/>
              </a:lnSpc>
              <a:spcBef>
                <a:spcPts val="995"/>
              </a:spcBef>
              <a:buClr>
                <a:srgbClr val="3E762B"/>
              </a:buClr>
              <a:buFont typeface="Wingdings"/>
              <a:buChar char=""/>
              <a:tabLst>
                <a:tab pos="349250" algn="l"/>
              </a:tabLst>
            </a:pPr>
            <a:r>
              <a:rPr sz="1100" dirty="0">
                <a:latin typeface="Times New Roman"/>
                <a:cs typeface="Times New Roman"/>
              </a:rPr>
              <a:t>Direct</a:t>
            </a:r>
            <a:r>
              <a:rPr sz="1100" spc="-20" dirty="0">
                <a:latin typeface="Times New Roman"/>
                <a:cs typeface="Times New Roman"/>
              </a:rPr>
              <a:t> </a:t>
            </a:r>
            <a:r>
              <a:rPr sz="1100" dirty="0">
                <a:latin typeface="Times New Roman"/>
                <a:cs typeface="Times New Roman"/>
              </a:rPr>
              <a:t>address</a:t>
            </a:r>
            <a:r>
              <a:rPr sz="1100" spc="-30" dirty="0">
                <a:latin typeface="Times New Roman"/>
                <a:cs typeface="Times New Roman"/>
              </a:rPr>
              <a:t> </a:t>
            </a:r>
            <a:r>
              <a:rPr sz="1100" spc="-20" dirty="0">
                <a:latin typeface="Times New Roman"/>
                <a:cs typeface="Times New Roman"/>
              </a:rPr>
              <a:t>mode</a:t>
            </a:r>
            <a:endParaRPr sz="1100">
              <a:latin typeface="Times New Roman"/>
              <a:cs typeface="Times New Roman"/>
            </a:endParaRPr>
          </a:p>
          <a:p>
            <a:pPr marL="349250" indent="-170180">
              <a:lnSpc>
                <a:spcPct val="100000"/>
              </a:lnSpc>
              <a:spcBef>
                <a:spcPts val="1260"/>
              </a:spcBef>
              <a:buClr>
                <a:srgbClr val="3E762B"/>
              </a:buClr>
              <a:buFont typeface="Wingdings"/>
              <a:buChar char=""/>
              <a:tabLst>
                <a:tab pos="349250" algn="l"/>
              </a:tabLst>
            </a:pPr>
            <a:r>
              <a:rPr sz="1100" dirty="0">
                <a:latin typeface="Times New Roman"/>
                <a:cs typeface="Times New Roman"/>
              </a:rPr>
              <a:t>Indirect</a:t>
            </a:r>
            <a:r>
              <a:rPr sz="1100" spc="-10" dirty="0">
                <a:latin typeface="Times New Roman"/>
                <a:cs typeface="Times New Roman"/>
              </a:rPr>
              <a:t> </a:t>
            </a:r>
            <a:r>
              <a:rPr sz="1100" dirty="0">
                <a:latin typeface="Times New Roman"/>
                <a:cs typeface="Times New Roman"/>
              </a:rPr>
              <a:t>address</a:t>
            </a:r>
            <a:r>
              <a:rPr sz="1100" spc="-20" dirty="0">
                <a:latin typeface="Times New Roman"/>
                <a:cs typeface="Times New Roman"/>
              </a:rPr>
              <a:t> mode</a:t>
            </a:r>
            <a:endParaRPr sz="1100">
              <a:latin typeface="Times New Roman"/>
              <a:cs typeface="Times New Roman"/>
            </a:endParaRPr>
          </a:p>
          <a:p>
            <a:pPr marL="349250" indent="-170180">
              <a:lnSpc>
                <a:spcPct val="100000"/>
              </a:lnSpc>
              <a:spcBef>
                <a:spcPts val="1260"/>
              </a:spcBef>
              <a:buClr>
                <a:srgbClr val="3E762B"/>
              </a:buClr>
              <a:buFont typeface="Wingdings"/>
              <a:buChar char=""/>
              <a:tabLst>
                <a:tab pos="349250" algn="l"/>
              </a:tabLst>
            </a:pPr>
            <a:r>
              <a:rPr sz="1100" dirty="0">
                <a:latin typeface="Times New Roman"/>
                <a:cs typeface="Times New Roman"/>
              </a:rPr>
              <a:t>Register</a:t>
            </a:r>
            <a:r>
              <a:rPr sz="1100" spc="-25" dirty="0">
                <a:latin typeface="Times New Roman"/>
                <a:cs typeface="Times New Roman"/>
              </a:rPr>
              <a:t> </a:t>
            </a:r>
            <a:r>
              <a:rPr sz="1100" spc="-20" dirty="0">
                <a:latin typeface="Times New Roman"/>
                <a:cs typeface="Times New Roman"/>
              </a:rPr>
              <a:t>mode</a:t>
            </a:r>
            <a:endParaRPr sz="1100">
              <a:latin typeface="Times New Roman"/>
              <a:cs typeface="Times New Roman"/>
            </a:endParaRPr>
          </a:p>
          <a:p>
            <a:pPr marL="349250" indent="-170180">
              <a:lnSpc>
                <a:spcPct val="100000"/>
              </a:lnSpc>
              <a:spcBef>
                <a:spcPts val="1255"/>
              </a:spcBef>
              <a:buClr>
                <a:srgbClr val="3E762B"/>
              </a:buClr>
              <a:buFont typeface="Wingdings"/>
              <a:buChar char=""/>
              <a:tabLst>
                <a:tab pos="349250" algn="l"/>
              </a:tabLst>
            </a:pPr>
            <a:r>
              <a:rPr sz="1100" dirty="0">
                <a:latin typeface="Times New Roman"/>
                <a:cs typeface="Times New Roman"/>
              </a:rPr>
              <a:t>Register</a:t>
            </a:r>
            <a:r>
              <a:rPr sz="1100" spc="-30" dirty="0">
                <a:latin typeface="Times New Roman"/>
                <a:cs typeface="Times New Roman"/>
              </a:rPr>
              <a:t> </a:t>
            </a:r>
            <a:r>
              <a:rPr sz="1100" dirty="0">
                <a:latin typeface="Times New Roman"/>
                <a:cs typeface="Times New Roman"/>
              </a:rPr>
              <a:t>Indirect</a:t>
            </a:r>
            <a:r>
              <a:rPr sz="1100" spc="-15" dirty="0">
                <a:latin typeface="Times New Roman"/>
                <a:cs typeface="Times New Roman"/>
              </a:rPr>
              <a:t> </a:t>
            </a:r>
            <a:r>
              <a:rPr sz="1100" spc="-20" dirty="0">
                <a:latin typeface="Times New Roman"/>
                <a:cs typeface="Times New Roman"/>
              </a:rPr>
              <a:t>mode</a:t>
            </a:r>
            <a:endParaRPr sz="1100">
              <a:latin typeface="Times New Roman"/>
              <a:cs typeface="Times New Roman"/>
            </a:endParaRPr>
          </a:p>
          <a:p>
            <a:pPr marL="349250" indent="-170180">
              <a:lnSpc>
                <a:spcPct val="100000"/>
              </a:lnSpc>
              <a:spcBef>
                <a:spcPts val="1260"/>
              </a:spcBef>
              <a:buClr>
                <a:srgbClr val="3E762B"/>
              </a:buClr>
              <a:buFont typeface="Wingdings"/>
              <a:buChar char=""/>
              <a:tabLst>
                <a:tab pos="349250" algn="l"/>
              </a:tabLst>
            </a:pPr>
            <a:r>
              <a:rPr sz="1100" dirty="0">
                <a:latin typeface="Times New Roman"/>
                <a:cs typeface="Times New Roman"/>
              </a:rPr>
              <a:t>Autoincrement</a:t>
            </a:r>
            <a:r>
              <a:rPr sz="1100" spc="-50" dirty="0">
                <a:latin typeface="Times New Roman"/>
                <a:cs typeface="Times New Roman"/>
              </a:rPr>
              <a:t> </a:t>
            </a:r>
            <a:r>
              <a:rPr sz="1100" dirty="0">
                <a:latin typeface="Times New Roman"/>
                <a:cs typeface="Times New Roman"/>
              </a:rPr>
              <a:t>or</a:t>
            </a:r>
            <a:r>
              <a:rPr sz="1100" spc="-70" dirty="0">
                <a:latin typeface="Times New Roman"/>
                <a:cs typeface="Times New Roman"/>
              </a:rPr>
              <a:t> </a:t>
            </a:r>
            <a:r>
              <a:rPr sz="1100" dirty="0">
                <a:latin typeface="Times New Roman"/>
                <a:cs typeface="Times New Roman"/>
              </a:rPr>
              <a:t>Autodecrement</a:t>
            </a:r>
            <a:r>
              <a:rPr sz="1100" spc="-35" dirty="0">
                <a:latin typeface="Times New Roman"/>
                <a:cs typeface="Times New Roman"/>
              </a:rPr>
              <a:t> </a:t>
            </a:r>
            <a:r>
              <a:rPr sz="1100" spc="-20" dirty="0">
                <a:latin typeface="Times New Roman"/>
                <a:cs typeface="Times New Roman"/>
              </a:rPr>
              <a:t>mode</a:t>
            </a:r>
            <a:endParaRPr sz="1100">
              <a:latin typeface="Times New Roman"/>
              <a:cs typeface="Times New Roman"/>
            </a:endParaRPr>
          </a:p>
          <a:p>
            <a:pPr marL="349250" indent="-170180">
              <a:lnSpc>
                <a:spcPct val="100000"/>
              </a:lnSpc>
              <a:spcBef>
                <a:spcPts val="1265"/>
              </a:spcBef>
              <a:buClr>
                <a:srgbClr val="3E762B"/>
              </a:buClr>
              <a:buFont typeface="Wingdings"/>
              <a:buChar char=""/>
              <a:tabLst>
                <a:tab pos="349250" algn="l"/>
              </a:tabLst>
            </a:pPr>
            <a:r>
              <a:rPr sz="1100" dirty="0">
                <a:latin typeface="Times New Roman"/>
                <a:cs typeface="Times New Roman"/>
              </a:rPr>
              <a:t>PC</a:t>
            </a:r>
            <a:r>
              <a:rPr sz="1100" spc="15" dirty="0">
                <a:latin typeface="Times New Roman"/>
                <a:cs typeface="Times New Roman"/>
              </a:rPr>
              <a:t> </a:t>
            </a:r>
            <a:r>
              <a:rPr sz="1100" spc="-10" dirty="0">
                <a:latin typeface="Times New Roman"/>
                <a:cs typeface="Times New Roman"/>
              </a:rPr>
              <a:t>Relative</a:t>
            </a:r>
            <a:r>
              <a:rPr sz="1100" spc="-70" dirty="0">
                <a:latin typeface="Times New Roman"/>
                <a:cs typeface="Times New Roman"/>
              </a:rPr>
              <a:t> </a:t>
            </a:r>
            <a:r>
              <a:rPr sz="1100" dirty="0">
                <a:latin typeface="Times New Roman"/>
                <a:cs typeface="Times New Roman"/>
              </a:rPr>
              <a:t>Addressing</a:t>
            </a:r>
            <a:r>
              <a:rPr sz="1100" spc="-15" dirty="0">
                <a:latin typeface="Times New Roman"/>
                <a:cs typeface="Times New Roman"/>
              </a:rPr>
              <a:t> </a:t>
            </a:r>
            <a:r>
              <a:rPr sz="1100" spc="-20" dirty="0">
                <a:latin typeface="Times New Roman"/>
                <a:cs typeface="Times New Roman"/>
              </a:rPr>
              <a:t>mode</a:t>
            </a:r>
            <a:endParaRPr sz="1100">
              <a:latin typeface="Times New Roman"/>
              <a:cs typeface="Times New Roman"/>
            </a:endParaRPr>
          </a:p>
          <a:p>
            <a:pPr marL="349250" indent="-170180">
              <a:lnSpc>
                <a:spcPct val="100000"/>
              </a:lnSpc>
              <a:spcBef>
                <a:spcPts val="1260"/>
              </a:spcBef>
              <a:buClr>
                <a:srgbClr val="3E762B"/>
              </a:buClr>
              <a:buFont typeface="Wingdings"/>
              <a:buChar char=""/>
              <a:tabLst>
                <a:tab pos="349250" algn="l"/>
              </a:tabLst>
            </a:pPr>
            <a:r>
              <a:rPr sz="1100" spc="-10" dirty="0">
                <a:latin typeface="Times New Roman"/>
                <a:cs typeface="Times New Roman"/>
              </a:rPr>
              <a:t>Indexed</a:t>
            </a:r>
            <a:r>
              <a:rPr sz="1100" spc="-40" dirty="0">
                <a:latin typeface="Times New Roman"/>
                <a:cs typeface="Times New Roman"/>
              </a:rPr>
              <a:t> </a:t>
            </a:r>
            <a:r>
              <a:rPr sz="1100" dirty="0">
                <a:latin typeface="Times New Roman"/>
                <a:cs typeface="Times New Roman"/>
              </a:rPr>
              <a:t>Addressing</a:t>
            </a:r>
            <a:r>
              <a:rPr sz="1100" spc="-15" dirty="0">
                <a:latin typeface="Times New Roman"/>
                <a:cs typeface="Times New Roman"/>
              </a:rPr>
              <a:t> </a:t>
            </a:r>
            <a:r>
              <a:rPr sz="1100" spc="-20" dirty="0">
                <a:latin typeface="Times New Roman"/>
                <a:cs typeface="Times New Roman"/>
              </a:rPr>
              <a:t>Mode</a:t>
            </a:r>
            <a:endParaRPr sz="11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Berkeley</a:t>
            </a:r>
            <a:r>
              <a:rPr sz="2200" spc="-65" dirty="0">
                <a:latin typeface="Georgia"/>
                <a:cs typeface="Georgia"/>
              </a:rPr>
              <a:t> </a:t>
            </a:r>
            <a:r>
              <a:rPr sz="2200" dirty="0">
                <a:latin typeface="Georgia"/>
                <a:cs typeface="Georgia"/>
              </a:rPr>
              <a:t>RISC</a:t>
            </a:r>
            <a:r>
              <a:rPr sz="2200" spc="-85" dirty="0">
                <a:latin typeface="Georgia"/>
                <a:cs typeface="Georgia"/>
              </a:rPr>
              <a:t> </a:t>
            </a:r>
            <a:r>
              <a:rPr sz="2200" spc="-50" dirty="0">
                <a:latin typeface="Georgia"/>
                <a:cs typeface="Georgia"/>
              </a:rPr>
              <a:t>I</a:t>
            </a:r>
            <a:endParaRPr sz="2200">
              <a:latin typeface="Georgia"/>
              <a:cs typeface="Georgia"/>
            </a:endParaRPr>
          </a:p>
          <a:p>
            <a:pPr marL="350520" indent="-171450">
              <a:lnSpc>
                <a:spcPct val="100000"/>
              </a:lnSpc>
              <a:spcBef>
                <a:spcPts val="1275"/>
              </a:spcBef>
              <a:buFont typeface="Wingdings"/>
              <a:buChar char=""/>
              <a:tabLst>
                <a:tab pos="350520" algn="l"/>
              </a:tabLst>
            </a:pPr>
            <a:r>
              <a:rPr sz="1200" b="1" dirty="0">
                <a:solidFill>
                  <a:srgbClr val="3E762B"/>
                </a:solidFill>
                <a:latin typeface="Times New Roman"/>
                <a:cs typeface="Times New Roman"/>
              </a:rPr>
              <a:t>Examples</a:t>
            </a:r>
            <a:r>
              <a:rPr sz="1200" b="1" spc="-20" dirty="0">
                <a:solidFill>
                  <a:srgbClr val="3E762B"/>
                </a:solidFill>
                <a:latin typeface="Times New Roman"/>
                <a:cs typeface="Times New Roman"/>
              </a:rPr>
              <a:t> </a:t>
            </a:r>
            <a:r>
              <a:rPr sz="1200" b="1" dirty="0">
                <a:solidFill>
                  <a:srgbClr val="3E762B"/>
                </a:solidFill>
                <a:latin typeface="Times New Roman"/>
                <a:cs typeface="Times New Roman"/>
              </a:rPr>
              <a:t>of</a:t>
            </a:r>
            <a:r>
              <a:rPr sz="1200" b="1" spc="-30" dirty="0">
                <a:solidFill>
                  <a:srgbClr val="3E762B"/>
                </a:solidFill>
                <a:latin typeface="Times New Roman"/>
                <a:cs typeface="Times New Roman"/>
              </a:rPr>
              <a:t> </a:t>
            </a:r>
            <a:r>
              <a:rPr sz="1200" b="1" dirty="0">
                <a:solidFill>
                  <a:srgbClr val="3E762B"/>
                </a:solidFill>
                <a:latin typeface="Times New Roman"/>
                <a:cs typeface="Times New Roman"/>
              </a:rPr>
              <a:t>load</a:t>
            </a:r>
            <a:r>
              <a:rPr sz="1200" b="1" spc="-35" dirty="0">
                <a:solidFill>
                  <a:srgbClr val="3E762B"/>
                </a:solidFill>
                <a:latin typeface="Times New Roman"/>
                <a:cs typeface="Times New Roman"/>
              </a:rPr>
              <a:t> </a:t>
            </a:r>
            <a:r>
              <a:rPr sz="1200" b="1" dirty="0">
                <a:solidFill>
                  <a:srgbClr val="3E762B"/>
                </a:solidFill>
                <a:latin typeface="Times New Roman"/>
                <a:cs typeface="Times New Roman"/>
              </a:rPr>
              <a:t>long</a:t>
            </a:r>
            <a:r>
              <a:rPr sz="1200" b="1" spc="-25" dirty="0">
                <a:solidFill>
                  <a:srgbClr val="3E762B"/>
                </a:solidFill>
                <a:latin typeface="Times New Roman"/>
                <a:cs typeface="Times New Roman"/>
              </a:rPr>
              <a:t> </a:t>
            </a:r>
            <a:r>
              <a:rPr sz="1200" b="1" dirty="0">
                <a:solidFill>
                  <a:srgbClr val="3E762B"/>
                </a:solidFill>
                <a:latin typeface="Times New Roman"/>
                <a:cs typeface="Times New Roman"/>
              </a:rPr>
              <a:t>instructions</a:t>
            </a:r>
            <a:r>
              <a:rPr sz="1200" b="1" spc="-40" dirty="0">
                <a:solidFill>
                  <a:srgbClr val="3E762B"/>
                </a:solidFill>
                <a:latin typeface="Times New Roman"/>
                <a:cs typeface="Times New Roman"/>
              </a:rPr>
              <a:t> </a:t>
            </a:r>
            <a:r>
              <a:rPr sz="1200" b="1" dirty="0">
                <a:solidFill>
                  <a:srgbClr val="3E762B"/>
                </a:solidFill>
                <a:latin typeface="Times New Roman"/>
                <a:cs typeface="Times New Roman"/>
              </a:rPr>
              <a:t>with</a:t>
            </a:r>
            <a:r>
              <a:rPr sz="1200" b="1" spc="-30" dirty="0">
                <a:solidFill>
                  <a:srgbClr val="3E762B"/>
                </a:solidFill>
                <a:latin typeface="Times New Roman"/>
                <a:cs typeface="Times New Roman"/>
              </a:rPr>
              <a:t> </a:t>
            </a:r>
            <a:r>
              <a:rPr sz="1200" b="1" dirty="0">
                <a:solidFill>
                  <a:srgbClr val="3E762B"/>
                </a:solidFill>
                <a:latin typeface="Times New Roman"/>
                <a:cs typeface="Times New Roman"/>
              </a:rPr>
              <a:t>different</a:t>
            </a:r>
            <a:r>
              <a:rPr sz="1200" b="1" spc="-25" dirty="0">
                <a:solidFill>
                  <a:srgbClr val="3E762B"/>
                </a:solidFill>
                <a:latin typeface="Times New Roman"/>
                <a:cs typeface="Times New Roman"/>
              </a:rPr>
              <a:t> </a:t>
            </a:r>
            <a:r>
              <a:rPr sz="1200" b="1" dirty="0">
                <a:solidFill>
                  <a:srgbClr val="3E762B"/>
                </a:solidFill>
                <a:latin typeface="Times New Roman"/>
                <a:cs typeface="Times New Roman"/>
              </a:rPr>
              <a:t>addressing</a:t>
            </a:r>
            <a:r>
              <a:rPr sz="1200" b="1" spc="-40" dirty="0">
                <a:solidFill>
                  <a:srgbClr val="3E762B"/>
                </a:solidFill>
                <a:latin typeface="Times New Roman"/>
                <a:cs typeface="Times New Roman"/>
              </a:rPr>
              <a:t> </a:t>
            </a:r>
            <a:r>
              <a:rPr sz="1200" b="1" spc="-10" dirty="0">
                <a:solidFill>
                  <a:srgbClr val="3E762B"/>
                </a:solidFill>
                <a:latin typeface="Times New Roman"/>
                <a:cs typeface="Times New Roman"/>
              </a:rPr>
              <a:t>modes</a:t>
            </a: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spcBef>
                <a:spcPts val="155"/>
              </a:spcBef>
              <a:buClr>
                <a:srgbClr val="3E762B"/>
              </a:buClr>
              <a:buFont typeface="Wingdings"/>
              <a:buChar char=""/>
            </a:pPr>
            <a:endParaRPr sz="1200">
              <a:latin typeface="Times New Roman"/>
              <a:cs typeface="Times New Roman"/>
            </a:endParaRPr>
          </a:p>
          <a:p>
            <a:pPr marL="434975" lvl="1" indent="-172720">
              <a:lnSpc>
                <a:spcPts val="1255"/>
              </a:lnSpc>
              <a:buClr>
                <a:srgbClr val="3E762B"/>
              </a:buClr>
              <a:buFont typeface="Wingdings"/>
              <a:buChar char=""/>
              <a:tabLst>
                <a:tab pos="434975" algn="l"/>
              </a:tabLst>
            </a:pP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effective</a:t>
            </a:r>
            <a:r>
              <a:rPr sz="1100" spc="-15" dirty="0">
                <a:latin typeface="Times New Roman"/>
                <a:cs typeface="Times New Roman"/>
              </a:rPr>
              <a:t> </a:t>
            </a:r>
            <a:r>
              <a:rPr sz="1100" dirty="0">
                <a:latin typeface="Times New Roman"/>
                <a:cs typeface="Times New Roman"/>
              </a:rPr>
              <a:t>address</a:t>
            </a:r>
            <a:r>
              <a:rPr sz="1100" spc="-25"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first</a:t>
            </a:r>
            <a:r>
              <a:rPr sz="1100" spc="-10" dirty="0">
                <a:latin typeface="Times New Roman"/>
                <a:cs typeface="Times New Roman"/>
              </a:rPr>
              <a:t> </a:t>
            </a:r>
            <a:r>
              <a:rPr sz="1100" dirty="0">
                <a:latin typeface="Times New Roman"/>
                <a:cs typeface="Times New Roman"/>
              </a:rPr>
              <a:t>instruction</a:t>
            </a:r>
            <a:r>
              <a:rPr sz="1100" spc="-30" dirty="0">
                <a:latin typeface="Times New Roman"/>
                <a:cs typeface="Times New Roman"/>
              </a:rPr>
              <a:t> </a:t>
            </a:r>
            <a:r>
              <a:rPr sz="1100" dirty="0">
                <a:latin typeface="Times New Roman"/>
                <a:cs typeface="Times New Roman"/>
              </a:rPr>
              <a:t>is evaluated</a:t>
            </a:r>
            <a:r>
              <a:rPr sz="1100" spc="-15" dirty="0">
                <a:latin typeface="Times New Roman"/>
                <a:cs typeface="Times New Roman"/>
              </a:rPr>
              <a:t> </a:t>
            </a:r>
            <a:r>
              <a:rPr sz="1100" dirty="0">
                <a:latin typeface="Times New Roman"/>
                <a:cs typeface="Times New Roman"/>
              </a:rPr>
              <a:t>from</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contents</a:t>
            </a:r>
            <a:r>
              <a:rPr sz="1100" spc="-25" dirty="0">
                <a:latin typeface="Times New Roman"/>
                <a:cs typeface="Times New Roman"/>
              </a:rPr>
              <a:t> of</a:t>
            </a:r>
            <a:endParaRPr sz="1100">
              <a:latin typeface="Times New Roman"/>
              <a:cs typeface="Times New Roman"/>
            </a:endParaRPr>
          </a:p>
          <a:p>
            <a:pPr marL="436245">
              <a:lnSpc>
                <a:spcPts val="1255"/>
              </a:lnSpc>
            </a:pPr>
            <a:r>
              <a:rPr sz="1100" dirty="0">
                <a:latin typeface="Times New Roman"/>
                <a:cs typeface="Times New Roman"/>
              </a:rPr>
              <a:t>register</a:t>
            </a:r>
            <a:r>
              <a:rPr sz="1100" spc="-20" dirty="0">
                <a:latin typeface="Times New Roman"/>
                <a:cs typeface="Times New Roman"/>
              </a:rPr>
              <a:t> </a:t>
            </a:r>
            <a:r>
              <a:rPr sz="1100" dirty="0">
                <a:latin typeface="Times New Roman"/>
                <a:cs typeface="Times New Roman"/>
              </a:rPr>
              <a:t>R22</a:t>
            </a:r>
            <a:r>
              <a:rPr sz="1100" spc="-10" dirty="0">
                <a:latin typeface="Times New Roman"/>
                <a:cs typeface="Times New Roman"/>
              </a:rPr>
              <a:t> </a:t>
            </a:r>
            <a:r>
              <a:rPr sz="1100" dirty="0">
                <a:latin typeface="Times New Roman"/>
                <a:cs typeface="Times New Roman"/>
              </a:rPr>
              <a:t>plus</a:t>
            </a:r>
            <a:r>
              <a:rPr sz="1100" spc="-1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displacement</a:t>
            </a:r>
            <a:r>
              <a:rPr sz="1100" spc="-2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spc="-20" dirty="0">
                <a:latin typeface="Times New Roman"/>
                <a:cs typeface="Times New Roman"/>
              </a:rPr>
              <a:t>150.</a:t>
            </a:r>
            <a:endParaRPr sz="1100">
              <a:latin typeface="Times New Roman"/>
              <a:cs typeface="Times New Roman"/>
            </a:endParaRPr>
          </a:p>
          <a:p>
            <a:pPr marL="436245" marR="1219200" lvl="1" indent="-173990">
              <a:lnSpc>
                <a:spcPts val="1190"/>
              </a:lnSpc>
              <a:spcBef>
                <a:spcPts val="725"/>
              </a:spcBef>
              <a:buClr>
                <a:srgbClr val="3E762B"/>
              </a:buClr>
              <a:buFont typeface="Wingdings"/>
              <a:buChar char=""/>
              <a:tabLst>
                <a:tab pos="436245" algn="l"/>
              </a:tabLst>
            </a:pP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second</a:t>
            </a:r>
            <a:r>
              <a:rPr sz="1100" spc="-20" dirty="0">
                <a:latin typeface="Times New Roman"/>
                <a:cs typeface="Times New Roman"/>
              </a:rPr>
              <a:t> </a:t>
            </a:r>
            <a:r>
              <a:rPr sz="1100" dirty="0">
                <a:latin typeface="Times New Roman"/>
                <a:cs typeface="Times New Roman"/>
              </a:rPr>
              <a:t>instruction</a:t>
            </a:r>
            <a:r>
              <a:rPr sz="1100" spc="-35" dirty="0">
                <a:latin typeface="Times New Roman"/>
                <a:cs typeface="Times New Roman"/>
              </a:rPr>
              <a:t> </a:t>
            </a:r>
            <a:r>
              <a:rPr sz="1100" dirty="0">
                <a:latin typeface="Times New Roman"/>
                <a:cs typeface="Times New Roman"/>
              </a:rPr>
              <a:t>uses</a:t>
            </a:r>
            <a:r>
              <a:rPr sz="1100" spc="-15"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0</a:t>
            </a:r>
            <a:r>
              <a:rPr sz="1100" spc="-5" dirty="0">
                <a:latin typeface="Times New Roman"/>
                <a:cs typeface="Times New Roman"/>
              </a:rPr>
              <a:t> </a:t>
            </a:r>
            <a:r>
              <a:rPr sz="1100" dirty="0">
                <a:latin typeface="Times New Roman"/>
                <a:cs typeface="Times New Roman"/>
              </a:rPr>
              <a:t>displacement,</a:t>
            </a:r>
            <a:r>
              <a:rPr sz="1100" spc="-35" dirty="0">
                <a:latin typeface="Times New Roman"/>
                <a:cs typeface="Times New Roman"/>
              </a:rPr>
              <a:t> </a:t>
            </a:r>
            <a:r>
              <a:rPr sz="1100" dirty="0">
                <a:latin typeface="Times New Roman"/>
                <a:cs typeface="Times New Roman"/>
              </a:rPr>
              <a:t>which</a:t>
            </a:r>
            <a:r>
              <a:rPr sz="1100" spc="-5" dirty="0">
                <a:latin typeface="Times New Roman"/>
                <a:cs typeface="Times New Roman"/>
              </a:rPr>
              <a:t> </a:t>
            </a:r>
            <a:r>
              <a:rPr sz="1100" dirty="0">
                <a:latin typeface="Times New Roman"/>
                <a:cs typeface="Times New Roman"/>
              </a:rPr>
              <a:t>reduces</a:t>
            </a:r>
            <a:r>
              <a:rPr sz="1100" spc="-15" dirty="0">
                <a:latin typeface="Times New Roman"/>
                <a:cs typeface="Times New Roman"/>
              </a:rPr>
              <a:t> </a:t>
            </a:r>
            <a:r>
              <a:rPr sz="1100" dirty="0">
                <a:latin typeface="Times New Roman"/>
                <a:cs typeface="Times New Roman"/>
              </a:rPr>
              <a:t>it</a:t>
            </a:r>
            <a:r>
              <a:rPr sz="1100" spc="-10"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spc="-10" dirty="0">
                <a:latin typeface="Times New Roman"/>
                <a:cs typeface="Times New Roman"/>
              </a:rPr>
              <a:t>register </a:t>
            </a:r>
            <a:r>
              <a:rPr sz="1100" dirty="0">
                <a:latin typeface="Times New Roman"/>
                <a:cs typeface="Times New Roman"/>
              </a:rPr>
              <a:t>indirect</a:t>
            </a:r>
            <a:r>
              <a:rPr sz="1100" spc="-20" dirty="0">
                <a:latin typeface="Times New Roman"/>
                <a:cs typeface="Times New Roman"/>
              </a:rPr>
              <a:t> </a:t>
            </a:r>
            <a:r>
              <a:rPr sz="1100" spc="-10" dirty="0">
                <a:latin typeface="Times New Roman"/>
                <a:cs typeface="Times New Roman"/>
              </a:rPr>
              <a:t>mode.</a:t>
            </a:r>
            <a:endParaRPr sz="1100">
              <a:latin typeface="Times New Roman"/>
              <a:cs typeface="Times New Roman"/>
            </a:endParaRPr>
          </a:p>
          <a:p>
            <a:pPr marL="436245" marR="838835" lvl="1" indent="-173990">
              <a:lnSpc>
                <a:spcPts val="1190"/>
              </a:lnSpc>
              <a:spcBef>
                <a:spcPts val="690"/>
              </a:spcBef>
              <a:buClr>
                <a:srgbClr val="3E762B"/>
              </a:buClr>
              <a:buFont typeface="Wingdings"/>
              <a:buChar char=""/>
              <a:tabLst>
                <a:tab pos="436245" algn="l"/>
              </a:tabLst>
            </a:pP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third</a:t>
            </a:r>
            <a:r>
              <a:rPr sz="1100" spc="-15" dirty="0">
                <a:latin typeface="Times New Roman"/>
                <a:cs typeface="Times New Roman"/>
              </a:rPr>
              <a:t> </a:t>
            </a:r>
            <a:r>
              <a:rPr sz="1100" dirty="0">
                <a:latin typeface="Times New Roman"/>
                <a:cs typeface="Times New Roman"/>
              </a:rPr>
              <a:t>instruction</a:t>
            </a:r>
            <a:r>
              <a:rPr sz="1100" spc="-35" dirty="0">
                <a:latin typeface="Times New Roman"/>
                <a:cs typeface="Times New Roman"/>
              </a:rPr>
              <a:t> </a:t>
            </a:r>
            <a:r>
              <a:rPr sz="1100" dirty="0">
                <a:latin typeface="Times New Roman"/>
                <a:cs typeface="Times New Roman"/>
              </a:rPr>
              <a:t>uses</a:t>
            </a:r>
            <a:r>
              <a:rPr sz="1100" spc="-10" dirty="0">
                <a:latin typeface="Times New Roman"/>
                <a:cs typeface="Times New Roman"/>
              </a:rPr>
              <a:t> </a:t>
            </a:r>
            <a:r>
              <a:rPr sz="1100" dirty="0">
                <a:latin typeface="Times New Roman"/>
                <a:cs typeface="Times New Roman"/>
              </a:rPr>
              <a:t>all</a:t>
            </a:r>
            <a:r>
              <a:rPr sz="1100" spc="-5" dirty="0">
                <a:latin typeface="Times New Roman"/>
                <a:cs typeface="Times New Roman"/>
              </a:rPr>
              <a:t> </a:t>
            </a:r>
            <a:r>
              <a:rPr sz="1100" dirty="0">
                <a:latin typeface="Times New Roman"/>
                <a:cs typeface="Times New Roman"/>
              </a:rPr>
              <a:t>0' s</a:t>
            </a:r>
            <a:r>
              <a:rPr sz="1100" spc="5" dirty="0">
                <a:latin typeface="Times New Roman"/>
                <a:cs typeface="Times New Roman"/>
              </a:rPr>
              <a:t> </a:t>
            </a:r>
            <a:r>
              <a:rPr sz="1100" dirty="0">
                <a:latin typeface="Times New Roman"/>
                <a:cs typeface="Times New Roman"/>
              </a:rPr>
              <a:t>from</a:t>
            </a:r>
            <a:r>
              <a:rPr sz="1100" spc="-10" dirty="0">
                <a:latin typeface="Times New Roman"/>
                <a:cs typeface="Times New Roman"/>
              </a:rPr>
              <a:t> </a:t>
            </a:r>
            <a:r>
              <a:rPr sz="1100" dirty="0">
                <a:latin typeface="Times New Roman"/>
                <a:cs typeface="Times New Roman"/>
              </a:rPr>
              <a:t>register</a:t>
            </a:r>
            <a:r>
              <a:rPr sz="1100" spc="-10" dirty="0">
                <a:latin typeface="Times New Roman"/>
                <a:cs typeface="Times New Roman"/>
              </a:rPr>
              <a:t> </a:t>
            </a:r>
            <a:r>
              <a:rPr sz="1100" dirty="0">
                <a:latin typeface="Times New Roman"/>
                <a:cs typeface="Times New Roman"/>
              </a:rPr>
              <a:t>R0</a:t>
            </a:r>
            <a:r>
              <a:rPr sz="1100" spc="5" dirty="0">
                <a:latin typeface="Times New Roman"/>
                <a:cs typeface="Times New Roman"/>
              </a:rPr>
              <a:t> </a:t>
            </a:r>
            <a:r>
              <a:rPr sz="1100" dirty="0">
                <a:latin typeface="Times New Roman"/>
                <a:cs typeface="Times New Roman"/>
              </a:rPr>
              <a:t>to</a:t>
            </a:r>
            <a:r>
              <a:rPr sz="1100" spc="-5" dirty="0">
                <a:latin typeface="Times New Roman"/>
                <a:cs typeface="Times New Roman"/>
              </a:rPr>
              <a:t> </a:t>
            </a:r>
            <a:r>
              <a:rPr sz="1100" dirty="0">
                <a:latin typeface="Times New Roman"/>
                <a:cs typeface="Times New Roman"/>
              </a:rPr>
              <a:t>produce</a:t>
            </a:r>
            <a:r>
              <a:rPr sz="1100" spc="-20" dirty="0">
                <a:latin typeface="Times New Roman"/>
                <a:cs typeface="Times New Roman"/>
              </a:rPr>
              <a:t> </a:t>
            </a:r>
            <a:r>
              <a:rPr sz="1100" dirty="0">
                <a:latin typeface="Times New Roman"/>
                <a:cs typeface="Times New Roman"/>
              </a:rPr>
              <a:t>a</a:t>
            </a:r>
            <a:r>
              <a:rPr sz="1100" spc="10" dirty="0">
                <a:latin typeface="Times New Roman"/>
                <a:cs typeface="Times New Roman"/>
              </a:rPr>
              <a:t> </a:t>
            </a:r>
            <a:r>
              <a:rPr sz="1100" dirty="0">
                <a:latin typeface="Times New Roman"/>
                <a:cs typeface="Times New Roman"/>
              </a:rPr>
              <a:t>direct</a:t>
            </a:r>
            <a:r>
              <a:rPr sz="1100" spc="-10" dirty="0">
                <a:latin typeface="Times New Roman"/>
                <a:cs typeface="Times New Roman"/>
              </a:rPr>
              <a:t> </a:t>
            </a:r>
            <a:r>
              <a:rPr sz="1100" dirty="0">
                <a:latin typeface="Times New Roman"/>
                <a:cs typeface="Times New Roman"/>
              </a:rPr>
              <a:t>address</a:t>
            </a:r>
            <a:r>
              <a:rPr sz="1100" spc="-30" dirty="0">
                <a:latin typeface="Times New Roman"/>
                <a:cs typeface="Times New Roman"/>
              </a:rPr>
              <a:t> </a:t>
            </a:r>
            <a:r>
              <a:rPr sz="1100" spc="-20" dirty="0">
                <a:latin typeface="Times New Roman"/>
                <a:cs typeface="Times New Roman"/>
              </a:rPr>
              <a:t>type </a:t>
            </a:r>
            <a:r>
              <a:rPr sz="1100" dirty="0">
                <a:latin typeface="Times New Roman"/>
                <a:cs typeface="Times New Roman"/>
              </a:rPr>
              <a:t>of</a:t>
            </a:r>
            <a:r>
              <a:rPr sz="1100" spc="-20" dirty="0">
                <a:latin typeface="Times New Roman"/>
                <a:cs typeface="Times New Roman"/>
              </a:rPr>
              <a:t> </a:t>
            </a:r>
            <a:r>
              <a:rPr sz="1100" spc="-10" dirty="0">
                <a:latin typeface="Times New Roman"/>
                <a:cs typeface="Times New Roman"/>
              </a:rPr>
              <a:t>instruction.</a:t>
            </a:r>
            <a:endParaRPr sz="1100">
              <a:latin typeface="Times New Roman"/>
              <a:cs typeface="Times New Roman"/>
            </a:endParaRPr>
          </a:p>
        </p:txBody>
      </p:sp>
      <p:pic>
        <p:nvPicPr>
          <p:cNvPr id="3" name="object 3"/>
          <p:cNvPicPr/>
          <p:nvPr/>
        </p:nvPicPr>
        <p:blipFill>
          <a:blip r:embed="rId2" cstate="print"/>
          <a:stretch>
            <a:fillRect/>
          </a:stretch>
        </p:blipFill>
        <p:spPr>
          <a:xfrm>
            <a:off x="1223772" y="1938527"/>
            <a:ext cx="3314700" cy="66294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20</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TotalTime>
  <Words>2705</Words>
  <Application>Microsoft Office PowerPoint</Application>
  <PresentationFormat>On-screen Show (4:3)</PresentationFormat>
  <Paragraphs>329</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 MT</vt:lpstr>
      <vt:lpstr>Calibri</vt:lpstr>
      <vt:lpstr>Corbel</vt:lpstr>
      <vt:lpstr>Georgia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CISC vs. RISC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Zahraa.Ismail</cp:lastModifiedBy>
  <cp:revision>3</cp:revision>
  <dcterms:created xsi:type="dcterms:W3CDTF">2025-11-27T08:59:53Z</dcterms:created>
  <dcterms:modified xsi:type="dcterms:W3CDTF">2026-02-22T09:51:57Z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2025-03-01T00:00:00Z</vt:filetime>
  </property>
  <property fmtid="{D5CDD505-2E9C-101B-9397-08002B2CF9AE}" pid="3" name="Creator">
    <vt:lpwstr>Microsoft® PowerPoint® 2016</vt:lpwstr>
  </property>
  <property fmtid="{D5CDD505-2E9C-101B-9397-08002B2CF9AE}" pid="4" name="LastSaved">
    <vt:filetime>2025-11-27T00:00:00Z</vt:filetime>
  </property>
  <property fmtid="{D5CDD505-2E9C-101B-9397-08002B2CF9AE}" pid="5" name="Producer">
    <vt:lpwstr>Microsoft® PowerPoint® 2016</vt:lpwstr>
  </property>
</Properties>
</file>