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6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86868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6570" y="990600"/>
            <a:ext cx="5862320" cy="3188970"/>
          </a:xfrm>
          <a:custGeom>
            <a:avLst/>
            <a:gdLst/>
            <a:ahLst/>
            <a:cxnLst/>
            <a:rect l="l" t="t" r="r" b="b"/>
            <a:pathLst>
              <a:path w="5862320" h="3188970">
                <a:moveTo>
                  <a:pt x="5862320" y="0"/>
                </a:moveTo>
                <a:lnTo>
                  <a:pt x="0" y="0"/>
                </a:lnTo>
                <a:lnTo>
                  <a:pt x="0" y="3188970"/>
                </a:lnTo>
                <a:lnTo>
                  <a:pt x="5862320" y="3188970"/>
                </a:lnTo>
                <a:lnTo>
                  <a:pt x="5862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60780" y="1537461"/>
            <a:ext cx="4660900" cy="0"/>
          </a:xfrm>
          <a:custGeom>
            <a:avLst/>
            <a:gdLst/>
            <a:ahLst/>
            <a:cxnLst/>
            <a:rect l="l" t="t" r="r" b="b"/>
            <a:pathLst>
              <a:path w="4660900">
                <a:moveTo>
                  <a:pt x="0" y="0"/>
                </a:moveTo>
                <a:lnTo>
                  <a:pt x="4660646" y="0"/>
                </a:lnTo>
              </a:path>
            </a:pathLst>
          </a:custGeom>
          <a:ln w="19050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2723" y="1072134"/>
            <a:ext cx="4690745" cy="381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6061" y="1620393"/>
            <a:ext cx="5420995" cy="215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qcBIvnQt0Bw&amp;list=PLiwt1iVUib9s2Uo5BeYmwkDFUh70fJPxX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6570" y="990600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0" y="3188970"/>
                  </a:moveTo>
                  <a:lnTo>
                    <a:pt x="5862320" y="3188970"/>
                  </a:lnTo>
                  <a:lnTo>
                    <a:pt x="5862320" y="0"/>
                  </a:lnTo>
                  <a:lnTo>
                    <a:pt x="0" y="0"/>
                  </a:lnTo>
                  <a:lnTo>
                    <a:pt x="0" y="318897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370330" y="2735579"/>
            <a:ext cx="4114800" cy="0"/>
          </a:xfrm>
          <a:custGeom>
            <a:avLst/>
            <a:gdLst/>
            <a:ahLst/>
            <a:cxnLst/>
            <a:rect l="l" t="t" r="r" b="b"/>
            <a:pathLst>
              <a:path w="4114800">
                <a:moveTo>
                  <a:pt x="0" y="0"/>
                </a:moveTo>
                <a:lnTo>
                  <a:pt x="4114800" y="0"/>
                </a:lnTo>
              </a:path>
            </a:pathLst>
          </a:custGeom>
          <a:ln w="49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82725" y="2048713"/>
            <a:ext cx="4491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3600" b="1" spc="-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300" y="2747517"/>
            <a:ext cx="5873750" cy="1361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90"/>
              </a:spcBef>
            </a:pPr>
            <a:r>
              <a:rPr sz="1400" u="sng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318770" indent="-116205">
              <a:lnSpc>
                <a:spcPct val="100000"/>
              </a:lnSpc>
              <a:spcBef>
                <a:spcPts val="10"/>
              </a:spcBef>
              <a:buChar char="-"/>
              <a:tabLst>
                <a:tab pos="318770" algn="l"/>
              </a:tabLst>
            </a:pPr>
            <a:r>
              <a:rPr sz="1200" dirty="0">
                <a:latin typeface="Times New Roman"/>
                <a:cs typeface="Times New Roman"/>
              </a:rPr>
              <a:t>Mano,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“Logic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Fundamentals”,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“Computer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Architecture”</a:t>
            </a:r>
            <a:endParaRPr sz="1200" dirty="0">
              <a:latin typeface="Times New Roman"/>
              <a:cs typeface="Times New Roman"/>
            </a:endParaRPr>
          </a:p>
          <a:p>
            <a:pPr marL="319405" indent="-116839">
              <a:lnSpc>
                <a:spcPct val="100000"/>
              </a:lnSpc>
              <a:spcBef>
                <a:spcPts val="190"/>
              </a:spcBef>
              <a:buChar char="-"/>
              <a:tabLst>
                <a:tab pos="319405" algn="l"/>
              </a:tabLst>
            </a:pPr>
            <a:r>
              <a:rPr sz="1200" dirty="0">
                <a:latin typeface="Times New Roman"/>
                <a:cs typeface="Times New Roman"/>
              </a:rPr>
              <a:t>MIT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lecture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Notes</a:t>
            </a:r>
            <a:endParaRPr sz="1200" dirty="0">
              <a:latin typeface="Times New Roman"/>
              <a:cs typeface="Times New Roman"/>
            </a:endParaRPr>
          </a:p>
          <a:p>
            <a:pPr marL="318770" indent="-116205">
              <a:lnSpc>
                <a:spcPct val="100000"/>
              </a:lnSpc>
              <a:spcBef>
                <a:spcPts val="204"/>
              </a:spcBef>
              <a:buChar char="-"/>
              <a:tabLst>
                <a:tab pos="318770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slides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website:</a:t>
            </a:r>
            <a:endParaRPr sz="1200" dirty="0">
              <a:latin typeface="Times New Roman"/>
              <a:cs typeface="Times New Roman"/>
            </a:endParaRPr>
          </a:p>
          <a:p>
            <a:pPr marL="319405">
              <a:lnSpc>
                <a:spcPct val="100000"/>
              </a:lnSpc>
              <a:spcBef>
                <a:spcPts val="10"/>
              </a:spcBef>
            </a:pPr>
            <a:r>
              <a:rPr sz="1050" spc="-10" dirty="0">
                <a:latin typeface="Times New Roman"/>
                <a:cs typeface="Times New Roman"/>
              </a:rPr>
              <a:t>https://</a:t>
            </a:r>
            <a:r>
              <a:rPr sz="1050" spc="-10" dirty="0">
                <a:latin typeface="Times New Roman"/>
                <a:cs typeface="Times New Roman"/>
                <a:hlinkClick r:id="rId2"/>
              </a:rPr>
              <a:t>www.youtube.com/watch?v=qcBIvnQt0Bw&amp;list=PLiwt1iVUib9s2Uo5BeYmwkDFUh70fJPxX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9" name="object 9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9600" y="5066410"/>
            <a:ext cx="5486400" cy="502920"/>
          </a:xfrm>
          <a:prstGeom prst="rect">
            <a:avLst/>
          </a:prstGeom>
          <a:solidFill>
            <a:srgbClr val="539E39"/>
          </a:solidFill>
          <a:ln w="9525">
            <a:solidFill>
              <a:srgbClr val="3A7327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680"/>
              </a:spcBef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Computer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Architecture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Module</a:t>
            </a:r>
            <a:r>
              <a:rPr sz="2000" b="1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Content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300" y="8332647"/>
            <a:ext cx="895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9561" y="5650738"/>
            <a:ext cx="5379085" cy="24307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69545" indent="-169545">
              <a:lnSpc>
                <a:spcPct val="100000"/>
              </a:lnSpc>
              <a:spcBef>
                <a:spcPts val="195"/>
              </a:spcBef>
              <a:buClr>
                <a:srgbClr val="3E762B"/>
              </a:buClr>
              <a:buFont typeface="Wingdings"/>
              <a:buChar char=""/>
              <a:tabLst>
                <a:tab pos="169545" algn="l"/>
              </a:tabLst>
            </a:pPr>
            <a:r>
              <a:rPr sz="1200" b="1" dirty="0">
                <a:latin typeface="Times New Roman"/>
                <a:cs typeface="Times New Roman"/>
              </a:rPr>
              <a:t>Central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Processing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Unit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  <a:p>
            <a:pPr marL="456565" lvl="1" indent="-111125">
              <a:lnSpc>
                <a:spcPct val="100000"/>
              </a:lnSpc>
              <a:spcBef>
                <a:spcPts val="95"/>
              </a:spcBef>
              <a:buClr>
                <a:srgbClr val="3E762B"/>
              </a:buClr>
              <a:buFont typeface="Arial MT"/>
              <a:buChar char="•"/>
              <a:tabLst>
                <a:tab pos="4565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Design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Stack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Pipelining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Interrupt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Processor</a:t>
            </a:r>
            <a:r>
              <a:rPr sz="1200" b="1" spc="-2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Registers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r>
              <a:rPr sz="1200" spc="-1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457200" marR="298450" lvl="1" indent="-111760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Instruction</a:t>
            </a:r>
            <a:r>
              <a:rPr sz="1200" b="1" spc="-6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Set</a:t>
            </a:r>
            <a:r>
              <a:rPr sz="1200" b="1" spc="-6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Architecture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[Instruction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Format –</a:t>
            </a:r>
            <a:r>
              <a:rPr sz="1200" b="1" spc="-7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Addressing</a:t>
            </a:r>
            <a:r>
              <a:rPr sz="1200" b="1" spc="-2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modes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539E39"/>
                </a:solidFill>
                <a:latin typeface="Times New Roman"/>
                <a:cs typeface="Times New Roman"/>
              </a:rPr>
              <a:t>–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Data</a:t>
            </a:r>
            <a:r>
              <a:rPr sz="1200" b="1" spc="-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Transfer</a:t>
            </a:r>
            <a:r>
              <a:rPr sz="1200" b="1" spc="-3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and</a:t>
            </a:r>
            <a:r>
              <a:rPr sz="1200" b="1" spc="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Manipulation]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Example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architectures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(e.g.,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CISC,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RISC)</a:t>
            </a:r>
            <a:endParaRPr sz="1200">
              <a:latin typeface="Times New Roman"/>
              <a:cs typeface="Times New Roman"/>
            </a:endParaRPr>
          </a:p>
          <a:p>
            <a:pPr marL="168275" indent="-168275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168275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Timing,</a:t>
            </a:r>
            <a:r>
              <a:rPr sz="1200" b="1" spc="-4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Clock</a:t>
            </a:r>
            <a:r>
              <a:rPr sz="1200" b="1" spc="-3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Parameters,</a:t>
            </a:r>
            <a:r>
              <a:rPr sz="1200" b="1" spc="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and</a:t>
            </a:r>
            <a:r>
              <a:rPr sz="1200" b="1" spc="-4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Processor</a:t>
            </a:r>
            <a:r>
              <a:rPr sz="1200" b="1" spc="-3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Performance</a:t>
            </a:r>
            <a:endParaRPr sz="1200">
              <a:latin typeface="Times New Roman"/>
              <a:cs typeface="Times New Roman"/>
            </a:endParaRPr>
          </a:p>
          <a:p>
            <a:pPr marL="168910" indent="-168910">
              <a:lnSpc>
                <a:spcPct val="100000"/>
              </a:lnSpc>
              <a:spcBef>
                <a:spcPts val="695"/>
              </a:spcBef>
              <a:buClr>
                <a:srgbClr val="3E762B"/>
              </a:buClr>
              <a:buFont typeface="Wingdings"/>
              <a:buChar char=""/>
              <a:tabLst>
                <a:tab pos="168910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Memory</a:t>
            </a:r>
            <a:r>
              <a:rPr sz="1200" b="1" spc="-6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Hierarchy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115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Main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Cache</a:t>
            </a:r>
            <a:r>
              <a:rPr sz="1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295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Virtual</a:t>
            </a:r>
            <a:r>
              <a:rPr sz="1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8516" y="7986471"/>
            <a:ext cx="5206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2</a:t>
            </a:r>
            <a:endParaRPr sz="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68" y="1729104"/>
            <a:ext cx="4933950" cy="2114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65" dirty="0"/>
              <a:t> </a:t>
            </a:r>
            <a:r>
              <a:rPr spc="-10" dirty="0"/>
              <a:t>Hierarchy</a:t>
            </a:r>
            <a:r>
              <a:rPr spc="-60" dirty="0"/>
              <a:t> </a:t>
            </a:r>
            <a:r>
              <a:rPr dirty="0"/>
              <a:t>(The</a:t>
            </a:r>
            <a:r>
              <a:rPr spc="-70" dirty="0"/>
              <a:t> </a:t>
            </a:r>
            <a:r>
              <a:rPr dirty="0"/>
              <a:t>Big</a:t>
            </a:r>
            <a:r>
              <a:rPr spc="-70" dirty="0"/>
              <a:t> </a:t>
            </a:r>
            <a:r>
              <a:rPr dirty="0"/>
              <a:t>Picture</a:t>
            </a:r>
            <a:r>
              <a:rPr spc="-60" dirty="0"/>
              <a:t> </a:t>
            </a:r>
            <a:r>
              <a:rPr spc="-50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6746" y="3918330"/>
            <a:ext cx="695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Corbel"/>
                <a:cs typeface="Corbel"/>
              </a:rPr>
              <a:t>Technology: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1501" y="3918330"/>
            <a:ext cx="366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orbel"/>
                <a:cs typeface="Corbel"/>
              </a:rPr>
              <a:t>SRAM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4502" y="3918330"/>
            <a:ext cx="379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orbel"/>
                <a:cs typeface="Corbel"/>
              </a:rPr>
              <a:t>DRAM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3809" y="3918330"/>
            <a:ext cx="262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orbel"/>
                <a:cs typeface="Corbel"/>
              </a:rPr>
              <a:t>Disk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99348" y="2676651"/>
            <a:ext cx="3366135" cy="1352550"/>
          </a:xfrm>
          <a:custGeom>
            <a:avLst/>
            <a:gdLst/>
            <a:ahLst/>
            <a:cxnLst/>
            <a:rect l="l" t="t" r="r" b="b"/>
            <a:pathLst>
              <a:path w="3366135" h="1352550">
                <a:moveTo>
                  <a:pt x="159092" y="1237742"/>
                </a:moveTo>
                <a:lnTo>
                  <a:pt x="38557" y="39738"/>
                </a:lnTo>
                <a:lnTo>
                  <a:pt x="52158" y="58420"/>
                </a:lnTo>
                <a:lnTo>
                  <a:pt x="54444" y="61595"/>
                </a:lnTo>
                <a:lnTo>
                  <a:pt x="58889" y="62357"/>
                </a:lnTo>
                <a:lnTo>
                  <a:pt x="62064" y="60071"/>
                </a:lnTo>
                <a:lnTo>
                  <a:pt x="65366" y="57658"/>
                </a:lnTo>
                <a:lnTo>
                  <a:pt x="66001" y="53213"/>
                </a:lnTo>
                <a:lnTo>
                  <a:pt x="63715" y="50038"/>
                </a:lnTo>
                <a:lnTo>
                  <a:pt x="36969" y="13335"/>
                </a:lnTo>
                <a:lnTo>
                  <a:pt x="27266" y="0"/>
                </a:lnTo>
                <a:lnTo>
                  <a:pt x="1612" y="56261"/>
                </a:lnTo>
                <a:lnTo>
                  <a:pt x="635" y="58420"/>
                </a:lnTo>
                <a:lnTo>
                  <a:pt x="0" y="60071"/>
                </a:lnTo>
                <a:lnTo>
                  <a:pt x="1612" y="64135"/>
                </a:lnTo>
                <a:lnTo>
                  <a:pt x="8724" y="67437"/>
                </a:lnTo>
                <a:lnTo>
                  <a:pt x="13042" y="65786"/>
                </a:lnTo>
                <a:lnTo>
                  <a:pt x="14630" y="62357"/>
                </a:lnTo>
                <a:lnTo>
                  <a:pt x="24320" y="41135"/>
                </a:lnTo>
                <a:lnTo>
                  <a:pt x="144868" y="1239139"/>
                </a:lnTo>
                <a:lnTo>
                  <a:pt x="159092" y="1237742"/>
                </a:lnTo>
                <a:close/>
              </a:path>
              <a:path w="3366135" h="1352550">
                <a:moveTo>
                  <a:pt x="1461858" y="748030"/>
                </a:moveTo>
                <a:lnTo>
                  <a:pt x="1444777" y="698246"/>
                </a:lnTo>
                <a:lnTo>
                  <a:pt x="1440522" y="685800"/>
                </a:lnTo>
                <a:lnTo>
                  <a:pt x="1399374" y="732028"/>
                </a:lnTo>
                <a:lnTo>
                  <a:pt x="1396834" y="735076"/>
                </a:lnTo>
                <a:lnTo>
                  <a:pt x="1397088" y="739521"/>
                </a:lnTo>
                <a:lnTo>
                  <a:pt x="1400009" y="742188"/>
                </a:lnTo>
                <a:lnTo>
                  <a:pt x="1402930" y="744728"/>
                </a:lnTo>
                <a:lnTo>
                  <a:pt x="1407502" y="744474"/>
                </a:lnTo>
                <a:lnTo>
                  <a:pt x="1410042" y="741553"/>
                </a:lnTo>
                <a:lnTo>
                  <a:pt x="1425549" y="724141"/>
                </a:lnTo>
                <a:lnTo>
                  <a:pt x="1322666" y="1237107"/>
                </a:lnTo>
                <a:lnTo>
                  <a:pt x="1336636" y="1239901"/>
                </a:lnTo>
                <a:lnTo>
                  <a:pt x="1439519" y="727036"/>
                </a:lnTo>
                <a:lnTo>
                  <a:pt x="1446999" y="748919"/>
                </a:lnTo>
                <a:lnTo>
                  <a:pt x="1448269" y="752729"/>
                </a:lnTo>
                <a:lnTo>
                  <a:pt x="1452333" y="754634"/>
                </a:lnTo>
                <a:lnTo>
                  <a:pt x="1456143" y="753364"/>
                </a:lnTo>
                <a:lnTo>
                  <a:pt x="1459826" y="752094"/>
                </a:lnTo>
                <a:lnTo>
                  <a:pt x="1461858" y="748030"/>
                </a:lnTo>
                <a:close/>
              </a:path>
              <a:path w="3366135" h="1352550">
                <a:moveTo>
                  <a:pt x="3365843" y="753491"/>
                </a:moveTo>
                <a:lnTo>
                  <a:pt x="3364700" y="749681"/>
                </a:lnTo>
                <a:lnTo>
                  <a:pt x="3351034" y="702310"/>
                </a:lnTo>
                <a:lnTo>
                  <a:pt x="3347555" y="690245"/>
                </a:lnTo>
                <a:lnTo>
                  <a:pt x="3304248" y="734441"/>
                </a:lnTo>
                <a:lnTo>
                  <a:pt x="3301454" y="737235"/>
                </a:lnTo>
                <a:lnTo>
                  <a:pt x="3301581" y="741807"/>
                </a:lnTo>
                <a:lnTo>
                  <a:pt x="3307169" y="747395"/>
                </a:lnTo>
                <a:lnTo>
                  <a:pt x="3311614" y="747395"/>
                </a:lnTo>
                <a:lnTo>
                  <a:pt x="3314408" y="744474"/>
                </a:lnTo>
                <a:lnTo>
                  <a:pt x="3330689" y="727887"/>
                </a:lnTo>
                <a:lnTo>
                  <a:pt x="3174327" y="1348867"/>
                </a:lnTo>
                <a:lnTo>
                  <a:pt x="3188170" y="1352423"/>
                </a:lnTo>
                <a:lnTo>
                  <a:pt x="3344519" y="731405"/>
                </a:lnTo>
                <a:lnTo>
                  <a:pt x="3350945" y="753491"/>
                </a:lnTo>
                <a:lnTo>
                  <a:pt x="3352127" y="757428"/>
                </a:lnTo>
                <a:lnTo>
                  <a:pt x="3356064" y="759587"/>
                </a:lnTo>
                <a:lnTo>
                  <a:pt x="3359874" y="758571"/>
                </a:lnTo>
                <a:lnTo>
                  <a:pt x="3363557" y="757428"/>
                </a:lnTo>
                <a:lnTo>
                  <a:pt x="3365766" y="753618"/>
                </a:lnTo>
                <a:lnTo>
                  <a:pt x="3365843" y="753491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0" name="object 10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Principle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locality</a:t>
            </a:r>
            <a:endParaRPr sz="2200">
              <a:latin typeface="Georgia"/>
              <a:cs typeface="Georgia"/>
            </a:endParaRPr>
          </a:p>
          <a:p>
            <a:pPr marL="434975" marR="554990" indent="-172720" algn="just">
              <a:lnSpc>
                <a:spcPct val="100000"/>
              </a:lnSpc>
              <a:spcBef>
                <a:spcPts val="130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typical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	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localized 	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memory.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phenomenon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locality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reference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5609" indent="-172720">
              <a:lnSpc>
                <a:spcPct val="100000"/>
              </a:lnSpc>
              <a:buFont typeface="Wingdings"/>
              <a:buChar char=""/>
              <a:tabLst>
                <a:tab pos="435609" algn="l"/>
              </a:tabLst>
            </a:pP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Programs</a:t>
            </a:r>
            <a:r>
              <a:rPr sz="1200" b="1" spc="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access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relatively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small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portion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of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their</a:t>
            </a:r>
            <a:r>
              <a:rPr sz="1200" b="1" spc="-4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space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at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any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774065" lvl="1" indent="-171450">
              <a:lnSpc>
                <a:spcPct val="100000"/>
              </a:lnSpc>
              <a:buFont typeface="Wingdings"/>
              <a:buChar char=""/>
              <a:tabLst>
                <a:tab pos="774065" algn="l"/>
              </a:tabLst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Spatial</a:t>
            </a:r>
            <a:r>
              <a:rPr sz="1200" b="1" spc="-4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locality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 marL="774065" lvl="1" indent="-171450">
              <a:lnSpc>
                <a:spcPct val="100000"/>
              </a:lnSpc>
              <a:buFont typeface="Wingdings"/>
              <a:buChar char=""/>
              <a:tabLst>
                <a:tab pos="774065" algn="l"/>
              </a:tabLst>
            </a:pP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Temporal</a:t>
            </a:r>
            <a:r>
              <a:rPr sz="1200" b="1" spc="-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locality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300" y="8332647"/>
            <a:ext cx="895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300" y="4323715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Principle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locality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516506"/>
            <a:ext cx="4225925" cy="1839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700"/>
              </a:spcBef>
              <a:buFont typeface="Wingdings"/>
              <a:buChar char=""/>
              <a:tabLst>
                <a:tab pos="182245" algn="l"/>
              </a:tabLst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Spatial</a:t>
            </a:r>
            <a:r>
              <a:rPr sz="1200" b="1" spc="-4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locality</a:t>
            </a:r>
            <a:endParaRPr sz="1200">
              <a:latin typeface="Times New Roman"/>
              <a:cs typeface="Times New Roman"/>
            </a:endParaRPr>
          </a:p>
          <a:p>
            <a:pPr marL="241300" lvl="1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Items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near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recently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soon</a:t>
            </a:r>
            <a:endParaRPr sz="1200">
              <a:latin typeface="Times New Roman"/>
              <a:cs typeface="Times New Roman"/>
            </a:endParaRPr>
          </a:p>
          <a:p>
            <a:pPr marL="241300" lvl="1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e.g.,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sequential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Arial MT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buFont typeface="Wingdings"/>
              <a:buChar char=""/>
              <a:tabLst>
                <a:tab pos="182245" algn="l"/>
              </a:tabLst>
            </a:pP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Temporal</a:t>
            </a:r>
            <a:r>
              <a:rPr sz="1200" b="1" spc="-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locality</a:t>
            </a:r>
            <a:endParaRPr sz="1200">
              <a:latin typeface="Times New Roman"/>
              <a:cs typeface="Times New Roman"/>
            </a:endParaRPr>
          </a:p>
          <a:p>
            <a:pPr marL="241300" lvl="1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Items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accessed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recently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soon</a:t>
            </a:r>
            <a:endParaRPr sz="1200">
              <a:latin typeface="Times New Roman"/>
              <a:cs typeface="Times New Roman"/>
            </a:endParaRPr>
          </a:p>
          <a:p>
            <a:pPr marL="241300" lvl="1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e.g.,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subroutines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0330" y="6711696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36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Cache</a:t>
            </a:r>
            <a:r>
              <a:rPr sz="36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300" y="8332647"/>
            <a:ext cx="895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300" y="4323715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Cache</a:t>
            </a:r>
            <a:r>
              <a:rPr spc="-75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61921"/>
            <a:ext cx="493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Cache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fast,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small-</a:t>
            </a:r>
            <a:r>
              <a:rPr sz="1200" b="1" dirty="0">
                <a:latin typeface="Times New Roman"/>
                <a:cs typeface="Times New Roman"/>
              </a:rPr>
              <a:t>capacity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that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should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information </a:t>
            </a:r>
            <a:r>
              <a:rPr sz="1200" b="1" dirty="0">
                <a:latin typeface="Times New Roman"/>
                <a:cs typeface="Times New Roman"/>
              </a:rPr>
              <a:t>most likely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accessed.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897" y="2808262"/>
            <a:ext cx="4257675" cy="98713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Cache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Terminologies</a:t>
            </a:r>
            <a:endParaRPr sz="2200">
              <a:latin typeface="Georgia"/>
              <a:cs typeface="Georgia"/>
            </a:endParaRPr>
          </a:p>
          <a:p>
            <a:pPr marL="435609" indent="-172720">
              <a:lnSpc>
                <a:spcPct val="100000"/>
              </a:lnSpc>
              <a:spcBef>
                <a:spcPts val="1300"/>
              </a:spcBef>
              <a:buClr>
                <a:srgbClr val="3E762B"/>
              </a:buClr>
              <a:buFont typeface="Wingdings"/>
              <a:buChar char=""/>
              <a:tabLst>
                <a:tab pos="435609" algn="l"/>
              </a:tabLst>
            </a:pPr>
            <a:r>
              <a:rPr sz="1200" b="1" dirty="0">
                <a:latin typeface="Times New Roman"/>
                <a:cs typeface="Times New Roman"/>
              </a:rPr>
              <a:t>Block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unit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copying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(Usually</a:t>
            </a:r>
            <a:r>
              <a:rPr sz="1200" spc="-10" dirty="0">
                <a:latin typeface="Times New Roman"/>
                <a:cs typeface="Times New Roman"/>
              </a:rPr>
              <a:t> multiple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5609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5609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Hit: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 accessed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upper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level</a:t>
            </a:r>
            <a:endParaRPr sz="1200">
              <a:latin typeface="Times New Roman"/>
              <a:cs typeface="Times New Roman"/>
            </a:endParaRPr>
          </a:p>
          <a:p>
            <a:pPr marL="692150" lvl="1" indent="-101600">
              <a:lnSpc>
                <a:spcPct val="100000"/>
              </a:lnSpc>
              <a:spcBef>
                <a:spcPts val="1025"/>
              </a:spcBef>
              <a:buClr>
                <a:srgbClr val="3E762B"/>
              </a:buClr>
              <a:buFont typeface="Wingdings"/>
              <a:buChar char=""/>
              <a:tabLst>
                <a:tab pos="692150" algn="l"/>
              </a:tabLst>
            </a:pPr>
            <a:r>
              <a:rPr sz="1100" b="1" dirty="0">
                <a:latin typeface="Times New Roman"/>
                <a:cs typeface="Times New Roman"/>
              </a:rPr>
              <a:t>Hit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692150" lvl="1" indent="-101600">
              <a:lnSpc>
                <a:spcPct val="100000"/>
              </a:lnSpc>
              <a:spcBef>
                <a:spcPts val="865"/>
              </a:spcBef>
              <a:buClr>
                <a:srgbClr val="3E762B"/>
              </a:buClr>
              <a:buFont typeface="Wingdings"/>
              <a:buChar char=""/>
              <a:tabLst>
                <a:tab pos="692150" algn="l"/>
              </a:tabLst>
            </a:pPr>
            <a:r>
              <a:rPr sz="1100" b="1" dirty="0">
                <a:latin typeface="Times New Roman"/>
                <a:cs typeface="Times New Roman"/>
              </a:rPr>
              <a:t>Hit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ratio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hits/total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hits/accesses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</a:pP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Clr>
                <a:srgbClr val="3E762B"/>
              </a:buClr>
              <a:buFont typeface="Wingdings"/>
              <a:buChar char=""/>
            </a:pPr>
            <a:endParaRPr sz="1100">
              <a:latin typeface="Times New Roman"/>
              <a:cs typeface="Times New Roman"/>
            </a:endParaRPr>
          </a:p>
          <a:p>
            <a:pPr marL="435609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5609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Miss: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absent,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copied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</a:t>
            </a:r>
            <a:endParaRPr sz="1200">
              <a:latin typeface="Times New Roman"/>
              <a:cs typeface="Times New Roman"/>
            </a:endParaRPr>
          </a:p>
          <a:p>
            <a:pPr marL="692150" lvl="1" indent="-101600">
              <a:lnSpc>
                <a:spcPct val="100000"/>
              </a:lnSpc>
              <a:spcBef>
                <a:spcPts val="1025"/>
              </a:spcBef>
              <a:buClr>
                <a:srgbClr val="3E762B"/>
              </a:buClr>
              <a:buFont typeface="Wingdings"/>
              <a:buChar char=""/>
              <a:tabLst>
                <a:tab pos="692150" algn="l"/>
              </a:tabLst>
            </a:pP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miss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penalty</a:t>
            </a:r>
            <a:endParaRPr sz="1100">
              <a:latin typeface="Times New Roman"/>
              <a:cs typeface="Times New Roman"/>
            </a:endParaRPr>
          </a:p>
          <a:p>
            <a:pPr marL="692150" lvl="1" indent="-101600">
              <a:lnSpc>
                <a:spcPct val="100000"/>
              </a:lnSpc>
              <a:spcBef>
                <a:spcPts val="840"/>
              </a:spcBef>
              <a:buClr>
                <a:srgbClr val="3E762B"/>
              </a:buClr>
              <a:buFont typeface="Wingdings"/>
              <a:buChar char=""/>
              <a:tabLst>
                <a:tab pos="692150" algn="l"/>
              </a:tabLst>
            </a:pPr>
            <a:r>
              <a:rPr sz="1100" b="1" dirty="0">
                <a:latin typeface="Times New Roman"/>
                <a:cs typeface="Times New Roman"/>
              </a:rPr>
              <a:t>Miss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ratio: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misses/accesses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 –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hit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ratio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895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4323715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52525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Cache</a:t>
            </a:r>
            <a:r>
              <a:rPr spc="-90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0" dirty="0"/>
              <a:t>Terminologies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20393"/>
            <a:ext cx="2625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186055" algn="l"/>
              </a:tabLst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Hit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time: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upper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 	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hierarchy.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5461" y="2062353"/>
            <a:ext cx="2430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marR="5080" indent="-17399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hit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miss.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861" y="2946272"/>
            <a:ext cx="25565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186055" algn="l"/>
              </a:tabLst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Miss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penalty: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replace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block 	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upper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corresponding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lower 	</a:t>
            </a:r>
            <a:r>
              <a:rPr sz="1200" dirty="0">
                <a:latin typeface="Times New Roman"/>
                <a:cs typeface="Times New Roman"/>
              </a:rPr>
              <a:t>level,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plus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deliver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5304" y="1882013"/>
            <a:ext cx="1697989" cy="19659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33821" y="2155063"/>
            <a:ext cx="730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Block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data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(unit</a:t>
            </a:r>
            <a:r>
              <a:rPr sz="700" spc="-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-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data</a:t>
            </a:r>
            <a:r>
              <a:rPr sz="700" spc="-2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copy)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5896" y="2263013"/>
            <a:ext cx="645795" cy="233045"/>
          </a:xfrm>
          <a:custGeom>
            <a:avLst/>
            <a:gdLst/>
            <a:ahLst/>
            <a:cxnLst/>
            <a:rect l="l" t="t" r="r" b="b"/>
            <a:pathLst>
              <a:path w="645795" h="233044">
                <a:moveTo>
                  <a:pt x="50037" y="172338"/>
                </a:moveTo>
                <a:lnTo>
                  <a:pt x="0" y="222757"/>
                </a:lnTo>
                <a:lnTo>
                  <a:pt x="70357" y="232536"/>
                </a:lnTo>
                <a:lnTo>
                  <a:pt x="44291" y="215772"/>
                </a:lnTo>
                <a:lnTo>
                  <a:pt x="37973" y="215772"/>
                </a:lnTo>
                <a:lnTo>
                  <a:pt x="34416" y="205231"/>
                </a:lnTo>
                <a:lnTo>
                  <a:pt x="38643" y="203804"/>
                </a:lnTo>
                <a:lnTo>
                  <a:pt x="50037" y="172338"/>
                </a:lnTo>
                <a:close/>
              </a:path>
              <a:path w="645795" h="233044">
                <a:moveTo>
                  <a:pt x="36222" y="210583"/>
                </a:moveTo>
                <a:lnTo>
                  <a:pt x="37973" y="215772"/>
                </a:lnTo>
                <a:lnTo>
                  <a:pt x="42115" y="214373"/>
                </a:lnTo>
                <a:lnTo>
                  <a:pt x="36222" y="210583"/>
                </a:lnTo>
                <a:close/>
              </a:path>
              <a:path w="645795" h="233044">
                <a:moveTo>
                  <a:pt x="42115" y="214373"/>
                </a:moveTo>
                <a:lnTo>
                  <a:pt x="37973" y="215772"/>
                </a:lnTo>
                <a:lnTo>
                  <a:pt x="44291" y="215772"/>
                </a:lnTo>
                <a:lnTo>
                  <a:pt x="42115" y="214373"/>
                </a:lnTo>
                <a:close/>
              </a:path>
              <a:path w="645795" h="233044">
                <a:moveTo>
                  <a:pt x="641984" y="0"/>
                </a:moveTo>
                <a:lnTo>
                  <a:pt x="38643" y="203804"/>
                </a:lnTo>
                <a:lnTo>
                  <a:pt x="36222" y="210583"/>
                </a:lnTo>
                <a:lnTo>
                  <a:pt x="42115" y="214373"/>
                </a:lnTo>
                <a:lnTo>
                  <a:pt x="645540" y="10540"/>
                </a:lnTo>
                <a:lnTo>
                  <a:pt x="641984" y="0"/>
                </a:lnTo>
                <a:close/>
              </a:path>
              <a:path w="645795" h="233044">
                <a:moveTo>
                  <a:pt x="38643" y="203804"/>
                </a:moveTo>
                <a:lnTo>
                  <a:pt x="34416" y="205231"/>
                </a:lnTo>
                <a:lnTo>
                  <a:pt x="36222" y="210583"/>
                </a:lnTo>
                <a:lnTo>
                  <a:pt x="38643" y="2038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67709" y="2471394"/>
            <a:ext cx="470534" cy="272415"/>
          </a:xfrm>
          <a:prstGeom prst="rect">
            <a:avLst/>
          </a:prstGeom>
          <a:solidFill>
            <a:srgbClr val="539E39"/>
          </a:solidFill>
          <a:ln w="9525">
            <a:solidFill>
              <a:srgbClr val="3A732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350" spc="-37" baseline="-18518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650" spc="-25" dirty="0">
                <a:solidFill>
                  <a:srgbClr val="FFFFFF"/>
                </a:solidFill>
                <a:latin typeface="Corbel"/>
                <a:cs typeface="Corbel"/>
              </a:rPr>
              <a:t>th</a:t>
            </a:r>
            <a:endParaRPr sz="65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5041" y="3329279"/>
            <a:ext cx="473709" cy="272415"/>
          </a:xfrm>
          <a:prstGeom prst="rect">
            <a:avLst/>
          </a:prstGeom>
          <a:solidFill>
            <a:srgbClr val="539E39"/>
          </a:solidFill>
          <a:ln w="9525">
            <a:solidFill>
              <a:srgbClr val="3A7327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FFFFFF"/>
                </a:solidFill>
                <a:latin typeface="Corbel"/>
                <a:cs typeface="Corbel"/>
              </a:rPr>
              <a:t>(n+1)</a:t>
            </a:r>
            <a:r>
              <a:rPr sz="975" spc="-15" baseline="25641" dirty="0">
                <a:solidFill>
                  <a:srgbClr val="FFFFFF"/>
                </a:solidFill>
                <a:latin typeface="Corbel"/>
                <a:cs typeface="Corbel"/>
              </a:rPr>
              <a:t>th</a:t>
            </a:r>
            <a:endParaRPr sz="975" baseline="25641">
              <a:latin typeface="Corbel"/>
              <a:cs typeface="Corbe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2" name="object 12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Cache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Access</a:t>
            </a:r>
            <a:endParaRPr sz="2200">
              <a:latin typeface="Georgia"/>
              <a:cs typeface="Georgia"/>
            </a:endParaRPr>
          </a:p>
          <a:p>
            <a:pPr marL="363855" indent="-170180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363855" algn="l"/>
              </a:tabLst>
            </a:pP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Cache:</a:t>
            </a:r>
            <a:endParaRPr sz="1200">
              <a:latin typeface="Times New Roman"/>
              <a:cs typeface="Times New Roman"/>
            </a:endParaRPr>
          </a:p>
          <a:p>
            <a:pPr marL="650240" lvl="1" indent="-11112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Arial MT"/>
              <a:buChar char="•"/>
              <a:tabLst>
                <a:tab pos="650240" algn="l"/>
                <a:tab pos="2479675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CPU.</a:t>
            </a:r>
            <a:endParaRPr sz="1200">
              <a:latin typeface="Times New Roman"/>
              <a:cs typeface="Times New Roman"/>
            </a:endParaRPr>
          </a:p>
          <a:p>
            <a:pPr marL="650240" lvl="1" indent="-11112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650240" algn="l"/>
                <a:tab pos="2479675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Cache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word</a:t>
            </a:r>
            <a:endParaRPr sz="1200">
              <a:latin typeface="Times New Roman"/>
              <a:cs typeface="Times New Roman"/>
            </a:endParaRPr>
          </a:p>
          <a:p>
            <a:pPr marL="2670175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replace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200">
              <a:latin typeface="Times New Roman"/>
              <a:cs typeface="Times New Roman"/>
            </a:endParaRPr>
          </a:p>
          <a:p>
            <a:pPr marL="248285">
              <a:lnSpc>
                <a:spcPct val="100000"/>
              </a:lnSpc>
            </a:pP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⁈</a:t>
            </a:r>
            <a:r>
              <a:rPr sz="13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How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can</a:t>
            </a:r>
            <a:r>
              <a:rPr sz="13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13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know</a:t>
            </a:r>
            <a:r>
              <a:rPr sz="13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if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3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word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that</a:t>
            </a:r>
            <a:r>
              <a:rPr sz="13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required</a:t>
            </a:r>
            <a:r>
              <a:rPr sz="13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3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there?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300">
              <a:latin typeface="Times New Roman"/>
              <a:cs typeface="Times New Roman"/>
            </a:endParaRPr>
          </a:p>
          <a:p>
            <a:pPr marL="248285">
              <a:lnSpc>
                <a:spcPct val="100000"/>
              </a:lnSpc>
            </a:pP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⁈</a:t>
            </a:r>
            <a:r>
              <a:rPr sz="13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If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new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block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replaces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one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old</a:t>
            </a:r>
            <a:r>
              <a:rPr sz="13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blocks,</a:t>
            </a:r>
            <a:r>
              <a:rPr sz="13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which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one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should</a:t>
            </a:r>
            <a:r>
              <a:rPr sz="13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13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C00000"/>
                </a:solidFill>
                <a:latin typeface="Times New Roman"/>
                <a:cs typeface="Times New Roman"/>
              </a:rPr>
              <a:t>choose?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906" y="1583943"/>
            <a:ext cx="4725162" cy="25605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Inside</a:t>
            </a:r>
            <a:r>
              <a:rPr spc="-4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Cache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25592" y="2753105"/>
            <a:ext cx="499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404040"/>
                </a:solidFill>
                <a:latin typeface="Corbel"/>
                <a:cs typeface="Corbel"/>
              </a:rPr>
              <a:t>(Block)</a:t>
            </a:r>
            <a:endParaRPr sz="1300">
              <a:latin typeface="Corbel"/>
              <a:cs typeface="Corbe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Cache</a:t>
            </a:r>
            <a:r>
              <a:rPr sz="2200" spc="-10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Algorithm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(Read)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408" y="5626608"/>
            <a:ext cx="3977640" cy="203923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Cache</a:t>
            </a:r>
            <a:r>
              <a:rPr spc="-105" dirty="0"/>
              <a:t> </a:t>
            </a:r>
            <a:r>
              <a:rPr dirty="0"/>
              <a:t>Algorithm</a:t>
            </a:r>
            <a:r>
              <a:rPr spc="-90" dirty="0"/>
              <a:t> </a:t>
            </a:r>
            <a:r>
              <a:rPr spc="-10" dirty="0"/>
              <a:t>(Write)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524278"/>
            <a:ext cx="3789045" cy="47942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560"/>
              </a:spcBef>
              <a:buClr>
                <a:srgbClr val="3E762B"/>
              </a:buClr>
              <a:buFont typeface="Wingdings"/>
              <a:buChar char=""/>
              <a:tabLst>
                <a:tab pos="182880" algn="l"/>
              </a:tabLst>
            </a:pP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possible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0" dirty="0">
                <a:latin typeface="Times New Roman"/>
                <a:cs typeface="Times New Roman"/>
              </a:rPr>
              <a:t> select:</a:t>
            </a:r>
            <a:endParaRPr sz="1100">
              <a:latin typeface="Times New Roman"/>
              <a:cs typeface="Times New Roman"/>
            </a:endParaRPr>
          </a:p>
          <a:p>
            <a:pPr marL="494665" lvl="1" indent="-13652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494665" algn="l"/>
              </a:tabLst>
            </a:pPr>
            <a:r>
              <a:rPr sz="1100" b="1" dirty="0">
                <a:latin typeface="Times New Roman"/>
                <a:cs typeface="Times New Roman"/>
              </a:rPr>
              <a:t>Write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 result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into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main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memory.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1435" y="2037080"/>
            <a:ext cx="39522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 memory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 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slow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2809" y="2463799"/>
            <a:ext cx="19977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2.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Write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 result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into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cache.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8966" y="1791233"/>
            <a:ext cx="1047750" cy="246379"/>
          </a:xfrm>
          <a:prstGeom prst="rect">
            <a:avLst/>
          </a:prstGeom>
          <a:solidFill>
            <a:srgbClr val="FFFFFF"/>
          </a:solidFill>
          <a:ln w="14287">
            <a:solidFill>
              <a:srgbClr val="539E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sz="13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write-through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07257" y="1899920"/>
            <a:ext cx="981710" cy="43180"/>
          </a:xfrm>
          <a:custGeom>
            <a:avLst/>
            <a:gdLst/>
            <a:ahLst/>
            <a:cxnLst/>
            <a:rect l="l" t="t" r="r" b="b"/>
            <a:pathLst>
              <a:path w="981710" h="43180">
                <a:moveTo>
                  <a:pt x="42671" y="0"/>
                </a:moveTo>
                <a:lnTo>
                  <a:pt x="0" y="21716"/>
                </a:lnTo>
                <a:lnTo>
                  <a:pt x="43052" y="42799"/>
                </a:lnTo>
                <a:lnTo>
                  <a:pt x="42926" y="28575"/>
                </a:lnTo>
                <a:lnTo>
                  <a:pt x="35687" y="28575"/>
                </a:lnTo>
                <a:lnTo>
                  <a:pt x="35687" y="14350"/>
                </a:lnTo>
                <a:lnTo>
                  <a:pt x="42799" y="14350"/>
                </a:lnTo>
                <a:lnTo>
                  <a:pt x="42736" y="7238"/>
                </a:lnTo>
                <a:lnTo>
                  <a:pt x="42671" y="0"/>
                </a:lnTo>
                <a:close/>
              </a:path>
              <a:path w="981710" h="43180">
                <a:moveTo>
                  <a:pt x="981582" y="7238"/>
                </a:moveTo>
                <a:lnTo>
                  <a:pt x="35687" y="14350"/>
                </a:lnTo>
                <a:lnTo>
                  <a:pt x="35687" y="28575"/>
                </a:lnTo>
                <a:lnTo>
                  <a:pt x="42926" y="28575"/>
                </a:lnTo>
                <a:lnTo>
                  <a:pt x="42799" y="14350"/>
                </a:lnTo>
                <a:lnTo>
                  <a:pt x="981646" y="14350"/>
                </a:lnTo>
                <a:lnTo>
                  <a:pt x="981582" y="7238"/>
                </a:lnTo>
                <a:close/>
              </a:path>
              <a:path w="981710" h="43180">
                <a:moveTo>
                  <a:pt x="981646" y="14350"/>
                </a:moveTo>
                <a:lnTo>
                  <a:pt x="42799" y="14350"/>
                </a:lnTo>
                <a:lnTo>
                  <a:pt x="42926" y="28575"/>
                </a:lnTo>
                <a:lnTo>
                  <a:pt x="35686" y="28575"/>
                </a:lnTo>
                <a:lnTo>
                  <a:pt x="981709" y="21462"/>
                </a:lnTo>
                <a:lnTo>
                  <a:pt x="981646" y="1435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22139" y="2414676"/>
            <a:ext cx="814705" cy="246379"/>
          </a:xfrm>
          <a:prstGeom prst="rect">
            <a:avLst/>
          </a:prstGeom>
          <a:solidFill>
            <a:srgbClr val="FFFFFF"/>
          </a:solidFill>
          <a:ln w="14287">
            <a:solidFill>
              <a:srgbClr val="539E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sz="13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write-</a:t>
            </a:r>
            <a:r>
              <a:rPr sz="1300" b="1" i="1" spc="-20" dirty="0">
                <a:solidFill>
                  <a:srgbClr val="3E762B"/>
                </a:solidFill>
                <a:latin typeface="Times New Roman"/>
                <a:cs typeface="Times New Roman"/>
              </a:rPr>
              <a:t>back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5671" y="2516377"/>
            <a:ext cx="1196975" cy="43180"/>
          </a:xfrm>
          <a:custGeom>
            <a:avLst/>
            <a:gdLst/>
            <a:ahLst/>
            <a:cxnLst/>
            <a:rect l="l" t="t" r="r" b="b"/>
            <a:pathLst>
              <a:path w="1196975" h="43180">
                <a:moveTo>
                  <a:pt x="42925" y="0"/>
                </a:moveTo>
                <a:lnTo>
                  <a:pt x="0" y="21336"/>
                </a:lnTo>
                <a:lnTo>
                  <a:pt x="42925" y="42799"/>
                </a:lnTo>
                <a:lnTo>
                  <a:pt x="42925" y="28575"/>
                </a:lnTo>
                <a:lnTo>
                  <a:pt x="35813" y="28575"/>
                </a:lnTo>
                <a:lnTo>
                  <a:pt x="35813" y="14224"/>
                </a:lnTo>
                <a:lnTo>
                  <a:pt x="42925" y="14224"/>
                </a:lnTo>
                <a:lnTo>
                  <a:pt x="42925" y="0"/>
                </a:lnTo>
                <a:close/>
              </a:path>
              <a:path w="1196975" h="43180">
                <a:moveTo>
                  <a:pt x="42925" y="14224"/>
                </a:moveTo>
                <a:lnTo>
                  <a:pt x="35813" y="14224"/>
                </a:lnTo>
                <a:lnTo>
                  <a:pt x="35813" y="28575"/>
                </a:lnTo>
                <a:lnTo>
                  <a:pt x="42925" y="28575"/>
                </a:lnTo>
                <a:lnTo>
                  <a:pt x="42925" y="14224"/>
                </a:lnTo>
                <a:close/>
              </a:path>
              <a:path w="1196975" h="43180">
                <a:moveTo>
                  <a:pt x="1196466" y="14224"/>
                </a:moveTo>
                <a:lnTo>
                  <a:pt x="42925" y="14224"/>
                </a:lnTo>
                <a:lnTo>
                  <a:pt x="42925" y="28575"/>
                </a:lnTo>
                <a:lnTo>
                  <a:pt x="1196466" y="28575"/>
                </a:lnTo>
                <a:lnTo>
                  <a:pt x="1196466" y="14224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8300" y="2690876"/>
            <a:ext cx="5483225" cy="181038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075055" marR="5080" indent="-115570" algn="just">
              <a:lnSpc>
                <a:spcPts val="1190"/>
              </a:lnSpc>
              <a:spcBef>
                <a:spcPts val="250"/>
              </a:spcBef>
              <a:buClr>
                <a:srgbClr val="3E762B"/>
              </a:buClr>
              <a:buFont typeface="Arial MT"/>
              <a:buChar char="•"/>
              <a:tabLst>
                <a:tab pos="1076960" algn="l"/>
              </a:tabLst>
            </a:pPr>
            <a:r>
              <a:rPr sz="1100" spc="-2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avoid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write-</a:t>
            </a:r>
            <a:r>
              <a:rPr sz="1100" dirty="0">
                <a:latin typeface="Times New Roman"/>
                <a:cs typeface="Times New Roman"/>
              </a:rPr>
              <a:t>back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 memory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 miss, an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additional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bit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is 	</a:t>
            </a:r>
            <a:r>
              <a:rPr sz="1100" b="1" dirty="0">
                <a:latin typeface="Times New Roman"/>
                <a:cs typeface="Times New Roman"/>
              </a:rPr>
              <a:t>added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each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cache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block.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bit called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3E762B"/>
                </a:solidFill>
                <a:latin typeface="Times New Roman"/>
                <a:cs typeface="Times New Roman"/>
              </a:rPr>
              <a:t>dirty</a:t>
            </a:r>
            <a:r>
              <a:rPr sz="1100" b="1" i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3E762B"/>
                </a:solidFill>
                <a:latin typeface="Times New Roman"/>
                <a:cs typeface="Times New Roman"/>
              </a:rPr>
              <a:t>bit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 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	</a:t>
            </a:r>
            <a:r>
              <a:rPr sz="1100" dirty="0">
                <a:latin typeface="Times New Roman"/>
                <a:cs typeface="Times New Roman"/>
              </a:rPr>
              <a:t>cache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written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 if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-10" dirty="0">
                <a:latin typeface="Times New Roman"/>
                <a:cs typeface="Times New Roman"/>
              </a:rPr>
              <a:t> written.</a:t>
            </a:r>
            <a:endParaRPr sz="1100">
              <a:latin typeface="Times New Roman"/>
              <a:cs typeface="Times New Roman"/>
            </a:endParaRPr>
          </a:p>
          <a:p>
            <a:pPr marL="1075055" indent="-115570" algn="just">
              <a:lnSpc>
                <a:spcPct val="100000"/>
              </a:lnSpc>
              <a:spcBef>
                <a:spcPts val="445"/>
              </a:spcBef>
              <a:buClr>
                <a:srgbClr val="3E762B"/>
              </a:buClr>
              <a:buFont typeface="Arial MT"/>
              <a:buChar char="•"/>
              <a:tabLst>
                <a:tab pos="1075055" algn="l"/>
              </a:tabLst>
            </a:pPr>
            <a:r>
              <a:rPr sz="1100" b="1" dirty="0">
                <a:latin typeface="Times New Roman"/>
                <a:cs typeface="Times New Roman"/>
              </a:rPr>
              <a:t>Write-back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main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must be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performed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only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if the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i="1" dirty="0">
                <a:latin typeface="Times New Roman"/>
                <a:cs typeface="Times New Roman"/>
              </a:rPr>
              <a:t>dirty</a:t>
            </a:r>
            <a:r>
              <a:rPr sz="1100" b="1" i="1" spc="-25" dirty="0">
                <a:latin typeface="Times New Roman"/>
                <a:cs typeface="Times New Roman"/>
              </a:rPr>
              <a:t> </a:t>
            </a:r>
            <a:r>
              <a:rPr sz="1100" b="1" i="1" dirty="0">
                <a:latin typeface="Times New Roman"/>
                <a:cs typeface="Times New Roman"/>
              </a:rPr>
              <a:t>bit </a:t>
            </a:r>
            <a:r>
              <a:rPr sz="1100" b="1" dirty="0">
                <a:latin typeface="Times New Roman"/>
                <a:cs typeface="Times New Roman"/>
              </a:rPr>
              <a:t>is </a:t>
            </a:r>
            <a:r>
              <a:rPr sz="1100" b="1" spc="-25" dirty="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100">
              <a:latin typeface="Times New Roman"/>
              <a:cs typeface="Times New Roman"/>
            </a:endParaRPr>
          </a:p>
          <a:p>
            <a:pPr marL="7366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3.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Write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 result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into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both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main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cache.</a:t>
            </a:r>
            <a:endParaRPr sz="1100">
              <a:latin typeface="Times New Roman"/>
              <a:cs typeface="Times New Roman"/>
            </a:endParaRPr>
          </a:p>
          <a:p>
            <a:pPr marL="1076960">
              <a:lnSpc>
                <a:spcPct val="100000"/>
              </a:lnSpc>
              <a:spcBef>
                <a:spcPts val="465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misses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correctly.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2" name="object 12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Cache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Example</a:t>
            </a:r>
            <a:endParaRPr sz="2200">
              <a:latin typeface="Georgia"/>
              <a:cs typeface="Georgia"/>
            </a:endParaRPr>
          </a:p>
          <a:p>
            <a:pPr marL="393700" marR="840105" indent="-172720">
              <a:lnSpc>
                <a:spcPct val="120800"/>
              </a:lnSpc>
              <a:spcBef>
                <a:spcPts val="1220"/>
              </a:spcBef>
              <a:buClr>
                <a:srgbClr val="3E762B"/>
              </a:buClr>
              <a:buFont typeface="Wingdings"/>
              <a:buChar char=""/>
              <a:tabLst>
                <a:tab pos="3949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penalty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1100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ns.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ratio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0.9.</a:t>
            </a:r>
            <a:endParaRPr sz="12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200">
              <a:latin typeface="Times New Roman"/>
              <a:cs typeface="Times New Roman"/>
            </a:endParaRPr>
          </a:p>
          <a:p>
            <a:pPr marL="394335" indent="-17335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394335" algn="l"/>
              </a:tabLst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449580">
              <a:lnSpc>
                <a:spcPct val="100000"/>
              </a:lnSpc>
              <a:spcBef>
                <a:spcPts val="630"/>
              </a:spcBef>
            </a:pPr>
            <a:r>
              <a:rPr sz="1100" b="1" dirty="0">
                <a:latin typeface="Times New Roman"/>
                <a:cs typeface="Times New Roman"/>
              </a:rPr>
              <a:t>Average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access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time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(AMAT)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=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Hit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ratio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*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Hit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time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+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Miss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rate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*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Miss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penalty</a:t>
            </a:r>
            <a:endParaRPr sz="1100">
              <a:latin typeface="Times New Roman"/>
              <a:cs typeface="Times New Roman"/>
            </a:endParaRPr>
          </a:p>
          <a:p>
            <a:pPr marL="2964815">
              <a:lnSpc>
                <a:spcPct val="100000"/>
              </a:lnSpc>
              <a:spcBef>
                <a:spcPts val="595"/>
              </a:spcBef>
            </a:pP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0.9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0.1 * 1100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200 </a:t>
            </a:r>
            <a:r>
              <a:rPr sz="1200" spc="-25" dirty="0">
                <a:latin typeface="Times New Roman"/>
                <a:cs typeface="Times New Roman"/>
              </a:rPr>
              <a:t>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7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Cache</a:t>
            </a:r>
            <a:r>
              <a:rPr spc="-7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27123"/>
            <a:ext cx="5081905" cy="211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characteristic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very 	</a:t>
            </a:r>
            <a:r>
              <a:rPr sz="1200" b="1" dirty="0">
                <a:latin typeface="Times New Roman"/>
                <a:cs typeface="Times New Roman"/>
              </a:rPr>
              <a:t>little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must be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wasted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when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searching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words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cache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184785" marR="22860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main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 to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cache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referred 	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mapping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process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mapping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procedures</a:t>
            </a:r>
            <a:endParaRPr sz="1200">
              <a:latin typeface="Times New Roman"/>
              <a:cs typeface="Times New Roman"/>
            </a:endParaRPr>
          </a:p>
          <a:p>
            <a:pPr marL="622300" lvl="1" indent="-152400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622300" algn="l"/>
              </a:tabLst>
            </a:pPr>
            <a:r>
              <a:rPr sz="1200" b="1" dirty="0">
                <a:latin typeface="Times New Roman"/>
                <a:cs typeface="Times New Roman"/>
              </a:rPr>
              <a:t>Direct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mapping</a:t>
            </a:r>
            <a:endParaRPr sz="1200">
              <a:latin typeface="Times New Roman"/>
              <a:cs typeface="Times New Roman"/>
            </a:endParaRPr>
          </a:p>
          <a:p>
            <a:pPr marL="612775" lvl="1" indent="-14287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612775" algn="l"/>
              </a:tabLst>
            </a:pPr>
            <a:r>
              <a:rPr sz="1200" b="1" dirty="0">
                <a:latin typeface="Times New Roman"/>
                <a:cs typeface="Times New Roman"/>
              </a:rPr>
              <a:t>Associative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mapping</a:t>
            </a:r>
            <a:endParaRPr sz="1200">
              <a:latin typeface="Times New Roman"/>
              <a:cs typeface="Times New Roman"/>
            </a:endParaRPr>
          </a:p>
          <a:p>
            <a:pPr marL="622300" lvl="1" indent="-1524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622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Set-</a:t>
            </a:r>
            <a:r>
              <a:rPr sz="1200" b="1" dirty="0">
                <a:latin typeface="Times New Roman"/>
                <a:cs typeface="Times New Roman"/>
              </a:rPr>
              <a:t>associative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mapping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28784" y="2850959"/>
            <a:ext cx="2701925" cy="784860"/>
            <a:chOff x="3228784" y="2850959"/>
            <a:chExt cx="2701925" cy="784860"/>
          </a:xfrm>
        </p:grpSpPr>
        <p:sp>
          <p:nvSpPr>
            <p:cNvPr id="5" name="object 5"/>
            <p:cNvSpPr/>
            <p:nvPr/>
          </p:nvSpPr>
          <p:spPr>
            <a:xfrm>
              <a:off x="3233547" y="2855722"/>
              <a:ext cx="2692400" cy="775335"/>
            </a:xfrm>
            <a:custGeom>
              <a:avLst/>
              <a:gdLst/>
              <a:ahLst/>
              <a:cxnLst/>
              <a:rect l="l" t="t" r="r" b="b"/>
              <a:pathLst>
                <a:path w="2692400" h="775335">
                  <a:moveTo>
                    <a:pt x="2641854" y="0"/>
                  </a:moveTo>
                  <a:lnTo>
                    <a:pt x="0" y="518287"/>
                  </a:lnTo>
                  <a:lnTo>
                    <a:pt x="50291" y="774953"/>
                  </a:lnTo>
                  <a:lnTo>
                    <a:pt x="2692145" y="256666"/>
                  </a:lnTo>
                  <a:lnTo>
                    <a:pt x="2641854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33547" y="2855722"/>
              <a:ext cx="2692400" cy="775335"/>
            </a:xfrm>
            <a:custGeom>
              <a:avLst/>
              <a:gdLst/>
              <a:ahLst/>
              <a:cxnLst/>
              <a:rect l="l" t="t" r="r" b="b"/>
              <a:pathLst>
                <a:path w="2692400" h="775335">
                  <a:moveTo>
                    <a:pt x="0" y="518287"/>
                  </a:moveTo>
                  <a:lnTo>
                    <a:pt x="2641854" y="0"/>
                  </a:lnTo>
                  <a:lnTo>
                    <a:pt x="2692145" y="256666"/>
                  </a:lnTo>
                  <a:lnTo>
                    <a:pt x="50291" y="774953"/>
                  </a:lnTo>
                  <a:lnTo>
                    <a:pt x="0" y="518287"/>
                  </a:lnTo>
                  <a:close/>
                </a:path>
              </a:pathLst>
            </a:custGeom>
            <a:ln w="952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6826" y="2973070"/>
              <a:ext cx="2516251" cy="57480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9" name="object 9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1.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Direct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Mapping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200">
              <a:latin typeface="Georgia"/>
              <a:cs typeface="Georgia"/>
            </a:endParaRPr>
          </a:p>
          <a:p>
            <a:pPr marR="163830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one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location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cache</a:t>
            </a:r>
            <a:endParaRPr sz="1600">
              <a:latin typeface="Times New Roman"/>
              <a:cs typeface="Times New Roman"/>
            </a:endParaRPr>
          </a:p>
          <a:p>
            <a:pPr marR="165100" algn="ctr">
              <a:lnSpc>
                <a:spcPct val="100000"/>
              </a:lnSpc>
              <a:spcBef>
                <a:spcPts val="500"/>
              </a:spcBef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contain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word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from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specific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main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memory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location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5619" y="1818767"/>
            <a:ext cx="2457069" cy="8686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75" dirty="0"/>
              <a:t> </a:t>
            </a:r>
            <a:r>
              <a:rPr dirty="0"/>
              <a:t>Direct</a:t>
            </a:r>
            <a:r>
              <a:rPr spc="-55" dirty="0"/>
              <a:t> </a:t>
            </a:r>
            <a:r>
              <a:rPr dirty="0"/>
              <a:t>Mapping</a:t>
            </a:r>
            <a:r>
              <a:rPr spc="-70" dirty="0"/>
              <a:t> </a:t>
            </a:r>
            <a:r>
              <a:rPr spc="-10" dirty="0"/>
              <a:t>Example1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461" y="1525015"/>
            <a:ext cx="3335654" cy="10388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53035" indent="-114935">
              <a:lnSpc>
                <a:spcPct val="100000"/>
              </a:lnSpc>
              <a:spcBef>
                <a:spcPts val="650"/>
              </a:spcBef>
              <a:buClr>
                <a:srgbClr val="3E762B"/>
              </a:buClr>
              <a:buFont typeface="Wingdings"/>
              <a:buChar char=""/>
              <a:tabLst>
                <a:tab pos="153035" algn="l"/>
              </a:tabLst>
            </a:pPr>
            <a:r>
              <a:rPr sz="1200" spc="-10" dirty="0">
                <a:latin typeface="Times New Roman"/>
                <a:cs typeface="Times New Roman"/>
              </a:rPr>
              <a:t>Cache:</a:t>
            </a:r>
            <a:endParaRPr sz="12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55"/>
              </a:spcBef>
            </a:pP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baseline="24305" dirty="0">
                <a:latin typeface="Times New Roman"/>
                <a:cs typeface="Times New Roman"/>
              </a:rPr>
              <a:t>3</a:t>
            </a:r>
            <a:r>
              <a:rPr sz="1200" spc="135" baseline="24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32-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(3-</a:t>
            </a:r>
            <a:r>
              <a:rPr sz="1200" dirty="0">
                <a:latin typeface="Times New Roman"/>
                <a:cs typeface="Times New Roman"/>
              </a:rPr>
              <a:t>bit </a:t>
            </a:r>
            <a:r>
              <a:rPr sz="1200" spc="-10" dirty="0">
                <a:latin typeface="Times New Roman"/>
                <a:cs typeface="Times New Roman"/>
              </a:rPr>
              <a:t>addresses)(4-</a:t>
            </a:r>
            <a:r>
              <a:rPr sz="1200" dirty="0">
                <a:latin typeface="Times New Roman"/>
                <a:cs typeface="Times New Roman"/>
              </a:rPr>
              <a:t>Byte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Block)</a:t>
            </a:r>
            <a:endParaRPr sz="1200">
              <a:latin typeface="Times New Roman"/>
              <a:cs typeface="Times New Roman"/>
            </a:endParaRPr>
          </a:p>
          <a:p>
            <a:pPr marL="153035" indent="-114935">
              <a:lnSpc>
                <a:spcPct val="100000"/>
              </a:lnSpc>
              <a:spcBef>
                <a:spcPts val="550"/>
              </a:spcBef>
              <a:buClr>
                <a:srgbClr val="3E762B"/>
              </a:buClr>
              <a:buFont typeface="Wingdings"/>
              <a:buChar char=""/>
              <a:tabLst>
                <a:tab pos="153035" algn="l"/>
              </a:tabLst>
            </a:pP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Memory:</a:t>
            </a:r>
            <a:endParaRPr sz="12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KB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(10-</a:t>
            </a:r>
            <a:r>
              <a:rPr sz="1200" dirty="0">
                <a:latin typeface="Times New Roman"/>
                <a:cs typeface="Times New Roman"/>
              </a:rPr>
              <a:t>bit </a:t>
            </a:r>
            <a:r>
              <a:rPr sz="1200" spc="-10" dirty="0">
                <a:latin typeface="Times New Roman"/>
                <a:cs typeface="Times New Roman"/>
              </a:rPr>
              <a:t>addresses)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861" y="3046222"/>
            <a:ext cx="226187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Least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choose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Byte </a:t>
            </a:r>
            <a:r>
              <a:rPr sz="1200" dirty="0">
                <a:latin typeface="Times New Roman"/>
                <a:cs typeface="Times New Roman"/>
              </a:rPr>
              <a:t>Middle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choose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2885" y="3036912"/>
            <a:ext cx="2606040" cy="1016000"/>
          </a:xfrm>
          <a:prstGeom prst="rect">
            <a:avLst/>
          </a:prstGeom>
          <a:solidFill>
            <a:srgbClr val="FFFFFF"/>
          </a:solidFill>
          <a:ln w="14287">
            <a:solidFill>
              <a:srgbClr val="539E3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5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bits:</a:t>
            </a:r>
            <a:endParaRPr sz="1200">
              <a:latin typeface="Times New Roman"/>
              <a:cs typeface="Times New Roman"/>
            </a:endParaRPr>
          </a:p>
          <a:p>
            <a:pPr marL="45720" marR="146050">
              <a:lnSpc>
                <a:spcPct val="141700"/>
              </a:lnSpc>
            </a:pP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bytes/block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Byte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Index</a:t>
            </a:r>
            <a:endParaRPr sz="12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95"/>
              </a:spcBef>
            </a:pPr>
            <a:r>
              <a:rPr sz="1200" dirty="0">
                <a:latin typeface="Times New Roman"/>
                <a:cs typeface="Times New Roman"/>
              </a:rPr>
              <a:t>Remaining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6129" y="4901730"/>
              <a:ext cx="3092069" cy="33375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ts val="2070"/>
              </a:lnSpc>
            </a:pPr>
            <a:r>
              <a:rPr sz="2000" dirty="0">
                <a:latin typeface="Georgia"/>
                <a:cs typeface="Georgia"/>
              </a:rPr>
              <a:t>1.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Direct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Mapping</a:t>
            </a:r>
            <a:endParaRPr sz="2000">
              <a:latin typeface="Georgia"/>
              <a:cs typeface="Georgia"/>
            </a:endParaRPr>
          </a:p>
          <a:p>
            <a:pPr marL="163830">
              <a:lnSpc>
                <a:spcPts val="2280"/>
              </a:lnSpc>
              <a:tabLst>
                <a:tab pos="457200" algn="l"/>
                <a:tab pos="4824730" algn="l"/>
              </a:tabLst>
            </a:pP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r>
              <a:rPr sz="20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Example1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6548" y="6131401"/>
            <a:ext cx="2466975" cy="878205"/>
            <a:chOff x="676548" y="6131401"/>
            <a:chExt cx="2466975" cy="87820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304" y="6136132"/>
              <a:ext cx="2457068" cy="8686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78929" y="6133782"/>
              <a:ext cx="2461895" cy="873760"/>
            </a:xfrm>
            <a:custGeom>
              <a:avLst/>
              <a:gdLst/>
              <a:ahLst/>
              <a:cxnLst/>
              <a:rect l="l" t="t" r="r" b="b"/>
              <a:pathLst>
                <a:path w="2461895" h="873759">
                  <a:moveTo>
                    <a:pt x="0" y="873442"/>
                  </a:moveTo>
                  <a:lnTo>
                    <a:pt x="2461895" y="873442"/>
                  </a:lnTo>
                  <a:lnTo>
                    <a:pt x="2461895" y="0"/>
                  </a:lnTo>
                  <a:lnTo>
                    <a:pt x="0" y="0"/>
                  </a:lnTo>
                  <a:lnTo>
                    <a:pt x="0" y="87344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75" dirty="0"/>
              <a:t> </a:t>
            </a:r>
            <a:r>
              <a:rPr dirty="0"/>
              <a:t>Direct</a:t>
            </a:r>
            <a:r>
              <a:rPr spc="-55" dirty="0"/>
              <a:t> </a:t>
            </a:r>
            <a:r>
              <a:rPr dirty="0"/>
              <a:t>Mapping</a:t>
            </a:r>
            <a:r>
              <a:rPr spc="-70" dirty="0"/>
              <a:t> </a:t>
            </a:r>
            <a:r>
              <a:rPr spc="-10" dirty="0"/>
              <a:t>Example2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20393"/>
            <a:ext cx="549465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64K</a:t>
            </a:r>
            <a:r>
              <a:rPr sz="1200" spc="-10" dirty="0">
                <a:latin typeface="Times New Roman"/>
                <a:cs typeface="Times New Roman"/>
              </a:rPr>
              <a:t> ×16-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1K 	</a:t>
            </a:r>
            <a:r>
              <a:rPr sz="1200" dirty="0">
                <a:latin typeface="Times New Roman"/>
                <a:cs typeface="Times New Roman"/>
              </a:rPr>
              <a:t>words.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mapping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words.</a:t>
            </a:r>
            <a:endParaRPr sz="1200">
              <a:latin typeface="Times New Roman"/>
              <a:cs typeface="Times New Roman"/>
            </a:endParaRPr>
          </a:p>
          <a:p>
            <a:pPr marL="468630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format?</a:t>
            </a: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185420" algn="l"/>
              </a:tabLst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Solution:</a:t>
            </a:r>
            <a:endParaRPr sz="1200">
              <a:latin typeface="Times New Roman"/>
              <a:cs typeface="Times New Roman"/>
            </a:endParaRPr>
          </a:p>
          <a:p>
            <a:pPr marL="469900" marR="1612265">
              <a:lnSpc>
                <a:spcPct val="141700"/>
              </a:lnSpc>
            </a:pPr>
            <a:r>
              <a:rPr sz="1200" dirty="0">
                <a:latin typeface="Times New Roman"/>
                <a:cs typeface="Times New Roman"/>
              </a:rPr>
              <a:t>64K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×16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0" dirty="0">
                <a:latin typeface="Times New Roman"/>
                <a:cs typeface="Times New Roman"/>
              </a:rPr>
              <a:t> 16-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16-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8-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words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9960" y="3328161"/>
            <a:ext cx="2224024" cy="4476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489584" indent="-260985">
              <a:lnSpc>
                <a:spcPct val="100000"/>
              </a:lnSpc>
              <a:spcBef>
                <a:spcPts val="905"/>
              </a:spcBef>
              <a:buFont typeface="Georgia"/>
              <a:buAutoNum type="arabicPeriod"/>
              <a:tabLst>
                <a:tab pos="489584" algn="l"/>
              </a:tabLst>
            </a:pPr>
            <a:r>
              <a:rPr sz="2200" dirty="0">
                <a:latin typeface="Georgia"/>
                <a:cs typeface="Georgia"/>
              </a:rPr>
              <a:t>Direct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Mapping</a:t>
            </a:r>
            <a:endParaRPr sz="2200">
              <a:latin typeface="Georgia"/>
              <a:cs typeface="Georgia"/>
            </a:endParaRPr>
          </a:p>
          <a:p>
            <a:pPr marL="432434" lvl="1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spc="-10" dirty="0">
                <a:latin typeface="Times New Roman"/>
                <a:cs typeface="Times New Roman"/>
              </a:rPr>
              <a:t>Advantage:</a:t>
            </a:r>
            <a:endParaRPr sz="1200">
              <a:latin typeface="Times New Roman"/>
              <a:cs typeface="Times New Roman"/>
            </a:endParaRPr>
          </a:p>
          <a:p>
            <a:pPr marL="491490" lvl="2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91490" algn="l"/>
              </a:tabLst>
            </a:pPr>
            <a:r>
              <a:rPr sz="1200" spc="-20" dirty="0">
                <a:latin typeface="Times New Roman"/>
                <a:cs typeface="Times New Roman"/>
              </a:rPr>
              <a:t>Fast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Arial MT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432434" lvl="1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spc="-10" dirty="0">
                <a:latin typeface="Times New Roman"/>
                <a:cs typeface="Times New Roman"/>
              </a:rPr>
              <a:t>Disadvantages</a:t>
            </a:r>
            <a:endParaRPr sz="1200">
              <a:latin typeface="Times New Roman"/>
              <a:cs typeface="Times New Roman"/>
            </a:endParaRPr>
          </a:p>
          <a:p>
            <a:pPr marL="491490" marR="368935" lvl="2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91490" algn="l"/>
              </a:tabLst>
            </a:pP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happen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25" dirty="0">
                <a:latin typeface="Times New Roman"/>
                <a:cs typeface="Times New Roman"/>
              </a:rPr>
              <a:t> of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70" dirty="0"/>
              <a:t> </a:t>
            </a:r>
            <a:r>
              <a:rPr dirty="0"/>
              <a:t>Associative</a:t>
            </a:r>
            <a:r>
              <a:rPr spc="-4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8833" y="1571396"/>
            <a:ext cx="3688715" cy="6413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600" b="1" dirty="0">
                <a:latin typeface="Times New Roman"/>
                <a:cs typeface="Times New Roman"/>
              </a:rPr>
              <a:t>any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location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memory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mapped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any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location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cache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525145" indent="-296545">
              <a:lnSpc>
                <a:spcPct val="100000"/>
              </a:lnSpc>
              <a:spcBef>
                <a:spcPts val="905"/>
              </a:spcBef>
              <a:buFont typeface="Georgia"/>
              <a:buAutoNum type="arabicPeriod" startAt="2"/>
              <a:tabLst>
                <a:tab pos="525145" algn="l"/>
              </a:tabLst>
            </a:pPr>
            <a:r>
              <a:rPr sz="2200" dirty="0">
                <a:latin typeface="Georgia"/>
                <a:cs typeface="Georgia"/>
              </a:rPr>
              <a:t>Associative</a:t>
            </a:r>
            <a:r>
              <a:rPr sz="2200" spc="-10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mapping</a:t>
            </a:r>
            <a:r>
              <a:rPr sz="2200" spc="-1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Example1</a:t>
            </a:r>
            <a:endParaRPr sz="2200">
              <a:latin typeface="Georgia"/>
              <a:cs typeface="Georgia"/>
            </a:endParaRPr>
          </a:p>
          <a:p>
            <a:pPr marL="377825" lvl="1" indent="-114935">
              <a:lnSpc>
                <a:spcPct val="100000"/>
              </a:lnSpc>
              <a:spcBef>
                <a:spcPts val="1480"/>
              </a:spcBef>
              <a:buClr>
                <a:srgbClr val="3E762B"/>
              </a:buClr>
              <a:buFont typeface="Wingdings"/>
              <a:buChar char=""/>
              <a:tabLst>
                <a:tab pos="377825" algn="l"/>
              </a:tabLst>
            </a:pPr>
            <a:r>
              <a:rPr sz="1200" spc="-10" dirty="0">
                <a:latin typeface="Times New Roman"/>
                <a:cs typeface="Times New Roman"/>
              </a:rPr>
              <a:t>Cache:</a:t>
            </a:r>
            <a:endParaRPr sz="1200">
              <a:latin typeface="Times New Roman"/>
              <a:cs typeface="Times New Roman"/>
            </a:endParaRPr>
          </a:p>
          <a:p>
            <a:pPr marL="491490">
              <a:lnSpc>
                <a:spcPct val="100000"/>
              </a:lnSpc>
              <a:spcBef>
                <a:spcPts val="555"/>
              </a:spcBef>
            </a:pP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baseline="24305" dirty="0">
                <a:latin typeface="Times New Roman"/>
                <a:cs typeface="Times New Roman"/>
              </a:rPr>
              <a:t>3</a:t>
            </a:r>
            <a:r>
              <a:rPr sz="1200" spc="112" baseline="24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0" dirty="0">
                <a:latin typeface="Times New Roman"/>
                <a:cs typeface="Times New Roman"/>
              </a:rPr>
              <a:t> 32-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(3-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(4-</a:t>
            </a:r>
            <a:r>
              <a:rPr sz="1200" dirty="0">
                <a:latin typeface="Times New Roman"/>
                <a:cs typeface="Times New Roman"/>
              </a:rPr>
              <a:t>Byte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Block)</a:t>
            </a:r>
            <a:endParaRPr sz="1200">
              <a:latin typeface="Times New Roman"/>
              <a:cs typeface="Times New Roman"/>
            </a:endParaRPr>
          </a:p>
          <a:p>
            <a:pPr marL="377825" lvl="1" indent="-114935">
              <a:lnSpc>
                <a:spcPct val="100000"/>
              </a:lnSpc>
              <a:spcBef>
                <a:spcPts val="555"/>
              </a:spcBef>
              <a:buClr>
                <a:srgbClr val="3E762B"/>
              </a:buClr>
              <a:buFont typeface="Wingdings"/>
              <a:buChar char=""/>
              <a:tabLst>
                <a:tab pos="377825" algn="l"/>
              </a:tabLst>
            </a:pP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Memory:</a:t>
            </a:r>
            <a:endParaRPr sz="1200">
              <a:latin typeface="Times New Roman"/>
              <a:cs typeface="Times New Roman"/>
            </a:endParaRPr>
          </a:p>
          <a:p>
            <a:pPr marL="491490">
              <a:lnSpc>
                <a:spcPct val="100000"/>
              </a:lnSpc>
              <a:spcBef>
                <a:spcPts val="560"/>
              </a:spcBef>
            </a:pP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KB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(10-</a:t>
            </a:r>
            <a:r>
              <a:rPr sz="1200" dirty="0">
                <a:latin typeface="Times New Roman"/>
                <a:cs typeface="Times New Roman"/>
              </a:rPr>
              <a:t>bit </a:t>
            </a:r>
            <a:r>
              <a:rPr sz="1200" spc="-10" dirty="0">
                <a:latin typeface="Times New Roman"/>
                <a:cs typeface="Times New Roman"/>
              </a:rPr>
              <a:t>addresses)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200">
              <a:latin typeface="Times New Roman"/>
              <a:cs typeface="Times New Roman"/>
            </a:endParaRPr>
          </a:p>
          <a:p>
            <a:pPr marL="432434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7118642"/>
            <a:ext cx="2397124" cy="7912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2723" y="943101"/>
            <a:ext cx="260858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Georgia"/>
                <a:cs typeface="Georgia"/>
              </a:rPr>
              <a:t>2.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Associative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mapping Example1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3902" y="889285"/>
            <a:ext cx="5780405" cy="3392804"/>
            <a:chOff x="643902" y="889285"/>
            <a:chExt cx="5780405" cy="33928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6830" y="893952"/>
              <a:ext cx="3072129" cy="33832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44545" y="891666"/>
              <a:ext cx="3077210" cy="3388360"/>
            </a:xfrm>
            <a:custGeom>
              <a:avLst/>
              <a:gdLst/>
              <a:ahLst/>
              <a:cxnLst/>
              <a:rect l="l" t="t" r="r" b="b"/>
              <a:pathLst>
                <a:path w="3077210" h="3388360">
                  <a:moveTo>
                    <a:pt x="0" y="3387979"/>
                  </a:moveTo>
                  <a:lnTo>
                    <a:pt x="3076829" y="3387979"/>
                  </a:lnTo>
                  <a:lnTo>
                    <a:pt x="3076829" y="0"/>
                  </a:lnTo>
                  <a:lnTo>
                    <a:pt x="0" y="0"/>
                  </a:lnTo>
                  <a:lnTo>
                    <a:pt x="0" y="3387979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902" y="2423909"/>
              <a:ext cx="2397125" cy="791222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525145" indent="-296545">
              <a:lnSpc>
                <a:spcPct val="100000"/>
              </a:lnSpc>
              <a:spcBef>
                <a:spcPts val="905"/>
              </a:spcBef>
              <a:buFont typeface="Georgia"/>
              <a:buAutoNum type="arabicPeriod" startAt="2"/>
              <a:tabLst>
                <a:tab pos="525145" algn="l"/>
              </a:tabLst>
            </a:pPr>
            <a:r>
              <a:rPr sz="2200" dirty="0">
                <a:latin typeface="Georgia"/>
                <a:cs typeface="Georgia"/>
              </a:rPr>
              <a:t>Associative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mapping</a:t>
            </a:r>
            <a:endParaRPr sz="2200">
              <a:latin typeface="Georgia"/>
              <a:cs typeface="Georgia"/>
            </a:endParaRPr>
          </a:p>
          <a:p>
            <a:pPr marL="432434" lvl="1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spc="-10" dirty="0">
                <a:latin typeface="Times New Roman"/>
                <a:cs typeface="Times New Roman"/>
              </a:rPr>
              <a:t>Disadvantage:</a:t>
            </a:r>
            <a:endParaRPr sz="1200">
              <a:latin typeface="Times New Roman"/>
              <a:cs typeface="Times New Roman"/>
            </a:endParaRPr>
          </a:p>
          <a:p>
            <a:pPr marL="491490" lvl="2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91490" algn="l"/>
              </a:tabLst>
            </a:pPr>
            <a:r>
              <a:rPr sz="1200" dirty="0">
                <a:latin typeface="Times New Roman"/>
                <a:cs typeface="Times New Roman"/>
              </a:rPr>
              <a:t>Slow: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↑)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Arial MT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432434" lvl="1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spc="-10" dirty="0">
                <a:latin typeface="Times New Roman"/>
                <a:cs typeface="Times New Roman"/>
              </a:rPr>
              <a:t>Advantages</a:t>
            </a:r>
            <a:endParaRPr sz="1200">
              <a:latin typeface="Times New Roman"/>
              <a:cs typeface="Times New Roman"/>
            </a:endParaRPr>
          </a:p>
          <a:p>
            <a:pPr marL="491490" lvl="2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91490" algn="l"/>
              </a:tabLst>
            </a:pP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(miss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25" dirty="0">
                <a:latin typeface="Times New Roman"/>
                <a:cs typeface="Times New Roman"/>
              </a:rPr>
              <a:t> ↓)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40" dirty="0"/>
              <a:t> </a:t>
            </a:r>
            <a:r>
              <a:rPr spc="-20" dirty="0"/>
              <a:t>Set-</a:t>
            </a:r>
            <a:r>
              <a:rPr dirty="0"/>
              <a:t>associative</a:t>
            </a:r>
            <a:r>
              <a:rPr spc="-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18868"/>
            <a:ext cx="4672965" cy="179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21130" marR="59055" indent="-11099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compromise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direct-</a:t>
            </a:r>
            <a:r>
              <a:rPr sz="1600" b="1" dirty="0">
                <a:latin typeface="Times New Roman"/>
                <a:cs typeface="Times New Roman"/>
              </a:rPr>
              <a:t>mapped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cache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fully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associative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cache.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600">
              <a:latin typeface="Times New Roman"/>
              <a:cs typeface="Times New Roman"/>
            </a:endParaRPr>
          </a:p>
          <a:p>
            <a:pPr marL="184785" marR="5080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spc="-25" dirty="0">
                <a:latin typeface="Times New Roman"/>
                <a:cs typeface="Times New Roman"/>
              </a:rPr>
              <a:t>Lower-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mapping;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having</a:t>
            </a:r>
            <a:r>
              <a:rPr sz="1200" spc="-25" dirty="0">
                <a:latin typeface="Times New Roman"/>
                <a:cs typeface="Times New Roman"/>
              </a:rPr>
              <a:t> one 	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locations.</a:t>
            </a:r>
            <a:endParaRPr sz="1200">
              <a:latin typeface="Times New Roman"/>
              <a:cs typeface="Times New Roman"/>
            </a:endParaRPr>
          </a:p>
          <a:p>
            <a:pPr marL="415925" lvl="1" indent="-17462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15925" algn="l"/>
              </a:tabLst>
            </a:pPr>
            <a:r>
              <a:rPr sz="1200" i="1" dirty="0">
                <a:latin typeface="Times New Roman"/>
                <a:cs typeface="Times New Roman"/>
              </a:rPr>
              <a:t>s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=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2,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Two-</a:t>
            </a:r>
            <a:r>
              <a:rPr sz="1200" spc="-30" dirty="0">
                <a:latin typeface="Times New Roman"/>
                <a:cs typeface="Times New Roman"/>
              </a:rPr>
              <a:t>Way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Set-</a:t>
            </a:r>
            <a:r>
              <a:rPr sz="1200" dirty="0">
                <a:latin typeface="Times New Roman"/>
                <a:cs typeface="Times New Roman"/>
              </a:rPr>
              <a:t>associative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Cache</a:t>
            </a:r>
            <a:endParaRPr sz="1200">
              <a:latin typeface="Times New Roman"/>
              <a:cs typeface="Times New Roman"/>
            </a:endParaRPr>
          </a:p>
          <a:p>
            <a:pPr marL="415925" lvl="1" indent="-17462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Arial MT"/>
              <a:buChar char="•"/>
              <a:tabLst>
                <a:tab pos="415925" algn="l"/>
              </a:tabLst>
            </a:pPr>
            <a:r>
              <a:rPr sz="1200" i="1" dirty="0">
                <a:latin typeface="Times New Roman"/>
                <a:cs typeface="Times New Roman"/>
              </a:rPr>
              <a:t>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=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4,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Four-Way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Set-</a:t>
            </a:r>
            <a:r>
              <a:rPr sz="1200" dirty="0">
                <a:latin typeface="Times New Roman"/>
                <a:cs typeface="Times New Roman"/>
              </a:rPr>
              <a:t>associative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Cache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0544" y="5479796"/>
              <a:ext cx="4107433" cy="2743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18257" y="5477472"/>
              <a:ext cx="4112260" cy="2748280"/>
            </a:xfrm>
            <a:custGeom>
              <a:avLst/>
              <a:gdLst/>
              <a:ahLst/>
              <a:cxnLst/>
              <a:rect l="l" t="t" r="r" b="b"/>
              <a:pathLst>
                <a:path w="4112260" h="2748279">
                  <a:moveTo>
                    <a:pt x="0" y="2747898"/>
                  </a:moveTo>
                  <a:lnTo>
                    <a:pt x="4112260" y="2747898"/>
                  </a:lnTo>
                  <a:lnTo>
                    <a:pt x="4112260" y="0"/>
                  </a:lnTo>
                  <a:lnTo>
                    <a:pt x="0" y="0"/>
                  </a:lnTo>
                  <a:lnTo>
                    <a:pt x="0" y="274789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Placement</a:t>
            </a:r>
            <a:r>
              <a:rPr sz="2200" spc="-12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Policy</a:t>
            </a:r>
            <a:endParaRPr sz="2200">
              <a:latin typeface="Georgia"/>
              <a:cs typeface="Georgia"/>
            </a:endParaRPr>
          </a:p>
          <a:p>
            <a:pPr marL="130810" marR="4705350">
              <a:lnSpc>
                <a:spcPct val="100000"/>
              </a:lnSpc>
              <a:spcBef>
                <a:spcPts val="2300"/>
              </a:spcBef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Direct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mapping: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  <a:p>
            <a:pPr marL="35941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2-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Tag,</a:t>
            </a:r>
            <a:r>
              <a:rPr sz="1200" spc="-10" dirty="0">
                <a:latin typeface="Times New Roman"/>
                <a:cs typeface="Times New Roman"/>
              </a:rPr>
              <a:t> 3-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Index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200">
              <a:latin typeface="Times New Roman"/>
              <a:cs typeface="Times New Roman"/>
            </a:endParaRPr>
          </a:p>
          <a:p>
            <a:pPr marL="130810" marR="4386580">
              <a:lnSpc>
                <a:spcPct val="100000"/>
              </a:lnSpc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2-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way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set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associative: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  <a:p>
            <a:pPr marL="35941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3-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Tag,</a:t>
            </a:r>
            <a:r>
              <a:rPr sz="1200" spc="-10" dirty="0">
                <a:latin typeface="Times New Roman"/>
                <a:cs typeface="Times New Roman"/>
              </a:rPr>
              <a:t> 2-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Index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Times New Roman"/>
              <a:cs typeface="Times New Roman"/>
            </a:endParaRPr>
          </a:p>
          <a:p>
            <a:pPr marL="130810" marR="4653915" algn="ctr">
              <a:lnSpc>
                <a:spcPct val="100000"/>
              </a:lnSpc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Fully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associative: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 5-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Replacement</a:t>
            </a:r>
            <a:r>
              <a:rPr spc="-100" dirty="0"/>
              <a:t> </a:t>
            </a:r>
            <a:r>
              <a:rPr spc="-10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585721"/>
            <a:ext cx="3434079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Which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block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should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evicted?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marL="468630" indent="-110489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68630" algn="l"/>
              </a:tabLst>
            </a:pPr>
            <a:r>
              <a:rPr sz="1200" spc="-10" dirty="0">
                <a:latin typeface="Times New Roman"/>
                <a:cs typeface="Times New Roman"/>
              </a:rPr>
              <a:t>Random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 marL="468630" indent="-110489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(FIFO)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(called: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Round-</a:t>
            </a:r>
            <a:r>
              <a:rPr sz="1200" spc="-10" dirty="0">
                <a:latin typeface="Times New Roman"/>
                <a:cs typeface="Times New Roman"/>
              </a:rPr>
              <a:t>Robin)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 marL="468630" indent="-110489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68630" algn="l"/>
              </a:tabLst>
            </a:pPr>
            <a:r>
              <a:rPr sz="1200" b="1" dirty="0">
                <a:latin typeface="Times New Roman"/>
                <a:cs typeface="Times New Roman"/>
              </a:rPr>
              <a:t>Least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Recently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Used</a:t>
            </a:r>
            <a:r>
              <a:rPr sz="1200" b="1" spc="-10" dirty="0">
                <a:latin typeface="Times New Roman"/>
                <a:cs typeface="Times New Roman"/>
              </a:rPr>
              <a:t> (LRU)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0330" y="6711696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Virtual</a:t>
            </a:r>
            <a:r>
              <a:rPr sz="360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36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29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768" y="1637379"/>
            <a:ext cx="4933950" cy="2206625"/>
            <a:chOff x="714768" y="1637379"/>
            <a:chExt cx="4933950" cy="2206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68" y="1729105"/>
              <a:ext cx="4933950" cy="21145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42286" y="1644523"/>
              <a:ext cx="2182495" cy="1316355"/>
            </a:xfrm>
            <a:custGeom>
              <a:avLst/>
              <a:gdLst/>
              <a:ahLst/>
              <a:cxnLst/>
              <a:rect l="l" t="t" r="r" b="b"/>
              <a:pathLst>
                <a:path w="2182495" h="1316355">
                  <a:moveTo>
                    <a:pt x="0" y="723900"/>
                  </a:moveTo>
                  <a:lnTo>
                    <a:pt x="38095" y="660503"/>
                  </a:lnTo>
                  <a:lnTo>
                    <a:pt x="80842" y="637278"/>
                  </a:lnTo>
                  <a:lnTo>
                    <a:pt x="135054" y="622052"/>
                  </a:lnTo>
                  <a:lnTo>
                    <a:pt x="197484" y="616584"/>
                  </a:lnTo>
                  <a:lnTo>
                    <a:pt x="259853" y="622052"/>
                  </a:lnTo>
                  <a:lnTo>
                    <a:pt x="314028" y="637278"/>
                  </a:lnTo>
                  <a:lnTo>
                    <a:pt x="356755" y="660503"/>
                  </a:lnTo>
                  <a:lnTo>
                    <a:pt x="384778" y="689964"/>
                  </a:lnTo>
                  <a:lnTo>
                    <a:pt x="394843" y="723900"/>
                  </a:lnTo>
                  <a:lnTo>
                    <a:pt x="384778" y="757848"/>
                  </a:lnTo>
                  <a:lnTo>
                    <a:pt x="356755" y="787341"/>
                  </a:lnTo>
                  <a:lnTo>
                    <a:pt x="314028" y="810603"/>
                  </a:lnTo>
                  <a:lnTo>
                    <a:pt x="259853" y="825861"/>
                  </a:lnTo>
                  <a:lnTo>
                    <a:pt x="197484" y="831342"/>
                  </a:lnTo>
                  <a:lnTo>
                    <a:pt x="135054" y="825861"/>
                  </a:lnTo>
                  <a:lnTo>
                    <a:pt x="80842" y="810603"/>
                  </a:lnTo>
                  <a:lnTo>
                    <a:pt x="38095" y="787341"/>
                  </a:lnTo>
                  <a:lnTo>
                    <a:pt x="10065" y="757848"/>
                  </a:lnTo>
                  <a:lnTo>
                    <a:pt x="0" y="723900"/>
                  </a:lnTo>
                  <a:close/>
                </a:path>
                <a:path w="2182495" h="1316355">
                  <a:moveTo>
                    <a:pt x="1385442" y="1208786"/>
                  </a:moveTo>
                  <a:lnTo>
                    <a:pt x="1423538" y="1145389"/>
                  </a:lnTo>
                  <a:lnTo>
                    <a:pt x="1466285" y="1122164"/>
                  </a:lnTo>
                  <a:lnTo>
                    <a:pt x="1520497" y="1106938"/>
                  </a:lnTo>
                  <a:lnTo>
                    <a:pt x="1582927" y="1101471"/>
                  </a:lnTo>
                  <a:lnTo>
                    <a:pt x="1645296" y="1106938"/>
                  </a:lnTo>
                  <a:lnTo>
                    <a:pt x="1699471" y="1122164"/>
                  </a:lnTo>
                  <a:lnTo>
                    <a:pt x="1742198" y="1145389"/>
                  </a:lnTo>
                  <a:lnTo>
                    <a:pt x="1770221" y="1174850"/>
                  </a:lnTo>
                  <a:lnTo>
                    <a:pt x="1780286" y="1208786"/>
                  </a:lnTo>
                  <a:lnTo>
                    <a:pt x="1770221" y="1242734"/>
                  </a:lnTo>
                  <a:lnTo>
                    <a:pt x="1742198" y="1272227"/>
                  </a:lnTo>
                  <a:lnTo>
                    <a:pt x="1699471" y="1295489"/>
                  </a:lnTo>
                  <a:lnTo>
                    <a:pt x="1645296" y="1310747"/>
                  </a:lnTo>
                  <a:lnTo>
                    <a:pt x="1582927" y="1316227"/>
                  </a:lnTo>
                  <a:lnTo>
                    <a:pt x="1520497" y="1310747"/>
                  </a:lnTo>
                  <a:lnTo>
                    <a:pt x="1466285" y="1295489"/>
                  </a:lnTo>
                  <a:lnTo>
                    <a:pt x="1423538" y="1272227"/>
                  </a:lnTo>
                  <a:lnTo>
                    <a:pt x="1395508" y="1242734"/>
                  </a:lnTo>
                  <a:lnTo>
                    <a:pt x="1385442" y="1208786"/>
                  </a:lnTo>
                  <a:close/>
                </a:path>
                <a:path w="2182495" h="1316355">
                  <a:moveTo>
                    <a:pt x="990600" y="149732"/>
                  </a:moveTo>
                  <a:lnTo>
                    <a:pt x="1025328" y="99241"/>
                  </a:lnTo>
                  <a:lnTo>
                    <a:pt x="1083344" y="69470"/>
                  </a:lnTo>
                  <a:lnTo>
                    <a:pt x="1121471" y="56090"/>
                  </a:lnTo>
                  <a:lnTo>
                    <a:pt x="1165082" y="43862"/>
                  </a:lnTo>
                  <a:lnTo>
                    <a:pt x="1213729" y="32900"/>
                  </a:lnTo>
                  <a:lnTo>
                    <a:pt x="1266965" y="23316"/>
                  </a:lnTo>
                  <a:lnTo>
                    <a:pt x="1324345" y="15222"/>
                  </a:lnTo>
                  <a:lnTo>
                    <a:pt x="1385421" y="8731"/>
                  </a:lnTo>
                  <a:lnTo>
                    <a:pt x="1449746" y="3955"/>
                  </a:lnTo>
                  <a:lnTo>
                    <a:pt x="1516873" y="1007"/>
                  </a:lnTo>
                  <a:lnTo>
                    <a:pt x="1586356" y="0"/>
                  </a:lnTo>
                  <a:lnTo>
                    <a:pt x="1655840" y="1007"/>
                  </a:lnTo>
                  <a:lnTo>
                    <a:pt x="1722967" y="3955"/>
                  </a:lnTo>
                  <a:lnTo>
                    <a:pt x="1787292" y="8731"/>
                  </a:lnTo>
                  <a:lnTo>
                    <a:pt x="1848368" y="15222"/>
                  </a:lnTo>
                  <a:lnTo>
                    <a:pt x="1905748" y="23316"/>
                  </a:lnTo>
                  <a:lnTo>
                    <a:pt x="1958984" y="32900"/>
                  </a:lnTo>
                  <a:lnTo>
                    <a:pt x="2007631" y="43862"/>
                  </a:lnTo>
                  <a:lnTo>
                    <a:pt x="2051242" y="56090"/>
                  </a:lnTo>
                  <a:lnTo>
                    <a:pt x="2089369" y="69470"/>
                  </a:lnTo>
                  <a:lnTo>
                    <a:pt x="2147385" y="99241"/>
                  </a:lnTo>
                  <a:lnTo>
                    <a:pt x="2178106" y="132274"/>
                  </a:lnTo>
                  <a:lnTo>
                    <a:pt x="2182114" y="149732"/>
                  </a:lnTo>
                  <a:lnTo>
                    <a:pt x="2178106" y="167166"/>
                  </a:lnTo>
                  <a:lnTo>
                    <a:pt x="2147385" y="200159"/>
                  </a:lnTo>
                  <a:lnTo>
                    <a:pt x="2089369" y="229901"/>
                  </a:lnTo>
                  <a:lnTo>
                    <a:pt x="2051242" y="243272"/>
                  </a:lnTo>
                  <a:lnTo>
                    <a:pt x="2007631" y="255492"/>
                  </a:lnTo>
                  <a:lnTo>
                    <a:pt x="1958984" y="266448"/>
                  </a:lnTo>
                  <a:lnTo>
                    <a:pt x="1905748" y="276028"/>
                  </a:lnTo>
                  <a:lnTo>
                    <a:pt x="1848368" y="284119"/>
                  </a:lnTo>
                  <a:lnTo>
                    <a:pt x="1787292" y="290609"/>
                  </a:lnTo>
                  <a:lnTo>
                    <a:pt x="1722967" y="295383"/>
                  </a:lnTo>
                  <a:lnTo>
                    <a:pt x="1655840" y="298331"/>
                  </a:lnTo>
                  <a:lnTo>
                    <a:pt x="1586356" y="299338"/>
                  </a:lnTo>
                  <a:lnTo>
                    <a:pt x="1516873" y="298331"/>
                  </a:lnTo>
                  <a:lnTo>
                    <a:pt x="1449746" y="295383"/>
                  </a:lnTo>
                  <a:lnTo>
                    <a:pt x="1385421" y="290609"/>
                  </a:lnTo>
                  <a:lnTo>
                    <a:pt x="1324345" y="284119"/>
                  </a:lnTo>
                  <a:lnTo>
                    <a:pt x="1266965" y="276028"/>
                  </a:lnTo>
                  <a:lnTo>
                    <a:pt x="1213729" y="266448"/>
                  </a:lnTo>
                  <a:lnTo>
                    <a:pt x="1165082" y="255492"/>
                  </a:lnTo>
                  <a:lnTo>
                    <a:pt x="1121471" y="243272"/>
                  </a:lnTo>
                  <a:lnTo>
                    <a:pt x="1083344" y="229901"/>
                  </a:lnTo>
                  <a:lnTo>
                    <a:pt x="1025328" y="200159"/>
                  </a:lnTo>
                  <a:lnTo>
                    <a:pt x="994607" y="167166"/>
                  </a:lnTo>
                  <a:lnTo>
                    <a:pt x="990600" y="149732"/>
                  </a:lnTo>
                  <a:close/>
                </a:path>
              </a:pathLst>
            </a:custGeom>
            <a:ln w="14287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65" dirty="0"/>
              <a:t> </a:t>
            </a:r>
            <a:r>
              <a:rPr spc="-10" dirty="0"/>
              <a:t>Hierarchy</a:t>
            </a:r>
            <a:r>
              <a:rPr spc="-60" dirty="0"/>
              <a:t> </a:t>
            </a:r>
            <a:r>
              <a:rPr dirty="0"/>
              <a:t>(The</a:t>
            </a:r>
            <a:r>
              <a:rPr spc="-70" dirty="0"/>
              <a:t> </a:t>
            </a:r>
            <a:r>
              <a:rPr dirty="0"/>
              <a:t>Big</a:t>
            </a:r>
            <a:r>
              <a:rPr spc="-70" dirty="0"/>
              <a:t> </a:t>
            </a:r>
            <a:r>
              <a:rPr dirty="0"/>
              <a:t>Picture</a:t>
            </a:r>
            <a:r>
              <a:rPr spc="-60" dirty="0"/>
              <a:t> </a:t>
            </a:r>
            <a:r>
              <a:rPr spc="-50" dirty="0"/>
              <a:t>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Virtual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Memory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910"/>
              </a:spcBef>
            </a:pPr>
            <a:endParaRPr sz="2200">
              <a:latin typeface="Georgia"/>
              <a:cs typeface="Georgia"/>
            </a:endParaRPr>
          </a:p>
          <a:p>
            <a:pPr marL="198755" marR="690245" indent="6350" algn="ctr">
              <a:lnSpc>
                <a:spcPct val="11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Virtual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technique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secondary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memory.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Virtual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common </a:t>
            </a:r>
            <a:r>
              <a:rPr sz="1200" dirty="0">
                <a:latin typeface="Times New Roman"/>
                <a:cs typeface="Times New Roman"/>
              </a:rPr>
              <a:t>technique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computer's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(OS).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38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0320" y="5649645"/>
            <a:ext cx="1238885" cy="415925"/>
          </a:xfrm>
          <a:prstGeom prst="rect">
            <a:avLst/>
          </a:prstGeom>
          <a:solidFill>
            <a:srgbClr val="FFFFFF"/>
          </a:solidFill>
          <a:ln w="19050">
            <a:solidFill>
              <a:srgbClr val="539E3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R="38100" algn="ctr">
              <a:lnSpc>
                <a:spcPct val="100000"/>
              </a:lnSpc>
              <a:spcBef>
                <a:spcPts val="175"/>
              </a:spcBef>
            </a:pPr>
            <a:r>
              <a:rPr sz="1200" spc="-10" dirty="0">
                <a:latin typeface="Tahoma"/>
                <a:cs typeface="Tahoma"/>
              </a:rPr>
              <a:t>Problem:</a:t>
            </a:r>
            <a:endParaRPr sz="12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Not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enough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RAM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37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Virtual</a:t>
            </a:r>
            <a:r>
              <a:rPr spc="-95" dirty="0"/>
              <a:t> </a:t>
            </a:r>
            <a:r>
              <a:rPr dirty="0"/>
              <a:t>Memory</a:t>
            </a:r>
            <a:r>
              <a:rPr spc="-95" dirty="0"/>
              <a:t> </a:t>
            </a:r>
            <a:r>
              <a:rPr spc="-10" dirty="0"/>
              <a:t>Terminologies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615185"/>
            <a:ext cx="5631815" cy="288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340" indent="-17018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561340" algn="l"/>
              </a:tabLst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memory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hierarchy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programs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first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auxiliary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memory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E762B"/>
              </a:buClr>
              <a:buFont typeface="Wingdings"/>
              <a:buChar char=""/>
            </a:pPr>
            <a:endParaRPr sz="1100">
              <a:latin typeface="Times New Roman"/>
              <a:cs typeface="Times New Roman"/>
            </a:endParaRPr>
          </a:p>
          <a:p>
            <a:pPr marL="561340" marR="80010" indent="-170815">
              <a:lnSpc>
                <a:spcPct val="120000"/>
              </a:lnSpc>
              <a:buClr>
                <a:srgbClr val="3E762B"/>
              </a:buClr>
              <a:buFont typeface="Wingdings"/>
              <a:buChar char=""/>
              <a:tabLst>
                <a:tab pos="561340" algn="l"/>
              </a:tabLst>
            </a:pPr>
            <a:r>
              <a:rPr sz="1100" b="1" dirty="0">
                <a:latin typeface="Times New Roman"/>
                <a:cs typeface="Times New Roman"/>
              </a:rPr>
              <a:t>Portions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 a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program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 data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brought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 </a:t>
            </a:r>
            <a:r>
              <a:rPr sz="1100" b="1" dirty="0">
                <a:latin typeface="Times New Roman"/>
                <a:cs typeface="Times New Roman"/>
              </a:rPr>
              <a:t>main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spc="-20" dirty="0">
                <a:latin typeface="Times New Roman"/>
                <a:cs typeface="Times New Roman"/>
              </a:rPr>
              <a:t>CPU.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</a:pPr>
            <a:endParaRPr sz="1100">
              <a:latin typeface="Times New Roman"/>
              <a:cs typeface="Times New Roman"/>
            </a:endParaRPr>
          </a:p>
          <a:p>
            <a:pPr marL="561340" marR="5080" indent="-170815">
              <a:lnSpc>
                <a:spcPct val="120000"/>
              </a:lnSpc>
              <a:buFont typeface="Wingdings"/>
              <a:buChar char=""/>
              <a:tabLst>
                <a:tab pos="561340" algn="l"/>
              </a:tabLst>
            </a:pPr>
            <a:r>
              <a:rPr sz="11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Virtual</a:t>
            </a:r>
            <a:r>
              <a:rPr sz="1100" b="1" i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100" b="1" i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concept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 large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permit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to </a:t>
            </a:r>
            <a:r>
              <a:rPr sz="1100" b="1" dirty="0">
                <a:latin typeface="Times New Roman"/>
                <a:cs typeface="Times New Roman"/>
              </a:rPr>
              <a:t>construct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programs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though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 large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space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were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available,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equal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 </a:t>
            </a:r>
            <a:r>
              <a:rPr sz="1100" b="1" spc="-25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totality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 auxiliary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memory.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E762B"/>
              </a:buClr>
              <a:buFont typeface="Wingdings"/>
              <a:buChar char=""/>
            </a:pPr>
            <a:endParaRPr sz="1100">
              <a:latin typeface="Times New Roman"/>
              <a:cs typeface="Times New Roman"/>
            </a:endParaRPr>
          </a:p>
          <a:p>
            <a:pPr marL="561340" marR="259079" indent="-170815">
              <a:lnSpc>
                <a:spcPct val="120000"/>
              </a:lnSpc>
              <a:buClr>
                <a:srgbClr val="3E762B"/>
              </a:buClr>
              <a:buFont typeface="Wingdings"/>
              <a:buChar char=""/>
              <a:tabLst>
                <a:tab pos="561340" algn="l"/>
              </a:tabLst>
            </a:pPr>
            <a:r>
              <a:rPr sz="1100" spc="-10" dirty="0">
                <a:latin typeface="Times New Roman"/>
                <a:cs typeface="Times New Roman"/>
              </a:rPr>
              <a:t>Virtual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programmers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illusion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at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disposal,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though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relatively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memory.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3E762B"/>
              </a:buClr>
              <a:buFont typeface="Wingdings"/>
              <a:buChar char=""/>
            </a:pPr>
            <a:endParaRPr sz="1100">
              <a:latin typeface="Times New Roman"/>
              <a:cs typeface="Times New Roman"/>
            </a:endParaRPr>
          </a:p>
          <a:p>
            <a:pPr marL="561340" indent="-170180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561340" algn="l"/>
              </a:tabLst>
            </a:pPr>
            <a:r>
              <a:rPr sz="1100" b="1" dirty="0">
                <a:latin typeface="Times New Roman"/>
                <a:cs typeface="Times New Roman"/>
              </a:rPr>
              <a:t>Virtual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 common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technique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 a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computer's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operating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(OS).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39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Virtual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Terminologies</a:t>
            </a:r>
            <a:endParaRPr sz="2200">
              <a:latin typeface="Georgia"/>
              <a:cs typeface="Georgia"/>
            </a:endParaRPr>
          </a:p>
          <a:p>
            <a:pPr marL="431800" marR="885825" indent="-169545">
              <a:lnSpc>
                <a:spcPct val="100000"/>
              </a:lnSpc>
              <a:spcBef>
                <a:spcPts val="154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virtual</a:t>
            </a:r>
            <a:r>
              <a:rPr sz="1200" b="1" i="1" spc="-4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b="1" i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space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marR="966469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main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200" b="1" spc="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physical</a:t>
            </a:r>
            <a:r>
              <a:rPr sz="1200" b="1" i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.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200" b="1" i="1" spc="-5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space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marR="76454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 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they 	</a:t>
            </a:r>
            <a:r>
              <a:rPr sz="1200" dirty="0">
                <a:latin typeface="Times New Roman"/>
                <a:cs typeface="Times New Roman"/>
              </a:rPr>
              <a:t>reference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actual</a:t>
            </a:r>
            <a:r>
              <a:rPr sz="1200" spc="500" dirty="0">
                <a:latin typeface="Times New Roman"/>
                <a:cs typeface="Times New Roman"/>
              </a:rPr>
              <a:t> 	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marR="824230" indent="-169545" algn="just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don’t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virtual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5" dirty="0">
                <a:latin typeface="Times New Roman"/>
                <a:cs typeface="Times New Roman"/>
              </a:rPr>
              <a:t> and 	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identical.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than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virtual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Address</a:t>
            </a:r>
            <a:r>
              <a:rPr spc="-85" dirty="0"/>
              <a:t> </a:t>
            </a:r>
            <a:r>
              <a:rPr dirty="0"/>
              <a:t>Space</a:t>
            </a:r>
            <a:r>
              <a:rPr spc="-8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70" dirty="0"/>
              <a:t> </a:t>
            </a:r>
            <a:r>
              <a:rPr spc="-10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00580"/>
            <a:ext cx="4772025" cy="783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5"/>
              </a:spcBef>
              <a:buClr>
                <a:srgbClr val="3E762B"/>
              </a:buClr>
              <a:buFont typeface="Wingdings"/>
              <a:buChar char=""/>
              <a:tabLst>
                <a:tab pos="182245" algn="l"/>
              </a:tabLst>
            </a:pPr>
            <a:r>
              <a:rPr sz="1300" dirty="0">
                <a:latin typeface="Times New Roman"/>
                <a:cs typeface="Times New Roman"/>
              </a:rPr>
              <a:t>Each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Program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will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“see”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memory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size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virtual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address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space.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5"/>
              </a:spcBef>
              <a:buFont typeface="Wingdings"/>
              <a:buChar char=""/>
            </a:pPr>
            <a:endParaRPr sz="1300">
              <a:latin typeface="Times New Roman"/>
              <a:cs typeface="Times New Roman"/>
            </a:endParaRPr>
          </a:p>
          <a:p>
            <a:pPr marL="182880" indent="-17145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182880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Space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(Logical)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Memory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Space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(Physical)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6812" y="2676651"/>
            <a:ext cx="4524375" cy="10455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Virtual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Mapping</a:t>
            </a:r>
            <a:endParaRPr sz="2200">
              <a:latin typeface="Georgia"/>
              <a:cs typeface="Georgia"/>
            </a:endParaRPr>
          </a:p>
          <a:p>
            <a:pPr marL="431800" marR="376555" indent="-169545">
              <a:lnSpc>
                <a:spcPct val="120000"/>
              </a:lnSpc>
              <a:spcBef>
                <a:spcPts val="12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mapping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from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virtual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physical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2434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virtual</a:t>
            </a:r>
            <a:r>
              <a:rPr sz="1200" b="1" i="1" spc="-5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200" b="1" i="1" spc="-5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system</a:t>
            </a:r>
            <a:r>
              <a:rPr sz="1200" b="1" i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mechanism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translating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program-</a:t>
            </a:r>
            <a:endParaRPr sz="120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  <a:spcBef>
                <a:spcPts val="285"/>
              </a:spcBef>
            </a:pPr>
            <a:r>
              <a:rPr sz="1200" b="1" dirty="0">
                <a:latin typeface="Times New Roman"/>
                <a:cs typeface="Times New Roman"/>
              </a:rPr>
              <a:t>generated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into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correct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main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locations.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Times New Roman"/>
              <a:cs typeface="Times New Roman"/>
            </a:endParaRPr>
          </a:p>
          <a:p>
            <a:pPr marL="432434" indent="-16954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dynamically,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CPU.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marR="408940" indent="-169545">
              <a:lnSpc>
                <a:spcPct val="12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mapping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automatically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by</a:t>
            </a:r>
            <a:r>
              <a:rPr sz="1200" b="1" spc="-4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the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hardware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means 	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mapping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table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Virtual</a:t>
            </a:r>
            <a:r>
              <a:rPr spc="-9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7943" y="1673186"/>
            <a:ext cx="4909820" cy="384810"/>
          </a:xfrm>
          <a:prstGeom prst="rect">
            <a:avLst/>
          </a:prstGeom>
          <a:solidFill>
            <a:srgbClr val="FFFFFF"/>
          </a:solidFill>
          <a:ln w="19050">
            <a:solidFill>
              <a:srgbClr val="539E3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92405" marR="61594" indent="-123825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Tahoma"/>
                <a:cs typeface="Tahoma"/>
              </a:rPr>
              <a:t>Give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10" dirty="0">
                <a:latin typeface="Tahoma"/>
                <a:cs typeface="Tahoma"/>
              </a:rPr>
              <a:t> programmer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illusion</a:t>
            </a:r>
            <a:r>
              <a:rPr sz="1100" b="1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system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has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very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large</a:t>
            </a:r>
            <a:r>
              <a:rPr sz="1100" b="1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memory, </a:t>
            </a:r>
            <a:r>
              <a:rPr sz="1100" dirty="0">
                <a:latin typeface="Tahoma"/>
                <a:cs typeface="Tahoma"/>
              </a:rPr>
              <a:t>even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though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computer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actually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relatively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small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Main</a:t>
            </a:r>
            <a:r>
              <a:rPr sz="1100" b="1" spc="-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Memory.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3491" y="3613619"/>
            <a:ext cx="3798570" cy="384810"/>
          </a:xfrm>
          <a:prstGeom prst="rect">
            <a:avLst/>
          </a:prstGeom>
          <a:solidFill>
            <a:srgbClr val="FFFFFF"/>
          </a:solidFill>
          <a:ln w="19050">
            <a:solidFill>
              <a:srgbClr val="539E3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mapping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handled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automatically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hardware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Tahoma"/>
                <a:cs typeface="Tahoma"/>
              </a:rPr>
              <a:t>by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means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mapping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table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8671" y="2985947"/>
            <a:ext cx="3728085" cy="440690"/>
          </a:xfrm>
          <a:prstGeom prst="rect">
            <a:avLst/>
          </a:prstGeom>
          <a:solidFill>
            <a:srgbClr val="FFFFFF"/>
          </a:solidFill>
          <a:ln w="19050">
            <a:solidFill>
              <a:srgbClr val="539E3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40"/>
              </a:spcBef>
            </a:pPr>
            <a:r>
              <a:rPr sz="1100" b="1" dirty="0">
                <a:latin typeface="Tahoma"/>
                <a:cs typeface="Tahoma"/>
              </a:rPr>
              <a:t>Mapping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enables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computer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treat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100" b="1" dirty="0">
                <a:latin typeface="Tahoma"/>
                <a:cs typeface="Tahoma"/>
              </a:rPr>
              <a:t>secondary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memory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as</a:t>
            </a:r>
            <a:r>
              <a:rPr sz="1100" b="1" spc="-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though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it</a:t>
            </a:r>
            <a:r>
              <a:rPr sz="1100" b="1" spc="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were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Main</a:t>
            </a:r>
            <a:r>
              <a:rPr sz="1100" b="1" spc="-10" dirty="0">
                <a:latin typeface="Tahoma"/>
                <a:cs typeface="Tahoma"/>
              </a:rPr>
              <a:t> Memory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725" y="2244953"/>
            <a:ext cx="5241925" cy="554355"/>
          </a:xfrm>
          <a:prstGeom prst="rect">
            <a:avLst/>
          </a:prstGeom>
          <a:solidFill>
            <a:srgbClr val="FFFFFF"/>
          </a:solidFill>
          <a:ln w="19050">
            <a:solidFill>
              <a:srgbClr val="539E3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74345" marR="467359" algn="ctr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job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software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hardware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implement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virtual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memory </a:t>
            </a:r>
            <a:r>
              <a:rPr sz="1100" dirty="0">
                <a:latin typeface="Tahoma"/>
                <a:cs typeface="Tahoma"/>
              </a:rPr>
              <a:t>is 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map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ts val="1330"/>
              </a:lnSpc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3E762B"/>
                </a:solidFill>
                <a:latin typeface="Tahoma"/>
                <a:cs typeface="Tahoma"/>
              </a:rPr>
              <a:t>virtual</a:t>
            </a:r>
            <a:r>
              <a:rPr sz="1150" spc="-30" dirty="0">
                <a:solidFill>
                  <a:srgbClr val="3E762B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3E762B"/>
                </a:solidFill>
                <a:latin typeface="Tahoma"/>
                <a:cs typeface="Tahoma"/>
              </a:rPr>
              <a:t>address</a:t>
            </a:r>
            <a:r>
              <a:rPr sz="1150" spc="-35" dirty="0">
                <a:solidFill>
                  <a:srgbClr val="3E762B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each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program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50" spc="-25" dirty="0">
                <a:solidFill>
                  <a:srgbClr val="3E762B"/>
                </a:solidFill>
                <a:latin typeface="Tahoma"/>
                <a:cs typeface="Tahoma"/>
              </a:rPr>
              <a:t>physical</a:t>
            </a:r>
            <a:r>
              <a:rPr sz="1150" spc="-35" dirty="0">
                <a:solidFill>
                  <a:srgbClr val="3E762B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3E762B"/>
                </a:solidFill>
                <a:latin typeface="Tahoma"/>
                <a:cs typeface="Tahoma"/>
              </a:rPr>
              <a:t>address</a:t>
            </a:r>
            <a:r>
              <a:rPr sz="1150" spc="-30" dirty="0">
                <a:solidFill>
                  <a:srgbClr val="3E762B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main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memory.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63" y="6162040"/>
              <a:ext cx="5271008" cy="158076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Virtual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Mapping</a:t>
            </a:r>
            <a:r>
              <a:rPr sz="2200" spc="-10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Table</a:t>
            </a:r>
            <a:endParaRPr sz="2200">
              <a:latin typeface="Georgia"/>
              <a:cs typeface="Georgia"/>
            </a:endParaRPr>
          </a:p>
          <a:p>
            <a:pPr marL="405130" indent="-171450">
              <a:lnSpc>
                <a:spcPct val="100000"/>
              </a:lnSpc>
              <a:spcBef>
                <a:spcPts val="1285"/>
              </a:spcBef>
              <a:buClr>
                <a:srgbClr val="3E762B"/>
              </a:buClr>
              <a:buFont typeface="Wingdings"/>
              <a:buChar char=""/>
              <a:tabLst>
                <a:tab pos="405130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400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Mapping: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8027" y="1582419"/>
            <a:ext cx="3288157" cy="25603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6861" y="1602105"/>
            <a:ext cx="2009139" cy="53784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81610" marR="5080" indent="-169545">
              <a:lnSpc>
                <a:spcPts val="1300"/>
              </a:lnSpc>
              <a:spcBef>
                <a:spcPts val="260"/>
              </a:spcBef>
              <a:buClr>
                <a:srgbClr val="3E762B"/>
              </a:buClr>
              <a:buFont typeface="Wingdings"/>
              <a:buChar char="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Relation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	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virtual 	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Virtual</a:t>
            </a:r>
            <a:r>
              <a:rPr spc="-110" dirty="0"/>
              <a:t> </a:t>
            </a:r>
            <a:r>
              <a:rPr dirty="0"/>
              <a:t>Memory</a:t>
            </a:r>
            <a:r>
              <a:rPr spc="-110" dirty="0"/>
              <a:t> </a:t>
            </a:r>
            <a:r>
              <a:rPr dirty="0"/>
              <a:t>Illustration</a:t>
            </a:r>
            <a:r>
              <a:rPr spc="-10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Address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Mapping</a:t>
            </a:r>
            <a:endParaRPr sz="2200">
              <a:latin typeface="Georgia"/>
              <a:cs typeface="Georgia"/>
            </a:endParaRPr>
          </a:p>
          <a:p>
            <a:pPr marL="435609" indent="-172720">
              <a:lnSpc>
                <a:spcPct val="100000"/>
              </a:lnSpc>
              <a:spcBef>
                <a:spcPts val="1485"/>
              </a:spcBef>
              <a:buClr>
                <a:srgbClr val="3E762B"/>
              </a:buClr>
              <a:buFont typeface="Wingdings"/>
              <a:buChar char=""/>
              <a:tabLst>
                <a:tab pos="435609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space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broken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solidFill>
                  <a:srgbClr val="3E762B"/>
                </a:solidFill>
                <a:latin typeface="Times New Roman"/>
                <a:cs typeface="Times New Roman"/>
              </a:rPr>
              <a:t>pages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34975" marR="566420" indent="-172720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	</a:t>
            </a:r>
            <a:r>
              <a:rPr sz="1200" dirty="0">
                <a:latin typeface="Times New Roman"/>
                <a:cs typeface="Times New Roman"/>
              </a:rPr>
              <a:t>moved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auxiliary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	</a:t>
            </a:r>
            <a:r>
              <a:rPr sz="1200" spc="-10" dirty="0">
                <a:latin typeface="Times New Roman"/>
                <a:cs typeface="Times New Roman"/>
              </a:rPr>
              <a:t>page.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47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Address</a:t>
            </a:r>
            <a:r>
              <a:rPr spc="-110" dirty="0"/>
              <a:t> </a:t>
            </a:r>
            <a:r>
              <a:rPr dirty="0"/>
              <a:t>Mapping</a:t>
            </a:r>
            <a:r>
              <a:rPr spc="-11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85" marR="401320" indent="-17272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236854" algn="l"/>
              </a:tabLst>
            </a:pPr>
            <a:r>
              <a:rPr dirty="0"/>
              <a:t>Consider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b="1" spc="-10" dirty="0">
                <a:latin typeface="Times New Roman"/>
                <a:cs typeface="Times New Roman"/>
              </a:rPr>
              <a:t>main-</a:t>
            </a:r>
            <a:r>
              <a:rPr b="1" dirty="0">
                <a:latin typeface="Times New Roman"/>
                <a:cs typeface="Times New Roman"/>
              </a:rPr>
              <a:t>memory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dirty="0"/>
              <a:t>capacity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32K</a:t>
            </a:r>
            <a:r>
              <a:rPr spc="-25" dirty="0"/>
              <a:t> </a:t>
            </a:r>
            <a:r>
              <a:rPr dirty="0"/>
              <a:t>words.</a:t>
            </a:r>
            <a:r>
              <a:rPr spc="-15" dirty="0"/>
              <a:t> </a:t>
            </a:r>
            <a:r>
              <a:rPr dirty="0"/>
              <a:t>15</a:t>
            </a:r>
            <a:r>
              <a:rPr spc="-20" dirty="0"/>
              <a:t> </a:t>
            </a:r>
            <a:r>
              <a:rPr dirty="0"/>
              <a:t>bits</a:t>
            </a:r>
            <a:r>
              <a:rPr spc="-40" dirty="0"/>
              <a:t> </a:t>
            </a:r>
            <a:r>
              <a:rPr spc="-25" dirty="0"/>
              <a:t>are 	</a:t>
            </a:r>
            <a:r>
              <a:rPr dirty="0"/>
              <a:t>needed</a:t>
            </a:r>
            <a:r>
              <a:rPr spc="-2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specify</a:t>
            </a:r>
            <a:r>
              <a:rPr spc="-2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physical</a:t>
            </a:r>
            <a:r>
              <a:rPr spc="5" dirty="0"/>
              <a:t> </a:t>
            </a:r>
            <a:r>
              <a:rPr dirty="0"/>
              <a:t>address</a:t>
            </a:r>
            <a:r>
              <a:rPr spc="-1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memory</a:t>
            </a:r>
            <a:r>
              <a:rPr spc="-35" dirty="0"/>
              <a:t> </a:t>
            </a:r>
            <a:r>
              <a:rPr dirty="0"/>
              <a:t>since</a:t>
            </a:r>
            <a:r>
              <a:rPr spc="-25" dirty="0"/>
              <a:t> </a:t>
            </a:r>
            <a:r>
              <a:rPr dirty="0"/>
              <a:t>32K</a:t>
            </a:r>
            <a:r>
              <a:rPr spc="-25" dirty="0"/>
              <a:t> </a:t>
            </a:r>
            <a:r>
              <a:rPr dirty="0"/>
              <a:t>words=</a:t>
            </a:r>
            <a:r>
              <a:rPr spc="-10" dirty="0"/>
              <a:t> </a:t>
            </a:r>
            <a:r>
              <a:rPr b="1" dirty="0">
                <a:latin typeface="Times New Roman"/>
                <a:cs typeface="Times New Roman"/>
              </a:rPr>
              <a:t>2</a:t>
            </a:r>
            <a:r>
              <a:rPr sz="1200" b="1" baseline="24305" dirty="0">
                <a:latin typeface="Times New Roman"/>
                <a:cs typeface="Times New Roman"/>
              </a:rPr>
              <a:t>15</a:t>
            </a:r>
            <a:r>
              <a:rPr sz="1200" b="1" spc="104" baseline="24305" dirty="0">
                <a:latin typeface="Times New Roman"/>
                <a:cs typeface="Times New Roman"/>
              </a:rPr>
              <a:t> </a:t>
            </a:r>
            <a:r>
              <a:rPr sz="1200" spc="-10" dirty="0"/>
              <a:t>words.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235585" marR="55880" indent="-172720" algn="just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236854" algn="l"/>
              </a:tabLst>
            </a:pPr>
            <a:r>
              <a:rPr dirty="0"/>
              <a:t>Suppose</a:t>
            </a:r>
            <a:r>
              <a:rPr spc="-4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dirty="0"/>
              <a:t>has</a:t>
            </a:r>
            <a:r>
              <a:rPr spc="-30" dirty="0"/>
              <a:t> </a:t>
            </a:r>
            <a:r>
              <a:rPr dirty="0"/>
              <a:t>available</a:t>
            </a:r>
            <a:r>
              <a:rPr spc="-20" dirty="0"/>
              <a:t> </a:t>
            </a:r>
            <a:r>
              <a:rPr b="1" dirty="0">
                <a:latin typeface="Times New Roman"/>
                <a:cs typeface="Times New Roman"/>
              </a:rPr>
              <a:t>auxiliary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memory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storing</a:t>
            </a:r>
            <a:r>
              <a:rPr spc="-45" dirty="0"/>
              <a:t> </a:t>
            </a:r>
            <a:r>
              <a:rPr b="1" dirty="0">
                <a:latin typeface="Times New Roman"/>
                <a:cs typeface="Times New Roman"/>
              </a:rPr>
              <a:t>2</a:t>
            </a:r>
            <a:r>
              <a:rPr sz="1200" b="1" baseline="24305" dirty="0">
                <a:latin typeface="Times New Roman"/>
                <a:cs typeface="Times New Roman"/>
              </a:rPr>
              <a:t>20</a:t>
            </a:r>
            <a:r>
              <a:rPr sz="1200" b="1" spc="89" baseline="24305" dirty="0">
                <a:latin typeface="Times New Roman"/>
                <a:cs typeface="Times New Roman"/>
              </a:rPr>
              <a:t> </a:t>
            </a:r>
            <a:r>
              <a:rPr sz="1200" dirty="0"/>
              <a:t>words</a:t>
            </a:r>
            <a:r>
              <a:rPr sz="1200" spc="-30" dirty="0"/>
              <a:t> </a:t>
            </a:r>
            <a:r>
              <a:rPr sz="1200" spc="-50" dirty="0"/>
              <a:t>= 	</a:t>
            </a:r>
            <a:r>
              <a:rPr sz="1200" dirty="0"/>
              <a:t>1M</a:t>
            </a:r>
            <a:r>
              <a:rPr sz="1200" spc="-30" dirty="0"/>
              <a:t> </a:t>
            </a:r>
            <a:r>
              <a:rPr sz="1200" dirty="0"/>
              <a:t>words.</a:t>
            </a:r>
            <a:r>
              <a:rPr sz="1200" spc="-35" dirty="0"/>
              <a:t> </a:t>
            </a:r>
            <a:r>
              <a:rPr sz="1200" dirty="0"/>
              <a:t>Thus</a:t>
            </a:r>
            <a:r>
              <a:rPr sz="1200" spc="-25" dirty="0"/>
              <a:t> </a:t>
            </a:r>
            <a:r>
              <a:rPr sz="1200" dirty="0"/>
              <a:t>auxiliary</a:t>
            </a:r>
            <a:r>
              <a:rPr sz="1200" spc="-40" dirty="0"/>
              <a:t> </a:t>
            </a:r>
            <a:r>
              <a:rPr sz="1200" dirty="0"/>
              <a:t>memory</a:t>
            </a:r>
            <a:r>
              <a:rPr sz="1200" spc="-30" dirty="0"/>
              <a:t> </a:t>
            </a:r>
            <a:r>
              <a:rPr sz="1200" dirty="0"/>
              <a:t>has</a:t>
            </a:r>
            <a:r>
              <a:rPr sz="1200" spc="-25" dirty="0"/>
              <a:t> </a:t>
            </a:r>
            <a:r>
              <a:rPr sz="1200" dirty="0"/>
              <a:t>a</a:t>
            </a:r>
            <a:r>
              <a:rPr sz="1200" spc="-30" dirty="0"/>
              <a:t> </a:t>
            </a:r>
            <a:r>
              <a:rPr sz="1200" dirty="0"/>
              <a:t>capacity</a:t>
            </a:r>
            <a:r>
              <a:rPr sz="1200" spc="-30" dirty="0"/>
              <a:t> </a:t>
            </a:r>
            <a:r>
              <a:rPr sz="1200" dirty="0"/>
              <a:t>for</a:t>
            </a:r>
            <a:r>
              <a:rPr sz="1200" spc="-25" dirty="0"/>
              <a:t> </a:t>
            </a:r>
            <a:r>
              <a:rPr sz="1200" dirty="0"/>
              <a:t>storing</a:t>
            </a:r>
            <a:r>
              <a:rPr sz="1200" spc="-25" dirty="0"/>
              <a:t> </a:t>
            </a:r>
            <a:r>
              <a:rPr sz="1200" dirty="0"/>
              <a:t>information</a:t>
            </a:r>
            <a:r>
              <a:rPr sz="1200" spc="-35" dirty="0"/>
              <a:t> </a:t>
            </a:r>
            <a:r>
              <a:rPr sz="1200" spc="-10" dirty="0"/>
              <a:t>equivalent 	</a:t>
            </a:r>
            <a:r>
              <a:rPr sz="1200" dirty="0"/>
              <a:t>to</a:t>
            </a:r>
            <a:r>
              <a:rPr sz="1200" spc="-25" dirty="0"/>
              <a:t> </a:t>
            </a:r>
            <a:r>
              <a:rPr sz="1200" dirty="0"/>
              <a:t>the</a:t>
            </a:r>
            <a:r>
              <a:rPr sz="1200" spc="-35" dirty="0"/>
              <a:t> </a:t>
            </a:r>
            <a:r>
              <a:rPr sz="1200" dirty="0"/>
              <a:t>capacity</a:t>
            </a:r>
            <a:r>
              <a:rPr sz="1200" spc="-15" dirty="0"/>
              <a:t> </a:t>
            </a:r>
            <a:r>
              <a:rPr sz="1200" dirty="0"/>
              <a:t>of</a:t>
            </a:r>
            <a:r>
              <a:rPr sz="1200" spc="-20" dirty="0"/>
              <a:t> </a:t>
            </a:r>
            <a:r>
              <a:rPr sz="1200" dirty="0"/>
              <a:t>32</a:t>
            </a:r>
            <a:r>
              <a:rPr sz="1200" spc="-25" dirty="0"/>
              <a:t> </a:t>
            </a:r>
            <a:r>
              <a:rPr sz="1200" dirty="0"/>
              <a:t>main</a:t>
            </a:r>
            <a:r>
              <a:rPr sz="1200" spc="-20" dirty="0"/>
              <a:t> </a:t>
            </a:r>
            <a:r>
              <a:rPr sz="1200" spc="-10" dirty="0"/>
              <a:t>memories.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235585" marR="13271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236854" algn="l"/>
              </a:tabLst>
            </a:pPr>
            <a:r>
              <a:rPr dirty="0"/>
              <a:t>A</a:t>
            </a:r>
            <a:r>
              <a:rPr spc="-75" dirty="0"/>
              <a:t> </a:t>
            </a:r>
            <a:r>
              <a:rPr b="1" i="1" dirty="0">
                <a:solidFill>
                  <a:srgbClr val="3E762B"/>
                </a:solidFill>
                <a:latin typeface="Times New Roman"/>
                <a:cs typeface="Times New Roman"/>
              </a:rPr>
              <a:t>table</a:t>
            </a:r>
            <a:r>
              <a:rPr b="1" i="1" spc="-4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needed</a:t>
            </a:r>
            <a:r>
              <a:rPr spc="-10" dirty="0"/>
              <a:t> </a:t>
            </a:r>
            <a:r>
              <a:rPr b="1" dirty="0">
                <a:latin typeface="Times New Roman"/>
                <a:cs typeface="Times New Roman"/>
              </a:rPr>
              <a:t>to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map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virtual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address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20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bits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to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physical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address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25" dirty="0">
                <a:latin typeface="Times New Roman"/>
                <a:cs typeface="Times New Roman"/>
              </a:rPr>
              <a:t> 15 	</a:t>
            </a:r>
            <a:r>
              <a:rPr b="1" dirty="0">
                <a:latin typeface="Times New Roman"/>
                <a:cs typeface="Times New Roman"/>
              </a:rPr>
              <a:t>bits</a:t>
            </a:r>
            <a:r>
              <a:rPr dirty="0"/>
              <a:t>.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mapping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dynamic</a:t>
            </a:r>
            <a:r>
              <a:rPr spc="-15" dirty="0"/>
              <a:t> </a:t>
            </a:r>
            <a:r>
              <a:rPr dirty="0"/>
              <a:t>operation,</a:t>
            </a:r>
            <a:r>
              <a:rPr spc="-30" dirty="0"/>
              <a:t> 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means</a:t>
            </a:r>
            <a:r>
              <a:rPr spc="-3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every</a:t>
            </a:r>
            <a:r>
              <a:rPr spc="-25" dirty="0"/>
              <a:t> </a:t>
            </a:r>
            <a:r>
              <a:rPr dirty="0"/>
              <a:t>address</a:t>
            </a:r>
            <a:r>
              <a:rPr spc="-20" dirty="0"/>
              <a:t> </a:t>
            </a:r>
            <a:r>
              <a:rPr spc="-25" dirty="0"/>
              <a:t>is 	</a:t>
            </a:r>
            <a:r>
              <a:rPr dirty="0"/>
              <a:t>translated</a:t>
            </a:r>
            <a:r>
              <a:rPr spc="-20" dirty="0"/>
              <a:t> </a:t>
            </a:r>
            <a:r>
              <a:rPr spc="-10" dirty="0"/>
              <a:t>immediately</a:t>
            </a:r>
            <a:r>
              <a:rPr spc="-40" dirty="0"/>
              <a:t> </a:t>
            </a:r>
            <a:r>
              <a:rPr dirty="0"/>
              <a:t>as</a:t>
            </a:r>
            <a:r>
              <a:rPr spc="-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word</a:t>
            </a:r>
            <a:r>
              <a:rPr spc="-1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referenced</a:t>
            </a:r>
            <a:r>
              <a:rPr spc="10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20" dirty="0"/>
              <a:t>CPU.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Address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Mapping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Example</a:t>
            </a:r>
            <a:endParaRPr sz="2200">
              <a:latin typeface="Georgia"/>
              <a:cs typeface="Georgia"/>
            </a:endParaRPr>
          </a:p>
          <a:p>
            <a:pPr marL="434975" marR="600075" indent="-172720">
              <a:lnSpc>
                <a:spcPct val="120000"/>
              </a:lnSpc>
              <a:spcBef>
                <a:spcPts val="120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If 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space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and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200" b="1" spc="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space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are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each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divided</a:t>
            </a:r>
            <a:r>
              <a:rPr sz="12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into 	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groups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of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fixed</a:t>
            </a:r>
            <a:r>
              <a:rPr sz="12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size</a:t>
            </a:r>
            <a:r>
              <a:rPr sz="1200" spc="-10" dirty="0">
                <a:solidFill>
                  <a:srgbClr val="34463C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666115" lvl="1" indent="-174625">
              <a:lnSpc>
                <a:spcPct val="100000"/>
              </a:lnSpc>
              <a:spcBef>
                <a:spcPts val="885"/>
              </a:spcBef>
              <a:buClr>
                <a:srgbClr val="3E762B"/>
              </a:buClr>
              <a:buFont typeface="Arial MT"/>
              <a:buChar char="•"/>
              <a:tabLst>
                <a:tab pos="666115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example:</a:t>
            </a:r>
            <a:endParaRPr sz="12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</a:t>
            </a:r>
            <a:endParaRPr sz="1200">
              <a:latin typeface="Times New Roman"/>
              <a:cs typeface="Times New Roman"/>
            </a:endParaRPr>
          </a:p>
          <a:p>
            <a:pPr marL="720090" marR="1991360">
              <a:lnSpc>
                <a:spcPts val="1739"/>
              </a:lnSpc>
              <a:spcBef>
                <a:spcPts val="110"/>
              </a:spcBef>
            </a:pP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baseline="24305" dirty="0">
                <a:latin typeface="Times New Roman"/>
                <a:cs typeface="Times New Roman"/>
              </a:rPr>
              <a:t>20</a:t>
            </a:r>
            <a:r>
              <a:rPr sz="1200" spc="-37" baseline="24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90" dirty="0">
                <a:latin typeface="Times New Roman"/>
                <a:cs typeface="Times New Roman"/>
              </a:rPr>
              <a:t>…</a:t>
            </a:r>
            <a:r>
              <a:rPr sz="1800" baseline="13888" dirty="0">
                <a:latin typeface="Times New Roman"/>
                <a:cs typeface="Times New Roman"/>
              </a:rPr>
              <a:t>1</a:t>
            </a:r>
            <a:r>
              <a:rPr sz="1800" spc="-172" baseline="13888" dirty="0">
                <a:latin typeface="Times New Roman"/>
                <a:cs typeface="Times New Roman"/>
              </a:rPr>
              <a:t>0</a:t>
            </a:r>
            <a:r>
              <a:rPr sz="1200" spc="-1090" dirty="0">
                <a:latin typeface="Times New Roman"/>
                <a:cs typeface="Times New Roman"/>
              </a:rPr>
              <a:t>…</a:t>
            </a:r>
            <a:r>
              <a:rPr sz="1800" baseline="13888" dirty="0">
                <a:latin typeface="Times New Roman"/>
                <a:cs typeface="Times New Roman"/>
              </a:rPr>
              <a:t>2</a:t>
            </a:r>
            <a:r>
              <a:rPr sz="1800" spc="-172" baseline="13888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0" dirty="0">
                <a:latin typeface="Times New Roman"/>
                <a:cs typeface="Times New Roman"/>
              </a:rPr>
              <a:t>pages.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baseline="24305" dirty="0">
                <a:latin typeface="Times New Roman"/>
                <a:cs typeface="Times New Roman"/>
              </a:rPr>
              <a:t>15</a:t>
            </a:r>
            <a:r>
              <a:rPr sz="1200" spc="112" baseline="24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660" dirty="0">
                <a:latin typeface="Times New Roman"/>
                <a:cs typeface="Times New Roman"/>
              </a:rPr>
              <a:t>…</a:t>
            </a:r>
            <a:r>
              <a:rPr sz="1800" baseline="16203" dirty="0">
                <a:latin typeface="Times New Roman"/>
                <a:cs typeface="Times New Roman"/>
              </a:rPr>
              <a:t>3</a:t>
            </a:r>
            <a:r>
              <a:rPr sz="1800" spc="-817" baseline="16203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… </a:t>
            </a:r>
            <a:r>
              <a:rPr sz="1200" spc="-10" dirty="0">
                <a:latin typeface="Times New Roman"/>
                <a:cs typeface="Times New Roman"/>
              </a:rPr>
              <a:t>blocks.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6135" y="7139152"/>
            <a:ext cx="4148074" cy="9839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52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80" dirty="0"/>
              <a:t> </a:t>
            </a:r>
            <a:r>
              <a:rPr dirty="0"/>
              <a:t>Page</a:t>
            </a:r>
            <a:r>
              <a:rPr spc="-85" dirty="0"/>
              <a:t> </a:t>
            </a:r>
            <a:r>
              <a:rPr dirty="0"/>
              <a:t>Table</a:t>
            </a:r>
            <a:r>
              <a:rPr spc="-60" dirty="0"/>
              <a:t> </a:t>
            </a:r>
            <a:r>
              <a:rPr dirty="0"/>
              <a:t>(Direct</a:t>
            </a:r>
            <a:r>
              <a:rPr spc="-75" dirty="0"/>
              <a:t> </a:t>
            </a:r>
            <a:r>
              <a:rPr spc="-10" dirty="0"/>
              <a:t>Mapping)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252" y="1747011"/>
            <a:ext cx="5765546" cy="224028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Associative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Page</a:t>
            </a:r>
            <a:r>
              <a:rPr sz="2200" spc="-10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Table</a:t>
            </a:r>
            <a:endParaRPr sz="2200">
              <a:latin typeface="Georgia"/>
              <a:cs typeface="Georgia"/>
            </a:endParaRPr>
          </a:p>
          <a:p>
            <a:pPr marL="434975" marR="581660" indent="-172720">
              <a:lnSpc>
                <a:spcPct val="100000"/>
              </a:lnSpc>
              <a:spcBef>
                <a:spcPts val="157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spc="-45" dirty="0">
                <a:latin typeface="Times New Roman"/>
                <a:cs typeface="Times New Roman"/>
              </a:rPr>
              <a:t>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observe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auxiliary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25" dirty="0">
                <a:latin typeface="Times New Roman"/>
                <a:cs typeface="Times New Roman"/>
              </a:rPr>
              <a:t> the 	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4975" marR="465455" indent="-172720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	Table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numbers, 	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6245" marR="409575" indent="-173990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1024K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32K </a:t>
            </a:r>
            <a:r>
              <a:rPr sz="1200" dirty="0">
                <a:latin typeface="Times New Roman"/>
                <a:cs typeface="Times New Roman"/>
              </a:rPr>
              <a:t>words.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 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1024,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32.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capacity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memory-</a:t>
            </a:r>
            <a:r>
              <a:rPr sz="1200" b="1" dirty="0">
                <a:latin typeface="Times New Roman"/>
                <a:cs typeface="Times New Roman"/>
              </a:rPr>
              <a:t>page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table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must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be </a:t>
            </a:r>
            <a:r>
              <a:rPr sz="1200" b="1" dirty="0">
                <a:latin typeface="Times New Roman"/>
                <a:cs typeface="Times New Roman"/>
              </a:rPr>
              <a:t>1024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words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32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locations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have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presence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equal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1.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any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992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use.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58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54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Associative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95" dirty="0"/>
              <a:t> </a:t>
            </a:r>
            <a:r>
              <a:rPr dirty="0"/>
              <a:t>Page</a:t>
            </a:r>
            <a:r>
              <a:rPr spc="-100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27123"/>
            <a:ext cx="522097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organize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200" b="1" spc="1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page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table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	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words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equal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blocks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main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memory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84785" marR="196850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associative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1200" b="1" spc="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page</a:t>
            </a:r>
            <a:r>
              <a:rPr sz="1200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number</a:t>
            </a:r>
            <a:r>
              <a:rPr sz="1200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together 	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corresponding</a:t>
            </a:r>
            <a:r>
              <a:rPr sz="1200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block</a:t>
            </a:r>
            <a:r>
              <a:rPr sz="1200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E762B"/>
                </a:solidFill>
                <a:latin typeface="Times New Roman"/>
                <a:cs typeface="Times New Roman"/>
              </a:rPr>
              <a:t>number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185420" algn="l"/>
              </a:tabLst>
            </a:pPr>
            <a:r>
              <a:rPr sz="1200" dirty="0">
                <a:latin typeface="Times New Roman"/>
                <a:cs typeface="Times New Roman"/>
              </a:rPr>
              <a:t>So,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utilized.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5664" y="2493898"/>
            <a:ext cx="2371725" cy="1642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Associative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Page</a:t>
            </a:r>
            <a:r>
              <a:rPr sz="2200" spc="-10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Table</a:t>
            </a:r>
            <a:endParaRPr sz="2200">
              <a:latin typeface="Georgia"/>
              <a:cs typeface="Georgia"/>
            </a:endParaRPr>
          </a:p>
          <a:p>
            <a:pPr marL="434975" marR="571500" indent="-172720">
              <a:lnSpc>
                <a:spcPct val="100000"/>
              </a:lnSpc>
              <a:spcBef>
                <a:spcPts val="157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b="1" dirty="0">
                <a:latin typeface="Times New Roman"/>
                <a:cs typeface="Times New Roman"/>
              </a:rPr>
              <a:t>Each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entry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associative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25" dirty="0">
                <a:latin typeface="Times New Roman"/>
                <a:cs typeface="Times New Roman"/>
              </a:rPr>
              <a:t> is 	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page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second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block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number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34975" marR="393700" indent="-172720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associative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corresponding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</a:t>
            </a:r>
            <a:r>
              <a:rPr sz="1200" spc="500" dirty="0">
                <a:latin typeface="Times New Roman"/>
                <a:cs typeface="Times New Roman"/>
              </a:rPr>
              <a:t> 	</a:t>
            </a:r>
            <a:r>
              <a:rPr sz="1200" spc="-10" dirty="0">
                <a:latin typeface="Times New Roman"/>
                <a:cs typeface="Times New Roman"/>
              </a:rPr>
              <a:t>number,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transferred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 	register.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 no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</a:t>
            </a:r>
            <a:r>
              <a:rPr sz="1200" spc="-25" dirty="0">
                <a:latin typeface="Times New Roman"/>
                <a:cs typeface="Times New Roman"/>
              </a:rPr>
              <a:t> the 	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auxiliary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59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85" dirty="0"/>
              <a:t> </a:t>
            </a:r>
            <a:r>
              <a:rPr dirty="0"/>
              <a:t>Page</a:t>
            </a:r>
            <a:r>
              <a:rPr spc="-85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522984"/>
            <a:ext cx="5004435" cy="13519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700"/>
              </a:spcBef>
              <a:buClr>
                <a:srgbClr val="3E762B"/>
              </a:buClr>
              <a:buFont typeface="Wingdings"/>
              <a:buChar char=""/>
              <a:tabLst>
                <a:tab pos="185420" algn="l"/>
              </a:tabLst>
            </a:pPr>
            <a:r>
              <a:rPr sz="1200" dirty="0">
                <a:latin typeface="Times New Roman"/>
                <a:cs typeface="Times New Roman"/>
              </a:rPr>
              <a:t>If 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presence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bit</a:t>
            </a:r>
            <a:r>
              <a:rPr sz="12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‘0’:</a:t>
            </a:r>
            <a:endParaRPr sz="1200">
              <a:latin typeface="Times New Roman"/>
              <a:cs typeface="Times New Roman"/>
            </a:endParaRPr>
          </a:p>
          <a:p>
            <a:pPr marL="414655" marR="5080" lvl="1" indent="-17399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14655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virtual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does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  <a:p>
            <a:pPr marL="414655" marR="6350" lvl="1" indent="-17399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41465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fetch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auxiliary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resuming computation.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570" y="4966716"/>
              <a:ext cx="5862320" cy="3188970"/>
            </a:xfrm>
            <a:custGeom>
              <a:avLst/>
              <a:gdLst/>
              <a:ahLst/>
              <a:cxnLst/>
              <a:rect l="l" t="t" r="r" b="b"/>
              <a:pathLst>
                <a:path w="5862320" h="3188970">
                  <a:moveTo>
                    <a:pt x="5862320" y="0"/>
                  </a:moveTo>
                  <a:lnTo>
                    <a:pt x="0" y="0"/>
                  </a:lnTo>
                  <a:lnTo>
                    <a:pt x="0" y="3188969"/>
                  </a:lnTo>
                  <a:lnTo>
                    <a:pt x="5862320" y="3188969"/>
                  </a:lnTo>
                  <a:lnTo>
                    <a:pt x="586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781" y="55135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646" y="0"/>
                  </a:lnTo>
                </a:path>
              </a:pathLst>
            </a:custGeom>
            <a:ln w="19050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569" y="4966715"/>
            <a:ext cx="5862320" cy="3188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Replacement</a:t>
            </a:r>
            <a:r>
              <a:rPr sz="2200" spc="-10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Policy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200">
              <a:latin typeface="Georgia"/>
              <a:cs typeface="Georgia"/>
            </a:endParaRPr>
          </a:p>
          <a:p>
            <a:pPr marL="718820" indent="-110489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718820" algn="l"/>
              </a:tabLst>
            </a:pPr>
            <a:r>
              <a:rPr sz="1400" dirty="0">
                <a:latin typeface="Times New Roman"/>
                <a:cs typeface="Times New Roman"/>
              </a:rPr>
              <a:t>First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First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</a:t>
            </a:r>
            <a:r>
              <a:rPr sz="1400" spc="-10" dirty="0">
                <a:latin typeface="Times New Roman"/>
                <a:cs typeface="Times New Roman"/>
              </a:rPr>
              <a:t> (FIFO)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Clr>
                <a:srgbClr val="3E762B"/>
              </a:buClr>
              <a:buFont typeface="Wingdings"/>
              <a:buChar char=""/>
            </a:pPr>
            <a:endParaRPr sz="1400">
              <a:latin typeface="Times New Roman"/>
              <a:cs typeface="Times New Roman"/>
            </a:endParaRPr>
          </a:p>
          <a:p>
            <a:pPr marL="718820" indent="-110489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718820" algn="l"/>
              </a:tabLst>
            </a:pPr>
            <a:r>
              <a:rPr sz="1400" dirty="0">
                <a:latin typeface="Times New Roman"/>
                <a:cs typeface="Times New Roman"/>
              </a:rPr>
              <a:t>Least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Recently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(LRU)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00" y="8332647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62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300" y="43237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52525"/>
                </a:solidFill>
                <a:latin typeface="Calibri"/>
                <a:cs typeface="Calibri"/>
              </a:rPr>
              <a:t>61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2419</Words>
  <Application>Microsoft Office PowerPoint</Application>
  <PresentationFormat>On-screen Show (4:3)</PresentationFormat>
  <Paragraphs>307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MT</vt:lpstr>
      <vt:lpstr>Calibri</vt:lpstr>
      <vt:lpstr>Corbel</vt:lpstr>
      <vt:lpstr>Georgia</vt:lpstr>
      <vt:lpstr>Tahoma</vt:lpstr>
      <vt:lpstr>Times New Roman</vt:lpstr>
      <vt:lpstr>Wingdings</vt:lpstr>
      <vt:lpstr>Office Theme</vt:lpstr>
      <vt:lpstr>Computer Architecture</vt:lpstr>
      <vt:lpstr>Memory Hierarchy (The Big Picture )</vt:lpstr>
      <vt:lpstr>Principle of locality</vt:lpstr>
      <vt:lpstr>Cache Memory</vt:lpstr>
      <vt:lpstr>Cache Memory Terminologies</vt:lpstr>
      <vt:lpstr>Inside a Cache</vt:lpstr>
      <vt:lpstr>Cache Algorithm (Write)</vt:lpstr>
      <vt:lpstr>Memory and Cache Mapping</vt:lpstr>
      <vt:lpstr>1. Direct Mapping Example1</vt:lpstr>
      <vt:lpstr>1. Direct Mapping Example2</vt:lpstr>
      <vt:lpstr>2. Associative mapping</vt:lpstr>
      <vt:lpstr>PowerPoint Presentation</vt:lpstr>
      <vt:lpstr>3. Set-associative mapping</vt:lpstr>
      <vt:lpstr>Replacement Policy</vt:lpstr>
      <vt:lpstr>Memory Hierarchy (The Big Picture )</vt:lpstr>
      <vt:lpstr>Virtual Memory Terminologies</vt:lpstr>
      <vt:lpstr>Address Space and Memory Space</vt:lpstr>
      <vt:lpstr>Virtual Memory</vt:lpstr>
      <vt:lpstr>Virtual Memory Illustration Example</vt:lpstr>
      <vt:lpstr>Address Mapping Example</vt:lpstr>
      <vt:lpstr>Memory Page Table (Direct Mapping)</vt:lpstr>
      <vt:lpstr>Associative Memory Page Table</vt:lpstr>
      <vt:lpstr>Memory Page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Zahraa.Ismail</cp:lastModifiedBy>
  <cp:revision>1</cp:revision>
  <dcterms:created xsi:type="dcterms:W3CDTF">2025-11-27T09:01:27Z</dcterms:created>
  <dcterms:modified xsi:type="dcterms:W3CDTF">2026-03-29T13:48:02Z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for Microsoft 365</vt:lpwstr>
  </property>
</Properties>
</file>