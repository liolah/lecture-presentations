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6858000" cy="9144000" type="screen4x3"/>
  <p:notesSz cx="6858000" cy="9144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201" autoAdjust="0"/>
  </p:normalViewPr>
  <p:slideViewPr>
    <p:cSldViewPr>
      <p:cViewPr>
        <p:scale>
          <a:sx n="80" d="100"/>
          <a:sy n="80" d="100"/>
        </p:scale>
        <p:origin x="2274" y="-43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9ADDAA-C304-4977-88D7-A677219C8A7B}" type="datetimeFigureOut">
              <a:rPr lang="en-US" smtClean="0"/>
              <a:t>3/30/2026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7289A1-BA6F-41AA-AAEA-211626E74D00}" type="slidenum">
              <a:rPr lang="en-US" smtClean="0"/>
              <a:t>‹#›</a:t>
            </a:fld>
            <a:endParaRPr lang="en-US"/>
          </a:p>
        </p:txBody>
      </p:sp>
    </p:spTree>
    <p:extLst>
      <p:ext uri="{BB962C8B-B14F-4D97-AF65-F5344CB8AC3E}">
        <p14:creationId xmlns:p14="http://schemas.microsoft.com/office/powerpoint/2010/main" val="43651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hierarchy (fast → slow, small → large)</a:t>
            </a:r>
          </a:p>
          <a:p>
            <a:r>
              <a:rPr lang="en-US" dirty="0"/>
              <a:t>Registers (inside CPU) </a:t>
            </a:r>
          </a:p>
          <a:p>
            <a:pPr lvl="1"/>
            <a:r>
              <a:rPr lang="en-US" dirty="0"/>
              <a:t>Smallest and fastest storage.</a:t>
            </a:r>
          </a:p>
          <a:p>
            <a:pPr lvl="1"/>
            <a:r>
              <a:rPr lang="en-US" dirty="0"/>
              <a:t>Holds values the CPU is currently operating on.</a:t>
            </a:r>
          </a:p>
          <a:p>
            <a:r>
              <a:rPr lang="en-US" dirty="0"/>
              <a:t>Cache (SRAM) </a:t>
            </a:r>
          </a:p>
          <a:p>
            <a:pPr lvl="1"/>
            <a:r>
              <a:rPr lang="en-US" dirty="0"/>
              <a:t>Very small and very fast, sits close to the CPU.</a:t>
            </a:r>
          </a:p>
          <a:p>
            <a:pPr lvl="1"/>
            <a:r>
              <a:rPr lang="en-US" dirty="0"/>
              <a:t>Holds recently used data and instructions to reduce average access time.</a:t>
            </a:r>
          </a:p>
          <a:p>
            <a:r>
              <a:rPr lang="en-US" dirty="0"/>
              <a:t>Main memory (DRAM) </a:t>
            </a:r>
          </a:p>
          <a:p>
            <a:pPr lvl="1"/>
            <a:r>
              <a:rPr lang="en-US" dirty="0"/>
              <a:t>Much larger than cache but slower.</a:t>
            </a:r>
          </a:p>
          <a:p>
            <a:pPr lvl="1"/>
            <a:r>
              <a:rPr lang="en-US" dirty="0"/>
              <a:t>Stores programs and data currently in use by the processor.</a:t>
            </a:r>
          </a:p>
          <a:p>
            <a:r>
              <a:rPr lang="en-US" dirty="0"/>
              <a:t>Secondary (auxiliary) memory (magnetic disks, tapes, SSDs) </a:t>
            </a:r>
          </a:p>
          <a:p>
            <a:pPr lvl="1"/>
            <a:r>
              <a:rPr lang="en-US" dirty="0"/>
              <a:t>Largest and slowest.</a:t>
            </a:r>
          </a:p>
          <a:p>
            <a:pPr lvl="1"/>
            <a:r>
              <a:rPr lang="en-US" dirty="0"/>
              <a:t>Used for long-term storage and backups (programs, large files).</a:t>
            </a:r>
          </a:p>
          <a:p>
            <a:r>
              <a:rPr lang="en-US" dirty="0"/>
              <a:t>Key relationships</a:t>
            </a:r>
          </a:p>
          <a:p>
            <a:r>
              <a:rPr lang="en-US" dirty="0"/>
              <a:t>Size: registers &lt;&lt; SRAM (cache) &lt;&lt; DRAM (main memory) &lt;&lt; secondary storage.</a:t>
            </a:r>
          </a:p>
          <a:p>
            <a:r>
              <a:rPr lang="en-US" dirty="0"/>
              <a:t>Latency (access time): registers &lt;&lt; SRAM &lt;&lt; DRAM &lt;&lt; secondary storage.</a:t>
            </a:r>
          </a:p>
          <a:p>
            <a:r>
              <a:rPr lang="en-US" dirty="0"/>
              <a:t>Cost per byte: registers and SRAM are more expensive than DRAM, which is more expensive than disk.</a:t>
            </a:r>
          </a:p>
          <a:p>
            <a:r>
              <a:rPr lang="en-US" dirty="0"/>
              <a:t>Usage frequency: items closer to the top (registers, cache) are used more frequently.</a:t>
            </a:r>
          </a:p>
          <a:p>
            <a:r>
              <a:rPr lang="en-US" dirty="0"/>
              <a:t>Why caches exist</a:t>
            </a:r>
          </a:p>
          <a:p>
            <a:r>
              <a:rPr lang="en-US" dirty="0"/>
              <a:t>Goal: reduce average memory-access latency seen by the CPU.</a:t>
            </a:r>
          </a:p>
          <a:p>
            <a:r>
              <a:rPr lang="en-US" dirty="0"/>
              <a:t>Strategy: keep small, fast memories that store copies of the data most likely to be needed soon.</a:t>
            </a:r>
          </a:p>
          <a:p>
            <a:r>
              <a:rPr lang="en-US" dirty="0"/>
              <a:t>Caching works because of locality: </a:t>
            </a:r>
          </a:p>
          <a:p>
            <a:pPr lvl="1"/>
            <a:r>
              <a:rPr lang="en-US" dirty="0"/>
              <a:t>Temporal locality: recently accessed data is likely to be accessed again soon.</a:t>
            </a:r>
          </a:p>
          <a:p>
            <a:pPr lvl="1"/>
            <a:r>
              <a:rPr lang="en-US" dirty="0"/>
              <a:t>Spatial locality: data near recently accessed addresses is likely to be accessed soon.</a:t>
            </a:r>
          </a:p>
          <a:p>
            <a:r>
              <a:rPr lang="en-US" dirty="0"/>
              <a:t>Typical data movement (overview)</a:t>
            </a:r>
          </a:p>
          <a:p>
            <a:r>
              <a:rPr lang="en-US" dirty="0"/>
              <a:t>Store everything on disk (secondary storage).</a:t>
            </a:r>
          </a:p>
          <a:p>
            <a:r>
              <a:rPr lang="en-US" dirty="0"/>
              <a:t>Copy recently accessed (and nearby) items from disk to main memory (DRAM).</a:t>
            </a:r>
          </a:p>
          <a:p>
            <a:r>
              <a:rPr lang="en-US" dirty="0"/>
              <a:t>Copy more recently accessed (and nearby) items from DRAM to cache (SRAM) so the CPU can access them quickly.</a:t>
            </a:r>
          </a:p>
          <a:p>
            <a:r>
              <a:rPr lang="en-US" dirty="0"/>
              <a:t>The CPU reads/writes from registers and cache; cache controllers and the OS/hardware manage movement and consistency between levels.</a:t>
            </a:r>
          </a:p>
          <a:p>
            <a:r>
              <a:rPr lang="en-US" dirty="0"/>
              <a:t>Visual/pyramid interpretation (from top to bottom)</a:t>
            </a:r>
          </a:p>
          <a:p>
            <a:r>
              <a:rPr lang="en-US" dirty="0"/>
              <a:t>Top (smallest, fastest): Registers → Cache (SRAM)</a:t>
            </a:r>
          </a:p>
          <a:p>
            <a:r>
              <a:rPr lang="en-US" dirty="0"/>
              <a:t>Middle: Main memory (DRAM)</a:t>
            </a:r>
          </a:p>
          <a:p>
            <a:r>
              <a:rPr lang="en-US" dirty="0"/>
              <a:t>Bottom (largest, slowest): Secondary memory (disks, tapes, SSDs)</a:t>
            </a:r>
          </a:p>
          <a:p>
            <a:r>
              <a:rPr lang="en-US" dirty="0"/>
              <a:t>Arrows across the pyramid: </a:t>
            </a:r>
          </a:p>
          <a:p>
            <a:pPr lvl="1"/>
            <a:r>
              <a:rPr lang="en-US" dirty="0"/>
              <a:t>Access time increases going down.</a:t>
            </a:r>
          </a:p>
          <a:p>
            <a:pPr lvl="1"/>
            <a:r>
              <a:rPr lang="en-US" dirty="0"/>
              <a:t>Size increases going down.</a:t>
            </a:r>
          </a:p>
          <a:p>
            <a:pPr lvl="1"/>
            <a:r>
              <a:rPr lang="en-US" dirty="0"/>
              <a:t>Cost per byte decreases going down.</a:t>
            </a:r>
          </a:p>
          <a:p>
            <a:pPr lvl="1"/>
            <a:r>
              <a:rPr lang="en-US" dirty="0"/>
              <a:t>Usage frequency decreases going down.</a:t>
            </a:r>
          </a:p>
          <a:p>
            <a:r>
              <a:rPr lang="en-US" dirty="0"/>
              <a:t>Short summary</a:t>
            </a:r>
          </a:p>
          <a:p>
            <a:r>
              <a:rPr lang="en-US" dirty="0"/>
              <a:t>The memory hierarchy balances speed, size, and cost: fast small memories (registers, cache) reduce average latency for the CPU, while larger slower memories (DRAM, disks) provide capacity and persistence. Cache memories exploit locality to store frequently or imminently needed data closer to the CPU.</a:t>
            </a:r>
          </a:p>
          <a:p>
            <a:endParaRPr lang="en-US" dirty="0"/>
          </a:p>
        </p:txBody>
      </p:sp>
      <p:sp>
        <p:nvSpPr>
          <p:cNvPr id="4" name="Slide Number Placeholder 3"/>
          <p:cNvSpPr>
            <a:spLocks noGrp="1"/>
          </p:cNvSpPr>
          <p:nvPr>
            <p:ph type="sldNum" sz="quarter" idx="5"/>
          </p:nvPr>
        </p:nvSpPr>
        <p:spPr/>
        <p:txBody>
          <a:bodyPr/>
          <a:lstStyle/>
          <a:p>
            <a:fld id="{567289A1-BA6F-41AA-AAEA-211626E74D00}" type="slidenum">
              <a:rPr lang="en-US" smtClean="0"/>
              <a:t>3</a:t>
            </a:fld>
            <a:endParaRPr lang="en-US"/>
          </a:p>
        </p:txBody>
      </p:sp>
    </p:spTree>
    <p:extLst>
      <p:ext uri="{BB962C8B-B14F-4D97-AF65-F5344CB8AC3E}">
        <p14:creationId xmlns:p14="http://schemas.microsoft.com/office/powerpoint/2010/main" val="17392748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 (Random-Access Memory) Volatile: loses content when power is removed.</a:t>
            </a:r>
          </a:p>
          <a:p>
            <a:r>
              <a:rPr lang="en-US" dirty="0"/>
              <a:t>Temporary storage for programs and files currently in use.</a:t>
            </a:r>
          </a:p>
          <a:p>
            <a:r>
              <a:rPr lang="en-US" dirty="0"/>
              <a:t>Fast access compared with secondary storage.</a:t>
            </a:r>
          </a:p>
          <a:p>
            <a:r>
              <a:rPr lang="en-US" dirty="0"/>
              <a:t>ROM (Read-Only Memory) Non‑volatile: retains contents without power.</a:t>
            </a:r>
          </a:p>
          <a:p>
            <a:r>
              <a:rPr lang="en-US" dirty="0"/>
              <a:t>Stores permanent instructions (e.g., firmware, boot code).</a:t>
            </a:r>
          </a:p>
          <a:p>
            <a:endParaRPr lang="en-US" dirty="0"/>
          </a:p>
        </p:txBody>
      </p:sp>
      <p:sp>
        <p:nvSpPr>
          <p:cNvPr id="4" name="Slide Number Placeholder 3"/>
          <p:cNvSpPr>
            <a:spLocks noGrp="1"/>
          </p:cNvSpPr>
          <p:nvPr>
            <p:ph type="sldNum" sz="quarter" idx="5"/>
          </p:nvPr>
        </p:nvSpPr>
        <p:spPr/>
        <p:txBody>
          <a:bodyPr/>
          <a:lstStyle/>
          <a:p>
            <a:fld id="{567289A1-BA6F-41AA-AAEA-211626E74D00}" type="slidenum">
              <a:rPr lang="en-US" smtClean="0"/>
              <a:t>5</a:t>
            </a:fld>
            <a:endParaRPr lang="en-US"/>
          </a:p>
        </p:txBody>
      </p:sp>
    </p:spTree>
    <p:extLst>
      <p:ext uri="{BB962C8B-B14F-4D97-AF65-F5344CB8AC3E}">
        <p14:creationId xmlns:p14="http://schemas.microsoft.com/office/powerpoint/2010/main" val="21507573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a collection of binary storage cells plus the circuits to read/write them. Data is stored in bits; groups of bits are moved as units called words. Byte = 8 bits. Common word sizes are multiples of 8 bits (16-bit = 2 bytes, 32-bit = 4 bytes, etc.). Capacity is usually measured in bytes.</a:t>
            </a:r>
          </a:p>
        </p:txBody>
      </p:sp>
      <p:sp>
        <p:nvSpPr>
          <p:cNvPr id="4" name="Slide Number Placeholder 3"/>
          <p:cNvSpPr>
            <a:spLocks noGrp="1"/>
          </p:cNvSpPr>
          <p:nvPr>
            <p:ph type="sldNum" sz="quarter" idx="5"/>
          </p:nvPr>
        </p:nvSpPr>
        <p:spPr/>
        <p:txBody>
          <a:bodyPr/>
          <a:lstStyle/>
          <a:p>
            <a:fld id="{567289A1-BA6F-41AA-AAEA-211626E74D00}" type="slidenum">
              <a:rPr lang="en-US" smtClean="0"/>
              <a:t>7</a:t>
            </a:fld>
            <a:endParaRPr lang="en-US"/>
          </a:p>
        </p:txBody>
      </p:sp>
    </p:spTree>
    <p:extLst>
      <p:ext uri="{BB962C8B-B14F-4D97-AF65-F5344CB8AC3E}">
        <p14:creationId xmlns:p14="http://schemas.microsoft.com/office/powerpoint/2010/main" val="26189064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organization (row/column decoding)</a:t>
            </a:r>
          </a:p>
          <a:p>
            <a:r>
              <a:rPr lang="en-US" dirty="0"/>
              <a:t>Large memories are typically organized in arrays of RAM cells arranged in rows and columns.</a:t>
            </a:r>
          </a:p>
          <a:p>
            <a:r>
              <a:rPr lang="en-US" dirty="0"/>
              <a:t>Row (word) decoders select the appropriate row (word). Column decoders select specific bit lines or groups of bits in that row (for narrow data outputs).</a:t>
            </a:r>
          </a:p>
          <a:p>
            <a:r>
              <a:rPr lang="en-US" dirty="0"/>
              <a:t>Chip select lines enable/disable entire memory chips in larger systems.</a:t>
            </a:r>
          </a:p>
          <a:p>
            <a:r>
              <a:rPr lang="en-US" dirty="0"/>
              <a:t>Capacity notation (binary prefixes)</a:t>
            </a:r>
          </a:p>
          <a:p>
            <a:r>
              <a:rPr lang="en-US" dirty="0"/>
              <a:t>K = 2^10 = 1,024</a:t>
            </a:r>
          </a:p>
          <a:p>
            <a:r>
              <a:rPr lang="en-US" dirty="0"/>
              <a:t>M = 2^20 = 1,048,576</a:t>
            </a:r>
          </a:p>
          <a:p>
            <a:r>
              <a:rPr lang="en-US" dirty="0"/>
              <a:t>G = 2^30 = 1,073,741,824</a:t>
            </a:r>
          </a:p>
          <a:p>
            <a:r>
              <a:rPr lang="en-US" dirty="0"/>
              <a:t>Examples: 64K = 2^16, 2M = 2^21 (as given in your notes), 4G = 2^32.</a:t>
            </a:r>
          </a:p>
          <a:p>
            <a:r>
              <a:rPr lang="en-US" dirty="0"/>
              <a:t>Example: specifying a memory</a:t>
            </a:r>
          </a:p>
          <a:p>
            <a:r>
              <a:rPr lang="en-US" dirty="0"/>
              <a:t>If a memory is 2^k × n: </a:t>
            </a:r>
          </a:p>
          <a:p>
            <a:pPr lvl="1"/>
            <a:r>
              <a:rPr lang="en-US" dirty="0"/>
              <a:t>Number of address lines = k.</a:t>
            </a:r>
          </a:p>
          <a:p>
            <a:pPr lvl="1"/>
            <a:r>
              <a:rPr lang="en-US" dirty="0"/>
              <a:t>Addresses run 0..(2^k − 1).</a:t>
            </a:r>
          </a:p>
          <a:p>
            <a:pPr lvl="1"/>
            <a:r>
              <a:rPr lang="en-US" dirty="0"/>
              <a:t>Data bus width = n bits.</a:t>
            </a:r>
          </a:p>
          <a:p>
            <a:r>
              <a:rPr lang="en-US" dirty="0"/>
              <a:t>Example: a 2^16 × 8 memory has 16 address lines and an 8-bit (1‑byte) data bus; it stores 65,536 bytes (64 KB).</a:t>
            </a:r>
          </a:p>
          <a:p>
            <a:r>
              <a:rPr lang="en-US" dirty="0"/>
              <a:t>Practical notes</a:t>
            </a:r>
          </a:p>
          <a:p>
            <a:r>
              <a:rPr lang="en-US" dirty="0"/>
              <a:t>Real systems use multiple levels of memory (cache, DRAM, secondary storage) to trade off speed, cost, and capacity.</a:t>
            </a:r>
          </a:p>
          <a:p>
            <a:r>
              <a:rPr lang="en-US" dirty="0"/>
              <a:t>Decoders, multiplexers, and sense amplifiers are key supporting circuits in memory chips.</a:t>
            </a:r>
          </a:p>
          <a:p>
            <a:r>
              <a:rPr lang="en-US" dirty="0"/>
              <a:t>When building larger memories from smaller chips, use address-line partitioning and chip‑select signals to map chip blocks into unique address ranges.</a:t>
            </a:r>
          </a:p>
          <a:p>
            <a:endParaRPr lang="en-US" dirty="0"/>
          </a:p>
        </p:txBody>
      </p:sp>
      <p:sp>
        <p:nvSpPr>
          <p:cNvPr id="4" name="Slide Number Placeholder 3"/>
          <p:cNvSpPr>
            <a:spLocks noGrp="1"/>
          </p:cNvSpPr>
          <p:nvPr>
            <p:ph type="sldNum" sz="quarter" idx="5"/>
          </p:nvPr>
        </p:nvSpPr>
        <p:spPr/>
        <p:txBody>
          <a:bodyPr/>
          <a:lstStyle/>
          <a:p>
            <a:fld id="{567289A1-BA6F-41AA-AAEA-211626E74D00}" type="slidenum">
              <a:rPr lang="en-US" smtClean="0"/>
              <a:t>9</a:t>
            </a:fld>
            <a:endParaRPr lang="en-US"/>
          </a:p>
        </p:txBody>
      </p:sp>
    </p:spTree>
    <p:extLst>
      <p:ext uri="{BB962C8B-B14F-4D97-AF65-F5344CB8AC3E}">
        <p14:creationId xmlns:p14="http://schemas.microsoft.com/office/powerpoint/2010/main" val="38747665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“Random-access” means any memory cell (word) can be accessed in roughly the same time, independent of location.</a:t>
            </a:r>
          </a:p>
          <a:p>
            <a:r>
              <a:rPr lang="en-US" dirty="0"/>
              <a:t>A memory unit is specified as (2^k × n) where: </a:t>
            </a:r>
          </a:p>
          <a:p>
            <a:pPr lvl="1"/>
            <a:r>
              <a:rPr lang="en-US" dirty="0"/>
              <a:t>2^k = number of words (k = number of address lines).</a:t>
            </a:r>
          </a:p>
          <a:p>
            <a:pPr lvl="1"/>
            <a:r>
              <a:rPr lang="en-US" dirty="0"/>
              <a:t>n = number of bits per word.</a:t>
            </a:r>
          </a:p>
          <a:p>
            <a:r>
              <a:rPr lang="en-US" dirty="0"/>
              <a:t>Address range: 0 to 2^k − 1.</a:t>
            </a:r>
          </a:p>
          <a:p>
            <a:r>
              <a:rPr lang="en-US" dirty="0"/>
              <a:t>Each address selects one word; a decoder takes the k-bit address and activates the selected word line.</a:t>
            </a:r>
          </a:p>
          <a:p>
            <a:r>
              <a:rPr lang="en-US" dirty="0"/>
              <a:t>Memory interface signals</a:t>
            </a:r>
          </a:p>
          <a:p>
            <a:r>
              <a:rPr lang="en-US" dirty="0"/>
              <a:t>Data input / output lines: carry the bits of the word being read or written.</a:t>
            </a:r>
          </a:p>
          <a:p>
            <a:r>
              <a:rPr lang="en-US" dirty="0"/>
              <a:t>Address lines: specify which word to access.</a:t>
            </a:r>
          </a:p>
          <a:p>
            <a:r>
              <a:rPr lang="en-US" dirty="0"/>
              <a:t>Control lines: read/write enable, chip select, and other control signals.</a:t>
            </a:r>
          </a:p>
          <a:p>
            <a:endParaRPr lang="en-US" dirty="0"/>
          </a:p>
        </p:txBody>
      </p:sp>
      <p:sp>
        <p:nvSpPr>
          <p:cNvPr id="4" name="Slide Number Placeholder 3"/>
          <p:cNvSpPr>
            <a:spLocks noGrp="1"/>
          </p:cNvSpPr>
          <p:nvPr>
            <p:ph type="sldNum" sz="quarter" idx="5"/>
          </p:nvPr>
        </p:nvSpPr>
        <p:spPr/>
        <p:txBody>
          <a:bodyPr/>
          <a:lstStyle/>
          <a:p>
            <a:fld id="{567289A1-BA6F-41AA-AAEA-211626E74D00}" type="slidenum">
              <a:rPr lang="en-US" smtClean="0"/>
              <a:t>10</a:t>
            </a:fld>
            <a:endParaRPr lang="en-US"/>
          </a:p>
        </p:txBody>
      </p:sp>
    </p:spTree>
    <p:extLst>
      <p:ext uri="{BB962C8B-B14F-4D97-AF65-F5344CB8AC3E}">
        <p14:creationId xmlns:p14="http://schemas.microsoft.com/office/powerpoint/2010/main" val="1772863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SRAM (6‑transistor cell)</a:t>
            </a:r>
          </a:p>
          <a:p>
            <a:r>
              <a:rPr lang="en-US" dirty="0"/>
              <a:t>Structure </a:t>
            </a:r>
          </a:p>
          <a:p>
            <a:pPr lvl="1"/>
            <a:r>
              <a:rPr lang="en-US" dirty="0"/>
              <a:t>Two cross-coupled inverters form a bistable latch + two access (pass) transistors connected to bit lines.</a:t>
            </a:r>
          </a:p>
          <a:p>
            <a:pPr lvl="1"/>
            <a:r>
              <a:rPr lang="en-US" dirty="0"/>
              <a:t>No capacitor; uses full CMOS latch — hence static.</a:t>
            </a:r>
          </a:p>
          <a:p>
            <a:r>
              <a:rPr lang="en-US" dirty="0"/>
              <a:t>States / operations </a:t>
            </a:r>
          </a:p>
          <a:p>
            <a:pPr lvl="1"/>
            <a:r>
              <a:rPr lang="en-US" dirty="0"/>
              <a:t>Standby: WL = 0 → access transistors off, latch holds value as long as power is present.</a:t>
            </a:r>
          </a:p>
          <a:p>
            <a:pPr lvl="1"/>
            <a:r>
              <a:rPr lang="en-US" dirty="0"/>
              <a:t>Read: WL = 1 → cell is connected to bit lines; sense amplifier detects the stored value (reads non‑destructively).</a:t>
            </a:r>
          </a:p>
          <a:p>
            <a:pPr lvl="1"/>
            <a:r>
              <a:rPr lang="en-US" dirty="0"/>
              <a:t>Write: Drive bit lines with desired value; assert WL so strong bit-line drivers overwrite latch.</a:t>
            </a:r>
          </a:p>
          <a:p>
            <a:r>
              <a:rPr lang="en-US" dirty="0"/>
              <a:t>Properties </a:t>
            </a:r>
          </a:p>
          <a:p>
            <a:pPr lvl="1"/>
            <a:r>
              <a:rPr lang="en-US" dirty="0"/>
              <a:t>Fastest on-chip memory (used for caches, registers).</a:t>
            </a:r>
          </a:p>
          <a:p>
            <a:pPr lvl="1"/>
            <a:r>
              <a:rPr lang="en-US" dirty="0"/>
              <a:t>Relatively large cell area (6 transistors), higher cost per bit.</a:t>
            </a:r>
          </a:p>
          <a:p>
            <a:pPr lvl="1"/>
            <a:r>
              <a:rPr lang="en-US" dirty="0"/>
              <a:t>Volatile but does not require refresh while powered.</a:t>
            </a:r>
          </a:p>
          <a:p>
            <a:r>
              <a:rPr lang="en-US" dirty="0"/>
              <a:t>DRAM (1 transistor + capacitor cell)</a:t>
            </a:r>
          </a:p>
          <a:p>
            <a:r>
              <a:rPr lang="en-US" dirty="0"/>
              <a:t>Structure </a:t>
            </a:r>
          </a:p>
          <a:p>
            <a:pPr lvl="1"/>
            <a:r>
              <a:rPr lang="en-US" dirty="0"/>
              <a:t>Single transistor (access device) plus a storage capacitor per cell.</a:t>
            </a:r>
          </a:p>
          <a:p>
            <a:r>
              <a:rPr lang="en-US" dirty="0"/>
              <a:t>States / operations </a:t>
            </a:r>
          </a:p>
          <a:p>
            <a:pPr lvl="1"/>
            <a:r>
              <a:rPr lang="en-US" dirty="0"/>
              <a:t>Standby: WL = 0 → capacitor isolated from bit line.</a:t>
            </a:r>
          </a:p>
          <a:p>
            <a:pPr lvl="1"/>
            <a:r>
              <a:rPr lang="en-US" dirty="0"/>
              <a:t>Read: WL = 1 → charge on capacitor is shared with bit line; sense amplifier detects small voltage change (read is destructive in many DRAM designs, so the row must be restored).</a:t>
            </a:r>
          </a:p>
          <a:p>
            <a:pPr lvl="1"/>
            <a:r>
              <a:rPr lang="en-US" dirty="0"/>
              <a:t>Write: Drive bit line to strong 1 or 0; assert WL to store charge on capacitor.</a:t>
            </a:r>
          </a:p>
          <a:p>
            <a:r>
              <a:rPr lang="en-US" dirty="0"/>
              <a:t>Properties </a:t>
            </a:r>
          </a:p>
          <a:p>
            <a:pPr lvl="1"/>
            <a:r>
              <a:rPr lang="en-US" dirty="0"/>
              <a:t>Much smaller cell area than SRAM → higher density, lower cost per bit.</a:t>
            </a:r>
          </a:p>
          <a:p>
            <a:pPr lvl="1"/>
            <a:r>
              <a:rPr lang="en-US" dirty="0"/>
              <a:t>Dynamic: capacitor leaks charge → requires periodic refresh (every few </a:t>
            </a:r>
            <a:r>
              <a:rPr lang="en-US" dirty="0" err="1"/>
              <a:t>ms</a:t>
            </a:r>
            <a:r>
              <a:rPr lang="en-US" dirty="0"/>
              <a:t>).</a:t>
            </a:r>
          </a:p>
          <a:p>
            <a:pPr lvl="1"/>
            <a:r>
              <a:rPr lang="en-US" dirty="0"/>
              <a:t>Slower than SRAM but much denser; used for main memory (DRAM DIMMs).</a:t>
            </a:r>
          </a:p>
          <a:p>
            <a:r>
              <a:rPr lang="en-US" dirty="0"/>
              <a:t>Non‑volatile solid-state memories</a:t>
            </a:r>
          </a:p>
          <a:p>
            <a:r>
              <a:rPr lang="en-US" dirty="0"/>
              <a:t>ROM (Read-Only Memory) </a:t>
            </a:r>
          </a:p>
          <a:p>
            <a:pPr lvl="1"/>
            <a:r>
              <a:rPr lang="en-US" dirty="0"/>
              <a:t>Permanently stores data/instructions (e.g., boot code); non‑volatile.</a:t>
            </a:r>
          </a:p>
          <a:p>
            <a:r>
              <a:rPr lang="en-US" dirty="0"/>
              <a:t>EPROM (Erasable PROM) </a:t>
            </a:r>
          </a:p>
          <a:p>
            <a:pPr lvl="1"/>
            <a:r>
              <a:rPr lang="en-US" dirty="0"/>
              <a:t>Programmed once (or erased by UV exposure) off‑chip; cell smaller than SRAM.</a:t>
            </a:r>
          </a:p>
          <a:p>
            <a:r>
              <a:rPr lang="en-US" dirty="0"/>
              <a:t>EEPROM (Electrically Erasable PROM) </a:t>
            </a:r>
          </a:p>
          <a:p>
            <a:pPr lvl="1"/>
            <a:r>
              <a:rPr lang="en-US" dirty="0"/>
              <a:t>Can be erased/programmed on‑chip electrically (byte- or block-level); cell smaller than SRAM.</a:t>
            </a:r>
          </a:p>
          <a:p>
            <a:r>
              <a:rPr lang="en-US" dirty="0"/>
              <a:t>Flash (type of EEPROM) </a:t>
            </a:r>
          </a:p>
          <a:p>
            <a:pPr lvl="1"/>
            <a:r>
              <a:rPr lang="en-US" dirty="0"/>
              <a:t>Block-erasable, widely used for SSDs, USB drives — non‑volatile, retains data without power.</a:t>
            </a:r>
          </a:p>
          <a:p>
            <a:r>
              <a:rPr lang="en-US" dirty="0"/>
              <a:t>Magnetic disk storage</a:t>
            </a:r>
          </a:p>
          <a:p>
            <a:r>
              <a:rPr lang="en-US" dirty="0"/>
              <a:t>Physical layout </a:t>
            </a:r>
          </a:p>
          <a:p>
            <a:pPr lvl="1"/>
            <a:r>
              <a:rPr lang="en-US" dirty="0"/>
              <a:t>Circular platters coated with magnetic material; often multiple platters on a spindle; both surfaces can be used.</a:t>
            </a:r>
          </a:p>
          <a:p>
            <a:pPr lvl="1"/>
            <a:r>
              <a:rPr lang="en-US" dirty="0"/>
              <a:t>Data stored on concentric tracks; tracks subdivided into sectors (minimum transfer unit).</a:t>
            </a:r>
          </a:p>
          <a:p>
            <a:pPr lvl="1"/>
            <a:r>
              <a:rPr lang="en-US" dirty="0"/>
              <a:t>Read/write heads move radially to select a track; platters rotate to bring the sector under the head.</a:t>
            </a:r>
          </a:p>
          <a:p>
            <a:r>
              <a:rPr lang="en-US" dirty="0"/>
              <a:t>Access characteristics </a:t>
            </a:r>
          </a:p>
          <a:p>
            <a:pPr lvl="1"/>
            <a:r>
              <a:rPr lang="en-US" dirty="0"/>
              <a:t>Seek time: time to move heads to the desired track.</a:t>
            </a:r>
          </a:p>
          <a:p>
            <a:pPr lvl="1"/>
            <a:r>
              <a:rPr lang="en-US" dirty="0"/>
              <a:t>Rotational latency: wait for sector to rotate under head.</a:t>
            </a:r>
          </a:p>
          <a:p>
            <a:pPr lvl="1"/>
            <a:r>
              <a:rPr lang="en-US" dirty="0"/>
              <a:t>Transfer rate: once head is over sector, data transfer is fast.</a:t>
            </a:r>
          </a:p>
          <a:p>
            <a:pPr lvl="1"/>
            <a:r>
              <a:rPr lang="en-US" dirty="0"/>
              <a:t>Many disks use zoned bit recording (higher linear density near outer tracks) or vary recording density to equalize bytes per sector.</a:t>
            </a:r>
          </a:p>
          <a:p>
            <a:r>
              <a:rPr lang="en-US" dirty="0"/>
              <a:t>Addressing </a:t>
            </a:r>
          </a:p>
          <a:p>
            <a:pPr lvl="1"/>
            <a:r>
              <a:rPr lang="en-US" dirty="0"/>
              <a:t>Addresses specify disk, surface, track (cylinder), and sector.</a:t>
            </a:r>
          </a:p>
          <a:p>
            <a:r>
              <a:rPr lang="en-US" dirty="0"/>
              <a:t>Parallelism </a:t>
            </a:r>
          </a:p>
          <a:p>
            <a:pPr lvl="1"/>
            <a:r>
              <a:rPr lang="en-US" dirty="0"/>
              <a:t>Multiple heads or multiple platters can be used for concurrent transfers (e.g., RAID, multi-head read).</a:t>
            </a:r>
          </a:p>
          <a:p>
            <a:r>
              <a:rPr lang="en-US" dirty="0"/>
              <a:t>Magnetic tape</a:t>
            </a:r>
          </a:p>
          <a:p>
            <a:r>
              <a:rPr lang="en-US" dirty="0"/>
              <a:t>Characteristics </a:t>
            </a:r>
          </a:p>
          <a:p>
            <a:pPr lvl="1"/>
            <a:r>
              <a:rPr lang="en-US" dirty="0"/>
              <a:t>Sequential-access medium (read/write only sequentially).</a:t>
            </a:r>
          </a:p>
          <a:p>
            <a:pPr lvl="1"/>
            <a:r>
              <a:rPr lang="en-US" dirty="0"/>
              <a:t>Very high capacity, low cost per bit, long archival life.</a:t>
            </a:r>
          </a:p>
          <a:p>
            <a:pPr lvl="1"/>
            <a:r>
              <a:rPr lang="en-US" dirty="0"/>
              <a:t>Access is slow (seek/rewind can be seconds to minutes); no efficient random access.</a:t>
            </a:r>
          </a:p>
          <a:p>
            <a:pPr lvl="1"/>
            <a:r>
              <a:rPr lang="en-US" dirty="0"/>
              <a:t>Commonly used for backups and long‑term archiving.</a:t>
            </a:r>
          </a:p>
          <a:p>
            <a:r>
              <a:rPr lang="en-US" dirty="0"/>
              <a:t>Comparative summary (common tradeoffs)</a:t>
            </a:r>
          </a:p>
          <a:p>
            <a:r>
              <a:rPr lang="en-US" dirty="0"/>
              <a:t>Volatility </a:t>
            </a:r>
          </a:p>
          <a:p>
            <a:pPr lvl="1"/>
            <a:r>
              <a:rPr lang="en-US" dirty="0"/>
              <a:t>SRAM/DRAM: volatile (lose data when power off).</a:t>
            </a:r>
          </a:p>
          <a:p>
            <a:pPr lvl="1"/>
            <a:r>
              <a:rPr lang="en-US" dirty="0"/>
              <a:t>ROM/EPROM/EEPROM/Flash/Disk/Tape: non‑volatile.</a:t>
            </a:r>
          </a:p>
          <a:p>
            <a:r>
              <a:rPr lang="en-US" dirty="0"/>
              <a:t>Speed (fastest → slowest) </a:t>
            </a:r>
          </a:p>
          <a:p>
            <a:pPr lvl="1"/>
            <a:r>
              <a:rPr lang="en-US" dirty="0"/>
              <a:t>SRAM (cache) &gt; DRAM (main memory) &gt; Disk (secondary) &gt; Tape.</a:t>
            </a:r>
          </a:p>
          <a:p>
            <a:r>
              <a:rPr lang="en-US" dirty="0"/>
              <a:t>Density / cost per bit (cheapest → most expensive) </a:t>
            </a:r>
          </a:p>
          <a:p>
            <a:pPr lvl="1"/>
            <a:r>
              <a:rPr lang="en-US" dirty="0"/>
              <a:t>Tape/Disk/Flash &gt; DRAM &gt; SRAM.</a:t>
            </a:r>
          </a:p>
          <a:p>
            <a:r>
              <a:rPr lang="en-US" dirty="0"/>
              <a:t>Access pattern </a:t>
            </a:r>
          </a:p>
          <a:p>
            <a:pPr lvl="1"/>
            <a:r>
              <a:rPr lang="en-US" dirty="0"/>
              <a:t>RAM and disk: random access (DRAM random within memory, disk random but with mechanical latency).</a:t>
            </a:r>
          </a:p>
          <a:p>
            <a:pPr lvl="1"/>
            <a:r>
              <a:rPr lang="en-US" dirty="0"/>
              <a:t>Tape: sequential access only.</a:t>
            </a:r>
          </a:p>
          <a:p>
            <a:r>
              <a:rPr lang="en-US" dirty="0"/>
              <a:t>Refresh / maintenance </a:t>
            </a:r>
          </a:p>
          <a:p>
            <a:pPr lvl="1"/>
            <a:r>
              <a:rPr lang="en-US" dirty="0"/>
              <a:t>DRAM: requires periodic refresh.</a:t>
            </a:r>
          </a:p>
          <a:p>
            <a:pPr lvl="1"/>
            <a:r>
              <a:rPr lang="en-US" dirty="0"/>
              <a:t>SRAM: no refresh but consumes static power while powered.</a:t>
            </a:r>
          </a:p>
          <a:p>
            <a:pPr lvl="1"/>
            <a:r>
              <a:rPr lang="en-US" dirty="0"/>
              <a:t>Non‑volatile: no refresh required.</a:t>
            </a:r>
          </a:p>
          <a:p>
            <a:r>
              <a:rPr lang="en-US" dirty="0"/>
              <a:t>Practical implications</a:t>
            </a:r>
          </a:p>
          <a:p>
            <a:r>
              <a:rPr lang="en-US" dirty="0"/>
              <a:t>Caches use SRAM because of speed despite cost and area.</a:t>
            </a:r>
          </a:p>
          <a:p>
            <a:r>
              <a:rPr lang="en-US" dirty="0"/>
              <a:t>Main memory uses DRAM for a balance of speed and density.</a:t>
            </a:r>
          </a:p>
          <a:p>
            <a:r>
              <a:rPr lang="en-US" dirty="0"/>
              <a:t>Long-term storage and archival use magnetic disks or tape depending on performance needs and cost considerations.</a:t>
            </a:r>
          </a:p>
          <a:p>
            <a:r>
              <a:rPr lang="en-US" dirty="0"/>
              <a:t>Nonvolatile flash/EEPROM technologies are used where durability and no‑power retention are required with solid‑state access (SSDs, embedded storage).</a:t>
            </a:r>
          </a:p>
          <a:p>
            <a:r>
              <a:rPr lang="en-US" dirty="0"/>
              <a:t>If you want, I can:</a:t>
            </a:r>
          </a:p>
          <a:p>
            <a:r>
              <a:rPr lang="en-US" dirty="0"/>
              <a:t>Draw a labeled diagram of a 6‑T SRAM cell and a 1T‑1C DRAM cell showing read/write paths and bit/word lines.</a:t>
            </a:r>
          </a:p>
          <a:p>
            <a:r>
              <a:rPr lang="en-US" dirty="0"/>
              <a:t>Produce a comparative table summarizing latency, density, cost, volatility, and typical uses.</a:t>
            </a:r>
          </a:p>
          <a:p>
            <a:r>
              <a:rPr lang="en-US" dirty="0"/>
              <a:t>Explain DRAM refresh operation in detail (RAS/CAS, row‑buffer, refresh scheduling) or describe sense‑amplifier operation for DRAM reads. Which would you like?</a:t>
            </a:r>
          </a:p>
          <a:p>
            <a:endParaRPr lang="en-US" dirty="0"/>
          </a:p>
        </p:txBody>
      </p:sp>
      <p:sp>
        <p:nvSpPr>
          <p:cNvPr id="4" name="Slide Number Placeholder 3"/>
          <p:cNvSpPr>
            <a:spLocks noGrp="1"/>
          </p:cNvSpPr>
          <p:nvPr>
            <p:ph type="sldNum" sz="quarter" idx="5"/>
          </p:nvPr>
        </p:nvSpPr>
        <p:spPr/>
        <p:txBody>
          <a:bodyPr/>
          <a:lstStyle/>
          <a:p>
            <a:fld id="{567289A1-BA6F-41AA-AAEA-211626E74D00}" type="slidenum">
              <a:rPr lang="en-US" smtClean="0"/>
              <a:t>13</a:t>
            </a:fld>
            <a:endParaRPr lang="en-US"/>
          </a:p>
        </p:txBody>
      </p:sp>
    </p:spTree>
    <p:extLst>
      <p:ext uri="{BB962C8B-B14F-4D97-AF65-F5344CB8AC3E}">
        <p14:creationId xmlns:p14="http://schemas.microsoft.com/office/powerpoint/2010/main" val="3379837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2834640"/>
            <a:ext cx="5829300" cy="1920240"/>
          </a:xfrm>
          <a:prstGeom prst="rect">
            <a:avLst/>
          </a:prstGeom>
        </p:spPr>
        <p:txBody>
          <a:bodyPr wrap="square" lIns="0" tIns="0" rIns="0" bIns="0">
            <a:spAutoFit/>
          </a:bodyPr>
          <a:lstStyle>
            <a:lvl1pPr>
              <a:defRPr sz="2200" b="0" i="0">
                <a:solidFill>
                  <a:schemeClr val="tx1"/>
                </a:solidFill>
                <a:latin typeface="Georgia"/>
                <a:cs typeface="Georgia"/>
              </a:defRPr>
            </a:lvl1pPr>
          </a:lstStyle>
          <a:p>
            <a:endParaRPr/>
          </a:p>
        </p:txBody>
      </p:sp>
      <p:sp>
        <p:nvSpPr>
          <p:cNvPr id="3" name="Holder 3"/>
          <p:cNvSpPr>
            <a:spLocks noGrp="1"/>
          </p:cNvSpPr>
          <p:nvPr>
            <p:ph type="subTitle" idx="4"/>
          </p:nvPr>
        </p:nvSpPr>
        <p:spPr>
          <a:xfrm>
            <a:off x="1028700" y="5120640"/>
            <a:ext cx="4800600" cy="22860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3/29/2026</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81000" y="868680"/>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200" b="0" i="0">
                <a:solidFill>
                  <a:schemeClr val="tx1"/>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3/29/2026</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0" i="0">
                <a:solidFill>
                  <a:schemeClr val="tx1"/>
                </a:solidFill>
                <a:latin typeface="Georgia"/>
                <a:cs typeface="Georgia"/>
              </a:defRPr>
            </a:lvl1pPr>
          </a:lstStyle>
          <a:p>
            <a:endParaRPr/>
          </a:p>
        </p:txBody>
      </p:sp>
      <p:sp>
        <p:nvSpPr>
          <p:cNvPr id="3" name="Holder 3"/>
          <p:cNvSpPr>
            <a:spLocks noGrp="1"/>
          </p:cNvSpPr>
          <p:nvPr>
            <p:ph sz="half" idx="2"/>
          </p:nvPr>
        </p:nvSpPr>
        <p:spPr>
          <a:xfrm>
            <a:off x="342900" y="2103120"/>
            <a:ext cx="298323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103120"/>
            <a:ext cx="2983230" cy="603504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3/29/2026</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0" i="0">
                <a:solidFill>
                  <a:schemeClr val="tx1"/>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3/29/2026</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3/29/2026</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81000" y="868680"/>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17" name="bg object 17"/>
          <p:cNvSpPr/>
          <p:nvPr/>
        </p:nvSpPr>
        <p:spPr>
          <a:xfrm>
            <a:off x="496823" y="990600"/>
            <a:ext cx="5862955" cy="3188335"/>
          </a:xfrm>
          <a:custGeom>
            <a:avLst/>
            <a:gdLst/>
            <a:ahLst/>
            <a:cxnLst/>
            <a:rect l="l" t="t" r="r" b="b"/>
            <a:pathLst>
              <a:path w="5862955" h="3188335">
                <a:moveTo>
                  <a:pt x="5862828" y="0"/>
                </a:moveTo>
                <a:lnTo>
                  <a:pt x="0" y="0"/>
                </a:lnTo>
                <a:lnTo>
                  <a:pt x="0" y="3188208"/>
                </a:lnTo>
                <a:lnTo>
                  <a:pt x="5862828" y="3188208"/>
                </a:lnTo>
                <a:lnTo>
                  <a:pt x="5862828" y="0"/>
                </a:lnTo>
                <a:close/>
              </a:path>
            </a:pathLst>
          </a:custGeom>
          <a:solidFill>
            <a:srgbClr val="FFFFFF"/>
          </a:solidFill>
        </p:spPr>
        <p:txBody>
          <a:bodyPr wrap="square" lIns="0" tIns="0" rIns="0" bIns="0" rtlCol="0"/>
          <a:lstStyle/>
          <a:p>
            <a:endParaRPr/>
          </a:p>
        </p:txBody>
      </p:sp>
      <p:sp>
        <p:nvSpPr>
          <p:cNvPr id="18" name="bg object 18"/>
          <p:cNvSpPr/>
          <p:nvPr/>
        </p:nvSpPr>
        <p:spPr>
          <a:xfrm>
            <a:off x="662177" y="1538478"/>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sp>
        <p:nvSpPr>
          <p:cNvPr id="2" name="Holder 2"/>
          <p:cNvSpPr>
            <a:spLocks noGrp="1"/>
          </p:cNvSpPr>
          <p:nvPr>
            <p:ph type="title"/>
          </p:nvPr>
        </p:nvSpPr>
        <p:spPr>
          <a:xfrm>
            <a:off x="712723" y="1092835"/>
            <a:ext cx="2554604" cy="360680"/>
          </a:xfrm>
          <a:prstGeom prst="rect">
            <a:avLst/>
          </a:prstGeom>
        </p:spPr>
        <p:txBody>
          <a:bodyPr wrap="square" lIns="0" tIns="0" rIns="0" bIns="0">
            <a:spAutoFit/>
          </a:bodyPr>
          <a:lstStyle>
            <a:lvl1pPr>
              <a:defRPr sz="2200" b="0" i="0">
                <a:solidFill>
                  <a:schemeClr val="tx1"/>
                </a:solidFill>
                <a:latin typeface="Georgia"/>
                <a:cs typeface="Georgia"/>
              </a:defRPr>
            </a:lvl1pPr>
          </a:lstStyle>
          <a:p>
            <a:endParaRPr/>
          </a:p>
        </p:txBody>
      </p:sp>
      <p:sp>
        <p:nvSpPr>
          <p:cNvPr id="3" name="Holder 3"/>
          <p:cNvSpPr>
            <a:spLocks noGrp="1"/>
          </p:cNvSpPr>
          <p:nvPr>
            <p:ph type="body" idx="1"/>
          </p:nvPr>
        </p:nvSpPr>
        <p:spPr>
          <a:xfrm>
            <a:off x="342900" y="2103120"/>
            <a:ext cx="617220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331720" y="8503920"/>
            <a:ext cx="2194560" cy="4572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42900" y="8503920"/>
            <a:ext cx="1577340" cy="4572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3/29/2026</a:t>
            </a:fld>
            <a:endParaRPr lang="en-US"/>
          </a:p>
        </p:txBody>
      </p:sp>
      <p:sp>
        <p:nvSpPr>
          <p:cNvPr id="6" name="Holder 6"/>
          <p:cNvSpPr>
            <a:spLocks noGrp="1"/>
          </p:cNvSpPr>
          <p:nvPr>
            <p:ph type="sldNum" sz="quarter" idx="7"/>
          </p:nvPr>
        </p:nvSpPr>
        <p:spPr>
          <a:xfrm>
            <a:off x="6596633" y="8933180"/>
            <a:ext cx="219075" cy="177800"/>
          </a:xfrm>
          <a:prstGeom prst="rect">
            <a:avLst/>
          </a:prstGeom>
        </p:spPr>
        <p:txBody>
          <a:bodyPr wrap="square" lIns="0" tIns="0" rIns="0" bIns="0">
            <a:spAutoFit/>
          </a:bodyPr>
          <a:lstStyle>
            <a:lvl1pPr>
              <a:defRPr sz="1200" b="0" i="0">
                <a:solidFill>
                  <a:schemeClr val="tx1"/>
                </a:solidFill>
                <a:latin typeface="Calibri"/>
                <a:cs typeface="Calibri"/>
              </a:defRPr>
            </a:lvl1pPr>
          </a:lstStyle>
          <a:p>
            <a:pPr marL="12700">
              <a:lnSpc>
                <a:spcPts val="124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5.jpg"/><Relationship Id="rId4"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20.jp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g"/><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81000" y="868680"/>
            <a:ext cx="6096000" cy="3429000"/>
            <a:chOff x="381000" y="868680"/>
            <a:chExt cx="6096000" cy="3429000"/>
          </a:xfrm>
        </p:grpSpPr>
        <p:sp>
          <p:nvSpPr>
            <p:cNvPr id="3" name="object 3"/>
            <p:cNvSpPr/>
            <p:nvPr/>
          </p:nvSpPr>
          <p:spPr>
            <a:xfrm>
              <a:off x="381000" y="868680"/>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4" name="object 4"/>
            <p:cNvSpPr/>
            <p:nvPr/>
          </p:nvSpPr>
          <p:spPr>
            <a:xfrm>
              <a:off x="1370838" y="2736341"/>
              <a:ext cx="4114800" cy="0"/>
            </a:xfrm>
            <a:custGeom>
              <a:avLst/>
              <a:gdLst/>
              <a:ahLst/>
              <a:cxnLst/>
              <a:rect l="l" t="t" r="r" b="b"/>
              <a:pathLst>
                <a:path w="4114800">
                  <a:moveTo>
                    <a:pt x="0" y="0"/>
                  </a:moveTo>
                  <a:lnTo>
                    <a:pt x="4114800" y="0"/>
                  </a:lnTo>
                </a:path>
              </a:pathLst>
            </a:custGeom>
            <a:ln w="4572">
              <a:solidFill>
                <a:srgbClr val="FFFFFF"/>
              </a:solidFill>
            </a:ln>
          </p:spPr>
          <p:txBody>
            <a:bodyPr wrap="square" lIns="0" tIns="0" rIns="0" bIns="0" rtlCol="0"/>
            <a:lstStyle/>
            <a:p>
              <a:endParaRPr/>
            </a:p>
          </p:txBody>
        </p:sp>
      </p:grpSp>
      <p:sp>
        <p:nvSpPr>
          <p:cNvPr id="5" name="object 5"/>
          <p:cNvSpPr txBox="1"/>
          <p:nvPr/>
        </p:nvSpPr>
        <p:spPr>
          <a:xfrm>
            <a:off x="496823" y="990600"/>
            <a:ext cx="5862955" cy="2798202"/>
          </a:xfrm>
          <a:prstGeom prst="rect">
            <a:avLst/>
          </a:prstGeom>
          <a:ln w="6096">
            <a:solidFill>
              <a:srgbClr val="FFFFFF"/>
            </a:solidFill>
          </a:ln>
        </p:spPr>
        <p:txBody>
          <a:bodyPr vert="horz" wrap="square" lIns="0" tIns="0" rIns="0" bIns="0" rtlCol="0">
            <a:spAutoFit/>
          </a:bodyPr>
          <a:lstStyle/>
          <a:p>
            <a:pPr>
              <a:lnSpc>
                <a:spcPct val="100000"/>
              </a:lnSpc>
            </a:pPr>
            <a:endParaRPr sz="3600" dirty="0">
              <a:latin typeface="Times New Roman"/>
              <a:cs typeface="Times New Roman"/>
            </a:endParaRPr>
          </a:p>
          <a:p>
            <a:pPr>
              <a:lnSpc>
                <a:spcPct val="100000"/>
              </a:lnSpc>
              <a:spcBef>
                <a:spcPts val="1065"/>
              </a:spcBef>
            </a:pPr>
            <a:endParaRPr sz="3600" dirty="0">
              <a:latin typeface="Times New Roman"/>
              <a:cs typeface="Times New Roman"/>
            </a:endParaRPr>
          </a:p>
          <a:p>
            <a:pPr algn="ctr">
              <a:lnSpc>
                <a:spcPct val="100000"/>
              </a:lnSpc>
            </a:pPr>
            <a:r>
              <a:rPr sz="3600" b="1" spc="-40" dirty="0">
                <a:solidFill>
                  <a:srgbClr val="FFFFFF"/>
                </a:solidFill>
                <a:latin typeface="Times New Roman"/>
                <a:cs typeface="Times New Roman"/>
              </a:rPr>
              <a:t>Computer</a:t>
            </a:r>
            <a:r>
              <a:rPr sz="3600" b="1" spc="-155" dirty="0">
                <a:solidFill>
                  <a:srgbClr val="FFFFFF"/>
                </a:solidFill>
                <a:latin typeface="Times New Roman"/>
                <a:cs typeface="Times New Roman"/>
              </a:rPr>
              <a:t> </a:t>
            </a:r>
            <a:r>
              <a:rPr sz="3600" b="1" spc="-10" dirty="0">
                <a:solidFill>
                  <a:srgbClr val="FFFFFF"/>
                </a:solidFill>
                <a:latin typeface="Times New Roman"/>
                <a:cs typeface="Times New Roman"/>
              </a:rPr>
              <a:t>Architecture</a:t>
            </a:r>
            <a:endParaRPr sz="3600" dirty="0">
              <a:latin typeface="Times New Roman"/>
              <a:cs typeface="Times New Roman"/>
            </a:endParaRPr>
          </a:p>
          <a:p>
            <a:pPr>
              <a:lnSpc>
                <a:spcPct val="100000"/>
              </a:lnSpc>
              <a:spcBef>
                <a:spcPts val="590"/>
              </a:spcBef>
            </a:pPr>
            <a:endParaRPr sz="1600" dirty="0">
              <a:latin typeface="Corbel"/>
              <a:cs typeface="Corbel"/>
            </a:endParaRPr>
          </a:p>
          <a:p>
            <a:pPr marL="142875">
              <a:lnSpc>
                <a:spcPct val="100000"/>
              </a:lnSpc>
              <a:spcBef>
                <a:spcPts val="5"/>
              </a:spcBef>
            </a:pPr>
            <a:r>
              <a:rPr sz="1400" u="sng" spc="-10" dirty="0">
                <a:uFill>
                  <a:solidFill>
                    <a:srgbClr val="000000"/>
                  </a:solidFill>
                </a:uFill>
                <a:latin typeface="Times New Roman"/>
                <a:cs typeface="Times New Roman"/>
              </a:rPr>
              <a:t>Reference:</a:t>
            </a:r>
            <a:endParaRPr sz="1400" dirty="0">
              <a:latin typeface="Times New Roman"/>
              <a:cs typeface="Times New Roman"/>
            </a:endParaRPr>
          </a:p>
          <a:p>
            <a:pPr marL="703580" indent="-102870">
              <a:lnSpc>
                <a:spcPct val="100000"/>
              </a:lnSpc>
              <a:buChar char="-"/>
              <a:tabLst>
                <a:tab pos="703580" algn="l"/>
              </a:tabLst>
            </a:pPr>
            <a:r>
              <a:rPr sz="1400" dirty="0">
                <a:latin typeface="Times New Roman"/>
                <a:cs typeface="Times New Roman"/>
              </a:rPr>
              <a:t>Mano,</a:t>
            </a:r>
            <a:r>
              <a:rPr sz="1400" spc="-60" dirty="0">
                <a:latin typeface="Times New Roman"/>
                <a:cs typeface="Times New Roman"/>
              </a:rPr>
              <a:t> </a:t>
            </a:r>
            <a:r>
              <a:rPr sz="1400" dirty="0">
                <a:latin typeface="Times New Roman"/>
                <a:cs typeface="Times New Roman"/>
              </a:rPr>
              <a:t>“Computer</a:t>
            </a:r>
            <a:r>
              <a:rPr sz="1400" spc="-15" dirty="0">
                <a:latin typeface="Times New Roman"/>
                <a:cs typeface="Times New Roman"/>
              </a:rPr>
              <a:t> </a:t>
            </a:r>
            <a:r>
              <a:rPr sz="1400" spc="-10" dirty="0">
                <a:latin typeface="Times New Roman"/>
                <a:cs typeface="Times New Roman"/>
              </a:rPr>
              <a:t>System</a:t>
            </a:r>
            <a:r>
              <a:rPr sz="1400" spc="-90" dirty="0">
                <a:latin typeface="Times New Roman"/>
                <a:cs typeface="Times New Roman"/>
              </a:rPr>
              <a:t> </a:t>
            </a:r>
            <a:r>
              <a:rPr sz="1400" dirty="0">
                <a:latin typeface="Times New Roman"/>
                <a:cs typeface="Times New Roman"/>
              </a:rPr>
              <a:t>Architecture”,</a:t>
            </a:r>
            <a:r>
              <a:rPr sz="1400" spc="-60" dirty="0">
                <a:latin typeface="Times New Roman"/>
                <a:cs typeface="Times New Roman"/>
              </a:rPr>
              <a:t> </a:t>
            </a:r>
            <a:r>
              <a:rPr sz="1400" dirty="0">
                <a:latin typeface="Times New Roman"/>
                <a:cs typeface="Times New Roman"/>
              </a:rPr>
              <a:t>Chapter</a:t>
            </a:r>
            <a:r>
              <a:rPr sz="1400" spc="-50" dirty="0">
                <a:latin typeface="Times New Roman"/>
                <a:cs typeface="Times New Roman"/>
              </a:rPr>
              <a:t> </a:t>
            </a:r>
            <a:r>
              <a:rPr sz="1400" spc="-25" dirty="0">
                <a:latin typeface="Times New Roman"/>
                <a:cs typeface="Times New Roman"/>
              </a:rPr>
              <a:t>12</a:t>
            </a:r>
            <a:endParaRPr sz="1400" dirty="0">
              <a:latin typeface="Times New Roman"/>
              <a:cs typeface="Times New Roman"/>
            </a:endParaRPr>
          </a:p>
          <a:p>
            <a:pPr marL="703580" indent="-102870">
              <a:lnSpc>
                <a:spcPct val="100000"/>
              </a:lnSpc>
              <a:spcBef>
                <a:spcPts val="190"/>
              </a:spcBef>
              <a:buChar char="-"/>
              <a:tabLst>
                <a:tab pos="703580" algn="l"/>
              </a:tabLst>
            </a:pPr>
            <a:r>
              <a:rPr sz="1400" dirty="0">
                <a:latin typeface="Times New Roman"/>
                <a:cs typeface="Times New Roman"/>
              </a:rPr>
              <a:t>Mano,</a:t>
            </a:r>
            <a:r>
              <a:rPr sz="1400" spc="-55" dirty="0">
                <a:latin typeface="Times New Roman"/>
                <a:cs typeface="Times New Roman"/>
              </a:rPr>
              <a:t> </a:t>
            </a:r>
            <a:r>
              <a:rPr sz="1400" dirty="0">
                <a:latin typeface="Times New Roman"/>
                <a:cs typeface="Times New Roman"/>
              </a:rPr>
              <a:t>“Mano</a:t>
            </a:r>
            <a:r>
              <a:rPr sz="1400" spc="-15" dirty="0">
                <a:latin typeface="Times New Roman"/>
                <a:cs typeface="Times New Roman"/>
              </a:rPr>
              <a:t> </a:t>
            </a:r>
            <a:r>
              <a:rPr sz="1400" dirty="0">
                <a:latin typeface="Times New Roman"/>
                <a:cs typeface="Times New Roman"/>
              </a:rPr>
              <a:t>Logic</a:t>
            </a:r>
            <a:r>
              <a:rPr sz="1400" spc="-50" dirty="0">
                <a:latin typeface="Times New Roman"/>
                <a:cs typeface="Times New Roman"/>
              </a:rPr>
              <a:t> </a:t>
            </a:r>
            <a:r>
              <a:rPr sz="1400" dirty="0">
                <a:latin typeface="Times New Roman"/>
                <a:cs typeface="Times New Roman"/>
              </a:rPr>
              <a:t>and</a:t>
            </a:r>
            <a:r>
              <a:rPr sz="1400" spc="-45" dirty="0">
                <a:latin typeface="Times New Roman"/>
                <a:cs typeface="Times New Roman"/>
              </a:rPr>
              <a:t> </a:t>
            </a:r>
            <a:r>
              <a:rPr sz="1400" dirty="0">
                <a:latin typeface="Times New Roman"/>
                <a:cs typeface="Times New Roman"/>
              </a:rPr>
              <a:t>Computer</a:t>
            </a:r>
            <a:r>
              <a:rPr sz="1400" spc="-40" dirty="0">
                <a:latin typeface="Times New Roman"/>
                <a:cs typeface="Times New Roman"/>
              </a:rPr>
              <a:t> </a:t>
            </a:r>
            <a:r>
              <a:rPr sz="1400" dirty="0">
                <a:latin typeface="Times New Roman"/>
                <a:cs typeface="Times New Roman"/>
              </a:rPr>
              <a:t>Design</a:t>
            </a:r>
            <a:r>
              <a:rPr sz="1400" spc="-55" dirty="0">
                <a:latin typeface="Times New Roman"/>
                <a:cs typeface="Times New Roman"/>
              </a:rPr>
              <a:t> </a:t>
            </a:r>
            <a:r>
              <a:rPr sz="1400" spc="-10" dirty="0">
                <a:latin typeface="Times New Roman"/>
                <a:cs typeface="Times New Roman"/>
              </a:rPr>
              <a:t>Fundamentals”</a:t>
            </a:r>
            <a:endParaRPr sz="1400" dirty="0">
              <a:latin typeface="Times New Roman"/>
              <a:cs typeface="Times New Roman"/>
            </a:endParaRPr>
          </a:p>
        </p:txBody>
      </p:sp>
      <p:grpSp>
        <p:nvGrpSpPr>
          <p:cNvPr id="6" name="object 6"/>
          <p:cNvGrpSpPr/>
          <p:nvPr/>
        </p:nvGrpSpPr>
        <p:grpSpPr>
          <a:xfrm>
            <a:off x="381000" y="4844796"/>
            <a:ext cx="6096000" cy="3429000"/>
            <a:chOff x="381000" y="4844796"/>
            <a:chExt cx="6096000" cy="3429000"/>
          </a:xfrm>
        </p:grpSpPr>
        <p:sp>
          <p:nvSpPr>
            <p:cNvPr id="7" name="object 7"/>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8" name="object 8"/>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grpSp>
      <p:sp>
        <p:nvSpPr>
          <p:cNvPr id="9" name="object 9"/>
          <p:cNvSpPr txBox="1"/>
          <p:nvPr/>
        </p:nvSpPr>
        <p:spPr>
          <a:xfrm>
            <a:off x="609600" y="5065776"/>
            <a:ext cx="5486400" cy="502920"/>
          </a:xfrm>
          <a:prstGeom prst="rect">
            <a:avLst/>
          </a:prstGeom>
          <a:solidFill>
            <a:srgbClr val="539E39"/>
          </a:solidFill>
          <a:ln w="9144">
            <a:solidFill>
              <a:srgbClr val="3A7327"/>
            </a:solidFill>
          </a:ln>
        </p:spPr>
        <p:txBody>
          <a:bodyPr vert="horz" wrap="square" lIns="0" tIns="86995" rIns="0" bIns="0" rtlCol="0">
            <a:spAutoFit/>
          </a:bodyPr>
          <a:lstStyle/>
          <a:p>
            <a:pPr marL="115570">
              <a:lnSpc>
                <a:spcPct val="100000"/>
              </a:lnSpc>
              <a:spcBef>
                <a:spcPts val="685"/>
              </a:spcBef>
            </a:pPr>
            <a:r>
              <a:rPr sz="2000" b="1" dirty="0">
                <a:solidFill>
                  <a:srgbClr val="FFFFFF"/>
                </a:solidFill>
                <a:latin typeface="Georgia"/>
                <a:cs typeface="Georgia"/>
              </a:rPr>
              <a:t>Computer</a:t>
            </a:r>
            <a:r>
              <a:rPr sz="2000" b="1" spc="-40" dirty="0">
                <a:solidFill>
                  <a:srgbClr val="FFFFFF"/>
                </a:solidFill>
                <a:latin typeface="Georgia"/>
                <a:cs typeface="Georgia"/>
              </a:rPr>
              <a:t> </a:t>
            </a:r>
            <a:r>
              <a:rPr sz="2000" b="1" dirty="0">
                <a:solidFill>
                  <a:srgbClr val="FFFFFF"/>
                </a:solidFill>
                <a:latin typeface="Georgia"/>
                <a:cs typeface="Georgia"/>
              </a:rPr>
              <a:t>Architecture</a:t>
            </a:r>
            <a:r>
              <a:rPr sz="2000" b="1" spc="-40" dirty="0">
                <a:solidFill>
                  <a:srgbClr val="FFFFFF"/>
                </a:solidFill>
                <a:latin typeface="Georgia"/>
                <a:cs typeface="Georgia"/>
              </a:rPr>
              <a:t> </a:t>
            </a:r>
            <a:r>
              <a:rPr sz="2000" b="1" dirty="0">
                <a:solidFill>
                  <a:srgbClr val="FFFFFF"/>
                </a:solidFill>
                <a:latin typeface="Georgia"/>
                <a:cs typeface="Georgia"/>
              </a:rPr>
              <a:t>Module</a:t>
            </a:r>
            <a:r>
              <a:rPr sz="2000" b="1" spc="-15" dirty="0">
                <a:solidFill>
                  <a:srgbClr val="FFFFFF"/>
                </a:solidFill>
                <a:latin typeface="Georgia"/>
                <a:cs typeface="Georgia"/>
              </a:rPr>
              <a:t> </a:t>
            </a:r>
            <a:r>
              <a:rPr sz="2000" b="1" spc="-10" dirty="0">
                <a:solidFill>
                  <a:srgbClr val="FFFFFF"/>
                </a:solidFill>
                <a:latin typeface="Georgia"/>
                <a:cs typeface="Georgia"/>
              </a:rPr>
              <a:t>Content</a:t>
            </a:r>
            <a:endParaRPr sz="2000">
              <a:latin typeface="Georgia"/>
              <a:cs typeface="Georgia"/>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a:t>
            </a:fld>
            <a:endParaRPr spc="-25" dirty="0"/>
          </a:p>
        </p:txBody>
      </p:sp>
      <p:sp>
        <p:nvSpPr>
          <p:cNvPr id="10" name="object 10"/>
          <p:cNvSpPr txBox="1"/>
          <p:nvPr/>
        </p:nvSpPr>
        <p:spPr>
          <a:xfrm>
            <a:off x="759561" y="5650484"/>
            <a:ext cx="5379085" cy="2430780"/>
          </a:xfrm>
          <a:prstGeom prst="rect">
            <a:avLst/>
          </a:prstGeom>
        </p:spPr>
        <p:txBody>
          <a:bodyPr vert="horz" wrap="square" lIns="0" tIns="24765" rIns="0" bIns="0" rtlCol="0">
            <a:spAutoFit/>
          </a:bodyPr>
          <a:lstStyle/>
          <a:p>
            <a:pPr marL="169545" indent="-169545">
              <a:lnSpc>
                <a:spcPct val="100000"/>
              </a:lnSpc>
              <a:spcBef>
                <a:spcPts val="195"/>
              </a:spcBef>
              <a:buClr>
                <a:srgbClr val="3E762B"/>
              </a:buClr>
              <a:buFont typeface="Wingdings"/>
              <a:buChar char=""/>
              <a:tabLst>
                <a:tab pos="169545" algn="l"/>
              </a:tabLst>
            </a:pPr>
            <a:r>
              <a:rPr sz="1200" b="1" dirty="0">
                <a:latin typeface="Times New Roman"/>
                <a:cs typeface="Times New Roman"/>
              </a:rPr>
              <a:t>Central</a:t>
            </a:r>
            <a:r>
              <a:rPr sz="1200" b="1" spc="-70" dirty="0">
                <a:latin typeface="Times New Roman"/>
                <a:cs typeface="Times New Roman"/>
              </a:rPr>
              <a:t> </a:t>
            </a:r>
            <a:r>
              <a:rPr sz="1200" b="1" dirty="0">
                <a:latin typeface="Times New Roman"/>
                <a:cs typeface="Times New Roman"/>
              </a:rPr>
              <a:t>Processing</a:t>
            </a:r>
            <a:r>
              <a:rPr sz="1200" b="1" spc="-45" dirty="0">
                <a:latin typeface="Times New Roman"/>
                <a:cs typeface="Times New Roman"/>
              </a:rPr>
              <a:t> </a:t>
            </a:r>
            <a:r>
              <a:rPr sz="1200" b="1" dirty="0">
                <a:latin typeface="Times New Roman"/>
                <a:cs typeface="Times New Roman"/>
              </a:rPr>
              <a:t>Unit</a:t>
            </a:r>
            <a:r>
              <a:rPr sz="1200" b="1" spc="-75" dirty="0">
                <a:latin typeface="Times New Roman"/>
                <a:cs typeface="Times New Roman"/>
              </a:rPr>
              <a:t> </a:t>
            </a:r>
            <a:r>
              <a:rPr sz="1200" b="1" spc="-10" dirty="0">
                <a:latin typeface="Times New Roman"/>
                <a:cs typeface="Times New Roman"/>
              </a:rPr>
              <a:t>Architecture</a:t>
            </a:r>
            <a:endParaRPr sz="1200">
              <a:latin typeface="Times New Roman"/>
              <a:cs typeface="Times New Roman"/>
            </a:endParaRPr>
          </a:p>
          <a:p>
            <a:pPr marL="456565" lvl="1" indent="-111125">
              <a:lnSpc>
                <a:spcPct val="100000"/>
              </a:lnSpc>
              <a:spcBef>
                <a:spcPts val="95"/>
              </a:spcBef>
              <a:buClr>
                <a:srgbClr val="3E762B"/>
              </a:buClr>
              <a:buFont typeface="Arial MT"/>
              <a:buChar char="•"/>
              <a:tabLst>
                <a:tab pos="456565" algn="l"/>
              </a:tabLst>
            </a:pPr>
            <a:r>
              <a:rPr sz="1200" spc="-10" dirty="0">
                <a:latin typeface="Times New Roman"/>
                <a:cs typeface="Times New Roman"/>
              </a:rPr>
              <a:t>Design</a:t>
            </a:r>
            <a:r>
              <a:rPr sz="1200" spc="-65" dirty="0">
                <a:latin typeface="Times New Roman"/>
                <a:cs typeface="Times New Roman"/>
              </a:rPr>
              <a:t> </a:t>
            </a:r>
            <a:r>
              <a:rPr sz="1200" dirty="0">
                <a:latin typeface="Times New Roman"/>
                <a:cs typeface="Times New Roman"/>
              </a:rPr>
              <a:t>Approaches</a:t>
            </a:r>
            <a:r>
              <a:rPr sz="1200" spc="-20" dirty="0">
                <a:latin typeface="Times New Roman"/>
                <a:cs typeface="Times New Roman"/>
              </a:rPr>
              <a:t> </a:t>
            </a:r>
            <a:r>
              <a:rPr sz="1200" dirty="0">
                <a:latin typeface="Times New Roman"/>
                <a:cs typeface="Times New Roman"/>
              </a:rPr>
              <a:t>[</a:t>
            </a:r>
            <a:r>
              <a:rPr sz="1200" b="1" dirty="0">
                <a:solidFill>
                  <a:srgbClr val="539E39"/>
                </a:solidFill>
                <a:latin typeface="Times New Roman"/>
                <a:cs typeface="Times New Roman"/>
              </a:rPr>
              <a:t>Stack</a:t>
            </a:r>
            <a:r>
              <a:rPr sz="1200" b="1" spc="-20" dirty="0">
                <a:solidFill>
                  <a:srgbClr val="539E39"/>
                </a:solidFill>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b="1" dirty="0">
                <a:solidFill>
                  <a:srgbClr val="539E39"/>
                </a:solidFill>
                <a:latin typeface="Times New Roman"/>
                <a:cs typeface="Times New Roman"/>
              </a:rPr>
              <a:t>Pipelining</a:t>
            </a:r>
            <a:r>
              <a:rPr sz="1200" b="1" spc="-35" dirty="0">
                <a:solidFill>
                  <a:srgbClr val="539E39"/>
                </a:solidFill>
                <a:latin typeface="Times New Roman"/>
                <a:cs typeface="Times New Roman"/>
              </a:rPr>
              <a:t> </a:t>
            </a:r>
            <a:r>
              <a:rPr sz="1200" dirty="0">
                <a:latin typeface="Times New Roman"/>
                <a:cs typeface="Times New Roman"/>
              </a:rPr>
              <a:t>–</a:t>
            </a:r>
            <a:r>
              <a:rPr sz="1200" spc="-20" dirty="0">
                <a:latin typeface="Times New Roman"/>
                <a:cs typeface="Times New Roman"/>
              </a:rPr>
              <a:t> </a:t>
            </a:r>
            <a:r>
              <a:rPr sz="1200" b="1" dirty="0">
                <a:solidFill>
                  <a:srgbClr val="539E39"/>
                </a:solidFill>
                <a:latin typeface="Times New Roman"/>
                <a:cs typeface="Times New Roman"/>
              </a:rPr>
              <a:t>Interrupt</a:t>
            </a:r>
            <a:r>
              <a:rPr sz="1200" b="1" spc="-25" dirty="0">
                <a:solidFill>
                  <a:srgbClr val="539E39"/>
                </a:solidFill>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b="1" dirty="0">
                <a:solidFill>
                  <a:srgbClr val="539E39"/>
                </a:solidFill>
                <a:latin typeface="Times New Roman"/>
                <a:cs typeface="Times New Roman"/>
              </a:rPr>
              <a:t>Processor</a:t>
            </a:r>
            <a:r>
              <a:rPr sz="1200" b="1" spc="-15" dirty="0">
                <a:solidFill>
                  <a:srgbClr val="539E39"/>
                </a:solidFill>
                <a:latin typeface="Times New Roman"/>
                <a:cs typeface="Times New Roman"/>
              </a:rPr>
              <a:t> </a:t>
            </a:r>
            <a:r>
              <a:rPr sz="1200" b="1" spc="-10" dirty="0">
                <a:solidFill>
                  <a:srgbClr val="539E39"/>
                </a:solidFill>
                <a:latin typeface="Times New Roman"/>
                <a:cs typeface="Times New Roman"/>
              </a:rPr>
              <a:t>Organization</a:t>
            </a:r>
            <a:endParaRPr sz="1200">
              <a:latin typeface="Times New Roman"/>
              <a:cs typeface="Times New Roman"/>
            </a:endParaRPr>
          </a:p>
          <a:p>
            <a:pPr marL="457200">
              <a:lnSpc>
                <a:spcPct val="100000"/>
              </a:lnSpc>
            </a:pPr>
            <a:r>
              <a:rPr sz="1200" dirty="0">
                <a:latin typeface="Times New Roman"/>
                <a:cs typeface="Times New Roman"/>
              </a:rPr>
              <a:t>–</a:t>
            </a:r>
            <a:r>
              <a:rPr sz="1200" spc="-35" dirty="0">
                <a:latin typeface="Times New Roman"/>
                <a:cs typeface="Times New Roman"/>
              </a:rPr>
              <a:t> </a:t>
            </a:r>
            <a:r>
              <a:rPr sz="1200" b="1" dirty="0">
                <a:solidFill>
                  <a:srgbClr val="539E39"/>
                </a:solidFill>
                <a:latin typeface="Times New Roman"/>
                <a:cs typeface="Times New Roman"/>
              </a:rPr>
              <a:t>Registers</a:t>
            </a:r>
            <a:r>
              <a:rPr sz="1200" b="1" spc="-15" dirty="0">
                <a:solidFill>
                  <a:srgbClr val="539E39"/>
                </a:solidFill>
                <a:latin typeface="Times New Roman"/>
                <a:cs typeface="Times New Roman"/>
              </a:rPr>
              <a:t> </a:t>
            </a:r>
            <a:r>
              <a:rPr sz="1200" b="1" spc="-10" dirty="0">
                <a:solidFill>
                  <a:srgbClr val="539E39"/>
                </a:solidFill>
                <a:latin typeface="Times New Roman"/>
                <a:cs typeface="Times New Roman"/>
              </a:rPr>
              <a:t>Organization</a:t>
            </a:r>
            <a:r>
              <a:rPr sz="1200" spc="-10" dirty="0">
                <a:latin typeface="Times New Roman"/>
                <a:cs typeface="Times New Roman"/>
              </a:rPr>
              <a:t>]</a:t>
            </a:r>
            <a:endParaRPr sz="1200">
              <a:latin typeface="Times New Roman"/>
              <a:cs typeface="Times New Roman"/>
            </a:endParaRPr>
          </a:p>
          <a:p>
            <a:pPr marL="456565" lvl="1" indent="-111125">
              <a:lnSpc>
                <a:spcPct val="100000"/>
              </a:lnSpc>
              <a:spcBef>
                <a:spcPts val="300"/>
              </a:spcBef>
              <a:buClr>
                <a:srgbClr val="3E762B"/>
              </a:buClr>
              <a:buFont typeface="Arial MT"/>
              <a:buChar char="•"/>
              <a:tabLst>
                <a:tab pos="456565" algn="l"/>
              </a:tabLst>
            </a:pPr>
            <a:r>
              <a:rPr sz="1200" b="1" dirty="0">
                <a:solidFill>
                  <a:srgbClr val="539E39"/>
                </a:solidFill>
                <a:latin typeface="Times New Roman"/>
                <a:cs typeface="Times New Roman"/>
              </a:rPr>
              <a:t>Instruction</a:t>
            </a:r>
            <a:r>
              <a:rPr sz="1200" b="1" spc="-55" dirty="0">
                <a:solidFill>
                  <a:srgbClr val="539E39"/>
                </a:solidFill>
                <a:latin typeface="Times New Roman"/>
                <a:cs typeface="Times New Roman"/>
              </a:rPr>
              <a:t> </a:t>
            </a:r>
            <a:r>
              <a:rPr sz="1200" b="1" dirty="0">
                <a:solidFill>
                  <a:srgbClr val="539E39"/>
                </a:solidFill>
                <a:latin typeface="Times New Roman"/>
                <a:cs typeface="Times New Roman"/>
              </a:rPr>
              <a:t>Set</a:t>
            </a:r>
            <a:r>
              <a:rPr sz="1200" b="1" spc="-75" dirty="0">
                <a:solidFill>
                  <a:srgbClr val="539E39"/>
                </a:solidFill>
                <a:latin typeface="Times New Roman"/>
                <a:cs typeface="Times New Roman"/>
              </a:rPr>
              <a:t> </a:t>
            </a:r>
            <a:r>
              <a:rPr sz="1200" b="1" spc="-10" dirty="0">
                <a:solidFill>
                  <a:srgbClr val="539E39"/>
                </a:solidFill>
                <a:latin typeface="Times New Roman"/>
                <a:cs typeface="Times New Roman"/>
              </a:rPr>
              <a:t>Architecture </a:t>
            </a:r>
            <a:r>
              <a:rPr sz="1200" b="1" dirty="0">
                <a:solidFill>
                  <a:srgbClr val="539E39"/>
                </a:solidFill>
                <a:latin typeface="Times New Roman"/>
                <a:cs typeface="Times New Roman"/>
              </a:rPr>
              <a:t>[Instruction</a:t>
            </a:r>
            <a:r>
              <a:rPr sz="1200" b="1" spc="-15" dirty="0">
                <a:solidFill>
                  <a:srgbClr val="539E39"/>
                </a:solidFill>
                <a:latin typeface="Times New Roman"/>
                <a:cs typeface="Times New Roman"/>
              </a:rPr>
              <a:t> </a:t>
            </a:r>
            <a:r>
              <a:rPr sz="1200" b="1" dirty="0">
                <a:solidFill>
                  <a:srgbClr val="539E39"/>
                </a:solidFill>
                <a:latin typeface="Times New Roman"/>
                <a:cs typeface="Times New Roman"/>
              </a:rPr>
              <a:t>Format</a:t>
            </a:r>
            <a:r>
              <a:rPr sz="1200" b="1" spc="5" dirty="0">
                <a:solidFill>
                  <a:srgbClr val="539E39"/>
                </a:solidFill>
                <a:latin typeface="Times New Roman"/>
                <a:cs typeface="Times New Roman"/>
              </a:rPr>
              <a:t> </a:t>
            </a:r>
            <a:r>
              <a:rPr sz="1200" b="1" dirty="0">
                <a:solidFill>
                  <a:srgbClr val="539E39"/>
                </a:solidFill>
                <a:latin typeface="Times New Roman"/>
                <a:cs typeface="Times New Roman"/>
              </a:rPr>
              <a:t>–</a:t>
            </a:r>
            <a:r>
              <a:rPr sz="1200" b="1" spc="-75" dirty="0">
                <a:solidFill>
                  <a:srgbClr val="539E39"/>
                </a:solidFill>
                <a:latin typeface="Times New Roman"/>
                <a:cs typeface="Times New Roman"/>
              </a:rPr>
              <a:t> </a:t>
            </a:r>
            <a:r>
              <a:rPr sz="1200" b="1" dirty="0">
                <a:solidFill>
                  <a:srgbClr val="539E39"/>
                </a:solidFill>
                <a:latin typeface="Times New Roman"/>
                <a:cs typeface="Times New Roman"/>
              </a:rPr>
              <a:t>Addressing</a:t>
            </a:r>
            <a:r>
              <a:rPr sz="1200" b="1" spc="-25" dirty="0">
                <a:solidFill>
                  <a:srgbClr val="539E39"/>
                </a:solidFill>
                <a:latin typeface="Times New Roman"/>
                <a:cs typeface="Times New Roman"/>
              </a:rPr>
              <a:t> </a:t>
            </a:r>
            <a:r>
              <a:rPr sz="1200" b="1" dirty="0">
                <a:solidFill>
                  <a:srgbClr val="539E39"/>
                </a:solidFill>
                <a:latin typeface="Times New Roman"/>
                <a:cs typeface="Times New Roman"/>
              </a:rPr>
              <a:t>modes</a:t>
            </a:r>
            <a:r>
              <a:rPr sz="1200" b="1" spc="-15" dirty="0">
                <a:solidFill>
                  <a:srgbClr val="539E39"/>
                </a:solidFill>
                <a:latin typeface="Times New Roman"/>
                <a:cs typeface="Times New Roman"/>
              </a:rPr>
              <a:t> </a:t>
            </a:r>
            <a:r>
              <a:rPr sz="1200" b="1" spc="-50" dirty="0">
                <a:solidFill>
                  <a:srgbClr val="539E39"/>
                </a:solidFill>
                <a:latin typeface="Times New Roman"/>
                <a:cs typeface="Times New Roman"/>
              </a:rPr>
              <a:t>–</a:t>
            </a:r>
            <a:endParaRPr sz="1200">
              <a:latin typeface="Times New Roman"/>
              <a:cs typeface="Times New Roman"/>
            </a:endParaRPr>
          </a:p>
          <a:p>
            <a:pPr marL="457200">
              <a:lnSpc>
                <a:spcPct val="100000"/>
              </a:lnSpc>
              <a:spcBef>
                <a:spcPts val="5"/>
              </a:spcBef>
            </a:pPr>
            <a:r>
              <a:rPr sz="1200" b="1" dirty="0">
                <a:solidFill>
                  <a:srgbClr val="539E39"/>
                </a:solidFill>
                <a:latin typeface="Times New Roman"/>
                <a:cs typeface="Times New Roman"/>
              </a:rPr>
              <a:t>Data</a:t>
            </a:r>
            <a:r>
              <a:rPr sz="1200" b="1" spc="-5" dirty="0">
                <a:solidFill>
                  <a:srgbClr val="539E39"/>
                </a:solidFill>
                <a:latin typeface="Times New Roman"/>
                <a:cs typeface="Times New Roman"/>
              </a:rPr>
              <a:t> </a:t>
            </a:r>
            <a:r>
              <a:rPr sz="1200" b="1" spc="-20" dirty="0">
                <a:solidFill>
                  <a:srgbClr val="539E39"/>
                </a:solidFill>
                <a:latin typeface="Times New Roman"/>
                <a:cs typeface="Times New Roman"/>
              </a:rPr>
              <a:t>Transfer</a:t>
            </a:r>
            <a:r>
              <a:rPr sz="1200" b="1" spc="-30" dirty="0">
                <a:solidFill>
                  <a:srgbClr val="539E39"/>
                </a:solidFill>
                <a:latin typeface="Times New Roman"/>
                <a:cs typeface="Times New Roman"/>
              </a:rPr>
              <a:t> </a:t>
            </a:r>
            <a:r>
              <a:rPr sz="1200" b="1" dirty="0">
                <a:solidFill>
                  <a:srgbClr val="539E39"/>
                </a:solidFill>
                <a:latin typeface="Times New Roman"/>
                <a:cs typeface="Times New Roman"/>
              </a:rPr>
              <a:t>and</a:t>
            </a:r>
            <a:r>
              <a:rPr sz="1200" b="1" spc="15" dirty="0">
                <a:solidFill>
                  <a:srgbClr val="539E39"/>
                </a:solidFill>
                <a:latin typeface="Times New Roman"/>
                <a:cs typeface="Times New Roman"/>
              </a:rPr>
              <a:t> </a:t>
            </a:r>
            <a:r>
              <a:rPr sz="1200" b="1" spc="-10" dirty="0">
                <a:solidFill>
                  <a:srgbClr val="539E39"/>
                </a:solidFill>
                <a:latin typeface="Times New Roman"/>
                <a:cs typeface="Times New Roman"/>
              </a:rPr>
              <a:t>Manipulation]</a:t>
            </a:r>
            <a:endParaRPr sz="1200">
              <a:latin typeface="Times New Roman"/>
              <a:cs typeface="Times New Roman"/>
            </a:endParaRPr>
          </a:p>
          <a:p>
            <a:pPr marL="457200" lvl="1" indent="-109855">
              <a:lnSpc>
                <a:spcPct val="100000"/>
              </a:lnSpc>
              <a:spcBef>
                <a:spcPts val="295"/>
              </a:spcBef>
              <a:buClr>
                <a:srgbClr val="3E762B"/>
              </a:buClr>
              <a:buFont typeface="Arial MT"/>
              <a:buChar char="•"/>
              <a:tabLst>
                <a:tab pos="457200" algn="l"/>
              </a:tabLst>
            </a:pPr>
            <a:r>
              <a:rPr sz="1200" b="1" dirty="0">
                <a:solidFill>
                  <a:srgbClr val="539E39"/>
                </a:solidFill>
                <a:latin typeface="Times New Roman"/>
                <a:cs typeface="Times New Roman"/>
              </a:rPr>
              <a:t>Example</a:t>
            </a:r>
            <a:r>
              <a:rPr sz="1200" b="1" spc="-20" dirty="0">
                <a:solidFill>
                  <a:srgbClr val="539E39"/>
                </a:solidFill>
                <a:latin typeface="Times New Roman"/>
                <a:cs typeface="Times New Roman"/>
              </a:rPr>
              <a:t> </a:t>
            </a:r>
            <a:r>
              <a:rPr sz="1200" b="1" spc="-10" dirty="0">
                <a:solidFill>
                  <a:srgbClr val="539E39"/>
                </a:solidFill>
                <a:latin typeface="Times New Roman"/>
                <a:cs typeface="Times New Roman"/>
              </a:rPr>
              <a:t>architectures </a:t>
            </a:r>
            <a:r>
              <a:rPr sz="1200" b="1" dirty="0">
                <a:solidFill>
                  <a:srgbClr val="539E39"/>
                </a:solidFill>
                <a:latin typeface="Times New Roman"/>
                <a:cs typeface="Times New Roman"/>
              </a:rPr>
              <a:t>(e.g.,</a:t>
            </a:r>
            <a:r>
              <a:rPr sz="1200" b="1" spc="-15" dirty="0">
                <a:solidFill>
                  <a:srgbClr val="539E39"/>
                </a:solidFill>
                <a:latin typeface="Times New Roman"/>
                <a:cs typeface="Times New Roman"/>
              </a:rPr>
              <a:t> </a:t>
            </a:r>
            <a:r>
              <a:rPr sz="1200" b="1" dirty="0">
                <a:solidFill>
                  <a:srgbClr val="539E39"/>
                </a:solidFill>
                <a:latin typeface="Times New Roman"/>
                <a:cs typeface="Times New Roman"/>
              </a:rPr>
              <a:t>CISC,</a:t>
            </a:r>
            <a:r>
              <a:rPr sz="1200" b="1" spc="-15" dirty="0">
                <a:solidFill>
                  <a:srgbClr val="539E39"/>
                </a:solidFill>
                <a:latin typeface="Times New Roman"/>
                <a:cs typeface="Times New Roman"/>
              </a:rPr>
              <a:t> </a:t>
            </a:r>
            <a:r>
              <a:rPr sz="1200" b="1" spc="-10" dirty="0">
                <a:solidFill>
                  <a:srgbClr val="539E39"/>
                </a:solidFill>
                <a:latin typeface="Times New Roman"/>
                <a:cs typeface="Times New Roman"/>
              </a:rPr>
              <a:t>RISC)</a:t>
            </a:r>
            <a:endParaRPr sz="1200">
              <a:latin typeface="Times New Roman"/>
              <a:cs typeface="Times New Roman"/>
            </a:endParaRPr>
          </a:p>
          <a:p>
            <a:pPr marL="168275" indent="-168275">
              <a:lnSpc>
                <a:spcPct val="100000"/>
              </a:lnSpc>
              <a:spcBef>
                <a:spcPts val="900"/>
              </a:spcBef>
              <a:buClr>
                <a:srgbClr val="3E762B"/>
              </a:buClr>
              <a:buFont typeface="Wingdings"/>
              <a:buChar char=""/>
              <a:tabLst>
                <a:tab pos="168275" algn="l"/>
              </a:tabLst>
            </a:pPr>
            <a:r>
              <a:rPr sz="1200" b="1" dirty="0">
                <a:solidFill>
                  <a:srgbClr val="539E39"/>
                </a:solidFill>
                <a:latin typeface="Times New Roman"/>
                <a:cs typeface="Times New Roman"/>
              </a:rPr>
              <a:t>Timing,</a:t>
            </a:r>
            <a:r>
              <a:rPr sz="1200" b="1" spc="-40" dirty="0">
                <a:solidFill>
                  <a:srgbClr val="539E39"/>
                </a:solidFill>
                <a:latin typeface="Times New Roman"/>
                <a:cs typeface="Times New Roman"/>
              </a:rPr>
              <a:t> </a:t>
            </a:r>
            <a:r>
              <a:rPr sz="1200" b="1" dirty="0">
                <a:solidFill>
                  <a:srgbClr val="539E39"/>
                </a:solidFill>
                <a:latin typeface="Times New Roman"/>
                <a:cs typeface="Times New Roman"/>
              </a:rPr>
              <a:t>Clock</a:t>
            </a:r>
            <a:r>
              <a:rPr sz="1200" b="1" spc="-35" dirty="0">
                <a:solidFill>
                  <a:srgbClr val="539E39"/>
                </a:solidFill>
                <a:latin typeface="Times New Roman"/>
                <a:cs typeface="Times New Roman"/>
              </a:rPr>
              <a:t> </a:t>
            </a:r>
            <a:r>
              <a:rPr sz="1200" b="1" dirty="0">
                <a:solidFill>
                  <a:srgbClr val="539E39"/>
                </a:solidFill>
                <a:latin typeface="Times New Roman"/>
                <a:cs typeface="Times New Roman"/>
              </a:rPr>
              <a:t>Parameters,</a:t>
            </a:r>
            <a:r>
              <a:rPr sz="1200" b="1" spc="5" dirty="0">
                <a:solidFill>
                  <a:srgbClr val="539E39"/>
                </a:solidFill>
                <a:latin typeface="Times New Roman"/>
                <a:cs typeface="Times New Roman"/>
              </a:rPr>
              <a:t> </a:t>
            </a:r>
            <a:r>
              <a:rPr sz="1200" b="1" dirty="0">
                <a:solidFill>
                  <a:srgbClr val="539E39"/>
                </a:solidFill>
                <a:latin typeface="Times New Roman"/>
                <a:cs typeface="Times New Roman"/>
              </a:rPr>
              <a:t>and</a:t>
            </a:r>
            <a:r>
              <a:rPr sz="1200" b="1" spc="-45" dirty="0">
                <a:solidFill>
                  <a:srgbClr val="539E39"/>
                </a:solidFill>
                <a:latin typeface="Times New Roman"/>
                <a:cs typeface="Times New Roman"/>
              </a:rPr>
              <a:t> </a:t>
            </a:r>
            <a:r>
              <a:rPr sz="1200" b="1" spc="-10" dirty="0">
                <a:solidFill>
                  <a:srgbClr val="539E39"/>
                </a:solidFill>
                <a:latin typeface="Times New Roman"/>
                <a:cs typeface="Times New Roman"/>
              </a:rPr>
              <a:t>Processor</a:t>
            </a:r>
            <a:r>
              <a:rPr sz="1200" b="1" spc="-35" dirty="0">
                <a:solidFill>
                  <a:srgbClr val="539E39"/>
                </a:solidFill>
                <a:latin typeface="Times New Roman"/>
                <a:cs typeface="Times New Roman"/>
              </a:rPr>
              <a:t> </a:t>
            </a:r>
            <a:r>
              <a:rPr sz="1200" b="1" spc="-10" dirty="0">
                <a:solidFill>
                  <a:srgbClr val="539E39"/>
                </a:solidFill>
                <a:latin typeface="Times New Roman"/>
                <a:cs typeface="Times New Roman"/>
              </a:rPr>
              <a:t>Performance</a:t>
            </a:r>
            <a:endParaRPr sz="1200">
              <a:latin typeface="Times New Roman"/>
              <a:cs typeface="Times New Roman"/>
            </a:endParaRPr>
          </a:p>
          <a:p>
            <a:pPr marL="168275" indent="-168275">
              <a:lnSpc>
                <a:spcPct val="100000"/>
              </a:lnSpc>
              <a:spcBef>
                <a:spcPts val="700"/>
              </a:spcBef>
              <a:buClr>
                <a:srgbClr val="3E762B"/>
              </a:buClr>
              <a:buFont typeface="Wingdings"/>
              <a:buChar char=""/>
              <a:tabLst>
                <a:tab pos="168275" algn="l"/>
              </a:tabLst>
            </a:pPr>
            <a:r>
              <a:rPr sz="1200" b="1" dirty="0">
                <a:solidFill>
                  <a:srgbClr val="FF0000"/>
                </a:solidFill>
                <a:latin typeface="Times New Roman"/>
                <a:cs typeface="Times New Roman"/>
              </a:rPr>
              <a:t>Memory</a:t>
            </a:r>
            <a:r>
              <a:rPr sz="1200" b="1" spc="-50" dirty="0">
                <a:solidFill>
                  <a:srgbClr val="FF0000"/>
                </a:solidFill>
                <a:latin typeface="Times New Roman"/>
                <a:cs typeface="Times New Roman"/>
              </a:rPr>
              <a:t> </a:t>
            </a:r>
            <a:r>
              <a:rPr sz="1200" b="1" spc="-10" dirty="0">
                <a:solidFill>
                  <a:srgbClr val="FF0000"/>
                </a:solidFill>
                <a:latin typeface="Times New Roman"/>
                <a:cs typeface="Times New Roman"/>
              </a:rPr>
              <a:t>Hierarchy</a:t>
            </a:r>
            <a:endParaRPr sz="1200">
              <a:latin typeface="Times New Roman"/>
              <a:cs typeface="Times New Roman"/>
            </a:endParaRPr>
          </a:p>
          <a:p>
            <a:pPr marL="457200" lvl="1" indent="-109855">
              <a:lnSpc>
                <a:spcPct val="100000"/>
              </a:lnSpc>
              <a:spcBef>
                <a:spcPts val="105"/>
              </a:spcBef>
              <a:buClr>
                <a:srgbClr val="3E762B"/>
              </a:buClr>
              <a:buFont typeface="Arial MT"/>
              <a:buChar char="•"/>
              <a:tabLst>
                <a:tab pos="457200" algn="l"/>
              </a:tabLst>
            </a:pPr>
            <a:r>
              <a:rPr sz="1200" b="1" dirty="0">
                <a:solidFill>
                  <a:srgbClr val="FF0000"/>
                </a:solidFill>
                <a:latin typeface="Times New Roman"/>
                <a:cs typeface="Times New Roman"/>
              </a:rPr>
              <a:t>Main</a:t>
            </a:r>
            <a:r>
              <a:rPr sz="1200" b="1" spc="-15" dirty="0">
                <a:solidFill>
                  <a:srgbClr val="FF0000"/>
                </a:solidFill>
                <a:latin typeface="Times New Roman"/>
                <a:cs typeface="Times New Roman"/>
              </a:rPr>
              <a:t> </a:t>
            </a:r>
            <a:r>
              <a:rPr sz="1200" b="1" spc="-10" dirty="0">
                <a:solidFill>
                  <a:srgbClr val="FF0000"/>
                </a:solidFill>
                <a:latin typeface="Times New Roman"/>
                <a:cs typeface="Times New Roman"/>
              </a:rPr>
              <a:t>Memory</a:t>
            </a:r>
            <a:endParaRPr sz="1200">
              <a:latin typeface="Times New Roman"/>
              <a:cs typeface="Times New Roman"/>
            </a:endParaRPr>
          </a:p>
          <a:p>
            <a:pPr marL="457200" lvl="1" indent="-109855">
              <a:lnSpc>
                <a:spcPct val="100000"/>
              </a:lnSpc>
              <a:spcBef>
                <a:spcPts val="300"/>
              </a:spcBef>
              <a:buClr>
                <a:srgbClr val="3E762B"/>
              </a:buClr>
              <a:buFont typeface="Arial MT"/>
              <a:buChar char="•"/>
              <a:tabLst>
                <a:tab pos="457200" algn="l"/>
              </a:tabLst>
            </a:pPr>
            <a:r>
              <a:rPr sz="1200" dirty="0">
                <a:latin typeface="Times New Roman"/>
                <a:cs typeface="Times New Roman"/>
              </a:rPr>
              <a:t>Cache</a:t>
            </a:r>
            <a:r>
              <a:rPr sz="1200" spc="-40" dirty="0">
                <a:latin typeface="Times New Roman"/>
                <a:cs typeface="Times New Roman"/>
              </a:rPr>
              <a:t> </a:t>
            </a:r>
            <a:r>
              <a:rPr sz="1200" spc="-10" dirty="0">
                <a:latin typeface="Times New Roman"/>
                <a:cs typeface="Times New Roman"/>
              </a:rPr>
              <a:t>Memory</a:t>
            </a:r>
            <a:endParaRPr sz="1200">
              <a:latin typeface="Times New Roman"/>
              <a:cs typeface="Times New Roman"/>
            </a:endParaRPr>
          </a:p>
          <a:p>
            <a:pPr marL="457200" lvl="1" indent="-109855">
              <a:lnSpc>
                <a:spcPct val="100000"/>
              </a:lnSpc>
              <a:spcBef>
                <a:spcPts val="300"/>
              </a:spcBef>
              <a:buClr>
                <a:srgbClr val="3E762B"/>
              </a:buClr>
              <a:buFont typeface="Arial MT"/>
              <a:buChar char="•"/>
              <a:tabLst>
                <a:tab pos="457200" algn="l"/>
              </a:tabLst>
            </a:pP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Memory</a:t>
            </a:r>
            <a:endParaRPr sz="1200">
              <a:latin typeface="Times New Roman"/>
              <a:cs typeface="Times New Roman"/>
            </a:endParaRPr>
          </a:p>
        </p:txBody>
      </p:sp>
      <p:sp>
        <p:nvSpPr>
          <p:cNvPr id="11" name="object 11"/>
          <p:cNvSpPr txBox="1"/>
          <p:nvPr/>
        </p:nvSpPr>
        <p:spPr>
          <a:xfrm>
            <a:off x="6168516" y="7986166"/>
            <a:ext cx="52069" cy="116839"/>
          </a:xfrm>
          <a:prstGeom prst="rect">
            <a:avLst/>
          </a:prstGeom>
        </p:spPr>
        <p:txBody>
          <a:bodyPr vert="horz" wrap="square" lIns="0" tIns="12700" rIns="0" bIns="0" rtlCol="0">
            <a:spAutoFit/>
          </a:bodyPr>
          <a:lstStyle/>
          <a:p>
            <a:pPr>
              <a:lnSpc>
                <a:spcPct val="100000"/>
              </a:lnSpc>
              <a:spcBef>
                <a:spcPts val="100"/>
              </a:spcBef>
            </a:pPr>
            <a:r>
              <a:rPr sz="600" spc="-50" dirty="0">
                <a:solidFill>
                  <a:srgbClr val="539E39"/>
                </a:solidFill>
                <a:latin typeface="Corbel"/>
                <a:cs typeface="Corbel"/>
              </a:rPr>
              <a:t>2</a:t>
            </a:r>
            <a:endParaRPr sz="600">
              <a:latin typeface="Corbel"/>
              <a:cs typeface="Corbe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spc="-10" dirty="0">
                <a:latin typeface="Georgia"/>
                <a:cs typeface="Georgia"/>
              </a:rPr>
              <a:t>Memory</a:t>
            </a:r>
            <a:endParaRPr sz="2200">
              <a:latin typeface="Georgia"/>
              <a:cs typeface="Georgia"/>
            </a:endParaRPr>
          </a:p>
          <a:p>
            <a:pPr marL="431800" indent="-169545">
              <a:lnSpc>
                <a:spcPct val="100000"/>
              </a:lnSpc>
              <a:spcBef>
                <a:spcPts val="1535"/>
              </a:spcBef>
              <a:buFont typeface="Wingdings"/>
              <a:buChar char=""/>
              <a:tabLst>
                <a:tab pos="431800" algn="l"/>
              </a:tabLst>
            </a:pPr>
            <a:r>
              <a:rPr sz="1200" b="1" dirty="0">
                <a:solidFill>
                  <a:srgbClr val="3E762B"/>
                </a:solidFill>
                <a:latin typeface="Times New Roman"/>
                <a:cs typeface="Times New Roman"/>
              </a:rPr>
              <a:t>Memory</a:t>
            </a:r>
            <a:r>
              <a:rPr sz="1200" b="1" spc="-55" dirty="0">
                <a:solidFill>
                  <a:srgbClr val="3E762B"/>
                </a:solidFill>
                <a:latin typeface="Times New Roman"/>
                <a:cs typeface="Times New Roman"/>
              </a:rPr>
              <a:t> </a:t>
            </a:r>
            <a:r>
              <a:rPr sz="1200" b="1" spc="-10" dirty="0">
                <a:solidFill>
                  <a:srgbClr val="3E762B"/>
                </a:solidFill>
                <a:latin typeface="Times New Roman"/>
                <a:cs typeface="Times New Roman"/>
              </a:rPr>
              <a:t>Hierarchy</a:t>
            </a:r>
            <a:endParaRPr sz="1200">
              <a:latin typeface="Times New Roman"/>
              <a:cs typeface="Times New Roman"/>
            </a:endParaRPr>
          </a:p>
          <a:p>
            <a:pPr>
              <a:lnSpc>
                <a:spcPct val="100000"/>
              </a:lnSpc>
              <a:buClr>
                <a:srgbClr val="3E762B"/>
              </a:buClr>
              <a:buFont typeface="Wingdings"/>
              <a:buChar char=""/>
            </a:pPr>
            <a:endParaRPr sz="1200">
              <a:latin typeface="Times New Roman"/>
              <a:cs typeface="Times New Roman"/>
            </a:endParaRPr>
          </a:p>
          <a:p>
            <a:pPr>
              <a:lnSpc>
                <a:spcPct val="100000"/>
              </a:lnSpc>
              <a:spcBef>
                <a:spcPts val="240"/>
              </a:spcBef>
              <a:buClr>
                <a:srgbClr val="3E762B"/>
              </a:buClr>
              <a:buFont typeface="Wingdings"/>
              <a:buChar char=""/>
            </a:pPr>
            <a:endParaRPr sz="1200">
              <a:latin typeface="Times New Roman"/>
              <a:cs typeface="Times New Roman"/>
            </a:endParaRPr>
          </a:p>
          <a:p>
            <a:pPr marL="431800" indent="-169545">
              <a:lnSpc>
                <a:spcPct val="100000"/>
              </a:lnSpc>
              <a:buFont typeface="Wingdings"/>
              <a:buChar char=""/>
              <a:tabLst>
                <a:tab pos="431800" algn="l"/>
              </a:tabLst>
            </a:pPr>
            <a:r>
              <a:rPr sz="1200" b="1" dirty="0">
                <a:solidFill>
                  <a:srgbClr val="3E762B"/>
                </a:solidFill>
                <a:latin typeface="Times New Roman"/>
                <a:cs typeface="Times New Roman"/>
              </a:rPr>
              <a:t>RAM/ROM</a:t>
            </a:r>
            <a:r>
              <a:rPr sz="1200" b="1" spc="-60" dirty="0">
                <a:solidFill>
                  <a:srgbClr val="3E762B"/>
                </a:solidFill>
                <a:latin typeface="Times New Roman"/>
                <a:cs typeface="Times New Roman"/>
              </a:rPr>
              <a:t> </a:t>
            </a:r>
            <a:r>
              <a:rPr sz="1200" b="1" dirty="0">
                <a:solidFill>
                  <a:srgbClr val="3E762B"/>
                </a:solidFill>
                <a:latin typeface="Times New Roman"/>
                <a:cs typeface="Times New Roman"/>
              </a:rPr>
              <a:t>Memory</a:t>
            </a:r>
            <a:r>
              <a:rPr sz="1200" b="1" spc="-45" dirty="0">
                <a:solidFill>
                  <a:srgbClr val="3E762B"/>
                </a:solidFill>
                <a:latin typeface="Times New Roman"/>
                <a:cs typeface="Times New Roman"/>
              </a:rPr>
              <a:t> </a:t>
            </a:r>
            <a:r>
              <a:rPr sz="1200" b="1" spc="-10" dirty="0">
                <a:solidFill>
                  <a:srgbClr val="3E762B"/>
                </a:solidFill>
                <a:latin typeface="Times New Roman"/>
                <a:cs typeface="Times New Roman"/>
              </a:rPr>
              <a:t>Basics</a:t>
            </a:r>
            <a:endParaRPr sz="1200">
              <a:latin typeface="Times New Roman"/>
              <a:cs typeface="Times New Roman"/>
            </a:endParaRPr>
          </a:p>
          <a:p>
            <a:pPr>
              <a:lnSpc>
                <a:spcPct val="100000"/>
              </a:lnSpc>
              <a:buClr>
                <a:srgbClr val="3E762B"/>
              </a:buClr>
              <a:buFont typeface="Wingdings"/>
              <a:buChar char=""/>
            </a:pPr>
            <a:endParaRPr sz="1200">
              <a:latin typeface="Times New Roman"/>
              <a:cs typeface="Times New Roman"/>
            </a:endParaRPr>
          </a:p>
          <a:p>
            <a:pPr>
              <a:lnSpc>
                <a:spcPct val="100000"/>
              </a:lnSpc>
              <a:spcBef>
                <a:spcPts val="240"/>
              </a:spcBef>
              <a:buClr>
                <a:srgbClr val="3E762B"/>
              </a:buClr>
              <a:buFont typeface="Wingdings"/>
              <a:buChar char=""/>
            </a:pPr>
            <a:endParaRPr sz="1200">
              <a:latin typeface="Times New Roman"/>
              <a:cs typeface="Times New Roman"/>
            </a:endParaRPr>
          </a:p>
          <a:p>
            <a:pPr marL="431800" indent="-169545">
              <a:lnSpc>
                <a:spcPct val="100000"/>
              </a:lnSpc>
              <a:buFont typeface="Wingdings"/>
              <a:buChar char=""/>
              <a:tabLst>
                <a:tab pos="431800" algn="l"/>
              </a:tabLst>
            </a:pPr>
            <a:r>
              <a:rPr sz="1200" b="1" dirty="0">
                <a:solidFill>
                  <a:srgbClr val="3E762B"/>
                </a:solidFill>
                <a:latin typeface="Times New Roman"/>
                <a:cs typeface="Times New Roman"/>
              </a:rPr>
              <a:t>Memory</a:t>
            </a:r>
            <a:r>
              <a:rPr sz="1200" b="1" spc="-75" dirty="0">
                <a:solidFill>
                  <a:srgbClr val="3E762B"/>
                </a:solidFill>
                <a:latin typeface="Times New Roman"/>
                <a:cs typeface="Times New Roman"/>
              </a:rPr>
              <a:t> </a:t>
            </a:r>
            <a:r>
              <a:rPr sz="1200" b="1" spc="-10" dirty="0">
                <a:solidFill>
                  <a:srgbClr val="3E762B"/>
                </a:solidFill>
                <a:latin typeface="Times New Roman"/>
                <a:cs typeface="Times New Roman"/>
              </a:rPr>
              <a:t>Technology</a:t>
            </a:r>
            <a:endParaRPr sz="120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7" name="object 7"/>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spc="-10" dirty="0">
                <a:latin typeface="Georgia"/>
                <a:cs typeface="Georgia"/>
              </a:rPr>
              <a:t>Memory</a:t>
            </a:r>
            <a:endParaRPr sz="2200">
              <a:latin typeface="Georgia"/>
              <a:cs typeface="Georgia"/>
            </a:endParaRPr>
          </a:p>
          <a:p>
            <a:pPr marL="434975" marR="1082675" indent="-172720">
              <a:lnSpc>
                <a:spcPct val="100000"/>
              </a:lnSpc>
              <a:spcBef>
                <a:spcPts val="2065"/>
              </a:spcBef>
              <a:buFont typeface="Wingdings"/>
              <a:buChar char=""/>
              <a:tabLst>
                <a:tab pos="436245" algn="l"/>
              </a:tabLst>
            </a:pPr>
            <a:r>
              <a:rPr sz="1200" b="1" dirty="0">
                <a:solidFill>
                  <a:srgbClr val="3E762B"/>
                </a:solidFill>
                <a:latin typeface="Times New Roman"/>
                <a:cs typeface="Times New Roman"/>
              </a:rPr>
              <a:t>Memory</a:t>
            </a:r>
            <a:r>
              <a:rPr sz="1200" b="1" spc="-10" dirty="0">
                <a:solidFill>
                  <a:srgbClr val="3E762B"/>
                </a:solidFill>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b="1" dirty="0">
                <a:latin typeface="Times New Roman"/>
                <a:cs typeface="Times New Roman"/>
              </a:rPr>
              <a:t>major</a:t>
            </a:r>
            <a:r>
              <a:rPr sz="1200" b="1" spc="-40" dirty="0">
                <a:latin typeface="Times New Roman"/>
                <a:cs typeface="Times New Roman"/>
              </a:rPr>
              <a:t> </a:t>
            </a:r>
            <a:r>
              <a:rPr sz="1200" b="1" dirty="0">
                <a:latin typeface="Times New Roman"/>
                <a:cs typeface="Times New Roman"/>
              </a:rPr>
              <a:t>component</a:t>
            </a:r>
            <a:r>
              <a:rPr sz="1200" b="1" spc="-1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digital</a:t>
            </a:r>
            <a:r>
              <a:rPr sz="1200" spc="-30" dirty="0">
                <a:latin typeface="Times New Roman"/>
                <a:cs typeface="Times New Roman"/>
              </a:rPr>
              <a:t> </a:t>
            </a:r>
            <a:r>
              <a:rPr sz="1200" dirty="0">
                <a:latin typeface="Times New Roman"/>
                <a:cs typeface="Times New Roman"/>
              </a:rPr>
              <a:t>computer</a:t>
            </a:r>
            <a:r>
              <a:rPr sz="1200" spc="-4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present</a:t>
            </a:r>
            <a:r>
              <a:rPr sz="1200" spc="-30" dirty="0">
                <a:latin typeface="Times New Roman"/>
                <a:cs typeface="Times New Roman"/>
              </a:rPr>
              <a:t> </a:t>
            </a:r>
            <a:r>
              <a:rPr sz="1200" spc="-25" dirty="0">
                <a:latin typeface="Times New Roman"/>
                <a:cs typeface="Times New Roman"/>
              </a:rPr>
              <a:t>in 	</a:t>
            </a:r>
            <a:r>
              <a:rPr sz="1200" dirty="0">
                <a:latin typeface="Times New Roman"/>
                <a:cs typeface="Times New Roman"/>
              </a:rPr>
              <a:t>many</a:t>
            </a:r>
            <a:r>
              <a:rPr sz="1200" spc="-50" dirty="0">
                <a:latin typeface="Times New Roman"/>
                <a:cs typeface="Times New Roman"/>
              </a:rPr>
              <a:t> </a:t>
            </a:r>
            <a:r>
              <a:rPr sz="1200" dirty="0">
                <a:latin typeface="Times New Roman"/>
                <a:cs typeface="Times New Roman"/>
              </a:rPr>
              <a:t>digital</a:t>
            </a:r>
            <a:r>
              <a:rPr sz="1200" spc="-40" dirty="0">
                <a:latin typeface="Times New Roman"/>
                <a:cs typeface="Times New Roman"/>
              </a:rPr>
              <a:t> </a:t>
            </a:r>
            <a:r>
              <a:rPr sz="1200" spc="-10" dirty="0">
                <a:latin typeface="Times New Roman"/>
                <a:cs typeface="Times New Roman"/>
              </a:rPr>
              <a:t>systems.</a:t>
            </a:r>
            <a:endParaRPr sz="1200">
              <a:latin typeface="Times New Roman"/>
              <a:cs typeface="Times New Roman"/>
            </a:endParaRPr>
          </a:p>
          <a:p>
            <a:pPr>
              <a:lnSpc>
                <a:spcPct val="100000"/>
              </a:lnSpc>
              <a:spcBef>
                <a:spcPts val="1255"/>
              </a:spcBef>
              <a:buClr>
                <a:srgbClr val="3E762B"/>
              </a:buClr>
              <a:buFont typeface="Wingdings"/>
              <a:buChar char=""/>
            </a:pPr>
            <a:endParaRPr sz="1200">
              <a:latin typeface="Times New Roman"/>
              <a:cs typeface="Times New Roman"/>
            </a:endParaRPr>
          </a:p>
          <a:p>
            <a:pPr marL="434975" indent="-172720">
              <a:lnSpc>
                <a:spcPct val="100000"/>
              </a:lnSpc>
              <a:spcBef>
                <a:spcPts val="5"/>
              </a:spcBef>
              <a:buClr>
                <a:srgbClr val="3E762B"/>
              </a:buClr>
              <a:buFont typeface="Wingdings"/>
              <a:buChar char=""/>
              <a:tabLst>
                <a:tab pos="434975" algn="l"/>
              </a:tabLst>
            </a:pPr>
            <a:r>
              <a:rPr sz="1200" b="1" dirty="0">
                <a:latin typeface="Times New Roman"/>
                <a:cs typeface="Times New Roman"/>
              </a:rPr>
              <a:t>Not</a:t>
            </a:r>
            <a:r>
              <a:rPr sz="1200" b="1" spc="-10" dirty="0">
                <a:latin typeface="Times New Roman"/>
                <a:cs typeface="Times New Roman"/>
              </a:rPr>
              <a:t> </a:t>
            </a:r>
            <a:r>
              <a:rPr sz="1200" b="1" dirty="0">
                <a:latin typeface="Times New Roman"/>
                <a:cs typeface="Times New Roman"/>
              </a:rPr>
              <a:t>all</a:t>
            </a:r>
            <a:r>
              <a:rPr sz="1200" b="1" spc="-20" dirty="0">
                <a:latin typeface="Times New Roman"/>
                <a:cs typeface="Times New Roman"/>
              </a:rPr>
              <a:t> </a:t>
            </a:r>
            <a:r>
              <a:rPr sz="1200" b="1" dirty="0">
                <a:latin typeface="Times New Roman"/>
                <a:cs typeface="Times New Roman"/>
              </a:rPr>
              <a:t>data</a:t>
            </a:r>
            <a:r>
              <a:rPr sz="1200" b="1" spc="-10" dirty="0">
                <a:latin typeface="Times New Roman"/>
                <a:cs typeface="Times New Roman"/>
              </a:rPr>
              <a:t> </a:t>
            </a:r>
            <a:r>
              <a:rPr sz="1200" b="1" dirty="0">
                <a:latin typeface="Times New Roman"/>
                <a:cs typeface="Times New Roman"/>
              </a:rPr>
              <a:t>is</a:t>
            </a:r>
            <a:r>
              <a:rPr sz="1200" b="1" spc="-10" dirty="0">
                <a:latin typeface="Times New Roman"/>
                <a:cs typeface="Times New Roman"/>
              </a:rPr>
              <a:t> </a:t>
            </a:r>
            <a:r>
              <a:rPr sz="1200" b="1" dirty="0">
                <a:latin typeface="Times New Roman"/>
                <a:cs typeface="Times New Roman"/>
              </a:rPr>
              <a:t>needed</a:t>
            </a:r>
            <a:r>
              <a:rPr sz="1200" b="1" spc="-5" dirty="0">
                <a:latin typeface="Times New Roman"/>
                <a:cs typeface="Times New Roman"/>
              </a:rPr>
              <a:t> </a:t>
            </a:r>
            <a:r>
              <a:rPr sz="1200" b="1" dirty="0">
                <a:latin typeface="Times New Roman"/>
                <a:cs typeface="Times New Roman"/>
              </a:rPr>
              <a:t>by</a:t>
            </a:r>
            <a:r>
              <a:rPr sz="1200" b="1" spc="-25" dirty="0">
                <a:latin typeface="Times New Roman"/>
                <a:cs typeface="Times New Roman"/>
              </a:rPr>
              <a:t> </a:t>
            </a:r>
            <a:r>
              <a:rPr sz="1200" b="1" dirty="0">
                <a:latin typeface="Times New Roman"/>
                <a:cs typeface="Times New Roman"/>
              </a:rPr>
              <a:t>the</a:t>
            </a:r>
            <a:r>
              <a:rPr sz="1200" b="1" spc="-5" dirty="0">
                <a:latin typeface="Times New Roman"/>
                <a:cs typeface="Times New Roman"/>
              </a:rPr>
              <a:t> </a:t>
            </a:r>
            <a:r>
              <a:rPr sz="1200" b="1" spc="-10" dirty="0">
                <a:latin typeface="Times New Roman"/>
                <a:cs typeface="Times New Roman"/>
              </a:rPr>
              <a:t>processor</a:t>
            </a:r>
            <a:r>
              <a:rPr sz="1200" b="1" spc="-30" dirty="0">
                <a:latin typeface="Times New Roman"/>
                <a:cs typeface="Times New Roman"/>
              </a:rPr>
              <a:t> </a:t>
            </a:r>
            <a:r>
              <a:rPr sz="1200" b="1" dirty="0">
                <a:latin typeface="Times New Roman"/>
                <a:cs typeface="Times New Roman"/>
              </a:rPr>
              <a:t>at</a:t>
            </a:r>
            <a:r>
              <a:rPr sz="1200" b="1" spc="-5" dirty="0">
                <a:latin typeface="Times New Roman"/>
                <a:cs typeface="Times New Roman"/>
              </a:rPr>
              <a:t> </a:t>
            </a:r>
            <a:r>
              <a:rPr sz="1200" b="1" dirty="0">
                <a:latin typeface="Times New Roman"/>
                <a:cs typeface="Times New Roman"/>
              </a:rPr>
              <a:t>the</a:t>
            </a:r>
            <a:r>
              <a:rPr sz="1200" b="1" spc="-5" dirty="0">
                <a:latin typeface="Times New Roman"/>
                <a:cs typeface="Times New Roman"/>
              </a:rPr>
              <a:t> </a:t>
            </a:r>
            <a:r>
              <a:rPr sz="1200" b="1" dirty="0">
                <a:latin typeface="Times New Roman"/>
                <a:cs typeface="Times New Roman"/>
              </a:rPr>
              <a:t>same</a:t>
            </a:r>
            <a:r>
              <a:rPr sz="1200" b="1" spc="-5" dirty="0">
                <a:latin typeface="Times New Roman"/>
                <a:cs typeface="Times New Roman"/>
              </a:rPr>
              <a:t> </a:t>
            </a:r>
            <a:r>
              <a:rPr sz="1200" b="1" spc="-10" dirty="0">
                <a:latin typeface="Times New Roman"/>
                <a:cs typeface="Times New Roman"/>
              </a:rPr>
              <a:t>time.</a:t>
            </a:r>
            <a:endParaRPr sz="1200">
              <a:latin typeface="Times New Roman"/>
              <a:cs typeface="Times New Roman"/>
            </a:endParaRPr>
          </a:p>
          <a:p>
            <a:pPr>
              <a:lnSpc>
                <a:spcPct val="100000"/>
              </a:lnSpc>
              <a:spcBef>
                <a:spcPts val="1255"/>
              </a:spcBef>
              <a:buClr>
                <a:srgbClr val="3E762B"/>
              </a:buClr>
              <a:buFont typeface="Wingdings"/>
              <a:buChar char=""/>
            </a:pPr>
            <a:endParaRPr sz="1200">
              <a:latin typeface="Times New Roman"/>
              <a:cs typeface="Times New Roman"/>
            </a:endParaRPr>
          </a:p>
          <a:p>
            <a:pPr marL="436245" marR="1106170" indent="-173990">
              <a:lnSpc>
                <a:spcPct val="100000"/>
              </a:lnSpc>
              <a:spcBef>
                <a:spcPts val="5"/>
              </a:spcBef>
              <a:buClr>
                <a:srgbClr val="3E762B"/>
              </a:buClr>
              <a:buFont typeface="Wingdings"/>
              <a:buChar char=""/>
              <a:tabLst>
                <a:tab pos="436245" algn="l"/>
              </a:tabLst>
            </a:pPr>
            <a:r>
              <a:rPr sz="1200" dirty="0">
                <a:latin typeface="Times New Roman"/>
                <a:cs typeface="Times New Roman"/>
              </a:rPr>
              <a:t>Therefore,</a:t>
            </a:r>
            <a:r>
              <a:rPr sz="1200" spc="-10" dirty="0">
                <a:latin typeface="Times New Roman"/>
                <a:cs typeface="Times New Roman"/>
              </a:rPr>
              <a:t> </a:t>
            </a:r>
            <a:r>
              <a:rPr sz="1200" dirty="0">
                <a:latin typeface="Times New Roman"/>
                <a:cs typeface="Times New Roman"/>
              </a:rPr>
              <a:t>it</a:t>
            </a:r>
            <a:r>
              <a:rPr sz="1200" spc="-3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more</a:t>
            </a:r>
            <a:r>
              <a:rPr sz="1200" spc="-35" dirty="0">
                <a:latin typeface="Times New Roman"/>
                <a:cs typeface="Times New Roman"/>
              </a:rPr>
              <a:t> </a:t>
            </a:r>
            <a:r>
              <a:rPr sz="1200" spc="-10" dirty="0">
                <a:latin typeface="Times New Roman"/>
                <a:cs typeface="Times New Roman"/>
              </a:rPr>
              <a:t>economical</a:t>
            </a:r>
            <a:r>
              <a:rPr sz="1200" spc="-2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use</a:t>
            </a:r>
            <a:r>
              <a:rPr sz="1200" spc="-15" dirty="0">
                <a:latin typeface="Times New Roman"/>
                <a:cs typeface="Times New Roman"/>
              </a:rPr>
              <a:t> </a:t>
            </a:r>
            <a:r>
              <a:rPr sz="1200" b="1" dirty="0">
                <a:latin typeface="Times New Roman"/>
                <a:cs typeface="Times New Roman"/>
              </a:rPr>
              <a:t>low-cost</a:t>
            </a:r>
            <a:r>
              <a:rPr sz="1200" b="1" spc="-25" dirty="0">
                <a:latin typeface="Times New Roman"/>
                <a:cs typeface="Times New Roman"/>
              </a:rPr>
              <a:t> </a:t>
            </a:r>
            <a:r>
              <a:rPr sz="1200" b="1" dirty="0">
                <a:latin typeface="Times New Roman"/>
                <a:cs typeface="Times New Roman"/>
              </a:rPr>
              <a:t>storage</a:t>
            </a:r>
            <a:r>
              <a:rPr sz="1200" b="1" spc="-25" dirty="0">
                <a:latin typeface="Times New Roman"/>
                <a:cs typeface="Times New Roman"/>
              </a:rPr>
              <a:t> </a:t>
            </a:r>
            <a:r>
              <a:rPr sz="1200" b="1" dirty="0">
                <a:latin typeface="Times New Roman"/>
                <a:cs typeface="Times New Roman"/>
              </a:rPr>
              <a:t>devices</a:t>
            </a:r>
            <a:r>
              <a:rPr sz="1200" b="1" spc="-25" dirty="0">
                <a:latin typeface="Times New Roman"/>
                <a:cs typeface="Times New Roman"/>
              </a:rPr>
              <a:t> </a:t>
            </a:r>
            <a:r>
              <a:rPr sz="1200" spc="-25" dirty="0">
                <a:latin typeface="Times New Roman"/>
                <a:cs typeface="Times New Roman"/>
              </a:rPr>
              <a:t>to </a:t>
            </a:r>
            <a:r>
              <a:rPr sz="1200" dirty="0">
                <a:latin typeface="Times New Roman"/>
                <a:cs typeface="Times New Roman"/>
              </a:rPr>
              <a:t>serve</a:t>
            </a:r>
            <a:r>
              <a:rPr sz="1200" spc="-15" dirty="0">
                <a:latin typeface="Times New Roman"/>
                <a:cs typeface="Times New Roman"/>
              </a:rPr>
              <a:t> </a:t>
            </a:r>
            <a:r>
              <a:rPr sz="1200" dirty="0">
                <a:latin typeface="Times New Roman"/>
                <a:cs typeface="Times New Roman"/>
              </a:rPr>
              <a:t>as</a:t>
            </a:r>
            <a:r>
              <a:rPr sz="1200" spc="-1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b="1" dirty="0">
                <a:latin typeface="Times New Roman"/>
                <a:cs typeface="Times New Roman"/>
              </a:rPr>
              <a:t>backup</a:t>
            </a:r>
            <a:r>
              <a:rPr sz="1200" b="1" spc="-2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storing</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information</a:t>
            </a:r>
            <a:r>
              <a:rPr sz="1200" spc="-25"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not</a:t>
            </a:r>
            <a:r>
              <a:rPr sz="1200" spc="-15" dirty="0">
                <a:latin typeface="Times New Roman"/>
                <a:cs typeface="Times New Roman"/>
              </a:rPr>
              <a:t> </a:t>
            </a:r>
            <a:r>
              <a:rPr sz="1200" dirty="0">
                <a:latin typeface="Times New Roman"/>
                <a:cs typeface="Times New Roman"/>
              </a:rPr>
              <a:t>currently</a:t>
            </a:r>
            <a:r>
              <a:rPr sz="1200" spc="-20" dirty="0">
                <a:latin typeface="Times New Roman"/>
                <a:cs typeface="Times New Roman"/>
              </a:rPr>
              <a:t> used </a:t>
            </a:r>
            <a:r>
              <a:rPr sz="1200" dirty="0">
                <a:latin typeface="Times New Roman"/>
                <a:cs typeface="Times New Roman"/>
              </a:rPr>
              <a:t>by</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CPU.</a:t>
            </a:r>
            <a:r>
              <a:rPr sz="1200" spc="-7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use</a:t>
            </a:r>
            <a:r>
              <a:rPr sz="1200" spc="-15" dirty="0">
                <a:latin typeface="Times New Roman"/>
                <a:cs typeface="Times New Roman"/>
              </a:rPr>
              <a:t> </a:t>
            </a:r>
            <a:r>
              <a:rPr sz="1200" b="1" dirty="0">
                <a:latin typeface="Times New Roman"/>
                <a:cs typeface="Times New Roman"/>
              </a:rPr>
              <a:t>Fast</a:t>
            </a:r>
            <a:r>
              <a:rPr sz="1200" b="1" spc="-10" dirty="0">
                <a:latin typeface="Times New Roman"/>
                <a:cs typeface="Times New Roman"/>
              </a:rPr>
              <a:t> </a:t>
            </a:r>
            <a:r>
              <a:rPr sz="1200" b="1" dirty="0">
                <a:latin typeface="Times New Roman"/>
                <a:cs typeface="Times New Roman"/>
              </a:rPr>
              <a:t>memory</a:t>
            </a:r>
            <a:r>
              <a:rPr sz="1200" b="1" spc="15" dirty="0">
                <a:latin typeface="Times New Roman"/>
                <a:cs typeface="Times New Roman"/>
              </a:rPr>
              <a:t> </a:t>
            </a:r>
            <a:r>
              <a:rPr sz="1200" b="1" dirty="0">
                <a:latin typeface="Times New Roman"/>
                <a:cs typeface="Times New Roman"/>
              </a:rPr>
              <a:t>to</a:t>
            </a:r>
            <a:r>
              <a:rPr sz="1200" b="1" spc="-10" dirty="0">
                <a:latin typeface="Times New Roman"/>
                <a:cs typeface="Times New Roman"/>
              </a:rPr>
              <a:t> communicate</a:t>
            </a:r>
            <a:r>
              <a:rPr sz="1200" b="1" spc="15" dirty="0">
                <a:latin typeface="Times New Roman"/>
                <a:cs typeface="Times New Roman"/>
              </a:rPr>
              <a:t> </a:t>
            </a:r>
            <a:r>
              <a:rPr sz="1200" b="1" dirty="0">
                <a:latin typeface="Times New Roman"/>
                <a:cs typeface="Times New Roman"/>
              </a:rPr>
              <a:t>with</a:t>
            </a:r>
            <a:r>
              <a:rPr sz="1200" b="1" spc="-25" dirty="0">
                <a:latin typeface="Times New Roman"/>
                <a:cs typeface="Times New Roman"/>
              </a:rPr>
              <a:t> </a:t>
            </a:r>
            <a:r>
              <a:rPr sz="1200" b="1" dirty="0">
                <a:latin typeface="Times New Roman"/>
                <a:cs typeface="Times New Roman"/>
              </a:rPr>
              <a:t>the</a:t>
            </a:r>
            <a:r>
              <a:rPr sz="1200" b="1" spc="-20" dirty="0">
                <a:latin typeface="Times New Roman"/>
                <a:cs typeface="Times New Roman"/>
              </a:rPr>
              <a:t> CPU.</a:t>
            </a:r>
            <a:endParaRPr sz="1200">
              <a:latin typeface="Times New Roman"/>
              <a:cs typeface="Times New Roman"/>
            </a:endParaRPr>
          </a:p>
        </p:txBody>
      </p:sp>
      <p:grpSp>
        <p:nvGrpSpPr>
          <p:cNvPr id="8" name="object 8"/>
          <p:cNvGrpSpPr/>
          <p:nvPr/>
        </p:nvGrpSpPr>
        <p:grpSpPr>
          <a:xfrm>
            <a:off x="5535167" y="5064252"/>
            <a:ext cx="733425" cy="1313815"/>
            <a:chOff x="5535167" y="5064252"/>
            <a:chExt cx="733425" cy="1313815"/>
          </a:xfrm>
        </p:grpSpPr>
        <p:pic>
          <p:nvPicPr>
            <p:cNvPr id="9" name="object 9"/>
            <p:cNvPicPr/>
            <p:nvPr/>
          </p:nvPicPr>
          <p:blipFill>
            <a:blip r:embed="rId2" cstate="print"/>
            <a:stretch>
              <a:fillRect/>
            </a:stretch>
          </p:blipFill>
          <p:spPr>
            <a:xfrm>
              <a:off x="5535167" y="5064252"/>
              <a:ext cx="501396" cy="801624"/>
            </a:xfrm>
            <a:prstGeom prst="rect">
              <a:avLst/>
            </a:prstGeom>
          </p:spPr>
        </p:pic>
        <p:pic>
          <p:nvPicPr>
            <p:cNvPr id="10" name="object 10"/>
            <p:cNvPicPr/>
            <p:nvPr/>
          </p:nvPicPr>
          <p:blipFill>
            <a:blip r:embed="rId2" cstate="print"/>
            <a:stretch>
              <a:fillRect/>
            </a:stretch>
          </p:blipFill>
          <p:spPr>
            <a:xfrm>
              <a:off x="5675375" y="5257800"/>
              <a:ext cx="501396" cy="801624"/>
            </a:xfrm>
            <a:prstGeom prst="rect">
              <a:avLst/>
            </a:prstGeom>
          </p:spPr>
        </p:pic>
        <p:pic>
          <p:nvPicPr>
            <p:cNvPr id="11" name="object 11"/>
            <p:cNvPicPr/>
            <p:nvPr/>
          </p:nvPicPr>
          <p:blipFill>
            <a:blip r:embed="rId2" cstate="print"/>
            <a:stretch>
              <a:fillRect/>
            </a:stretch>
          </p:blipFill>
          <p:spPr>
            <a:xfrm>
              <a:off x="5765291" y="5576316"/>
              <a:ext cx="502920" cy="801624"/>
            </a:xfrm>
            <a:prstGeom prst="rect">
              <a:avLst/>
            </a:prstGeom>
          </p:spPr>
        </p:pic>
      </p:gr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a:t>
            </a:fld>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R="3451225" algn="ctr">
              <a:lnSpc>
                <a:spcPct val="100000"/>
              </a:lnSpc>
              <a:spcBef>
                <a:spcPts val="900"/>
              </a:spcBef>
            </a:pPr>
            <a:r>
              <a:rPr sz="2200" dirty="0">
                <a:latin typeface="Georgia"/>
                <a:cs typeface="Georgia"/>
              </a:rPr>
              <a:t>Main</a:t>
            </a:r>
            <a:r>
              <a:rPr sz="2200" spc="-60" dirty="0">
                <a:latin typeface="Georgia"/>
                <a:cs typeface="Georgia"/>
              </a:rPr>
              <a:t> </a:t>
            </a:r>
            <a:r>
              <a:rPr sz="2200" spc="-10" dirty="0">
                <a:latin typeface="Georgia"/>
                <a:cs typeface="Georgia"/>
              </a:rPr>
              <a:t>Principles</a:t>
            </a:r>
            <a:endParaRPr sz="2200" dirty="0">
              <a:latin typeface="Georgia"/>
              <a:cs typeface="Georgia"/>
            </a:endParaRPr>
          </a:p>
          <a:p>
            <a:pPr marL="434975" indent="-172720">
              <a:lnSpc>
                <a:spcPct val="100000"/>
              </a:lnSpc>
              <a:spcBef>
                <a:spcPts val="1460"/>
              </a:spcBef>
              <a:buClr>
                <a:srgbClr val="3E762B"/>
              </a:buClr>
              <a:buFont typeface="Wingdings"/>
              <a:buChar char=""/>
              <a:tabLst>
                <a:tab pos="434975" algn="l"/>
              </a:tabLst>
            </a:pP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memory</a:t>
            </a:r>
            <a:r>
              <a:rPr sz="1200" spc="-25" dirty="0">
                <a:latin typeface="Times New Roman"/>
                <a:cs typeface="Times New Roman"/>
              </a:rPr>
              <a:t> </a:t>
            </a:r>
            <a:r>
              <a:rPr sz="1200" dirty="0">
                <a:latin typeface="Times New Roman"/>
                <a:cs typeface="Times New Roman"/>
              </a:rPr>
              <a:t>unit</a:t>
            </a:r>
            <a:r>
              <a:rPr sz="1200" spc="-25" dirty="0">
                <a:latin typeface="Times New Roman"/>
                <a:cs typeface="Times New Roman"/>
              </a:rPr>
              <a:t> </a:t>
            </a:r>
            <a:r>
              <a:rPr sz="1200" dirty="0">
                <a:latin typeface="Times New Roman"/>
                <a:cs typeface="Times New Roman"/>
              </a:rPr>
              <a:t>that</a:t>
            </a:r>
            <a:r>
              <a:rPr sz="1200" spc="-20" dirty="0">
                <a:latin typeface="Times New Roman"/>
                <a:cs typeface="Times New Roman"/>
              </a:rPr>
              <a:t> </a:t>
            </a:r>
            <a:r>
              <a:rPr sz="1200" spc="-10" dirty="0">
                <a:latin typeface="Times New Roman"/>
                <a:cs typeface="Times New Roman"/>
              </a:rPr>
              <a:t>communicates</a:t>
            </a:r>
            <a:r>
              <a:rPr sz="1200" spc="-30" dirty="0">
                <a:latin typeface="Times New Roman"/>
                <a:cs typeface="Times New Roman"/>
              </a:rPr>
              <a:t> </a:t>
            </a:r>
            <a:r>
              <a:rPr sz="1200" dirty="0">
                <a:latin typeface="Times New Roman"/>
                <a:cs typeface="Times New Roman"/>
              </a:rPr>
              <a:t>directly</a:t>
            </a:r>
            <a:r>
              <a:rPr sz="1200" spc="-25" dirty="0">
                <a:latin typeface="Times New Roman"/>
                <a:cs typeface="Times New Roman"/>
              </a:rPr>
              <a:t> </a:t>
            </a:r>
            <a:r>
              <a:rPr sz="1200" dirty="0">
                <a:latin typeface="Times New Roman"/>
                <a:cs typeface="Times New Roman"/>
              </a:rPr>
              <a:t>with</a:t>
            </a:r>
            <a:r>
              <a:rPr sz="1200" spc="-1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CPU</a:t>
            </a:r>
            <a:r>
              <a:rPr sz="1200" spc="-15"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called</a:t>
            </a:r>
            <a:r>
              <a:rPr sz="1200" spc="-20" dirty="0">
                <a:latin typeface="Times New Roman"/>
                <a:cs typeface="Times New Roman"/>
              </a:rPr>
              <a:t> </a:t>
            </a:r>
            <a:r>
              <a:rPr sz="1200" spc="-25" dirty="0">
                <a:latin typeface="Times New Roman"/>
                <a:cs typeface="Times New Roman"/>
              </a:rPr>
              <a:t>the</a:t>
            </a:r>
            <a:endParaRPr sz="1200" dirty="0">
              <a:latin typeface="Times New Roman"/>
              <a:cs typeface="Times New Roman"/>
            </a:endParaRPr>
          </a:p>
          <a:p>
            <a:pPr marR="3514090" algn="ctr">
              <a:lnSpc>
                <a:spcPct val="100000"/>
              </a:lnSpc>
              <a:spcBef>
                <a:spcPts val="5"/>
              </a:spcBef>
            </a:pPr>
            <a:r>
              <a:rPr sz="1200" b="1" dirty="0">
                <a:solidFill>
                  <a:srgbClr val="3E762B"/>
                </a:solidFill>
                <a:latin typeface="Times New Roman"/>
                <a:cs typeface="Times New Roman"/>
              </a:rPr>
              <a:t>Main</a:t>
            </a:r>
            <a:r>
              <a:rPr sz="1200" b="1" spc="-40" dirty="0">
                <a:solidFill>
                  <a:srgbClr val="3E762B"/>
                </a:solidFill>
                <a:latin typeface="Times New Roman"/>
                <a:cs typeface="Times New Roman"/>
              </a:rPr>
              <a:t> </a:t>
            </a:r>
            <a:r>
              <a:rPr sz="1200" b="1" dirty="0">
                <a:solidFill>
                  <a:srgbClr val="3E762B"/>
                </a:solidFill>
                <a:latin typeface="Times New Roman"/>
                <a:cs typeface="Times New Roman"/>
              </a:rPr>
              <a:t>Memory</a:t>
            </a:r>
            <a:r>
              <a:rPr sz="1200" b="1" spc="-20" dirty="0">
                <a:solidFill>
                  <a:srgbClr val="3E762B"/>
                </a:solidFill>
                <a:latin typeface="Times New Roman"/>
                <a:cs typeface="Times New Roman"/>
              </a:rPr>
              <a:t> </a:t>
            </a:r>
            <a:r>
              <a:rPr sz="1200" spc="-10" dirty="0">
                <a:latin typeface="Times New Roman"/>
                <a:cs typeface="Times New Roman"/>
              </a:rPr>
              <a:t>(RAM)</a:t>
            </a:r>
            <a:r>
              <a:rPr sz="1200" b="1" spc="-10" dirty="0">
                <a:solidFill>
                  <a:srgbClr val="3E762B"/>
                </a:solidFill>
                <a:latin typeface="Times New Roman"/>
                <a:cs typeface="Times New Roman"/>
              </a:rPr>
              <a:t>.</a:t>
            </a:r>
            <a:endParaRPr sz="1200" dirty="0">
              <a:latin typeface="Times New Roman"/>
              <a:cs typeface="Times New Roman"/>
            </a:endParaRPr>
          </a:p>
          <a:p>
            <a:pPr marL="662305" marR="895350" lvl="1" indent="-116839">
              <a:lnSpc>
                <a:spcPct val="100000"/>
              </a:lnSpc>
              <a:spcBef>
                <a:spcPts val="600"/>
              </a:spcBef>
              <a:buClr>
                <a:srgbClr val="3E762B"/>
              </a:buClr>
              <a:buFont typeface="Arial MT"/>
              <a:buChar char="•"/>
              <a:tabLst>
                <a:tab pos="664845" algn="l"/>
              </a:tabLst>
            </a:pPr>
            <a:r>
              <a:rPr sz="1100" dirty="0">
                <a:latin typeface="Times New Roman"/>
                <a:cs typeface="Times New Roman"/>
              </a:rPr>
              <a:t>Only</a:t>
            </a:r>
            <a:r>
              <a:rPr sz="1100" spc="-15" dirty="0">
                <a:latin typeface="Times New Roman"/>
                <a:cs typeface="Times New Roman"/>
              </a:rPr>
              <a:t> </a:t>
            </a:r>
            <a:r>
              <a:rPr sz="1100" dirty="0">
                <a:latin typeface="Times New Roman"/>
                <a:cs typeface="Times New Roman"/>
              </a:rPr>
              <a:t>programs</a:t>
            </a:r>
            <a:r>
              <a:rPr sz="1100" spc="10" dirty="0">
                <a:latin typeface="Times New Roman"/>
                <a:cs typeface="Times New Roman"/>
              </a:rPr>
              <a:t> </a:t>
            </a:r>
            <a:r>
              <a:rPr sz="1100" dirty="0">
                <a:latin typeface="Times New Roman"/>
                <a:cs typeface="Times New Roman"/>
              </a:rPr>
              <a:t>and</a:t>
            </a:r>
            <a:r>
              <a:rPr sz="1100" spc="-5" dirty="0">
                <a:latin typeface="Times New Roman"/>
                <a:cs typeface="Times New Roman"/>
              </a:rPr>
              <a:t> </a:t>
            </a:r>
            <a:r>
              <a:rPr sz="1100" dirty="0">
                <a:latin typeface="Times New Roman"/>
                <a:cs typeface="Times New Roman"/>
              </a:rPr>
              <a:t>data</a:t>
            </a:r>
            <a:r>
              <a:rPr sz="1100" spc="-25" dirty="0">
                <a:latin typeface="Times New Roman"/>
                <a:cs typeface="Times New Roman"/>
              </a:rPr>
              <a:t> </a:t>
            </a:r>
            <a:r>
              <a:rPr sz="1100" dirty="0">
                <a:latin typeface="Times New Roman"/>
                <a:cs typeface="Times New Roman"/>
              </a:rPr>
              <a:t>currently</a:t>
            </a:r>
            <a:r>
              <a:rPr sz="1100" spc="-35" dirty="0">
                <a:latin typeface="Times New Roman"/>
                <a:cs typeface="Times New Roman"/>
              </a:rPr>
              <a:t> </a:t>
            </a:r>
            <a:r>
              <a:rPr sz="1100" dirty="0">
                <a:latin typeface="Times New Roman"/>
                <a:cs typeface="Times New Roman"/>
              </a:rPr>
              <a:t>needed</a:t>
            </a:r>
            <a:r>
              <a:rPr sz="1100" spc="-10" dirty="0">
                <a:latin typeface="Times New Roman"/>
                <a:cs typeface="Times New Roman"/>
              </a:rPr>
              <a:t> </a:t>
            </a:r>
            <a:r>
              <a:rPr sz="1100" dirty="0">
                <a:latin typeface="Times New Roman"/>
                <a:cs typeface="Times New Roman"/>
              </a:rPr>
              <a:t>by</a:t>
            </a:r>
            <a:r>
              <a:rPr sz="1100" spc="-1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processor</a:t>
            </a:r>
            <a:r>
              <a:rPr sz="1100" spc="-35" dirty="0">
                <a:latin typeface="Times New Roman"/>
                <a:cs typeface="Times New Roman"/>
              </a:rPr>
              <a:t> </a:t>
            </a:r>
            <a:r>
              <a:rPr sz="1100" dirty="0">
                <a:latin typeface="Times New Roman"/>
                <a:cs typeface="Times New Roman"/>
              </a:rPr>
              <a:t>reside</a:t>
            </a:r>
            <a:r>
              <a:rPr sz="1100" spc="-20" dirty="0">
                <a:latin typeface="Times New Roman"/>
                <a:cs typeface="Times New Roman"/>
              </a:rPr>
              <a:t> </a:t>
            </a:r>
            <a:r>
              <a:rPr sz="1100" dirty="0">
                <a:latin typeface="Times New Roman"/>
                <a:cs typeface="Times New Roman"/>
              </a:rPr>
              <a:t>in</a:t>
            </a:r>
            <a:r>
              <a:rPr sz="1100" spc="-15"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spc="-20" dirty="0">
                <a:latin typeface="Times New Roman"/>
                <a:cs typeface="Times New Roman"/>
              </a:rPr>
              <a:t>main 	</a:t>
            </a:r>
            <a:r>
              <a:rPr sz="1100" spc="-10" dirty="0">
                <a:latin typeface="Times New Roman"/>
                <a:cs typeface="Times New Roman"/>
              </a:rPr>
              <a:t>memory.</a:t>
            </a:r>
            <a:endParaRPr sz="1100" dirty="0">
              <a:latin typeface="Times New Roman"/>
              <a:cs typeface="Times New Roman"/>
            </a:endParaRPr>
          </a:p>
          <a:p>
            <a:pPr lvl="1">
              <a:lnSpc>
                <a:spcPct val="100000"/>
              </a:lnSpc>
              <a:buClr>
                <a:srgbClr val="3E762B"/>
              </a:buClr>
              <a:buFont typeface="Arial MT"/>
              <a:buChar char="•"/>
            </a:pPr>
            <a:endParaRPr sz="1100" dirty="0">
              <a:latin typeface="Times New Roman"/>
              <a:cs typeface="Times New Roman"/>
            </a:endParaRPr>
          </a:p>
          <a:p>
            <a:pPr lvl="1">
              <a:lnSpc>
                <a:spcPct val="100000"/>
              </a:lnSpc>
              <a:spcBef>
                <a:spcPts val="105"/>
              </a:spcBef>
              <a:buClr>
                <a:srgbClr val="3E762B"/>
              </a:buClr>
              <a:buFont typeface="Arial MT"/>
              <a:buChar char="•"/>
            </a:pPr>
            <a:endParaRPr sz="1100" dirty="0">
              <a:latin typeface="Times New Roman"/>
              <a:cs typeface="Times New Roman"/>
            </a:endParaRPr>
          </a:p>
          <a:p>
            <a:pPr marL="434975" marR="1144270" indent="-172720">
              <a:lnSpc>
                <a:spcPct val="100000"/>
              </a:lnSpc>
              <a:spcBef>
                <a:spcPts val="5"/>
              </a:spcBef>
              <a:buClr>
                <a:srgbClr val="3E762B"/>
              </a:buClr>
              <a:buFont typeface="Wingdings"/>
              <a:buChar char=""/>
              <a:tabLst>
                <a:tab pos="436245" algn="l"/>
              </a:tabLst>
            </a:pPr>
            <a:r>
              <a:rPr sz="1200" dirty="0">
                <a:latin typeface="Times New Roman"/>
                <a:cs typeface="Times New Roman"/>
              </a:rPr>
              <a:t>Devices</a:t>
            </a:r>
            <a:r>
              <a:rPr sz="1200" spc="-30" dirty="0">
                <a:latin typeface="Times New Roman"/>
                <a:cs typeface="Times New Roman"/>
              </a:rPr>
              <a:t> </a:t>
            </a:r>
            <a:r>
              <a:rPr sz="1200" dirty="0">
                <a:latin typeface="Times New Roman"/>
                <a:cs typeface="Times New Roman"/>
              </a:rPr>
              <a:t>that</a:t>
            </a:r>
            <a:r>
              <a:rPr sz="1200" spc="-55" dirty="0">
                <a:latin typeface="Times New Roman"/>
                <a:cs typeface="Times New Roman"/>
              </a:rPr>
              <a:t> </a:t>
            </a:r>
            <a:r>
              <a:rPr sz="1200" dirty="0">
                <a:latin typeface="Times New Roman"/>
                <a:cs typeface="Times New Roman"/>
              </a:rPr>
              <a:t>provide</a:t>
            </a:r>
            <a:r>
              <a:rPr sz="1200" spc="-35" dirty="0">
                <a:latin typeface="Times New Roman"/>
                <a:cs typeface="Times New Roman"/>
              </a:rPr>
              <a:t> </a:t>
            </a:r>
            <a:r>
              <a:rPr sz="1200" dirty="0">
                <a:latin typeface="Times New Roman"/>
                <a:cs typeface="Times New Roman"/>
              </a:rPr>
              <a:t>backup</a:t>
            </a:r>
            <a:r>
              <a:rPr sz="1200" spc="-40" dirty="0">
                <a:latin typeface="Times New Roman"/>
                <a:cs typeface="Times New Roman"/>
              </a:rPr>
              <a:t> </a:t>
            </a:r>
            <a:r>
              <a:rPr sz="1200" dirty="0">
                <a:latin typeface="Times New Roman"/>
                <a:cs typeface="Times New Roman"/>
              </a:rPr>
              <a:t>storage</a:t>
            </a:r>
            <a:r>
              <a:rPr sz="1200" spc="-25" dirty="0">
                <a:latin typeface="Times New Roman"/>
                <a:cs typeface="Times New Roman"/>
              </a:rPr>
              <a:t> </a:t>
            </a:r>
            <a:r>
              <a:rPr sz="1200" dirty="0">
                <a:latin typeface="Times New Roman"/>
                <a:cs typeface="Times New Roman"/>
              </a:rPr>
              <a:t>are</a:t>
            </a:r>
            <a:r>
              <a:rPr sz="1200" spc="-40" dirty="0">
                <a:latin typeface="Times New Roman"/>
                <a:cs typeface="Times New Roman"/>
              </a:rPr>
              <a:t> </a:t>
            </a:r>
            <a:r>
              <a:rPr sz="1200" dirty="0">
                <a:latin typeface="Times New Roman"/>
                <a:cs typeface="Times New Roman"/>
              </a:rPr>
              <a:t>called</a:t>
            </a:r>
            <a:r>
              <a:rPr sz="1200" spc="-25" dirty="0">
                <a:latin typeface="Times New Roman"/>
                <a:cs typeface="Times New Roman"/>
              </a:rPr>
              <a:t> </a:t>
            </a:r>
            <a:r>
              <a:rPr sz="1200" b="1" dirty="0">
                <a:solidFill>
                  <a:srgbClr val="3E762B"/>
                </a:solidFill>
                <a:latin typeface="Times New Roman"/>
                <a:cs typeface="Times New Roman"/>
              </a:rPr>
              <a:t>Auxiliary</a:t>
            </a:r>
            <a:r>
              <a:rPr sz="1200" b="1" spc="-50" dirty="0">
                <a:solidFill>
                  <a:srgbClr val="3E762B"/>
                </a:solidFill>
                <a:latin typeface="Times New Roman"/>
                <a:cs typeface="Times New Roman"/>
              </a:rPr>
              <a:t> </a:t>
            </a:r>
            <a:r>
              <a:rPr sz="1200" b="1" dirty="0">
                <a:solidFill>
                  <a:srgbClr val="3E762B"/>
                </a:solidFill>
                <a:latin typeface="Times New Roman"/>
                <a:cs typeface="Times New Roman"/>
              </a:rPr>
              <a:t>Memory</a:t>
            </a:r>
            <a:r>
              <a:rPr sz="1200" b="1" spc="-20" dirty="0">
                <a:solidFill>
                  <a:srgbClr val="3E762B"/>
                </a:solidFill>
                <a:latin typeface="Times New Roman"/>
                <a:cs typeface="Times New Roman"/>
              </a:rPr>
              <a:t> </a:t>
            </a:r>
            <a:r>
              <a:rPr sz="1200" b="1" spc="-25" dirty="0">
                <a:solidFill>
                  <a:srgbClr val="3E762B"/>
                </a:solidFill>
                <a:latin typeface="Times New Roman"/>
                <a:cs typeface="Times New Roman"/>
              </a:rPr>
              <a:t>or 	</a:t>
            </a:r>
            <a:r>
              <a:rPr sz="1200" b="1" dirty="0">
                <a:solidFill>
                  <a:srgbClr val="3E762B"/>
                </a:solidFill>
                <a:latin typeface="Times New Roman"/>
                <a:cs typeface="Times New Roman"/>
              </a:rPr>
              <a:t>Secondary</a:t>
            </a:r>
            <a:r>
              <a:rPr sz="1200" b="1" spc="-40" dirty="0">
                <a:solidFill>
                  <a:srgbClr val="3E762B"/>
                </a:solidFill>
                <a:latin typeface="Times New Roman"/>
                <a:cs typeface="Times New Roman"/>
              </a:rPr>
              <a:t> </a:t>
            </a:r>
            <a:r>
              <a:rPr sz="1200" b="1" spc="-10" dirty="0">
                <a:solidFill>
                  <a:srgbClr val="3E762B"/>
                </a:solidFill>
                <a:latin typeface="Times New Roman"/>
                <a:cs typeface="Times New Roman"/>
              </a:rPr>
              <a:t>Memory</a:t>
            </a:r>
            <a:r>
              <a:rPr sz="1200" spc="-10" dirty="0">
                <a:latin typeface="Times New Roman"/>
                <a:cs typeface="Times New Roman"/>
              </a:rPr>
              <a:t>.</a:t>
            </a:r>
            <a:endParaRPr sz="1200" dirty="0">
              <a:latin typeface="Times New Roman"/>
              <a:cs typeface="Times New Roman"/>
            </a:endParaRPr>
          </a:p>
          <a:p>
            <a:pPr marL="662940" lvl="1" indent="-116839">
              <a:lnSpc>
                <a:spcPct val="100000"/>
              </a:lnSpc>
              <a:spcBef>
                <a:spcPts val="605"/>
              </a:spcBef>
              <a:buClr>
                <a:srgbClr val="3E762B"/>
              </a:buClr>
              <a:buFont typeface="Arial MT"/>
              <a:buChar char="•"/>
              <a:tabLst>
                <a:tab pos="662940" algn="l"/>
              </a:tabLst>
            </a:pPr>
            <a:r>
              <a:rPr sz="1100" dirty="0">
                <a:latin typeface="Times New Roman"/>
                <a:cs typeface="Times New Roman"/>
              </a:rPr>
              <a:t>The</a:t>
            </a:r>
            <a:r>
              <a:rPr sz="1100" spc="-20" dirty="0">
                <a:latin typeface="Times New Roman"/>
                <a:cs typeface="Times New Roman"/>
              </a:rPr>
              <a:t> </a:t>
            </a:r>
            <a:r>
              <a:rPr sz="1100" dirty="0">
                <a:latin typeface="Times New Roman"/>
                <a:cs typeface="Times New Roman"/>
              </a:rPr>
              <a:t>most common auxiliary</a:t>
            </a:r>
            <a:r>
              <a:rPr sz="1100" spc="-45" dirty="0">
                <a:latin typeface="Times New Roman"/>
                <a:cs typeface="Times New Roman"/>
              </a:rPr>
              <a:t> </a:t>
            </a:r>
            <a:r>
              <a:rPr sz="1100" dirty="0">
                <a:latin typeface="Times New Roman"/>
                <a:cs typeface="Times New Roman"/>
              </a:rPr>
              <a:t>memory</a:t>
            </a:r>
            <a:r>
              <a:rPr sz="1100" spc="15" dirty="0">
                <a:latin typeface="Times New Roman"/>
                <a:cs typeface="Times New Roman"/>
              </a:rPr>
              <a:t> </a:t>
            </a:r>
            <a:r>
              <a:rPr sz="1100" dirty="0">
                <a:latin typeface="Times New Roman"/>
                <a:cs typeface="Times New Roman"/>
              </a:rPr>
              <a:t>devices</a:t>
            </a:r>
            <a:r>
              <a:rPr sz="1100" spc="-30" dirty="0">
                <a:latin typeface="Times New Roman"/>
                <a:cs typeface="Times New Roman"/>
              </a:rPr>
              <a:t> </a:t>
            </a:r>
            <a:r>
              <a:rPr sz="1100" dirty="0">
                <a:latin typeface="Times New Roman"/>
                <a:cs typeface="Times New Roman"/>
              </a:rPr>
              <a:t>used</a:t>
            </a:r>
            <a:r>
              <a:rPr sz="1100" spc="-20" dirty="0">
                <a:latin typeface="Times New Roman"/>
                <a:cs typeface="Times New Roman"/>
              </a:rPr>
              <a:t> </a:t>
            </a:r>
            <a:r>
              <a:rPr sz="1100" dirty="0">
                <a:latin typeface="Times New Roman"/>
                <a:cs typeface="Times New Roman"/>
              </a:rPr>
              <a:t>in</a:t>
            </a:r>
            <a:r>
              <a:rPr sz="1100" spc="-20" dirty="0">
                <a:latin typeface="Times New Roman"/>
                <a:cs typeface="Times New Roman"/>
              </a:rPr>
              <a:t> </a:t>
            </a:r>
            <a:r>
              <a:rPr sz="1100" dirty="0">
                <a:latin typeface="Times New Roman"/>
                <a:cs typeface="Times New Roman"/>
              </a:rPr>
              <a:t>computer</a:t>
            </a:r>
            <a:r>
              <a:rPr sz="1100" spc="-5" dirty="0">
                <a:latin typeface="Times New Roman"/>
                <a:cs typeface="Times New Roman"/>
              </a:rPr>
              <a:t> </a:t>
            </a:r>
            <a:r>
              <a:rPr sz="1100" dirty="0">
                <a:latin typeface="Times New Roman"/>
                <a:cs typeface="Times New Roman"/>
              </a:rPr>
              <a:t>systems</a:t>
            </a:r>
            <a:r>
              <a:rPr sz="1100" spc="-15" dirty="0">
                <a:latin typeface="Times New Roman"/>
                <a:cs typeface="Times New Roman"/>
              </a:rPr>
              <a:t> </a:t>
            </a:r>
            <a:r>
              <a:rPr sz="1100" spc="-25" dirty="0">
                <a:latin typeface="Times New Roman"/>
                <a:cs typeface="Times New Roman"/>
              </a:rPr>
              <a:t>are</a:t>
            </a:r>
            <a:endParaRPr sz="1100" dirty="0">
              <a:latin typeface="Times New Roman"/>
              <a:cs typeface="Times New Roman"/>
            </a:endParaRPr>
          </a:p>
          <a:p>
            <a:pPr marL="664845">
              <a:lnSpc>
                <a:spcPct val="100000"/>
              </a:lnSpc>
            </a:pPr>
            <a:r>
              <a:rPr sz="1100" b="1" dirty="0">
                <a:latin typeface="Times New Roman"/>
                <a:cs typeface="Times New Roman"/>
              </a:rPr>
              <a:t>magnetic</a:t>
            </a:r>
            <a:r>
              <a:rPr sz="1100" b="1" spc="-25" dirty="0">
                <a:latin typeface="Times New Roman"/>
                <a:cs typeface="Times New Roman"/>
              </a:rPr>
              <a:t> </a:t>
            </a:r>
            <a:r>
              <a:rPr sz="1100" b="1" dirty="0">
                <a:latin typeface="Times New Roman"/>
                <a:cs typeface="Times New Roman"/>
              </a:rPr>
              <a:t>disks</a:t>
            </a:r>
            <a:r>
              <a:rPr sz="1100" b="1" spc="-25" dirty="0">
                <a:latin typeface="Times New Roman"/>
                <a:cs typeface="Times New Roman"/>
              </a:rPr>
              <a:t> </a:t>
            </a:r>
            <a:r>
              <a:rPr sz="1100" b="1" dirty="0">
                <a:latin typeface="Times New Roman"/>
                <a:cs typeface="Times New Roman"/>
              </a:rPr>
              <a:t>and </a:t>
            </a:r>
            <a:r>
              <a:rPr sz="1100" b="1" spc="-10" dirty="0">
                <a:latin typeface="Times New Roman"/>
                <a:cs typeface="Times New Roman"/>
              </a:rPr>
              <a:t>tapes</a:t>
            </a:r>
            <a:r>
              <a:rPr sz="1100" spc="-10" dirty="0">
                <a:latin typeface="Times New Roman"/>
                <a:cs typeface="Times New Roman"/>
              </a:rPr>
              <a:t>.</a:t>
            </a:r>
            <a:endParaRPr sz="1100" dirty="0">
              <a:latin typeface="Times New Roman"/>
              <a:cs typeface="Times New Roman"/>
            </a:endParaRPr>
          </a:p>
          <a:p>
            <a:pPr marL="662940" lvl="1" indent="-116839">
              <a:lnSpc>
                <a:spcPct val="100000"/>
              </a:lnSpc>
              <a:spcBef>
                <a:spcPts val="600"/>
              </a:spcBef>
              <a:buClr>
                <a:srgbClr val="3E762B"/>
              </a:buClr>
              <a:buFont typeface="Arial MT"/>
              <a:buChar char="•"/>
              <a:tabLst>
                <a:tab pos="662940" algn="l"/>
              </a:tabLst>
            </a:pPr>
            <a:r>
              <a:rPr sz="1100" dirty="0">
                <a:latin typeface="Times New Roman"/>
                <a:cs typeface="Times New Roman"/>
              </a:rPr>
              <a:t>They</a:t>
            </a:r>
            <a:r>
              <a:rPr sz="1100" spc="-30" dirty="0">
                <a:latin typeface="Times New Roman"/>
                <a:cs typeface="Times New Roman"/>
              </a:rPr>
              <a:t> </a:t>
            </a:r>
            <a:r>
              <a:rPr sz="1100" dirty="0">
                <a:latin typeface="Times New Roman"/>
                <a:cs typeface="Times New Roman"/>
              </a:rPr>
              <a:t>store</a:t>
            </a:r>
            <a:r>
              <a:rPr sz="1100" spc="-15" dirty="0">
                <a:latin typeface="Times New Roman"/>
                <a:cs typeface="Times New Roman"/>
              </a:rPr>
              <a:t> </a:t>
            </a:r>
            <a:r>
              <a:rPr sz="1100" dirty="0">
                <a:latin typeface="Times New Roman"/>
                <a:cs typeface="Times New Roman"/>
              </a:rPr>
              <a:t>programs, large</a:t>
            </a:r>
            <a:r>
              <a:rPr sz="1100" spc="-15" dirty="0">
                <a:latin typeface="Times New Roman"/>
                <a:cs typeface="Times New Roman"/>
              </a:rPr>
              <a:t> </a:t>
            </a:r>
            <a:r>
              <a:rPr sz="1100" dirty="0">
                <a:latin typeface="Times New Roman"/>
                <a:cs typeface="Times New Roman"/>
              </a:rPr>
              <a:t>data</a:t>
            </a:r>
            <a:r>
              <a:rPr sz="1100" spc="-15" dirty="0">
                <a:latin typeface="Times New Roman"/>
                <a:cs typeface="Times New Roman"/>
              </a:rPr>
              <a:t> </a:t>
            </a:r>
            <a:r>
              <a:rPr sz="1100" dirty="0">
                <a:latin typeface="Times New Roman"/>
                <a:cs typeface="Times New Roman"/>
              </a:rPr>
              <a:t>files,</a:t>
            </a:r>
            <a:r>
              <a:rPr sz="1100" spc="-40" dirty="0">
                <a:latin typeface="Times New Roman"/>
                <a:cs typeface="Times New Roman"/>
              </a:rPr>
              <a:t> </a:t>
            </a:r>
            <a:r>
              <a:rPr sz="1100" dirty="0">
                <a:latin typeface="Times New Roman"/>
                <a:cs typeface="Times New Roman"/>
              </a:rPr>
              <a:t>and</a:t>
            </a:r>
            <a:r>
              <a:rPr sz="1100" spc="-5" dirty="0">
                <a:latin typeface="Times New Roman"/>
                <a:cs typeface="Times New Roman"/>
              </a:rPr>
              <a:t> </a:t>
            </a:r>
            <a:r>
              <a:rPr sz="1100" dirty="0">
                <a:latin typeface="Times New Roman"/>
                <a:cs typeface="Times New Roman"/>
              </a:rPr>
              <a:t>any</a:t>
            </a:r>
            <a:r>
              <a:rPr sz="1100" spc="-15" dirty="0">
                <a:latin typeface="Times New Roman"/>
                <a:cs typeface="Times New Roman"/>
              </a:rPr>
              <a:t> </a:t>
            </a:r>
            <a:r>
              <a:rPr sz="1100" dirty="0">
                <a:latin typeface="Times New Roman"/>
                <a:cs typeface="Times New Roman"/>
              </a:rPr>
              <a:t>other</a:t>
            </a:r>
            <a:r>
              <a:rPr sz="1100" spc="-25" dirty="0">
                <a:latin typeface="Times New Roman"/>
                <a:cs typeface="Times New Roman"/>
              </a:rPr>
              <a:t> </a:t>
            </a:r>
            <a:r>
              <a:rPr sz="1100" dirty="0">
                <a:latin typeface="Times New Roman"/>
                <a:cs typeface="Times New Roman"/>
              </a:rPr>
              <a:t>backup</a:t>
            </a:r>
            <a:r>
              <a:rPr sz="1100" spc="-5" dirty="0">
                <a:latin typeface="Times New Roman"/>
                <a:cs typeface="Times New Roman"/>
              </a:rPr>
              <a:t> </a:t>
            </a:r>
            <a:r>
              <a:rPr sz="1100" spc="-10" dirty="0">
                <a:latin typeface="Times New Roman"/>
                <a:cs typeface="Times New Roman"/>
              </a:rPr>
              <a:t>information.</a:t>
            </a:r>
            <a:endParaRPr sz="1100" dirty="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7" name="object 7"/>
          <p:cNvSpPr txBox="1"/>
          <p:nvPr/>
        </p:nvSpPr>
        <p:spPr>
          <a:xfrm>
            <a:off x="725423" y="5069586"/>
            <a:ext cx="3202940" cy="360680"/>
          </a:xfrm>
          <a:prstGeom prst="rect">
            <a:avLst/>
          </a:prstGeom>
        </p:spPr>
        <p:txBody>
          <a:bodyPr vert="horz" wrap="square" lIns="0" tIns="12065" rIns="0" bIns="0" rtlCol="0">
            <a:spAutoFit/>
          </a:bodyPr>
          <a:lstStyle/>
          <a:p>
            <a:pPr>
              <a:lnSpc>
                <a:spcPct val="100000"/>
              </a:lnSpc>
              <a:spcBef>
                <a:spcPts val="95"/>
              </a:spcBef>
            </a:pPr>
            <a:r>
              <a:rPr sz="2200" dirty="0">
                <a:latin typeface="Georgia"/>
                <a:cs typeface="Georgia"/>
              </a:rPr>
              <a:t>Memory</a:t>
            </a:r>
            <a:r>
              <a:rPr sz="2200" spc="-75" dirty="0">
                <a:latin typeface="Georgia"/>
                <a:cs typeface="Georgia"/>
              </a:rPr>
              <a:t> </a:t>
            </a:r>
            <a:r>
              <a:rPr sz="2200" spc="-10" dirty="0">
                <a:latin typeface="Georgia"/>
                <a:cs typeface="Georgia"/>
              </a:rPr>
              <a:t>Hierarchy</a:t>
            </a:r>
            <a:r>
              <a:rPr sz="2200" spc="-70" dirty="0">
                <a:latin typeface="Georgia"/>
                <a:cs typeface="Georgia"/>
              </a:rPr>
              <a:t> </a:t>
            </a:r>
            <a:r>
              <a:rPr sz="2200" spc="-10" dirty="0">
                <a:latin typeface="Georgia"/>
                <a:cs typeface="Georgia"/>
              </a:rPr>
              <a:t>Levels</a:t>
            </a:r>
            <a:endParaRPr sz="2200">
              <a:latin typeface="Georgia"/>
              <a:cs typeface="Georgia"/>
            </a:endParaRPr>
          </a:p>
        </p:txBody>
      </p:sp>
      <p:pic>
        <p:nvPicPr>
          <p:cNvPr id="8" name="object 8"/>
          <p:cNvPicPr/>
          <p:nvPr/>
        </p:nvPicPr>
        <p:blipFill>
          <a:blip r:embed="rId3" cstate="print"/>
          <a:stretch>
            <a:fillRect/>
          </a:stretch>
        </p:blipFill>
        <p:spPr>
          <a:xfrm>
            <a:off x="960119" y="5597652"/>
            <a:ext cx="4937759" cy="2162556"/>
          </a:xfrm>
          <a:prstGeom prst="rect">
            <a:avLst/>
          </a:prstGeom>
        </p:spPr>
      </p:pic>
      <p:sp>
        <p:nvSpPr>
          <p:cNvPr id="9" name="object 9"/>
          <p:cNvSpPr txBox="1"/>
          <p:nvPr/>
        </p:nvSpPr>
        <p:spPr>
          <a:xfrm>
            <a:off x="725423" y="7878267"/>
            <a:ext cx="2368550" cy="208279"/>
          </a:xfrm>
          <a:prstGeom prst="rect">
            <a:avLst/>
          </a:prstGeom>
        </p:spPr>
        <p:txBody>
          <a:bodyPr vert="horz" wrap="square" lIns="0" tIns="12700" rIns="0" bIns="0" rtlCol="0">
            <a:spAutoFit/>
          </a:bodyPr>
          <a:lstStyle/>
          <a:p>
            <a:pPr>
              <a:lnSpc>
                <a:spcPct val="100000"/>
              </a:lnSpc>
              <a:spcBef>
                <a:spcPts val="100"/>
              </a:spcBef>
            </a:pPr>
            <a:r>
              <a:rPr sz="1200" dirty="0">
                <a:solidFill>
                  <a:srgbClr val="34463C"/>
                </a:solidFill>
                <a:latin typeface="Corbel"/>
                <a:cs typeface="Corbel"/>
              </a:rPr>
              <a:t>The</a:t>
            </a:r>
            <a:r>
              <a:rPr sz="1200" spc="-15" dirty="0">
                <a:solidFill>
                  <a:srgbClr val="34463C"/>
                </a:solidFill>
                <a:latin typeface="Corbel"/>
                <a:cs typeface="Corbel"/>
              </a:rPr>
              <a:t> </a:t>
            </a:r>
            <a:r>
              <a:rPr sz="1200" dirty="0">
                <a:solidFill>
                  <a:srgbClr val="34463C"/>
                </a:solidFill>
                <a:latin typeface="Corbel"/>
                <a:cs typeface="Corbel"/>
              </a:rPr>
              <a:t>arrows</a:t>
            </a:r>
            <a:r>
              <a:rPr sz="1200" spc="-35" dirty="0">
                <a:solidFill>
                  <a:srgbClr val="34463C"/>
                </a:solidFill>
                <a:latin typeface="Corbel"/>
                <a:cs typeface="Corbel"/>
              </a:rPr>
              <a:t> </a:t>
            </a:r>
            <a:r>
              <a:rPr sz="1200" dirty="0">
                <a:solidFill>
                  <a:srgbClr val="34463C"/>
                </a:solidFill>
                <a:latin typeface="Corbel"/>
                <a:cs typeface="Corbel"/>
              </a:rPr>
              <a:t>direction</a:t>
            </a:r>
            <a:r>
              <a:rPr sz="1200" spc="-25" dirty="0">
                <a:solidFill>
                  <a:srgbClr val="34463C"/>
                </a:solidFill>
                <a:latin typeface="Corbel"/>
                <a:cs typeface="Corbel"/>
              </a:rPr>
              <a:t> </a:t>
            </a:r>
            <a:r>
              <a:rPr sz="1200" dirty="0">
                <a:solidFill>
                  <a:srgbClr val="34463C"/>
                </a:solidFill>
                <a:latin typeface="Corbel"/>
                <a:cs typeface="Corbel"/>
              </a:rPr>
              <a:t>from</a:t>
            </a:r>
            <a:r>
              <a:rPr sz="1200" spc="-25" dirty="0">
                <a:solidFill>
                  <a:srgbClr val="34463C"/>
                </a:solidFill>
                <a:latin typeface="Corbel"/>
                <a:cs typeface="Corbel"/>
              </a:rPr>
              <a:t> </a:t>
            </a:r>
            <a:r>
              <a:rPr sz="1200" dirty="0">
                <a:solidFill>
                  <a:srgbClr val="34463C"/>
                </a:solidFill>
                <a:latin typeface="Corbel"/>
                <a:cs typeface="Corbel"/>
              </a:rPr>
              <a:t>low</a:t>
            </a:r>
            <a:r>
              <a:rPr sz="1200" spc="-10" dirty="0">
                <a:solidFill>
                  <a:srgbClr val="34463C"/>
                </a:solidFill>
                <a:latin typeface="Corbel"/>
                <a:cs typeface="Corbel"/>
              </a:rPr>
              <a:t> </a:t>
            </a:r>
            <a:r>
              <a:rPr sz="1200" dirty="0">
                <a:solidFill>
                  <a:srgbClr val="34463C"/>
                </a:solidFill>
                <a:latin typeface="Corbel"/>
                <a:cs typeface="Corbel"/>
              </a:rPr>
              <a:t>to</a:t>
            </a:r>
            <a:r>
              <a:rPr sz="1200" spc="-20" dirty="0">
                <a:solidFill>
                  <a:srgbClr val="34463C"/>
                </a:solidFill>
                <a:latin typeface="Corbel"/>
                <a:cs typeface="Corbel"/>
              </a:rPr>
              <a:t> high</a:t>
            </a:r>
            <a:endParaRPr sz="1200">
              <a:latin typeface="Corbel"/>
              <a:cs typeface="Corbel"/>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3</a:t>
            </a:fld>
            <a:endParaRPr spc="-25" dirty="0"/>
          </a:p>
        </p:txBody>
      </p:sp>
      <p:sp>
        <p:nvSpPr>
          <p:cNvPr id="10" name="object 10"/>
          <p:cNvSpPr txBox="1"/>
          <p:nvPr/>
        </p:nvSpPr>
        <p:spPr>
          <a:xfrm>
            <a:off x="3940175" y="7594472"/>
            <a:ext cx="567055" cy="132080"/>
          </a:xfrm>
          <a:prstGeom prst="rect">
            <a:avLst/>
          </a:prstGeom>
        </p:spPr>
        <p:txBody>
          <a:bodyPr vert="horz" wrap="square" lIns="0" tIns="12065" rIns="0" bIns="0" rtlCol="0">
            <a:spAutoFit/>
          </a:bodyPr>
          <a:lstStyle/>
          <a:p>
            <a:pPr>
              <a:lnSpc>
                <a:spcPct val="100000"/>
              </a:lnSpc>
              <a:spcBef>
                <a:spcPts val="95"/>
              </a:spcBef>
            </a:pPr>
            <a:r>
              <a:rPr sz="700" b="1" spc="-10" dirty="0">
                <a:solidFill>
                  <a:srgbClr val="008080"/>
                </a:solidFill>
                <a:latin typeface="Corbel"/>
                <a:cs typeface="Corbel"/>
              </a:rPr>
              <a:t>Magnetic</a:t>
            </a:r>
            <a:r>
              <a:rPr sz="700" b="1" spc="-15" dirty="0">
                <a:solidFill>
                  <a:srgbClr val="008080"/>
                </a:solidFill>
                <a:latin typeface="Corbel"/>
                <a:cs typeface="Corbel"/>
              </a:rPr>
              <a:t> </a:t>
            </a:r>
            <a:r>
              <a:rPr sz="700" b="1" spc="-20" dirty="0">
                <a:solidFill>
                  <a:srgbClr val="008080"/>
                </a:solidFill>
                <a:latin typeface="Corbel"/>
                <a:cs typeface="Corbel"/>
              </a:rPr>
              <a:t>Tape</a:t>
            </a:r>
            <a:endParaRPr sz="700">
              <a:latin typeface="Corbel"/>
              <a:cs typeface="Corbel"/>
            </a:endParaRPr>
          </a:p>
        </p:txBody>
      </p:sp>
      <p:sp>
        <p:nvSpPr>
          <p:cNvPr id="11" name="object 11"/>
          <p:cNvSpPr txBox="1"/>
          <p:nvPr/>
        </p:nvSpPr>
        <p:spPr>
          <a:xfrm>
            <a:off x="3070225" y="7582661"/>
            <a:ext cx="554990" cy="132080"/>
          </a:xfrm>
          <a:prstGeom prst="rect">
            <a:avLst/>
          </a:prstGeom>
        </p:spPr>
        <p:txBody>
          <a:bodyPr vert="horz" wrap="square" lIns="0" tIns="12065" rIns="0" bIns="0" rtlCol="0">
            <a:spAutoFit/>
          </a:bodyPr>
          <a:lstStyle/>
          <a:p>
            <a:pPr>
              <a:lnSpc>
                <a:spcPct val="100000"/>
              </a:lnSpc>
              <a:spcBef>
                <a:spcPts val="95"/>
              </a:spcBef>
            </a:pPr>
            <a:r>
              <a:rPr sz="700" b="1" spc="-10" dirty="0">
                <a:solidFill>
                  <a:srgbClr val="008080"/>
                </a:solidFill>
                <a:latin typeface="Corbel"/>
                <a:cs typeface="Corbel"/>
              </a:rPr>
              <a:t>Magnetic</a:t>
            </a:r>
            <a:r>
              <a:rPr sz="700" b="1" spc="35" dirty="0">
                <a:solidFill>
                  <a:srgbClr val="008080"/>
                </a:solidFill>
                <a:latin typeface="Corbel"/>
                <a:cs typeface="Corbel"/>
              </a:rPr>
              <a:t> </a:t>
            </a:r>
            <a:r>
              <a:rPr sz="700" b="1" spc="-20" dirty="0">
                <a:solidFill>
                  <a:srgbClr val="008080"/>
                </a:solidFill>
                <a:latin typeface="Corbel"/>
                <a:cs typeface="Corbel"/>
              </a:rPr>
              <a:t>Disk</a:t>
            </a:r>
            <a:endParaRPr sz="700">
              <a:latin typeface="Corbel"/>
              <a:cs typeface="Corbel"/>
            </a:endParaRPr>
          </a:p>
        </p:txBody>
      </p:sp>
      <p:sp>
        <p:nvSpPr>
          <p:cNvPr id="12" name="object 12"/>
          <p:cNvSpPr txBox="1"/>
          <p:nvPr/>
        </p:nvSpPr>
        <p:spPr>
          <a:xfrm>
            <a:off x="3322954" y="6465823"/>
            <a:ext cx="629285" cy="140970"/>
          </a:xfrm>
          <a:prstGeom prst="rect">
            <a:avLst/>
          </a:prstGeom>
        </p:spPr>
        <p:txBody>
          <a:bodyPr vert="horz" wrap="square" lIns="0" tIns="13335" rIns="0" bIns="0" rtlCol="0">
            <a:spAutoFit/>
          </a:bodyPr>
          <a:lstStyle/>
          <a:p>
            <a:pPr>
              <a:lnSpc>
                <a:spcPct val="100000"/>
              </a:lnSpc>
              <a:spcBef>
                <a:spcPts val="105"/>
              </a:spcBef>
            </a:pPr>
            <a:r>
              <a:rPr sz="750" b="1" dirty="0">
                <a:solidFill>
                  <a:srgbClr val="C74300"/>
                </a:solidFill>
                <a:latin typeface="Corbel"/>
                <a:cs typeface="Corbel"/>
              </a:rPr>
              <a:t>Cache</a:t>
            </a:r>
            <a:r>
              <a:rPr sz="750" b="1" spc="-15" dirty="0">
                <a:solidFill>
                  <a:srgbClr val="C74300"/>
                </a:solidFill>
                <a:latin typeface="Corbel"/>
                <a:cs typeface="Corbel"/>
              </a:rPr>
              <a:t> </a:t>
            </a:r>
            <a:r>
              <a:rPr sz="750" b="1" spc="-10" dirty="0">
                <a:solidFill>
                  <a:srgbClr val="C74300"/>
                </a:solidFill>
                <a:latin typeface="Corbel"/>
                <a:cs typeface="Corbel"/>
              </a:rPr>
              <a:t>Memory</a:t>
            </a:r>
            <a:endParaRPr sz="750">
              <a:latin typeface="Corbel"/>
              <a:cs typeface="Corbe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Cache</a:t>
            </a:r>
            <a:r>
              <a:rPr sz="2200" spc="-75" dirty="0">
                <a:latin typeface="Georgia"/>
                <a:cs typeface="Georgia"/>
              </a:rPr>
              <a:t> </a:t>
            </a:r>
            <a:r>
              <a:rPr sz="2200" spc="-10" dirty="0">
                <a:latin typeface="Georgia"/>
                <a:cs typeface="Georgia"/>
              </a:rPr>
              <a:t>Memory</a:t>
            </a:r>
            <a:endParaRPr sz="2200" dirty="0">
              <a:latin typeface="Georgia"/>
              <a:cs typeface="Georgia"/>
            </a:endParaRPr>
          </a:p>
          <a:p>
            <a:pPr marL="432434" indent="-170180">
              <a:lnSpc>
                <a:spcPct val="100000"/>
              </a:lnSpc>
              <a:spcBef>
                <a:spcPts val="1155"/>
              </a:spcBef>
              <a:buClr>
                <a:srgbClr val="3E762B"/>
              </a:buClr>
              <a:buFont typeface="Wingdings"/>
              <a:buChar char=""/>
              <a:tabLst>
                <a:tab pos="432434" algn="l"/>
              </a:tabLst>
            </a:pPr>
            <a:r>
              <a:rPr sz="1200" dirty="0">
                <a:latin typeface="Times New Roman"/>
                <a:cs typeface="Times New Roman"/>
              </a:rPr>
              <a:t>Strategy:</a:t>
            </a:r>
            <a:r>
              <a:rPr sz="1200" spc="-15" dirty="0">
                <a:latin typeface="Times New Roman"/>
                <a:cs typeface="Times New Roman"/>
              </a:rPr>
              <a:t> </a:t>
            </a:r>
            <a:r>
              <a:rPr sz="1200" dirty="0">
                <a:latin typeface="Times New Roman"/>
                <a:cs typeface="Times New Roman"/>
              </a:rPr>
              <a:t>Reduce</a:t>
            </a:r>
            <a:r>
              <a:rPr sz="1200" spc="-45" dirty="0">
                <a:latin typeface="Times New Roman"/>
                <a:cs typeface="Times New Roman"/>
              </a:rPr>
              <a:t> </a:t>
            </a:r>
            <a:r>
              <a:rPr sz="1200" dirty="0">
                <a:latin typeface="Times New Roman"/>
                <a:cs typeface="Times New Roman"/>
              </a:rPr>
              <a:t>average</a:t>
            </a:r>
            <a:r>
              <a:rPr sz="1200" spc="-35" dirty="0">
                <a:latin typeface="Times New Roman"/>
                <a:cs typeface="Times New Roman"/>
              </a:rPr>
              <a:t> </a:t>
            </a:r>
            <a:r>
              <a:rPr sz="1200" dirty="0">
                <a:latin typeface="Times New Roman"/>
                <a:cs typeface="Times New Roman"/>
              </a:rPr>
              <a:t>latency</a:t>
            </a:r>
            <a:r>
              <a:rPr sz="1200" spc="-45" dirty="0">
                <a:latin typeface="Times New Roman"/>
                <a:cs typeface="Times New Roman"/>
              </a:rPr>
              <a:t> </a:t>
            </a:r>
            <a:r>
              <a:rPr sz="1200" dirty="0">
                <a:latin typeface="Times New Roman"/>
                <a:cs typeface="Times New Roman"/>
              </a:rPr>
              <a:t>using</a:t>
            </a:r>
            <a:r>
              <a:rPr sz="1200" spc="-50" dirty="0">
                <a:latin typeface="Times New Roman"/>
                <a:cs typeface="Times New Roman"/>
              </a:rPr>
              <a:t> </a:t>
            </a:r>
            <a:r>
              <a:rPr sz="1200" dirty="0">
                <a:latin typeface="Times New Roman"/>
                <a:cs typeface="Times New Roman"/>
              </a:rPr>
              <a:t>small,</a:t>
            </a:r>
            <a:r>
              <a:rPr sz="1200" spc="-55"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fast</a:t>
            </a:r>
            <a:r>
              <a:rPr sz="1200" spc="-35" dirty="0">
                <a:latin typeface="Times New Roman"/>
                <a:cs typeface="Times New Roman"/>
              </a:rPr>
              <a:t> </a:t>
            </a:r>
            <a:r>
              <a:rPr sz="1200" dirty="0">
                <a:latin typeface="Times New Roman"/>
                <a:cs typeface="Times New Roman"/>
              </a:rPr>
              <a:t>memories</a:t>
            </a:r>
            <a:r>
              <a:rPr sz="1200" spc="-55" dirty="0">
                <a:latin typeface="Times New Roman"/>
                <a:cs typeface="Times New Roman"/>
              </a:rPr>
              <a:t> </a:t>
            </a:r>
            <a:r>
              <a:rPr sz="1200" dirty="0">
                <a:latin typeface="Times New Roman"/>
                <a:cs typeface="Times New Roman"/>
              </a:rPr>
              <a:t>called</a:t>
            </a:r>
            <a:r>
              <a:rPr sz="1200" spc="-35" dirty="0">
                <a:latin typeface="Times New Roman"/>
                <a:cs typeface="Times New Roman"/>
              </a:rPr>
              <a:t> </a:t>
            </a:r>
            <a:r>
              <a:rPr sz="1400" b="1" spc="-10" dirty="0">
                <a:solidFill>
                  <a:srgbClr val="3E762B"/>
                </a:solidFill>
                <a:latin typeface="Times New Roman"/>
                <a:cs typeface="Times New Roman"/>
              </a:rPr>
              <a:t>Caches</a:t>
            </a:r>
            <a:r>
              <a:rPr sz="1200" spc="-10" dirty="0">
                <a:latin typeface="Times New Roman"/>
                <a:cs typeface="Times New Roman"/>
              </a:rPr>
              <a:t>.</a:t>
            </a:r>
            <a:endParaRPr sz="1200" dirty="0">
              <a:latin typeface="Times New Roman"/>
              <a:cs typeface="Times New Roman"/>
            </a:endParaRPr>
          </a:p>
          <a:p>
            <a:pPr>
              <a:lnSpc>
                <a:spcPct val="100000"/>
              </a:lnSpc>
              <a:buClr>
                <a:srgbClr val="3E762B"/>
              </a:buClr>
              <a:buFont typeface="Wingdings"/>
              <a:buChar char=""/>
            </a:pPr>
            <a:endParaRPr sz="1200" dirty="0">
              <a:latin typeface="Times New Roman"/>
              <a:cs typeface="Times New Roman"/>
            </a:endParaRPr>
          </a:p>
          <a:p>
            <a:pPr>
              <a:lnSpc>
                <a:spcPct val="100000"/>
              </a:lnSpc>
              <a:buClr>
                <a:srgbClr val="3E762B"/>
              </a:buClr>
              <a:buFont typeface="Wingdings"/>
              <a:buChar char=""/>
            </a:pPr>
            <a:endParaRPr sz="1200" dirty="0">
              <a:latin typeface="Times New Roman"/>
              <a:cs typeface="Times New Roman"/>
            </a:endParaRPr>
          </a:p>
          <a:p>
            <a:pPr>
              <a:lnSpc>
                <a:spcPct val="100000"/>
              </a:lnSpc>
              <a:buClr>
                <a:srgbClr val="3E762B"/>
              </a:buClr>
              <a:buFont typeface="Wingdings"/>
              <a:buChar char=""/>
            </a:pPr>
            <a:endParaRPr sz="1200" dirty="0">
              <a:latin typeface="Times New Roman"/>
              <a:cs typeface="Times New Roman"/>
            </a:endParaRPr>
          </a:p>
          <a:p>
            <a:pPr>
              <a:lnSpc>
                <a:spcPct val="100000"/>
              </a:lnSpc>
              <a:buClr>
                <a:srgbClr val="3E762B"/>
              </a:buClr>
              <a:buFont typeface="Wingdings"/>
              <a:buChar char=""/>
            </a:pPr>
            <a:endParaRPr sz="1200" dirty="0">
              <a:latin typeface="Times New Roman"/>
              <a:cs typeface="Times New Roman"/>
            </a:endParaRPr>
          </a:p>
          <a:p>
            <a:pPr>
              <a:lnSpc>
                <a:spcPct val="100000"/>
              </a:lnSpc>
              <a:buClr>
                <a:srgbClr val="3E762B"/>
              </a:buClr>
              <a:buFont typeface="Wingdings"/>
              <a:buChar char=""/>
            </a:pPr>
            <a:endParaRPr sz="1200" dirty="0">
              <a:latin typeface="Times New Roman"/>
              <a:cs typeface="Times New Roman"/>
            </a:endParaRPr>
          </a:p>
          <a:p>
            <a:pPr>
              <a:lnSpc>
                <a:spcPct val="100000"/>
              </a:lnSpc>
              <a:buClr>
                <a:srgbClr val="3E762B"/>
              </a:buClr>
              <a:buFont typeface="Wingdings"/>
              <a:buChar char=""/>
            </a:pPr>
            <a:endParaRPr sz="1200" dirty="0">
              <a:latin typeface="Times New Roman"/>
              <a:cs typeface="Times New Roman"/>
            </a:endParaRPr>
          </a:p>
          <a:p>
            <a:pPr>
              <a:lnSpc>
                <a:spcPct val="100000"/>
              </a:lnSpc>
              <a:buClr>
                <a:srgbClr val="3E762B"/>
              </a:buClr>
              <a:buFont typeface="Wingdings"/>
              <a:buChar char=""/>
            </a:pPr>
            <a:endParaRPr sz="1200" dirty="0">
              <a:latin typeface="Times New Roman"/>
              <a:cs typeface="Times New Roman"/>
            </a:endParaRPr>
          </a:p>
          <a:p>
            <a:pPr>
              <a:lnSpc>
                <a:spcPct val="100000"/>
              </a:lnSpc>
              <a:buClr>
                <a:srgbClr val="3E762B"/>
              </a:buClr>
              <a:buFont typeface="Wingdings"/>
              <a:buChar char=""/>
            </a:pPr>
            <a:endParaRPr sz="1200" dirty="0">
              <a:latin typeface="Times New Roman"/>
              <a:cs typeface="Times New Roman"/>
            </a:endParaRPr>
          </a:p>
          <a:p>
            <a:pPr>
              <a:lnSpc>
                <a:spcPct val="100000"/>
              </a:lnSpc>
              <a:buClr>
                <a:srgbClr val="3E762B"/>
              </a:buClr>
              <a:buFont typeface="Wingdings"/>
              <a:buChar char=""/>
            </a:pPr>
            <a:endParaRPr sz="1200" dirty="0">
              <a:latin typeface="Times New Roman"/>
              <a:cs typeface="Times New Roman"/>
            </a:endParaRPr>
          </a:p>
          <a:p>
            <a:pPr>
              <a:lnSpc>
                <a:spcPct val="100000"/>
              </a:lnSpc>
              <a:spcBef>
                <a:spcPts val="735"/>
              </a:spcBef>
              <a:buClr>
                <a:srgbClr val="3E762B"/>
              </a:buClr>
              <a:buFont typeface="Wingdings"/>
              <a:buChar char=""/>
            </a:pPr>
            <a:endParaRPr sz="1200" dirty="0">
              <a:latin typeface="Times New Roman"/>
              <a:cs typeface="Times New Roman"/>
            </a:endParaRPr>
          </a:p>
          <a:p>
            <a:pPr marL="431800" indent="-169545">
              <a:lnSpc>
                <a:spcPct val="100000"/>
              </a:lnSpc>
              <a:buClr>
                <a:srgbClr val="3E762B"/>
              </a:buClr>
              <a:buFont typeface="Wingdings"/>
              <a:buChar char=""/>
              <a:tabLst>
                <a:tab pos="431800" algn="l"/>
                <a:tab pos="1177290" algn="l"/>
              </a:tabLst>
            </a:pPr>
            <a:r>
              <a:rPr sz="1200" spc="-10" dirty="0">
                <a:latin typeface="Times New Roman"/>
                <a:cs typeface="Times New Roman"/>
              </a:rPr>
              <a:t>Size:</a:t>
            </a:r>
            <a:r>
              <a:rPr sz="1200" dirty="0">
                <a:latin typeface="Times New Roman"/>
                <a:cs typeface="Times New Roman"/>
              </a:rPr>
              <a:t>	Register</a:t>
            </a:r>
            <a:r>
              <a:rPr sz="1200" spc="-15" dirty="0">
                <a:latin typeface="Times New Roman"/>
                <a:cs typeface="Times New Roman"/>
              </a:rPr>
              <a:t> </a:t>
            </a:r>
            <a:r>
              <a:rPr sz="1200" dirty="0">
                <a:latin typeface="Times New Roman"/>
                <a:cs typeface="Times New Roman"/>
              </a:rPr>
              <a:t>&lt;&lt;</a:t>
            </a:r>
            <a:r>
              <a:rPr sz="1200" spc="-20" dirty="0">
                <a:latin typeface="Times New Roman"/>
                <a:cs typeface="Times New Roman"/>
              </a:rPr>
              <a:t> </a:t>
            </a:r>
            <a:r>
              <a:rPr sz="1200" dirty="0">
                <a:latin typeface="Times New Roman"/>
                <a:cs typeface="Times New Roman"/>
              </a:rPr>
              <a:t>SRAM</a:t>
            </a:r>
            <a:r>
              <a:rPr sz="1200" spc="-15" dirty="0">
                <a:latin typeface="Times New Roman"/>
                <a:cs typeface="Times New Roman"/>
              </a:rPr>
              <a:t> </a:t>
            </a:r>
            <a:r>
              <a:rPr sz="1200" dirty="0">
                <a:latin typeface="Times New Roman"/>
                <a:cs typeface="Times New Roman"/>
              </a:rPr>
              <a:t>&lt;&lt;</a:t>
            </a:r>
            <a:r>
              <a:rPr sz="1200" spc="-15" dirty="0">
                <a:latin typeface="Times New Roman"/>
                <a:cs typeface="Times New Roman"/>
              </a:rPr>
              <a:t> </a:t>
            </a:r>
            <a:r>
              <a:rPr sz="1200" spc="-20" dirty="0">
                <a:latin typeface="Times New Roman"/>
                <a:cs typeface="Times New Roman"/>
              </a:rPr>
              <a:t>DRAM</a:t>
            </a:r>
            <a:endParaRPr sz="1200" dirty="0">
              <a:latin typeface="Times New Roman"/>
              <a:cs typeface="Times New Roman"/>
            </a:endParaRPr>
          </a:p>
          <a:p>
            <a:pPr marL="431800" indent="-169545">
              <a:lnSpc>
                <a:spcPct val="100000"/>
              </a:lnSpc>
              <a:spcBef>
                <a:spcPts val="565"/>
              </a:spcBef>
              <a:buClr>
                <a:srgbClr val="3E762B"/>
              </a:buClr>
              <a:buFont typeface="Wingdings"/>
              <a:buChar char=""/>
              <a:tabLst>
                <a:tab pos="431800" algn="l"/>
                <a:tab pos="1177290" algn="l"/>
              </a:tabLst>
            </a:pPr>
            <a:r>
              <a:rPr sz="1200" spc="-10" dirty="0">
                <a:latin typeface="Times New Roman"/>
                <a:cs typeface="Times New Roman"/>
              </a:rPr>
              <a:t>Latency:</a:t>
            </a:r>
            <a:r>
              <a:rPr sz="1200" dirty="0">
                <a:latin typeface="Times New Roman"/>
                <a:cs typeface="Times New Roman"/>
              </a:rPr>
              <a:t>	Register</a:t>
            </a:r>
            <a:r>
              <a:rPr sz="1200" spc="-15" dirty="0">
                <a:latin typeface="Times New Roman"/>
                <a:cs typeface="Times New Roman"/>
              </a:rPr>
              <a:t> </a:t>
            </a:r>
            <a:r>
              <a:rPr sz="1200" dirty="0">
                <a:latin typeface="Times New Roman"/>
                <a:cs typeface="Times New Roman"/>
              </a:rPr>
              <a:t>&lt;&lt;</a:t>
            </a:r>
            <a:r>
              <a:rPr sz="1200" spc="-20" dirty="0">
                <a:latin typeface="Times New Roman"/>
                <a:cs typeface="Times New Roman"/>
              </a:rPr>
              <a:t> </a:t>
            </a:r>
            <a:r>
              <a:rPr sz="1200" dirty="0">
                <a:latin typeface="Times New Roman"/>
                <a:cs typeface="Times New Roman"/>
              </a:rPr>
              <a:t>SRAM</a:t>
            </a:r>
            <a:r>
              <a:rPr sz="1200" spc="-15" dirty="0">
                <a:latin typeface="Times New Roman"/>
                <a:cs typeface="Times New Roman"/>
              </a:rPr>
              <a:t> </a:t>
            </a:r>
            <a:r>
              <a:rPr sz="1200" dirty="0">
                <a:latin typeface="Times New Roman"/>
                <a:cs typeface="Times New Roman"/>
              </a:rPr>
              <a:t>&lt;&lt;</a:t>
            </a:r>
            <a:r>
              <a:rPr sz="1200" spc="-15" dirty="0">
                <a:latin typeface="Times New Roman"/>
                <a:cs typeface="Times New Roman"/>
              </a:rPr>
              <a:t> </a:t>
            </a:r>
            <a:r>
              <a:rPr sz="1200" spc="-20" dirty="0">
                <a:latin typeface="Times New Roman"/>
                <a:cs typeface="Times New Roman"/>
              </a:rPr>
              <a:t>DRAM</a:t>
            </a:r>
            <a:endParaRPr sz="1200" dirty="0">
              <a:latin typeface="Times New Roman"/>
              <a:cs typeface="Times New Roman"/>
            </a:endParaRPr>
          </a:p>
        </p:txBody>
      </p:sp>
      <p:pic>
        <p:nvPicPr>
          <p:cNvPr id="3" name="object 3"/>
          <p:cNvPicPr/>
          <p:nvPr/>
        </p:nvPicPr>
        <p:blipFill>
          <a:blip r:embed="rId2" cstate="print"/>
          <a:stretch>
            <a:fillRect/>
          </a:stretch>
        </p:blipFill>
        <p:spPr>
          <a:xfrm>
            <a:off x="1274063" y="2025395"/>
            <a:ext cx="3422904" cy="1325879"/>
          </a:xfrm>
          <a:prstGeom prst="rect">
            <a:avLst/>
          </a:prstGeom>
        </p:spPr>
      </p:pic>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8" name="object 8"/>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Memory</a:t>
            </a:r>
            <a:r>
              <a:rPr sz="2200" spc="-105" dirty="0">
                <a:latin typeface="Georgia"/>
                <a:cs typeface="Georgia"/>
              </a:rPr>
              <a:t> </a:t>
            </a:r>
            <a:r>
              <a:rPr sz="2200" spc="-10" dirty="0">
                <a:latin typeface="Georgia"/>
                <a:cs typeface="Georgia"/>
              </a:rPr>
              <a:t>hierarchy</a:t>
            </a:r>
            <a:endParaRPr sz="2200" dirty="0">
              <a:latin typeface="Georgia"/>
              <a:cs typeface="Georgia"/>
            </a:endParaRPr>
          </a:p>
          <a:p>
            <a:pPr marL="434975" indent="-172720">
              <a:lnSpc>
                <a:spcPct val="100000"/>
              </a:lnSpc>
              <a:spcBef>
                <a:spcPts val="1625"/>
              </a:spcBef>
              <a:buClr>
                <a:srgbClr val="3E762B"/>
              </a:buClr>
              <a:buFont typeface="Wingdings"/>
              <a:buChar char=""/>
              <a:tabLst>
                <a:tab pos="434975" algn="l"/>
              </a:tabLst>
            </a:pPr>
            <a:r>
              <a:rPr sz="1200" dirty="0">
                <a:latin typeface="Times New Roman"/>
                <a:cs typeface="Times New Roman"/>
              </a:rPr>
              <a:t>Store</a:t>
            </a:r>
            <a:r>
              <a:rPr sz="1200" spc="-40" dirty="0">
                <a:latin typeface="Times New Roman"/>
                <a:cs typeface="Times New Roman"/>
              </a:rPr>
              <a:t> </a:t>
            </a:r>
            <a:r>
              <a:rPr sz="1200" dirty="0">
                <a:latin typeface="Times New Roman"/>
                <a:cs typeface="Times New Roman"/>
              </a:rPr>
              <a:t>everything</a:t>
            </a:r>
            <a:r>
              <a:rPr sz="1200" spc="-5" dirty="0">
                <a:latin typeface="Times New Roman"/>
                <a:cs typeface="Times New Roman"/>
              </a:rPr>
              <a:t> </a:t>
            </a:r>
            <a:r>
              <a:rPr sz="1200" dirty="0">
                <a:latin typeface="Times New Roman"/>
                <a:cs typeface="Times New Roman"/>
              </a:rPr>
              <a:t>on</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b="1" spc="-10" dirty="0">
                <a:latin typeface="Times New Roman"/>
                <a:cs typeface="Times New Roman"/>
              </a:rPr>
              <a:t>disk.</a:t>
            </a:r>
            <a:endParaRPr sz="1200" dirty="0">
              <a:latin typeface="Times New Roman"/>
              <a:cs typeface="Times New Roman"/>
            </a:endParaRPr>
          </a:p>
          <a:p>
            <a:pPr>
              <a:lnSpc>
                <a:spcPct val="100000"/>
              </a:lnSpc>
              <a:spcBef>
                <a:spcPts val="120"/>
              </a:spcBef>
              <a:buClr>
                <a:srgbClr val="3E762B"/>
              </a:buClr>
              <a:buFont typeface="Wingdings"/>
              <a:buChar char=""/>
            </a:pPr>
            <a:endParaRPr sz="1200" dirty="0">
              <a:latin typeface="Times New Roman"/>
              <a:cs typeface="Times New Roman"/>
            </a:endParaRPr>
          </a:p>
          <a:p>
            <a:pPr marL="434975" indent="-172720">
              <a:lnSpc>
                <a:spcPct val="100000"/>
              </a:lnSpc>
              <a:buClr>
                <a:srgbClr val="3E762B"/>
              </a:buClr>
              <a:buFont typeface="Wingdings"/>
              <a:buChar char=""/>
              <a:tabLst>
                <a:tab pos="434975" algn="l"/>
              </a:tabLst>
            </a:pPr>
            <a:r>
              <a:rPr sz="1200" dirty="0">
                <a:latin typeface="Times New Roman"/>
                <a:cs typeface="Times New Roman"/>
              </a:rPr>
              <a:t>Copy</a:t>
            </a:r>
            <a:r>
              <a:rPr sz="1200" spc="-35" dirty="0">
                <a:latin typeface="Times New Roman"/>
                <a:cs typeface="Times New Roman"/>
              </a:rPr>
              <a:t> </a:t>
            </a:r>
            <a:r>
              <a:rPr sz="1200" dirty="0">
                <a:latin typeface="Times New Roman"/>
                <a:cs typeface="Times New Roman"/>
              </a:rPr>
              <a:t>recently</a:t>
            </a:r>
            <a:r>
              <a:rPr sz="1200" spc="-35" dirty="0">
                <a:latin typeface="Times New Roman"/>
                <a:cs typeface="Times New Roman"/>
              </a:rPr>
              <a:t> </a:t>
            </a:r>
            <a:r>
              <a:rPr sz="1200" dirty="0">
                <a:latin typeface="Times New Roman"/>
                <a:cs typeface="Times New Roman"/>
              </a:rPr>
              <a:t>accessed</a:t>
            </a:r>
            <a:r>
              <a:rPr sz="1200" spc="-1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nearby)</a:t>
            </a:r>
            <a:r>
              <a:rPr sz="1200" spc="10" dirty="0">
                <a:latin typeface="Times New Roman"/>
                <a:cs typeface="Times New Roman"/>
              </a:rPr>
              <a:t> </a:t>
            </a:r>
            <a:r>
              <a:rPr sz="1200" dirty="0">
                <a:latin typeface="Times New Roman"/>
                <a:cs typeface="Times New Roman"/>
              </a:rPr>
              <a:t>items</a:t>
            </a:r>
            <a:r>
              <a:rPr sz="1200" spc="-40" dirty="0">
                <a:latin typeface="Times New Roman"/>
                <a:cs typeface="Times New Roman"/>
              </a:rPr>
              <a:t> </a:t>
            </a:r>
            <a:r>
              <a:rPr sz="1200" dirty="0">
                <a:latin typeface="Times New Roman"/>
                <a:cs typeface="Times New Roman"/>
              </a:rPr>
              <a:t>from</a:t>
            </a:r>
            <a:r>
              <a:rPr sz="1200" spc="-20" dirty="0">
                <a:latin typeface="Times New Roman"/>
                <a:cs typeface="Times New Roman"/>
              </a:rPr>
              <a:t> </a:t>
            </a:r>
            <a:r>
              <a:rPr sz="1200" dirty="0">
                <a:latin typeface="Times New Roman"/>
                <a:cs typeface="Times New Roman"/>
              </a:rPr>
              <a:t>disk</a:t>
            </a:r>
            <a:r>
              <a:rPr sz="1200" spc="-4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smaller</a:t>
            </a:r>
            <a:r>
              <a:rPr sz="1200" spc="-20" dirty="0">
                <a:latin typeface="Times New Roman"/>
                <a:cs typeface="Times New Roman"/>
              </a:rPr>
              <a:t> </a:t>
            </a:r>
            <a:r>
              <a:rPr sz="1200" b="1" spc="-20" dirty="0">
                <a:solidFill>
                  <a:srgbClr val="3E762B"/>
                </a:solidFill>
                <a:latin typeface="Times New Roman"/>
                <a:cs typeface="Times New Roman"/>
              </a:rPr>
              <a:t>DRAM</a:t>
            </a:r>
            <a:endParaRPr sz="1200" dirty="0">
              <a:latin typeface="Times New Roman"/>
              <a:cs typeface="Times New Roman"/>
            </a:endParaRPr>
          </a:p>
          <a:p>
            <a:pPr marL="436245">
              <a:lnSpc>
                <a:spcPct val="100000"/>
              </a:lnSpc>
            </a:pPr>
            <a:r>
              <a:rPr sz="1200" spc="-10" dirty="0">
                <a:latin typeface="Times New Roman"/>
                <a:cs typeface="Times New Roman"/>
              </a:rPr>
              <a:t>memory</a:t>
            </a:r>
            <a:endParaRPr sz="1200" dirty="0">
              <a:latin typeface="Times New Roman"/>
              <a:cs typeface="Times New Roman"/>
            </a:endParaRPr>
          </a:p>
          <a:p>
            <a:pPr marL="665480" lvl="1" indent="-174625">
              <a:lnSpc>
                <a:spcPct val="100000"/>
              </a:lnSpc>
              <a:spcBef>
                <a:spcPts val="600"/>
              </a:spcBef>
              <a:buClr>
                <a:srgbClr val="3E762B"/>
              </a:buClr>
              <a:buFont typeface="Arial MT"/>
              <a:buChar char="•"/>
              <a:tabLst>
                <a:tab pos="665480" algn="l"/>
              </a:tabLst>
            </a:pPr>
            <a:r>
              <a:rPr sz="1200" b="1" dirty="0">
                <a:latin typeface="Times New Roman"/>
                <a:cs typeface="Times New Roman"/>
              </a:rPr>
              <a:t>Main</a:t>
            </a:r>
            <a:r>
              <a:rPr sz="1200" b="1" spc="-15" dirty="0">
                <a:latin typeface="Times New Roman"/>
                <a:cs typeface="Times New Roman"/>
              </a:rPr>
              <a:t> </a:t>
            </a:r>
            <a:r>
              <a:rPr sz="1200" b="1" spc="-10" dirty="0">
                <a:latin typeface="Times New Roman"/>
                <a:cs typeface="Times New Roman"/>
              </a:rPr>
              <a:t>memory</a:t>
            </a:r>
            <a:endParaRPr sz="1200" dirty="0">
              <a:latin typeface="Times New Roman"/>
              <a:cs typeface="Times New Roman"/>
            </a:endParaRPr>
          </a:p>
          <a:p>
            <a:pPr lvl="1">
              <a:lnSpc>
                <a:spcPct val="100000"/>
              </a:lnSpc>
              <a:spcBef>
                <a:spcPts val="120"/>
              </a:spcBef>
              <a:buClr>
                <a:srgbClr val="3E762B"/>
              </a:buClr>
              <a:buFont typeface="Arial MT"/>
              <a:buChar char="•"/>
            </a:pPr>
            <a:endParaRPr sz="1200" dirty="0">
              <a:latin typeface="Times New Roman"/>
              <a:cs typeface="Times New Roman"/>
            </a:endParaRPr>
          </a:p>
          <a:p>
            <a:pPr marL="434975" indent="-172720">
              <a:lnSpc>
                <a:spcPct val="100000"/>
              </a:lnSpc>
              <a:spcBef>
                <a:spcPts val="5"/>
              </a:spcBef>
              <a:buClr>
                <a:srgbClr val="3E762B"/>
              </a:buClr>
              <a:buFont typeface="Wingdings"/>
              <a:buChar char=""/>
              <a:tabLst>
                <a:tab pos="434975" algn="l"/>
              </a:tabLst>
            </a:pPr>
            <a:r>
              <a:rPr sz="1200" dirty="0">
                <a:latin typeface="Times New Roman"/>
                <a:cs typeface="Times New Roman"/>
              </a:rPr>
              <a:t>Copy</a:t>
            </a:r>
            <a:r>
              <a:rPr sz="1200" spc="-35" dirty="0">
                <a:latin typeface="Times New Roman"/>
                <a:cs typeface="Times New Roman"/>
              </a:rPr>
              <a:t> </a:t>
            </a:r>
            <a:r>
              <a:rPr sz="1200" dirty="0">
                <a:latin typeface="Times New Roman"/>
                <a:cs typeface="Times New Roman"/>
              </a:rPr>
              <a:t>more</a:t>
            </a:r>
            <a:r>
              <a:rPr sz="1200" spc="-40" dirty="0">
                <a:latin typeface="Times New Roman"/>
                <a:cs typeface="Times New Roman"/>
              </a:rPr>
              <a:t> </a:t>
            </a:r>
            <a:r>
              <a:rPr sz="1200" dirty="0">
                <a:latin typeface="Times New Roman"/>
                <a:cs typeface="Times New Roman"/>
              </a:rPr>
              <a:t>recently</a:t>
            </a:r>
            <a:r>
              <a:rPr sz="1200" spc="-30" dirty="0">
                <a:latin typeface="Times New Roman"/>
                <a:cs typeface="Times New Roman"/>
              </a:rPr>
              <a:t> </a:t>
            </a:r>
            <a:r>
              <a:rPr sz="1200" dirty="0">
                <a:latin typeface="Times New Roman"/>
                <a:cs typeface="Times New Roman"/>
              </a:rPr>
              <a:t>accessed</a:t>
            </a:r>
            <a:r>
              <a:rPr sz="1200" spc="-1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nearby)</a:t>
            </a:r>
            <a:r>
              <a:rPr sz="1200" spc="20" dirty="0">
                <a:latin typeface="Times New Roman"/>
                <a:cs typeface="Times New Roman"/>
              </a:rPr>
              <a:t> </a:t>
            </a:r>
            <a:r>
              <a:rPr sz="1200" dirty="0">
                <a:latin typeface="Times New Roman"/>
                <a:cs typeface="Times New Roman"/>
              </a:rPr>
              <a:t>items</a:t>
            </a:r>
            <a:r>
              <a:rPr sz="1200" spc="-40" dirty="0">
                <a:latin typeface="Times New Roman"/>
                <a:cs typeface="Times New Roman"/>
              </a:rPr>
              <a:t> </a:t>
            </a:r>
            <a:r>
              <a:rPr sz="1200" dirty="0">
                <a:latin typeface="Times New Roman"/>
                <a:cs typeface="Times New Roman"/>
              </a:rPr>
              <a:t>from</a:t>
            </a:r>
            <a:r>
              <a:rPr sz="1200" spc="-25" dirty="0">
                <a:latin typeface="Times New Roman"/>
                <a:cs typeface="Times New Roman"/>
              </a:rPr>
              <a:t> </a:t>
            </a:r>
            <a:r>
              <a:rPr sz="1200" dirty="0">
                <a:latin typeface="Times New Roman"/>
                <a:cs typeface="Times New Roman"/>
              </a:rPr>
              <a:t>DRAM</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10" dirty="0">
                <a:latin typeface="Times New Roman"/>
                <a:cs typeface="Times New Roman"/>
              </a:rPr>
              <a:t>smaller</a:t>
            </a:r>
            <a:endParaRPr sz="1200" dirty="0">
              <a:latin typeface="Times New Roman"/>
              <a:cs typeface="Times New Roman"/>
            </a:endParaRPr>
          </a:p>
          <a:p>
            <a:pPr marL="436245">
              <a:lnSpc>
                <a:spcPct val="100000"/>
              </a:lnSpc>
            </a:pPr>
            <a:r>
              <a:rPr sz="1200" b="1" dirty="0">
                <a:solidFill>
                  <a:srgbClr val="3E762B"/>
                </a:solidFill>
                <a:latin typeface="Times New Roman"/>
                <a:cs typeface="Times New Roman"/>
              </a:rPr>
              <a:t>SRAM</a:t>
            </a:r>
            <a:r>
              <a:rPr sz="1200" b="1" spc="-15" dirty="0">
                <a:solidFill>
                  <a:srgbClr val="3E762B"/>
                </a:solidFill>
                <a:latin typeface="Times New Roman"/>
                <a:cs typeface="Times New Roman"/>
              </a:rPr>
              <a:t> </a:t>
            </a:r>
            <a:r>
              <a:rPr sz="1200" spc="-10" dirty="0">
                <a:latin typeface="Times New Roman"/>
                <a:cs typeface="Times New Roman"/>
              </a:rPr>
              <a:t>memory</a:t>
            </a:r>
            <a:endParaRPr sz="1200" dirty="0">
              <a:latin typeface="Times New Roman"/>
              <a:cs typeface="Times New Roman"/>
            </a:endParaRPr>
          </a:p>
          <a:p>
            <a:pPr marL="665480" lvl="1" indent="-174625">
              <a:lnSpc>
                <a:spcPct val="100000"/>
              </a:lnSpc>
              <a:spcBef>
                <a:spcPts val="600"/>
              </a:spcBef>
              <a:buClr>
                <a:srgbClr val="3E762B"/>
              </a:buClr>
              <a:buFont typeface="Arial MT"/>
              <a:buChar char="•"/>
              <a:tabLst>
                <a:tab pos="665480" algn="l"/>
              </a:tabLst>
            </a:pPr>
            <a:r>
              <a:rPr sz="1200" b="1" dirty="0">
                <a:latin typeface="Times New Roman"/>
                <a:cs typeface="Times New Roman"/>
              </a:rPr>
              <a:t>Cache</a:t>
            </a:r>
            <a:r>
              <a:rPr sz="1200" b="1" spc="-45" dirty="0">
                <a:latin typeface="Times New Roman"/>
                <a:cs typeface="Times New Roman"/>
              </a:rPr>
              <a:t> </a:t>
            </a:r>
            <a:r>
              <a:rPr sz="1200" b="1" dirty="0">
                <a:latin typeface="Times New Roman"/>
                <a:cs typeface="Times New Roman"/>
              </a:rPr>
              <a:t>memory</a:t>
            </a:r>
            <a:r>
              <a:rPr sz="1200" b="1" spc="-10" dirty="0">
                <a:latin typeface="Times New Roman"/>
                <a:cs typeface="Times New Roman"/>
              </a:rPr>
              <a:t> </a:t>
            </a:r>
            <a:r>
              <a:rPr sz="1200" dirty="0">
                <a:latin typeface="Times New Roman"/>
                <a:cs typeface="Times New Roman"/>
              </a:rPr>
              <a:t>attached</a:t>
            </a:r>
            <a:r>
              <a:rPr sz="1200" spc="-50"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spc="-25" dirty="0">
                <a:latin typeface="Times New Roman"/>
                <a:cs typeface="Times New Roman"/>
              </a:rPr>
              <a:t>CPU</a:t>
            </a:r>
            <a:endParaRPr sz="1200" dirty="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4</a:t>
            </a:fld>
            <a:endParaRPr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70838" y="2736341"/>
            <a:ext cx="4114800" cy="0"/>
          </a:xfrm>
          <a:custGeom>
            <a:avLst/>
            <a:gdLst/>
            <a:ahLst/>
            <a:cxnLst/>
            <a:rect l="l" t="t" r="r" b="b"/>
            <a:pathLst>
              <a:path w="4114800">
                <a:moveTo>
                  <a:pt x="0" y="0"/>
                </a:moveTo>
                <a:lnTo>
                  <a:pt x="4114800" y="0"/>
                </a:lnTo>
              </a:path>
            </a:pathLst>
          </a:custGeom>
          <a:ln w="4572">
            <a:solidFill>
              <a:srgbClr val="FFFFFF"/>
            </a:solidFill>
          </a:ln>
        </p:spPr>
        <p:txBody>
          <a:bodyPr wrap="square" lIns="0" tIns="0" rIns="0" bIns="0" rtlCol="0"/>
          <a:lstStyle/>
          <a:p>
            <a:endParaRPr/>
          </a:p>
        </p:txBody>
      </p:sp>
      <p:sp>
        <p:nvSpPr>
          <p:cNvPr id="3" name="object 3"/>
          <p:cNvSpPr txBox="1">
            <a:spLocks noGrp="1"/>
          </p:cNvSpPr>
          <p:nvPr>
            <p:ph type="title"/>
          </p:nvPr>
        </p:nvSpPr>
        <p:spPr>
          <a:xfrm>
            <a:off x="496823" y="990600"/>
            <a:ext cx="5862955" cy="3188335"/>
          </a:xfrm>
          <a:prstGeom prst="rect">
            <a:avLst/>
          </a:prstGeom>
          <a:ln w="6096">
            <a:solidFill>
              <a:srgbClr val="FFFFFF"/>
            </a:solidFill>
          </a:ln>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spcBef>
                <a:spcPts val="570"/>
              </a:spcBef>
            </a:pPr>
            <a:endParaRPr sz="3600">
              <a:latin typeface="Times New Roman"/>
              <a:cs typeface="Times New Roman"/>
            </a:endParaRPr>
          </a:p>
          <a:p>
            <a:pPr marL="1143000" marR="851535" indent="-285115">
              <a:lnSpc>
                <a:spcPct val="100000"/>
              </a:lnSpc>
              <a:spcBef>
                <a:spcPts val="5"/>
              </a:spcBef>
            </a:pPr>
            <a:r>
              <a:rPr sz="3600" b="1" dirty="0">
                <a:solidFill>
                  <a:srgbClr val="FFFFFF"/>
                </a:solidFill>
                <a:latin typeface="Times New Roman"/>
                <a:cs typeface="Times New Roman"/>
              </a:rPr>
              <a:t>RAM/ROM</a:t>
            </a:r>
            <a:r>
              <a:rPr sz="3600" b="1" spc="225" dirty="0">
                <a:solidFill>
                  <a:srgbClr val="FFFFFF"/>
                </a:solidFill>
                <a:latin typeface="Times New Roman"/>
                <a:cs typeface="Times New Roman"/>
              </a:rPr>
              <a:t> </a:t>
            </a:r>
            <a:r>
              <a:rPr sz="3600" b="1" spc="-30" dirty="0">
                <a:solidFill>
                  <a:srgbClr val="FFFFFF"/>
                </a:solidFill>
                <a:latin typeface="Times New Roman"/>
                <a:cs typeface="Times New Roman"/>
              </a:rPr>
              <a:t>Memory </a:t>
            </a:r>
            <a:r>
              <a:rPr sz="3600" b="1" dirty="0">
                <a:solidFill>
                  <a:srgbClr val="FFFFFF"/>
                </a:solidFill>
                <a:latin typeface="Times New Roman"/>
                <a:cs typeface="Times New Roman"/>
              </a:rPr>
              <a:t>Basic</a:t>
            </a:r>
            <a:r>
              <a:rPr sz="3600" b="1" spc="80" dirty="0">
                <a:solidFill>
                  <a:srgbClr val="FFFFFF"/>
                </a:solidFill>
                <a:latin typeface="Times New Roman"/>
                <a:cs typeface="Times New Roman"/>
              </a:rPr>
              <a:t> </a:t>
            </a:r>
            <a:r>
              <a:rPr sz="3600" b="1" spc="-10" dirty="0">
                <a:solidFill>
                  <a:srgbClr val="FFFFFF"/>
                </a:solidFill>
                <a:latin typeface="Times New Roman"/>
                <a:cs typeface="Times New Roman"/>
              </a:rPr>
              <a:t>Architecture</a:t>
            </a:r>
            <a:endParaRPr sz="3600">
              <a:latin typeface="Times New Roman"/>
              <a:cs typeface="Times New Roman"/>
            </a:endParaRPr>
          </a:p>
        </p:txBody>
      </p:sp>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pic>
          <p:nvPicPr>
            <p:cNvPr id="8" name="object 8"/>
            <p:cNvPicPr/>
            <p:nvPr/>
          </p:nvPicPr>
          <p:blipFill>
            <a:blip r:embed="rId3" cstate="print"/>
            <a:stretch>
              <a:fillRect/>
            </a:stretch>
          </p:blipFill>
          <p:spPr>
            <a:xfrm>
              <a:off x="3906011" y="5960364"/>
              <a:ext cx="2424684" cy="969263"/>
            </a:xfrm>
            <a:prstGeom prst="rect">
              <a:avLst/>
            </a:prstGeom>
          </p:spPr>
        </p:pic>
      </p:grpSp>
      <p:sp>
        <p:nvSpPr>
          <p:cNvPr id="9" name="object 9"/>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spc="-10" dirty="0">
                <a:latin typeface="Georgia"/>
                <a:cs typeface="Georgia"/>
              </a:rPr>
              <a:t>Memory</a:t>
            </a:r>
            <a:endParaRPr sz="2200" dirty="0">
              <a:latin typeface="Georgia"/>
              <a:cs typeface="Georgia"/>
            </a:endParaRPr>
          </a:p>
          <a:p>
            <a:pPr marL="351790" indent="-172720">
              <a:lnSpc>
                <a:spcPts val="1425"/>
              </a:lnSpc>
              <a:spcBef>
                <a:spcPts val="1265"/>
              </a:spcBef>
              <a:buClr>
                <a:srgbClr val="3E762B"/>
              </a:buClr>
              <a:buFont typeface="Wingdings"/>
              <a:buChar char=""/>
              <a:tabLst>
                <a:tab pos="351790" algn="l"/>
              </a:tabLst>
            </a:pPr>
            <a:r>
              <a:rPr sz="1200" spc="-10" dirty="0">
                <a:latin typeface="Times New Roman"/>
                <a:cs typeface="Times New Roman"/>
              </a:rPr>
              <a:t>Random-</a:t>
            </a:r>
            <a:r>
              <a:rPr sz="1200" dirty="0">
                <a:latin typeface="Times New Roman"/>
                <a:cs typeface="Times New Roman"/>
              </a:rPr>
              <a:t>access</a:t>
            </a:r>
            <a:r>
              <a:rPr sz="1200" spc="-20" dirty="0">
                <a:latin typeface="Times New Roman"/>
                <a:cs typeface="Times New Roman"/>
              </a:rPr>
              <a:t> </a:t>
            </a:r>
            <a:r>
              <a:rPr sz="1200" dirty="0">
                <a:latin typeface="Times New Roman"/>
                <a:cs typeface="Times New Roman"/>
              </a:rPr>
              <a:t>memory</a:t>
            </a:r>
            <a:r>
              <a:rPr sz="1200" spc="-35" dirty="0">
                <a:latin typeface="Times New Roman"/>
                <a:cs typeface="Times New Roman"/>
              </a:rPr>
              <a:t> </a:t>
            </a:r>
            <a:r>
              <a:rPr sz="1200" dirty="0">
                <a:latin typeface="Times New Roman"/>
                <a:cs typeface="Times New Roman"/>
              </a:rPr>
              <a:t>(</a:t>
            </a:r>
            <a:r>
              <a:rPr sz="1200" b="1" dirty="0">
                <a:latin typeface="Times New Roman"/>
                <a:cs typeface="Times New Roman"/>
              </a:rPr>
              <a:t>RAM</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stores</a:t>
            </a:r>
            <a:r>
              <a:rPr sz="1200" spc="-25" dirty="0">
                <a:latin typeface="Times New Roman"/>
                <a:cs typeface="Times New Roman"/>
              </a:rPr>
              <a:t> </a:t>
            </a:r>
            <a:r>
              <a:rPr sz="1200" dirty="0">
                <a:latin typeface="Times New Roman"/>
                <a:cs typeface="Times New Roman"/>
              </a:rPr>
              <a:t>data</a:t>
            </a:r>
            <a:r>
              <a:rPr sz="1200" spc="-30" dirty="0">
                <a:latin typeface="Times New Roman"/>
                <a:cs typeface="Times New Roman"/>
              </a:rPr>
              <a:t> </a:t>
            </a:r>
            <a:r>
              <a:rPr sz="1200" spc="-10" dirty="0">
                <a:latin typeface="Times New Roman"/>
                <a:cs typeface="Times New Roman"/>
              </a:rPr>
              <a:t>temporarily</a:t>
            </a:r>
            <a:endParaRPr sz="1200" dirty="0">
              <a:latin typeface="Times New Roman"/>
              <a:cs typeface="Times New Roman"/>
            </a:endParaRPr>
          </a:p>
          <a:p>
            <a:pPr marL="523240" lvl="1" indent="-115570">
              <a:lnSpc>
                <a:spcPts val="1305"/>
              </a:lnSpc>
              <a:buClr>
                <a:srgbClr val="3E762B"/>
              </a:buClr>
              <a:buFont typeface="Arial MT"/>
              <a:buChar char="•"/>
              <a:tabLst>
                <a:tab pos="523240" algn="l"/>
              </a:tabLst>
            </a:pPr>
            <a:r>
              <a:rPr sz="1100" dirty="0">
                <a:latin typeface="Times New Roman"/>
                <a:cs typeface="Times New Roman"/>
              </a:rPr>
              <a:t>RAM</a:t>
            </a:r>
            <a:r>
              <a:rPr sz="1100" spc="-15" dirty="0">
                <a:latin typeface="Times New Roman"/>
                <a:cs typeface="Times New Roman"/>
              </a:rPr>
              <a:t> </a:t>
            </a:r>
            <a:r>
              <a:rPr sz="1100" dirty="0">
                <a:latin typeface="Times New Roman"/>
                <a:cs typeface="Times New Roman"/>
              </a:rPr>
              <a:t>is</a:t>
            </a:r>
            <a:r>
              <a:rPr sz="1100" spc="-10" dirty="0">
                <a:latin typeface="Times New Roman"/>
                <a:cs typeface="Times New Roman"/>
              </a:rPr>
              <a:t> </a:t>
            </a:r>
            <a:r>
              <a:rPr sz="1100" dirty="0">
                <a:latin typeface="Times New Roman"/>
                <a:cs typeface="Times New Roman"/>
              </a:rPr>
              <a:t>volatile</a:t>
            </a:r>
            <a:r>
              <a:rPr sz="1100" spc="-30" dirty="0">
                <a:latin typeface="Times New Roman"/>
                <a:cs typeface="Times New Roman"/>
              </a:rPr>
              <a:t> </a:t>
            </a:r>
            <a:r>
              <a:rPr sz="1100" dirty="0">
                <a:latin typeface="Times New Roman"/>
                <a:cs typeface="Times New Roman"/>
              </a:rPr>
              <a:t>memory</a:t>
            </a:r>
            <a:r>
              <a:rPr sz="1100" spc="20" dirty="0">
                <a:latin typeface="Times New Roman"/>
                <a:cs typeface="Times New Roman"/>
              </a:rPr>
              <a:t> </a:t>
            </a:r>
            <a:r>
              <a:rPr sz="1100" dirty="0">
                <a:latin typeface="Times New Roman"/>
                <a:cs typeface="Times New Roman"/>
              </a:rPr>
              <a:t>that</a:t>
            </a:r>
            <a:r>
              <a:rPr sz="1100" spc="-25" dirty="0">
                <a:latin typeface="Times New Roman"/>
                <a:cs typeface="Times New Roman"/>
              </a:rPr>
              <a:t> </a:t>
            </a:r>
            <a:r>
              <a:rPr sz="1100" dirty="0">
                <a:latin typeface="Times New Roman"/>
                <a:cs typeface="Times New Roman"/>
              </a:rPr>
              <a:t>temporarily</a:t>
            </a:r>
            <a:r>
              <a:rPr sz="1100" spc="-25" dirty="0">
                <a:latin typeface="Times New Roman"/>
                <a:cs typeface="Times New Roman"/>
              </a:rPr>
              <a:t> </a:t>
            </a:r>
            <a:r>
              <a:rPr sz="1100" dirty="0">
                <a:latin typeface="Times New Roman"/>
                <a:cs typeface="Times New Roman"/>
              </a:rPr>
              <a:t>stores</a:t>
            </a:r>
            <a:r>
              <a:rPr sz="1100" spc="-25" dirty="0">
                <a:latin typeface="Times New Roman"/>
                <a:cs typeface="Times New Roman"/>
              </a:rPr>
              <a:t> </a:t>
            </a:r>
            <a:r>
              <a:rPr sz="1100" dirty="0">
                <a:latin typeface="Times New Roman"/>
                <a:cs typeface="Times New Roman"/>
              </a:rPr>
              <a:t>the</a:t>
            </a:r>
            <a:r>
              <a:rPr sz="1100" spc="-25" dirty="0">
                <a:latin typeface="Times New Roman"/>
                <a:cs typeface="Times New Roman"/>
              </a:rPr>
              <a:t> </a:t>
            </a:r>
            <a:r>
              <a:rPr sz="1100" dirty="0">
                <a:latin typeface="Times New Roman"/>
                <a:cs typeface="Times New Roman"/>
              </a:rPr>
              <a:t>files</a:t>
            </a:r>
            <a:r>
              <a:rPr sz="1100" spc="-25" dirty="0">
                <a:latin typeface="Times New Roman"/>
                <a:cs typeface="Times New Roman"/>
              </a:rPr>
              <a:t> </a:t>
            </a:r>
            <a:r>
              <a:rPr sz="1100" dirty="0">
                <a:latin typeface="Times New Roman"/>
                <a:cs typeface="Times New Roman"/>
              </a:rPr>
              <a:t>you</a:t>
            </a:r>
            <a:r>
              <a:rPr sz="1100" spc="10" dirty="0">
                <a:latin typeface="Times New Roman"/>
                <a:cs typeface="Times New Roman"/>
              </a:rPr>
              <a:t> </a:t>
            </a:r>
            <a:r>
              <a:rPr sz="1100" dirty="0">
                <a:latin typeface="Times New Roman"/>
                <a:cs typeface="Times New Roman"/>
              </a:rPr>
              <a:t>are</a:t>
            </a:r>
            <a:r>
              <a:rPr sz="1100" spc="-15" dirty="0">
                <a:latin typeface="Times New Roman"/>
                <a:cs typeface="Times New Roman"/>
              </a:rPr>
              <a:t> </a:t>
            </a:r>
            <a:r>
              <a:rPr sz="1100" dirty="0">
                <a:latin typeface="Times New Roman"/>
                <a:cs typeface="Times New Roman"/>
              </a:rPr>
              <a:t>working</a:t>
            </a:r>
            <a:r>
              <a:rPr sz="1100" spc="-15" dirty="0">
                <a:latin typeface="Times New Roman"/>
                <a:cs typeface="Times New Roman"/>
              </a:rPr>
              <a:t> </a:t>
            </a:r>
            <a:r>
              <a:rPr sz="1100" spc="-25" dirty="0">
                <a:latin typeface="Times New Roman"/>
                <a:cs typeface="Times New Roman"/>
              </a:rPr>
              <a:t>on.</a:t>
            </a:r>
            <a:endParaRPr sz="1100" dirty="0">
              <a:latin typeface="Times New Roman"/>
              <a:cs typeface="Times New Roman"/>
            </a:endParaRPr>
          </a:p>
          <a:p>
            <a:pPr lvl="1">
              <a:lnSpc>
                <a:spcPct val="100000"/>
              </a:lnSpc>
              <a:buClr>
                <a:srgbClr val="3E762B"/>
              </a:buClr>
              <a:buFont typeface="Arial MT"/>
              <a:buChar char="•"/>
            </a:pPr>
            <a:endParaRPr sz="1100" dirty="0">
              <a:latin typeface="Times New Roman"/>
              <a:cs typeface="Times New Roman"/>
            </a:endParaRPr>
          </a:p>
          <a:p>
            <a:pPr lvl="1">
              <a:lnSpc>
                <a:spcPct val="100000"/>
              </a:lnSpc>
              <a:buClr>
                <a:srgbClr val="3E762B"/>
              </a:buClr>
              <a:buFont typeface="Arial MT"/>
              <a:buChar char="•"/>
            </a:pPr>
            <a:endParaRPr sz="1100" dirty="0">
              <a:latin typeface="Times New Roman"/>
              <a:cs typeface="Times New Roman"/>
            </a:endParaRPr>
          </a:p>
          <a:p>
            <a:pPr lvl="1">
              <a:lnSpc>
                <a:spcPct val="100000"/>
              </a:lnSpc>
              <a:buClr>
                <a:srgbClr val="3E762B"/>
              </a:buClr>
              <a:buFont typeface="Arial MT"/>
              <a:buChar char="•"/>
            </a:pPr>
            <a:endParaRPr sz="1100" dirty="0">
              <a:latin typeface="Times New Roman"/>
              <a:cs typeface="Times New Roman"/>
            </a:endParaRPr>
          </a:p>
          <a:p>
            <a:pPr lvl="1">
              <a:lnSpc>
                <a:spcPct val="100000"/>
              </a:lnSpc>
              <a:buClr>
                <a:srgbClr val="3E762B"/>
              </a:buClr>
              <a:buFont typeface="Arial MT"/>
              <a:buChar char="•"/>
            </a:pPr>
            <a:endParaRPr sz="1100" dirty="0">
              <a:latin typeface="Times New Roman"/>
              <a:cs typeface="Times New Roman"/>
            </a:endParaRPr>
          </a:p>
          <a:p>
            <a:pPr lvl="1">
              <a:lnSpc>
                <a:spcPct val="100000"/>
              </a:lnSpc>
              <a:spcBef>
                <a:spcPts val="1220"/>
              </a:spcBef>
              <a:buClr>
                <a:srgbClr val="3E762B"/>
              </a:buClr>
              <a:buFont typeface="Arial MT"/>
              <a:buChar char="•"/>
            </a:pPr>
            <a:endParaRPr sz="1100" dirty="0">
              <a:latin typeface="Times New Roman"/>
              <a:cs typeface="Times New Roman"/>
            </a:endParaRPr>
          </a:p>
          <a:p>
            <a:pPr marL="389890" indent="-210820">
              <a:lnSpc>
                <a:spcPts val="1430"/>
              </a:lnSpc>
              <a:buClr>
                <a:srgbClr val="3E762B"/>
              </a:buClr>
              <a:buFont typeface="Wingdings"/>
              <a:buChar char=""/>
              <a:tabLst>
                <a:tab pos="389890" algn="l"/>
              </a:tabLst>
            </a:pPr>
            <a:r>
              <a:rPr sz="1200" spc="-10" dirty="0">
                <a:latin typeface="Times New Roman"/>
                <a:cs typeface="Times New Roman"/>
              </a:rPr>
              <a:t>Read-</a:t>
            </a:r>
            <a:r>
              <a:rPr sz="1200" dirty="0">
                <a:latin typeface="Times New Roman"/>
                <a:cs typeface="Times New Roman"/>
              </a:rPr>
              <a:t>Only</a:t>
            </a:r>
            <a:r>
              <a:rPr sz="1200" spc="-20" dirty="0">
                <a:latin typeface="Times New Roman"/>
                <a:cs typeface="Times New Roman"/>
              </a:rPr>
              <a:t> </a:t>
            </a:r>
            <a:r>
              <a:rPr sz="1200" dirty="0">
                <a:latin typeface="Times New Roman"/>
                <a:cs typeface="Times New Roman"/>
              </a:rPr>
              <a:t>memory</a:t>
            </a:r>
            <a:r>
              <a:rPr sz="1200" spc="-40" dirty="0">
                <a:latin typeface="Times New Roman"/>
                <a:cs typeface="Times New Roman"/>
              </a:rPr>
              <a:t> </a:t>
            </a:r>
            <a:r>
              <a:rPr sz="1200" dirty="0">
                <a:latin typeface="Times New Roman"/>
                <a:cs typeface="Times New Roman"/>
              </a:rPr>
              <a:t>(</a:t>
            </a:r>
            <a:r>
              <a:rPr sz="1200" b="1" dirty="0">
                <a:latin typeface="Times New Roman"/>
                <a:cs typeface="Times New Roman"/>
              </a:rPr>
              <a:t>ROM</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stores</a:t>
            </a:r>
            <a:r>
              <a:rPr sz="1200" spc="-15" dirty="0">
                <a:latin typeface="Times New Roman"/>
                <a:cs typeface="Times New Roman"/>
              </a:rPr>
              <a:t> </a:t>
            </a:r>
            <a:r>
              <a:rPr sz="1200" dirty="0">
                <a:latin typeface="Times New Roman"/>
                <a:cs typeface="Times New Roman"/>
              </a:rPr>
              <a:t>data</a:t>
            </a:r>
            <a:r>
              <a:rPr sz="1200" spc="-25" dirty="0">
                <a:latin typeface="Times New Roman"/>
                <a:cs typeface="Times New Roman"/>
              </a:rPr>
              <a:t> </a:t>
            </a:r>
            <a:r>
              <a:rPr sz="1200" spc="-10" dirty="0">
                <a:latin typeface="Times New Roman"/>
                <a:cs typeface="Times New Roman"/>
              </a:rPr>
              <a:t>permanently.</a:t>
            </a:r>
            <a:endParaRPr sz="1200" dirty="0">
              <a:latin typeface="Times New Roman"/>
              <a:cs typeface="Times New Roman"/>
            </a:endParaRPr>
          </a:p>
          <a:p>
            <a:pPr marL="523240" lvl="1" indent="-115570">
              <a:lnSpc>
                <a:spcPts val="1310"/>
              </a:lnSpc>
              <a:buClr>
                <a:srgbClr val="3E762B"/>
              </a:buClr>
              <a:buFont typeface="Arial MT"/>
              <a:buChar char="•"/>
              <a:tabLst>
                <a:tab pos="523240" algn="l"/>
              </a:tabLst>
            </a:pPr>
            <a:r>
              <a:rPr sz="1100" dirty="0">
                <a:latin typeface="Times New Roman"/>
                <a:cs typeface="Times New Roman"/>
              </a:rPr>
              <a:t>ROM</a:t>
            </a:r>
            <a:r>
              <a:rPr sz="1100" spc="-10" dirty="0">
                <a:latin typeface="Times New Roman"/>
                <a:cs typeface="Times New Roman"/>
              </a:rPr>
              <a:t> </a:t>
            </a:r>
            <a:r>
              <a:rPr sz="1100" dirty="0">
                <a:latin typeface="Times New Roman"/>
                <a:cs typeface="Times New Roman"/>
              </a:rPr>
              <a:t>is</a:t>
            </a:r>
            <a:r>
              <a:rPr sz="1100" spc="-5" dirty="0">
                <a:latin typeface="Times New Roman"/>
                <a:cs typeface="Times New Roman"/>
              </a:rPr>
              <a:t> </a:t>
            </a:r>
            <a:r>
              <a:rPr sz="1100" dirty="0">
                <a:latin typeface="Times New Roman"/>
                <a:cs typeface="Times New Roman"/>
              </a:rPr>
              <a:t>a</a:t>
            </a:r>
            <a:r>
              <a:rPr sz="1100" spc="5" dirty="0">
                <a:latin typeface="Times New Roman"/>
                <a:cs typeface="Times New Roman"/>
              </a:rPr>
              <a:t> </a:t>
            </a:r>
            <a:r>
              <a:rPr sz="1100" spc="-10" dirty="0">
                <a:latin typeface="Times New Roman"/>
                <a:cs typeface="Times New Roman"/>
              </a:rPr>
              <a:t>non-</a:t>
            </a:r>
            <a:r>
              <a:rPr sz="1100" dirty="0">
                <a:latin typeface="Times New Roman"/>
                <a:cs typeface="Times New Roman"/>
              </a:rPr>
              <a:t>volatile</a:t>
            </a:r>
            <a:r>
              <a:rPr sz="1100" spc="-10" dirty="0">
                <a:latin typeface="Times New Roman"/>
                <a:cs typeface="Times New Roman"/>
              </a:rPr>
              <a:t> </a:t>
            </a:r>
            <a:r>
              <a:rPr sz="1100" dirty="0">
                <a:latin typeface="Times New Roman"/>
                <a:cs typeface="Times New Roman"/>
              </a:rPr>
              <a:t>memory</a:t>
            </a:r>
            <a:r>
              <a:rPr sz="1100" spc="15" dirty="0">
                <a:latin typeface="Times New Roman"/>
                <a:cs typeface="Times New Roman"/>
              </a:rPr>
              <a:t> </a:t>
            </a:r>
            <a:r>
              <a:rPr sz="1100" dirty="0">
                <a:latin typeface="Times New Roman"/>
                <a:cs typeface="Times New Roman"/>
              </a:rPr>
              <a:t>that</a:t>
            </a:r>
            <a:r>
              <a:rPr sz="1100" spc="-5" dirty="0">
                <a:latin typeface="Times New Roman"/>
                <a:cs typeface="Times New Roman"/>
              </a:rPr>
              <a:t> </a:t>
            </a:r>
            <a:r>
              <a:rPr sz="1100" dirty="0">
                <a:latin typeface="Times New Roman"/>
                <a:cs typeface="Times New Roman"/>
              </a:rPr>
              <a:t>permanently</a:t>
            </a:r>
            <a:r>
              <a:rPr sz="1100" spc="-20" dirty="0">
                <a:latin typeface="Times New Roman"/>
                <a:cs typeface="Times New Roman"/>
              </a:rPr>
              <a:t> </a:t>
            </a:r>
            <a:r>
              <a:rPr sz="1100" dirty="0">
                <a:latin typeface="Times New Roman"/>
                <a:cs typeface="Times New Roman"/>
              </a:rPr>
              <a:t>stores</a:t>
            </a:r>
            <a:r>
              <a:rPr sz="1100" spc="-20" dirty="0">
                <a:latin typeface="Times New Roman"/>
                <a:cs typeface="Times New Roman"/>
              </a:rPr>
              <a:t> </a:t>
            </a:r>
            <a:r>
              <a:rPr sz="1100" dirty="0">
                <a:latin typeface="Times New Roman"/>
                <a:cs typeface="Times New Roman"/>
              </a:rPr>
              <a:t>instructions</a:t>
            </a:r>
            <a:r>
              <a:rPr sz="1100" spc="-45" dirty="0">
                <a:latin typeface="Times New Roman"/>
                <a:cs typeface="Times New Roman"/>
              </a:rPr>
              <a:t> </a:t>
            </a:r>
            <a:r>
              <a:rPr sz="1100" dirty="0">
                <a:latin typeface="Times New Roman"/>
                <a:cs typeface="Times New Roman"/>
              </a:rPr>
              <a:t>for</a:t>
            </a:r>
            <a:r>
              <a:rPr sz="1100" spc="-10" dirty="0">
                <a:latin typeface="Times New Roman"/>
                <a:cs typeface="Times New Roman"/>
              </a:rPr>
              <a:t> </a:t>
            </a:r>
            <a:r>
              <a:rPr sz="1100" dirty="0">
                <a:latin typeface="Times New Roman"/>
                <a:cs typeface="Times New Roman"/>
              </a:rPr>
              <a:t>your</a:t>
            </a:r>
            <a:r>
              <a:rPr sz="1100" spc="5" dirty="0">
                <a:latin typeface="Times New Roman"/>
                <a:cs typeface="Times New Roman"/>
              </a:rPr>
              <a:t> </a:t>
            </a:r>
            <a:r>
              <a:rPr sz="1100" spc="-10" dirty="0">
                <a:latin typeface="Times New Roman"/>
                <a:cs typeface="Times New Roman"/>
              </a:rPr>
              <a:t>computer.</a:t>
            </a:r>
            <a:endParaRPr sz="1100" dirty="0">
              <a:latin typeface="Times New Roman"/>
              <a:cs typeface="Times New Roman"/>
            </a:endParaRPr>
          </a:p>
        </p:txBody>
      </p:sp>
      <p:pic>
        <p:nvPicPr>
          <p:cNvPr id="10" name="object 10"/>
          <p:cNvPicPr/>
          <p:nvPr/>
        </p:nvPicPr>
        <p:blipFill>
          <a:blip r:embed="rId4" cstate="print"/>
          <a:stretch>
            <a:fillRect/>
          </a:stretch>
        </p:blipFill>
        <p:spPr>
          <a:xfrm>
            <a:off x="3924300" y="7249668"/>
            <a:ext cx="2404872" cy="856488"/>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5</a:t>
            </a:fld>
            <a:endParaRPr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spc="-25" dirty="0">
                <a:latin typeface="Georgia"/>
                <a:cs typeface="Georgia"/>
              </a:rPr>
              <a:t>Random-</a:t>
            </a:r>
            <a:r>
              <a:rPr sz="2200" dirty="0">
                <a:latin typeface="Georgia"/>
                <a:cs typeface="Georgia"/>
              </a:rPr>
              <a:t>Access</a:t>
            </a:r>
            <a:r>
              <a:rPr sz="2200" spc="-35" dirty="0">
                <a:latin typeface="Georgia"/>
                <a:cs typeface="Georgia"/>
              </a:rPr>
              <a:t> </a:t>
            </a:r>
            <a:r>
              <a:rPr sz="2200" dirty="0">
                <a:latin typeface="Georgia"/>
                <a:cs typeface="Georgia"/>
              </a:rPr>
              <a:t>Memory</a:t>
            </a:r>
            <a:r>
              <a:rPr sz="2200" spc="-60" dirty="0">
                <a:latin typeface="Georgia"/>
                <a:cs typeface="Georgia"/>
              </a:rPr>
              <a:t> </a:t>
            </a:r>
            <a:r>
              <a:rPr sz="2200" spc="-20" dirty="0">
                <a:latin typeface="Georgia"/>
                <a:cs typeface="Georgia"/>
              </a:rPr>
              <a:t>(RAM)</a:t>
            </a:r>
            <a:endParaRPr sz="2200">
              <a:latin typeface="Georgia"/>
              <a:cs typeface="Georgia"/>
            </a:endParaRPr>
          </a:p>
        </p:txBody>
      </p:sp>
      <p:pic>
        <p:nvPicPr>
          <p:cNvPr id="3" name="object 3"/>
          <p:cNvPicPr/>
          <p:nvPr/>
        </p:nvPicPr>
        <p:blipFill>
          <a:blip r:embed="rId2" cstate="print"/>
          <a:stretch>
            <a:fillRect/>
          </a:stretch>
        </p:blipFill>
        <p:spPr>
          <a:xfrm>
            <a:off x="2022348" y="1697735"/>
            <a:ext cx="2458212" cy="2366771"/>
          </a:xfrm>
          <a:prstGeom prst="rect">
            <a:avLst/>
          </a:prstGeom>
        </p:spPr>
      </p:pic>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8" name="object 8"/>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spc="-25" dirty="0">
                <a:latin typeface="Georgia"/>
                <a:cs typeface="Georgia"/>
              </a:rPr>
              <a:t>Random-</a:t>
            </a:r>
            <a:r>
              <a:rPr sz="2200" dirty="0">
                <a:latin typeface="Georgia"/>
                <a:cs typeface="Georgia"/>
              </a:rPr>
              <a:t>Access</a:t>
            </a:r>
            <a:r>
              <a:rPr sz="2200" spc="-35" dirty="0">
                <a:latin typeface="Georgia"/>
                <a:cs typeface="Georgia"/>
              </a:rPr>
              <a:t> </a:t>
            </a:r>
            <a:r>
              <a:rPr sz="2200" dirty="0">
                <a:latin typeface="Georgia"/>
                <a:cs typeface="Georgia"/>
              </a:rPr>
              <a:t>Memory</a:t>
            </a:r>
            <a:r>
              <a:rPr sz="2200" spc="-60" dirty="0">
                <a:latin typeface="Georgia"/>
                <a:cs typeface="Georgia"/>
              </a:rPr>
              <a:t> </a:t>
            </a:r>
            <a:r>
              <a:rPr sz="2200" spc="-20" dirty="0">
                <a:latin typeface="Georgia"/>
                <a:cs typeface="Georgia"/>
              </a:rPr>
              <a:t>(RAM)</a:t>
            </a:r>
            <a:endParaRPr sz="2200" dirty="0">
              <a:latin typeface="Georgia"/>
              <a:cs typeface="Georgia"/>
            </a:endParaRPr>
          </a:p>
          <a:p>
            <a:pPr marL="434975" marR="1038225" indent="-172720">
              <a:lnSpc>
                <a:spcPct val="100000"/>
              </a:lnSpc>
              <a:spcBef>
                <a:spcPts val="1245"/>
              </a:spcBef>
              <a:buClr>
                <a:srgbClr val="3E762B"/>
              </a:buClr>
              <a:buFont typeface="Wingdings"/>
              <a:buChar char=""/>
              <a:tabLst>
                <a:tab pos="436245" algn="l"/>
              </a:tabLst>
            </a:pPr>
            <a:r>
              <a:rPr sz="1200" dirty="0">
                <a:latin typeface="Times New Roman"/>
                <a:cs typeface="Times New Roman"/>
              </a:rPr>
              <a:t>Memory</a:t>
            </a:r>
            <a:r>
              <a:rPr sz="1200" spc="-25"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10" dirty="0">
                <a:latin typeface="Times New Roman"/>
                <a:cs typeface="Times New Roman"/>
              </a:rPr>
              <a:t>collection</a:t>
            </a:r>
            <a:r>
              <a:rPr sz="1200" spc="-3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b="1" dirty="0">
                <a:latin typeface="Times New Roman"/>
                <a:cs typeface="Times New Roman"/>
              </a:rPr>
              <a:t>binary</a:t>
            </a:r>
            <a:r>
              <a:rPr sz="1200" b="1" spc="-30" dirty="0">
                <a:latin typeface="Times New Roman"/>
                <a:cs typeface="Times New Roman"/>
              </a:rPr>
              <a:t> </a:t>
            </a:r>
            <a:r>
              <a:rPr sz="1200" b="1" dirty="0">
                <a:latin typeface="Times New Roman"/>
                <a:cs typeface="Times New Roman"/>
              </a:rPr>
              <a:t>storage</a:t>
            </a:r>
            <a:r>
              <a:rPr sz="1200" b="1" spc="-15" dirty="0">
                <a:latin typeface="Times New Roman"/>
                <a:cs typeface="Times New Roman"/>
              </a:rPr>
              <a:t> </a:t>
            </a:r>
            <a:r>
              <a:rPr sz="1200" b="1" dirty="0">
                <a:latin typeface="Times New Roman"/>
                <a:cs typeface="Times New Roman"/>
              </a:rPr>
              <a:t>cells</a:t>
            </a:r>
            <a:r>
              <a:rPr sz="1200" b="1" spc="-15" dirty="0">
                <a:latin typeface="Times New Roman"/>
                <a:cs typeface="Times New Roman"/>
              </a:rPr>
              <a:t> </a:t>
            </a:r>
            <a:r>
              <a:rPr sz="1200" dirty="0">
                <a:latin typeface="Times New Roman"/>
                <a:cs typeface="Times New Roman"/>
              </a:rPr>
              <a:t>together</a:t>
            </a:r>
            <a:r>
              <a:rPr sz="1200" spc="-20" dirty="0">
                <a:latin typeface="Times New Roman"/>
                <a:cs typeface="Times New Roman"/>
              </a:rPr>
              <a:t> </a:t>
            </a:r>
            <a:r>
              <a:rPr sz="1200" dirty="0">
                <a:latin typeface="Times New Roman"/>
                <a:cs typeface="Times New Roman"/>
              </a:rPr>
              <a:t>with</a:t>
            </a:r>
            <a:r>
              <a:rPr sz="1200" spc="-20" dirty="0">
                <a:latin typeface="Times New Roman"/>
                <a:cs typeface="Times New Roman"/>
              </a:rPr>
              <a:t> </a:t>
            </a:r>
            <a:r>
              <a:rPr sz="1200" spc="-10" dirty="0">
                <a:latin typeface="Times New Roman"/>
                <a:cs typeface="Times New Roman"/>
              </a:rPr>
              <a:t>associated 	</a:t>
            </a:r>
            <a:r>
              <a:rPr sz="1200" dirty="0">
                <a:latin typeface="Times New Roman"/>
                <a:cs typeface="Times New Roman"/>
              </a:rPr>
              <a:t>circuits</a:t>
            </a:r>
            <a:r>
              <a:rPr sz="1200" spc="-30" dirty="0">
                <a:latin typeface="Times New Roman"/>
                <a:cs typeface="Times New Roman"/>
              </a:rPr>
              <a:t> </a:t>
            </a:r>
            <a:r>
              <a:rPr sz="1200" dirty="0">
                <a:latin typeface="Times New Roman"/>
                <a:cs typeface="Times New Roman"/>
              </a:rPr>
              <a:t>needed</a:t>
            </a:r>
            <a:r>
              <a:rPr sz="1200" spc="-2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transfer</a:t>
            </a:r>
            <a:r>
              <a:rPr sz="1200" spc="-25" dirty="0">
                <a:latin typeface="Times New Roman"/>
                <a:cs typeface="Times New Roman"/>
              </a:rPr>
              <a:t> </a:t>
            </a:r>
            <a:r>
              <a:rPr sz="1200" dirty="0">
                <a:latin typeface="Times New Roman"/>
                <a:cs typeface="Times New Roman"/>
              </a:rPr>
              <a:t>information</a:t>
            </a:r>
            <a:r>
              <a:rPr sz="1200" spc="-30" dirty="0">
                <a:latin typeface="Times New Roman"/>
                <a:cs typeface="Times New Roman"/>
              </a:rPr>
              <a:t> </a:t>
            </a:r>
            <a:r>
              <a:rPr sz="1200" dirty="0">
                <a:latin typeface="Times New Roman"/>
                <a:cs typeface="Times New Roman"/>
              </a:rPr>
              <a:t>into</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out</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cells.</a:t>
            </a:r>
            <a:endParaRPr sz="1200" dirty="0">
              <a:latin typeface="Times New Roman"/>
              <a:cs typeface="Times New Roman"/>
            </a:endParaRPr>
          </a:p>
          <a:p>
            <a:pPr>
              <a:lnSpc>
                <a:spcPct val="100000"/>
              </a:lnSpc>
              <a:spcBef>
                <a:spcPts val="1260"/>
              </a:spcBef>
              <a:buClr>
                <a:srgbClr val="3E762B"/>
              </a:buClr>
              <a:buFont typeface="Wingdings"/>
              <a:buChar char=""/>
            </a:pPr>
            <a:endParaRPr sz="1200" dirty="0">
              <a:latin typeface="Times New Roman"/>
              <a:cs typeface="Times New Roman"/>
            </a:endParaRPr>
          </a:p>
          <a:p>
            <a:pPr marL="434975" marR="998855" indent="-172720">
              <a:lnSpc>
                <a:spcPct val="100000"/>
              </a:lnSpc>
              <a:buClr>
                <a:srgbClr val="3E762B"/>
              </a:buClr>
              <a:buFont typeface="Wingdings"/>
              <a:buChar char=""/>
              <a:tabLst>
                <a:tab pos="436245" algn="l"/>
              </a:tabLst>
            </a:pPr>
            <a:r>
              <a:rPr sz="1200" b="1" dirty="0">
                <a:latin typeface="Times New Roman"/>
                <a:cs typeface="Times New Roman"/>
              </a:rPr>
              <a:t>Memory</a:t>
            </a:r>
            <a:r>
              <a:rPr sz="1200" b="1" spc="-15" dirty="0">
                <a:latin typeface="Times New Roman"/>
                <a:cs typeface="Times New Roman"/>
              </a:rPr>
              <a:t> </a:t>
            </a:r>
            <a:r>
              <a:rPr sz="1200" dirty="0">
                <a:latin typeface="Times New Roman"/>
                <a:cs typeface="Times New Roman"/>
              </a:rPr>
              <a:t>cells</a:t>
            </a:r>
            <a:r>
              <a:rPr sz="1200" spc="-30"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be</a:t>
            </a:r>
            <a:r>
              <a:rPr sz="1200" spc="-35" dirty="0">
                <a:latin typeface="Times New Roman"/>
                <a:cs typeface="Times New Roman"/>
              </a:rPr>
              <a:t> </a:t>
            </a:r>
            <a:r>
              <a:rPr sz="1200" dirty="0">
                <a:latin typeface="Times New Roman"/>
                <a:cs typeface="Times New Roman"/>
              </a:rPr>
              <a:t>accessed</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transfer</a:t>
            </a:r>
            <a:r>
              <a:rPr sz="1200" spc="-30" dirty="0">
                <a:latin typeface="Times New Roman"/>
                <a:cs typeface="Times New Roman"/>
              </a:rPr>
              <a:t> </a:t>
            </a:r>
            <a:r>
              <a:rPr sz="1200" dirty="0">
                <a:latin typeface="Times New Roman"/>
                <a:cs typeface="Times New Roman"/>
              </a:rPr>
              <a:t>information</a:t>
            </a:r>
            <a:r>
              <a:rPr sz="1200" spc="-4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or</a:t>
            </a:r>
            <a:r>
              <a:rPr sz="1200" spc="-35" dirty="0">
                <a:latin typeface="Times New Roman"/>
                <a:cs typeface="Times New Roman"/>
              </a:rPr>
              <a:t> </a:t>
            </a:r>
            <a:r>
              <a:rPr sz="1200" dirty="0">
                <a:latin typeface="Times New Roman"/>
                <a:cs typeface="Times New Roman"/>
              </a:rPr>
              <a:t>from</a:t>
            </a:r>
            <a:r>
              <a:rPr sz="1200" spc="-30" dirty="0">
                <a:latin typeface="Times New Roman"/>
                <a:cs typeface="Times New Roman"/>
              </a:rPr>
              <a:t> </a:t>
            </a:r>
            <a:r>
              <a:rPr sz="1200" spc="-25" dirty="0">
                <a:latin typeface="Times New Roman"/>
                <a:cs typeface="Times New Roman"/>
              </a:rPr>
              <a:t>any 	</a:t>
            </a:r>
            <a:r>
              <a:rPr sz="1200" dirty="0">
                <a:latin typeface="Times New Roman"/>
                <a:cs typeface="Times New Roman"/>
              </a:rPr>
              <a:t>desired</a:t>
            </a:r>
            <a:r>
              <a:rPr sz="1200" spc="-25" dirty="0">
                <a:latin typeface="Times New Roman"/>
                <a:cs typeface="Times New Roman"/>
              </a:rPr>
              <a:t> </a:t>
            </a:r>
            <a:r>
              <a:rPr sz="1200" dirty="0">
                <a:latin typeface="Times New Roman"/>
                <a:cs typeface="Times New Roman"/>
              </a:rPr>
              <a:t>location,</a:t>
            </a:r>
            <a:r>
              <a:rPr sz="1200" spc="-45" dirty="0">
                <a:latin typeface="Times New Roman"/>
                <a:cs typeface="Times New Roman"/>
              </a:rPr>
              <a:t> </a:t>
            </a:r>
            <a:r>
              <a:rPr sz="1200" dirty="0">
                <a:latin typeface="Times New Roman"/>
                <a:cs typeface="Times New Roman"/>
              </a:rPr>
              <a:t>with</a:t>
            </a:r>
            <a:r>
              <a:rPr sz="1200" spc="-3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b="1" dirty="0">
                <a:latin typeface="Times New Roman"/>
                <a:cs typeface="Times New Roman"/>
              </a:rPr>
              <a:t>access</a:t>
            </a:r>
            <a:r>
              <a:rPr sz="1200" b="1" spc="-20" dirty="0">
                <a:latin typeface="Times New Roman"/>
                <a:cs typeface="Times New Roman"/>
              </a:rPr>
              <a:t> </a:t>
            </a:r>
            <a:r>
              <a:rPr sz="1200" dirty="0">
                <a:latin typeface="Times New Roman"/>
                <a:cs typeface="Times New Roman"/>
              </a:rPr>
              <a:t>taking</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b="1" dirty="0">
                <a:latin typeface="Times New Roman"/>
                <a:cs typeface="Times New Roman"/>
              </a:rPr>
              <a:t>same</a:t>
            </a:r>
            <a:r>
              <a:rPr sz="1200" b="1" spc="-25" dirty="0">
                <a:latin typeface="Times New Roman"/>
                <a:cs typeface="Times New Roman"/>
              </a:rPr>
              <a:t> </a:t>
            </a:r>
            <a:r>
              <a:rPr sz="1200" b="1" dirty="0">
                <a:latin typeface="Times New Roman"/>
                <a:cs typeface="Times New Roman"/>
              </a:rPr>
              <a:t>time</a:t>
            </a:r>
            <a:r>
              <a:rPr sz="1200" b="1" spc="-20" dirty="0">
                <a:latin typeface="Times New Roman"/>
                <a:cs typeface="Times New Roman"/>
              </a:rPr>
              <a:t> </a:t>
            </a:r>
            <a:r>
              <a:rPr sz="1200" b="1" dirty="0">
                <a:latin typeface="Times New Roman"/>
                <a:cs typeface="Times New Roman"/>
              </a:rPr>
              <a:t>regardless</a:t>
            </a:r>
            <a:r>
              <a:rPr sz="1200" b="1" spc="-20" dirty="0">
                <a:latin typeface="Times New Roman"/>
                <a:cs typeface="Times New Roman"/>
              </a:rPr>
              <a:t> </a:t>
            </a:r>
            <a:r>
              <a:rPr sz="1200" b="1" dirty="0">
                <a:latin typeface="Times New Roman"/>
                <a:cs typeface="Times New Roman"/>
              </a:rPr>
              <a:t>of</a:t>
            </a:r>
            <a:r>
              <a:rPr sz="1200" b="1" spc="-40" dirty="0">
                <a:latin typeface="Times New Roman"/>
                <a:cs typeface="Times New Roman"/>
              </a:rPr>
              <a:t> </a:t>
            </a:r>
            <a:r>
              <a:rPr sz="1200" b="1" spc="-25" dirty="0">
                <a:latin typeface="Times New Roman"/>
                <a:cs typeface="Times New Roman"/>
              </a:rPr>
              <a:t>the 	</a:t>
            </a:r>
            <a:r>
              <a:rPr sz="1200" b="1" dirty="0">
                <a:latin typeface="Times New Roman"/>
                <a:cs typeface="Times New Roman"/>
              </a:rPr>
              <a:t>location</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hence</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name</a:t>
            </a:r>
            <a:r>
              <a:rPr sz="1200" spc="-35" dirty="0">
                <a:latin typeface="Times New Roman"/>
                <a:cs typeface="Times New Roman"/>
              </a:rPr>
              <a:t> </a:t>
            </a:r>
            <a:r>
              <a:rPr sz="1200" b="1" spc="-10" dirty="0">
                <a:latin typeface="Times New Roman"/>
                <a:cs typeface="Times New Roman"/>
              </a:rPr>
              <a:t>random-</a:t>
            </a:r>
            <a:r>
              <a:rPr sz="1200" b="1" dirty="0">
                <a:latin typeface="Times New Roman"/>
                <a:cs typeface="Times New Roman"/>
              </a:rPr>
              <a:t>access</a:t>
            </a:r>
            <a:r>
              <a:rPr sz="1200" b="1" spc="5" dirty="0">
                <a:latin typeface="Times New Roman"/>
                <a:cs typeface="Times New Roman"/>
              </a:rPr>
              <a:t> </a:t>
            </a:r>
            <a:r>
              <a:rPr sz="1200" b="1" spc="-10" dirty="0">
                <a:latin typeface="Times New Roman"/>
                <a:cs typeface="Times New Roman"/>
              </a:rPr>
              <a:t>memory</a:t>
            </a:r>
            <a:r>
              <a:rPr sz="1200" spc="-10" dirty="0">
                <a:latin typeface="Times New Roman"/>
                <a:cs typeface="Times New Roman"/>
              </a:rPr>
              <a:t>.</a:t>
            </a:r>
            <a:endParaRPr sz="1200" dirty="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6</a:t>
            </a:fld>
            <a:endParaRPr spc="-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09855" rIns="0" bIns="0" rtlCol="0">
            <a:spAutoFit/>
          </a:bodyPr>
          <a:lstStyle/>
          <a:p>
            <a:pPr marL="228600">
              <a:lnSpc>
                <a:spcPct val="100000"/>
              </a:lnSpc>
              <a:spcBef>
                <a:spcPts val="865"/>
              </a:spcBef>
            </a:pPr>
            <a:r>
              <a:rPr sz="2000" dirty="0">
                <a:latin typeface="Georgia"/>
                <a:cs typeface="Georgia"/>
              </a:rPr>
              <a:t>RAM</a:t>
            </a:r>
            <a:r>
              <a:rPr sz="2000" spc="-10" dirty="0">
                <a:latin typeface="Georgia"/>
                <a:cs typeface="Georgia"/>
              </a:rPr>
              <a:t> Structure</a:t>
            </a:r>
            <a:endParaRPr sz="2000">
              <a:latin typeface="Georgia"/>
              <a:cs typeface="Georgia"/>
            </a:endParaRPr>
          </a:p>
        </p:txBody>
      </p:sp>
      <p:pic>
        <p:nvPicPr>
          <p:cNvPr id="3" name="object 3"/>
          <p:cNvPicPr/>
          <p:nvPr/>
        </p:nvPicPr>
        <p:blipFill>
          <a:blip r:embed="rId3" cstate="print"/>
          <a:stretch>
            <a:fillRect/>
          </a:stretch>
        </p:blipFill>
        <p:spPr>
          <a:xfrm>
            <a:off x="1164336" y="1635251"/>
            <a:ext cx="3691128" cy="2389632"/>
          </a:xfrm>
          <a:prstGeom prst="rect">
            <a:avLst/>
          </a:prstGeom>
        </p:spPr>
      </p:pic>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8" name="object 8"/>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spc="-25" dirty="0">
                <a:latin typeface="Georgia"/>
                <a:cs typeface="Georgia"/>
              </a:rPr>
              <a:t>Random-</a:t>
            </a:r>
            <a:r>
              <a:rPr sz="2200" dirty="0">
                <a:latin typeface="Georgia"/>
                <a:cs typeface="Georgia"/>
              </a:rPr>
              <a:t>Access</a:t>
            </a:r>
            <a:r>
              <a:rPr sz="2200" spc="-35" dirty="0">
                <a:latin typeface="Georgia"/>
                <a:cs typeface="Georgia"/>
              </a:rPr>
              <a:t> </a:t>
            </a:r>
            <a:r>
              <a:rPr sz="2200" dirty="0">
                <a:latin typeface="Georgia"/>
                <a:cs typeface="Georgia"/>
              </a:rPr>
              <a:t>Memory</a:t>
            </a:r>
            <a:r>
              <a:rPr sz="2200" spc="-60" dirty="0">
                <a:latin typeface="Georgia"/>
                <a:cs typeface="Georgia"/>
              </a:rPr>
              <a:t> </a:t>
            </a:r>
            <a:r>
              <a:rPr sz="2200" spc="-20" dirty="0">
                <a:latin typeface="Georgia"/>
                <a:cs typeface="Georgia"/>
              </a:rPr>
              <a:t>(RAM)</a:t>
            </a:r>
            <a:endParaRPr sz="2200" dirty="0">
              <a:latin typeface="Georgia"/>
              <a:cs typeface="Georgia"/>
            </a:endParaRPr>
          </a:p>
          <a:p>
            <a:pPr marL="434975" marR="640715" indent="-172720">
              <a:lnSpc>
                <a:spcPct val="100000"/>
              </a:lnSpc>
              <a:spcBef>
                <a:spcPts val="1415"/>
              </a:spcBef>
              <a:buClr>
                <a:srgbClr val="3E762B"/>
              </a:buClr>
              <a:buFont typeface="Wingdings"/>
              <a:buChar char=""/>
              <a:tabLst>
                <a:tab pos="436245" algn="l"/>
              </a:tabLst>
            </a:pPr>
            <a:r>
              <a:rPr sz="1200" dirty="0">
                <a:latin typeface="Times New Roman"/>
                <a:cs typeface="Times New Roman"/>
              </a:rPr>
              <a:t>Binary</a:t>
            </a:r>
            <a:r>
              <a:rPr sz="1200" spc="-20" dirty="0">
                <a:latin typeface="Times New Roman"/>
                <a:cs typeface="Times New Roman"/>
              </a:rPr>
              <a:t> </a:t>
            </a:r>
            <a:r>
              <a:rPr sz="1200" dirty="0">
                <a:latin typeface="Times New Roman"/>
                <a:cs typeface="Times New Roman"/>
              </a:rPr>
              <a:t>information</a:t>
            </a:r>
            <a:r>
              <a:rPr sz="1200" spc="-3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stored</a:t>
            </a:r>
            <a:r>
              <a:rPr sz="1200" spc="-2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memory</a:t>
            </a:r>
            <a:r>
              <a:rPr sz="1200" spc="-3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groups</a:t>
            </a:r>
            <a:r>
              <a:rPr sz="1200" spc="-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bits,</a:t>
            </a:r>
            <a:r>
              <a:rPr sz="1200" spc="-35" dirty="0">
                <a:latin typeface="Times New Roman"/>
                <a:cs typeface="Times New Roman"/>
              </a:rPr>
              <a:t> </a:t>
            </a:r>
            <a:r>
              <a:rPr sz="1200" dirty="0">
                <a:latin typeface="Times New Roman"/>
                <a:cs typeface="Times New Roman"/>
              </a:rPr>
              <a:t>each</a:t>
            </a:r>
            <a:r>
              <a:rPr sz="1200" spc="-15" dirty="0">
                <a:latin typeface="Times New Roman"/>
                <a:cs typeface="Times New Roman"/>
              </a:rPr>
              <a:t> </a:t>
            </a:r>
            <a:r>
              <a:rPr sz="1200" dirty="0">
                <a:latin typeface="Times New Roman"/>
                <a:cs typeface="Times New Roman"/>
              </a:rPr>
              <a:t>group</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10" dirty="0">
                <a:latin typeface="Times New Roman"/>
                <a:cs typeface="Times New Roman"/>
              </a:rPr>
              <a:t>which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called</a:t>
            </a:r>
            <a:r>
              <a:rPr sz="1200" spc="-1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b="1" spc="-10" dirty="0">
                <a:latin typeface="Times New Roman"/>
                <a:cs typeface="Times New Roman"/>
              </a:rPr>
              <a:t>word</a:t>
            </a:r>
            <a:r>
              <a:rPr sz="1200" spc="-10" dirty="0">
                <a:latin typeface="Times New Roman"/>
                <a:cs typeface="Times New Roman"/>
              </a:rPr>
              <a:t>.</a:t>
            </a:r>
            <a:endParaRPr sz="1200" dirty="0">
              <a:latin typeface="Times New Roman"/>
              <a:cs typeface="Times New Roman"/>
            </a:endParaRPr>
          </a:p>
          <a:p>
            <a:pPr marL="434975" indent="-172720">
              <a:lnSpc>
                <a:spcPct val="100000"/>
              </a:lnSpc>
              <a:spcBef>
                <a:spcPts val="900"/>
              </a:spcBef>
              <a:buClr>
                <a:srgbClr val="3E762B"/>
              </a:buClr>
              <a:buFont typeface="Wingdings"/>
              <a:buChar char=""/>
              <a:tabLst>
                <a:tab pos="434975" algn="l"/>
              </a:tabLst>
            </a:pPr>
            <a:r>
              <a:rPr sz="1200" dirty="0">
                <a:latin typeface="Times New Roman"/>
                <a:cs typeface="Times New Roman"/>
              </a:rPr>
              <a:t>A</a:t>
            </a:r>
            <a:r>
              <a:rPr sz="1200" spc="-75" dirty="0">
                <a:latin typeface="Times New Roman"/>
                <a:cs typeface="Times New Roman"/>
              </a:rPr>
              <a:t> </a:t>
            </a:r>
            <a:r>
              <a:rPr sz="1200" b="1" dirty="0">
                <a:latin typeface="Times New Roman"/>
                <a:cs typeface="Times New Roman"/>
              </a:rPr>
              <a:t>word</a:t>
            </a:r>
            <a:r>
              <a:rPr sz="1200" b="1" spc="-30" dirty="0">
                <a:latin typeface="Times New Roman"/>
                <a:cs typeface="Times New Roman"/>
              </a:rPr>
              <a:t> </a:t>
            </a:r>
            <a:r>
              <a:rPr sz="1200" dirty="0">
                <a:latin typeface="Times New Roman"/>
                <a:cs typeface="Times New Roman"/>
              </a:rPr>
              <a:t>is</a:t>
            </a:r>
            <a:r>
              <a:rPr sz="1200" spc="-15" dirty="0">
                <a:latin typeface="Times New Roman"/>
                <a:cs typeface="Times New Roman"/>
              </a:rPr>
              <a:t> </a:t>
            </a:r>
            <a:r>
              <a:rPr sz="1200" dirty="0">
                <a:latin typeface="Times New Roman"/>
                <a:cs typeface="Times New Roman"/>
              </a:rPr>
              <a:t>an</a:t>
            </a:r>
            <a:r>
              <a:rPr sz="1200" spc="-15" dirty="0">
                <a:latin typeface="Times New Roman"/>
                <a:cs typeface="Times New Roman"/>
              </a:rPr>
              <a:t> </a:t>
            </a:r>
            <a:r>
              <a:rPr sz="1200" dirty="0">
                <a:latin typeface="Times New Roman"/>
                <a:cs typeface="Times New Roman"/>
              </a:rPr>
              <a:t>entity</a:t>
            </a:r>
            <a:r>
              <a:rPr sz="1200" spc="-30"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bits</a:t>
            </a:r>
            <a:r>
              <a:rPr sz="1200" spc="-30" dirty="0">
                <a:latin typeface="Times New Roman"/>
                <a:cs typeface="Times New Roman"/>
              </a:rPr>
              <a:t> </a:t>
            </a:r>
            <a:r>
              <a:rPr sz="1200" dirty="0">
                <a:latin typeface="Times New Roman"/>
                <a:cs typeface="Times New Roman"/>
              </a:rPr>
              <a:t>that</a:t>
            </a:r>
            <a:r>
              <a:rPr sz="1200" spc="-30" dirty="0">
                <a:latin typeface="Times New Roman"/>
                <a:cs typeface="Times New Roman"/>
              </a:rPr>
              <a:t> </a:t>
            </a:r>
            <a:r>
              <a:rPr sz="1200" dirty="0">
                <a:latin typeface="Times New Roman"/>
                <a:cs typeface="Times New Roman"/>
              </a:rPr>
              <a:t>moves</a:t>
            </a:r>
            <a:r>
              <a:rPr sz="1200" spc="-15"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out</a:t>
            </a:r>
            <a:r>
              <a:rPr sz="1200" spc="-15"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memory</a:t>
            </a:r>
            <a:r>
              <a:rPr sz="1200" spc="-20" dirty="0">
                <a:latin typeface="Times New Roman"/>
                <a:cs typeface="Times New Roman"/>
              </a:rPr>
              <a:t> </a:t>
            </a:r>
            <a:r>
              <a:rPr sz="1200" dirty="0">
                <a:latin typeface="Times New Roman"/>
                <a:cs typeface="Times New Roman"/>
              </a:rPr>
              <a:t>as</a:t>
            </a:r>
            <a:r>
              <a:rPr sz="1200" spc="-1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b="1" spc="-10" dirty="0">
                <a:latin typeface="Times New Roman"/>
                <a:cs typeface="Times New Roman"/>
              </a:rPr>
              <a:t>unit.</a:t>
            </a:r>
            <a:endParaRPr sz="1200" dirty="0">
              <a:latin typeface="Times New Roman"/>
              <a:cs typeface="Times New Roman"/>
            </a:endParaRPr>
          </a:p>
          <a:p>
            <a:pPr marL="434975" indent="-172720">
              <a:lnSpc>
                <a:spcPct val="100000"/>
              </a:lnSpc>
              <a:spcBef>
                <a:spcPts val="900"/>
              </a:spcBef>
              <a:buClr>
                <a:srgbClr val="3E762B"/>
              </a:buClr>
              <a:buFont typeface="Wingdings"/>
              <a:buChar char=""/>
              <a:tabLst>
                <a:tab pos="434975" algn="l"/>
              </a:tabLst>
            </a:pP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group</a:t>
            </a:r>
            <a:r>
              <a:rPr sz="1200" spc="-10"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b="1" dirty="0">
                <a:latin typeface="Times New Roman"/>
                <a:cs typeface="Times New Roman"/>
              </a:rPr>
              <a:t>eight</a:t>
            </a:r>
            <a:r>
              <a:rPr sz="1200" b="1" spc="-35" dirty="0">
                <a:latin typeface="Times New Roman"/>
                <a:cs typeface="Times New Roman"/>
              </a:rPr>
              <a:t> </a:t>
            </a:r>
            <a:r>
              <a:rPr sz="1200" b="1" dirty="0">
                <a:latin typeface="Times New Roman"/>
                <a:cs typeface="Times New Roman"/>
              </a:rPr>
              <a:t>bits</a:t>
            </a:r>
            <a:r>
              <a:rPr sz="1200" b="1" spc="-15" dirty="0">
                <a:latin typeface="Times New Roman"/>
                <a:cs typeface="Times New Roman"/>
              </a:rPr>
              <a:t> </a:t>
            </a:r>
            <a:r>
              <a:rPr sz="1200" dirty="0">
                <a:latin typeface="Times New Roman"/>
                <a:cs typeface="Times New Roman"/>
              </a:rPr>
              <a:t>is</a:t>
            </a:r>
            <a:r>
              <a:rPr sz="1200" spc="-10" dirty="0">
                <a:latin typeface="Times New Roman"/>
                <a:cs typeface="Times New Roman"/>
              </a:rPr>
              <a:t> </a:t>
            </a:r>
            <a:r>
              <a:rPr sz="1200" dirty="0">
                <a:latin typeface="Times New Roman"/>
                <a:cs typeface="Times New Roman"/>
              </a:rPr>
              <a:t>called</a:t>
            </a:r>
            <a:r>
              <a:rPr sz="1200" spc="-1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b="1" spc="-20" dirty="0">
                <a:latin typeface="Times New Roman"/>
                <a:cs typeface="Times New Roman"/>
              </a:rPr>
              <a:t>byte</a:t>
            </a:r>
            <a:r>
              <a:rPr sz="1200" spc="-20" dirty="0">
                <a:latin typeface="Times New Roman"/>
                <a:cs typeface="Times New Roman"/>
              </a:rPr>
              <a:t>.</a:t>
            </a:r>
            <a:endParaRPr sz="1200" dirty="0">
              <a:latin typeface="Times New Roman"/>
              <a:cs typeface="Times New Roman"/>
            </a:endParaRPr>
          </a:p>
          <a:p>
            <a:pPr marL="434975" indent="-172720">
              <a:lnSpc>
                <a:spcPct val="100000"/>
              </a:lnSpc>
              <a:spcBef>
                <a:spcPts val="900"/>
              </a:spcBef>
              <a:buClr>
                <a:srgbClr val="3E762B"/>
              </a:buClr>
              <a:buFont typeface="Wingdings"/>
              <a:buChar char=""/>
              <a:tabLst>
                <a:tab pos="434975" algn="l"/>
              </a:tabLst>
            </a:pPr>
            <a:r>
              <a:rPr sz="1200" dirty="0">
                <a:latin typeface="Times New Roman"/>
                <a:cs typeface="Times New Roman"/>
              </a:rPr>
              <a:t>Most</a:t>
            </a:r>
            <a:r>
              <a:rPr sz="1200" spc="-25" dirty="0">
                <a:latin typeface="Times New Roman"/>
                <a:cs typeface="Times New Roman"/>
              </a:rPr>
              <a:t> </a:t>
            </a:r>
            <a:r>
              <a:rPr sz="1200" dirty="0">
                <a:latin typeface="Times New Roman"/>
                <a:cs typeface="Times New Roman"/>
              </a:rPr>
              <a:t>computer</a:t>
            </a:r>
            <a:r>
              <a:rPr sz="1200" spc="-20" dirty="0">
                <a:latin typeface="Times New Roman"/>
                <a:cs typeface="Times New Roman"/>
              </a:rPr>
              <a:t> </a:t>
            </a:r>
            <a:r>
              <a:rPr sz="1200" dirty="0">
                <a:latin typeface="Times New Roman"/>
                <a:cs typeface="Times New Roman"/>
              </a:rPr>
              <a:t>memories</a:t>
            </a:r>
            <a:r>
              <a:rPr sz="1200" spc="-25" dirty="0">
                <a:latin typeface="Times New Roman"/>
                <a:cs typeface="Times New Roman"/>
              </a:rPr>
              <a:t> </a:t>
            </a:r>
            <a:r>
              <a:rPr sz="1200" dirty="0">
                <a:latin typeface="Times New Roman"/>
                <a:cs typeface="Times New Roman"/>
              </a:rPr>
              <a:t>use</a:t>
            </a:r>
            <a:r>
              <a:rPr sz="1200" spc="-20" dirty="0">
                <a:latin typeface="Times New Roman"/>
                <a:cs typeface="Times New Roman"/>
              </a:rPr>
              <a:t> </a:t>
            </a:r>
            <a:r>
              <a:rPr sz="1200" b="1" dirty="0">
                <a:latin typeface="Times New Roman"/>
                <a:cs typeface="Times New Roman"/>
              </a:rPr>
              <a:t>words</a:t>
            </a:r>
            <a:r>
              <a:rPr sz="1200" b="1" spc="-30" dirty="0">
                <a:latin typeface="Times New Roman"/>
                <a:cs typeface="Times New Roman"/>
              </a:rPr>
              <a:t> </a:t>
            </a:r>
            <a:r>
              <a:rPr sz="1200" dirty="0">
                <a:latin typeface="Times New Roman"/>
                <a:cs typeface="Times New Roman"/>
              </a:rPr>
              <a:t>that</a:t>
            </a:r>
            <a:r>
              <a:rPr sz="1200" spc="-20" dirty="0">
                <a:latin typeface="Times New Roman"/>
                <a:cs typeface="Times New Roman"/>
              </a:rPr>
              <a:t> </a:t>
            </a:r>
            <a:r>
              <a:rPr sz="1200" dirty="0">
                <a:latin typeface="Times New Roman"/>
                <a:cs typeface="Times New Roman"/>
              </a:rPr>
              <a:t>are</a:t>
            </a:r>
            <a:r>
              <a:rPr sz="1200" spc="-25" dirty="0">
                <a:latin typeface="Times New Roman"/>
                <a:cs typeface="Times New Roman"/>
              </a:rPr>
              <a:t> </a:t>
            </a:r>
            <a:r>
              <a:rPr sz="1200" b="1" dirty="0">
                <a:latin typeface="Times New Roman"/>
                <a:cs typeface="Times New Roman"/>
              </a:rPr>
              <a:t>multiples</a:t>
            </a:r>
            <a:r>
              <a:rPr sz="1200" b="1" spc="-20" dirty="0">
                <a:latin typeface="Times New Roman"/>
                <a:cs typeface="Times New Roman"/>
              </a:rPr>
              <a:t> </a:t>
            </a:r>
            <a:r>
              <a:rPr sz="1200" b="1" dirty="0">
                <a:latin typeface="Times New Roman"/>
                <a:cs typeface="Times New Roman"/>
              </a:rPr>
              <a:t>of</a:t>
            </a:r>
            <a:r>
              <a:rPr sz="1200" b="1" spc="-30" dirty="0">
                <a:latin typeface="Times New Roman"/>
                <a:cs typeface="Times New Roman"/>
              </a:rPr>
              <a:t> </a:t>
            </a:r>
            <a:r>
              <a:rPr sz="1200" b="1" dirty="0">
                <a:latin typeface="Times New Roman"/>
                <a:cs typeface="Times New Roman"/>
              </a:rPr>
              <a:t>eight</a:t>
            </a:r>
            <a:r>
              <a:rPr sz="1200" b="1" spc="-25" dirty="0">
                <a:latin typeface="Times New Roman"/>
                <a:cs typeface="Times New Roman"/>
              </a:rPr>
              <a:t> </a:t>
            </a:r>
            <a:r>
              <a:rPr sz="1200" b="1" dirty="0">
                <a:latin typeface="Times New Roman"/>
                <a:cs typeface="Times New Roman"/>
              </a:rPr>
              <a:t>bits</a:t>
            </a:r>
            <a:r>
              <a:rPr sz="1200" b="1" spc="-20" dirty="0">
                <a:latin typeface="Times New Roman"/>
                <a:cs typeface="Times New Roman"/>
              </a:rPr>
              <a:t> </a:t>
            </a:r>
            <a:r>
              <a:rPr sz="1200" b="1" dirty="0">
                <a:latin typeface="Times New Roman"/>
                <a:cs typeface="Times New Roman"/>
              </a:rPr>
              <a:t>in</a:t>
            </a:r>
            <a:r>
              <a:rPr sz="1200" b="1" spc="-30" dirty="0">
                <a:latin typeface="Times New Roman"/>
                <a:cs typeface="Times New Roman"/>
              </a:rPr>
              <a:t> </a:t>
            </a:r>
            <a:r>
              <a:rPr sz="1200" b="1" spc="-10" dirty="0">
                <a:latin typeface="Times New Roman"/>
                <a:cs typeface="Times New Roman"/>
              </a:rPr>
              <a:t>length.</a:t>
            </a:r>
            <a:endParaRPr sz="1200" dirty="0">
              <a:latin typeface="Times New Roman"/>
              <a:cs typeface="Times New Roman"/>
            </a:endParaRPr>
          </a:p>
          <a:p>
            <a:pPr marL="434975" marR="648335" indent="-172720">
              <a:lnSpc>
                <a:spcPct val="100000"/>
              </a:lnSpc>
              <a:spcBef>
                <a:spcPts val="900"/>
              </a:spcBef>
              <a:buClr>
                <a:srgbClr val="3E762B"/>
              </a:buClr>
              <a:buFont typeface="Wingdings"/>
              <a:buChar char=""/>
              <a:tabLst>
                <a:tab pos="436245" algn="l"/>
              </a:tabLst>
            </a:pPr>
            <a:r>
              <a:rPr sz="1200" dirty="0">
                <a:latin typeface="Times New Roman"/>
                <a:cs typeface="Times New Roman"/>
              </a:rPr>
              <a:t>Thus,</a:t>
            </a:r>
            <a:r>
              <a:rPr sz="1200" spc="-1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b="1" spc="-10" dirty="0">
                <a:latin typeface="Times New Roman"/>
                <a:cs typeface="Times New Roman"/>
              </a:rPr>
              <a:t>16-</a:t>
            </a:r>
            <a:r>
              <a:rPr sz="1200" b="1" dirty="0">
                <a:latin typeface="Times New Roman"/>
                <a:cs typeface="Times New Roman"/>
              </a:rPr>
              <a:t>bit</a:t>
            </a:r>
            <a:r>
              <a:rPr sz="1200" b="1" spc="-10" dirty="0">
                <a:latin typeface="Times New Roman"/>
                <a:cs typeface="Times New Roman"/>
              </a:rPr>
              <a:t> </a:t>
            </a:r>
            <a:r>
              <a:rPr sz="1200" b="1" dirty="0">
                <a:latin typeface="Times New Roman"/>
                <a:cs typeface="Times New Roman"/>
              </a:rPr>
              <a:t>word</a:t>
            </a:r>
            <a:r>
              <a:rPr sz="1200" b="1" spc="-5" dirty="0">
                <a:latin typeface="Times New Roman"/>
                <a:cs typeface="Times New Roman"/>
              </a:rPr>
              <a:t> </a:t>
            </a:r>
            <a:r>
              <a:rPr sz="1200" dirty="0">
                <a:latin typeface="Times New Roman"/>
                <a:cs typeface="Times New Roman"/>
              </a:rPr>
              <a:t>contains</a:t>
            </a:r>
            <a:r>
              <a:rPr sz="1200" spc="-25" dirty="0">
                <a:latin typeface="Times New Roman"/>
                <a:cs typeface="Times New Roman"/>
              </a:rPr>
              <a:t> </a:t>
            </a:r>
            <a:r>
              <a:rPr sz="1200" dirty="0">
                <a:latin typeface="Times New Roman"/>
                <a:cs typeface="Times New Roman"/>
              </a:rPr>
              <a:t>two</a:t>
            </a:r>
            <a:r>
              <a:rPr sz="1200" spc="-10" dirty="0">
                <a:latin typeface="Times New Roman"/>
                <a:cs typeface="Times New Roman"/>
              </a:rPr>
              <a:t> </a:t>
            </a:r>
            <a:r>
              <a:rPr sz="1200" dirty="0">
                <a:latin typeface="Times New Roman"/>
                <a:cs typeface="Times New Roman"/>
              </a:rPr>
              <a:t>bytes,</a:t>
            </a:r>
            <a:r>
              <a:rPr sz="1200" spc="20"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b="1" spc="-10" dirty="0">
                <a:latin typeface="Times New Roman"/>
                <a:cs typeface="Times New Roman"/>
              </a:rPr>
              <a:t>32-</a:t>
            </a:r>
            <a:r>
              <a:rPr sz="1200" b="1" dirty="0">
                <a:latin typeface="Times New Roman"/>
                <a:cs typeface="Times New Roman"/>
              </a:rPr>
              <a:t>bit</a:t>
            </a:r>
            <a:r>
              <a:rPr sz="1200" b="1" spc="-10" dirty="0">
                <a:latin typeface="Times New Roman"/>
                <a:cs typeface="Times New Roman"/>
              </a:rPr>
              <a:t> </a:t>
            </a:r>
            <a:r>
              <a:rPr sz="1200" b="1" dirty="0">
                <a:latin typeface="Times New Roman"/>
                <a:cs typeface="Times New Roman"/>
              </a:rPr>
              <a:t>word</a:t>
            </a:r>
            <a:r>
              <a:rPr sz="1200" b="1" spc="-15" dirty="0">
                <a:latin typeface="Times New Roman"/>
                <a:cs typeface="Times New Roman"/>
              </a:rPr>
              <a:t> </a:t>
            </a:r>
            <a:r>
              <a:rPr sz="1200" dirty="0">
                <a:latin typeface="Times New Roman"/>
                <a:cs typeface="Times New Roman"/>
              </a:rPr>
              <a:t>is</a:t>
            </a:r>
            <a:r>
              <a:rPr sz="1200" spc="-10" dirty="0">
                <a:latin typeface="Times New Roman"/>
                <a:cs typeface="Times New Roman"/>
              </a:rPr>
              <a:t> </a:t>
            </a:r>
            <a:r>
              <a:rPr sz="1200" dirty="0">
                <a:latin typeface="Times New Roman"/>
                <a:cs typeface="Times New Roman"/>
              </a:rPr>
              <a:t>made</a:t>
            </a:r>
            <a:r>
              <a:rPr sz="1200" spc="-15" dirty="0">
                <a:latin typeface="Times New Roman"/>
                <a:cs typeface="Times New Roman"/>
              </a:rPr>
              <a:t> </a:t>
            </a:r>
            <a:r>
              <a:rPr sz="1200" dirty="0">
                <a:latin typeface="Times New Roman"/>
                <a:cs typeface="Times New Roman"/>
              </a:rPr>
              <a:t>up</a:t>
            </a:r>
            <a:r>
              <a:rPr sz="1200" spc="-10"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spc="-20" dirty="0">
                <a:latin typeface="Times New Roman"/>
                <a:cs typeface="Times New Roman"/>
              </a:rPr>
              <a:t>four 	</a:t>
            </a:r>
            <a:r>
              <a:rPr sz="1200" spc="-10" dirty="0">
                <a:latin typeface="Times New Roman"/>
                <a:cs typeface="Times New Roman"/>
              </a:rPr>
              <a:t>bytes.</a:t>
            </a:r>
            <a:endParaRPr sz="1200" dirty="0">
              <a:latin typeface="Times New Roman"/>
              <a:cs typeface="Times New Roman"/>
            </a:endParaRPr>
          </a:p>
          <a:p>
            <a:pPr marL="436245" marR="524510" indent="-173990">
              <a:lnSpc>
                <a:spcPct val="100000"/>
              </a:lnSpc>
              <a:spcBef>
                <a:spcPts val="894"/>
              </a:spcBef>
              <a:buClr>
                <a:srgbClr val="3E762B"/>
              </a:buClr>
              <a:buFont typeface="Wingdings"/>
              <a:buChar char=""/>
              <a:tabLst>
                <a:tab pos="436245" algn="l"/>
              </a:tabLst>
            </a:pPr>
            <a:r>
              <a:rPr sz="1400" dirty="0">
                <a:latin typeface="Times New Roman"/>
                <a:cs typeface="Times New Roman"/>
              </a:rPr>
              <a:t>The</a:t>
            </a:r>
            <a:r>
              <a:rPr sz="1400" spc="-25" dirty="0">
                <a:latin typeface="Times New Roman"/>
                <a:cs typeface="Times New Roman"/>
              </a:rPr>
              <a:t> </a:t>
            </a:r>
            <a:r>
              <a:rPr sz="1400" b="1" dirty="0">
                <a:solidFill>
                  <a:srgbClr val="3E762B"/>
                </a:solidFill>
                <a:latin typeface="Times New Roman"/>
                <a:cs typeface="Times New Roman"/>
              </a:rPr>
              <a:t>capacity</a:t>
            </a:r>
            <a:r>
              <a:rPr sz="1400" b="1" spc="-30" dirty="0">
                <a:solidFill>
                  <a:srgbClr val="3E762B"/>
                </a:solidFill>
                <a:latin typeface="Times New Roman"/>
                <a:cs typeface="Times New Roman"/>
              </a:rPr>
              <a:t> </a:t>
            </a:r>
            <a:r>
              <a:rPr sz="1400" dirty="0">
                <a:latin typeface="Times New Roman"/>
                <a:cs typeface="Times New Roman"/>
              </a:rPr>
              <a:t>of</a:t>
            </a:r>
            <a:r>
              <a:rPr sz="1400" spc="-10" dirty="0">
                <a:latin typeface="Times New Roman"/>
                <a:cs typeface="Times New Roman"/>
              </a:rPr>
              <a:t> </a:t>
            </a:r>
            <a:r>
              <a:rPr sz="1400" dirty="0">
                <a:latin typeface="Times New Roman"/>
                <a:cs typeface="Times New Roman"/>
              </a:rPr>
              <a:t>a</a:t>
            </a:r>
            <a:r>
              <a:rPr sz="1400" spc="-30" dirty="0">
                <a:latin typeface="Times New Roman"/>
                <a:cs typeface="Times New Roman"/>
              </a:rPr>
              <a:t> </a:t>
            </a:r>
            <a:r>
              <a:rPr sz="1400" dirty="0">
                <a:latin typeface="Times New Roman"/>
                <a:cs typeface="Times New Roman"/>
              </a:rPr>
              <a:t>memory</a:t>
            </a:r>
            <a:r>
              <a:rPr sz="1400" spc="20" dirty="0">
                <a:latin typeface="Times New Roman"/>
                <a:cs typeface="Times New Roman"/>
              </a:rPr>
              <a:t> </a:t>
            </a:r>
            <a:r>
              <a:rPr sz="1400" dirty="0">
                <a:latin typeface="Times New Roman"/>
                <a:cs typeface="Times New Roman"/>
              </a:rPr>
              <a:t>unit</a:t>
            </a:r>
            <a:r>
              <a:rPr sz="1400" spc="-35" dirty="0">
                <a:latin typeface="Times New Roman"/>
                <a:cs typeface="Times New Roman"/>
              </a:rPr>
              <a:t> </a:t>
            </a:r>
            <a:r>
              <a:rPr sz="1400" dirty="0">
                <a:latin typeface="Times New Roman"/>
                <a:cs typeface="Times New Roman"/>
              </a:rPr>
              <a:t>is</a:t>
            </a:r>
            <a:r>
              <a:rPr sz="1400" spc="-30" dirty="0">
                <a:latin typeface="Times New Roman"/>
                <a:cs typeface="Times New Roman"/>
              </a:rPr>
              <a:t> </a:t>
            </a:r>
            <a:r>
              <a:rPr sz="1400" dirty="0">
                <a:latin typeface="Times New Roman"/>
                <a:cs typeface="Times New Roman"/>
              </a:rPr>
              <a:t>usually</a:t>
            </a:r>
            <a:r>
              <a:rPr sz="1400" spc="-45" dirty="0">
                <a:latin typeface="Times New Roman"/>
                <a:cs typeface="Times New Roman"/>
              </a:rPr>
              <a:t> </a:t>
            </a:r>
            <a:r>
              <a:rPr sz="1400" dirty="0">
                <a:latin typeface="Times New Roman"/>
                <a:cs typeface="Times New Roman"/>
              </a:rPr>
              <a:t>stated</a:t>
            </a:r>
            <a:r>
              <a:rPr sz="1400" spc="-10" dirty="0">
                <a:latin typeface="Times New Roman"/>
                <a:cs typeface="Times New Roman"/>
              </a:rPr>
              <a:t> </a:t>
            </a:r>
            <a:r>
              <a:rPr sz="1400" dirty="0">
                <a:latin typeface="Times New Roman"/>
                <a:cs typeface="Times New Roman"/>
              </a:rPr>
              <a:t>as</a:t>
            </a:r>
            <a:r>
              <a:rPr sz="1400" spc="-20" dirty="0">
                <a:latin typeface="Times New Roman"/>
                <a:cs typeface="Times New Roman"/>
              </a:rPr>
              <a:t> </a:t>
            </a:r>
            <a:r>
              <a:rPr sz="1400" dirty="0">
                <a:latin typeface="Times New Roman"/>
                <a:cs typeface="Times New Roman"/>
              </a:rPr>
              <a:t>the</a:t>
            </a:r>
            <a:r>
              <a:rPr sz="1400" spc="-15" dirty="0">
                <a:latin typeface="Times New Roman"/>
                <a:cs typeface="Times New Roman"/>
              </a:rPr>
              <a:t> </a:t>
            </a:r>
            <a:r>
              <a:rPr sz="1400" b="1" dirty="0">
                <a:solidFill>
                  <a:srgbClr val="3E762B"/>
                </a:solidFill>
                <a:latin typeface="Times New Roman"/>
                <a:cs typeface="Times New Roman"/>
              </a:rPr>
              <a:t>total</a:t>
            </a:r>
            <a:r>
              <a:rPr sz="1400" b="1" spc="-35" dirty="0">
                <a:solidFill>
                  <a:srgbClr val="3E762B"/>
                </a:solidFill>
                <a:latin typeface="Times New Roman"/>
                <a:cs typeface="Times New Roman"/>
              </a:rPr>
              <a:t> </a:t>
            </a:r>
            <a:r>
              <a:rPr sz="1400" b="1" spc="-10" dirty="0">
                <a:solidFill>
                  <a:srgbClr val="3E762B"/>
                </a:solidFill>
                <a:latin typeface="Times New Roman"/>
                <a:cs typeface="Times New Roman"/>
              </a:rPr>
              <a:t>number </a:t>
            </a:r>
            <a:r>
              <a:rPr sz="1400" b="1" dirty="0">
                <a:solidFill>
                  <a:srgbClr val="3E762B"/>
                </a:solidFill>
                <a:latin typeface="Times New Roman"/>
                <a:cs typeface="Times New Roman"/>
              </a:rPr>
              <a:t>of</a:t>
            </a:r>
            <a:r>
              <a:rPr sz="1400" b="1" spc="-5" dirty="0">
                <a:solidFill>
                  <a:srgbClr val="3E762B"/>
                </a:solidFill>
                <a:latin typeface="Times New Roman"/>
                <a:cs typeface="Times New Roman"/>
              </a:rPr>
              <a:t> </a:t>
            </a:r>
            <a:r>
              <a:rPr sz="1400" b="1" dirty="0">
                <a:solidFill>
                  <a:srgbClr val="3E762B"/>
                </a:solidFill>
                <a:latin typeface="Times New Roman"/>
                <a:cs typeface="Times New Roman"/>
              </a:rPr>
              <a:t>bytes</a:t>
            </a:r>
            <a:r>
              <a:rPr sz="1400" b="1" spc="-20" dirty="0">
                <a:solidFill>
                  <a:srgbClr val="3E762B"/>
                </a:solidFill>
                <a:latin typeface="Times New Roman"/>
                <a:cs typeface="Times New Roman"/>
              </a:rPr>
              <a:t> </a:t>
            </a:r>
            <a:r>
              <a:rPr sz="1400" dirty="0">
                <a:latin typeface="Times New Roman"/>
                <a:cs typeface="Times New Roman"/>
              </a:rPr>
              <a:t>that</a:t>
            </a:r>
            <a:r>
              <a:rPr sz="1400" spc="-25" dirty="0">
                <a:latin typeface="Times New Roman"/>
                <a:cs typeface="Times New Roman"/>
              </a:rPr>
              <a:t> </a:t>
            </a:r>
            <a:r>
              <a:rPr sz="1400" dirty="0">
                <a:latin typeface="Times New Roman"/>
                <a:cs typeface="Times New Roman"/>
              </a:rPr>
              <a:t>it</a:t>
            </a:r>
            <a:r>
              <a:rPr sz="1400" spc="-20" dirty="0">
                <a:latin typeface="Times New Roman"/>
                <a:cs typeface="Times New Roman"/>
              </a:rPr>
              <a:t> </a:t>
            </a:r>
            <a:r>
              <a:rPr sz="1400" dirty="0">
                <a:latin typeface="Times New Roman"/>
                <a:cs typeface="Times New Roman"/>
              </a:rPr>
              <a:t>can</a:t>
            </a:r>
            <a:r>
              <a:rPr sz="1400" spc="-25" dirty="0">
                <a:latin typeface="Times New Roman"/>
                <a:cs typeface="Times New Roman"/>
              </a:rPr>
              <a:t> </a:t>
            </a:r>
            <a:r>
              <a:rPr sz="1400" spc="-10" dirty="0">
                <a:latin typeface="Times New Roman"/>
                <a:cs typeface="Times New Roman"/>
              </a:rPr>
              <a:t>store.</a:t>
            </a:r>
            <a:endParaRPr sz="1400" dirty="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7</a:t>
            </a:fld>
            <a:endParaRPr spc="-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RAM</a:t>
            </a:r>
            <a:r>
              <a:rPr sz="2200" spc="-20" dirty="0">
                <a:latin typeface="Georgia"/>
                <a:cs typeface="Georgia"/>
              </a:rPr>
              <a:t> </a:t>
            </a:r>
            <a:r>
              <a:rPr sz="2200" dirty="0">
                <a:latin typeface="Georgia"/>
                <a:cs typeface="Georgia"/>
              </a:rPr>
              <a:t>Cell</a:t>
            </a:r>
            <a:r>
              <a:rPr sz="2200" spc="-10" dirty="0">
                <a:latin typeface="Georgia"/>
                <a:cs typeface="Georgia"/>
              </a:rPr>
              <a:t> Selection</a:t>
            </a:r>
            <a:endParaRPr sz="2200">
              <a:latin typeface="Georgia"/>
              <a:cs typeface="Georgia"/>
            </a:endParaRPr>
          </a:p>
        </p:txBody>
      </p:sp>
      <p:grpSp>
        <p:nvGrpSpPr>
          <p:cNvPr id="3" name="object 3"/>
          <p:cNvGrpSpPr/>
          <p:nvPr/>
        </p:nvGrpSpPr>
        <p:grpSpPr>
          <a:xfrm>
            <a:off x="667512" y="992124"/>
            <a:ext cx="5377180" cy="3248025"/>
            <a:chOff x="667512" y="992124"/>
            <a:chExt cx="5377180" cy="3248025"/>
          </a:xfrm>
        </p:grpSpPr>
        <p:pic>
          <p:nvPicPr>
            <p:cNvPr id="4" name="object 4"/>
            <p:cNvPicPr/>
            <p:nvPr/>
          </p:nvPicPr>
          <p:blipFill>
            <a:blip r:embed="rId2" cstate="print"/>
            <a:stretch>
              <a:fillRect/>
            </a:stretch>
          </p:blipFill>
          <p:spPr>
            <a:xfrm>
              <a:off x="667512" y="1603248"/>
              <a:ext cx="1281684" cy="2461260"/>
            </a:xfrm>
            <a:prstGeom prst="rect">
              <a:avLst/>
            </a:prstGeom>
          </p:spPr>
        </p:pic>
        <p:pic>
          <p:nvPicPr>
            <p:cNvPr id="5" name="object 5"/>
            <p:cNvPicPr/>
            <p:nvPr/>
          </p:nvPicPr>
          <p:blipFill>
            <a:blip r:embed="rId3" cstate="print"/>
            <a:stretch>
              <a:fillRect/>
            </a:stretch>
          </p:blipFill>
          <p:spPr>
            <a:xfrm>
              <a:off x="4067556" y="992124"/>
              <a:ext cx="1976627" cy="3247643"/>
            </a:xfrm>
            <a:prstGeom prst="rect">
              <a:avLst/>
            </a:prstGeom>
          </p:spPr>
        </p:pic>
      </p:grpSp>
      <p:grpSp>
        <p:nvGrpSpPr>
          <p:cNvPr id="6" name="object 6"/>
          <p:cNvGrpSpPr/>
          <p:nvPr/>
        </p:nvGrpSpPr>
        <p:grpSpPr>
          <a:xfrm>
            <a:off x="381000" y="4844796"/>
            <a:ext cx="6096000" cy="3429000"/>
            <a:chOff x="381000" y="4844796"/>
            <a:chExt cx="6096000" cy="3429000"/>
          </a:xfrm>
        </p:grpSpPr>
        <p:sp>
          <p:nvSpPr>
            <p:cNvPr id="7" name="object 7"/>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8" name="object 8"/>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9" name="object 9"/>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pic>
          <p:nvPicPr>
            <p:cNvPr id="10" name="object 10"/>
            <p:cNvPicPr/>
            <p:nvPr/>
          </p:nvPicPr>
          <p:blipFill>
            <a:blip r:embed="rId4" cstate="print"/>
            <a:stretch>
              <a:fillRect/>
            </a:stretch>
          </p:blipFill>
          <p:spPr>
            <a:xfrm>
              <a:off x="1147572" y="5798820"/>
              <a:ext cx="2557272" cy="1927859"/>
            </a:xfrm>
            <a:prstGeom prst="rect">
              <a:avLst/>
            </a:prstGeom>
          </p:spPr>
        </p:pic>
      </p:grpSp>
      <p:sp>
        <p:nvSpPr>
          <p:cNvPr id="11" name="object 11"/>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spc="-20" dirty="0">
                <a:latin typeface="Georgia"/>
                <a:cs typeface="Georgia"/>
              </a:rPr>
              <a:t>Tri-</a:t>
            </a:r>
            <a:r>
              <a:rPr sz="2200" dirty="0">
                <a:latin typeface="Georgia"/>
                <a:cs typeface="Georgia"/>
              </a:rPr>
              <a:t>State</a:t>
            </a:r>
            <a:r>
              <a:rPr sz="2200" spc="-20" dirty="0">
                <a:latin typeface="Georgia"/>
                <a:cs typeface="Georgia"/>
              </a:rPr>
              <a:t> </a:t>
            </a:r>
            <a:r>
              <a:rPr sz="2200" spc="-10" dirty="0">
                <a:latin typeface="Georgia"/>
                <a:cs typeface="Georgia"/>
              </a:rPr>
              <a:t>buffer</a:t>
            </a:r>
            <a:endParaRPr sz="2200">
              <a:latin typeface="Georgia"/>
              <a:cs typeface="Georgia"/>
            </a:endParaRPr>
          </a:p>
          <a:p>
            <a:pPr>
              <a:lnSpc>
                <a:spcPct val="100000"/>
              </a:lnSpc>
            </a:pPr>
            <a:endParaRPr sz="2200">
              <a:latin typeface="Georgia"/>
              <a:cs typeface="Georgia"/>
            </a:endParaRPr>
          </a:p>
          <a:p>
            <a:pPr>
              <a:lnSpc>
                <a:spcPct val="100000"/>
              </a:lnSpc>
              <a:spcBef>
                <a:spcPts val="925"/>
              </a:spcBef>
            </a:pPr>
            <a:endParaRPr sz="2200">
              <a:latin typeface="Georgia"/>
              <a:cs typeface="Georgia"/>
            </a:endParaRPr>
          </a:p>
          <a:p>
            <a:pPr marL="3712845">
              <a:lnSpc>
                <a:spcPct val="100000"/>
              </a:lnSpc>
              <a:spcBef>
                <a:spcPts val="5"/>
              </a:spcBef>
            </a:pPr>
            <a:r>
              <a:rPr sz="1000" b="1" dirty="0">
                <a:latin typeface="Corbel"/>
                <a:cs typeface="Corbel"/>
              </a:rPr>
              <a:t>Active</a:t>
            </a:r>
            <a:r>
              <a:rPr sz="1000" b="1" spc="-30" dirty="0">
                <a:latin typeface="Corbel"/>
                <a:cs typeface="Corbel"/>
              </a:rPr>
              <a:t> </a:t>
            </a:r>
            <a:r>
              <a:rPr sz="1000" b="1" dirty="0">
                <a:latin typeface="Corbel"/>
                <a:cs typeface="Corbel"/>
              </a:rPr>
              <a:t>high</a:t>
            </a:r>
            <a:r>
              <a:rPr sz="1000" b="1" spc="-15" dirty="0">
                <a:latin typeface="Corbel"/>
                <a:cs typeface="Corbel"/>
              </a:rPr>
              <a:t> </a:t>
            </a:r>
            <a:r>
              <a:rPr sz="1000" b="1" spc="-10" dirty="0">
                <a:latin typeface="Corbel"/>
                <a:cs typeface="Corbel"/>
              </a:rPr>
              <a:t>enable</a:t>
            </a:r>
            <a:endParaRPr sz="1000">
              <a:latin typeface="Corbel"/>
              <a:cs typeface="Corbel"/>
            </a:endParaRPr>
          </a:p>
          <a:p>
            <a:pPr>
              <a:lnSpc>
                <a:spcPct val="100000"/>
              </a:lnSpc>
            </a:pPr>
            <a:endParaRPr sz="1000">
              <a:latin typeface="Corbel"/>
              <a:cs typeface="Corbel"/>
            </a:endParaRPr>
          </a:p>
          <a:p>
            <a:pPr>
              <a:lnSpc>
                <a:spcPct val="100000"/>
              </a:lnSpc>
            </a:pPr>
            <a:endParaRPr sz="1000">
              <a:latin typeface="Corbel"/>
              <a:cs typeface="Corbel"/>
            </a:endParaRPr>
          </a:p>
          <a:p>
            <a:pPr>
              <a:lnSpc>
                <a:spcPct val="100000"/>
              </a:lnSpc>
            </a:pPr>
            <a:endParaRPr sz="1000">
              <a:latin typeface="Corbel"/>
              <a:cs typeface="Corbel"/>
            </a:endParaRPr>
          </a:p>
          <a:p>
            <a:pPr>
              <a:lnSpc>
                <a:spcPct val="100000"/>
              </a:lnSpc>
            </a:pPr>
            <a:endParaRPr sz="1000">
              <a:latin typeface="Corbel"/>
              <a:cs typeface="Corbel"/>
            </a:endParaRPr>
          </a:p>
          <a:p>
            <a:pPr>
              <a:lnSpc>
                <a:spcPct val="100000"/>
              </a:lnSpc>
              <a:spcBef>
                <a:spcPts val="450"/>
              </a:spcBef>
            </a:pPr>
            <a:endParaRPr sz="1000">
              <a:latin typeface="Corbel"/>
              <a:cs typeface="Corbel"/>
            </a:endParaRPr>
          </a:p>
          <a:p>
            <a:pPr marL="3733165">
              <a:lnSpc>
                <a:spcPct val="100000"/>
              </a:lnSpc>
            </a:pPr>
            <a:r>
              <a:rPr sz="1000" b="1" dirty="0">
                <a:latin typeface="Corbel"/>
                <a:cs typeface="Corbel"/>
              </a:rPr>
              <a:t>Active</a:t>
            </a:r>
            <a:r>
              <a:rPr sz="1000" b="1" spc="-10" dirty="0">
                <a:latin typeface="Corbel"/>
                <a:cs typeface="Corbel"/>
              </a:rPr>
              <a:t> </a:t>
            </a:r>
            <a:r>
              <a:rPr sz="1000" b="1" dirty="0">
                <a:latin typeface="Corbel"/>
                <a:cs typeface="Corbel"/>
              </a:rPr>
              <a:t>low</a:t>
            </a:r>
            <a:r>
              <a:rPr sz="1000" b="1" spc="-10" dirty="0">
                <a:latin typeface="Corbel"/>
                <a:cs typeface="Corbel"/>
              </a:rPr>
              <a:t> enable</a:t>
            </a:r>
            <a:endParaRPr sz="1000">
              <a:latin typeface="Corbel"/>
              <a:cs typeface="Corbel"/>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8</a:t>
            </a:fld>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81000" y="868680"/>
            <a:ext cx="6096000" cy="3429000"/>
            <a:chOff x="381000" y="868680"/>
            <a:chExt cx="6096000" cy="3429000"/>
          </a:xfrm>
        </p:grpSpPr>
        <p:pic>
          <p:nvPicPr>
            <p:cNvPr id="3" name="object 3"/>
            <p:cNvPicPr/>
            <p:nvPr/>
          </p:nvPicPr>
          <p:blipFill>
            <a:blip r:embed="rId3" cstate="print"/>
            <a:stretch>
              <a:fillRect/>
            </a:stretch>
          </p:blipFill>
          <p:spPr>
            <a:xfrm>
              <a:off x="947927" y="1557528"/>
              <a:ext cx="1050036" cy="2581656"/>
            </a:xfrm>
            <a:prstGeom prst="rect">
              <a:avLst/>
            </a:prstGeom>
          </p:spPr>
        </p:pic>
        <p:sp>
          <p:nvSpPr>
            <p:cNvPr id="4" name="object 4"/>
            <p:cNvSpPr/>
            <p:nvPr/>
          </p:nvSpPr>
          <p:spPr>
            <a:xfrm>
              <a:off x="797051" y="1728216"/>
              <a:ext cx="1424940" cy="2421890"/>
            </a:xfrm>
            <a:custGeom>
              <a:avLst/>
              <a:gdLst/>
              <a:ahLst/>
              <a:cxnLst/>
              <a:rect l="l" t="t" r="r" b="b"/>
              <a:pathLst>
                <a:path w="1424939" h="2421890">
                  <a:moveTo>
                    <a:pt x="0" y="304800"/>
                  </a:moveTo>
                  <a:lnTo>
                    <a:pt x="11478" y="250027"/>
                  </a:lnTo>
                  <a:lnTo>
                    <a:pt x="44574" y="198470"/>
                  </a:lnTo>
                  <a:lnTo>
                    <a:pt x="97273" y="150988"/>
                  </a:lnTo>
                  <a:lnTo>
                    <a:pt x="130345" y="129046"/>
                  </a:lnTo>
                  <a:lnTo>
                    <a:pt x="167564" y="108446"/>
                  </a:lnTo>
                  <a:lnTo>
                    <a:pt x="208678" y="89296"/>
                  </a:lnTo>
                  <a:lnTo>
                    <a:pt x="253435" y="71705"/>
                  </a:lnTo>
                  <a:lnTo>
                    <a:pt x="301584" y="55779"/>
                  </a:lnTo>
                  <a:lnTo>
                    <a:pt x="352873" y="41627"/>
                  </a:lnTo>
                  <a:lnTo>
                    <a:pt x="407051" y="29357"/>
                  </a:lnTo>
                  <a:lnTo>
                    <a:pt x="463867" y="19076"/>
                  </a:lnTo>
                  <a:lnTo>
                    <a:pt x="523068" y="10892"/>
                  </a:lnTo>
                  <a:lnTo>
                    <a:pt x="584403" y="4912"/>
                  </a:lnTo>
                  <a:lnTo>
                    <a:pt x="647621" y="1246"/>
                  </a:lnTo>
                  <a:lnTo>
                    <a:pt x="712470" y="0"/>
                  </a:lnTo>
                  <a:lnTo>
                    <a:pt x="777313" y="1246"/>
                  </a:lnTo>
                  <a:lnTo>
                    <a:pt x="840526" y="4912"/>
                  </a:lnTo>
                  <a:lnTo>
                    <a:pt x="901858" y="10892"/>
                  </a:lnTo>
                  <a:lnTo>
                    <a:pt x="961057" y="19076"/>
                  </a:lnTo>
                  <a:lnTo>
                    <a:pt x="1017871" y="29357"/>
                  </a:lnTo>
                  <a:lnTo>
                    <a:pt x="1072049" y="41627"/>
                  </a:lnTo>
                  <a:lnTo>
                    <a:pt x="1123338" y="55779"/>
                  </a:lnTo>
                  <a:lnTo>
                    <a:pt x="1171488" y="71705"/>
                  </a:lnTo>
                  <a:lnTo>
                    <a:pt x="1216247" y="89296"/>
                  </a:lnTo>
                  <a:lnTo>
                    <a:pt x="1257362" y="108446"/>
                  </a:lnTo>
                  <a:lnTo>
                    <a:pt x="1294583" y="129046"/>
                  </a:lnTo>
                  <a:lnTo>
                    <a:pt x="1327658" y="150988"/>
                  </a:lnTo>
                  <a:lnTo>
                    <a:pt x="1380361" y="198470"/>
                  </a:lnTo>
                  <a:lnTo>
                    <a:pt x="1413459" y="250027"/>
                  </a:lnTo>
                  <a:lnTo>
                    <a:pt x="1424940" y="304800"/>
                  </a:lnTo>
                  <a:lnTo>
                    <a:pt x="1422028" y="332533"/>
                  </a:lnTo>
                  <a:lnTo>
                    <a:pt x="1399487" y="385806"/>
                  </a:lnTo>
                  <a:lnTo>
                    <a:pt x="1356334" y="435433"/>
                  </a:lnTo>
                  <a:lnTo>
                    <a:pt x="1294583" y="480553"/>
                  </a:lnTo>
                  <a:lnTo>
                    <a:pt x="1257362" y="501153"/>
                  </a:lnTo>
                  <a:lnTo>
                    <a:pt x="1216247" y="520303"/>
                  </a:lnTo>
                  <a:lnTo>
                    <a:pt x="1171488" y="537894"/>
                  </a:lnTo>
                  <a:lnTo>
                    <a:pt x="1123338" y="553820"/>
                  </a:lnTo>
                  <a:lnTo>
                    <a:pt x="1072049" y="567972"/>
                  </a:lnTo>
                  <a:lnTo>
                    <a:pt x="1017871" y="580242"/>
                  </a:lnTo>
                  <a:lnTo>
                    <a:pt x="961057" y="590523"/>
                  </a:lnTo>
                  <a:lnTo>
                    <a:pt x="901858" y="598707"/>
                  </a:lnTo>
                  <a:lnTo>
                    <a:pt x="840526" y="604687"/>
                  </a:lnTo>
                  <a:lnTo>
                    <a:pt x="777313" y="608353"/>
                  </a:lnTo>
                  <a:lnTo>
                    <a:pt x="712470" y="609600"/>
                  </a:lnTo>
                  <a:lnTo>
                    <a:pt x="647621" y="608353"/>
                  </a:lnTo>
                  <a:lnTo>
                    <a:pt x="584403" y="604687"/>
                  </a:lnTo>
                  <a:lnTo>
                    <a:pt x="523068" y="598707"/>
                  </a:lnTo>
                  <a:lnTo>
                    <a:pt x="463867" y="590523"/>
                  </a:lnTo>
                  <a:lnTo>
                    <a:pt x="407051" y="580242"/>
                  </a:lnTo>
                  <a:lnTo>
                    <a:pt x="352873" y="567972"/>
                  </a:lnTo>
                  <a:lnTo>
                    <a:pt x="301584" y="553820"/>
                  </a:lnTo>
                  <a:lnTo>
                    <a:pt x="253435" y="537894"/>
                  </a:lnTo>
                  <a:lnTo>
                    <a:pt x="208678" y="520303"/>
                  </a:lnTo>
                  <a:lnTo>
                    <a:pt x="167564" y="501153"/>
                  </a:lnTo>
                  <a:lnTo>
                    <a:pt x="130345" y="480553"/>
                  </a:lnTo>
                  <a:lnTo>
                    <a:pt x="97273" y="458611"/>
                  </a:lnTo>
                  <a:lnTo>
                    <a:pt x="44574" y="411129"/>
                  </a:lnTo>
                  <a:lnTo>
                    <a:pt x="11478" y="359572"/>
                  </a:lnTo>
                  <a:lnTo>
                    <a:pt x="0" y="304800"/>
                  </a:lnTo>
                  <a:close/>
                </a:path>
                <a:path w="1424939" h="2421890">
                  <a:moveTo>
                    <a:pt x="0" y="888491"/>
                  </a:moveTo>
                  <a:lnTo>
                    <a:pt x="11478" y="833719"/>
                  </a:lnTo>
                  <a:lnTo>
                    <a:pt x="44574" y="782162"/>
                  </a:lnTo>
                  <a:lnTo>
                    <a:pt x="97273" y="734680"/>
                  </a:lnTo>
                  <a:lnTo>
                    <a:pt x="130345" y="712738"/>
                  </a:lnTo>
                  <a:lnTo>
                    <a:pt x="167564" y="692138"/>
                  </a:lnTo>
                  <a:lnTo>
                    <a:pt x="208678" y="672988"/>
                  </a:lnTo>
                  <a:lnTo>
                    <a:pt x="253435" y="655397"/>
                  </a:lnTo>
                  <a:lnTo>
                    <a:pt x="301584" y="639471"/>
                  </a:lnTo>
                  <a:lnTo>
                    <a:pt x="352873" y="625319"/>
                  </a:lnTo>
                  <a:lnTo>
                    <a:pt x="407051" y="613049"/>
                  </a:lnTo>
                  <a:lnTo>
                    <a:pt x="463867" y="602768"/>
                  </a:lnTo>
                  <a:lnTo>
                    <a:pt x="523068" y="594584"/>
                  </a:lnTo>
                  <a:lnTo>
                    <a:pt x="584403" y="588604"/>
                  </a:lnTo>
                  <a:lnTo>
                    <a:pt x="647621" y="584938"/>
                  </a:lnTo>
                  <a:lnTo>
                    <a:pt x="712470" y="583691"/>
                  </a:lnTo>
                  <a:lnTo>
                    <a:pt x="777313" y="584938"/>
                  </a:lnTo>
                  <a:lnTo>
                    <a:pt x="840526" y="588604"/>
                  </a:lnTo>
                  <a:lnTo>
                    <a:pt x="901858" y="594584"/>
                  </a:lnTo>
                  <a:lnTo>
                    <a:pt x="961057" y="602768"/>
                  </a:lnTo>
                  <a:lnTo>
                    <a:pt x="1017871" y="613049"/>
                  </a:lnTo>
                  <a:lnTo>
                    <a:pt x="1072049" y="625319"/>
                  </a:lnTo>
                  <a:lnTo>
                    <a:pt x="1123338" y="639471"/>
                  </a:lnTo>
                  <a:lnTo>
                    <a:pt x="1171488" y="655397"/>
                  </a:lnTo>
                  <a:lnTo>
                    <a:pt x="1216247" y="672988"/>
                  </a:lnTo>
                  <a:lnTo>
                    <a:pt x="1257362" y="692138"/>
                  </a:lnTo>
                  <a:lnTo>
                    <a:pt x="1294583" y="712738"/>
                  </a:lnTo>
                  <a:lnTo>
                    <a:pt x="1327658" y="734680"/>
                  </a:lnTo>
                  <a:lnTo>
                    <a:pt x="1380361" y="782162"/>
                  </a:lnTo>
                  <a:lnTo>
                    <a:pt x="1413459" y="833719"/>
                  </a:lnTo>
                  <a:lnTo>
                    <a:pt x="1424940" y="888491"/>
                  </a:lnTo>
                  <a:lnTo>
                    <a:pt x="1422028" y="916225"/>
                  </a:lnTo>
                  <a:lnTo>
                    <a:pt x="1399487" y="969498"/>
                  </a:lnTo>
                  <a:lnTo>
                    <a:pt x="1356334" y="1019125"/>
                  </a:lnTo>
                  <a:lnTo>
                    <a:pt x="1294583" y="1064245"/>
                  </a:lnTo>
                  <a:lnTo>
                    <a:pt x="1257362" y="1084845"/>
                  </a:lnTo>
                  <a:lnTo>
                    <a:pt x="1216247" y="1103995"/>
                  </a:lnTo>
                  <a:lnTo>
                    <a:pt x="1171488" y="1121586"/>
                  </a:lnTo>
                  <a:lnTo>
                    <a:pt x="1123338" y="1137512"/>
                  </a:lnTo>
                  <a:lnTo>
                    <a:pt x="1072049" y="1151664"/>
                  </a:lnTo>
                  <a:lnTo>
                    <a:pt x="1017871" y="1163934"/>
                  </a:lnTo>
                  <a:lnTo>
                    <a:pt x="961057" y="1174215"/>
                  </a:lnTo>
                  <a:lnTo>
                    <a:pt x="901858" y="1182399"/>
                  </a:lnTo>
                  <a:lnTo>
                    <a:pt x="840526" y="1188379"/>
                  </a:lnTo>
                  <a:lnTo>
                    <a:pt x="777313" y="1192045"/>
                  </a:lnTo>
                  <a:lnTo>
                    <a:pt x="712470" y="1193291"/>
                  </a:lnTo>
                  <a:lnTo>
                    <a:pt x="647621" y="1192045"/>
                  </a:lnTo>
                  <a:lnTo>
                    <a:pt x="584403" y="1188379"/>
                  </a:lnTo>
                  <a:lnTo>
                    <a:pt x="523068" y="1182399"/>
                  </a:lnTo>
                  <a:lnTo>
                    <a:pt x="463867" y="1174215"/>
                  </a:lnTo>
                  <a:lnTo>
                    <a:pt x="407051" y="1163934"/>
                  </a:lnTo>
                  <a:lnTo>
                    <a:pt x="352873" y="1151664"/>
                  </a:lnTo>
                  <a:lnTo>
                    <a:pt x="301584" y="1137512"/>
                  </a:lnTo>
                  <a:lnTo>
                    <a:pt x="253435" y="1121586"/>
                  </a:lnTo>
                  <a:lnTo>
                    <a:pt x="208678" y="1103995"/>
                  </a:lnTo>
                  <a:lnTo>
                    <a:pt x="167564" y="1084845"/>
                  </a:lnTo>
                  <a:lnTo>
                    <a:pt x="130345" y="1064245"/>
                  </a:lnTo>
                  <a:lnTo>
                    <a:pt x="97273" y="1042303"/>
                  </a:lnTo>
                  <a:lnTo>
                    <a:pt x="44574" y="994821"/>
                  </a:lnTo>
                  <a:lnTo>
                    <a:pt x="11478" y="943264"/>
                  </a:lnTo>
                  <a:lnTo>
                    <a:pt x="0" y="888491"/>
                  </a:lnTo>
                  <a:close/>
                </a:path>
                <a:path w="1424939" h="2421890">
                  <a:moveTo>
                    <a:pt x="0" y="1504187"/>
                  </a:moveTo>
                  <a:lnTo>
                    <a:pt x="11478" y="1449415"/>
                  </a:lnTo>
                  <a:lnTo>
                    <a:pt x="44574" y="1397858"/>
                  </a:lnTo>
                  <a:lnTo>
                    <a:pt x="97273" y="1350376"/>
                  </a:lnTo>
                  <a:lnTo>
                    <a:pt x="130345" y="1328434"/>
                  </a:lnTo>
                  <a:lnTo>
                    <a:pt x="167564" y="1307834"/>
                  </a:lnTo>
                  <a:lnTo>
                    <a:pt x="208678" y="1288684"/>
                  </a:lnTo>
                  <a:lnTo>
                    <a:pt x="253435" y="1271093"/>
                  </a:lnTo>
                  <a:lnTo>
                    <a:pt x="301584" y="1255167"/>
                  </a:lnTo>
                  <a:lnTo>
                    <a:pt x="352873" y="1241015"/>
                  </a:lnTo>
                  <a:lnTo>
                    <a:pt x="407051" y="1228745"/>
                  </a:lnTo>
                  <a:lnTo>
                    <a:pt x="463867" y="1218464"/>
                  </a:lnTo>
                  <a:lnTo>
                    <a:pt x="523068" y="1210280"/>
                  </a:lnTo>
                  <a:lnTo>
                    <a:pt x="584403" y="1204300"/>
                  </a:lnTo>
                  <a:lnTo>
                    <a:pt x="647621" y="1200634"/>
                  </a:lnTo>
                  <a:lnTo>
                    <a:pt x="712470" y="1199387"/>
                  </a:lnTo>
                  <a:lnTo>
                    <a:pt x="777313" y="1200634"/>
                  </a:lnTo>
                  <a:lnTo>
                    <a:pt x="840526" y="1204300"/>
                  </a:lnTo>
                  <a:lnTo>
                    <a:pt x="901858" y="1210280"/>
                  </a:lnTo>
                  <a:lnTo>
                    <a:pt x="961057" y="1218464"/>
                  </a:lnTo>
                  <a:lnTo>
                    <a:pt x="1017871" y="1228745"/>
                  </a:lnTo>
                  <a:lnTo>
                    <a:pt x="1072049" y="1241015"/>
                  </a:lnTo>
                  <a:lnTo>
                    <a:pt x="1123338" y="1255167"/>
                  </a:lnTo>
                  <a:lnTo>
                    <a:pt x="1171488" y="1271093"/>
                  </a:lnTo>
                  <a:lnTo>
                    <a:pt x="1216247" y="1288684"/>
                  </a:lnTo>
                  <a:lnTo>
                    <a:pt x="1257362" y="1307834"/>
                  </a:lnTo>
                  <a:lnTo>
                    <a:pt x="1294583" y="1328434"/>
                  </a:lnTo>
                  <a:lnTo>
                    <a:pt x="1327658" y="1350376"/>
                  </a:lnTo>
                  <a:lnTo>
                    <a:pt x="1380361" y="1397858"/>
                  </a:lnTo>
                  <a:lnTo>
                    <a:pt x="1413459" y="1449415"/>
                  </a:lnTo>
                  <a:lnTo>
                    <a:pt x="1424940" y="1504187"/>
                  </a:lnTo>
                  <a:lnTo>
                    <a:pt x="1422028" y="1531921"/>
                  </a:lnTo>
                  <a:lnTo>
                    <a:pt x="1399487" y="1585194"/>
                  </a:lnTo>
                  <a:lnTo>
                    <a:pt x="1356334" y="1634821"/>
                  </a:lnTo>
                  <a:lnTo>
                    <a:pt x="1294583" y="1679941"/>
                  </a:lnTo>
                  <a:lnTo>
                    <a:pt x="1257362" y="1700541"/>
                  </a:lnTo>
                  <a:lnTo>
                    <a:pt x="1216247" y="1719691"/>
                  </a:lnTo>
                  <a:lnTo>
                    <a:pt x="1171488" y="1737282"/>
                  </a:lnTo>
                  <a:lnTo>
                    <a:pt x="1123338" y="1753208"/>
                  </a:lnTo>
                  <a:lnTo>
                    <a:pt x="1072049" y="1767360"/>
                  </a:lnTo>
                  <a:lnTo>
                    <a:pt x="1017871" y="1779630"/>
                  </a:lnTo>
                  <a:lnTo>
                    <a:pt x="961057" y="1789911"/>
                  </a:lnTo>
                  <a:lnTo>
                    <a:pt x="901858" y="1798095"/>
                  </a:lnTo>
                  <a:lnTo>
                    <a:pt x="840526" y="1804075"/>
                  </a:lnTo>
                  <a:lnTo>
                    <a:pt x="777313" y="1807741"/>
                  </a:lnTo>
                  <a:lnTo>
                    <a:pt x="712470" y="1808987"/>
                  </a:lnTo>
                  <a:lnTo>
                    <a:pt x="647621" y="1807741"/>
                  </a:lnTo>
                  <a:lnTo>
                    <a:pt x="584403" y="1804075"/>
                  </a:lnTo>
                  <a:lnTo>
                    <a:pt x="523068" y="1798095"/>
                  </a:lnTo>
                  <a:lnTo>
                    <a:pt x="463867" y="1789911"/>
                  </a:lnTo>
                  <a:lnTo>
                    <a:pt x="407051" y="1779630"/>
                  </a:lnTo>
                  <a:lnTo>
                    <a:pt x="352873" y="1767360"/>
                  </a:lnTo>
                  <a:lnTo>
                    <a:pt x="301584" y="1753208"/>
                  </a:lnTo>
                  <a:lnTo>
                    <a:pt x="253435" y="1737282"/>
                  </a:lnTo>
                  <a:lnTo>
                    <a:pt x="208678" y="1719691"/>
                  </a:lnTo>
                  <a:lnTo>
                    <a:pt x="167564" y="1700541"/>
                  </a:lnTo>
                  <a:lnTo>
                    <a:pt x="130345" y="1679941"/>
                  </a:lnTo>
                  <a:lnTo>
                    <a:pt x="97273" y="1657999"/>
                  </a:lnTo>
                  <a:lnTo>
                    <a:pt x="44574" y="1610517"/>
                  </a:lnTo>
                  <a:lnTo>
                    <a:pt x="11478" y="1558960"/>
                  </a:lnTo>
                  <a:lnTo>
                    <a:pt x="0" y="1504187"/>
                  </a:lnTo>
                  <a:close/>
                </a:path>
                <a:path w="1424939" h="2421890">
                  <a:moveTo>
                    <a:pt x="0" y="2116835"/>
                  </a:moveTo>
                  <a:lnTo>
                    <a:pt x="11478" y="2062063"/>
                  </a:lnTo>
                  <a:lnTo>
                    <a:pt x="44574" y="2010506"/>
                  </a:lnTo>
                  <a:lnTo>
                    <a:pt x="97273" y="1963024"/>
                  </a:lnTo>
                  <a:lnTo>
                    <a:pt x="130345" y="1941082"/>
                  </a:lnTo>
                  <a:lnTo>
                    <a:pt x="167564" y="1920482"/>
                  </a:lnTo>
                  <a:lnTo>
                    <a:pt x="208678" y="1901332"/>
                  </a:lnTo>
                  <a:lnTo>
                    <a:pt x="253435" y="1883741"/>
                  </a:lnTo>
                  <a:lnTo>
                    <a:pt x="301584" y="1867815"/>
                  </a:lnTo>
                  <a:lnTo>
                    <a:pt x="352873" y="1853663"/>
                  </a:lnTo>
                  <a:lnTo>
                    <a:pt x="407051" y="1841393"/>
                  </a:lnTo>
                  <a:lnTo>
                    <a:pt x="463867" y="1831112"/>
                  </a:lnTo>
                  <a:lnTo>
                    <a:pt x="523068" y="1822928"/>
                  </a:lnTo>
                  <a:lnTo>
                    <a:pt x="584403" y="1816948"/>
                  </a:lnTo>
                  <a:lnTo>
                    <a:pt x="647621" y="1813282"/>
                  </a:lnTo>
                  <a:lnTo>
                    <a:pt x="712470" y="1812035"/>
                  </a:lnTo>
                  <a:lnTo>
                    <a:pt x="777313" y="1813282"/>
                  </a:lnTo>
                  <a:lnTo>
                    <a:pt x="840526" y="1816948"/>
                  </a:lnTo>
                  <a:lnTo>
                    <a:pt x="901858" y="1822928"/>
                  </a:lnTo>
                  <a:lnTo>
                    <a:pt x="961057" y="1831112"/>
                  </a:lnTo>
                  <a:lnTo>
                    <a:pt x="1017871" y="1841393"/>
                  </a:lnTo>
                  <a:lnTo>
                    <a:pt x="1072049" y="1853663"/>
                  </a:lnTo>
                  <a:lnTo>
                    <a:pt x="1123338" y="1867815"/>
                  </a:lnTo>
                  <a:lnTo>
                    <a:pt x="1171488" y="1883741"/>
                  </a:lnTo>
                  <a:lnTo>
                    <a:pt x="1216247" y="1901332"/>
                  </a:lnTo>
                  <a:lnTo>
                    <a:pt x="1257362" y="1920482"/>
                  </a:lnTo>
                  <a:lnTo>
                    <a:pt x="1294583" y="1941082"/>
                  </a:lnTo>
                  <a:lnTo>
                    <a:pt x="1327658" y="1963024"/>
                  </a:lnTo>
                  <a:lnTo>
                    <a:pt x="1380361" y="2010506"/>
                  </a:lnTo>
                  <a:lnTo>
                    <a:pt x="1413459" y="2062063"/>
                  </a:lnTo>
                  <a:lnTo>
                    <a:pt x="1424940" y="2116835"/>
                  </a:lnTo>
                  <a:lnTo>
                    <a:pt x="1422028" y="2144569"/>
                  </a:lnTo>
                  <a:lnTo>
                    <a:pt x="1399487" y="2197842"/>
                  </a:lnTo>
                  <a:lnTo>
                    <a:pt x="1356334" y="2247469"/>
                  </a:lnTo>
                  <a:lnTo>
                    <a:pt x="1294583" y="2292589"/>
                  </a:lnTo>
                  <a:lnTo>
                    <a:pt x="1257362" y="2313189"/>
                  </a:lnTo>
                  <a:lnTo>
                    <a:pt x="1216247" y="2332339"/>
                  </a:lnTo>
                  <a:lnTo>
                    <a:pt x="1171488" y="2349930"/>
                  </a:lnTo>
                  <a:lnTo>
                    <a:pt x="1123338" y="2365856"/>
                  </a:lnTo>
                  <a:lnTo>
                    <a:pt x="1072049" y="2380008"/>
                  </a:lnTo>
                  <a:lnTo>
                    <a:pt x="1017871" y="2392278"/>
                  </a:lnTo>
                  <a:lnTo>
                    <a:pt x="961057" y="2402559"/>
                  </a:lnTo>
                  <a:lnTo>
                    <a:pt x="901858" y="2410743"/>
                  </a:lnTo>
                  <a:lnTo>
                    <a:pt x="840526" y="2416723"/>
                  </a:lnTo>
                  <a:lnTo>
                    <a:pt x="777313" y="2420389"/>
                  </a:lnTo>
                  <a:lnTo>
                    <a:pt x="712470" y="2421635"/>
                  </a:lnTo>
                  <a:lnTo>
                    <a:pt x="647621" y="2420389"/>
                  </a:lnTo>
                  <a:lnTo>
                    <a:pt x="584403" y="2416723"/>
                  </a:lnTo>
                  <a:lnTo>
                    <a:pt x="523068" y="2410743"/>
                  </a:lnTo>
                  <a:lnTo>
                    <a:pt x="463867" y="2402559"/>
                  </a:lnTo>
                  <a:lnTo>
                    <a:pt x="407051" y="2392278"/>
                  </a:lnTo>
                  <a:lnTo>
                    <a:pt x="352873" y="2380008"/>
                  </a:lnTo>
                  <a:lnTo>
                    <a:pt x="301584" y="2365856"/>
                  </a:lnTo>
                  <a:lnTo>
                    <a:pt x="253435" y="2349930"/>
                  </a:lnTo>
                  <a:lnTo>
                    <a:pt x="208678" y="2332339"/>
                  </a:lnTo>
                  <a:lnTo>
                    <a:pt x="167564" y="2313189"/>
                  </a:lnTo>
                  <a:lnTo>
                    <a:pt x="130345" y="2292589"/>
                  </a:lnTo>
                  <a:lnTo>
                    <a:pt x="97273" y="2270647"/>
                  </a:lnTo>
                  <a:lnTo>
                    <a:pt x="44574" y="2223165"/>
                  </a:lnTo>
                  <a:lnTo>
                    <a:pt x="11478" y="2171608"/>
                  </a:lnTo>
                  <a:lnTo>
                    <a:pt x="0" y="2116835"/>
                  </a:lnTo>
                  <a:close/>
                </a:path>
              </a:pathLst>
            </a:custGeom>
            <a:ln w="9144">
              <a:solidFill>
                <a:srgbClr val="3A7327"/>
              </a:solidFill>
            </a:ln>
          </p:spPr>
          <p:txBody>
            <a:bodyPr wrap="square" lIns="0" tIns="0" rIns="0" bIns="0" rtlCol="0"/>
            <a:lstStyle/>
            <a:p>
              <a:endParaRPr/>
            </a:p>
          </p:txBody>
        </p:sp>
      </p:grpSp>
      <p:sp>
        <p:nvSpPr>
          <p:cNvPr id="5" name="object 5"/>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RAM</a:t>
            </a:r>
            <a:r>
              <a:rPr sz="2200" spc="-20" dirty="0">
                <a:latin typeface="Georgia"/>
                <a:cs typeface="Georgia"/>
              </a:rPr>
              <a:t> </a:t>
            </a:r>
            <a:r>
              <a:rPr sz="2200" dirty="0">
                <a:latin typeface="Georgia"/>
                <a:cs typeface="Georgia"/>
              </a:rPr>
              <a:t>Cell</a:t>
            </a:r>
            <a:r>
              <a:rPr sz="2200" spc="-10" dirty="0">
                <a:latin typeface="Georgia"/>
                <a:cs typeface="Georgia"/>
              </a:rPr>
              <a:t> Selection</a:t>
            </a:r>
            <a:endParaRPr sz="2200">
              <a:latin typeface="Georgia"/>
              <a:cs typeface="Georgia"/>
            </a:endParaRPr>
          </a:p>
          <a:p>
            <a:pPr>
              <a:lnSpc>
                <a:spcPct val="100000"/>
              </a:lnSpc>
              <a:spcBef>
                <a:spcPts val="1290"/>
              </a:spcBef>
            </a:pPr>
            <a:endParaRPr sz="2200">
              <a:latin typeface="Georgia"/>
              <a:cs typeface="Georgia"/>
            </a:endParaRPr>
          </a:p>
          <a:p>
            <a:pPr marL="1868170">
              <a:lnSpc>
                <a:spcPct val="100000"/>
              </a:lnSpc>
            </a:pPr>
            <a:r>
              <a:rPr sz="900" b="1" dirty="0">
                <a:solidFill>
                  <a:srgbClr val="3E762B"/>
                </a:solidFill>
                <a:latin typeface="Times New Roman"/>
                <a:cs typeface="Times New Roman"/>
              </a:rPr>
              <a:t>Row</a:t>
            </a:r>
            <a:r>
              <a:rPr sz="900" b="1" spc="-20" dirty="0">
                <a:solidFill>
                  <a:srgbClr val="3E762B"/>
                </a:solidFill>
                <a:latin typeface="Times New Roman"/>
                <a:cs typeface="Times New Roman"/>
              </a:rPr>
              <a:t> </a:t>
            </a:r>
            <a:r>
              <a:rPr sz="900" b="1" spc="-50" dirty="0">
                <a:solidFill>
                  <a:srgbClr val="3E762B"/>
                </a:solidFill>
                <a:latin typeface="Times New Roman"/>
                <a:cs typeface="Times New Roman"/>
              </a:rPr>
              <a:t>0</a:t>
            </a: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spcBef>
                <a:spcPts val="254"/>
              </a:spcBef>
            </a:pPr>
            <a:endParaRPr sz="900">
              <a:latin typeface="Times New Roman"/>
              <a:cs typeface="Times New Roman"/>
            </a:endParaRPr>
          </a:p>
          <a:p>
            <a:pPr marL="1868170">
              <a:lnSpc>
                <a:spcPct val="100000"/>
              </a:lnSpc>
            </a:pPr>
            <a:r>
              <a:rPr sz="900" b="1" dirty="0">
                <a:solidFill>
                  <a:srgbClr val="3E762B"/>
                </a:solidFill>
                <a:latin typeface="Times New Roman"/>
                <a:cs typeface="Times New Roman"/>
              </a:rPr>
              <a:t>Row</a:t>
            </a:r>
            <a:r>
              <a:rPr sz="900" b="1" spc="-20" dirty="0">
                <a:solidFill>
                  <a:srgbClr val="3E762B"/>
                </a:solidFill>
                <a:latin typeface="Times New Roman"/>
                <a:cs typeface="Times New Roman"/>
              </a:rPr>
              <a:t> </a:t>
            </a:r>
            <a:r>
              <a:rPr sz="900" b="1" spc="-50" dirty="0">
                <a:solidFill>
                  <a:srgbClr val="3E762B"/>
                </a:solidFill>
                <a:latin typeface="Times New Roman"/>
                <a:cs typeface="Times New Roman"/>
              </a:rPr>
              <a:t>1</a:t>
            </a: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spcBef>
                <a:spcPts val="735"/>
              </a:spcBef>
            </a:pPr>
            <a:endParaRPr sz="900">
              <a:latin typeface="Times New Roman"/>
              <a:cs typeface="Times New Roman"/>
            </a:endParaRPr>
          </a:p>
          <a:p>
            <a:pPr marL="1868170">
              <a:lnSpc>
                <a:spcPct val="100000"/>
              </a:lnSpc>
            </a:pPr>
            <a:r>
              <a:rPr sz="900" b="1" dirty="0">
                <a:solidFill>
                  <a:srgbClr val="3E762B"/>
                </a:solidFill>
                <a:latin typeface="Times New Roman"/>
                <a:cs typeface="Times New Roman"/>
              </a:rPr>
              <a:t>Row</a:t>
            </a:r>
            <a:r>
              <a:rPr sz="900" b="1" spc="-20" dirty="0">
                <a:solidFill>
                  <a:srgbClr val="3E762B"/>
                </a:solidFill>
                <a:latin typeface="Times New Roman"/>
                <a:cs typeface="Times New Roman"/>
              </a:rPr>
              <a:t> </a:t>
            </a:r>
            <a:r>
              <a:rPr sz="900" b="1" spc="-50" dirty="0">
                <a:solidFill>
                  <a:srgbClr val="3E762B"/>
                </a:solidFill>
                <a:latin typeface="Times New Roman"/>
                <a:cs typeface="Times New Roman"/>
              </a:rPr>
              <a:t>2</a:t>
            </a: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spcBef>
                <a:spcPts val="735"/>
              </a:spcBef>
            </a:pPr>
            <a:endParaRPr sz="900">
              <a:latin typeface="Times New Roman"/>
              <a:cs typeface="Times New Roman"/>
            </a:endParaRPr>
          </a:p>
          <a:p>
            <a:pPr marL="1868170">
              <a:lnSpc>
                <a:spcPct val="100000"/>
              </a:lnSpc>
            </a:pPr>
            <a:r>
              <a:rPr sz="900" b="1" dirty="0">
                <a:solidFill>
                  <a:srgbClr val="3E762B"/>
                </a:solidFill>
                <a:latin typeface="Times New Roman"/>
                <a:cs typeface="Times New Roman"/>
              </a:rPr>
              <a:t>Row</a:t>
            </a:r>
            <a:r>
              <a:rPr sz="900" b="1" spc="-20" dirty="0">
                <a:solidFill>
                  <a:srgbClr val="3E762B"/>
                </a:solidFill>
                <a:latin typeface="Times New Roman"/>
                <a:cs typeface="Times New Roman"/>
              </a:rPr>
              <a:t> </a:t>
            </a:r>
            <a:r>
              <a:rPr sz="900" b="1" spc="-50" dirty="0">
                <a:solidFill>
                  <a:srgbClr val="3E762B"/>
                </a:solidFill>
                <a:latin typeface="Times New Roman"/>
                <a:cs typeface="Times New Roman"/>
              </a:rPr>
              <a:t>3</a:t>
            </a:r>
            <a:endParaRPr sz="900">
              <a:latin typeface="Times New Roman"/>
              <a:cs typeface="Times New Roman"/>
            </a:endParaRPr>
          </a:p>
        </p:txBody>
      </p:sp>
      <p:pic>
        <p:nvPicPr>
          <p:cNvPr id="6" name="object 6"/>
          <p:cNvPicPr/>
          <p:nvPr/>
        </p:nvPicPr>
        <p:blipFill>
          <a:blip r:embed="rId4" cstate="print"/>
          <a:stretch>
            <a:fillRect/>
          </a:stretch>
        </p:blipFill>
        <p:spPr>
          <a:xfrm>
            <a:off x="3252215" y="1066800"/>
            <a:ext cx="3083052" cy="3153155"/>
          </a:xfrm>
          <a:prstGeom prst="rect">
            <a:avLst/>
          </a:prstGeom>
        </p:spPr>
      </p:pic>
      <p:grpSp>
        <p:nvGrpSpPr>
          <p:cNvPr id="7" name="object 7"/>
          <p:cNvGrpSpPr/>
          <p:nvPr/>
        </p:nvGrpSpPr>
        <p:grpSpPr>
          <a:xfrm>
            <a:off x="381000" y="4844796"/>
            <a:ext cx="6096000" cy="3429000"/>
            <a:chOff x="381000" y="4844796"/>
            <a:chExt cx="6096000" cy="3429000"/>
          </a:xfrm>
        </p:grpSpPr>
        <p:sp>
          <p:nvSpPr>
            <p:cNvPr id="8" name="object 8"/>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9" name="object 9"/>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10" name="object 10"/>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11" name="object 11"/>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RAM</a:t>
            </a:r>
            <a:r>
              <a:rPr sz="2200" spc="-20" dirty="0">
                <a:latin typeface="Georgia"/>
                <a:cs typeface="Georgia"/>
              </a:rPr>
              <a:t> </a:t>
            </a:r>
            <a:r>
              <a:rPr sz="2200" dirty="0">
                <a:latin typeface="Georgia"/>
                <a:cs typeface="Georgia"/>
              </a:rPr>
              <a:t>Cell</a:t>
            </a:r>
            <a:r>
              <a:rPr sz="2200" spc="-10" dirty="0">
                <a:latin typeface="Georgia"/>
                <a:cs typeface="Georgia"/>
              </a:rPr>
              <a:t> Selection</a:t>
            </a:r>
            <a:endParaRPr sz="2200">
              <a:latin typeface="Georgia"/>
              <a:cs typeface="Georgia"/>
            </a:endParaRPr>
          </a:p>
        </p:txBody>
      </p:sp>
      <p:pic>
        <p:nvPicPr>
          <p:cNvPr id="12" name="object 12"/>
          <p:cNvPicPr/>
          <p:nvPr/>
        </p:nvPicPr>
        <p:blipFill>
          <a:blip r:embed="rId4" cstate="print"/>
          <a:stretch>
            <a:fillRect/>
          </a:stretch>
        </p:blipFill>
        <p:spPr>
          <a:xfrm>
            <a:off x="3360420" y="4983479"/>
            <a:ext cx="3084576" cy="3151632"/>
          </a:xfrm>
          <a:prstGeom prst="rect">
            <a:avLst/>
          </a:prstGeom>
        </p:spPr>
      </p:pic>
      <p:sp>
        <p:nvSpPr>
          <p:cNvPr id="13" name="object 13"/>
          <p:cNvSpPr txBox="1"/>
          <p:nvPr/>
        </p:nvSpPr>
        <p:spPr>
          <a:xfrm>
            <a:off x="622554" y="6799326"/>
            <a:ext cx="2527300" cy="414655"/>
          </a:xfrm>
          <a:prstGeom prst="rect">
            <a:avLst/>
          </a:prstGeom>
          <a:solidFill>
            <a:srgbClr val="FFFFFF"/>
          </a:solidFill>
          <a:ln w="13715">
            <a:solidFill>
              <a:srgbClr val="3E762B"/>
            </a:solidFill>
          </a:ln>
        </p:spPr>
        <p:txBody>
          <a:bodyPr vert="horz" wrap="square" lIns="0" tIns="10160" rIns="0" bIns="0" rtlCol="0">
            <a:spAutoFit/>
          </a:bodyPr>
          <a:lstStyle/>
          <a:p>
            <a:pPr marL="699135" marR="694690" indent="114300">
              <a:lnSpc>
                <a:spcPct val="100000"/>
              </a:lnSpc>
              <a:spcBef>
                <a:spcPts val="80"/>
              </a:spcBef>
            </a:pPr>
            <a:r>
              <a:rPr sz="1200" b="1" spc="-20" dirty="0">
                <a:latin typeface="Times New Roman"/>
                <a:cs typeface="Times New Roman"/>
              </a:rPr>
              <a:t>Every</a:t>
            </a:r>
            <a:r>
              <a:rPr sz="1200" b="1" spc="-30" dirty="0">
                <a:latin typeface="Times New Roman"/>
                <a:cs typeface="Times New Roman"/>
              </a:rPr>
              <a:t> </a:t>
            </a:r>
            <a:r>
              <a:rPr sz="1200" b="1" dirty="0">
                <a:latin typeface="Times New Roman"/>
                <a:cs typeface="Times New Roman"/>
              </a:rPr>
              <a:t>cell</a:t>
            </a:r>
            <a:r>
              <a:rPr sz="1200" b="1" spc="-30" dirty="0">
                <a:latin typeface="Times New Roman"/>
                <a:cs typeface="Times New Roman"/>
              </a:rPr>
              <a:t> </a:t>
            </a:r>
            <a:r>
              <a:rPr sz="1200" b="1" spc="-25" dirty="0">
                <a:latin typeface="Times New Roman"/>
                <a:cs typeface="Times New Roman"/>
              </a:rPr>
              <a:t>has word</a:t>
            </a:r>
            <a:r>
              <a:rPr sz="1200" b="1" spc="-30" dirty="0">
                <a:latin typeface="Times New Roman"/>
                <a:cs typeface="Times New Roman"/>
              </a:rPr>
              <a:t> </a:t>
            </a:r>
            <a:r>
              <a:rPr sz="1200" b="1" dirty="0">
                <a:latin typeface="Times New Roman"/>
                <a:cs typeface="Times New Roman"/>
              </a:rPr>
              <a:t>line,</a:t>
            </a:r>
            <a:r>
              <a:rPr sz="1200" b="1" spc="-35" dirty="0">
                <a:latin typeface="Times New Roman"/>
                <a:cs typeface="Times New Roman"/>
              </a:rPr>
              <a:t> </a:t>
            </a:r>
            <a:r>
              <a:rPr sz="1200" b="1" dirty="0">
                <a:latin typeface="Times New Roman"/>
                <a:cs typeface="Times New Roman"/>
              </a:rPr>
              <a:t>bit</a:t>
            </a:r>
            <a:r>
              <a:rPr sz="1200" b="1" spc="-45" dirty="0">
                <a:latin typeface="Times New Roman"/>
                <a:cs typeface="Times New Roman"/>
              </a:rPr>
              <a:t> </a:t>
            </a:r>
            <a:r>
              <a:rPr sz="1200" b="1" spc="-20" dirty="0">
                <a:latin typeface="Times New Roman"/>
                <a:cs typeface="Times New Roman"/>
              </a:rPr>
              <a:t>line</a:t>
            </a:r>
            <a:endParaRPr sz="1200">
              <a:latin typeface="Times New Roman"/>
              <a:cs typeface="Times New Roman"/>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9</a:t>
            </a:fld>
            <a:endParaRPr spc="-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spc="-25" dirty="0">
                <a:latin typeface="Georgia"/>
                <a:cs typeface="Georgia"/>
              </a:rPr>
              <a:t>Random-</a:t>
            </a:r>
            <a:r>
              <a:rPr sz="2200" dirty="0">
                <a:latin typeface="Georgia"/>
                <a:cs typeface="Georgia"/>
              </a:rPr>
              <a:t>Access</a:t>
            </a:r>
            <a:r>
              <a:rPr sz="2200" spc="-35" dirty="0">
                <a:latin typeface="Georgia"/>
                <a:cs typeface="Georgia"/>
              </a:rPr>
              <a:t> </a:t>
            </a:r>
            <a:r>
              <a:rPr sz="2200" dirty="0">
                <a:latin typeface="Georgia"/>
                <a:cs typeface="Georgia"/>
              </a:rPr>
              <a:t>Memory</a:t>
            </a:r>
            <a:r>
              <a:rPr sz="2200" spc="-60" dirty="0">
                <a:latin typeface="Georgia"/>
                <a:cs typeface="Georgia"/>
              </a:rPr>
              <a:t> </a:t>
            </a:r>
            <a:r>
              <a:rPr sz="2200" spc="-20" dirty="0">
                <a:latin typeface="Georgia"/>
                <a:cs typeface="Georgia"/>
              </a:rPr>
              <a:t>(RAM)</a:t>
            </a:r>
            <a:endParaRPr sz="2200">
              <a:latin typeface="Georgia"/>
              <a:cs typeface="Georgia"/>
            </a:endParaRPr>
          </a:p>
        </p:txBody>
      </p:sp>
      <p:grpSp>
        <p:nvGrpSpPr>
          <p:cNvPr id="3" name="object 3"/>
          <p:cNvGrpSpPr/>
          <p:nvPr/>
        </p:nvGrpSpPr>
        <p:grpSpPr>
          <a:xfrm>
            <a:off x="594359" y="1652016"/>
            <a:ext cx="5707380" cy="2444750"/>
            <a:chOff x="594359" y="1652016"/>
            <a:chExt cx="5707380" cy="2444750"/>
          </a:xfrm>
        </p:grpSpPr>
        <p:pic>
          <p:nvPicPr>
            <p:cNvPr id="4" name="object 4"/>
            <p:cNvPicPr/>
            <p:nvPr/>
          </p:nvPicPr>
          <p:blipFill>
            <a:blip r:embed="rId3" cstate="print"/>
            <a:stretch>
              <a:fillRect/>
            </a:stretch>
          </p:blipFill>
          <p:spPr>
            <a:xfrm>
              <a:off x="594359" y="2843783"/>
              <a:ext cx="3630167" cy="1252727"/>
            </a:xfrm>
            <a:prstGeom prst="rect">
              <a:avLst/>
            </a:prstGeom>
          </p:spPr>
        </p:pic>
        <p:pic>
          <p:nvPicPr>
            <p:cNvPr id="5" name="object 5"/>
            <p:cNvPicPr/>
            <p:nvPr/>
          </p:nvPicPr>
          <p:blipFill>
            <a:blip r:embed="rId4" cstate="print"/>
            <a:stretch>
              <a:fillRect/>
            </a:stretch>
          </p:blipFill>
          <p:spPr>
            <a:xfrm>
              <a:off x="3520439" y="1652016"/>
              <a:ext cx="2781300" cy="957072"/>
            </a:xfrm>
            <a:prstGeom prst="rect">
              <a:avLst/>
            </a:prstGeom>
          </p:spPr>
        </p:pic>
      </p:grpSp>
      <p:grpSp>
        <p:nvGrpSpPr>
          <p:cNvPr id="6" name="object 6"/>
          <p:cNvGrpSpPr/>
          <p:nvPr/>
        </p:nvGrpSpPr>
        <p:grpSpPr>
          <a:xfrm>
            <a:off x="381000" y="4844796"/>
            <a:ext cx="6096000" cy="3429000"/>
            <a:chOff x="381000" y="4844796"/>
            <a:chExt cx="6096000" cy="3429000"/>
          </a:xfrm>
        </p:grpSpPr>
        <p:sp>
          <p:nvSpPr>
            <p:cNvPr id="7" name="object 7"/>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8" name="object 8"/>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9" name="object 9"/>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pic>
          <p:nvPicPr>
            <p:cNvPr id="10" name="object 10"/>
            <p:cNvPicPr/>
            <p:nvPr/>
          </p:nvPicPr>
          <p:blipFill>
            <a:blip r:embed="rId5" cstate="print"/>
            <a:stretch>
              <a:fillRect/>
            </a:stretch>
          </p:blipFill>
          <p:spPr>
            <a:xfrm>
              <a:off x="3564635" y="5532120"/>
              <a:ext cx="2775204" cy="1476755"/>
            </a:xfrm>
            <a:prstGeom prst="rect">
              <a:avLst/>
            </a:prstGeom>
          </p:spPr>
        </p:pic>
      </p:grpSp>
      <p:sp>
        <p:nvSpPr>
          <p:cNvPr id="11" name="object 11"/>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spc="-25" dirty="0">
                <a:latin typeface="Georgia"/>
                <a:cs typeface="Georgia"/>
              </a:rPr>
              <a:t>Random-</a:t>
            </a:r>
            <a:r>
              <a:rPr sz="2200" dirty="0">
                <a:latin typeface="Georgia"/>
                <a:cs typeface="Georgia"/>
              </a:rPr>
              <a:t>Access</a:t>
            </a:r>
            <a:r>
              <a:rPr sz="2200" spc="-35" dirty="0">
                <a:latin typeface="Georgia"/>
                <a:cs typeface="Georgia"/>
              </a:rPr>
              <a:t> </a:t>
            </a:r>
            <a:r>
              <a:rPr sz="2200" dirty="0">
                <a:latin typeface="Georgia"/>
                <a:cs typeface="Georgia"/>
              </a:rPr>
              <a:t>Memory</a:t>
            </a:r>
            <a:r>
              <a:rPr sz="2200" spc="-60" dirty="0">
                <a:latin typeface="Georgia"/>
                <a:cs typeface="Georgia"/>
              </a:rPr>
              <a:t> </a:t>
            </a:r>
            <a:r>
              <a:rPr sz="2200" spc="-20" dirty="0">
                <a:latin typeface="Georgia"/>
                <a:cs typeface="Georgia"/>
              </a:rPr>
              <a:t>(RAM)</a:t>
            </a:r>
            <a:endParaRPr sz="2200" dirty="0">
              <a:latin typeface="Georgia"/>
              <a:cs typeface="Georgia"/>
            </a:endParaRPr>
          </a:p>
          <a:p>
            <a:pPr>
              <a:lnSpc>
                <a:spcPct val="100000"/>
              </a:lnSpc>
            </a:pPr>
            <a:endParaRPr sz="2200" dirty="0">
              <a:latin typeface="Georgia"/>
              <a:cs typeface="Georgia"/>
            </a:endParaRPr>
          </a:p>
          <a:p>
            <a:pPr>
              <a:lnSpc>
                <a:spcPct val="100000"/>
              </a:lnSpc>
            </a:pPr>
            <a:endParaRPr sz="2200" dirty="0">
              <a:latin typeface="Georgia"/>
              <a:cs typeface="Georgia"/>
            </a:endParaRPr>
          </a:p>
          <a:p>
            <a:pPr>
              <a:lnSpc>
                <a:spcPct val="100000"/>
              </a:lnSpc>
            </a:pPr>
            <a:endParaRPr sz="2200" dirty="0">
              <a:latin typeface="Georgia"/>
              <a:cs typeface="Georgia"/>
            </a:endParaRPr>
          </a:p>
          <a:p>
            <a:pPr>
              <a:lnSpc>
                <a:spcPct val="100000"/>
              </a:lnSpc>
              <a:spcBef>
                <a:spcPts val="1045"/>
              </a:spcBef>
            </a:pPr>
            <a:endParaRPr sz="2200" dirty="0">
              <a:latin typeface="Georgia"/>
              <a:cs typeface="Georgia"/>
            </a:endParaRPr>
          </a:p>
          <a:p>
            <a:pPr marL="434975" marR="1499870" indent="-172720">
              <a:lnSpc>
                <a:spcPct val="100000"/>
              </a:lnSpc>
              <a:buClr>
                <a:srgbClr val="3E762B"/>
              </a:buClr>
              <a:buFont typeface="Wingdings"/>
              <a:buChar char=""/>
              <a:tabLst>
                <a:tab pos="436245" algn="l"/>
              </a:tabLst>
            </a:pPr>
            <a:r>
              <a:rPr sz="1100" dirty="0">
                <a:latin typeface="Times New Roman"/>
                <a:cs typeface="Times New Roman"/>
              </a:rPr>
              <a:t>Communication</a:t>
            </a:r>
            <a:r>
              <a:rPr sz="1100" spc="-10" dirty="0">
                <a:latin typeface="Times New Roman"/>
                <a:cs typeface="Times New Roman"/>
              </a:rPr>
              <a:t> </a:t>
            </a:r>
            <a:r>
              <a:rPr sz="1100" dirty="0">
                <a:latin typeface="Times New Roman"/>
                <a:cs typeface="Times New Roman"/>
              </a:rPr>
              <a:t>between</a:t>
            </a:r>
            <a:r>
              <a:rPr sz="1100" spc="-35" dirty="0">
                <a:latin typeface="Times New Roman"/>
                <a:cs typeface="Times New Roman"/>
              </a:rPr>
              <a:t> </a:t>
            </a:r>
            <a:r>
              <a:rPr sz="1100" dirty="0">
                <a:latin typeface="Times New Roman"/>
                <a:cs typeface="Times New Roman"/>
              </a:rPr>
              <a:t>a</a:t>
            </a:r>
            <a:r>
              <a:rPr sz="1100" spc="-20" dirty="0">
                <a:latin typeface="Times New Roman"/>
                <a:cs typeface="Times New Roman"/>
              </a:rPr>
              <a:t> </a:t>
            </a:r>
            <a:r>
              <a:rPr sz="1100" dirty="0">
                <a:latin typeface="Times New Roman"/>
                <a:cs typeface="Times New Roman"/>
              </a:rPr>
              <a:t>memory</a:t>
            </a:r>
            <a:r>
              <a:rPr sz="1100" spc="10" dirty="0">
                <a:latin typeface="Times New Roman"/>
                <a:cs typeface="Times New Roman"/>
              </a:rPr>
              <a:t> </a:t>
            </a:r>
            <a:r>
              <a:rPr sz="1100" dirty="0">
                <a:latin typeface="Times New Roman"/>
                <a:cs typeface="Times New Roman"/>
              </a:rPr>
              <a:t>and</a:t>
            </a:r>
            <a:r>
              <a:rPr sz="1100" spc="-15" dirty="0">
                <a:latin typeface="Times New Roman"/>
                <a:cs typeface="Times New Roman"/>
              </a:rPr>
              <a:t> </a:t>
            </a:r>
            <a:r>
              <a:rPr sz="1100" dirty="0">
                <a:latin typeface="Times New Roman"/>
                <a:cs typeface="Times New Roman"/>
              </a:rPr>
              <a:t>its</a:t>
            </a:r>
            <a:r>
              <a:rPr sz="1100" spc="-30" dirty="0">
                <a:latin typeface="Times New Roman"/>
                <a:cs typeface="Times New Roman"/>
              </a:rPr>
              <a:t> </a:t>
            </a:r>
            <a:r>
              <a:rPr sz="1100" dirty="0">
                <a:latin typeface="Times New Roman"/>
                <a:cs typeface="Times New Roman"/>
              </a:rPr>
              <a:t>environment</a:t>
            </a:r>
            <a:r>
              <a:rPr sz="1100" spc="-5" dirty="0">
                <a:latin typeface="Times New Roman"/>
                <a:cs typeface="Times New Roman"/>
              </a:rPr>
              <a:t> </a:t>
            </a:r>
            <a:r>
              <a:rPr sz="1100" dirty="0">
                <a:latin typeface="Times New Roman"/>
                <a:cs typeface="Times New Roman"/>
              </a:rPr>
              <a:t>is</a:t>
            </a:r>
            <a:r>
              <a:rPr sz="1100" spc="-20" dirty="0">
                <a:latin typeface="Times New Roman"/>
                <a:cs typeface="Times New Roman"/>
              </a:rPr>
              <a:t> </a:t>
            </a:r>
            <a:r>
              <a:rPr sz="1100" spc="-10" dirty="0">
                <a:latin typeface="Times New Roman"/>
                <a:cs typeface="Times New Roman"/>
              </a:rPr>
              <a:t>achieved 	</a:t>
            </a:r>
            <a:r>
              <a:rPr sz="1100" dirty="0">
                <a:latin typeface="Times New Roman"/>
                <a:cs typeface="Times New Roman"/>
              </a:rPr>
              <a:t>through</a:t>
            </a:r>
            <a:r>
              <a:rPr sz="1100" spc="-15" dirty="0">
                <a:latin typeface="Times New Roman"/>
                <a:cs typeface="Times New Roman"/>
              </a:rPr>
              <a:t> </a:t>
            </a:r>
            <a:r>
              <a:rPr sz="1100" b="1" dirty="0">
                <a:latin typeface="Times New Roman"/>
                <a:cs typeface="Times New Roman"/>
              </a:rPr>
              <a:t>data input</a:t>
            </a:r>
            <a:r>
              <a:rPr sz="1100" b="1" spc="-10" dirty="0">
                <a:latin typeface="Times New Roman"/>
                <a:cs typeface="Times New Roman"/>
              </a:rPr>
              <a:t> </a:t>
            </a:r>
            <a:r>
              <a:rPr sz="1100" dirty="0">
                <a:latin typeface="Times New Roman"/>
                <a:cs typeface="Times New Roman"/>
              </a:rPr>
              <a:t>and</a:t>
            </a:r>
            <a:r>
              <a:rPr sz="1100" spc="-10" dirty="0">
                <a:latin typeface="Times New Roman"/>
                <a:cs typeface="Times New Roman"/>
              </a:rPr>
              <a:t> </a:t>
            </a:r>
            <a:r>
              <a:rPr sz="1100" b="1" dirty="0">
                <a:latin typeface="Times New Roman"/>
                <a:cs typeface="Times New Roman"/>
              </a:rPr>
              <a:t>data output</a:t>
            </a:r>
            <a:r>
              <a:rPr sz="1100" b="1" spc="-10" dirty="0">
                <a:latin typeface="Times New Roman"/>
                <a:cs typeface="Times New Roman"/>
              </a:rPr>
              <a:t> </a:t>
            </a:r>
            <a:r>
              <a:rPr sz="1100" dirty="0">
                <a:latin typeface="Times New Roman"/>
                <a:cs typeface="Times New Roman"/>
              </a:rPr>
              <a:t>lines,</a:t>
            </a:r>
            <a:r>
              <a:rPr sz="1100" spc="-25" dirty="0">
                <a:latin typeface="Times New Roman"/>
                <a:cs typeface="Times New Roman"/>
              </a:rPr>
              <a:t> </a:t>
            </a:r>
            <a:r>
              <a:rPr sz="1100" b="1" dirty="0">
                <a:latin typeface="Times New Roman"/>
                <a:cs typeface="Times New Roman"/>
              </a:rPr>
              <a:t>address</a:t>
            </a:r>
            <a:r>
              <a:rPr sz="1100" b="1" spc="-20" dirty="0">
                <a:latin typeface="Times New Roman"/>
                <a:cs typeface="Times New Roman"/>
              </a:rPr>
              <a:t> </a:t>
            </a:r>
            <a:r>
              <a:rPr sz="1100" b="1" dirty="0">
                <a:latin typeface="Times New Roman"/>
                <a:cs typeface="Times New Roman"/>
              </a:rPr>
              <a:t>lines</a:t>
            </a:r>
            <a:r>
              <a:rPr sz="1100" dirty="0">
                <a:latin typeface="Times New Roman"/>
                <a:cs typeface="Times New Roman"/>
              </a:rPr>
              <a:t>,</a:t>
            </a:r>
            <a:r>
              <a:rPr sz="1100" spc="-25" dirty="0">
                <a:latin typeface="Times New Roman"/>
                <a:cs typeface="Times New Roman"/>
              </a:rPr>
              <a:t> </a:t>
            </a:r>
            <a:r>
              <a:rPr sz="1100" dirty="0">
                <a:latin typeface="Times New Roman"/>
                <a:cs typeface="Times New Roman"/>
              </a:rPr>
              <a:t>and</a:t>
            </a:r>
            <a:r>
              <a:rPr sz="1100" spc="-10" dirty="0">
                <a:latin typeface="Times New Roman"/>
                <a:cs typeface="Times New Roman"/>
              </a:rPr>
              <a:t> </a:t>
            </a:r>
            <a:r>
              <a:rPr sz="1100" b="1" spc="-10" dirty="0">
                <a:latin typeface="Times New Roman"/>
                <a:cs typeface="Times New Roman"/>
              </a:rPr>
              <a:t>control 	</a:t>
            </a:r>
            <a:r>
              <a:rPr sz="1100" b="1" dirty="0">
                <a:latin typeface="Times New Roman"/>
                <a:cs typeface="Times New Roman"/>
              </a:rPr>
              <a:t>lines</a:t>
            </a:r>
            <a:r>
              <a:rPr sz="1100" b="1" spc="-15" dirty="0">
                <a:latin typeface="Times New Roman"/>
                <a:cs typeface="Times New Roman"/>
              </a:rPr>
              <a:t> </a:t>
            </a:r>
            <a:r>
              <a:rPr sz="1100" dirty="0">
                <a:latin typeface="Times New Roman"/>
                <a:cs typeface="Times New Roman"/>
              </a:rPr>
              <a:t>that</a:t>
            </a:r>
            <a:r>
              <a:rPr sz="1100" spc="-10" dirty="0">
                <a:latin typeface="Times New Roman"/>
                <a:cs typeface="Times New Roman"/>
              </a:rPr>
              <a:t> </a:t>
            </a:r>
            <a:r>
              <a:rPr sz="1100" dirty="0">
                <a:latin typeface="Times New Roman"/>
                <a:cs typeface="Times New Roman"/>
              </a:rPr>
              <a:t>specify</a:t>
            </a:r>
            <a:r>
              <a:rPr sz="1100" spc="-15" dirty="0">
                <a:latin typeface="Times New Roman"/>
                <a:cs typeface="Times New Roman"/>
              </a:rPr>
              <a:t> </a:t>
            </a:r>
            <a:r>
              <a:rPr sz="1100" dirty="0">
                <a:latin typeface="Times New Roman"/>
                <a:cs typeface="Times New Roman"/>
              </a:rPr>
              <a:t>the direction</a:t>
            </a:r>
            <a:r>
              <a:rPr sz="1100" spc="-30" dirty="0">
                <a:latin typeface="Times New Roman"/>
                <a:cs typeface="Times New Roman"/>
              </a:rPr>
              <a:t> </a:t>
            </a:r>
            <a:r>
              <a:rPr sz="1100" dirty="0">
                <a:latin typeface="Times New Roman"/>
                <a:cs typeface="Times New Roman"/>
              </a:rPr>
              <a:t>of transfer</a:t>
            </a:r>
            <a:r>
              <a:rPr sz="1100" spc="-20" dirty="0">
                <a:latin typeface="Times New Roman"/>
                <a:cs typeface="Times New Roman"/>
              </a:rPr>
              <a:t> </a:t>
            </a:r>
            <a:r>
              <a:rPr sz="1100" dirty="0">
                <a:latin typeface="Times New Roman"/>
                <a:cs typeface="Times New Roman"/>
              </a:rPr>
              <a:t>of</a:t>
            </a:r>
            <a:r>
              <a:rPr sz="1100" spc="10" dirty="0">
                <a:latin typeface="Times New Roman"/>
                <a:cs typeface="Times New Roman"/>
              </a:rPr>
              <a:t> </a:t>
            </a:r>
            <a:r>
              <a:rPr sz="1100" spc="-10" dirty="0">
                <a:latin typeface="Times New Roman"/>
                <a:cs typeface="Times New Roman"/>
              </a:rPr>
              <a:t>information.</a:t>
            </a:r>
            <a:endParaRPr sz="1100" dirty="0">
              <a:latin typeface="Times New Roman"/>
              <a:cs typeface="Times New Roman"/>
            </a:endParaRPr>
          </a:p>
          <a:p>
            <a:pPr>
              <a:lnSpc>
                <a:spcPct val="100000"/>
              </a:lnSpc>
              <a:spcBef>
                <a:spcPts val="229"/>
              </a:spcBef>
              <a:buFont typeface="Wingdings"/>
              <a:buChar char=""/>
            </a:pPr>
            <a:endParaRPr sz="1100" dirty="0">
              <a:latin typeface="Times New Roman"/>
              <a:cs typeface="Times New Roman"/>
            </a:endParaRPr>
          </a:p>
          <a:p>
            <a:pPr marL="434975" marR="1939289" indent="-172720">
              <a:lnSpc>
                <a:spcPct val="100000"/>
              </a:lnSpc>
              <a:buClr>
                <a:srgbClr val="3E762B"/>
              </a:buClr>
              <a:buFont typeface="Wingdings"/>
              <a:buChar char=""/>
              <a:tabLst>
                <a:tab pos="436245" algn="l"/>
              </a:tabLst>
            </a:pPr>
            <a:r>
              <a:rPr sz="1200" dirty="0">
                <a:latin typeface="Times New Roman"/>
                <a:cs typeface="Times New Roman"/>
              </a:rPr>
              <a:t>The</a:t>
            </a:r>
            <a:r>
              <a:rPr sz="1200" spc="-35" dirty="0">
                <a:latin typeface="Times New Roman"/>
                <a:cs typeface="Times New Roman"/>
              </a:rPr>
              <a:t> </a:t>
            </a:r>
            <a:r>
              <a:rPr sz="1200" b="1" dirty="0">
                <a:latin typeface="Times New Roman"/>
                <a:cs typeface="Times New Roman"/>
              </a:rPr>
              <a:t>memory</a:t>
            </a:r>
            <a:r>
              <a:rPr sz="1200" b="1" spc="10" dirty="0">
                <a:latin typeface="Times New Roman"/>
                <a:cs typeface="Times New Roman"/>
              </a:rPr>
              <a:t> </a:t>
            </a:r>
            <a:r>
              <a:rPr sz="1200" b="1" dirty="0">
                <a:latin typeface="Times New Roman"/>
                <a:cs typeface="Times New Roman"/>
              </a:rPr>
              <a:t>unit</a:t>
            </a:r>
            <a:r>
              <a:rPr sz="1200" b="1" spc="-2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b="1" dirty="0">
                <a:latin typeface="Times New Roman"/>
                <a:cs typeface="Times New Roman"/>
              </a:rPr>
              <a:t>specified</a:t>
            </a:r>
            <a:r>
              <a:rPr sz="1200" b="1" spc="-30" dirty="0">
                <a:latin typeface="Times New Roman"/>
                <a:cs typeface="Times New Roman"/>
              </a:rPr>
              <a:t> </a:t>
            </a:r>
            <a:r>
              <a:rPr sz="1200" dirty="0">
                <a:latin typeface="Times New Roman"/>
                <a:cs typeface="Times New Roman"/>
              </a:rPr>
              <a:t>by</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number</a:t>
            </a:r>
            <a:r>
              <a:rPr sz="1200" spc="-3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words</a:t>
            </a:r>
            <a:r>
              <a:rPr sz="1200" spc="-10" dirty="0">
                <a:latin typeface="Times New Roman"/>
                <a:cs typeface="Times New Roman"/>
              </a:rPr>
              <a:t> </a:t>
            </a:r>
            <a:r>
              <a:rPr sz="1200" spc="-25" dirty="0">
                <a:latin typeface="Times New Roman"/>
                <a:cs typeface="Times New Roman"/>
              </a:rPr>
              <a:t>it 	</a:t>
            </a:r>
            <a:r>
              <a:rPr sz="1200" dirty="0">
                <a:latin typeface="Times New Roman"/>
                <a:cs typeface="Times New Roman"/>
              </a:rPr>
              <a:t>contains</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number</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bits</a:t>
            </a:r>
            <a:r>
              <a:rPr sz="1200" spc="-3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each</a:t>
            </a:r>
            <a:r>
              <a:rPr sz="1200" spc="-10" dirty="0">
                <a:latin typeface="Times New Roman"/>
                <a:cs typeface="Times New Roman"/>
              </a:rPr>
              <a:t> </a:t>
            </a:r>
            <a:r>
              <a:rPr sz="1200" dirty="0">
                <a:latin typeface="Times New Roman"/>
                <a:cs typeface="Times New Roman"/>
              </a:rPr>
              <a:t>word. </a:t>
            </a:r>
            <a:r>
              <a:rPr sz="1200" b="1" dirty="0">
                <a:latin typeface="Times New Roman"/>
                <a:cs typeface="Times New Roman"/>
              </a:rPr>
              <a:t>(2</a:t>
            </a:r>
            <a:r>
              <a:rPr sz="1200" b="1" baseline="24305" dirty="0">
                <a:latin typeface="Times New Roman"/>
                <a:cs typeface="Times New Roman"/>
              </a:rPr>
              <a:t>k</a:t>
            </a:r>
            <a:r>
              <a:rPr sz="1200" b="1" spc="112" baseline="24305" dirty="0">
                <a:latin typeface="Times New Roman"/>
                <a:cs typeface="Times New Roman"/>
              </a:rPr>
              <a:t> </a:t>
            </a:r>
            <a:r>
              <a:rPr sz="1200" b="1" dirty="0">
                <a:latin typeface="Times New Roman"/>
                <a:cs typeface="Times New Roman"/>
              </a:rPr>
              <a:t>×</a:t>
            </a:r>
            <a:r>
              <a:rPr sz="1200" b="1" spc="-20" dirty="0">
                <a:latin typeface="Times New Roman"/>
                <a:cs typeface="Times New Roman"/>
              </a:rPr>
              <a:t> </a:t>
            </a:r>
            <a:r>
              <a:rPr sz="1200" b="1" spc="-25" dirty="0">
                <a:latin typeface="Times New Roman"/>
                <a:cs typeface="Times New Roman"/>
              </a:rPr>
              <a:t>n)</a:t>
            </a:r>
            <a:endParaRPr sz="12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10</a:t>
            </a:fld>
            <a:endParaRPr spc="-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spc="-25" dirty="0">
                <a:latin typeface="Georgia"/>
                <a:cs typeface="Georgia"/>
              </a:rPr>
              <a:t>Random-</a:t>
            </a:r>
            <a:r>
              <a:rPr sz="2200" dirty="0">
                <a:latin typeface="Georgia"/>
                <a:cs typeface="Georgia"/>
              </a:rPr>
              <a:t>Access</a:t>
            </a:r>
            <a:r>
              <a:rPr sz="2200" spc="-35" dirty="0">
                <a:latin typeface="Georgia"/>
                <a:cs typeface="Georgia"/>
              </a:rPr>
              <a:t> </a:t>
            </a:r>
            <a:r>
              <a:rPr sz="2200" dirty="0">
                <a:latin typeface="Georgia"/>
                <a:cs typeface="Georgia"/>
              </a:rPr>
              <a:t>Memory</a:t>
            </a:r>
            <a:r>
              <a:rPr sz="2200" spc="-60" dirty="0">
                <a:latin typeface="Georgia"/>
                <a:cs typeface="Georgia"/>
              </a:rPr>
              <a:t> </a:t>
            </a:r>
            <a:r>
              <a:rPr sz="2200" spc="-20" dirty="0">
                <a:latin typeface="Georgia"/>
                <a:cs typeface="Georgia"/>
              </a:rPr>
              <a:t>(RAM)</a:t>
            </a:r>
            <a:endParaRPr sz="2200" dirty="0">
              <a:latin typeface="Georgia"/>
              <a:cs typeface="Georgia"/>
            </a:endParaRPr>
          </a:p>
          <a:p>
            <a:pPr marL="434975" indent="-172720">
              <a:lnSpc>
                <a:spcPct val="100000"/>
              </a:lnSpc>
              <a:spcBef>
                <a:spcPts val="1405"/>
              </a:spcBef>
              <a:buClr>
                <a:srgbClr val="3E762B"/>
              </a:buClr>
              <a:buFont typeface="Wingdings"/>
              <a:buChar char=""/>
              <a:tabLst>
                <a:tab pos="434975" algn="l"/>
              </a:tabLst>
            </a:pPr>
            <a:r>
              <a:rPr sz="1200" dirty="0">
                <a:latin typeface="Times New Roman"/>
                <a:cs typeface="Times New Roman"/>
              </a:rPr>
              <a:t>Each</a:t>
            </a:r>
            <a:r>
              <a:rPr sz="1200" spc="-40" dirty="0">
                <a:latin typeface="Times New Roman"/>
                <a:cs typeface="Times New Roman"/>
              </a:rPr>
              <a:t> </a:t>
            </a:r>
            <a:r>
              <a:rPr sz="1200" dirty="0">
                <a:latin typeface="Times New Roman"/>
                <a:cs typeface="Times New Roman"/>
              </a:rPr>
              <a:t>address</a:t>
            </a:r>
            <a:r>
              <a:rPr sz="1200" spc="-30" dirty="0">
                <a:latin typeface="Times New Roman"/>
                <a:cs typeface="Times New Roman"/>
              </a:rPr>
              <a:t> </a:t>
            </a:r>
            <a:r>
              <a:rPr sz="1200" dirty="0">
                <a:latin typeface="Times New Roman"/>
                <a:cs typeface="Times New Roman"/>
              </a:rPr>
              <a:t>selects</a:t>
            </a:r>
            <a:r>
              <a:rPr sz="1200" spc="-25" dirty="0">
                <a:latin typeface="Times New Roman"/>
                <a:cs typeface="Times New Roman"/>
              </a:rPr>
              <a:t> </a:t>
            </a:r>
            <a:r>
              <a:rPr sz="1200" dirty="0">
                <a:latin typeface="Times New Roman"/>
                <a:cs typeface="Times New Roman"/>
              </a:rPr>
              <a:t>one</a:t>
            </a:r>
            <a:r>
              <a:rPr sz="1200" spc="-45" dirty="0">
                <a:latin typeface="Times New Roman"/>
                <a:cs typeface="Times New Roman"/>
              </a:rPr>
              <a:t> </a:t>
            </a:r>
            <a:r>
              <a:rPr sz="1200" dirty="0">
                <a:latin typeface="Times New Roman"/>
                <a:cs typeface="Times New Roman"/>
              </a:rPr>
              <a:t>particular</a:t>
            </a:r>
            <a:r>
              <a:rPr sz="1200" spc="-45" dirty="0">
                <a:latin typeface="Times New Roman"/>
                <a:cs typeface="Times New Roman"/>
              </a:rPr>
              <a:t> </a:t>
            </a:r>
            <a:r>
              <a:rPr sz="1200" spc="-20" dirty="0">
                <a:latin typeface="Times New Roman"/>
                <a:cs typeface="Times New Roman"/>
              </a:rPr>
              <a:t>word.</a:t>
            </a:r>
            <a:endParaRPr sz="1200" dirty="0">
              <a:latin typeface="Times New Roman"/>
              <a:cs typeface="Times New Roman"/>
            </a:endParaRPr>
          </a:p>
          <a:p>
            <a:pPr>
              <a:lnSpc>
                <a:spcPct val="100000"/>
              </a:lnSpc>
              <a:spcBef>
                <a:spcPts val="120"/>
              </a:spcBef>
              <a:buClr>
                <a:srgbClr val="3E762B"/>
              </a:buClr>
              <a:buFont typeface="Wingdings"/>
              <a:buChar char=""/>
            </a:pPr>
            <a:endParaRPr sz="1200" dirty="0">
              <a:latin typeface="Times New Roman"/>
              <a:cs typeface="Times New Roman"/>
            </a:endParaRPr>
          </a:p>
          <a:p>
            <a:pPr marL="434975" indent="-172720">
              <a:lnSpc>
                <a:spcPct val="100000"/>
              </a:lnSpc>
              <a:spcBef>
                <a:spcPts val="5"/>
              </a:spcBef>
              <a:buClr>
                <a:srgbClr val="3E762B"/>
              </a:buClr>
              <a:buFont typeface="Wingdings"/>
              <a:buChar char=""/>
              <a:tabLst>
                <a:tab pos="434975" algn="l"/>
              </a:tabLst>
            </a:pPr>
            <a:r>
              <a:rPr sz="1200" b="1" dirty="0">
                <a:latin typeface="Times New Roman"/>
                <a:cs typeface="Times New Roman"/>
              </a:rPr>
              <a:t>Addresses</a:t>
            </a:r>
            <a:r>
              <a:rPr sz="1200" b="1" spc="-15" dirty="0">
                <a:latin typeface="Times New Roman"/>
                <a:cs typeface="Times New Roman"/>
              </a:rPr>
              <a:t> </a:t>
            </a:r>
            <a:r>
              <a:rPr sz="1200" b="1" dirty="0">
                <a:latin typeface="Times New Roman"/>
                <a:cs typeface="Times New Roman"/>
              </a:rPr>
              <a:t>range</a:t>
            </a:r>
            <a:r>
              <a:rPr sz="1200" b="1" spc="-25" dirty="0">
                <a:latin typeface="Times New Roman"/>
                <a:cs typeface="Times New Roman"/>
              </a:rPr>
              <a:t> </a:t>
            </a:r>
            <a:r>
              <a:rPr sz="1200" b="1" dirty="0">
                <a:latin typeface="Times New Roman"/>
                <a:cs typeface="Times New Roman"/>
              </a:rPr>
              <a:t>from</a:t>
            </a:r>
            <a:r>
              <a:rPr sz="1200" b="1" spc="-20" dirty="0">
                <a:latin typeface="Times New Roman"/>
                <a:cs typeface="Times New Roman"/>
              </a:rPr>
              <a:t> </a:t>
            </a:r>
            <a:r>
              <a:rPr sz="1200" b="1" dirty="0">
                <a:latin typeface="Times New Roman"/>
                <a:cs typeface="Times New Roman"/>
              </a:rPr>
              <a:t>0</a:t>
            </a:r>
            <a:r>
              <a:rPr sz="1200" b="1" spc="-20" dirty="0">
                <a:latin typeface="Times New Roman"/>
                <a:cs typeface="Times New Roman"/>
              </a:rPr>
              <a:t> </a:t>
            </a:r>
            <a:r>
              <a:rPr sz="1200" b="1" dirty="0">
                <a:latin typeface="Times New Roman"/>
                <a:cs typeface="Times New Roman"/>
              </a:rPr>
              <a:t>to</a:t>
            </a:r>
            <a:r>
              <a:rPr sz="1200" b="1" spc="-15" dirty="0">
                <a:latin typeface="Times New Roman"/>
                <a:cs typeface="Times New Roman"/>
              </a:rPr>
              <a:t> </a:t>
            </a:r>
            <a:r>
              <a:rPr sz="1200" b="1" dirty="0">
                <a:latin typeface="Times New Roman"/>
                <a:cs typeface="Times New Roman"/>
              </a:rPr>
              <a:t>2</a:t>
            </a:r>
            <a:r>
              <a:rPr sz="1200" b="1" baseline="24305" dirty="0">
                <a:latin typeface="Times New Roman"/>
                <a:cs typeface="Times New Roman"/>
              </a:rPr>
              <a:t>k</a:t>
            </a:r>
            <a:r>
              <a:rPr sz="1200" b="1" spc="120" baseline="24305" dirty="0">
                <a:latin typeface="Times New Roman"/>
                <a:cs typeface="Times New Roman"/>
              </a:rPr>
              <a:t> </a:t>
            </a:r>
            <a:r>
              <a:rPr sz="1200" b="1" dirty="0">
                <a:latin typeface="Times New Roman"/>
                <a:cs typeface="Times New Roman"/>
              </a:rPr>
              <a:t>–</a:t>
            </a:r>
            <a:r>
              <a:rPr sz="1200" b="1" spc="-20" dirty="0">
                <a:latin typeface="Times New Roman"/>
                <a:cs typeface="Times New Roman"/>
              </a:rPr>
              <a:t> </a:t>
            </a:r>
            <a:r>
              <a:rPr sz="1200" b="1" dirty="0">
                <a:latin typeface="Times New Roman"/>
                <a:cs typeface="Times New Roman"/>
              </a:rPr>
              <a:t>1</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where</a:t>
            </a:r>
            <a:r>
              <a:rPr sz="1200" spc="-15" dirty="0">
                <a:latin typeface="Times New Roman"/>
                <a:cs typeface="Times New Roman"/>
              </a:rPr>
              <a:t> </a:t>
            </a:r>
            <a:r>
              <a:rPr sz="1200" dirty="0">
                <a:latin typeface="Times New Roman"/>
                <a:cs typeface="Times New Roman"/>
              </a:rPr>
              <a:t>k</a:t>
            </a:r>
            <a:r>
              <a:rPr sz="1200" spc="-20"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number</a:t>
            </a:r>
            <a:r>
              <a:rPr sz="1200" spc="-3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address</a:t>
            </a:r>
            <a:r>
              <a:rPr sz="1200" spc="-10" dirty="0">
                <a:latin typeface="Times New Roman"/>
                <a:cs typeface="Times New Roman"/>
              </a:rPr>
              <a:t> lines.</a:t>
            </a:r>
            <a:endParaRPr sz="1200" dirty="0">
              <a:latin typeface="Times New Roman"/>
              <a:cs typeface="Times New Roman"/>
            </a:endParaRPr>
          </a:p>
          <a:p>
            <a:pPr>
              <a:lnSpc>
                <a:spcPct val="100000"/>
              </a:lnSpc>
              <a:spcBef>
                <a:spcPts val="114"/>
              </a:spcBef>
              <a:buClr>
                <a:srgbClr val="3E762B"/>
              </a:buClr>
              <a:buFont typeface="Wingdings"/>
              <a:buChar char=""/>
            </a:pPr>
            <a:endParaRPr sz="1200" dirty="0">
              <a:latin typeface="Times New Roman"/>
              <a:cs typeface="Times New Roman"/>
            </a:endParaRPr>
          </a:p>
          <a:p>
            <a:pPr marL="434975" indent="-172720">
              <a:lnSpc>
                <a:spcPct val="100000"/>
              </a:lnSpc>
              <a:spcBef>
                <a:spcPts val="5"/>
              </a:spcBef>
              <a:buClr>
                <a:srgbClr val="3E762B"/>
              </a:buClr>
              <a:buFont typeface="Wingdings"/>
              <a:buChar char=""/>
              <a:tabLst>
                <a:tab pos="434975" algn="l"/>
              </a:tabLst>
            </a:pP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decoder</a:t>
            </a:r>
            <a:r>
              <a:rPr sz="1200" spc="-35" dirty="0">
                <a:latin typeface="Times New Roman"/>
                <a:cs typeface="Times New Roman"/>
              </a:rPr>
              <a:t> </a:t>
            </a:r>
            <a:r>
              <a:rPr sz="1200" dirty="0">
                <a:latin typeface="Times New Roman"/>
                <a:cs typeface="Times New Roman"/>
              </a:rPr>
              <a:t>accepts</a:t>
            </a:r>
            <a:r>
              <a:rPr sz="1200" spc="-15" dirty="0">
                <a:latin typeface="Times New Roman"/>
                <a:cs typeface="Times New Roman"/>
              </a:rPr>
              <a:t> </a:t>
            </a: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address</a:t>
            </a:r>
            <a:r>
              <a:rPr sz="1200" spc="-1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opens</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paths</a:t>
            </a:r>
            <a:r>
              <a:rPr sz="1200" spc="-35" dirty="0">
                <a:latin typeface="Times New Roman"/>
                <a:cs typeface="Times New Roman"/>
              </a:rPr>
              <a:t> </a:t>
            </a:r>
            <a:r>
              <a:rPr sz="1200" dirty="0">
                <a:latin typeface="Times New Roman"/>
                <a:cs typeface="Times New Roman"/>
              </a:rPr>
              <a:t>needed</a:t>
            </a:r>
            <a:r>
              <a:rPr sz="1200" spc="-1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select</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20" dirty="0">
                <a:latin typeface="Times New Roman"/>
                <a:cs typeface="Times New Roman"/>
              </a:rPr>
              <a:t>word</a:t>
            </a:r>
            <a:endParaRPr sz="1200" dirty="0">
              <a:latin typeface="Times New Roman"/>
              <a:cs typeface="Times New Roman"/>
            </a:endParaRPr>
          </a:p>
          <a:p>
            <a:pPr marL="436245">
              <a:lnSpc>
                <a:spcPct val="100000"/>
              </a:lnSpc>
            </a:pPr>
            <a:r>
              <a:rPr sz="1200" spc="-10" dirty="0">
                <a:latin typeface="Times New Roman"/>
                <a:cs typeface="Times New Roman"/>
              </a:rPr>
              <a:t>specified.</a:t>
            </a:r>
            <a:endParaRPr sz="1200" dirty="0">
              <a:latin typeface="Times New Roman"/>
              <a:cs typeface="Times New Roman"/>
            </a:endParaRPr>
          </a:p>
          <a:p>
            <a:pPr>
              <a:lnSpc>
                <a:spcPct val="100000"/>
              </a:lnSpc>
              <a:spcBef>
                <a:spcPts val="120"/>
              </a:spcBef>
            </a:pPr>
            <a:endParaRPr sz="1200" dirty="0">
              <a:latin typeface="Times New Roman"/>
              <a:cs typeface="Times New Roman"/>
            </a:endParaRPr>
          </a:p>
          <a:p>
            <a:pPr marL="434975" marR="627380" indent="-172720">
              <a:lnSpc>
                <a:spcPct val="100000"/>
              </a:lnSpc>
              <a:buClr>
                <a:srgbClr val="3E762B"/>
              </a:buClr>
              <a:buFont typeface="Wingdings"/>
              <a:buChar char=""/>
              <a:tabLst>
                <a:tab pos="436245" algn="l"/>
              </a:tabLst>
            </a:pPr>
            <a:r>
              <a:rPr sz="1200" dirty="0">
                <a:latin typeface="Times New Roman"/>
                <a:cs typeface="Times New Roman"/>
              </a:rPr>
              <a:t>Computer</a:t>
            </a:r>
            <a:r>
              <a:rPr sz="1200" spc="-50" dirty="0">
                <a:latin typeface="Times New Roman"/>
                <a:cs typeface="Times New Roman"/>
              </a:rPr>
              <a:t> </a:t>
            </a:r>
            <a:r>
              <a:rPr sz="1200" dirty="0">
                <a:latin typeface="Times New Roman"/>
                <a:cs typeface="Times New Roman"/>
              </a:rPr>
              <a:t>memory</a:t>
            </a:r>
            <a:r>
              <a:rPr sz="1200" spc="-35" dirty="0">
                <a:latin typeface="Times New Roman"/>
                <a:cs typeface="Times New Roman"/>
              </a:rPr>
              <a:t> </a:t>
            </a:r>
            <a:r>
              <a:rPr sz="1200" dirty="0">
                <a:latin typeface="Times New Roman"/>
                <a:cs typeface="Times New Roman"/>
              </a:rPr>
              <a:t>varies</a:t>
            </a:r>
            <a:r>
              <a:rPr sz="1200" spc="-20" dirty="0">
                <a:latin typeface="Times New Roman"/>
                <a:cs typeface="Times New Roman"/>
              </a:rPr>
              <a:t> </a:t>
            </a:r>
            <a:r>
              <a:rPr sz="1200" dirty="0">
                <a:latin typeface="Times New Roman"/>
                <a:cs typeface="Times New Roman"/>
              </a:rPr>
              <a:t>greatly</a:t>
            </a:r>
            <a:r>
              <a:rPr sz="1200" spc="-2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size.</a:t>
            </a:r>
            <a:r>
              <a:rPr sz="1200" spc="-40" dirty="0">
                <a:latin typeface="Times New Roman"/>
                <a:cs typeface="Times New Roman"/>
              </a:rPr>
              <a:t> </a:t>
            </a:r>
            <a:r>
              <a:rPr sz="1200" dirty="0">
                <a:latin typeface="Times New Roman"/>
                <a:cs typeface="Times New Roman"/>
              </a:rPr>
              <a:t>It</a:t>
            </a:r>
            <a:r>
              <a:rPr sz="1200" spc="-5" dirty="0">
                <a:latin typeface="Times New Roman"/>
                <a:cs typeface="Times New Roman"/>
              </a:rPr>
              <a:t> </a:t>
            </a:r>
            <a:r>
              <a:rPr sz="1200" dirty="0">
                <a:latin typeface="Times New Roman"/>
                <a:cs typeface="Times New Roman"/>
              </a:rPr>
              <a:t>is</a:t>
            </a:r>
            <a:r>
              <a:rPr sz="1200" spc="-40" dirty="0">
                <a:latin typeface="Times New Roman"/>
                <a:cs typeface="Times New Roman"/>
              </a:rPr>
              <a:t> </a:t>
            </a:r>
            <a:r>
              <a:rPr sz="1200" dirty="0">
                <a:latin typeface="Times New Roman"/>
                <a:cs typeface="Times New Roman"/>
              </a:rPr>
              <a:t>customary</a:t>
            </a:r>
            <a:r>
              <a:rPr sz="1200" spc="-3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refer</a:t>
            </a:r>
            <a:r>
              <a:rPr sz="1200" spc="-1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number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words</a:t>
            </a:r>
            <a:r>
              <a:rPr sz="1200" spc="-2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bytes) in</a:t>
            </a:r>
            <a:r>
              <a:rPr sz="1200" spc="-25" dirty="0">
                <a:latin typeface="Times New Roman"/>
                <a:cs typeface="Times New Roman"/>
              </a:rPr>
              <a:t> </a:t>
            </a:r>
            <a:r>
              <a:rPr sz="1200" dirty="0">
                <a:latin typeface="Times New Roman"/>
                <a:cs typeface="Times New Roman"/>
              </a:rPr>
              <a:t>memory</a:t>
            </a:r>
            <a:r>
              <a:rPr sz="1200" spc="-40"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one</a:t>
            </a:r>
            <a:r>
              <a:rPr sz="1200" spc="-2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letters</a:t>
            </a:r>
            <a:r>
              <a:rPr sz="1200" spc="-25" dirty="0">
                <a:latin typeface="Times New Roman"/>
                <a:cs typeface="Times New Roman"/>
              </a:rPr>
              <a:t> </a:t>
            </a:r>
            <a:r>
              <a:rPr sz="1200" b="1" dirty="0">
                <a:solidFill>
                  <a:srgbClr val="3E762B"/>
                </a:solidFill>
                <a:latin typeface="Times New Roman"/>
                <a:cs typeface="Times New Roman"/>
              </a:rPr>
              <a:t>K</a:t>
            </a:r>
            <a:r>
              <a:rPr sz="1200" b="1" spc="-25" dirty="0">
                <a:solidFill>
                  <a:srgbClr val="3E762B"/>
                </a:solidFill>
                <a:latin typeface="Times New Roman"/>
                <a:cs typeface="Times New Roman"/>
              </a:rPr>
              <a:t> </a:t>
            </a:r>
            <a:r>
              <a:rPr sz="1200" dirty="0">
                <a:latin typeface="Times New Roman"/>
                <a:cs typeface="Times New Roman"/>
              </a:rPr>
              <a:t>(Kilo),</a:t>
            </a:r>
            <a:r>
              <a:rPr sz="1200" spc="-30" dirty="0">
                <a:latin typeface="Times New Roman"/>
                <a:cs typeface="Times New Roman"/>
              </a:rPr>
              <a:t> </a:t>
            </a:r>
            <a:r>
              <a:rPr sz="1200" b="1" dirty="0">
                <a:solidFill>
                  <a:srgbClr val="3E762B"/>
                </a:solidFill>
                <a:latin typeface="Times New Roman"/>
                <a:cs typeface="Times New Roman"/>
              </a:rPr>
              <a:t>M</a:t>
            </a:r>
            <a:r>
              <a:rPr sz="1200" b="1" spc="-30" dirty="0">
                <a:solidFill>
                  <a:srgbClr val="3E762B"/>
                </a:solidFill>
                <a:latin typeface="Times New Roman"/>
                <a:cs typeface="Times New Roman"/>
              </a:rPr>
              <a:t> </a:t>
            </a:r>
            <a:r>
              <a:rPr sz="1200" dirty="0">
                <a:latin typeface="Times New Roman"/>
                <a:cs typeface="Times New Roman"/>
              </a:rPr>
              <a:t>(Mega), </a:t>
            </a:r>
            <a:r>
              <a:rPr sz="1200" spc="-25" dirty="0">
                <a:latin typeface="Times New Roman"/>
                <a:cs typeface="Times New Roman"/>
              </a:rPr>
              <a:t>or 	</a:t>
            </a:r>
            <a:r>
              <a:rPr sz="1200" b="1" dirty="0">
                <a:solidFill>
                  <a:srgbClr val="3E762B"/>
                </a:solidFill>
                <a:latin typeface="Times New Roman"/>
                <a:cs typeface="Times New Roman"/>
              </a:rPr>
              <a:t>G</a:t>
            </a:r>
            <a:r>
              <a:rPr sz="1200" b="1" spc="-10" dirty="0">
                <a:solidFill>
                  <a:srgbClr val="3E762B"/>
                </a:solidFill>
                <a:latin typeface="Times New Roman"/>
                <a:cs typeface="Times New Roman"/>
              </a:rPr>
              <a:t> </a:t>
            </a:r>
            <a:r>
              <a:rPr sz="1200" dirty="0">
                <a:latin typeface="Times New Roman"/>
                <a:cs typeface="Times New Roman"/>
              </a:rPr>
              <a:t>(Giga).</a:t>
            </a:r>
            <a:r>
              <a:rPr sz="1200" spc="5" dirty="0">
                <a:latin typeface="Times New Roman"/>
                <a:cs typeface="Times New Roman"/>
              </a:rPr>
              <a:t> </a:t>
            </a:r>
            <a:r>
              <a:rPr sz="1200" dirty="0">
                <a:latin typeface="Times New Roman"/>
                <a:cs typeface="Times New Roman"/>
              </a:rPr>
              <a:t>K</a:t>
            </a:r>
            <a:r>
              <a:rPr sz="1200" spc="-10" dirty="0">
                <a:latin typeface="Times New Roman"/>
                <a:cs typeface="Times New Roman"/>
              </a:rPr>
              <a:t> </a:t>
            </a:r>
            <a:r>
              <a:rPr sz="1200" dirty="0">
                <a:latin typeface="Times New Roman"/>
                <a:cs typeface="Times New Roman"/>
              </a:rPr>
              <a:t>is</a:t>
            </a:r>
            <a:r>
              <a:rPr sz="1200" spc="-5" dirty="0">
                <a:latin typeface="Times New Roman"/>
                <a:cs typeface="Times New Roman"/>
              </a:rPr>
              <a:t> </a:t>
            </a:r>
            <a:r>
              <a:rPr sz="1200" dirty="0">
                <a:latin typeface="Times New Roman"/>
                <a:cs typeface="Times New Roman"/>
              </a:rPr>
              <a:t>equal</a:t>
            </a:r>
            <a:r>
              <a:rPr sz="1200" spc="-1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b="1" dirty="0">
                <a:solidFill>
                  <a:srgbClr val="3E762B"/>
                </a:solidFill>
                <a:latin typeface="Times New Roman"/>
                <a:cs typeface="Times New Roman"/>
              </a:rPr>
              <a:t>2</a:t>
            </a:r>
            <a:r>
              <a:rPr sz="1200" b="1" baseline="24305" dirty="0">
                <a:solidFill>
                  <a:srgbClr val="3E762B"/>
                </a:solidFill>
                <a:latin typeface="Times New Roman"/>
                <a:cs typeface="Times New Roman"/>
              </a:rPr>
              <a:t>10</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M</a:t>
            </a:r>
            <a:r>
              <a:rPr sz="1200" spc="-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b="1" dirty="0">
                <a:solidFill>
                  <a:srgbClr val="3E762B"/>
                </a:solidFill>
                <a:latin typeface="Times New Roman"/>
                <a:cs typeface="Times New Roman"/>
              </a:rPr>
              <a:t>2</a:t>
            </a:r>
            <a:r>
              <a:rPr sz="1200" b="1" baseline="24305" dirty="0">
                <a:solidFill>
                  <a:srgbClr val="3E762B"/>
                </a:solidFill>
                <a:latin typeface="Times New Roman"/>
                <a:cs typeface="Times New Roman"/>
              </a:rPr>
              <a:t>20</a:t>
            </a:r>
            <a:r>
              <a:rPr sz="1200" dirty="0">
                <a:latin typeface="Times New Roman"/>
                <a:cs typeface="Times New Roman"/>
              </a:rPr>
              <a:t>,</a:t>
            </a:r>
            <a:r>
              <a:rPr sz="1200" spc="-35"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G</a:t>
            </a:r>
            <a:r>
              <a:rPr sz="1200" spc="-1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b="1" spc="-20" dirty="0">
                <a:solidFill>
                  <a:srgbClr val="3E762B"/>
                </a:solidFill>
                <a:latin typeface="Times New Roman"/>
                <a:cs typeface="Times New Roman"/>
              </a:rPr>
              <a:t>2</a:t>
            </a:r>
            <a:r>
              <a:rPr sz="1200" b="1" spc="-30" baseline="24305" dirty="0">
                <a:solidFill>
                  <a:srgbClr val="3E762B"/>
                </a:solidFill>
                <a:latin typeface="Times New Roman"/>
                <a:cs typeface="Times New Roman"/>
              </a:rPr>
              <a:t>30</a:t>
            </a:r>
            <a:r>
              <a:rPr sz="1200" spc="-20" dirty="0">
                <a:latin typeface="Times New Roman"/>
                <a:cs typeface="Times New Roman"/>
              </a:rPr>
              <a:t>.</a:t>
            </a:r>
            <a:endParaRPr sz="1200" dirty="0">
              <a:latin typeface="Times New Roman"/>
              <a:cs typeface="Times New Roman"/>
            </a:endParaRPr>
          </a:p>
          <a:p>
            <a:pPr>
              <a:lnSpc>
                <a:spcPct val="100000"/>
              </a:lnSpc>
              <a:spcBef>
                <a:spcPts val="120"/>
              </a:spcBef>
              <a:buClr>
                <a:srgbClr val="3E762B"/>
              </a:buClr>
              <a:buFont typeface="Wingdings"/>
              <a:buChar char=""/>
            </a:pPr>
            <a:endParaRPr sz="1200" dirty="0">
              <a:latin typeface="Times New Roman"/>
              <a:cs typeface="Times New Roman"/>
            </a:endParaRPr>
          </a:p>
          <a:p>
            <a:pPr marL="434975" indent="-172720">
              <a:lnSpc>
                <a:spcPct val="100000"/>
              </a:lnSpc>
              <a:buClr>
                <a:srgbClr val="3E762B"/>
              </a:buClr>
              <a:buFont typeface="Wingdings"/>
              <a:buChar char=""/>
              <a:tabLst>
                <a:tab pos="434975" algn="l"/>
              </a:tabLst>
            </a:pPr>
            <a:r>
              <a:rPr sz="1200" dirty="0">
                <a:latin typeface="Times New Roman"/>
                <a:cs typeface="Times New Roman"/>
              </a:rPr>
              <a:t>Thus,</a:t>
            </a:r>
            <a:r>
              <a:rPr sz="1200" spc="-5" dirty="0">
                <a:latin typeface="Times New Roman"/>
                <a:cs typeface="Times New Roman"/>
              </a:rPr>
              <a:t> </a:t>
            </a:r>
            <a:r>
              <a:rPr sz="1200" dirty="0">
                <a:latin typeface="Times New Roman"/>
                <a:cs typeface="Times New Roman"/>
              </a:rPr>
              <a:t>64K = 2</a:t>
            </a:r>
            <a:r>
              <a:rPr sz="1200" baseline="24305" dirty="0">
                <a:latin typeface="Times New Roman"/>
                <a:cs typeface="Times New Roman"/>
              </a:rPr>
              <a:t>l6</a:t>
            </a:r>
            <a:r>
              <a:rPr sz="1200" dirty="0">
                <a:latin typeface="Times New Roman"/>
                <a:cs typeface="Times New Roman"/>
              </a:rPr>
              <a:t>, 2M</a:t>
            </a:r>
            <a:r>
              <a:rPr sz="1200" spc="-5"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2</a:t>
            </a:r>
            <a:r>
              <a:rPr sz="1200" baseline="24305" dirty="0">
                <a:latin typeface="Times New Roman"/>
                <a:cs typeface="Times New Roman"/>
              </a:rPr>
              <a:t>21</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and 4G =</a:t>
            </a:r>
            <a:r>
              <a:rPr sz="1200" spc="-5" dirty="0">
                <a:latin typeface="Times New Roman"/>
                <a:cs typeface="Times New Roman"/>
              </a:rPr>
              <a:t> </a:t>
            </a:r>
            <a:r>
              <a:rPr sz="1200" spc="-20" dirty="0">
                <a:latin typeface="Times New Roman"/>
                <a:cs typeface="Times New Roman"/>
              </a:rPr>
              <a:t>2</a:t>
            </a:r>
            <a:r>
              <a:rPr sz="1200" spc="-30" baseline="24305" dirty="0">
                <a:latin typeface="Times New Roman"/>
                <a:cs typeface="Times New Roman"/>
              </a:rPr>
              <a:t>32</a:t>
            </a:r>
            <a:r>
              <a:rPr sz="1200" spc="-20" dirty="0">
                <a:latin typeface="Times New Roman"/>
                <a:cs typeface="Times New Roman"/>
              </a:rPr>
              <a:t>.</a:t>
            </a:r>
            <a:endParaRPr sz="1200" dirty="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1370838" y="6712458"/>
              <a:ext cx="4114800" cy="0"/>
            </a:xfrm>
            <a:custGeom>
              <a:avLst/>
              <a:gdLst/>
              <a:ahLst/>
              <a:cxnLst/>
              <a:rect l="l" t="t" r="r" b="b"/>
              <a:pathLst>
                <a:path w="4114800">
                  <a:moveTo>
                    <a:pt x="0" y="0"/>
                  </a:moveTo>
                  <a:lnTo>
                    <a:pt x="4114800" y="0"/>
                  </a:lnTo>
                </a:path>
              </a:pathLst>
            </a:custGeom>
            <a:ln w="4572">
              <a:solidFill>
                <a:srgbClr val="FFFFFF"/>
              </a:solidFill>
            </a:ln>
          </p:spPr>
          <p:txBody>
            <a:bodyPr wrap="square" lIns="0" tIns="0" rIns="0" bIns="0" rtlCol="0"/>
            <a:lstStyle/>
            <a:p>
              <a:endParaRPr/>
            </a:p>
          </p:txBody>
        </p:sp>
      </p:grpSp>
      <p:sp>
        <p:nvSpPr>
          <p:cNvPr id="6" name="object 6"/>
          <p:cNvSpPr txBox="1"/>
          <p:nvPr/>
        </p:nvSpPr>
        <p:spPr>
          <a:xfrm>
            <a:off x="496823" y="4966715"/>
            <a:ext cx="5862955" cy="3188335"/>
          </a:xfrm>
          <a:prstGeom prst="rect">
            <a:avLst/>
          </a:prstGeom>
          <a:ln w="6096">
            <a:solidFill>
              <a:srgbClr val="FFFFFF"/>
            </a:solidFill>
          </a:ln>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spcBef>
                <a:spcPts val="1070"/>
              </a:spcBef>
            </a:pPr>
            <a:endParaRPr sz="3600">
              <a:latin typeface="Times New Roman"/>
              <a:cs typeface="Times New Roman"/>
            </a:endParaRPr>
          </a:p>
          <a:p>
            <a:pPr algn="ctr">
              <a:lnSpc>
                <a:spcPct val="100000"/>
              </a:lnSpc>
            </a:pPr>
            <a:r>
              <a:rPr sz="3600" b="1" spc="-25" dirty="0">
                <a:solidFill>
                  <a:srgbClr val="FFFFFF"/>
                </a:solidFill>
                <a:latin typeface="Times New Roman"/>
                <a:cs typeface="Times New Roman"/>
              </a:rPr>
              <a:t>Memory</a:t>
            </a:r>
            <a:r>
              <a:rPr sz="3600" b="1" spc="-175" dirty="0">
                <a:solidFill>
                  <a:srgbClr val="FFFFFF"/>
                </a:solidFill>
                <a:latin typeface="Times New Roman"/>
                <a:cs typeface="Times New Roman"/>
              </a:rPr>
              <a:t> </a:t>
            </a:r>
            <a:r>
              <a:rPr sz="3600" b="1" spc="-10" dirty="0">
                <a:solidFill>
                  <a:srgbClr val="FFFFFF"/>
                </a:solidFill>
                <a:latin typeface="Times New Roman"/>
                <a:cs typeface="Times New Roman"/>
              </a:rPr>
              <a:t>Technology</a:t>
            </a:r>
            <a:endParaRPr sz="36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11</a:t>
            </a:fld>
            <a:endParaRPr spc="-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Memory</a:t>
            </a:r>
            <a:r>
              <a:rPr sz="2200" spc="-105" dirty="0">
                <a:latin typeface="Georgia"/>
                <a:cs typeface="Georgia"/>
              </a:rPr>
              <a:t> </a:t>
            </a:r>
            <a:r>
              <a:rPr sz="2200" spc="-10" dirty="0">
                <a:latin typeface="Georgia"/>
                <a:cs typeface="Georgia"/>
              </a:rPr>
              <a:t>Technology</a:t>
            </a:r>
            <a:endParaRPr sz="2200">
              <a:latin typeface="Georgia"/>
              <a:cs typeface="Georgia"/>
            </a:endParaRPr>
          </a:p>
          <a:p>
            <a:pPr marL="431800" indent="-169545">
              <a:lnSpc>
                <a:spcPct val="100000"/>
              </a:lnSpc>
              <a:spcBef>
                <a:spcPts val="1535"/>
              </a:spcBef>
              <a:buFont typeface="Wingdings"/>
              <a:buChar char=""/>
              <a:tabLst>
                <a:tab pos="431800" algn="l"/>
              </a:tabLst>
            </a:pPr>
            <a:r>
              <a:rPr sz="1200" b="1" spc="-10" dirty="0">
                <a:solidFill>
                  <a:srgbClr val="3E762B"/>
                </a:solidFill>
                <a:latin typeface="Times New Roman"/>
                <a:cs typeface="Times New Roman"/>
              </a:rPr>
              <a:t>Registers</a:t>
            </a:r>
            <a:endParaRPr sz="1200">
              <a:latin typeface="Times New Roman"/>
              <a:cs typeface="Times New Roman"/>
            </a:endParaRPr>
          </a:p>
          <a:p>
            <a:pPr marL="431800" indent="-169545">
              <a:lnSpc>
                <a:spcPct val="100000"/>
              </a:lnSpc>
              <a:spcBef>
                <a:spcPts val="1200"/>
              </a:spcBef>
              <a:buFont typeface="Wingdings"/>
              <a:buChar char=""/>
              <a:tabLst>
                <a:tab pos="431800" algn="l"/>
              </a:tabLst>
            </a:pPr>
            <a:r>
              <a:rPr sz="1200" b="1" dirty="0">
                <a:solidFill>
                  <a:srgbClr val="3E762B"/>
                </a:solidFill>
                <a:latin typeface="Times New Roman"/>
                <a:cs typeface="Times New Roman"/>
              </a:rPr>
              <a:t>RAM</a:t>
            </a:r>
            <a:r>
              <a:rPr sz="1200" b="1" spc="-15" dirty="0">
                <a:solidFill>
                  <a:srgbClr val="3E762B"/>
                </a:solidFill>
                <a:latin typeface="Times New Roman"/>
                <a:cs typeface="Times New Roman"/>
              </a:rPr>
              <a:t> </a:t>
            </a:r>
            <a:r>
              <a:rPr sz="1200" b="1" spc="-10" dirty="0">
                <a:solidFill>
                  <a:srgbClr val="3E762B"/>
                </a:solidFill>
                <a:latin typeface="Times New Roman"/>
                <a:cs typeface="Times New Roman"/>
              </a:rPr>
              <a:t>Memory</a:t>
            </a:r>
            <a:endParaRPr sz="1200">
              <a:latin typeface="Times New Roman"/>
              <a:cs typeface="Times New Roman"/>
            </a:endParaRPr>
          </a:p>
          <a:p>
            <a:pPr marL="431800" indent="-169545">
              <a:lnSpc>
                <a:spcPct val="100000"/>
              </a:lnSpc>
              <a:spcBef>
                <a:spcPts val="1200"/>
              </a:spcBef>
              <a:buFont typeface="Wingdings"/>
              <a:buChar char=""/>
              <a:tabLst>
                <a:tab pos="431800" algn="l"/>
              </a:tabLst>
            </a:pPr>
            <a:r>
              <a:rPr sz="1200" b="1" dirty="0">
                <a:solidFill>
                  <a:srgbClr val="3E762B"/>
                </a:solidFill>
                <a:latin typeface="Times New Roman"/>
                <a:cs typeface="Times New Roman"/>
              </a:rPr>
              <a:t>ROM</a:t>
            </a:r>
            <a:r>
              <a:rPr sz="1200" b="1" spc="-35" dirty="0">
                <a:solidFill>
                  <a:srgbClr val="3E762B"/>
                </a:solidFill>
                <a:latin typeface="Times New Roman"/>
                <a:cs typeface="Times New Roman"/>
              </a:rPr>
              <a:t> </a:t>
            </a:r>
            <a:r>
              <a:rPr sz="1200" b="1" spc="-10" dirty="0">
                <a:solidFill>
                  <a:srgbClr val="3E762B"/>
                </a:solidFill>
                <a:latin typeface="Times New Roman"/>
                <a:cs typeface="Times New Roman"/>
              </a:rPr>
              <a:t>Memory</a:t>
            </a:r>
            <a:endParaRPr sz="1200">
              <a:latin typeface="Times New Roman"/>
              <a:cs typeface="Times New Roman"/>
            </a:endParaRPr>
          </a:p>
          <a:p>
            <a:pPr marL="431800" indent="-169545">
              <a:lnSpc>
                <a:spcPct val="100000"/>
              </a:lnSpc>
              <a:spcBef>
                <a:spcPts val="1200"/>
              </a:spcBef>
              <a:buFont typeface="Wingdings"/>
              <a:buChar char=""/>
              <a:tabLst>
                <a:tab pos="431800" algn="l"/>
              </a:tabLst>
            </a:pPr>
            <a:r>
              <a:rPr sz="1200" b="1" dirty="0">
                <a:solidFill>
                  <a:srgbClr val="3E762B"/>
                </a:solidFill>
                <a:latin typeface="Times New Roman"/>
                <a:cs typeface="Times New Roman"/>
              </a:rPr>
              <a:t>Magnetic</a:t>
            </a:r>
            <a:r>
              <a:rPr sz="1200" b="1" spc="-60" dirty="0">
                <a:solidFill>
                  <a:srgbClr val="3E762B"/>
                </a:solidFill>
                <a:latin typeface="Times New Roman"/>
                <a:cs typeface="Times New Roman"/>
              </a:rPr>
              <a:t> </a:t>
            </a:r>
            <a:r>
              <a:rPr sz="1200" b="1" spc="-20" dirty="0">
                <a:solidFill>
                  <a:srgbClr val="3E762B"/>
                </a:solidFill>
                <a:latin typeface="Times New Roman"/>
                <a:cs typeface="Times New Roman"/>
              </a:rPr>
              <a:t>Tapes</a:t>
            </a:r>
            <a:endParaRPr sz="1200">
              <a:latin typeface="Times New Roman"/>
              <a:cs typeface="Times New Roman"/>
            </a:endParaRPr>
          </a:p>
          <a:p>
            <a:pPr marL="431800" indent="-169545">
              <a:lnSpc>
                <a:spcPct val="100000"/>
              </a:lnSpc>
              <a:spcBef>
                <a:spcPts val="1200"/>
              </a:spcBef>
              <a:buFont typeface="Wingdings"/>
              <a:buChar char=""/>
              <a:tabLst>
                <a:tab pos="431800" algn="l"/>
              </a:tabLst>
            </a:pPr>
            <a:r>
              <a:rPr sz="1200" b="1" dirty="0">
                <a:solidFill>
                  <a:srgbClr val="3E762B"/>
                </a:solidFill>
                <a:latin typeface="Times New Roman"/>
                <a:cs typeface="Times New Roman"/>
              </a:rPr>
              <a:t>Magnetic</a:t>
            </a:r>
            <a:r>
              <a:rPr sz="1200" b="1" spc="-50" dirty="0">
                <a:solidFill>
                  <a:srgbClr val="3E762B"/>
                </a:solidFill>
                <a:latin typeface="Times New Roman"/>
                <a:cs typeface="Times New Roman"/>
              </a:rPr>
              <a:t> </a:t>
            </a:r>
            <a:r>
              <a:rPr sz="1200" b="1" spc="-20" dirty="0">
                <a:solidFill>
                  <a:srgbClr val="3E762B"/>
                </a:solidFill>
                <a:latin typeface="Times New Roman"/>
                <a:cs typeface="Times New Roman"/>
              </a:rPr>
              <a:t>Disk</a:t>
            </a:r>
            <a:endParaRPr sz="120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7" name="object 7"/>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Registers</a:t>
            </a:r>
            <a:r>
              <a:rPr sz="2200" spc="-90" dirty="0">
                <a:latin typeface="Georgia"/>
                <a:cs typeface="Georgia"/>
              </a:rPr>
              <a:t> </a:t>
            </a:r>
            <a:r>
              <a:rPr sz="2200" dirty="0">
                <a:latin typeface="Georgia"/>
                <a:cs typeface="Georgia"/>
              </a:rPr>
              <a:t>Digital</a:t>
            </a:r>
            <a:r>
              <a:rPr sz="2200" spc="-100" dirty="0">
                <a:latin typeface="Georgia"/>
                <a:cs typeface="Georgia"/>
              </a:rPr>
              <a:t> </a:t>
            </a:r>
            <a:r>
              <a:rPr sz="2200" spc="-10" dirty="0">
                <a:latin typeface="Georgia"/>
                <a:cs typeface="Georgia"/>
              </a:rPr>
              <a:t>circuit</a:t>
            </a:r>
            <a:endParaRPr sz="2200">
              <a:latin typeface="Georgia"/>
              <a:cs typeface="Georgia"/>
            </a:endParaRPr>
          </a:p>
          <a:p>
            <a:pPr marL="434975" marR="1032510" indent="-172720">
              <a:lnSpc>
                <a:spcPts val="1300"/>
              </a:lnSpc>
              <a:spcBef>
                <a:spcPts val="1860"/>
              </a:spcBef>
              <a:buClr>
                <a:srgbClr val="3E762B"/>
              </a:buClr>
              <a:buFont typeface="Wingdings"/>
              <a:buChar char=""/>
              <a:tabLst>
                <a:tab pos="436245" algn="l"/>
              </a:tabLst>
            </a:pPr>
            <a:r>
              <a:rPr sz="1200" spc="-10" dirty="0">
                <a:latin typeface="Times New Roman"/>
                <a:cs typeface="Times New Roman"/>
              </a:rPr>
              <a:t>Flip-</a:t>
            </a:r>
            <a:r>
              <a:rPr sz="1200" dirty="0">
                <a:latin typeface="Times New Roman"/>
                <a:cs typeface="Times New Roman"/>
              </a:rPr>
              <a:t>flop</a:t>
            </a:r>
            <a:r>
              <a:rPr sz="1200" spc="-20" dirty="0">
                <a:latin typeface="Times New Roman"/>
                <a:cs typeface="Times New Roman"/>
              </a:rPr>
              <a:t> </a:t>
            </a:r>
            <a:r>
              <a:rPr sz="1200" dirty="0">
                <a:latin typeface="Times New Roman"/>
                <a:cs typeface="Times New Roman"/>
              </a:rPr>
              <a:t>is</a:t>
            </a:r>
            <a:r>
              <a:rPr sz="1200" spc="-1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1</a:t>
            </a:r>
            <a:r>
              <a:rPr sz="1200" spc="-15" dirty="0">
                <a:latin typeface="Times New Roman"/>
                <a:cs typeface="Times New Roman"/>
              </a:rPr>
              <a:t> </a:t>
            </a:r>
            <a:r>
              <a:rPr sz="1200" dirty="0">
                <a:latin typeface="Times New Roman"/>
                <a:cs typeface="Times New Roman"/>
              </a:rPr>
              <a:t>bit</a:t>
            </a:r>
            <a:r>
              <a:rPr sz="1200" spc="-25" dirty="0">
                <a:latin typeface="Times New Roman"/>
                <a:cs typeface="Times New Roman"/>
              </a:rPr>
              <a:t> </a:t>
            </a:r>
            <a:r>
              <a:rPr sz="1200" dirty="0">
                <a:latin typeface="Times New Roman"/>
                <a:cs typeface="Times New Roman"/>
              </a:rPr>
              <a:t>memory</a:t>
            </a:r>
            <a:r>
              <a:rPr sz="1200" spc="-25" dirty="0">
                <a:latin typeface="Times New Roman"/>
                <a:cs typeface="Times New Roman"/>
              </a:rPr>
              <a:t> </a:t>
            </a:r>
            <a:r>
              <a:rPr sz="1200" dirty="0">
                <a:latin typeface="Times New Roman"/>
                <a:cs typeface="Times New Roman"/>
              </a:rPr>
              <a:t>cell</a:t>
            </a:r>
            <a:r>
              <a:rPr sz="1200" spc="-15" dirty="0">
                <a:latin typeface="Times New Roman"/>
                <a:cs typeface="Times New Roman"/>
              </a:rPr>
              <a:t> </a:t>
            </a:r>
            <a:r>
              <a:rPr sz="1200" dirty="0">
                <a:latin typeface="Times New Roman"/>
                <a:cs typeface="Times New Roman"/>
              </a:rPr>
              <a:t>which</a:t>
            </a:r>
            <a:r>
              <a:rPr sz="1200" spc="-20" dirty="0">
                <a:latin typeface="Times New Roman"/>
                <a:cs typeface="Times New Roman"/>
              </a:rPr>
              <a:t> </a:t>
            </a:r>
            <a:r>
              <a:rPr sz="1200" dirty="0">
                <a:latin typeface="Times New Roman"/>
                <a:cs typeface="Times New Roman"/>
              </a:rPr>
              <a:t>can</a:t>
            </a:r>
            <a:r>
              <a:rPr sz="1200" spc="-5"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dirty="0">
                <a:latin typeface="Times New Roman"/>
                <a:cs typeface="Times New Roman"/>
              </a:rPr>
              <a:t>used</a:t>
            </a:r>
            <a:r>
              <a:rPr sz="1200" spc="-2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storing</a:t>
            </a:r>
            <a:r>
              <a:rPr sz="1200"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digital 	data.</a:t>
            </a:r>
            <a:endParaRPr sz="1200">
              <a:latin typeface="Times New Roman"/>
              <a:cs typeface="Times New Roman"/>
            </a:endParaRPr>
          </a:p>
          <a:p>
            <a:pPr marL="434975" indent="-172720">
              <a:lnSpc>
                <a:spcPts val="1370"/>
              </a:lnSpc>
              <a:spcBef>
                <a:spcPts val="525"/>
              </a:spcBef>
              <a:buClr>
                <a:srgbClr val="3E762B"/>
              </a:buClr>
              <a:buFont typeface="Wingdings"/>
              <a:buChar char=""/>
              <a:tabLst>
                <a:tab pos="434975" algn="l"/>
              </a:tabLst>
            </a:pPr>
            <a:r>
              <a:rPr sz="1200" spc="-30" dirty="0">
                <a:latin typeface="Times New Roman"/>
                <a:cs typeface="Times New Roman"/>
              </a:rPr>
              <a:t>To </a:t>
            </a:r>
            <a:r>
              <a:rPr sz="1200" dirty="0">
                <a:latin typeface="Times New Roman"/>
                <a:cs typeface="Times New Roman"/>
              </a:rPr>
              <a:t>increase</a:t>
            </a:r>
            <a:r>
              <a:rPr sz="1200"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storage</a:t>
            </a:r>
            <a:r>
              <a:rPr sz="1200" spc="-20" dirty="0">
                <a:latin typeface="Times New Roman"/>
                <a:cs typeface="Times New Roman"/>
              </a:rPr>
              <a:t> </a:t>
            </a:r>
            <a:r>
              <a:rPr sz="1200" dirty="0">
                <a:latin typeface="Times New Roman"/>
                <a:cs typeface="Times New Roman"/>
              </a:rPr>
              <a:t>capacity</a:t>
            </a:r>
            <a:r>
              <a:rPr sz="1200" spc="-20" dirty="0">
                <a:latin typeface="Times New Roman"/>
                <a:cs typeface="Times New Roman"/>
              </a:rPr>
              <a:t> </a:t>
            </a:r>
            <a:r>
              <a:rPr sz="1200" dirty="0">
                <a:latin typeface="Times New Roman"/>
                <a:cs typeface="Times New Roman"/>
              </a:rPr>
              <a:t>in</a:t>
            </a:r>
            <a:r>
              <a:rPr sz="1200" spc="-35" dirty="0">
                <a:latin typeface="Times New Roman"/>
                <a:cs typeface="Times New Roman"/>
              </a:rPr>
              <a:t> </a:t>
            </a:r>
            <a:r>
              <a:rPr sz="1200" dirty="0">
                <a:latin typeface="Times New Roman"/>
                <a:cs typeface="Times New Roman"/>
              </a:rPr>
              <a:t>terms</a:t>
            </a:r>
            <a:r>
              <a:rPr sz="1200" spc="-2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number</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bits,</a:t>
            </a:r>
            <a:r>
              <a:rPr sz="1200" spc="-40" dirty="0">
                <a:latin typeface="Times New Roman"/>
                <a:cs typeface="Times New Roman"/>
              </a:rPr>
              <a:t> </a:t>
            </a:r>
            <a:r>
              <a:rPr sz="1200" dirty="0">
                <a:latin typeface="Times New Roman"/>
                <a:cs typeface="Times New Roman"/>
              </a:rPr>
              <a:t>we</a:t>
            </a:r>
            <a:r>
              <a:rPr sz="1200" spc="-25" dirty="0">
                <a:latin typeface="Times New Roman"/>
                <a:cs typeface="Times New Roman"/>
              </a:rPr>
              <a:t> </a:t>
            </a:r>
            <a:r>
              <a:rPr sz="1200" dirty="0">
                <a:latin typeface="Times New Roman"/>
                <a:cs typeface="Times New Roman"/>
              </a:rPr>
              <a:t>have</a:t>
            </a:r>
            <a:r>
              <a:rPr sz="1200" spc="-2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use</a:t>
            </a:r>
            <a:r>
              <a:rPr sz="1200" spc="-20" dirty="0">
                <a:latin typeface="Times New Roman"/>
                <a:cs typeface="Times New Roman"/>
              </a:rPr>
              <a:t> </a:t>
            </a:r>
            <a:r>
              <a:rPr sz="1200" spc="-50" dirty="0">
                <a:latin typeface="Times New Roman"/>
                <a:cs typeface="Times New Roman"/>
              </a:rPr>
              <a:t>a</a:t>
            </a:r>
            <a:endParaRPr sz="1200">
              <a:latin typeface="Times New Roman"/>
              <a:cs typeface="Times New Roman"/>
            </a:endParaRPr>
          </a:p>
          <a:p>
            <a:pPr marL="436245">
              <a:lnSpc>
                <a:spcPts val="1370"/>
              </a:lnSpc>
            </a:pPr>
            <a:r>
              <a:rPr sz="1200" b="1" dirty="0">
                <a:latin typeface="Times New Roman"/>
                <a:cs typeface="Times New Roman"/>
              </a:rPr>
              <a:t>group</a:t>
            </a:r>
            <a:r>
              <a:rPr sz="1200" b="1" spc="-10" dirty="0">
                <a:latin typeface="Times New Roman"/>
                <a:cs typeface="Times New Roman"/>
              </a:rPr>
              <a:t> </a:t>
            </a:r>
            <a:r>
              <a:rPr sz="1200" b="1" dirty="0">
                <a:latin typeface="Times New Roman"/>
                <a:cs typeface="Times New Roman"/>
              </a:rPr>
              <a:t>of</a:t>
            </a:r>
            <a:r>
              <a:rPr sz="1200" b="1" spc="-15" dirty="0">
                <a:latin typeface="Times New Roman"/>
                <a:cs typeface="Times New Roman"/>
              </a:rPr>
              <a:t> </a:t>
            </a:r>
            <a:r>
              <a:rPr sz="1200" b="1" spc="-10" dirty="0">
                <a:latin typeface="Times New Roman"/>
                <a:cs typeface="Times New Roman"/>
              </a:rPr>
              <a:t>flip-</a:t>
            </a:r>
            <a:r>
              <a:rPr sz="1200" b="1" dirty="0">
                <a:latin typeface="Times New Roman"/>
                <a:cs typeface="Times New Roman"/>
              </a:rPr>
              <a:t>flop</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Such</a:t>
            </a:r>
            <a:r>
              <a:rPr sz="1200" spc="-10"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group</a:t>
            </a:r>
            <a:r>
              <a:rPr sz="1200" spc="-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spc="-10" dirty="0">
                <a:latin typeface="Times New Roman"/>
                <a:cs typeface="Times New Roman"/>
              </a:rPr>
              <a:t>flip-</a:t>
            </a:r>
            <a:r>
              <a:rPr sz="1200" dirty="0">
                <a:latin typeface="Times New Roman"/>
                <a:cs typeface="Times New Roman"/>
              </a:rPr>
              <a:t>flop</a:t>
            </a:r>
            <a:r>
              <a:rPr sz="1200" spc="-10" dirty="0">
                <a:latin typeface="Times New Roman"/>
                <a:cs typeface="Times New Roman"/>
              </a:rPr>
              <a:t> </a:t>
            </a:r>
            <a:r>
              <a:rPr sz="1200" dirty="0">
                <a:latin typeface="Times New Roman"/>
                <a:cs typeface="Times New Roman"/>
              </a:rPr>
              <a:t>is</a:t>
            </a:r>
            <a:r>
              <a:rPr sz="1200" spc="-5" dirty="0">
                <a:latin typeface="Times New Roman"/>
                <a:cs typeface="Times New Roman"/>
              </a:rPr>
              <a:t> </a:t>
            </a:r>
            <a:r>
              <a:rPr sz="1200" dirty="0">
                <a:latin typeface="Times New Roman"/>
                <a:cs typeface="Times New Roman"/>
              </a:rPr>
              <a:t>known</a:t>
            </a:r>
            <a:r>
              <a:rPr sz="1200" spc="-10" dirty="0">
                <a:latin typeface="Times New Roman"/>
                <a:cs typeface="Times New Roman"/>
              </a:rPr>
              <a:t> </a:t>
            </a:r>
            <a:r>
              <a:rPr sz="1200" dirty="0">
                <a:latin typeface="Times New Roman"/>
                <a:cs typeface="Times New Roman"/>
              </a:rPr>
              <a:t>as</a:t>
            </a:r>
            <a:r>
              <a:rPr sz="1200" spc="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b="1" spc="-10" dirty="0">
                <a:latin typeface="Times New Roman"/>
                <a:cs typeface="Times New Roman"/>
              </a:rPr>
              <a:t>Register</a:t>
            </a:r>
            <a:r>
              <a:rPr sz="1200" spc="-10" dirty="0">
                <a:latin typeface="Times New Roman"/>
                <a:cs typeface="Times New Roman"/>
              </a:rPr>
              <a:t>.</a:t>
            </a:r>
            <a:endParaRPr sz="1200">
              <a:latin typeface="Times New Roman"/>
              <a:cs typeface="Times New Roman"/>
            </a:endParaRPr>
          </a:p>
          <a:p>
            <a:pPr>
              <a:lnSpc>
                <a:spcPct val="100000"/>
              </a:lnSpc>
              <a:spcBef>
                <a:spcPts val="1180"/>
              </a:spcBef>
            </a:pPr>
            <a:endParaRPr sz="1200">
              <a:latin typeface="Times New Roman"/>
              <a:cs typeface="Times New Roman"/>
            </a:endParaRPr>
          </a:p>
          <a:p>
            <a:pPr marL="435609" indent="-173355">
              <a:lnSpc>
                <a:spcPct val="100000"/>
              </a:lnSpc>
              <a:buClr>
                <a:srgbClr val="3E762B"/>
              </a:buClr>
              <a:buFont typeface="Wingdings"/>
              <a:buChar char=""/>
              <a:tabLst>
                <a:tab pos="435609" algn="l"/>
              </a:tabLst>
            </a:pPr>
            <a:r>
              <a:rPr sz="1200" dirty="0">
                <a:latin typeface="Times New Roman"/>
                <a:cs typeface="Times New Roman"/>
              </a:rPr>
              <a:t>Ex.:</a:t>
            </a:r>
            <a:r>
              <a:rPr sz="1200" spc="-35" dirty="0">
                <a:latin typeface="Times New Roman"/>
                <a:cs typeface="Times New Roman"/>
              </a:rPr>
              <a:t> </a:t>
            </a:r>
            <a:r>
              <a:rPr sz="1200" dirty="0">
                <a:latin typeface="Times New Roman"/>
                <a:cs typeface="Times New Roman"/>
              </a:rPr>
              <a:t>4bit</a:t>
            </a:r>
            <a:r>
              <a:rPr sz="1200" spc="-30" dirty="0">
                <a:latin typeface="Times New Roman"/>
                <a:cs typeface="Times New Roman"/>
              </a:rPr>
              <a:t> </a:t>
            </a:r>
            <a:r>
              <a:rPr sz="1200" spc="-10" dirty="0">
                <a:latin typeface="Times New Roman"/>
                <a:cs typeface="Times New Roman"/>
              </a:rPr>
              <a:t>register</a:t>
            </a:r>
            <a:endParaRPr sz="1200">
              <a:latin typeface="Times New Roman"/>
              <a:cs typeface="Times New Roman"/>
            </a:endParaRPr>
          </a:p>
        </p:txBody>
      </p:sp>
      <p:pic>
        <p:nvPicPr>
          <p:cNvPr id="8" name="object 8"/>
          <p:cNvPicPr/>
          <p:nvPr/>
        </p:nvPicPr>
        <p:blipFill>
          <a:blip r:embed="rId2" cstate="print"/>
          <a:stretch>
            <a:fillRect/>
          </a:stretch>
        </p:blipFill>
        <p:spPr>
          <a:xfrm>
            <a:off x="2558795" y="6583680"/>
            <a:ext cx="3482339" cy="1309116"/>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12</a:t>
            </a:fld>
            <a:endParaRPr spc="-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541020" y="2833115"/>
            <a:ext cx="1299972" cy="1315212"/>
          </a:xfrm>
          <a:prstGeom prst="rect">
            <a:avLst/>
          </a:prstGeom>
        </p:spPr>
      </p:pic>
      <p:sp>
        <p:nvSpPr>
          <p:cNvPr id="3" name="object 3"/>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Edge</a:t>
            </a:r>
            <a:r>
              <a:rPr sz="2200" spc="-65" dirty="0">
                <a:latin typeface="Georgia"/>
                <a:cs typeface="Georgia"/>
              </a:rPr>
              <a:t> </a:t>
            </a:r>
            <a:r>
              <a:rPr sz="2200" dirty="0">
                <a:latin typeface="Georgia"/>
                <a:cs typeface="Georgia"/>
              </a:rPr>
              <a:t>trigger</a:t>
            </a:r>
            <a:r>
              <a:rPr sz="2200" spc="-50" dirty="0">
                <a:latin typeface="Georgia"/>
                <a:cs typeface="Georgia"/>
              </a:rPr>
              <a:t> </a:t>
            </a:r>
            <a:r>
              <a:rPr sz="2200" dirty="0">
                <a:latin typeface="Georgia"/>
                <a:cs typeface="Georgia"/>
              </a:rPr>
              <a:t>Flip</a:t>
            </a:r>
            <a:r>
              <a:rPr sz="2200" spc="-55" dirty="0">
                <a:latin typeface="Georgia"/>
                <a:cs typeface="Georgia"/>
              </a:rPr>
              <a:t> </a:t>
            </a:r>
            <a:r>
              <a:rPr sz="2200" spc="-20" dirty="0">
                <a:latin typeface="Georgia"/>
                <a:cs typeface="Georgia"/>
              </a:rPr>
              <a:t>Flop</a:t>
            </a:r>
            <a:endParaRPr sz="2200">
              <a:latin typeface="Georgia"/>
              <a:cs typeface="Georgia"/>
            </a:endParaRPr>
          </a:p>
        </p:txBody>
      </p:sp>
      <p:grpSp>
        <p:nvGrpSpPr>
          <p:cNvPr id="4" name="object 4"/>
          <p:cNvGrpSpPr/>
          <p:nvPr/>
        </p:nvGrpSpPr>
        <p:grpSpPr>
          <a:xfrm>
            <a:off x="496823" y="1606296"/>
            <a:ext cx="5722620" cy="1659889"/>
            <a:chOff x="496823" y="1606296"/>
            <a:chExt cx="5722620" cy="1659889"/>
          </a:xfrm>
        </p:grpSpPr>
        <p:pic>
          <p:nvPicPr>
            <p:cNvPr id="5" name="object 5"/>
            <p:cNvPicPr/>
            <p:nvPr/>
          </p:nvPicPr>
          <p:blipFill>
            <a:blip r:embed="rId4" cstate="print"/>
            <a:stretch>
              <a:fillRect/>
            </a:stretch>
          </p:blipFill>
          <p:spPr>
            <a:xfrm>
              <a:off x="1830323" y="1620012"/>
              <a:ext cx="4389120" cy="1645919"/>
            </a:xfrm>
            <a:prstGeom prst="rect">
              <a:avLst/>
            </a:prstGeom>
          </p:spPr>
        </p:pic>
        <p:pic>
          <p:nvPicPr>
            <p:cNvPr id="6" name="object 6"/>
            <p:cNvPicPr/>
            <p:nvPr/>
          </p:nvPicPr>
          <p:blipFill>
            <a:blip r:embed="rId5" cstate="print"/>
            <a:stretch>
              <a:fillRect/>
            </a:stretch>
          </p:blipFill>
          <p:spPr>
            <a:xfrm>
              <a:off x="496823" y="1606296"/>
              <a:ext cx="964691" cy="640079"/>
            </a:xfrm>
            <a:prstGeom prst="rect">
              <a:avLst/>
            </a:prstGeom>
          </p:spPr>
        </p:pic>
      </p:grpSp>
      <p:sp>
        <p:nvSpPr>
          <p:cNvPr id="7" name="object 7"/>
          <p:cNvSpPr txBox="1"/>
          <p:nvPr/>
        </p:nvSpPr>
        <p:spPr>
          <a:xfrm>
            <a:off x="2104644" y="3425952"/>
            <a:ext cx="3970020" cy="414655"/>
          </a:xfrm>
          <a:prstGeom prst="rect">
            <a:avLst/>
          </a:prstGeom>
          <a:solidFill>
            <a:srgbClr val="FFFFFF"/>
          </a:solidFill>
          <a:ln w="9144">
            <a:solidFill>
              <a:srgbClr val="3E762B"/>
            </a:solidFill>
          </a:ln>
        </p:spPr>
        <p:txBody>
          <a:bodyPr vert="horz" wrap="square" lIns="0" tIns="18415" rIns="0" bIns="0" rtlCol="0">
            <a:spAutoFit/>
          </a:bodyPr>
          <a:lstStyle/>
          <a:p>
            <a:pPr marL="45720">
              <a:lnSpc>
                <a:spcPct val="100000"/>
              </a:lnSpc>
              <a:spcBef>
                <a:spcPts val="145"/>
              </a:spcBef>
            </a:pPr>
            <a:r>
              <a:rPr sz="1200" b="1" dirty="0">
                <a:latin typeface="Times New Roman"/>
                <a:cs typeface="Times New Roman"/>
              </a:rPr>
              <a:t>Number</a:t>
            </a:r>
            <a:r>
              <a:rPr sz="1200" b="1" spc="-25" dirty="0">
                <a:latin typeface="Times New Roman"/>
                <a:cs typeface="Times New Roman"/>
              </a:rPr>
              <a:t> </a:t>
            </a:r>
            <a:r>
              <a:rPr sz="1200" b="1" dirty="0">
                <a:latin typeface="Times New Roman"/>
                <a:cs typeface="Times New Roman"/>
              </a:rPr>
              <a:t>of</a:t>
            </a:r>
            <a:r>
              <a:rPr sz="1200" b="1" spc="-15" dirty="0">
                <a:latin typeface="Times New Roman"/>
                <a:cs typeface="Times New Roman"/>
              </a:rPr>
              <a:t> </a:t>
            </a:r>
            <a:r>
              <a:rPr sz="1200" b="1" dirty="0">
                <a:latin typeface="Times New Roman"/>
                <a:cs typeface="Times New Roman"/>
              </a:rPr>
              <a:t>transistors</a:t>
            </a:r>
            <a:r>
              <a:rPr sz="1200" b="1" spc="-5" dirty="0">
                <a:latin typeface="Times New Roman"/>
                <a:cs typeface="Times New Roman"/>
              </a:rPr>
              <a:t> </a:t>
            </a:r>
            <a:r>
              <a:rPr sz="1200" b="1" dirty="0">
                <a:latin typeface="Times New Roman"/>
                <a:cs typeface="Times New Roman"/>
              </a:rPr>
              <a:t>=</a:t>
            </a:r>
            <a:r>
              <a:rPr sz="1200" b="1" spc="-10" dirty="0">
                <a:latin typeface="Times New Roman"/>
                <a:cs typeface="Times New Roman"/>
              </a:rPr>
              <a:t> </a:t>
            </a:r>
            <a:r>
              <a:rPr sz="1200" b="1" dirty="0">
                <a:latin typeface="Times New Roman"/>
                <a:cs typeface="Times New Roman"/>
              </a:rPr>
              <a:t>8</a:t>
            </a:r>
            <a:r>
              <a:rPr sz="1200" b="1" spc="-10" dirty="0">
                <a:latin typeface="Times New Roman"/>
                <a:cs typeface="Times New Roman"/>
              </a:rPr>
              <a:t> </a:t>
            </a:r>
            <a:r>
              <a:rPr sz="1200" b="1" dirty="0">
                <a:latin typeface="Times New Roman"/>
                <a:cs typeface="Times New Roman"/>
              </a:rPr>
              <a:t>NAND</a:t>
            </a:r>
            <a:r>
              <a:rPr sz="1200" b="1" spc="-5" dirty="0">
                <a:latin typeface="Times New Roman"/>
                <a:cs typeface="Times New Roman"/>
              </a:rPr>
              <a:t> </a:t>
            </a:r>
            <a:r>
              <a:rPr sz="1200" b="1" dirty="0">
                <a:latin typeface="Times New Roman"/>
                <a:cs typeface="Times New Roman"/>
              </a:rPr>
              <a:t>gate</a:t>
            </a:r>
            <a:r>
              <a:rPr sz="1200" b="1" spc="-10" dirty="0">
                <a:latin typeface="Times New Roman"/>
                <a:cs typeface="Times New Roman"/>
              </a:rPr>
              <a:t> </a:t>
            </a:r>
            <a:r>
              <a:rPr sz="1200" b="1" dirty="0">
                <a:latin typeface="Times New Roman"/>
                <a:cs typeface="Times New Roman"/>
              </a:rPr>
              <a:t>*4</a:t>
            </a:r>
            <a:r>
              <a:rPr sz="1200" b="1" spc="-10" dirty="0">
                <a:latin typeface="Times New Roman"/>
                <a:cs typeface="Times New Roman"/>
              </a:rPr>
              <a:t> </a:t>
            </a:r>
            <a:r>
              <a:rPr sz="1200" b="1" dirty="0">
                <a:latin typeface="Times New Roman"/>
                <a:cs typeface="Times New Roman"/>
              </a:rPr>
              <a:t>+</a:t>
            </a:r>
            <a:r>
              <a:rPr sz="1200" b="1" spc="-15" dirty="0">
                <a:latin typeface="Times New Roman"/>
                <a:cs typeface="Times New Roman"/>
              </a:rPr>
              <a:t> </a:t>
            </a:r>
            <a:r>
              <a:rPr sz="1200" b="1" dirty="0">
                <a:latin typeface="Times New Roman"/>
                <a:cs typeface="Times New Roman"/>
              </a:rPr>
              <a:t>4</a:t>
            </a:r>
            <a:r>
              <a:rPr sz="1200" b="1" spc="-10" dirty="0">
                <a:latin typeface="Times New Roman"/>
                <a:cs typeface="Times New Roman"/>
              </a:rPr>
              <a:t> </a:t>
            </a:r>
            <a:r>
              <a:rPr sz="1200" b="1" dirty="0">
                <a:latin typeface="Times New Roman"/>
                <a:cs typeface="Times New Roman"/>
              </a:rPr>
              <a:t>NOT</a:t>
            </a:r>
            <a:r>
              <a:rPr sz="1200" b="1" spc="-30" dirty="0">
                <a:latin typeface="Times New Roman"/>
                <a:cs typeface="Times New Roman"/>
              </a:rPr>
              <a:t> </a:t>
            </a:r>
            <a:r>
              <a:rPr sz="1200" b="1" dirty="0">
                <a:latin typeface="Times New Roman"/>
                <a:cs typeface="Times New Roman"/>
              </a:rPr>
              <a:t>gate</a:t>
            </a:r>
            <a:r>
              <a:rPr sz="1200" b="1" spc="-25" dirty="0">
                <a:latin typeface="Times New Roman"/>
                <a:cs typeface="Times New Roman"/>
              </a:rPr>
              <a:t> </a:t>
            </a:r>
            <a:r>
              <a:rPr sz="1200" b="1" dirty="0">
                <a:latin typeface="Times New Roman"/>
                <a:cs typeface="Times New Roman"/>
              </a:rPr>
              <a:t>*</a:t>
            </a:r>
            <a:r>
              <a:rPr sz="1200" b="1" spc="-10" dirty="0">
                <a:latin typeface="Times New Roman"/>
                <a:cs typeface="Times New Roman"/>
              </a:rPr>
              <a:t> </a:t>
            </a:r>
            <a:r>
              <a:rPr sz="1200" b="1" spc="-50" dirty="0">
                <a:latin typeface="Times New Roman"/>
                <a:cs typeface="Times New Roman"/>
              </a:rPr>
              <a:t>2</a:t>
            </a:r>
            <a:endParaRPr sz="1200">
              <a:latin typeface="Times New Roman"/>
              <a:cs typeface="Times New Roman"/>
            </a:endParaRPr>
          </a:p>
          <a:p>
            <a:pPr marL="1570355">
              <a:lnSpc>
                <a:spcPct val="100000"/>
              </a:lnSpc>
            </a:pPr>
            <a:r>
              <a:rPr sz="1200" b="1" dirty="0">
                <a:latin typeface="Times New Roman"/>
                <a:cs typeface="Times New Roman"/>
              </a:rPr>
              <a:t>=</a:t>
            </a:r>
            <a:r>
              <a:rPr sz="1200" b="1" spc="-15" dirty="0">
                <a:latin typeface="Times New Roman"/>
                <a:cs typeface="Times New Roman"/>
              </a:rPr>
              <a:t> </a:t>
            </a:r>
            <a:r>
              <a:rPr sz="1200" b="1" dirty="0">
                <a:latin typeface="Times New Roman"/>
                <a:cs typeface="Times New Roman"/>
              </a:rPr>
              <a:t>40</a:t>
            </a:r>
            <a:r>
              <a:rPr sz="1200" b="1" spc="-10" dirty="0">
                <a:latin typeface="Times New Roman"/>
                <a:cs typeface="Times New Roman"/>
              </a:rPr>
              <a:t> </a:t>
            </a:r>
            <a:r>
              <a:rPr sz="1200" b="1" dirty="0">
                <a:latin typeface="Times New Roman"/>
                <a:cs typeface="Times New Roman"/>
              </a:rPr>
              <a:t>transistor</a:t>
            </a:r>
            <a:r>
              <a:rPr sz="1200" b="1" spc="-40" dirty="0">
                <a:latin typeface="Times New Roman"/>
                <a:cs typeface="Times New Roman"/>
              </a:rPr>
              <a:t> </a:t>
            </a:r>
            <a:r>
              <a:rPr sz="1200" b="1" dirty="0">
                <a:latin typeface="Times New Roman"/>
                <a:cs typeface="Times New Roman"/>
              </a:rPr>
              <a:t>/</a:t>
            </a:r>
            <a:r>
              <a:rPr sz="1200" b="1" spc="-20" dirty="0">
                <a:latin typeface="Times New Roman"/>
                <a:cs typeface="Times New Roman"/>
              </a:rPr>
              <a:t> </a:t>
            </a:r>
            <a:r>
              <a:rPr sz="1200" b="1" spc="-25" dirty="0">
                <a:latin typeface="Times New Roman"/>
                <a:cs typeface="Times New Roman"/>
              </a:rPr>
              <a:t>bit</a:t>
            </a:r>
            <a:endParaRPr sz="1200">
              <a:latin typeface="Times New Roman"/>
              <a:cs typeface="Times New Roman"/>
            </a:endParaRPr>
          </a:p>
        </p:txBody>
      </p:sp>
      <p:grpSp>
        <p:nvGrpSpPr>
          <p:cNvPr id="8" name="object 8"/>
          <p:cNvGrpSpPr/>
          <p:nvPr/>
        </p:nvGrpSpPr>
        <p:grpSpPr>
          <a:xfrm>
            <a:off x="381000" y="4844796"/>
            <a:ext cx="6096000" cy="3429000"/>
            <a:chOff x="381000" y="4844796"/>
            <a:chExt cx="6096000" cy="3429000"/>
          </a:xfrm>
        </p:grpSpPr>
        <p:sp>
          <p:nvSpPr>
            <p:cNvPr id="9" name="object 9"/>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10" name="object 10"/>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11" name="object 11"/>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pic>
          <p:nvPicPr>
            <p:cNvPr id="12" name="object 12"/>
            <p:cNvPicPr/>
            <p:nvPr/>
          </p:nvPicPr>
          <p:blipFill>
            <a:blip r:embed="rId6" cstate="print"/>
            <a:stretch>
              <a:fillRect/>
            </a:stretch>
          </p:blipFill>
          <p:spPr>
            <a:xfrm>
              <a:off x="4326635" y="5526024"/>
              <a:ext cx="1965960" cy="1040892"/>
            </a:xfrm>
            <a:prstGeom prst="rect">
              <a:avLst/>
            </a:prstGeom>
          </p:spPr>
        </p:pic>
      </p:grpSp>
      <p:sp>
        <p:nvSpPr>
          <p:cNvPr id="13" name="object 13"/>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Static</a:t>
            </a:r>
            <a:r>
              <a:rPr sz="2200" spc="-60" dirty="0">
                <a:latin typeface="Georgia"/>
                <a:cs typeface="Georgia"/>
              </a:rPr>
              <a:t> </a:t>
            </a:r>
            <a:r>
              <a:rPr sz="2200" dirty="0">
                <a:latin typeface="Georgia"/>
                <a:cs typeface="Georgia"/>
              </a:rPr>
              <a:t>RAM</a:t>
            </a:r>
            <a:r>
              <a:rPr sz="2200" spc="-55" dirty="0">
                <a:latin typeface="Georgia"/>
                <a:cs typeface="Georgia"/>
              </a:rPr>
              <a:t> </a:t>
            </a:r>
            <a:r>
              <a:rPr sz="2200" dirty="0">
                <a:latin typeface="Georgia"/>
                <a:cs typeface="Georgia"/>
              </a:rPr>
              <a:t>(SRAM)</a:t>
            </a:r>
            <a:r>
              <a:rPr sz="2200" spc="-65" dirty="0">
                <a:latin typeface="Georgia"/>
                <a:cs typeface="Georgia"/>
              </a:rPr>
              <a:t> </a:t>
            </a:r>
            <a:r>
              <a:rPr sz="2200" dirty="0">
                <a:latin typeface="Georgia"/>
                <a:cs typeface="Georgia"/>
              </a:rPr>
              <a:t>Basic</a:t>
            </a:r>
            <a:r>
              <a:rPr sz="2200" spc="-55" dirty="0">
                <a:latin typeface="Georgia"/>
                <a:cs typeface="Georgia"/>
              </a:rPr>
              <a:t> </a:t>
            </a:r>
            <a:r>
              <a:rPr sz="2200" spc="-20" dirty="0">
                <a:latin typeface="Georgia"/>
                <a:cs typeface="Georgia"/>
              </a:rPr>
              <a:t>Cell</a:t>
            </a:r>
            <a:endParaRPr sz="2200" dirty="0">
              <a:latin typeface="Georgia"/>
              <a:cs typeface="Georgia"/>
            </a:endParaRPr>
          </a:p>
          <a:p>
            <a:pPr marL="431800" indent="-169545">
              <a:lnSpc>
                <a:spcPct val="100000"/>
              </a:lnSpc>
              <a:spcBef>
                <a:spcPts val="915"/>
              </a:spcBef>
              <a:buFont typeface="Wingdings"/>
              <a:buChar char=""/>
              <a:tabLst>
                <a:tab pos="431800" algn="l"/>
              </a:tabLst>
            </a:pPr>
            <a:r>
              <a:rPr sz="1200" b="1" dirty="0">
                <a:solidFill>
                  <a:srgbClr val="3E762B"/>
                </a:solidFill>
                <a:latin typeface="Times New Roman"/>
                <a:cs typeface="Times New Roman"/>
              </a:rPr>
              <a:t>6</a:t>
            </a:r>
            <a:r>
              <a:rPr sz="1200" b="1" spc="-35" dirty="0">
                <a:solidFill>
                  <a:srgbClr val="3E762B"/>
                </a:solidFill>
                <a:latin typeface="Times New Roman"/>
                <a:cs typeface="Times New Roman"/>
              </a:rPr>
              <a:t> </a:t>
            </a:r>
            <a:r>
              <a:rPr sz="1200" b="1" spc="-10" dirty="0">
                <a:solidFill>
                  <a:srgbClr val="3E762B"/>
                </a:solidFill>
                <a:latin typeface="Times New Roman"/>
                <a:cs typeface="Times New Roman"/>
              </a:rPr>
              <a:t>Transistor</a:t>
            </a:r>
            <a:r>
              <a:rPr sz="1200" b="1" spc="-45" dirty="0">
                <a:solidFill>
                  <a:srgbClr val="3E762B"/>
                </a:solidFill>
                <a:latin typeface="Times New Roman"/>
                <a:cs typeface="Times New Roman"/>
              </a:rPr>
              <a:t> </a:t>
            </a:r>
            <a:r>
              <a:rPr sz="1200" b="1" dirty="0">
                <a:solidFill>
                  <a:srgbClr val="3E762B"/>
                </a:solidFill>
                <a:latin typeface="Times New Roman"/>
                <a:cs typeface="Times New Roman"/>
              </a:rPr>
              <a:t>SRAM</a:t>
            </a:r>
            <a:r>
              <a:rPr sz="1200" b="1" spc="-5" dirty="0">
                <a:solidFill>
                  <a:srgbClr val="3E762B"/>
                </a:solidFill>
                <a:latin typeface="Times New Roman"/>
                <a:cs typeface="Times New Roman"/>
              </a:rPr>
              <a:t> </a:t>
            </a:r>
            <a:r>
              <a:rPr sz="1200" b="1" spc="-20" dirty="0">
                <a:solidFill>
                  <a:srgbClr val="3E762B"/>
                </a:solidFill>
                <a:latin typeface="Times New Roman"/>
                <a:cs typeface="Times New Roman"/>
              </a:rPr>
              <a:t>cell</a:t>
            </a:r>
            <a:endParaRPr sz="1200" dirty="0">
              <a:latin typeface="Times New Roman"/>
              <a:cs typeface="Times New Roman"/>
            </a:endParaRPr>
          </a:p>
          <a:p>
            <a:pPr>
              <a:lnSpc>
                <a:spcPct val="100000"/>
              </a:lnSpc>
              <a:buFont typeface="Wingdings"/>
              <a:buChar char=""/>
            </a:pPr>
            <a:endParaRPr sz="1200" dirty="0">
              <a:latin typeface="Times New Roman"/>
              <a:cs typeface="Times New Roman"/>
            </a:endParaRPr>
          </a:p>
          <a:p>
            <a:pPr>
              <a:lnSpc>
                <a:spcPct val="100000"/>
              </a:lnSpc>
              <a:buFont typeface="Wingdings"/>
              <a:buChar char=""/>
            </a:pPr>
            <a:endParaRPr sz="1200" dirty="0">
              <a:latin typeface="Times New Roman"/>
              <a:cs typeface="Times New Roman"/>
            </a:endParaRPr>
          </a:p>
          <a:p>
            <a:pPr>
              <a:lnSpc>
                <a:spcPct val="100000"/>
              </a:lnSpc>
              <a:spcBef>
                <a:spcPts val="1165"/>
              </a:spcBef>
              <a:buFont typeface="Wingdings"/>
              <a:buChar char=""/>
            </a:pPr>
            <a:endParaRPr sz="1200" dirty="0">
              <a:latin typeface="Times New Roman"/>
              <a:cs typeface="Times New Roman"/>
            </a:endParaRPr>
          </a:p>
          <a:p>
            <a:pPr marL="403860" indent="-141605">
              <a:lnSpc>
                <a:spcPct val="100000"/>
              </a:lnSpc>
              <a:buClr>
                <a:srgbClr val="3E762B"/>
              </a:buClr>
              <a:buFont typeface="Wingdings"/>
              <a:buChar char=""/>
              <a:tabLst>
                <a:tab pos="403860" algn="l"/>
              </a:tabLst>
            </a:pPr>
            <a:r>
              <a:rPr sz="1100" b="1" spc="-10" dirty="0">
                <a:latin typeface="Times New Roman"/>
                <a:cs typeface="Times New Roman"/>
              </a:rPr>
              <a:t>Standby:</a:t>
            </a:r>
            <a:endParaRPr sz="1100" dirty="0">
              <a:latin typeface="Times New Roman"/>
              <a:cs typeface="Times New Roman"/>
            </a:endParaRPr>
          </a:p>
          <a:p>
            <a:pPr marL="490855">
              <a:lnSpc>
                <a:spcPct val="100000"/>
              </a:lnSpc>
              <a:spcBef>
                <a:spcPts val="355"/>
              </a:spcBef>
            </a:pPr>
            <a:r>
              <a:rPr sz="1000" dirty="0">
                <a:latin typeface="Times New Roman"/>
                <a:cs typeface="Times New Roman"/>
              </a:rPr>
              <a:t>If</a:t>
            </a:r>
            <a:r>
              <a:rPr sz="1000" spc="-30" dirty="0">
                <a:latin typeface="Times New Roman"/>
                <a:cs typeface="Times New Roman"/>
              </a:rPr>
              <a:t> </a:t>
            </a:r>
            <a:r>
              <a:rPr sz="1000" dirty="0">
                <a:latin typeface="Times New Roman"/>
                <a:cs typeface="Times New Roman"/>
              </a:rPr>
              <a:t>the</a:t>
            </a:r>
            <a:r>
              <a:rPr sz="1000" spc="-20" dirty="0">
                <a:latin typeface="Times New Roman"/>
                <a:cs typeface="Times New Roman"/>
              </a:rPr>
              <a:t> </a:t>
            </a:r>
            <a:r>
              <a:rPr sz="1000" dirty="0">
                <a:latin typeface="Times New Roman"/>
                <a:cs typeface="Times New Roman"/>
              </a:rPr>
              <a:t>word</a:t>
            </a:r>
            <a:r>
              <a:rPr sz="1000" spc="5" dirty="0">
                <a:latin typeface="Times New Roman"/>
                <a:cs typeface="Times New Roman"/>
              </a:rPr>
              <a:t> </a:t>
            </a:r>
            <a:r>
              <a:rPr sz="1000" dirty="0">
                <a:latin typeface="Times New Roman"/>
                <a:cs typeface="Times New Roman"/>
              </a:rPr>
              <a:t>line</a:t>
            </a:r>
            <a:r>
              <a:rPr sz="1000" spc="-20" dirty="0">
                <a:latin typeface="Times New Roman"/>
                <a:cs typeface="Times New Roman"/>
              </a:rPr>
              <a:t> </a:t>
            </a:r>
            <a:r>
              <a:rPr sz="1000" dirty="0">
                <a:latin typeface="Times New Roman"/>
                <a:cs typeface="Times New Roman"/>
              </a:rPr>
              <a:t>=</a:t>
            </a:r>
            <a:r>
              <a:rPr sz="1000" spc="-20" dirty="0">
                <a:latin typeface="Times New Roman"/>
                <a:cs typeface="Times New Roman"/>
              </a:rPr>
              <a:t> </a:t>
            </a:r>
            <a:r>
              <a:rPr sz="1000" dirty="0">
                <a:latin typeface="Times New Roman"/>
                <a:cs typeface="Times New Roman"/>
              </a:rPr>
              <a:t>0</a:t>
            </a:r>
            <a:r>
              <a:rPr sz="1000" spc="-20" dirty="0">
                <a:latin typeface="Times New Roman"/>
                <a:cs typeface="Times New Roman"/>
              </a:rPr>
              <a:t> </a:t>
            </a:r>
            <a:r>
              <a:rPr sz="1000" dirty="0">
                <a:latin typeface="Times New Roman"/>
                <a:cs typeface="Times New Roman"/>
              </a:rPr>
              <a:t>,</a:t>
            </a:r>
            <a:r>
              <a:rPr sz="1000" spc="-20" dirty="0">
                <a:latin typeface="Times New Roman"/>
                <a:cs typeface="Times New Roman"/>
              </a:rPr>
              <a:t> </a:t>
            </a:r>
            <a:r>
              <a:rPr sz="1000" dirty="0">
                <a:latin typeface="Times New Roman"/>
                <a:cs typeface="Times New Roman"/>
              </a:rPr>
              <a:t>the</a:t>
            </a:r>
            <a:r>
              <a:rPr sz="1000" spc="-20" dirty="0">
                <a:latin typeface="Times New Roman"/>
                <a:cs typeface="Times New Roman"/>
              </a:rPr>
              <a:t> </a:t>
            </a:r>
            <a:r>
              <a:rPr sz="1000" dirty="0">
                <a:latin typeface="Times New Roman"/>
                <a:cs typeface="Times New Roman"/>
              </a:rPr>
              <a:t>access</a:t>
            </a:r>
            <a:r>
              <a:rPr sz="1000" spc="-10" dirty="0">
                <a:latin typeface="Times New Roman"/>
                <a:cs typeface="Times New Roman"/>
              </a:rPr>
              <a:t> </a:t>
            </a:r>
            <a:r>
              <a:rPr sz="1000" dirty="0">
                <a:latin typeface="Times New Roman"/>
                <a:cs typeface="Times New Roman"/>
              </a:rPr>
              <a:t>transistors</a:t>
            </a:r>
            <a:r>
              <a:rPr sz="1000" spc="-25" dirty="0">
                <a:latin typeface="Times New Roman"/>
                <a:cs typeface="Times New Roman"/>
              </a:rPr>
              <a:t> </a:t>
            </a:r>
            <a:r>
              <a:rPr sz="1000" spc="-10" dirty="0">
                <a:latin typeface="Times New Roman"/>
                <a:cs typeface="Times New Roman"/>
              </a:rPr>
              <a:t>disconnect</a:t>
            </a:r>
            <a:r>
              <a:rPr sz="1000" spc="-20" dirty="0">
                <a:latin typeface="Times New Roman"/>
                <a:cs typeface="Times New Roman"/>
              </a:rPr>
              <a:t> </a:t>
            </a:r>
            <a:r>
              <a:rPr sz="1000" dirty="0">
                <a:latin typeface="Times New Roman"/>
                <a:cs typeface="Times New Roman"/>
              </a:rPr>
              <a:t>the</a:t>
            </a:r>
            <a:r>
              <a:rPr sz="1000" spc="-20" dirty="0">
                <a:latin typeface="Times New Roman"/>
                <a:cs typeface="Times New Roman"/>
              </a:rPr>
              <a:t> </a:t>
            </a:r>
            <a:r>
              <a:rPr sz="1000" dirty="0">
                <a:latin typeface="Times New Roman"/>
                <a:cs typeface="Times New Roman"/>
              </a:rPr>
              <a:t>cell</a:t>
            </a:r>
            <a:r>
              <a:rPr sz="1000" spc="-25" dirty="0">
                <a:latin typeface="Times New Roman"/>
                <a:cs typeface="Times New Roman"/>
              </a:rPr>
              <a:t> </a:t>
            </a:r>
            <a:r>
              <a:rPr sz="1000" dirty="0">
                <a:latin typeface="Times New Roman"/>
                <a:cs typeface="Times New Roman"/>
              </a:rPr>
              <a:t>from</a:t>
            </a:r>
            <a:r>
              <a:rPr sz="1000" spc="-30" dirty="0">
                <a:latin typeface="Times New Roman"/>
                <a:cs typeface="Times New Roman"/>
              </a:rPr>
              <a:t> </a:t>
            </a:r>
            <a:r>
              <a:rPr sz="1000" dirty="0">
                <a:latin typeface="Times New Roman"/>
                <a:cs typeface="Times New Roman"/>
              </a:rPr>
              <a:t>the</a:t>
            </a:r>
            <a:r>
              <a:rPr sz="1000" spc="-10" dirty="0">
                <a:latin typeface="Times New Roman"/>
                <a:cs typeface="Times New Roman"/>
              </a:rPr>
              <a:t> </a:t>
            </a:r>
            <a:r>
              <a:rPr sz="1000" dirty="0">
                <a:latin typeface="Times New Roman"/>
                <a:cs typeface="Times New Roman"/>
              </a:rPr>
              <a:t>bit</a:t>
            </a:r>
            <a:r>
              <a:rPr sz="1000" spc="-30" dirty="0">
                <a:latin typeface="Times New Roman"/>
                <a:cs typeface="Times New Roman"/>
              </a:rPr>
              <a:t> </a:t>
            </a:r>
            <a:r>
              <a:rPr sz="1000" spc="-10" dirty="0">
                <a:latin typeface="Times New Roman"/>
                <a:cs typeface="Times New Roman"/>
              </a:rPr>
              <a:t>lines.</a:t>
            </a:r>
            <a:endParaRPr sz="1000" dirty="0">
              <a:latin typeface="Times New Roman"/>
              <a:cs typeface="Times New Roman"/>
            </a:endParaRPr>
          </a:p>
          <a:p>
            <a:pPr marL="490855">
              <a:lnSpc>
                <a:spcPct val="100000"/>
              </a:lnSpc>
              <a:spcBef>
                <a:spcPts val="360"/>
              </a:spcBef>
            </a:pPr>
            <a:r>
              <a:rPr sz="1000" dirty="0">
                <a:latin typeface="Times New Roman"/>
                <a:cs typeface="Times New Roman"/>
              </a:rPr>
              <a:t>The</a:t>
            </a:r>
            <a:r>
              <a:rPr sz="1000" spc="-20" dirty="0">
                <a:latin typeface="Times New Roman"/>
                <a:cs typeface="Times New Roman"/>
              </a:rPr>
              <a:t> </a:t>
            </a:r>
            <a:r>
              <a:rPr sz="1000" dirty="0">
                <a:latin typeface="Times New Roman"/>
                <a:cs typeface="Times New Roman"/>
              </a:rPr>
              <a:t>two</a:t>
            </a:r>
            <a:r>
              <a:rPr sz="1000" spc="-10" dirty="0">
                <a:latin typeface="Times New Roman"/>
                <a:cs typeface="Times New Roman"/>
              </a:rPr>
              <a:t> cross-</a:t>
            </a:r>
            <a:r>
              <a:rPr sz="1000" dirty="0">
                <a:latin typeface="Times New Roman"/>
                <a:cs typeface="Times New Roman"/>
              </a:rPr>
              <a:t>coupled</a:t>
            </a:r>
            <a:r>
              <a:rPr sz="1000" spc="-15" dirty="0">
                <a:latin typeface="Times New Roman"/>
                <a:cs typeface="Times New Roman"/>
              </a:rPr>
              <a:t> </a:t>
            </a:r>
            <a:r>
              <a:rPr sz="1000" dirty="0">
                <a:latin typeface="Times New Roman"/>
                <a:cs typeface="Times New Roman"/>
              </a:rPr>
              <a:t>inverters</a:t>
            </a:r>
            <a:r>
              <a:rPr sz="1000" spc="-10" dirty="0">
                <a:latin typeface="Times New Roman"/>
                <a:cs typeface="Times New Roman"/>
              </a:rPr>
              <a:t> reinforce</a:t>
            </a:r>
            <a:r>
              <a:rPr sz="1000" spc="-30" dirty="0">
                <a:latin typeface="Times New Roman"/>
                <a:cs typeface="Times New Roman"/>
              </a:rPr>
              <a:t> </a:t>
            </a:r>
            <a:r>
              <a:rPr sz="1000" dirty="0">
                <a:latin typeface="Times New Roman"/>
                <a:cs typeface="Times New Roman"/>
              </a:rPr>
              <a:t>each</a:t>
            </a:r>
            <a:r>
              <a:rPr sz="1000" spc="-15" dirty="0">
                <a:latin typeface="Times New Roman"/>
                <a:cs typeface="Times New Roman"/>
              </a:rPr>
              <a:t> </a:t>
            </a:r>
            <a:r>
              <a:rPr sz="1000" dirty="0">
                <a:latin typeface="Times New Roman"/>
                <a:cs typeface="Times New Roman"/>
              </a:rPr>
              <a:t>other</a:t>
            </a:r>
            <a:r>
              <a:rPr sz="1000" spc="-15" dirty="0">
                <a:latin typeface="Times New Roman"/>
                <a:cs typeface="Times New Roman"/>
              </a:rPr>
              <a:t> </a:t>
            </a:r>
            <a:r>
              <a:rPr sz="1000" dirty="0">
                <a:latin typeface="Times New Roman"/>
                <a:cs typeface="Times New Roman"/>
              </a:rPr>
              <a:t>as</a:t>
            </a:r>
            <a:r>
              <a:rPr sz="1000" spc="-25" dirty="0">
                <a:latin typeface="Times New Roman"/>
                <a:cs typeface="Times New Roman"/>
              </a:rPr>
              <a:t> </a:t>
            </a:r>
            <a:r>
              <a:rPr sz="1000" dirty="0">
                <a:latin typeface="Times New Roman"/>
                <a:cs typeface="Times New Roman"/>
              </a:rPr>
              <a:t>long</a:t>
            </a:r>
            <a:r>
              <a:rPr sz="1000" spc="-20" dirty="0">
                <a:latin typeface="Times New Roman"/>
                <a:cs typeface="Times New Roman"/>
              </a:rPr>
              <a:t> </a:t>
            </a:r>
            <a:r>
              <a:rPr sz="1000" dirty="0">
                <a:latin typeface="Times New Roman"/>
                <a:cs typeface="Times New Roman"/>
              </a:rPr>
              <a:t>as</a:t>
            </a:r>
            <a:r>
              <a:rPr sz="1000" spc="-15" dirty="0">
                <a:latin typeface="Times New Roman"/>
                <a:cs typeface="Times New Roman"/>
              </a:rPr>
              <a:t> </a:t>
            </a:r>
            <a:r>
              <a:rPr sz="1000" dirty="0">
                <a:latin typeface="Times New Roman"/>
                <a:cs typeface="Times New Roman"/>
              </a:rPr>
              <a:t>they</a:t>
            </a:r>
            <a:r>
              <a:rPr sz="1000" spc="-15" dirty="0">
                <a:latin typeface="Times New Roman"/>
                <a:cs typeface="Times New Roman"/>
              </a:rPr>
              <a:t> </a:t>
            </a:r>
            <a:r>
              <a:rPr sz="1000" dirty="0">
                <a:latin typeface="Times New Roman"/>
                <a:cs typeface="Times New Roman"/>
              </a:rPr>
              <a:t>are</a:t>
            </a:r>
            <a:r>
              <a:rPr sz="1000" spc="-25" dirty="0">
                <a:latin typeface="Times New Roman"/>
                <a:cs typeface="Times New Roman"/>
              </a:rPr>
              <a:t> </a:t>
            </a:r>
            <a:r>
              <a:rPr sz="1000" spc="-10" dirty="0">
                <a:latin typeface="Times New Roman"/>
                <a:cs typeface="Times New Roman"/>
              </a:rPr>
              <a:t>connected</a:t>
            </a:r>
            <a:r>
              <a:rPr sz="1000" spc="-15" dirty="0">
                <a:latin typeface="Times New Roman"/>
                <a:cs typeface="Times New Roman"/>
              </a:rPr>
              <a:t> </a:t>
            </a:r>
            <a:r>
              <a:rPr sz="1000" dirty="0">
                <a:latin typeface="Times New Roman"/>
                <a:cs typeface="Times New Roman"/>
              </a:rPr>
              <a:t>to</a:t>
            </a:r>
            <a:r>
              <a:rPr sz="1000" spc="-15" dirty="0">
                <a:latin typeface="Times New Roman"/>
                <a:cs typeface="Times New Roman"/>
              </a:rPr>
              <a:t> </a:t>
            </a:r>
            <a:r>
              <a:rPr sz="1000" dirty="0">
                <a:latin typeface="Times New Roman"/>
                <a:cs typeface="Times New Roman"/>
              </a:rPr>
              <a:t>the</a:t>
            </a:r>
            <a:r>
              <a:rPr sz="1000" spc="-20" dirty="0">
                <a:latin typeface="Times New Roman"/>
                <a:cs typeface="Times New Roman"/>
              </a:rPr>
              <a:t> </a:t>
            </a:r>
            <a:r>
              <a:rPr sz="1000" spc="-10" dirty="0">
                <a:latin typeface="Times New Roman"/>
                <a:cs typeface="Times New Roman"/>
              </a:rPr>
              <a:t>supply.</a:t>
            </a:r>
            <a:endParaRPr sz="1000" dirty="0">
              <a:latin typeface="Times New Roman"/>
              <a:cs typeface="Times New Roman"/>
            </a:endParaRPr>
          </a:p>
          <a:p>
            <a:pPr marL="403225" indent="-140970">
              <a:lnSpc>
                <a:spcPct val="100000"/>
              </a:lnSpc>
              <a:spcBef>
                <a:spcPts val="345"/>
              </a:spcBef>
              <a:buClr>
                <a:srgbClr val="3E762B"/>
              </a:buClr>
              <a:buFont typeface="Wingdings"/>
              <a:buChar char=""/>
              <a:tabLst>
                <a:tab pos="403225" algn="l"/>
              </a:tabLst>
            </a:pPr>
            <a:r>
              <a:rPr sz="1100" b="1" spc="-10" dirty="0">
                <a:latin typeface="Times New Roman"/>
                <a:cs typeface="Times New Roman"/>
              </a:rPr>
              <a:t>Reading</a:t>
            </a:r>
            <a:endParaRPr sz="1100" dirty="0">
              <a:latin typeface="Times New Roman"/>
              <a:cs typeface="Times New Roman"/>
            </a:endParaRPr>
          </a:p>
          <a:p>
            <a:pPr marL="490855">
              <a:lnSpc>
                <a:spcPct val="100000"/>
              </a:lnSpc>
              <a:spcBef>
                <a:spcPts val="350"/>
              </a:spcBef>
            </a:pPr>
            <a:r>
              <a:rPr sz="1000" dirty="0">
                <a:latin typeface="Times New Roman"/>
                <a:cs typeface="Times New Roman"/>
              </a:rPr>
              <a:t>Assert</a:t>
            </a:r>
            <a:r>
              <a:rPr sz="1000" spc="-25" dirty="0">
                <a:latin typeface="Times New Roman"/>
                <a:cs typeface="Times New Roman"/>
              </a:rPr>
              <a:t> </a:t>
            </a:r>
            <a:r>
              <a:rPr sz="1000" dirty="0">
                <a:latin typeface="Times New Roman"/>
                <a:cs typeface="Times New Roman"/>
              </a:rPr>
              <a:t>the</a:t>
            </a:r>
            <a:r>
              <a:rPr sz="1000" spc="-10" dirty="0">
                <a:latin typeface="Times New Roman"/>
                <a:cs typeface="Times New Roman"/>
              </a:rPr>
              <a:t> </a:t>
            </a:r>
            <a:r>
              <a:rPr sz="1000" dirty="0">
                <a:latin typeface="Times New Roman"/>
                <a:cs typeface="Times New Roman"/>
              </a:rPr>
              <a:t>word</a:t>
            </a:r>
            <a:r>
              <a:rPr sz="1000" spc="-10" dirty="0">
                <a:latin typeface="Times New Roman"/>
                <a:cs typeface="Times New Roman"/>
              </a:rPr>
              <a:t> </a:t>
            </a:r>
            <a:r>
              <a:rPr sz="1000" dirty="0">
                <a:latin typeface="Times New Roman"/>
                <a:cs typeface="Times New Roman"/>
              </a:rPr>
              <a:t>line</a:t>
            </a:r>
            <a:r>
              <a:rPr sz="1000" spc="-30" dirty="0">
                <a:latin typeface="Times New Roman"/>
                <a:cs typeface="Times New Roman"/>
              </a:rPr>
              <a:t> </a:t>
            </a:r>
            <a:r>
              <a:rPr sz="1000" spc="-10" dirty="0">
                <a:latin typeface="Times New Roman"/>
                <a:cs typeface="Times New Roman"/>
              </a:rPr>
              <a:t>WL</a:t>
            </a:r>
            <a:r>
              <a:rPr sz="1000" spc="-50" dirty="0">
                <a:latin typeface="Times New Roman"/>
                <a:cs typeface="Times New Roman"/>
              </a:rPr>
              <a:t> </a:t>
            </a:r>
            <a:r>
              <a:rPr sz="1000" dirty="0">
                <a:latin typeface="Times New Roman"/>
                <a:cs typeface="Times New Roman"/>
              </a:rPr>
              <a:t>=</a:t>
            </a:r>
            <a:r>
              <a:rPr sz="1000" spc="-20" dirty="0">
                <a:latin typeface="Times New Roman"/>
                <a:cs typeface="Times New Roman"/>
              </a:rPr>
              <a:t> </a:t>
            </a:r>
            <a:r>
              <a:rPr sz="1000" dirty="0">
                <a:latin typeface="Times New Roman"/>
                <a:cs typeface="Times New Roman"/>
              </a:rPr>
              <a:t>1</a:t>
            </a:r>
            <a:r>
              <a:rPr sz="1000" spc="-30" dirty="0">
                <a:latin typeface="Times New Roman"/>
                <a:cs typeface="Times New Roman"/>
              </a:rPr>
              <a:t> </a:t>
            </a:r>
            <a:r>
              <a:rPr sz="1000" dirty="0">
                <a:latin typeface="Times New Roman"/>
                <a:cs typeface="Times New Roman"/>
              </a:rPr>
              <a:t>and</a:t>
            </a:r>
            <a:r>
              <a:rPr sz="1000" spc="-5" dirty="0">
                <a:latin typeface="Times New Roman"/>
                <a:cs typeface="Times New Roman"/>
              </a:rPr>
              <a:t> </a:t>
            </a:r>
            <a:r>
              <a:rPr sz="1000" dirty="0">
                <a:latin typeface="Times New Roman"/>
                <a:cs typeface="Times New Roman"/>
              </a:rPr>
              <a:t>read</a:t>
            </a:r>
            <a:r>
              <a:rPr sz="1000" spc="-25" dirty="0">
                <a:latin typeface="Times New Roman"/>
                <a:cs typeface="Times New Roman"/>
              </a:rPr>
              <a:t> </a:t>
            </a:r>
            <a:r>
              <a:rPr sz="1000" dirty="0">
                <a:latin typeface="Times New Roman"/>
                <a:cs typeface="Times New Roman"/>
              </a:rPr>
              <a:t>the</a:t>
            </a:r>
            <a:r>
              <a:rPr sz="1000" spc="-20" dirty="0">
                <a:latin typeface="Times New Roman"/>
                <a:cs typeface="Times New Roman"/>
              </a:rPr>
              <a:t> </a:t>
            </a:r>
            <a:r>
              <a:rPr sz="1000" dirty="0">
                <a:latin typeface="Times New Roman"/>
                <a:cs typeface="Times New Roman"/>
              </a:rPr>
              <a:t>bit</a:t>
            </a:r>
            <a:r>
              <a:rPr sz="1000" spc="-35" dirty="0">
                <a:latin typeface="Times New Roman"/>
                <a:cs typeface="Times New Roman"/>
              </a:rPr>
              <a:t> </a:t>
            </a:r>
            <a:r>
              <a:rPr sz="1000" spc="-20" dirty="0">
                <a:latin typeface="Times New Roman"/>
                <a:cs typeface="Times New Roman"/>
              </a:rPr>
              <a:t>line.</a:t>
            </a:r>
            <a:endParaRPr sz="1000" dirty="0">
              <a:latin typeface="Times New Roman"/>
              <a:cs typeface="Times New Roman"/>
            </a:endParaRPr>
          </a:p>
          <a:p>
            <a:pPr marL="403225" indent="-140970">
              <a:lnSpc>
                <a:spcPct val="100000"/>
              </a:lnSpc>
              <a:spcBef>
                <a:spcPts val="345"/>
              </a:spcBef>
              <a:buClr>
                <a:srgbClr val="3E762B"/>
              </a:buClr>
              <a:buFont typeface="Wingdings"/>
              <a:buChar char=""/>
              <a:tabLst>
                <a:tab pos="403225" algn="l"/>
              </a:tabLst>
            </a:pPr>
            <a:r>
              <a:rPr sz="1100" b="1" spc="-10" dirty="0">
                <a:latin typeface="Times New Roman"/>
                <a:cs typeface="Times New Roman"/>
              </a:rPr>
              <a:t>Writing</a:t>
            </a:r>
            <a:endParaRPr sz="1100" dirty="0">
              <a:latin typeface="Times New Roman"/>
              <a:cs typeface="Times New Roman"/>
            </a:endParaRPr>
          </a:p>
          <a:p>
            <a:pPr marL="490855">
              <a:lnSpc>
                <a:spcPct val="100000"/>
              </a:lnSpc>
              <a:spcBef>
                <a:spcPts val="355"/>
              </a:spcBef>
            </a:pPr>
            <a:r>
              <a:rPr sz="1000" dirty="0">
                <a:latin typeface="Times New Roman"/>
                <a:cs typeface="Times New Roman"/>
              </a:rPr>
              <a:t>Apply</a:t>
            </a:r>
            <a:r>
              <a:rPr sz="1000" spc="-30" dirty="0">
                <a:latin typeface="Times New Roman"/>
                <a:cs typeface="Times New Roman"/>
              </a:rPr>
              <a:t> </a:t>
            </a:r>
            <a:r>
              <a:rPr sz="1000" dirty="0">
                <a:latin typeface="Times New Roman"/>
                <a:cs typeface="Times New Roman"/>
              </a:rPr>
              <a:t>the</a:t>
            </a:r>
            <a:r>
              <a:rPr sz="1000" spc="-15" dirty="0">
                <a:latin typeface="Times New Roman"/>
                <a:cs typeface="Times New Roman"/>
              </a:rPr>
              <a:t> </a:t>
            </a:r>
            <a:r>
              <a:rPr sz="1000" dirty="0">
                <a:latin typeface="Times New Roman"/>
                <a:cs typeface="Times New Roman"/>
              </a:rPr>
              <a:t>value</a:t>
            </a:r>
            <a:r>
              <a:rPr sz="1000" spc="-15" dirty="0">
                <a:latin typeface="Times New Roman"/>
                <a:cs typeface="Times New Roman"/>
              </a:rPr>
              <a:t> </a:t>
            </a:r>
            <a:r>
              <a:rPr sz="1000" dirty="0">
                <a:latin typeface="Times New Roman"/>
                <a:cs typeface="Times New Roman"/>
              </a:rPr>
              <a:t>to</a:t>
            </a:r>
            <a:r>
              <a:rPr sz="1000" spc="-30" dirty="0">
                <a:latin typeface="Times New Roman"/>
                <a:cs typeface="Times New Roman"/>
              </a:rPr>
              <a:t> </a:t>
            </a:r>
            <a:r>
              <a:rPr sz="1000" dirty="0">
                <a:latin typeface="Times New Roman"/>
                <a:cs typeface="Times New Roman"/>
              </a:rPr>
              <a:t>be</a:t>
            </a:r>
            <a:r>
              <a:rPr sz="1000" spc="-25" dirty="0">
                <a:latin typeface="Times New Roman"/>
                <a:cs typeface="Times New Roman"/>
              </a:rPr>
              <a:t> </a:t>
            </a:r>
            <a:r>
              <a:rPr sz="1000" dirty="0">
                <a:latin typeface="Times New Roman"/>
                <a:cs typeface="Times New Roman"/>
              </a:rPr>
              <a:t>written</a:t>
            </a:r>
            <a:r>
              <a:rPr sz="1000" spc="-5" dirty="0">
                <a:latin typeface="Times New Roman"/>
                <a:cs typeface="Times New Roman"/>
              </a:rPr>
              <a:t> </a:t>
            </a:r>
            <a:r>
              <a:rPr sz="1000" dirty="0">
                <a:latin typeface="Times New Roman"/>
                <a:cs typeface="Times New Roman"/>
              </a:rPr>
              <a:t>to</a:t>
            </a:r>
            <a:r>
              <a:rPr sz="1000" spc="-35" dirty="0">
                <a:latin typeface="Times New Roman"/>
                <a:cs typeface="Times New Roman"/>
              </a:rPr>
              <a:t> </a:t>
            </a:r>
            <a:r>
              <a:rPr sz="1000" dirty="0">
                <a:latin typeface="Times New Roman"/>
                <a:cs typeface="Times New Roman"/>
              </a:rPr>
              <a:t>the</a:t>
            </a:r>
            <a:r>
              <a:rPr sz="1000" spc="-15" dirty="0">
                <a:latin typeface="Times New Roman"/>
                <a:cs typeface="Times New Roman"/>
              </a:rPr>
              <a:t> </a:t>
            </a:r>
            <a:r>
              <a:rPr sz="1000" dirty="0">
                <a:latin typeface="Times New Roman"/>
                <a:cs typeface="Times New Roman"/>
              </a:rPr>
              <a:t>bit</a:t>
            </a:r>
            <a:r>
              <a:rPr sz="1000" spc="-35" dirty="0">
                <a:latin typeface="Times New Roman"/>
                <a:cs typeface="Times New Roman"/>
              </a:rPr>
              <a:t> </a:t>
            </a:r>
            <a:r>
              <a:rPr sz="1000" dirty="0">
                <a:latin typeface="Times New Roman"/>
                <a:cs typeface="Times New Roman"/>
              </a:rPr>
              <a:t>lines.</a:t>
            </a:r>
            <a:r>
              <a:rPr sz="1000" spc="-30" dirty="0">
                <a:latin typeface="Times New Roman"/>
                <a:cs typeface="Times New Roman"/>
              </a:rPr>
              <a:t> </a:t>
            </a:r>
            <a:r>
              <a:rPr sz="1000" spc="-10" dirty="0">
                <a:latin typeface="Times New Roman"/>
                <a:cs typeface="Times New Roman"/>
              </a:rPr>
              <a:t>WL</a:t>
            </a:r>
            <a:r>
              <a:rPr sz="1000" spc="-55" dirty="0">
                <a:latin typeface="Times New Roman"/>
                <a:cs typeface="Times New Roman"/>
              </a:rPr>
              <a:t> </a:t>
            </a:r>
            <a:r>
              <a:rPr sz="1000" dirty="0">
                <a:latin typeface="Times New Roman"/>
                <a:cs typeface="Times New Roman"/>
              </a:rPr>
              <a:t>is</a:t>
            </a:r>
            <a:r>
              <a:rPr sz="1000" spc="-25" dirty="0">
                <a:latin typeface="Times New Roman"/>
                <a:cs typeface="Times New Roman"/>
              </a:rPr>
              <a:t> </a:t>
            </a:r>
            <a:r>
              <a:rPr sz="1000" dirty="0">
                <a:latin typeface="Times New Roman"/>
                <a:cs typeface="Times New Roman"/>
              </a:rPr>
              <a:t>then</a:t>
            </a:r>
            <a:r>
              <a:rPr sz="1000" spc="-20" dirty="0">
                <a:latin typeface="Times New Roman"/>
                <a:cs typeface="Times New Roman"/>
              </a:rPr>
              <a:t> </a:t>
            </a:r>
            <a:r>
              <a:rPr sz="1000" dirty="0">
                <a:latin typeface="Times New Roman"/>
                <a:cs typeface="Times New Roman"/>
              </a:rPr>
              <a:t>asserted</a:t>
            </a:r>
            <a:r>
              <a:rPr sz="1000" spc="-15" dirty="0">
                <a:latin typeface="Times New Roman"/>
                <a:cs typeface="Times New Roman"/>
              </a:rPr>
              <a:t> </a:t>
            </a:r>
            <a:r>
              <a:rPr sz="1000" dirty="0">
                <a:latin typeface="Times New Roman"/>
                <a:cs typeface="Times New Roman"/>
              </a:rPr>
              <a:t>and</a:t>
            </a:r>
            <a:r>
              <a:rPr sz="1000" spc="-20" dirty="0">
                <a:latin typeface="Times New Roman"/>
                <a:cs typeface="Times New Roman"/>
              </a:rPr>
              <a:t> </a:t>
            </a:r>
            <a:r>
              <a:rPr sz="1000" dirty="0">
                <a:latin typeface="Times New Roman"/>
                <a:cs typeface="Times New Roman"/>
              </a:rPr>
              <a:t>the</a:t>
            </a:r>
            <a:r>
              <a:rPr sz="1000" spc="-25" dirty="0">
                <a:latin typeface="Times New Roman"/>
                <a:cs typeface="Times New Roman"/>
              </a:rPr>
              <a:t> </a:t>
            </a:r>
            <a:r>
              <a:rPr sz="1000" dirty="0">
                <a:latin typeface="Times New Roman"/>
                <a:cs typeface="Times New Roman"/>
              </a:rPr>
              <a:t>value is</a:t>
            </a:r>
            <a:r>
              <a:rPr sz="1000" spc="-25" dirty="0">
                <a:latin typeface="Times New Roman"/>
                <a:cs typeface="Times New Roman"/>
              </a:rPr>
              <a:t> </a:t>
            </a:r>
            <a:r>
              <a:rPr sz="1000" dirty="0">
                <a:latin typeface="Times New Roman"/>
                <a:cs typeface="Times New Roman"/>
              </a:rPr>
              <a:t>stored</a:t>
            </a:r>
            <a:r>
              <a:rPr sz="1000" spc="-25" dirty="0">
                <a:latin typeface="Times New Roman"/>
                <a:cs typeface="Times New Roman"/>
              </a:rPr>
              <a:t> </a:t>
            </a:r>
            <a:r>
              <a:rPr sz="1000" dirty="0">
                <a:latin typeface="Times New Roman"/>
                <a:cs typeface="Times New Roman"/>
              </a:rPr>
              <a:t>in</a:t>
            </a:r>
            <a:r>
              <a:rPr sz="1000" spc="-35" dirty="0">
                <a:latin typeface="Times New Roman"/>
                <a:cs typeface="Times New Roman"/>
              </a:rPr>
              <a:t> </a:t>
            </a:r>
            <a:r>
              <a:rPr sz="1000" dirty="0">
                <a:latin typeface="Times New Roman"/>
                <a:cs typeface="Times New Roman"/>
              </a:rPr>
              <a:t>the</a:t>
            </a:r>
            <a:r>
              <a:rPr sz="1000" spc="-20" dirty="0">
                <a:latin typeface="Times New Roman"/>
                <a:cs typeface="Times New Roman"/>
              </a:rPr>
              <a:t> </a:t>
            </a:r>
            <a:r>
              <a:rPr sz="1000" spc="-10" dirty="0">
                <a:latin typeface="Times New Roman"/>
                <a:cs typeface="Times New Roman"/>
              </a:rPr>
              <a:t>cell.</a:t>
            </a:r>
            <a:endParaRPr sz="1000" dirty="0">
              <a:latin typeface="Times New Roman"/>
              <a:cs typeface="Times New Roman"/>
            </a:endParaRPr>
          </a:p>
          <a:p>
            <a:pPr>
              <a:lnSpc>
                <a:spcPct val="100000"/>
              </a:lnSpc>
              <a:spcBef>
                <a:spcPts val="75"/>
              </a:spcBef>
            </a:pPr>
            <a:endParaRPr sz="1000" dirty="0">
              <a:latin typeface="Times New Roman"/>
              <a:cs typeface="Times New Roman"/>
            </a:endParaRPr>
          </a:p>
          <a:p>
            <a:pPr marL="262255">
              <a:lnSpc>
                <a:spcPct val="100000"/>
              </a:lnSpc>
            </a:pPr>
            <a:r>
              <a:rPr sz="900" dirty="0">
                <a:latin typeface="Times New Roman"/>
                <a:cs typeface="Times New Roman"/>
              </a:rPr>
              <a:t>The</a:t>
            </a:r>
            <a:r>
              <a:rPr sz="900" spc="-15" dirty="0">
                <a:latin typeface="Times New Roman"/>
                <a:cs typeface="Times New Roman"/>
              </a:rPr>
              <a:t> </a:t>
            </a:r>
            <a:r>
              <a:rPr sz="900" dirty="0">
                <a:latin typeface="Times New Roman"/>
                <a:cs typeface="Times New Roman"/>
              </a:rPr>
              <a:t>bit</a:t>
            </a:r>
            <a:r>
              <a:rPr sz="900" spc="-20" dirty="0">
                <a:latin typeface="Times New Roman"/>
                <a:cs typeface="Times New Roman"/>
              </a:rPr>
              <a:t> </a:t>
            </a:r>
            <a:r>
              <a:rPr sz="900" dirty="0">
                <a:latin typeface="Times New Roman"/>
                <a:cs typeface="Times New Roman"/>
              </a:rPr>
              <a:t>line</a:t>
            </a:r>
            <a:r>
              <a:rPr sz="900" spc="-15" dirty="0">
                <a:latin typeface="Times New Roman"/>
                <a:cs typeface="Times New Roman"/>
              </a:rPr>
              <a:t> </a:t>
            </a:r>
            <a:r>
              <a:rPr sz="900" dirty="0">
                <a:latin typeface="Times New Roman"/>
                <a:cs typeface="Times New Roman"/>
              </a:rPr>
              <a:t>input-drivers</a:t>
            </a:r>
            <a:r>
              <a:rPr sz="900" spc="-35" dirty="0">
                <a:latin typeface="Times New Roman"/>
                <a:cs typeface="Times New Roman"/>
              </a:rPr>
              <a:t> </a:t>
            </a:r>
            <a:r>
              <a:rPr sz="900" dirty="0">
                <a:latin typeface="Times New Roman"/>
                <a:cs typeface="Times New Roman"/>
              </a:rPr>
              <a:t>are</a:t>
            </a:r>
            <a:r>
              <a:rPr sz="900" spc="-15" dirty="0">
                <a:latin typeface="Times New Roman"/>
                <a:cs typeface="Times New Roman"/>
              </a:rPr>
              <a:t> </a:t>
            </a:r>
            <a:r>
              <a:rPr sz="900" dirty="0">
                <a:latin typeface="Times New Roman"/>
                <a:cs typeface="Times New Roman"/>
              </a:rPr>
              <a:t>designed</a:t>
            </a:r>
            <a:r>
              <a:rPr sz="900" spc="-5" dirty="0">
                <a:latin typeface="Times New Roman"/>
                <a:cs typeface="Times New Roman"/>
              </a:rPr>
              <a:t> </a:t>
            </a:r>
            <a:r>
              <a:rPr sz="900" dirty="0">
                <a:latin typeface="Times New Roman"/>
                <a:cs typeface="Times New Roman"/>
              </a:rPr>
              <a:t>to</a:t>
            </a:r>
            <a:r>
              <a:rPr sz="900" spc="-10" dirty="0">
                <a:latin typeface="Times New Roman"/>
                <a:cs typeface="Times New Roman"/>
              </a:rPr>
              <a:t> </a:t>
            </a:r>
            <a:r>
              <a:rPr sz="900" dirty="0">
                <a:latin typeface="Times New Roman"/>
                <a:cs typeface="Times New Roman"/>
              </a:rPr>
              <a:t>be</a:t>
            </a:r>
            <a:r>
              <a:rPr sz="900" spc="-25" dirty="0">
                <a:latin typeface="Times New Roman"/>
                <a:cs typeface="Times New Roman"/>
              </a:rPr>
              <a:t> </a:t>
            </a:r>
            <a:r>
              <a:rPr sz="900" dirty="0">
                <a:latin typeface="Times New Roman"/>
                <a:cs typeface="Times New Roman"/>
              </a:rPr>
              <a:t>much</a:t>
            </a:r>
            <a:r>
              <a:rPr sz="900" spc="5" dirty="0">
                <a:latin typeface="Times New Roman"/>
                <a:cs typeface="Times New Roman"/>
              </a:rPr>
              <a:t> </a:t>
            </a:r>
            <a:r>
              <a:rPr sz="900" dirty="0">
                <a:latin typeface="Times New Roman"/>
                <a:cs typeface="Times New Roman"/>
              </a:rPr>
              <a:t>stronger</a:t>
            </a:r>
            <a:r>
              <a:rPr sz="900" spc="-20" dirty="0">
                <a:latin typeface="Times New Roman"/>
                <a:cs typeface="Times New Roman"/>
              </a:rPr>
              <a:t> </a:t>
            </a:r>
            <a:r>
              <a:rPr sz="900" dirty="0">
                <a:latin typeface="Times New Roman"/>
                <a:cs typeface="Times New Roman"/>
              </a:rPr>
              <a:t>than</a:t>
            </a:r>
            <a:r>
              <a:rPr sz="900" spc="-10" dirty="0">
                <a:latin typeface="Times New Roman"/>
                <a:cs typeface="Times New Roman"/>
              </a:rPr>
              <a:t> </a:t>
            </a:r>
            <a:r>
              <a:rPr sz="900" dirty="0">
                <a:latin typeface="Times New Roman"/>
                <a:cs typeface="Times New Roman"/>
              </a:rPr>
              <a:t>the</a:t>
            </a:r>
            <a:r>
              <a:rPr sz="900" spc="-15" dirty="0">
                <a:latin typeface="Times New Roman"/>
                <a:cs typeface="Times New Roman"/>
              </a:rPr>
              <a:t> </a:t>
            </a:r>
            <a:r>
              <a:rPr sz="900" dirty="0">
                <a:latin typeface="Times New Roman"/>
                <a:cs typeface="Times New Roman"/>
              </a:rPr>
              <a:t>cell</a:t>
            </a:r>
            <a:r>
              <a:rPr sz="900" spc="-10" dirty="0">
                <a:latin typeface="Times New Roman"/>
                <a:cs typeface="Times New Roman"/>
              </a:rPr>
              <a:t> </a:t>
            </a:r>
            <a:r>
              <a:rPr sz="900" dirty="0">
                <a:latin typeface="Times New Roman"/>
                <a:cs typeface="Times New Roman"/>
              </a:rPr>
              <a:t>transistors</a:t>
            </a:r>
            <a:r>
              <a:rPr sz="900" spc="-25" dirty="0">
                <a:latin typeface="Times New Roman"/>
                <a:cs typeface="Times New Roman"/>
              </a:rPr>
              <a:t> </a:t>
            </a:r>
            <a:r>
              <a:rPr sz="900" dirty="0">
                <a:latin typeface="Times New Roman"/>
                <a:cs typeface="Times New Roman"/>
              </a:rPr>
              <a:t>so</a:t>
            </a:r>
            <a:r>
              <a:rPr sz="900" spc="-20" dirty="0">
                <a:latin typeface="Times New Roman"/>
                <a:cs typeface="Times New Roman"/>
              </a:rPr>
              <a:t> </a:t>
            </a:r>
            <a:r>
              <a:rPr sz="900" dirty="0">
                <a:latin typeface="Times New Roman"/>
                <a:cs typeface="Times New Roman"/>
              </a:rPr>
              <a:t>they</a:t>
            </a:r>
            <a:r>
              <a:rPr sz="900" spc="-15" dirty="0">
                <a:latin typeface="Times New Roman"/>
                <a:cs typeface="Times New Roman"/>
              </a:rPr>
              <a:t> </a:t>
            </a:r>
            <a:r>
              <a:rPr sz="900" dirty="0">
                <a:latin typeface="Times New Roman"/>
                <a:cs typeface="Times New Roman"/>
              </a:rPr>
              <a:t>can</a:t>
            </a:r>
            <a:r>
              <a:rPr sz="900" spc="-5" dirty="0">
                <a:latin typeface="Times New Roman"/>
                <a:cs typeface="Times New Roman"/>
              </a:rPr>
              <a:t> </a:t>
            </a:r>
            <a:r>
              <a:rPr sz="900" dirty="0">
                <a:latin typeface="Times New Roman"/>
                <a:cs typeface="Times New Roman"/>
              </a:rPr>
              <a:t>override</a:t>
            </a:r>
            <a:r>
              <a:rPr sz="900" spc="-10" dirty="0">
                <a:latin typeface="Times New Roman"/>
                <a:cs typeface="Times New Roman"/>
              </a:rPr>
              <a:t> </a:t>
            </a:r>
            <a:r>
              <a:rPr sz="900" dirty="0">
                <a:latin typeface="Times New Roman"/>
                <a:cs typeface="Times New Roman"/>
              </a:rPr>
              <a:t>the</a:t>
            </a:r>
            <a:r>
              <a:rPr sz="900" spc="-25" dirty="0">
                <a:latin typeface="Times New Roman"/>
                <a:cs typeface="Times New Roman"/>
              </a:rPr>
              <a:t> </a:t>
            </a:r>
            <a:r>
              <a:rPr sz="900" dirty="0">
                <a:latin typeface="Times New Roman"/>
                <a:cs typeface="Times New Roman"/>
              </a:rPr>
              <a:t>previous</a:t>
            </a:r>
            <a:r>
              <a:rPr sz="900" spc="-25" dirty="0">
                <a:latin typeface="Times New Roman"/>
                <a:cs typeface="Times New Roman"/>
              </a:rPr>
              <a:t> </a:t>
            </a:r>
            <a:r>
              <a:rPr sz="900" spc="-10" dirty="0">
                <a:latin typeface="Times New Roman"/>
                <a:cs typeface="Times New Roman"/>
              </a:rPr>
              <a:t>state.</a:t>
            </a:r>
            <a:endParaRPr sz="900" dirty="0">
              <a:latin typeface="Times New Roman"/>
              <a:cs typeface="Times New Roman"/>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13</a:t>
            </a:fld>
            <a:endParaRPr spc="-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Dynamic</a:t>
            </a:r>
            <a:r>
              <a:rPr sz="2200" spc="-50" dirty="0">
                <a:latin typeface="Georgia"/>
                <a:cs typeface="Georgia"/>
              </a:rPr>
              <a:t> </a:t>
            </a:r>
            <a:r>
              <a:rPr sz="2200" dirty="0">
                <a:latin typeface="Georgia"/>
                <a:cs typeface="Georgia"/>
              </a:rPr>
              <a:t>RAM</a:t>
            </a:r>
            <a:r>
              <a:rPr sz="2200" spc="-70" dirty="0">
                <a:latin typeface="Georgia"/>
                <a:cs typeface="Georgia"/>
              </a:rPr>
              <a:t> </a:t>
            </a:r>
            <a:r>
              <a:rPr sz="2200" dirty="0">
                <a:latin typeface="Georgia"/>
                <a:cs typeface="Georgia"/>
              </a:rPr>
              <a:t>(DRAM)</a:t>
            </a:r>
            <a:r>
              <a:rPr sz="2200" spc="-55" dirty="0">
                <a:latin typeface="Georgia"/>
                <a:cs typeface="Georgia"/>
              </a:rPr>
              <a:t> </a:t>
            </a:r>
            <a:r>
              <a:rPr sz="2200" spc="-10" dirty="0">
                <a:latin typeface="Georgia"/>
                <a:cs typeface="Georgia"/>
              </a:rPr>
              <a:t>Architecture</a:t>
            </a:r>
            <a:endParaRPr sz="2200" dirty="0">
              <a:latin typeface="Georgia"/>
              <a:cs typeface="Georgia"/>
            </a:endParaRPr>
          </a:p>
          <a:p>
            <a:pPr marL="435609" indent="-173355">
              <a:lnSpc>
                <a:spcPct val="100000"/>
              </a:lnSpc>
              <a:spcBef>
                <a:spcPts val="1210"/>
              </a:spcBef>
              <a:buClr>
                <a:srgbClr val="3E762B"/>
              </a:buClr>
              <a:buFont typeface="Wingdings"/>
              <a:buChar char=""/>
              <a:tabLst>
                <a:tab pos="435609" algn="l"/>
              </a:tabLst>
            </a:pPr>
            <a:r>
              <a:rPr sz="1000" b="1" spc="-10" dirty="0">
                <a:latin typeface="Times New Roman"/>
                <a:cs typeface="Times New Roman"/>
              </a:rPr>
              <a:t>Memory</a:t>
            </a:r>
            <a:r>
              <a:rPr sz="1000" b="1" dirty="0">
                <a:latin typeface="Times New Roman"/>
                <a:cs typeface="Times New Roman"/>
              </a:rPr>
              <a:t> cell</a:t>
            </a:r>
            <a:r>
              <a:rPr sz="1000" b="1" spc="-10" dirty="0">
                <a:latin typeface="Times New Roman"/>
                <a:cs typeface="Times New Roman"/>
              </a:rPr>
              <a:t> </a:t>
            </a:r>
            <a:r>
              <a:rPr sz="1000" b="1" dirty="0">
                <a:latin typeface="Times New Roman"/>
                <a:cs typeface="Times New Roman"/>
              </a:rPr>
              <a:t>consist</a:t>
            </a:r>
            <a:r>
              <a:rPr sz="1000" b="1" spc="-5" dirty="0">
                <a:latin typeface="Times New Roman"/>
                <a:cs typeface="Times New Roman"/>
              </a:rPr>
              <a:t> </a:t>
            </a:r>
            <a:r>
              <a:rPr sz="1000" b="1" dirty="0">
                <a:latin typeface="Times New Roman"/>
                <a:cs typeface="Times New Roman"/>
              </a:rPr>
              <a:t>of</a:t>
            </a:r>
            <a:r>
              <a:rPr sz="1000" b="1" spc="-10" dirty="0">
                <a:latin typeface="Times New Roman"/>
                <a:cs typeface="Times New Roman"/>
              </a:rPr>
              <a:t> </a:t>
            </a:r>
            <a:r>
              <a:rPr sz="1000" b="1" dirty="0">
                <a:latin typeface="Times New Roman"/>
                <a:cs typeface="Times New Roman"/>
              </a:rPr>
              <a:t>a </a:t>
            </a:r>
            <a:r>
              <a:rPr sz="1000" b="1" spc="-10" dirty="0">
                <a:solidFill>
                  <a:srgbClr val="3E762B"/>
                </a:solidFill>
                <a:latin typeface="Times New Roman"/>
                <a:cs typeface="Times New Roman"/>
              </a:rPr>
              <a:t>capacitor</a:t>
            </a:r>
            <a:r>
              <a:rPr sz="1000" b="1" spc="-35" dirty="0">
                <a:solidFill>
                  <a:srgbClr val="3E762B"/>
                </a:solidFill>
                <a:latin typeface="Times New Roman"/>
                <a:cs typeface="Times New Roman"/>
              </a:rPr>
              <a:t> </a:t>
            </a:r>
            <a:r>
              <a:rPr sz="1000" b="1" dirty="0">
                <a:latin typeface="Times New Roman"/>
                <a:cs typeface="Times New Roman"/>
              </a:rPr>
              <a:t>and</a:t>
            </a:r>
            <a:r>
              <a:rPr sz="1000" b="1" spc="5" dirty="0">
                <a:latin typeface="Times New Roman"/>
                <a:cs typeface="Times New Roman"/>
              </a:rPr>
              <a:t> </a:t>
            </a:r>
            <a:r>
              <a:rPr sz="1000" b="1" dirty="0">
                <a:latin typeface="Times New Roman"/>
                <a:cs typeface="Times New Roman"/>
              </a:rPr>
              <a:t>a</a:t>
            </a:r>
            <a:r>
              <a:rPr sz="1000" b="1" spc="-5" dirty="0">
                <a:latin typeface="Times New Roman"/>
                <a:cs typeface="Times New Roman"/>
              </a:rPr>
              <a:t> </a:t>
            </a:r>
            <a:r>
              <a:rPr sz="1000" b="1" spc="-10" dirty="0">
                <a:solidFill>
                  <a:srgbClr val="3E762B"/>
                </a:solidFill>
                <a:latin typeface="Times New Roman"/>
                <a:cs typeface="Times New Roman"/>
              </a:rPr>
              <a:t>transistor</a:t>
            </a:r>
            <a:r>
              <a:rPr sz="1000" b="1" spc="-10" dirty="0">
                <a:latin typeface="Times New Roman"/>
                <a:cs typeface="Times New Roman"/>
              </a:rPr>
              <a:t>.</a:t>
            </a:r>
            <a:endParaRPr sz="1000" dirty="0">
              <a:latin typeface="Times New Roman"/>
              <a:cs typeface="Times New Roman"/>
            </a:endParaRPr>
          </a:p>
          <a:p>
            <a:pPr>
              <a:lnSpc>
                <a:spcPct val="100000"/>
              </a:lnSpc>
              <a:buFont typeface="Wingdings"/>
              <a:buChar char=""/>
            </a:pPr>
            <a:endParaRPr sz="1000" dirty="0">
              <a:latin typeface="Times New Roman"/>
              <a:cs typeface="Times New Roman"/>
            </a:endParaRPr>
          </a:p>
          <a:p>
            <a:pPr>
              <a:lnSpc>
                <a:spcPct val="100000"/>
              </a:lnSpc>
              <a:spcBef>
                <a:spcPts val="45"/>
              </a:spcBef>
              <a:buFont typeface="Wingdings"/>
              <a:buChar char=""/>
            </a:pPr>
            <a:endParaRPr sz="1000" dirty="0">
              <a:latin typeface="Times New Roman"/>
              <a:cs typeface="Times New Roman"/>
            </a:endParaRPr>
          </a:p>
          <a:p>
            <a:pPr marL="403225" indent="-140970">
              <a:lnSpc>
                <a:spcPct val="100000"/>
              </a:lnSpc>
              <a:buClr>
                <a:srgbClr val="3E762B"/>
              </a:buClr>
              <a:buFont typeface="Wingdings"/>
              <a:buChar char=""/>
              <a:tabLst>
                <a:tab pos="403225" algn="l"/>
              </a:tabLst>
            </a:pPr>
            <a:r>
              <a:rPr sz="950" b="1" spc="-10" dirty="0">
                <a:latin typeface="Times New Roman"/>
                <a:cs typeface="Times New Roman"/>
              </a:rPr>
              <a:t>Standby:</a:t>
            </a:r>
            <a:endParaRPr sz="950" dirty="0">
              <a:latin typeface="Times New Roman"/>
              <a:cs typeface="Times New Roman"/>
            </a:endParaRPr>
          </a:p>
          <a:p>
            <a:pPr marL="490855">
              <a:lnSpc>
                <a:spcPct val="100000"/>
              </a:lnSpc>
              <a:spcBef>
                <a:spcPts val="600"/>
              </a:spcBef>
            </a:pPr>
            <a:r>
              <a:rPr sz="950" dirty="0">
                <a:latin typeface="Times New Roman"/>
                <a:cs typeface="Times New Roman"/>
              </a:rPr>
              <a:t>If</a:t>
            </a:r>
            <a:r>
              <a:rPr sz="950" spc="15" dirty="0">
                <a:latin typeface="Times New Roman"/>
                <a:cs typeface="Times New Roman"/>
              </a:rPr>
              <a:t> </a:t>
            </a:r>
            <a:r>
              <a:rPr sz="950" dirty="0">
                <a:latin typeface="Times New Roman"/>
                <a:cs typeface="Times New Roman"/>
              </a:rPr>
              <a:t>the</a:t>
            </a:r>
            <a:r>
              <a:rPr sz="950" spc="-15" dirty="0">
                <a:latin typeface="Times New Roman"/>
                <a:cs typeface="Times New Roman"/>
              </a:rPr>
              <a:t> </a:t>
            </a:r>
            <a:r>
              <a:rPr sz="950" dirty="0">
                <a:latin typeface="Times New Roman"/>
                <a:cs typeface="Times New Roman"/>
              </a:rPr>
              <a:t>word line</a:t>
            </a:r>
            <a:r>
              <a:rPr sz="950" spc="-10" dirty="0">
                <a:latin typeface="Times New Roman"/>
                <a:cs typeface="Times New Roman"/>
              </a:rPr>
              <a:t> </a:t>
            </a:r>
            <a:r>
              <a:rPr sz="950" dirty="0">
                <a:latin typeface="Times New Roman"/>
                <a:cs typeface="Times New Roman"/>
              </a:rPr>
              <a:t>=</a:t>
            </a:r>
            <a:r>
              <a:rPr sz="950" spc="-10" dirty="0">
                <a:latin typeface="Times New Roman"/>
                <a:cs typeface="Times New Roman"/>
              </a:rPr>
              <a:t> </a:t>
            </a:r>
            <a:r>
              <a:rPr sz="950" dirty="0">
                <a:latin typeface="Times New Roman"/>
                <a:cs typeface="Times New Roman"/>
              </a:rPr>
              <a:t>0</a:t>
            </a:r>
            <a:r>
              <a:rPr sz="950" spc="5" dirty="0">
                <a:latin typeface="Times New Roman"/>
                <a:cs typeface="Times New Roman"/>
              </a:rPr>
              <a:t> </a:t>
            </a:r>
            <a:r>
              <a:rPr sz="950" dirty="0">
                <a:latin typeface="Times New Roman"/>
                <a:cs typeface="Times New Roman"/>
              </a:rPr>
              <a:t>,</a:t>
            </a:r>
            <a:r>
              <a:rPr sz="950" spc="-15" dirty="0">
                <a:latin typeface="Times New Roman"/>
                <a:cs typeface="Times New Roman"/>
              </a:rPr>
              <a:t> </a:t>
            </a:r>
            <a:r>
              <a:rPr sz="950" dirty="0">
                <a:latin typeface="Times New Roman"/>
                <a:cs typeface="Times New Roman"/>
              </a:rPr>
              <a:t>the</a:t>
            </a:r>
            <a:r>
              <a:rPr sz="950" spc="-10" dirty="0">
                <a:latin typeface="Times New Roman"/>
                <a:cs typeface="Times New Roman"/>
              </a:rPr>
              <a:t> </a:t>
            </a:r>
            <a:r>
              <a:rPr sz="950" dirty="0">
                <a:latin typeface="Times New Roman"/>
                <a:cs typeface="Times New Roman"/>
              </a:rPr>
              <a:t>capacitor</a:t>
            </a:r>
            <a:r>
              <a:rPr sz="950" spc="-30" dirty="0">
                <a:latin typeface="Times New Roman"/>
                <a:cs typeface="Times New Roman"/>
              </a:rPr>
              <a:t> </a:t>
            </a:r>
            <a:r>
              <a:rPr sz="950" dirty="0">
                <a:latin typeface="Times New Roman"/>
                <a:cs typeface="Times New Roman"/>
              </a:rPr>
              <a:t>is</a:t>
            </a:r>
            <a:r>
              <a:rPr sz="950" spc="-5" dirty="0">
                <a:latin typeface="Times New Roman"/>
                <a:cs typeface="Times New Roman"/>
              </a:rPr>
              <a:t> </a:t>
            </a:r>
            <a:r>
              <a:rPr sz="950" spc="-10" dirty="0">
                <a:latin typeface="Times New Roman"/>
                <a:cs typeface="Times New Roman"/>
              </a:rPr>
              <a:t>disconnect</a:t>
            </a:r>
            <a:r>
              <a:rPr sz="950" spc="-40" dirty="0">
                <a:latin typeface="Times New Roman"/>
                <a:cs typeface="Times New Roman"/>
              </a:rPr>
              <a:t> </a:t>
            </a:r>
            <a:r>
              <a:rPr sz="950" dirty="0">
                <a:latin typeface="Times New Roman"/>
                <a:cs typeface="Times New Roman"/>
              </a:rPr>
              <a:t>from</a:t>
            </a:r>
            <a:r>
              <a:rPr sz="950" spc="-5" dirty="0">
                <a:latin typeface="Times New Roman"/>
                <a:cs typeface="Times New Roman"/>
              </a:rPr>
              <a:t> </a:t>
            </a:r>
            <a:r>
              <a:rPr sz="950" dirty="0">
                <a:latin typeface="Times New Roman"/>
                <a:cs typeface="Times New Roman"/>
              </a:rPr>
              <a:t>the</a:t>
            </a:r>
            <a:r>
              <a:rPr sz="950" spc="-15" dirty="0">
                <a:latin typeface="Times New Roman"/>
                <a:cs typeface="Times New Roman"/>
              </a:rPr>
              <a:t> </a:t>
            </a:r>
            <a:r>
              <a:rPr sz="950" dirty="0">
                <a:latin typeface="Times New Roman"/>
                <a:cs typeface="Times New Roman"/>
              </a:rPr>
              <a:t>bit</a:t>
            </a:r>
            <a:r>
              <a:rPr sz="950" spc="-10" dirty="0">
                <a:latin typeface="Times New Roman"/>
                <a:cs typeface="Times New Roman"/>
              </a:rPr>
              <a:t> lines.</a:t>
            </a:r>
            <a:endParaRPr sz="950" dirty="0">
              <a:latin typeface="Times New Roman"/>
              <a:cs typeface="Times New Roman"/>
            </a:endParaRPr>
          </a:p>
          <a:p>
            <a:pPr marL="403225" indent="-140970">
              <a:lnSpc>
                <a:spcPct val="100000"/>
              </a:lnSpc>
              <a:spcBef>
                <a:spcPts val="600"/>
              </a:spcBef>
              <a:buClr>
                <a:srgbClr val="3E762B"/>
              </a:buClr>
              <a:buFont typeface="Wingdings"/>
              <a:buChar char=""/>
              <a:tabLst>
                <a:tab pos="403225" algn="l"/>
              </a:tabLst>
            </a:pPr>
            <a:r>
              <a:rPr sz="950" b="1" spc="-10" dirty="0">
                <a:latin typeface="Times New Roman"/>
                <a:cs typeface="Times New Roman"/>
              </a:rPr>
              <a:t>Reading</a:t>
            </a:r>
            <a:endParaRPr sz="950" dirty="0">
              <a:latin typeface="Times New Roman"/>
              <a:cs typeface="Times New Roman"/>
            </a:endParaRPr>
          </a:p>
          <a:p>
            <a:pPr marL="490855">
              <a:lnSpc>
                <a:spcPct val="100000"/>
              </a:lnSpc>
              <a:spcBef>
                <a:spcPts val="600"/>
              </a:spcBef>
            </a:pPr>
            <a:r>
              <a:rPr sz="950" dirty="0">
                <a:latin typeface="Times New Roman"/>
                <a:cs typeface="Times New Roman"/>
              </a:rPr>
              <a:t>Assert</a:t>
            </a:r>
            <a:r>
              <a:rPr sz="950" spc="-15" dirty="0">
                <a:latin typeface="Times New Roman"/>
                <a:cs typeface="Times New Roman"/>
              </a:rPr>
              <a:t> </a:t>
            </a:r>
            <a:r>
              <a:rPr sz="950" dirty="0">
                <a:latin typeface="Times New Roman"/>
                <a:cs typeface="Times New Roman"/>
              </a:rPr>
              <a:t>the</a:t>
            </a:r>
            <a:r>
              <a:rPr sz="950" spc="-20" dirty="0">
                <a:latin typeface="Times New Roman"/>
                <a:cs typeface="Times New Roman"/>
              </a:rPr>
              <a:t> </a:t>
            </a:r>
            <a:r>
              <a:rPr sz="950" dirty="0">
                <a:latin typeface="Times New Roman"/>
                <a:cs typeface="Times New Roman"/>
              </a:rPr>
              <a:t>word</a:t>
            </a:r>
            <a:r>
              <a:rPr sz="950" spc="-10" dirty="0">
                <a:latin typeface="Times New Roman"/>
                <a:cs typeface="Times New Roman"/>
              </a:rPr>
              <a:t> </a:t>
            </a:r>
            <a:r>
              <a:rPr sz="950" dirty="0">
                <a:latin typeface="Times New Roman"/>
                <a:cs typeface="Times New Roman"/>
              </a:rPr>
              <a:t>line</a:t>
            </a:r>
            <a:r>
              <a:rPr sz="950" spc="-45" dirty="0">
                <a:latin typeface="Times New Roman"/>
                <a:cs typeface="Times New Roman"/>
              </a:rPr>
              <a:t> </a:t>
            </a:r>
            <a:r>
              <a:rPr sz="950" dirty="0">
                <a:latin typeface="Times New Roman"/>
                <a:cs typeface="Times New Roman"/>
              </a:rPr>
              <a:t>WL</a:t>
            </a:r>
            <a:r>
              <a:rPr sz="950" spc="-40" dirty="0">
                <a:latin typeface="Times New Roman"/>
                <a:cs typeface="Times New Roman"/>
              </a:rPr>
              <a:t> </a:t>
            </a:r>
            <a:r>
              <a:rPr sz="950" dirty="0">
                <a:latin typeface="Times New Roman"/>
                <a:cs typeface="Times New Roman"/>
              </a:rPr>
              <a:t>=</a:t>
            </a:r>
            <a:r>
              <a:rPr sz="950" spc="-10" dirty="0">
                <a:latin typeface="Times New Roman"/>
                <a:cs typeface="Times New Roman"/>
              </a:rPr>
              <a:t> </a:t>
            </a:r>
            <a:r>
              <a:rPr sz="950" dirty="0">
                <a:latin typeface="Times New Roman"/>
                <a:cs typeface="Times New Roman"/>
              </a:rPr>
              <a:t>1</a:t>
            </a:r>
            <a:r>
              <a:rPr sz="950" spc="-20" dirty="0">
                <a:latin typeface="Times New Roman"/>
                <a:cs typeface="Times New Roman"/>
              </a:rPr>
              <a:t> </a:t>
            </a:r>
            <a:r>
              <a:rPr sz="950" dirty="0">
                <a:latin typeface="Times New Roman"/>
                <a:cs typeface="Times New Roman"/>
              </a:rPr>
              <a:t>and</a:t>
            </a:r>
            <a:r>
              <a:rPr sz="950" spc="-15" dirty="0">
                <a:latin typeface="Times New Roman"/>
                <a:cs typeface="Times New Roman"/>
              </a:rPr>
              <a:t> </a:t>
            </a:r>
            <a:r>
              <a:rPr sz="950" dirty="0">
                <a:latin typeface="Times New Roman"/>
                <a:cs typeface="Times New Roman"/>
              </a:rPr>
              <a:t>read</a:t>
            </a:r>
            <a:r>
              <a:rPr sz="950" spc="-15" dirty="0">
                <a:latin typeface="Times New Roman"/>
                <a:cs typeface="Times New Roman"/>
              </a:rPr>
              <a:t> </a:t>
            </a:r>
            <a:r>
              <a:rPr sz="950" dirty="0">
                <a:latin typeface="Times New Roman"/>
                <a:cs typeface="Times New Roman"/>
              </a:rPr>
              <a:t>the</a:t>
            </a:r>
            <a:r>
              <a:rPr sz="950" spc="-20" dirty="0">
                <a:latin typeface="Times New Roman"/>
                <a:cs typeface="Times New Roman"/>
              </a:rPr>
              <a:t> </a:t>
            </a:r>
            <a:r>
              <a:rPr sz="950" dirty="0">
                <a:latin typeface="Times New Roman"/>
                <a:cs typeface="Times New Roman"/>
              </a:rPr>
              <a:t>bit</a:t>
            </a:r>
            <a:r>
              <a:rPr sz="950" spc="-20" dirty="0">
                <a:latin typeface="Times New Roman"/>
                <a:cs typeface="Times New Roman"/>
              </a:rPr>
              <a:t> line.</a:t>
            </a:r>
            <a:endParaRPr sz="950" dirty="0">
              <a:latin typeface="Times New Roman"/>
              <a:cs typeface="Times New Roman"/>
            </a:endParaRPr>
          </a:p>
          <a:p>
            <a:pPr marL="403225" indent="-140970">
              <a:lnSpc>
                <a:spcPct val="100000"/>
              </a:lnSpc>
              <a:spcBef>
                <a:spcPts val="600"/>
              </a:spcBef>
              <a:buClr>
                <a:srgbClr val="3E762B"/>
              </a:buClr>
              <a:buFont typeface="Wingdings"/>
              <a:buChar char=""/>
              <a:tabLst>
                <a:tab pos="403225" algn="l"/>
              </a:tabLst>
            </a:pPr>
            <a:r>
              <a:rPr sz="950" b="1" spc="-10" dirty="0">
                <a:latin typeface="Times New Roman"/>
                <a:cs typeface="Times New Roman"/>
              </a:rPr>
              <a:t>Writing</a:t>
            </a:r>
            <a:endParaRPr sz="950" dirty="0">
              <a:latin typeface="Times New Roman"/>
              <a:cs typeface="Times New Roman"/>
            </a:endParaRPr>
          </a:p>
          <a:p>
            <a:pPr marL="490855" marR="2468245">
              <a:lnSpc>
                <a:spcPct val="152600"/>
              </a:lnSpc>
            </a:pPr>
            <a:r>
              <a:rPr sz="950" dirty="0">
                <a:latin typeface="Times New Roman"/>
                <a:cs typeface="Times New Roman"/>
              </a:rPr>
              <a:t>Apply</a:t>
            </a:r>
            <a:r>
              <a:rPr sz="950" spc="-20" dirty="0">
                <a:latin typeface="Times New Roman"/>
                <a:cs typeface="Times New Roman"/>
              </a:rPr>
              <a:t> </a:t>
            </a:r>
            <a:r>
              <a:rPr sz="950" dirty="0">
                <a:latin typeface="Times New Roman"/>
                <a:cs typeface="Times New Roman"/>
              </a:rPr>
              <a:t>the</a:t>
            </a:r>
            <a:r>
              <a:rPr sz="950" spc="-20" dirty="0">
                <a:latin typeface="Times New Roman"/>
                <a:cs typeface="Times New Roman"/>
              </a:rPr>
              <a:t> </a:t>
            </a:r>
            <a:r>
              <a:rPr sz="950" dirty="0">
                <a:latin typeface="Times New Roman"/>
                <a:cs typeface="Times New Roman"/>
              </a:rPr>
              <a:t>value</a:t>
            </a:r>
            <a:r>
              <a:rPr sz="950" spc="-20" dirty="0">
                <a:latin typeface="Times New Roman"/>
                <a:cs typeface="Times New Roman"/>
              </a:rPr>
              <a:t> </a:t>
            </a:r>
            <a:r>
              <a:rPr sz="950" dirty="0">
                <a:latin typeface="Times New Roman"/>
                <a:cs typeface="Times New Roman"/>
              </a:rPr>
              <a:t>to</a:t>
            </a:r>
            <a:r>
              <a:rPr sz="950" spc="-10" dirty="0">
                <a:latin typeface="Times New Roman"/>
                <a:cs typeface="Times New Roman"/>
              </a:rPr>
              <a:t> </a:t>
            </a:r>
            <a:r>
              <a:rPr sz="950" dirty="0">
                <a:latin typeface="Times New Roman"/>
                <a:cs typeface="Times New Roman"/>
              </a:rPr>
              <a:t>be</a:t>
            </a:r>
            <a:r>
              <a:rPr sz="950" spc="-20" dirty="0">
                <a:latin typeface="Times New Roman"/>
                <a:cs typeface="Times New Roman"/>
              </a:rPr>
              <a:t> </a:t>
            </a:r>
            <a:r>
              <a:rPr sz="950" dirty="0">
                <a:latin typeface="Times New Roman"/>
                <a:cs typeface="Times New Roman"/>
              </a:rPr>
              <a:t>written</a:t>
            </a:r>
            <a:r>
              <a:rPr sz="950" spc="-5" dirty="0">
                <a:latin typeface="Times New Roman"/>
                <a:cs typeface="Times New Roman"/>
              </a:rPr>
              <a:t> </a:t>
            </a:r>
            <a:r>
              <a:rPr sz="950" dirty="0">
                <a:latin typeface="Times New Roman"/>
                <a:cs typeface="Times New Roman"/>
              </a:rPr>
              <a:t>to</a:t>
            </a:r>
            <a:r>
              <a:rPr sz="950" spc="-15" dirty="0">
                <a:latin typeface="Times New Roman"/>
                <a:cs typeface="Times New Roman"/>
              </a:rPr>
              <a:t> </a:t>
            </a:r>
            <a:r>
              <a:rPr sz="950" dirty="0">
                <a:latin typeface="Times New Roman"/>
                <a:cs typeface="Times New Roman"/>
              </a:rPr>
              <a:t>the</a:t>
            </a:r>
            <a:r>
              <a:rPr sz="950" spc="-25" dirty="0">
                <a:latin typeface="Times New Roman"/>
                <a:cs typeface="Times New Roman"/>
              </a:rPr>
              <a:t> </a:t>
            </a:r>
            <a:r>
              <a:rPr sz="950" dirty="0">
                <a:latin typeface="Times New Roman"/>
                <a:cs typeface="Times New Roman"/>
              </a:rPr>
              <a:t>bit</a:t>
            </a:r>
            <a:r>
              <a:rPr sz="950" spc="-20" dirty="0">
                <a:latin typeface="Times New Roman"/>
                <a:cs typeface="Times New Roman"/>
              </a:rPr>
              <a:t> </a:t>
            </a:r>
            <a:r>
              <a:rPr sz="950" dirty="0">
                <a:latin typeface="Times New Roman"/>
                <a:cs typeface="Times New Roman"/>
              </a:rPr>
              <a:t>lines</a:t>
            </a:r>
            <a:r>
              <a:rPr sz="950" spc="-20" dirty="0">
                <a:latin typeface="Times New Roman"/>
                <a:cs typeface="Times New Roman"/>
              </a:rPr>
              <a:t> </a:t>
            </a:r>
            <a:r>
              <a:rPr sz="950" dirty="0">
                <a:latin typeface="Times New Roman"/>
                <a:cs typeface="Times New Roman"/>
              </a:rPr>
              <a:t>(Strong</a:t>
            </a:r>
            <a:r>
              <a:rPr sz="950" spc="-5" dirty="0">
                <a:latin typeface="Times New Roman"/>
                <a:cs typeface="Times New Roman"/>
              </a:rPr>
              <a:t> </a:t>
            </a:r>
            <a:r>
              <a:rPr sz="950" dirty="0">
                <a:latin typeface="Times New Roman"/>
                <a:cs typeface="Times New Roman"/>
              </a:rPr>
              <a:t>1</a:t>
            </a:r>
            <a:r>
              <a:rPr sz="950" spc="-20" dirty="0">
                <a:latin typeface="Times New Roman"/>
                <a:cs typeface="Times New Roman"/>
              </a:rPr>
              <a:t> </a:t>
            </a:r>
            <a:r>
              <a:rPr sz="950" dirty="0">
                <a:latin typeface="Times New Roman"/>
                <a:cs typeface="Times New Roman"/>
              </a:rPr>
              <a:t>or</a:t>
            </a:r>
            <a:r>
              <a:rPr sz="950" spc="-15" dirty="0">
                <a:latin typeface="Times New Roman"/>
                <a:cs typeface="Times New Roman"/>
              </a:rPr>
              <a:t> </a:t>
            </a:r>
            <a:r>
              <a:rPr sz="950" spc="-25" dirty="0">
                <a:latin typeface="Times New Roman"/>
                <a:cs typeface="Times New Roman"/>
              </a:rPr>
              <a:t>0). </a:t>
            </a:r>
            <a:r>
              <a:rPr sz="950" dirty="0">
                <a:latin typeface="Times New Roman"/>
                <a:cs typeface="Times New Roman"/>
              </a:rPr>
              <a:t>WL</a:t>
            </a:r>
            <a:r>
              <a:rPr sz="950" spc="-45" dirty="0">
                <a:latin typeface="Times New Roman"/>
                <a:cs typeface="Times New Roman"/>
              </a:rPr>
              <a:t> </a:t>
            </a:r>
            <a:r>
              <a:rPr sz="950" dirty="0">
                <a:latin typeface="Times New Roman"/>
                <a:cs typeface="Times New Roman"/>
              </a:rPr>
              <a:t>is</a:t>
            </a:r>
            <a:r>
              <a:rPr sz="950" spc="-30" dirty="0">
                <a:latin typeface="Times New Roman"/>
                <a:cs typeface="Times New Roman"/>
              </a:rPr>
              <a:t> </a:t>
            </a:r>
            <a:r>
              <a:rPr sz="950" dirty="0">
                <a:latin typeface="Times New Roman"/>
                <a:cs typeface="Times New Roman"/>
              </a:rPr>
              <a:t>then</a:t>
            </a:r>
            <a:r>
              <a:rPr sz="950" spc="-25" dirty="0">
                <a:latin typeface="Times New Roman"/>
                <a:cs typeface="Times New Roman"/>
              </a:rPr>
              <a:t> </a:t>
            </a:r>
            <a:r>
              <a:rPr sz="950" dirty="0">
                <a:latin typeface="Times New Roman"/>
                <a:cs typeface="Times New Roman"/>
              </a:rPr>
              <a:t>asserted</a:t>
            </a:r>
            <a:r>
              <a:rPr sz="950" spc="-20" dirty="0">
                <a:latin typeface="Times New Roman"/>
                <a:cs typeface="Times New Roman"/>
              </a:rPr>
              <a:t> </a:t>
            </a:r>
            <a:r>
              <a:rPr sz="950" dirty="0">
                <a:latin typeface="Times New Roman"/>
                <a:cs typeface="Times New Roman"/>
              </a:rPr>
              <a:t>and</a:t>
            </a:r>
            <a:r>
              <a:rPr sz="950" spc="-20" dirty="0">
                <a:latin typeface="Times New Roman"/>
                <a:cs typeface="Times New Roman"/>
              </a:rPr>
              <a:t> </a:t>
            </a:r>
            <a:r>
              <a:rPr sz="950" dirty="0">
                <a:latin typeface="Times New Roman"/>
                <a:cs typeface="Times New Roman"/>
              </a:rPr>
              <a:t>the</a:t>
            </a:r>
            <a:r>
              <a:rPr sz="950" spc="-30" dirty="0">
                <a:latin typeface="Times New Roman"/>
                <a:cs typeface="Times New Roman"/>
              </a:rPr>
              <a:t> </a:t>
            </a:r>
            <a:r>
              <a:rPr sz="950" dirty="0">
                <a:latin typeface="Times New Roman"/>
                <a:cs typeface="Times New Roman"/>
              </a:rPr>
              <a:t>value</a:t>
            </a:r>
            <a:r>
              <a:rPr sz="950" spc="-25" dirty="0">
                <a:latin typeface="Times New Roman"/>
                <a:cs typeface="Times New Roman"/>
              </a:rPr>
              <a:t> </a:t>
            </a:r>
            <a:r>
              <a:rPr sz="950" dirty="0">
                <a:latin typeface="Times New Roman"/>
                <a:cs typeface="Times New Roman"/>
              </a:rPr>
              <a:t>is</a:t>
            </a:r>
            <a:r>
              <a:rPr sz="950" spc="-15" dirty="0">
                <a:latin typeface="Times New Roman"/>
                <a:cs typeface="Times New Roman"/>
              </a:rPr>
              <a:t> </a:t>
            </a:r>
            <a:r>
              <a:rPr sz="950" dirty="0">
                <a:latin typeface="Times New Roman"/>
                <a:cs typeface="Times New Roman"/>
              </a:rPr>
              <a:t>stored</a:t>
            </a:r>
            <a:r>
              <a:rPr sz="950" spc="-25" dirty="0">
                <a:latin typeface="Times New Roman"/>
                <a:cs typeface="Times New Roman"/>
              </a:rPr>
              <a:t> </a:t>
            </a:r>
            <a:r>
              <a:rPr sz="950" dirty="0">
                <a:latin typeface="Times New Roman"/>
                <a:cs typeface="Times New Roman"/>
              </a:rPr>
              <a:t>in</a:t>
            </a:r>
            <a:r>
              <a:rPr sz="950" spc="-25" dirty="0">
                <a:latin typeface="Times New Roman"/>
                <a:cs typeface="Times New Roman"/>
              </a:rPr>
              <a:t> </a:t>
            </a:r>
            <a:r>
              <a:rPr sz="950" dirty="0">
                <a:latin typeface="Times New Roman"/>
                <a:cs typeface="Times New Roman"/>
              </a:rPr>
              <a:t>the</a:t>
            </a:r>
            <a:r>
              <a:rPr sz="950" spc="-25" dirty="0">
                <a:latin typeface="Times New Roman"/>
                <a:cs typeface="Times New Roman"/>
              </a:rPr>
              <a:t> </a:t>
            </a:r>
            <a:r>
              <a:rPr sz="950" spc="-10" dirty="0">
                <a:latin typeface="Times New Roman"/>
                <a:cs typeface="Times New Roman"/>
              </a:rPr>
              <a:t>cell.</a:t>
            </a:r>
            <a:endParaRPr sz="950" dirty="0">
              <a:latin typeface="Times New Roman"/>
              <a:cs typeface="Times New Roman"/>
            </a:endParaRPr>
          </a:p>
          <a:p>
            <a:pPr marL="436245" marR="556895" indent="-173990">
              <a:lnSpc>
                <a:spcPct val="100000"/>
              </a:lnSpc>
              <a:spcBef>
                <a:spcPts val="600"/>
              </a:spcBef>
              <a:buClr>
                <a:srgbClr val="3E762B"/>
              </a:buClr>
              <a:buFont typeface="Wingdings"/>
              <a:buChar char=""/>
              <a:tabLst>
                <a:tab pos="436245" algn="l"/>
              </a:tabLst>
            </a:pPr>
            <a:r>
              <a:rPr sz="950" dirty="0">
                <a:latin typeface="Times New Roman"/>
                <a:cs typeface="Times New Roman"/>
              </a:rPr>
              <a:t>A</a:t>
            </a:r>
            <a:r>
              <a:rPr sz="950" spc="-60" dirty="0">
                <a:latin typeface="Times New Roman"/>
                <a:cs typeface="Times New Roman"/>
              </a:rPr>
              <a:t> </a:t>
            </a:r>
            <a:r>
              <a:rPr sz="950" dirty="0">
                <a:latin typeface="Times New Roman"/>
                <a:cs typeface="Times New Roman"/>
              </a:rPr>
              <a:t>DRAM</a:t>
            </a:r>
            <a:r>
              <a:rPr sz="950" spc="-20" dirty="0">
                <a:latin typeface="Times New Roman"/>
                <a:cs typeface="Times New Roman"/>
              </a:rPr>
              <a:t> </a:t>
            </a:r>
            <a:r>
              <a:rPr sz="950" dirty="0">
                <a:latin typeface="Times New Roman"/>
                <a:cs typeface="Times New Roman"/>
              </a:rPr>
              <a:t>storage</a:t>
            </a:r>
            <a:r>
              <a:rPr sz="950" spc="-15" dirty="0">
                <a:latin typeface="Times New Roman"/>
                <a:cs typeface="Times New Roman"/>
              </a:rPr>
              <a:t> </a:t>
            </a:r>
            <a:r>
              <a:rPr sz="950" dirty="0">
                <a:latin typeface="Times New Roman"/>
                <a:cs typeface="Times New Roman"/>
              </a:rPr>
              <a:t>cell</a:t>
            </a:r>
            <a:r>
              <a:rPr sz="950" spc="-25" dirty="0">
                <a:latin typeface="Times New Roman"/>
                <a:cs typeface="Times New Roman"/>
              </a:rPr>
              <a:t> </a:t>
            </a:r>
            <a:r>
              <a:rPr sz="950" dirty="0">
                <a:latin typeface="Times New Roman"/>
                <a:cs typeface="Times New Roman"/>
              </a:rPr>
              <a:t>is</a:t>
            </a:r>
            <a:r>
              <a:rPr sz="950" spc="-10" dirty="0">
                <a:latin typeface="Times New Roman"/>
                <a:cs typeface="Times New Roman"/>
              </a:rPr>
              <a:t> dynamic,</a:t>
            </a:r>
            <a:r>
              <a:rPr sz="950" dirty="0">
                <a:latin typeface="Times New Roman"/>
                <a:cs typeface="Times New Roman"/>
              </a:rPr>
              <a:t> meaning</a:t>
            </a:r>
            <a:r>
              <a:rPr sz="950" spc="-20" dirty="0">
                <a:latin typeface="Times New Roman"/>
                <a:cs typeface="Times New Roman"/>
              </a:rPr>
              <a:t> </a:t>
            </a:r>
            <a:r>
              <a:rPr sz="950" dirty="0">
                <a:latin typeface="Times New Roman"/>
                <a:cs typeface="Times New Roman"/>
              </a:rPr>
              <a:t>that</a:t>
            </a:r>
            <a:r>
              <a:rPr sz="950" spc="-20" dirty="0">
                <a:latin typeface="Times New Roman"/>
                <a:cs typeface="Times New Roman"/>
              </a:rPr>
              <a:t> </a:t>
            </a:r>
            <a:r>
              <a:rPr sz="950" dirty="0">
                <a:latin typeface="Times New Roman"/>
                <a:cs typeface="Times New Roman"/>
              </a:rPr>
              <a:t>it</a:t>
            </a:r>
            <a:r>
              <a:rPr sz="950" spc="-25" dirty="0">
                <a:latin typeface="Times New Roman"/>
                <a:cs typeface="Times New Roman"/>
              </a:rPr>
              <a:t> </a:t>
            </a:r>
            <a:r>
              <a:rPr sz="950" dirty="0">
                <a:latin typeface="Times New Roman"/>
                <a:cs typeface="Times New Roman"/>
              </a:rPr>
              <a:t>needs</a:t>
            </a:r>
            <a:r>
              <a:rPr sz="950" spc="-20" dirty="0">
                <a:latin typeface="Times New Roman"/>
                <a:cs typeface="Times New Roman"/>
              </a:rPr>
              <a:t> </a:t>
            </a:r>
            <a:r>
              <a:rPr sz="950" dirty="0">
                <a:latin typeface="Times New Roman"/>
                <a:cs typeface="Times New Roman"/>
              </a:rPr>
              <a:t>to</a:t>
            </a:r>
            <a:r>
              <a:rPr sz="950" spc="-20" dirty="0">
                <a:latin typeface="Times New Roman"/>
                <a:cs typeface="Times New Roman"/>
              </a:rPr>
              <a:t> </a:t>
            </a:r>
            <a:r>
              <a:rPr sz="950" dirty="0">
                <a:latin typeface="Times New Roman"/>
                <a:cs typeface="Times New Roman"/>
              </a:rPr>
              <a:t>be</a:t>
            </a:r>
            <a:r>
              <a:rPr sz="950" spc="5" dirty="0">
                <a:latin typeface="Times New Roman"/>
                <a:cs typeface="Times New Roman"/>
              </a:rPr>
              <a:t> </a:t>
            </a:r>
            <a:r>
              <a:rPr sz="950" b="1" spc="-10" dirty="0">
                <a:latin typeface="Times New Roman"/>
                <a:cs typeface="Times New Roman"/>
              </a:rPr>
              <a:t>refreshed</a:t>
            </a:r>
            <a:r>
              <a:rPr sz="950" b="1" spc="-20" dirty="0">
                <a:latin typeface="Times New Roman"/>
                <a:cs typeface="Times New Roman"/>
              </a:rPr>
              <a:t> </a:t>
            </a:r>
            <a:r>
              <a:rPr sz="950" dirty="0">
                <a:latin typeface="Times New Roman"/>
                <a:cs typeface="Times New Roman"/>
              </a:rPr>
              <a:t>or</a:t>
            </a:r>
            <a:r>
              <a:rPr sz="950" spc="-15" dirty="0">
                <a:latin typeface="Times New Roman"/>
                <a:cs typeface="Times New Roman"/>
              </a:rPr>
              <a:t> </a:t>
            </a:r>
            <a:r>
              <a:rPr sz="950" dirty="0">
                <a:latin typeface="Times New Roman"/>
                <a:cs typeface="Times New Roman"/>
              </a:rPr>
              <a:t>given</a:t>
            </a:r>
            <a:r>
              <a:rPr sz="950" spc="-10" dirty="0">
                <a:latin typeface="Times New Roman"/>
                <a:cs typeface="Times New Roman"/>
              </a:rPr>
              <a:t> </a:t>
            </a:r>
            <a:r>
              <a:rPr sz="950" dirty="0">
                <a:latin typeface="Times New Roman"/>
                <a:cs typeface="Times New Roman"/>
              </a:rPr>
              <a:t>a</a:t>
            </a:r>
            <a:r>
              <a:rPr sz="950" spc="-15" dirty="0">
                <a:latin typeface="Times New Roman"/>
                <a:cs typeface="Times New Roman"/>
              </a:rPr>
              <a:t> </a:t>
            </a:r>
            <a:r>
              <a:rPr sz="950" dirty="0">
                <a:latin typeface="Times New Roman"/>
                <a:cs typeface="Times New Roman"/>
              </a:rPr>
              <a:t>new</a:t>
            </a:r>
            <a:r>
              <a:rPr sz="950" spc="-30" dirty="0">
                <a:latin typeface="Times New Roman"/>
                <a:cs typeface="Times New Roman"/>
              </a:rPr>
              <a:t> </a:t>
            </a:r>
            <a:r>
              <a:rPr sz="950" spc="-10" dirty="0">
                <a:latin typeface="Times New Roman"/>
                <a:cs typeface="Times New Roman"/>
              </a:rPr>
              <a:t>electronic </a:t>
            </a:r>
            <a:r>
              <a:rPr sz="950" dirty="0">
                <a:latin typeface="Times New Roman"/>
                <a:cs typeface="Times New Roman"/>
              </a:rPr>
              <a:t>charge</a:t>
            </a:r>
            <a:r>
              <a:rPr sz="950" spc="-15" dirty="0">
                <a:latin typeface="Times New Roman"/>
                <a:cs typeface="Times New Roman"/>
              </a:rPr>
              <a:t> </a:t>
            </a:r>
            <a:r>
              <a:rPr sz="950" b="1" dirty="0">
                <a:latin typeface="Times New Roman"/>
                <a:cs typeface="Times New Roman"/>
              </a:rPr>
              <a:t>every</a:t>
            </a:r>
            <a:r>
              <a:rPr sz="950" b="1" spc="-20" dirty="0">
                <a:latin typeface="Times New Roman"/>
                <a:cs typeface="Times New Roman"/>
              </a:rPr>
              <a:t> </a:t>
            </a:r>
            <a:r>
              <a:rPr sz="950" b="1" dirty="0">
                <a:latin typeface="Times New Roman"/>
                <a:cs typeface="Times New Roman"/>
              </a:rPr>
              <a:t>few</a:t>
            </a:r>
            <a:r>
              <a:rPr sz="950" b="1" spc="-15" dirty="0">
                <a:latin typeface="Times New Roman"/>
                <a:cs typeface="Times New Roman"/>
              </a:rPr>
              <a:t> </a:t>
            </a:r>
            <a:r>
              <a:rPr sz="950" b="1" dirty="0">
                <a:latin typeface="Times New Roman"/>
                <a:cs typeface="Times New Roman"/>
              </a:rPr>
              <a:t>milliseconds </a:t>
            </a:r>
            <a:r>
              <a:rPr sz="950" dirty="0">
                <a:latin typeface="Times New Roman"/>
                <a:cs typeface="Times New Roman"/>
              </a:rPr>
              <a:t>to</a:t>
            </a:r>
            <a:r>
              <a:rPr sz="950" spc="-20" dirty="0">
                <a:latin typeface="Times New Roman"/>
                <a:cs typeface="Times New Roman"/>
              </a:rPr>
              <a:t> </a:t>
            </a:r>
            <a:r>
              <a:rPr sz="950" spc="-10" dirty="0">
                <a:latin typeface="Times New Roman"/>
                <a:cs typeface="Times New Roman"/>
              </a:rPr>
              <a:t>compensate</a:t>
            </a:r>
            <a:r>
              <a:rPr sz="950" spc="-40" dirty="0">
                <a:latin typeface="Times New Roman"/>
                <a:cs typeface="Times New Roman"/>
              </a:rPr>
              <a:t> </a:t>
            </a:r>
            <a:r>
              <a:rPr sz="950" dirty="0">
                <a:latin typeface="Times New Roman"/>
                <a:cs typeface="Times New Roman"/>
              </a:rPr>
              <a:t>for</a:t>
            </a:r>
            <a:r>
              <a:rPr sz="950" spc="-15" dirty="0">
                <a:latin typeface="Times New Roman"/>
                <a:cs typeface="Times New Roman"/>
              </a:rPr>
              <a:t> </a:t>
            </a:r>
            <a:r>
              <a:rPr sz="950" dirty="0">
                <a:latin typeface="Times New Roman"/>
                <a:cs typeface="Times New Roman"/>
              </a:rPr>
              <a:t>charge</a:t>
            </a:r>
            <a:r>
              <a:rPr sz="950" spc="-25" dirty="0">
                <a:latin typeface="Times New Roman"/>
                <a:cs typeface="Times New Roman"/>
              </a:rPr>
              <a:t> </a:t>
            </a:r>
            <a:r>
              <a:rPr sz="950" dirty="0">
                <a:latin typeface="Times New Roman"/>
                <a:cs typeface="Times New Roman"/>
              </a:rPr>
              <a:t>leaks</a:t>
            </a:r>
            <a:r>
              <a:rPr sz="950" spc="-10" dirty="0">
                <a:latin typeface="Times New Roman"/>
                <a:cs typeface="Times New Roman"/>
              </a:rPr>
              <a:t> </a:t>
            </a:r>
            <a:r>
              <a:rPr sz="950" dirty="0">
                <a:latin typeface="Times New Roman"/>
                <a:cs typeface="Times New Roman"/>
              </a:rPr>
              <a:t>from</a:t>
            </a:r>
            <a:r>
              <a:rPr sz="950" spc="-20" dirty="0">
                <a:latin typeface="Times New Roman"/>
                <a:cs typeface="Times New Roman"/>
              </a:rPr>
              <a:t> </a:t>
            </a:r>
            <a:r>
              <a:rPr sz="950" dirty="0">
                <a:latin typeface="Times New Roman"/>
                <a:cs typeface="Times New Roman"/>
              </a:rPr>
              <a:t>the</a:t>
            </a:r>
            <a:r>
              <a:rPr sz="950" spc="-25" dirty="0">
                <a:latin typeface="Times New Roman"/>
                <a:cs typeface="Times New Roman"/>
              </a:rPr>
              <a:t> </a:t>
            </a:r>
            <a:r>
              <a:rPr sz="950" spc="-10" dirty="0">
                <a:latin typeface="Times New Roman"/>
                <a:cs typeface="Times New Roman"/>
              </a:rPr>
              <a:t>capacitor.</a:t>
            </a:r>
            <a:r>
              <a:rPr sz="950" spc="-20" dirty="0">
                <a:latin typeface="Times New Roman"/>
                <a:cs typeface="Times New Roman"/>
              </a:rPr>
              <a:t> </a:t>
            </a:r>
            <a:r>
              <a:rPr sz="950" dirty="0">
                <a:latin typeface="Times New Roman"/>
                <a:cs typeface="Times New Roman"/>
              </a:rPr>
              <a:t>(i.e.</a:t>
            </a:r>
            <a:r>
              <a:rPr sz="950" spc="-20" dirty="0">
                <a:latin typeface="Times New Roman"/>
                <a:cs typeface="Times New Roman"/>
              </a:rPr>
              <a:t> </a:t>
            </a:r>
            <a:r>
              <a:rPr sz="950" dirty="0">
                <a:latin typeface="Times New Roman"/>
                <a:cs typeface="Times New Roman"/>
              </a:rPr>
              <a:t>read</a:t>
            </a:r>
            <a:r>
              <a:rPr sz="950" spc="-10" dirty="0">
                <a:latin typeface="Times New Roman"/>
                <a:cs typeface="Times New Roman"/>
              </a:rPr>
              <a:t> </a:t>
            </a:r>
            <a:r>
              <a:rPr sz="950" dirty="0">
                <a:latin typeface="Times New Roman"/>
                <a:cs typeface="Times New Roman"/>
              </a:rPr>
              <a:t>the</a:t>
            </a:r>
            <a:r>
              <a:rPr sz="950" spc="-25" dirty="0">
                <a:latin typeface="Times New Roman"/>
                <a:cs typeface="Times New Roman"/>
              </a:rPr>
              <a:t> </a:t>
            </a:r>
            <a:r>
              <a:rPr sz="950" spc="-10" dirty="0">
                <a:latin typeface="Times New Roman"/>
                <a:cs typeface="Times New Roman"/>
              </a:rPr>
              <a:t>write operation </a:t>
            </a:r>
            <a:r>
              <a:rPr sz="950" dirty="0">
                <a:latin typeface="Times New Roman"/>
                <a:cs typeface="Times New Roman"/>
              </a:rPr>
              <a:t>for</a:t>
            </a:r>
            <a:r>
              <a:rPr sz="950" spc="10" dirty="0">
                <a:latin typeface="Times New Roman"/>
                <a:cs typeface="Times New Roman"/>
              </a:rPr>
              <a:t> </a:t>
            </a:r>
            <a:r>
              <a:rPr sz="950" dirty="0">
                <a:latin typeface="Times New Roman"/>
                <a:cs typeface="Times New Roman"/>
              </a:rPr>
              <a:t>each </a:t>
            </a:r>
            <a:r>
              <a:rPr sz="950" spc="-20" dirty="0">
                <a:latin typeface="Times New Roman"/>
                <a:cs typeface="Times New Roman"/>
              </a:rPr>
              <a:t>row)</a:t>
            </a:r>
            <a:endParaRPr sz="950" dirty="0">
              <a:latin typeface="Times New Roman"/>
              <a:cs typeface="Times New Roman"/>
            </a:endParaRPr>
          </a:p>
        </p:txBody>
      </p:sp>
      <p:pic>
        <p:nvPicPr>
          <p:cNvPr id="3" name="object 3"/>
          <p:cNvPicPr/>
          <p:nvPr/>
        </p:nvPicPr>
        <p:blipFill>
          <a:blip r:embed="rId2" cstate="print"/>
          <a:stretch>
            <a:fillRect/>
          </a:stretch>
        </p:blipFill>
        <p:spPr>
          <a:xfrm>
            <a:off x="4639055" y="1711451"/>
            <a:ext cx="1171955" cy="1123188"/>
          </a:xfrm>
          <a:prstGeom prst="rect">
            <a:avLst/>
          </a:prstGeom>
        </p:spPr>
      </p:pic>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8" name="object 8"/>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ROM</a:t>
            </a:r>
            <a:r>
              <a:rPr sz="2200" spc="-60" dirty="0">
                <a:latin typeface="Georgia"/>
                <a:cs typeface="Georgia"/>
              </a:rPr>
              <a:t> </a:t>
            </a:r>
            <a:r>
              <a:rPr sz="2200" spc="-10" dirty="0">
                <a:latin typeface="Georgia"/>
                <a:cs typeface="Georgia"/>
              </a:rPr>
              <a:t>Technologies</a:t>
            </a:r>
            <a:endParaRPr sz="2200" dirty="0">
              <a:latin typeface="Georgia"/>
              <a:cs typeface="Georgia"/>
            </a:endParaRPr>
          </a:p>
          <a:p>
            <a:pPr marL="431800" indent="-169545">
              <a:lnSpc>
                <a:spcPct val="100000"/>
              </a:lnSpc>
              <a:spcBef>
                <a:spcPts val="1865"/>
              </a:spcBef>
              <a:buClr>
                <a:srgbClr val="3E762B"/>
              </a:buClr>
              <a:buFont typeface="Wingdings"/>
              <a:buChar char=""/>
              <a:tabLst>
                <a:tab pos="431800" algn="l"/>
              </a:tabLst>
            </a:pPr>
            <a:r>
              <a:rPr sz="1200" b="1" dirty="0">
                <a:latin typeface="Times New Roman"/>
                <a:cs typeface="Times New Roman"/>
              </a:rPr>
              <a:t>Fuse</a:t>
            </a:r>
            <a:r>
              <a:rPr sz="1200" b="1" spc="-25" dirty="0">
                <a:latin typeface="Times New Roman"/>
                <a:cs typeface="Times New Roman"/>
              </a:rPr>
              <a:t> </a:t>
            </a:r>
            <a:r>
              <a:rPr sz="1200" spc="-10" dirty="0">
                <a:latin typeface="Times New Roman"/>
                <a:cs typeface="Times New Roman"/>
              </a:rPr>
              <a:t>(one-</a:t>
            </a:r>
            <a:r>
              <a:rPr sz="1200" dirty="0">
                <a:latin typeface="Times New Roman"/>
                <a:cs typeface="Times New Roman"/>
              </a:rPr>
              <a:t>time</a:t>
            </a:r>
            <a:r>
              <a:rPr sz="1200" spc="-25" dirty="0">
                <a:latin typeface="Times New Roman"/>
                <a:cs typeface="Times New Roman"/>
              </a:rPr>
              <a:t> </a:t>
            </a:r>
            <a:r>
              <a:rPr sz="1200" spc="-10" dirty="0">
                <a:latin typeface="Times New Roman"/>
                <a:cs typeface="Times New Roman"/>
              </a:rPr>
              <a:t>programmed)</a:t>
            </a:r>
            <a:endParaRPr sz="1200" dirty="0">
              <a:latin typeface="Times New Roman"/>
              <a:cs typeface="Times New Roman"/>
            </a:endParaRPr>
          </a:p>
          <a:p>
            <a:pPr>
              <a:lnSpc>
                <a:spcPct val="100000"/>
              </a:lnSpc>
              <a:spcBef>
                <a:spcPts val="35"/>
              </a:spcBef>
              <a:buClr>
                <a:srgbClr val="3E762B"/>
              </a:buClr>
              <a:buFont typeface="Wingdings"/>
              <a:buChar char=""/>
            </a:pPr>
            <a:endParaRPr sz="1200" dirty="0">
              <a:latin typeface="Times New Roman"/>
              <a:cs typeface="Times New Roman"/>
            </a:endParaRPr>
          </a:p>
          <a:p>
            <a:pPr marL="431800" indent="-169545">
              <a:lnSpc>
                <a:spcPct val="100000"/>
              </a:lnSpc>
              <a:buClr>
                <a:srgbClr val="3E762B"/>
              </a:buClr>
              <a:buFont typeface="Wingdings"/>
              <a:buChar char=""/>
              <a:tabLst>
                <a:tab pos="431800" algn="l"/>
              </a:tabLst>
            </a:pPr>
            <a:r>
              <a:rPr sz="1200" b="1" dirty="0">
                <a:latin typeface="Times New Roman"/>
                <a:cs typeface="Times New Roman"/>
              </a:rPr>
              <a:t>EPROM</a:t>
            </a:r>
            <a:r>
              <a:rPr sz="1200" b="1" spc="-10" dirty="0">
                <a:latin typeface="Times New Roman"/>
                <a:cs typeface="Times New Roman"/>
              </a:rPr>
              <a:t> </a:t>
            </a:r>
            <a:r>
              <a:rPr sz="1200" dirty="0">
                <a:latin typeface="Times New Roman"/>
                <a:cs typeface="Times New Roman"/>
              </a:rPr>
              <a:t>(its</a:t>
            </a:r>
            <a:r>
              <a:rPr sz="1200" spc="-25" dirty="0">
                <a:latin typeface="Times New Roman"/>
                <a:cs typeface="Times New Roman"/>
              </a:rPr>
              <a:t> </a:t>
            </a:r>
            <a:r>
              <a:rPr sz="1200" dirty="0">
                <a:latin typeface="Times New Roman"/>
                <a:cs typeface="Times New Roman"/>
              </a:rPr>
              <a:t>cell</a:t>
            </a:r>
            <a:r>
              <a:rPr sz="1200" spc="-20" dirty="0">
                <a:latin typeface="Times New Roman"/>
                <a:cs typeface="Times New Roman"/>
              </a:rPr>
              <a:t> </a:t>
            </a:r>
            <a:r>
              <a:rPr sz="1200" dirty="0">
                <a:latin typeface="Times New Roman"/>
                <a:cs typeface="Times New Roman"/>
              </a:rPr>
              <a:t>is</a:t>
            </a:r>
            <a:r>
              <a:rPr sz="1200" spc="-15" dirty="0">
                <a:latin typeface="Times New Roman"/>
                <a:cs typeface="Times New Roman"/>
              </a:rPr>
              <a:t> </a:t>
            </a:r>
            <a:r>
              <a:rPr sz="1200" dirty="0">
                <a:latin typeface="Times New Roman"/>
                <a:cs typeface="Times New Roman"/>
              </a:rPr>
              <a:t>smaller</a:t>
            </a:r>
            <a:r>
              <a:rPr sz="1200" spc="-25" dirty="0">
                <a:latin typeface="Times New Roman"/>
                <a:cs typeface="Times New Roman"/>
              </a:rPr>
              <a:t> </a:t>
            </a:r>
            <a:r>
              <a:rPr sz="1200" dirty="0">
                <a:latin typeface="Times New Roman"/>
                <a:cs typeface="Times New Roman"/>
              </a:rPr>
              <a:t>than</a:t>
            </a:r>
            <a:r>
              <a:rPr sz="1200" spc="-20" dirty="0">
                <a:latin typeface="Times New Roman"/>
                <a:cs typeface="Times New Roman"/>
              </a:rPr>
              <a:t> </a:t>
            </a:r>
            <a:r>
              <a:rPr sz="1200" dirty="0">
                <a:latin typeface="Times New Roman"/>
                <a:cs typeface="Times New Roman"/>
              </a:rPr>
              <a:t>SRAM</a:t>
            </a:r>
            <a:r>
              <a:rPr sz="1200" spc="-30" dirty="0">
                <a:latin typeface="Times New Roman"/>
                <a:cs typeface="Times New Roman"/>
              </a:rPr>
              <a:t> </a:t>
            </a:r>
            <a:r>
              <a:rPr sz="1200" dirty="0">
                <a:latin typeface="Times New Roman"/>
                <a:cs typeface="Times New Roman"/>
              </a:rPr>
              <a:t>but</a:t>
            </a:r>
            <a:r>
              <a:rPr sz="1200" spc="-15" dirty="0">
                <a:latin typeface="Times New Roman"/>
                <a:cs typeface="Times New Roman"/>
              </a:rPr>
              <a:t> </a:t>
            </a:r>
            <a:r>
              <a:rPr sz="1200" dirty="0">
                <a:latin typeface="Times New Roman"/>
                <a:cs typeface="Times New Roman"/>
              </a:rPr>
              <a:t>out</a:t>
            </a:r>
            <a:r>
              <a:rPr sz="1200" spc="-2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chip</a:t>
            </a:r>
            <a:r>
              <a:rPr sz="1200" spc="-20" dirty="0">
                <a:latin typeface="Times New Roman"/>
                <a:cs typeface="Times New Roman"/>
              </a:rPr>
              <a:t> </a:t>
            </a:r>
            <a:r>
              <a:rPr sz="1200" spc="-10" dirty="0">
                <a:latin typeface="Times New Roman"/>
                <a:cs typeface="Times New Roman"/>
              </a:rPr>
              <a:t>programmed</a:t>
            </a:r>
            <a:r>
              <a:rPr sz="1200" spc="-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erased)</a:t>
            </a:r>
            <a:endParaRPr sz="1200" dirty="0">
              <a:latin typeface="Times New Roman"/>
              <a:cs typeface="Times New Roman"/>
            </a:endParaRPr>
          </a:p>
          <a:p>
            <a:pPr>
              <a:lnSpc>
                <a:spcPct val="100000"/>
              </a:lnSpc>
              <a:spcBef>
                <a:spcPts val="45"/>
              </a:spcBef>
              <a:buClr>
                <a:srgbClr val="3E762B"/>
              </a:buClr>
              <a:buFont typeface="Wingdings"/>
              <a:buChar char=""/>
            </a:pPr>
            <a:endParaRPr sz="1200" dirty="0">
              <a:latin typeface="Times New Roman"/>
              <a:cs typeface="Times New Roman"/>
            </a:endParaRPr>
          </a:p>
          <a:p>
            <a:pPr marL="432434" indent="-170180">
              <a:lnSpc>
                <a:spcPct val="100000"/>
              </a:lnSpc>
              <a:spcBef>
                <a:spcPts val="5"/>
              </a:spcBef>
              <a:buClr>
                <a:srgbClr val="3E762B"/>
              </a:buClr>
              <a:buFont typeface="Wingdings"/>
              <a:buChar char=""/>
              <a:tabLst>
                <a:tab pos="432434" algn="l"/>
              </a:tabLst>
            </a:pPr>
            <a:r>
              <a:rPr sz="1200" b="1" dirty="0">
                <a:latin typeface="Times New Roman"/>
                <a:cs typeface="Times New Roman"/>
              </a:rPr>
              <a:t>EEPROM</a:t>
            </a:r>
            <a:r>
              <a:rPr sz="1200" b="1" spc="-25" dirty="0">
                <a:latin typeface="Times New Roman"/>
                <a:cs typeface="Times New Roman"/>
              </a:rPr>
              <a:t> </a:t>
            </a:r>
            <a:r>
              <a:rPr sz="1200" dirty="0">
                <a:latin typeface="Times New Roman"/>
                <a:cs typeface="Times New Roman"/>
              </a:rPr>
              <a:t>(its</a:t>
            </a:r>
            <a:r>
              <a:rPr sz="1200" spc="-35" dirty="0">
                <a:latin typeface="Times New Roman"/>
                <a:cs typeface="Times New Roman"/>
              </a:rPr>
              <a:t> </a:t>
            </a:r>
            <a:r>
              <a:rPr sz="1200" dirty="0">
                <a:latin typeface="Times New Roman"/>
                <a:cs typeface="Times New Roman"/>
              </a:rPr>
              <a:t>cell</a:t>
            </a:r>
            <a:r>
              <a:rPr sz="1200" spc="-2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smaller</a:t>
            </a:r>
            <a:r>
              <a:rPr sz="1200" spc="-45" dirty="0">
                <a:latin typeface="Times New Roman"/>
                <a:cs typeface="Times New Roman"/>
              </a:rPr>
              <a:t> </a:t>
            </a:r>
            <a:r>
              <a:rPr sz="1200" dirty="0">
                <a:latin typeface="Times New Roman"/>
                <a:cs typeface="Times New Roman"/>
              </a:rPr>
              <a:t>than</a:t>
            </a:r>
            <a:r>
              <a:rPr sz="1200" spc="-25" dirty="0">
                <a:latin typeface="Times New Roman"/>
                <a:cs typeface="Times New Roman"/>
              </a:rPr>
              <a:t> </a:t>
            </a:r>
            <a:r>
              <a:rPr sz="1200" dirty="0">
                <a:latin typeface="Times New Roman"/>
                <a:cs typeface="Times New Roman"/>
              </a:rPr>
              <a:t>SRAM</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on-</a:t>
            </a:r>
            <a:r>
              <a:rPr sz="1200" dirty="0">
                <a:latin typeface="Times New Roman"/>
                <a:cs typeface="Times New Roman"/>
              </a:rPr>
              <a:t>chip</a:t>
            </a:r>
            <a:r>
              <a:rPr sz="1200" spc="-15" dirty="0">
                <a:latin typeface="Times New Roman"/>
                <a:cs typeface="Times New Roman"/>
              </a:rPr>
              <a:t> </a:t>
            </a:r>
            <a:r>
              <a:rPr sz="1200" dirty="0">
                <a:latin typeface="Times New Roman"/>
                <a:cs typeface="Times New Roman"/>
              </a:rPr>
              <a:t>programmed</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erased)</a:t>
            </a:r>
            <a:endParaRPr sz="1200" dirty="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14</a:t>
            </a:fld>
            <a:endParaRPr spc="-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44068" y="1720596"/>
            <a:ext cx="2808732" cy="2423159"/>
          </a:xfrm>
          <a:prstGeom prst="rect">
            <a:avLst/>
          </a:prstGeom>
        </p:spPr>
      </p:pic>
      <p:sp>
        <p:nvSpPr>
          <p:cNvPr id="3" name="object 3"/>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Magnetic</a:t>
            </a:r>
            <a:r>
              <a:rPr sz="2200" spc="-114" dirty="0">
                <a:latin typeface="Georgia"/>
                <a:cs typeface="Georgia"/>
              </a:rPr>
              <a:t> </a:t>
            </a:r>
            <a:r>
              <a:rPr sz="2200" spc="-20" dirty="0">
                <a:latin typeface="Georgia"/>
                <a:cs typeface="Georgia"/>
              </a:rPr>
              <a:t>Disk</a:t>
            </a:r>
            <a:endParaRPr sz="2200">
              <a:latin typeface="Georgia"/>
              <a:cs typeface="Georgia"/>
            </a:endParaRPr>
          </a:p>
        </p:txBody>
      </p:sp>
      <p:pic>
        <p:nvPicPr>
          <p:cNvPr id="4" name="object 4"/>
          <p:cNvPicPr/>
          <p:nvPr/>
        </p:nvPicPr>
        <p:blipFill>
          <a:blip r:embed="rId3" cstate="print"/>
          <a:stretch>
            <a:fillRect/>
          </a:stretch>
        </p:blipFill>
        <p:spPr>
          <a:xfrm>
            <a:off x="3235451" y="1021080"/>
            <a:ext cx="3093720" cy="1920239"/>
          </a:xfrm>
          <a:prstGeom prst="rect">
            <a:avLst/>
          </a:prstGeom>
        </p:spPr>
      </p:pic>
      <p:grpSp>
        <p:nvGrpSpPr>
          <p:cNvPr id="5" name="object 5"/>
          <p:cNvGrpSpPr/>
          <p:nvPr/>
        </p:nvGrpSpPr>
        <p:grpSpPr>
          <a:xfrm>
            <a:off x="381000" y="4844796"/>
            <a:ext cx="6096000" cy="3429000"/>
            <a:chOff x="381000" y="4844796"/>
            <a:chExt cx="6096000" cy="3429000"/>
          </a:xfrm>
        </p:grpSpPr>
        <p:sp>
          <p:nvSpPr>
            <p:cNvPr id="6" name="object 6"/>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7" name="object 7"/>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8" name="object 8"/>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9" name="object 9"/>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Magnetic</a:t>
            </a:r>
            <a:r>
              <a:rPr sz="2200" spc="-70" dirty="0">
                <a:latin typeface="Georgia"/>
                <a:cs typeface="Georgia"/>
              </a:rPr>
              <a:t> </a:t>
            </a:r>
            <a:r>
              <a:rPr sz="2200" dirty="0">
                <a:latin typeface="Georgia"/>
                <a:cs typeface="Georgia"/>
              </a:rPr>
              <a:t>Disk</a:t>
            </a:r>
            <a:r>
              <a:rPr sz="2200" spc="-75" dirty="0">
                <a:latin typeface="Georgia"/>
                <a:cs typeface="Georgia"/>
              </a:rPr>
              <a:t> </a:t>
            </a:r>
            <a:r>
              <a:rPr sz="2200" dirty="0">
                <a:latin typeface="Georgia"/>
                <a:cs typeface="Georgia"/>
              </a:rPr>
              <a:t>(Hard</a:t>
            </a:r>
            <a:r>
              <a:rPr sz="2200" spc="-80" dirty="0">
                <a:latin typeface="Georgia"/>
                <a:cs typeface="Georgia"/>
              </a:rPr>
              <a:t> </a:t>
            </a:r>
            <a:r>
              <a:rPr sz="2200" spc="-10" dirty="0">
                <a:latin typeface="Georgia"/>
                <a:cs typeface="Georgia"/>
              </a:rPr>
              <a:t>disk)</a:t>
            </a:r>
            <a:endParaRPr sz="2200" dirty="0">
              <a:latin typeface="Georgia"/>
              <a:cs typeface="Georgia"/>
            </a:endParaRPr>
          </a:p>
          <a:p>
            <a:pPr marL="434975" marR="542290" indent="-172720">
              <a:lnSpc>
                <a:spcPct val="100000"/>
              </a:lnSpc>
              <a:spcBef>
                <a:spcPts val="1570"/>
              </a:spcBef>
              <a:buClr>
                <a:srgbClr val="3E762B"/>
              </a:buClr>
              <a:buFont typeface="Wingdings"/>
              <a:buChar char=""/>
              <a:tabLst>
                <a:tab pos="436245" algn="l"/>
              </a:tabLst>
            </a:pP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magnetic</a:t>
            </a:r>
            <a:r>
              <a:rPr sz="1200" spc="-30" dirty="0">
                <a:latin typeface="Times New Roman"/>
                <a:cs typeface="Times New Roman"/>
              </a:rPr>
              <a:t> </a:t>
            </a:r>
            <a:r>
              <a:rPr sz="1200" dirty="0">
                <a:latin typeface="Times New Roman"/>
                <a:cs typeface="Times New Roman"/>
              </a:rPr>
              <a:t>disk</a:t>
            </a:r>
            <a:r>
              <a:rPr sz="1200" spc="-35"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b="1" spc="-10" dirty="0">
                <a:latin typeface="Times New Roman"/>
                <a:cs typeface="Times New Roman"/>
              </a:rPr>
              <a:t>circular</a:t>
            </a:r>
            <a:r>
              <a:rPr sz="1200" b="1" spc="-40" dirty="0">
                <a:latin typeface="Times New Roman"/>
                <a:cs typeface="Times New Roman"/>
              </a:rPr>
              <a:t> </a:t>
            </a:r>
            <a:r>
              <a:rPr sz="1200" b="1" dirty="0">
                <a:latin typeface="Times New Roman"/>
                <a:cs typeface="Times New Roman"/>
              </a:rPr>
              <a:t>plate</a:t>
            </a:r>
            <a:r>
              <a:rPr sz="1200" b="1" spc="-40" dirty="0">
                <a:latin typeface="Times New Roman"/>
                <a:cs typeface="Times New Roman"/>
              </a:rPr>
              <a:t> </a:t>
            </a:r>
            <a:r>
              <a:rPr sz="1200" dirty="0">
                <a:latin typeface="Times New Roman"/>
                <a:cs typeface="Times New Roman"/>
              </a:rPr>
              <a:t>constructed</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b="1" dirty="0">
                <a:latin typeface="Times New Roman"/>
                <a:cs typeface="Times New Roman"/>
              </a:rPr>
              <a:t>metal</a:t>
            </a:r>
            <a:r>
              <a:rPr sz="1200" b="1" spc="-5" dirty="0">
                <a:latin typeface="Times New Roman"/>
                <a:cs typeface="Times New Roman"/>
              </a:rPr>
              <a:t> </a:t>
            </a:r>
            <a:r>
              <a:rPr sz="1200" b="1" dirty="0">
                <a:latin typeface="Times New Roman"/>
                <a:cs typeface="Times New Roman"/>
              </a:rPr>
              <a:t>or</a:t>
            </a:r>
            <a:r>
              <a:rPr sz="1200" b="1" spc="-55" dirty="0">
                <a:latin typeface="Times New Roman"/>
                <a:cs typeface="Times New Roman"/>
              </a:rPr>
              <a:t> </a:t>
            </a:r>
            <a:r>
              <a:rPr sz="1200" b="1" dirty="0">
                <a:latin typeface="Times New Roman"/>
                <a:cs typeface="Times New Roman"/>
              </a:rPr>
              <a:t>plastic</a:t>
            </a:r>
            <a:r>
              <a:rPr sz="1200" b="1" spc="-20" dirty="0">
                <a:latin typeface="Times New Roman"/>
                <a:cs typeface="Times New Roman"/>
              </a:rPr>
              <a:t> </a:t>
            </a:r>
            <a:r>
              <a:rPr sz="1200" b="1" dirty="0">
                <a:latin typeface="Times New Roman"/>
                <a:cs typeface="Times New Roman"/>
              </a:rPr>
              <a:t>coated</a:t>
            </a:r>
            <a:r>
              <a:rPr sz="1200" b="1" spc="-25" dirty="0">
                <a:latin typeface="Times New Roman"/>
                <a:cs typeface="Times New Roman"/>
              </a:rPr>
              <a:t> </a:t>
            </a:r>
            <a:r>
              <a:rPr sz="1200" b="1" spc="-20" dirty="0">
                <a:latin typeface="Times New Roman"/>
                <a:cs typeface="Times New Roman"/>
              </a:rPr>
              <a:t>with 	</a:t>
            </a:r>
            <a:r>
              <a:rPr sz="1200" b="1" dirty="0">
                <a:latin typeface="Times New Roman"/>
                <a:cs typeface="Times New Roman"/>
              </a:rPr>
              <a:t>magnetized</a:t>
            </a:r>
            <a:r>
              <a:rPr sz="1200" b="1" spc="-50" dirty="0">
                <a:latin typeface="Times New Roman"/>
                <a:cs typeface="Times New Roman"/>
              </a:rPr>
              <a:t> </a:t>
            </a:r>
            <a:r>
              <a:rPr sz="1200" b="1" spc="-10" dirty="0">
                <a:latin typeface="Times New Roman"/>
                <a:cs typeface="Times New Roman"/>
              </a:rPr>
              <a:t>material.</a:t>
            </a:r>
            <a:endParaRPr sz="1200" dirty="0">
              <a:latin typeface="Times New Roman"/>
              <a:cs typeface="Times New Roman"/>
            </a:endParaRPr>
          </a:p>
          <a:p>
            <a:pPr marL="434975" marR="624205" indent="-172720">
              <a:lnSpc>
                <a:spcPct val="100000"/>
              </a:lnSpc>
              <a:spcBef>
                <a:spcPts val="905"/>
              </a:spcBef>
              <a:buClr>
                <a:srgbClr val="3E762B"/>
              </a:buClr>
              <a:buFont typeface="Wingdings"/>
              <a:buChar char=""/>
              <a:tabLst>
                <a:tab pos="436245" algn="l"/>
              </a:tabLst>
            </a:pPr>
            <a:r>
              <a:rPr sz="1200" dirty="0">
                <a:latin typeface="Times New Roman"/>
                <a:cs typeface="Times New Roman"/>
              </a:rPr>
              <a:t>Often</a:t>
            </a:r>
            <a:r>
              <a:rPr sz="1200" spc="-10" dirty="0">
                <a:latin typeface="Times New Roman"/>
                <a:cs typeface="Times New Roman"/>
              </a:rPr>
              <a:t> </a:t>
            </a:r>
            <a:r>
              <a:rPr sz="1200" b="1" dirty="0">
                <a:latin typeface="Times New Roman"/>
                <a:cs typeface="Times New Roman"/>
              </a:rPr>
              <a:t>both</a:t>
            </a:r>
            <a:r>
              <a:rPr sz="1200" b="1" spc="-30" dirty="0">
                <a:latin typeface="Times New Roman"/>
                <a:cs typeface="Times New Roman"/>
              </a:rPr>
              <a:t> </a:t>
            </a:r>
            <a:r>
              <a:rPr sz="1200" b="1" dirty="0">
                <a:latin typeface="Times New Roman"/>
                <a:cs typeface="Times New Roman"/>
              </a:rPr>
              <a:t>sides</a:t>
            </a:r>
            <a:r>
              <a:rPr sz="1200" b="1" spc="-15" dirty="0">
                <a:latin typeface="Times New Roman"/>
                <a:cs typeface="Times New Roman"/>
              </a:rPr>
              <a:t> </a:t>
            </a:r>
            <a:r>
              <a:rPr sz="1200" b="1" dirty="0">
                <a:latin typeface="Times New Roman"/>
                <a:cs typeface="Times New Roman"/>
              </a:rPr>
              <a:t>of</a:t>
            </a:r>
            <a:r>
              <a:rPr sz="1200" b="1" spc="-20" dirty="0">
                <a:latin typeface="Times New Roman"/>
                <a:cs typeface="Times New Roman"/>
              </a:rPr>
              <a:t> </a:t>
            </a:r>
            <a:r>
              <a:rPr sz="1200" b="1" dirty="0">
                <a:latin typeface="Times New Roman"/>
                <a:cs typeface="Times New Roman"/>
              </a:rPr>
              <a:t>the</a:t>
            </a:r>
            <a:r>
              <a:rPr sz="1200" b="1" spc="-15" dirty="0">
                <a:latin typeface="Times New Roman"/>
                <a:cs typeface="Times New Roman"/>
              </a:rPr>
              <a:t> </a:t>
            </a:r>
            <a:r>
              <a:rPr sz="1200" b="1" dirty="0">
                <a:latin typeface="Times New Roman"/>
                <a:cs typeface="Times New Roman"/>
              </a:rPr>
              <a:t>disk</a:t>
            </a:r>
            <a:r>
              <a:rPr sz="1200" b="1" spc="-1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used</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several</a:t>
            </a:r>
            <a:r>
              <a:rPr sz="1200" spc="-10" dirty="0">
                <a:latin typeface="Times New Roman"/>
                <a:cs typeface="Times New Roman"/>
              </a:rPr>
              <a:t> </a:t>
            </a:r>
            <a:r>
              <a:rPr sz="1200" dirty="0">
                <a:latin typeface="Times New Roman"/>
                <a:cs typeface="Times New Roman"/>
              </a:rPr>
              <a:t>disks</a:t>
            </a:r>
            <a:r>
              <a:rPr sz="1200" spc="-15" dirty="0">
                <a:latin typeface="Times New Roman"/>
                <a:cs typeface="Times New Roman"/>
              </a:rPr>
              <a:t> </a:t>
            </a:r>
            <a:r>
              <a:rPr sz="1200" dirty="0">
                <a:latin typeface="Times New Roman"/>
                <a:cs typeface="Times New Roman"/>
              </a:rPr>
              <a:t>may</a:t>
            </a:r>
            <a:r>
              <a:rPr sz="1200" spc="-20"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dirty="0">
                <a:latin typeface="Times New Roman"/>
                <a:cs typeface="Times New Roman"/>
              </a:rPr>
              <a:t>stacked</a:t>
            </a:r>
            <a:r>
              <a:rPr sz="1200" spc="-10" dirty="0">
                <a:latin typeface="Times New Roman"/>
                <a:cs typeface="Times New Roman"/>
              </a:rPr>
              <a:t> </a:t>
            </a:r>
            <a:r>
              <a:rPr sz="1200" dirty="0">
                <a:latin typeface="Times New Roman"/>
                <a:cs typeface="Times New Roman"/>
              </a:rPr>
              <a:t>on</a:t>
            </a:r>
            <a:r>
              <a:rPr sz="1200" spc="-15" dirty="0">
                <a:latin typeface="Times New Roman"/>
                <a:cs typeface="Times New Roman"/>
              </a:rPr>
              <a:t> </a:t>
            </a:r>
            <a:r>
              <a:rPr sz="1200" spc="-25" dirty="0">
                <a:latin typeface="Times New Roman"/>
                <a:cs typeface="Times New Roman"/>
              </a:rPr>
              <a:t>one 	</a:t>
            </a:r>
            <a:r>
              <a:rPr sz="1200" dirty="0">
                <a:latin typeface="Times New Roman"/>
                <a:cs typeface="Times New Roman"/>
              </a:rPr>
              <a:t>spindle</a:t>
            </a:r>
            <a:r>
              <a:rPr sz="1200" spc="-30"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b="1" dirty="0">
                <a:latin typeface="Times New Roman"/>
                <a:cs typeface="Times New Roman"/>
              </a:rPr>
              <a:t>read/write</a:t>
            </a:r>
            <a:r>
              <a:rPr sz="1200" b="1" spc="-40" dirty="0">
                <a:latin typeface="Times New Roman"/>
                <a:cs typeface="Times New Roman"/>
              </a:rPr>
              <a:t> </a:t>
            </a:r>
            <a:r>
              <a:rPr sz="1200" b="1" dirty="0">
                <a:latin typeface="Times New Roman"/>
                <a:cs typeface="Times New Roman"/>
              </a:rPr>
              <a:t>heads</a:t>
            </a:r>
            <a:r>
              <a:rPr sz="1200" b="1" spc="-25" dirty="0">
                <a:latin typeface="Times New Roman"/>
                <a:cs typeface="Times New Roman"/>
              </a:rPr>
              <a:t> </a:t>
            </a:r>
            <a:r>
              <a:rPr sz="1200" dirty="0">
                <a:latin typeface="Times New Roman"/>
                <a:cs typeface="Times New Roman"/>
              </a:rPr>
              <a:t>available</a:t>
            </a:r>
            <a:r>
              <a:rPr sz="1200" spc="-30" dirty="0">
                <a:latin typeface="Times New Roman"/>
                <a:cs typeface="Times New Roman"/>
              </a:rPr>
              <a:t> </a:t>
            </a:r>
            <a:r>
              <a:rPr sz="1200" dirty="0">
                <a:latin typeface="Times New Roman"/>
                <a:cs typeface="Times New Roman"/>
              </a:rPr>
              <a:t>on</a:t>
            </a:r>
            <a:r>
              <a:rPr sz="1200" spc="-30" dirty="0">
                <a:latin typeface="Times New Roman"/>
                <a:cs typeface="Times New Roman"/>
              </a:rPr>
              <a:t> </a:t>
            </a:r>
            <a:r>
              <a:rPr sz="1200" dirty="0">
                <a:latin typeface="Times New Roman"/>
                <a:cs typeface="Times New Roman"/>
              </a:rPr>
              <a:t>each</a:t>
            </a:r>
            <a:r>
              <a:rPr sz="1200" spc="-20" dirty="0">
                <a:latin typeface="Times New Roman"/>
                <a:cs typeface="Times New Roman"/>
              </a:rPr>
              <a:t> </a:t>
            </a:r>
            <a:r>
              <a:rPr sz="1200" spc="-10" dirty="0">
                <a:latin typeface="Times New Roman"/>
                <a:cs typeface="Times New Roman"/>
              </a:rPr>
              <a:t>surface.</a:t>
            </a:r>
            <a:endParaRPr sz="1200" dirty="0">
              <a:latin typeface="Times New Roman"/>
              <a:cs typeface="Times New Roman"/>
            </a:endParaRPr>
          </a:p>
          <a:p>
            <a:pPr marL="434975" indent="-172720">
              <a:lnSpc>
                <a:spcPct val="100000"/>
              </a:lnSpc>
              <a:spcBef>
                <a:spcPts val="894"/>
              </a:spcBef>
              <a:buClr>
                <a:srgbClr val="3E762B"/>
              </a:buClr>
              <a:buFont typeface="Wingdings"/>
              <a:buChar char=""/>
              <a:tabLst>
                <a:tab pos="434975" algn="l"/>
              </a:tabLst>
            </a:pPr>
            <a:r>
              <a:rPr sz="1200" dirty="0">
                <a:latin typeface="Times New Roman"/>
                <a:cs typeface="Times New Roman"/>
              </a:rPr>
              <a:t>All</a:t>
            </a:r>
            <a:r>
              <a:rPr sz="1200" spc="-30" dirty="0">
                <a:latin typeface="Times New Roman"/>
                <a:cs typeface="Times New Roman"/>
              </a:rPr>
              <a:t> </a:t>
            </a:r>
            <a:r>
              <a:rPr sz="1200" dirty="0">
                <a:latin typeface="Times New Roman"/>
                <a:cs typeface="Times New Roman"/>
              </a:rPr>
              <a:t>disks</a:t>
            </a:r>
            <a:r>
              <a:rPr sz="1200" spc="-40" dirty="0">
                <a:latin typeface="Times New Roman"/>
                <a:cs typeface="Times New Roman"/>
              </a:rPr>
              <a:t> </a:t>
            </a:r>
            <a:r>
              <a:rPr sz="1200" dirty="0">
                <a:latin typeface="Times New Roman"/>
                <a:cs typeface="Times New Roman"/>
              </a:rPr>
              <a:t>rotate</a:t>
            </a:r>
            <a:r>
              <a:rPr sz="1200" spc="-30" dirty="0">
                <a:latin typeface="Times New Roman"/>
                <a:cs typeface="Times New Roman"/>
              </a:rPr>
              <a:t> </a:t>
            </a:r>
            <a:r>
              <a:rPr sz="1200" dirty="0">
                <a:latin typeface="Times New Roman"/>
                <a:cs typeface="Times New Roman"/>
              </a:rPr>
              <a:t>together</a:t>
            </a:r>
            <a:r>
              <a:rPr sz="1200" spc="-15" dirty="0">
                <a:latin typeface="Times New Roman"/>
                <a:cs typeface="Times New Roman"/>
              </a:rPr>
              <a:t> </a:t>
            </a:r>
            <a:r>
              <a:rPr sz="1200" dirty="0">
                <a:latin typeface="Times New Roman"/>
                <a:cs typeface="Times New Roman"/>
              </a:rPr>
              <a:t>at</a:t>
            </a:r>
            <a:r>
              <a:rPr sz="1200" spc="-35" dirty="0">
                <a:latin typeface="Times New Roman"/>
                <a:cs typeface="Times New Roman"/>
              </a:rPr>
              <a:t> </a:t>
            </a:r>
            <a:r>
              <a:rPr sz="1200" dirty="0">
                <a:latin typeface="Times New Roman"/>
                <a:cs typeface="Times New Roman"/>
              </a:rPr>
              <a:t>high</a:t>
            </a:r>
            <a:r>
              <a:rPr sz="1200" spc="-20" dirty="0">
                <a:latin typeface="Times New Roman"/>
                <a:cs typeface="Times New Roman"/>
              </a:rPr>
              <a:t> </a:t>
            </a:r>
            <a:r>
              <a:rPr sz="1200" spc="-10" dirty="0">
                <a:latin typeface="Times New Roman"/>
                <a:cs typeface="Times New Roman"/>
              </a:rPr>
              <a:t>speed.</a:t>
            </a:r>
            <a:endParaRPr sz="1200" dirty="0">
              <a:latin typeface="Times New Roman"/>
              <a:cs typeface="Times New Roman"/>
            </a:endParaRPr>
          </a:p>
          <a:p>
            <a:pPr marL="434975" indent="-172720">
              <a:lnSpc>
                <a:spcPct val="100000"/>
              </a:lnSpc>
              <a:spcBef>
                <a:spcPts val="905"/>
              </a:spcBef>
              <a:buClr>
                <a:srgbClr val="3E762B"/>
              </a:buClr>
              <a:buFont typeface="Wingdings"/>
              <a:buChar char=""/>
              <a:tabLst>
                <a:tab pos="434975" algn="l"/>
              </a:tabLst>
            </a:pPr>
            <a:r>
              <a:rPr sz="1200" dirty="0">
                <a:latin typeface="Times New Roman"/>
                <a:cs typeface="Times New Roman"/>
              </a:rPr>
              <a:t>Bits</a:t>
            </a:r>
            <a:r>
              <a:rPr sz="1200" spc="-25"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stored</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magnetized</a:t>
            </a:r>
            <a:r>
              <a:rPr sz="1200" spc="-35" dirty="0">
                <a:latin typeface="Times New Roman"/>
                <a:cs typeface="Times New Roman"/>
              </a:rPr>
              <a:t> </a:t>
            </a:r>
            <a:r>
              <a:rPr sz="1200" dirty="0">
                <a:latin typeface="Times New Roman"/>
                <a:cs typeface="Times New Roman"/>
              </a:rPr>
              <a:t>surface</a:t>
            </a:r>
            <a:r>
              <a:rPr sz="1200" spc="-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spots</a:t>
            </a:r>
            <a:r>
              <a:rPr sz="1200" spc="-30" dirty="0">
                <a:latin typeface="Times New Roman"/>
                <a:cs typeface="Times New Roman"/>
              </a:rPr>
              <a:t> </a:t>
            </a:r>
            <a:r>
              <a:rPr sz="1200" dirty="0">
                <a:latin typeface="Times New Roman"/>
                <a:cs typeface="Times New Roman"/>
              </a:rPr>
              <a:t>along</a:t>
            </a:r>
            <a:r>
              <a:rPr sz="1200" spc="-20" dirty="0">
                <a:latin typeface="Times New Roman"/>
                <a:cs typeface="Times New Roman"/>
              </a:rPr>
              <a:t> </a:t>
            </a:r>
            <a:r>
              <a:rPr sz="1200" dirty="0">
                <a:latin typeface="Times New Roman"/>
                <a:cs typeface="Times New Roman"/>
              </a:rPr>
              <a:t>concentric</a:t>
            </a:r>
            <a:r>
              <a:rPr sz="1200" spc="-20" dirty="0">
                <a:latin typeface="Times New Roman"/>
                <a:cs typeface="Times New Roman"/>
              </a:rPr>
              <a:t> </a:t>
            </a:r>
            <a:r>
              <a:rPr sz="1200" dirty="0">
                <a:latin typeface="Times New Roman"/>
                <a:cs typeface="Times New Roman"/>
              </a:rPr>
              <a:t>circles</a:t>
            </a:r>
            <a:r>
              <a:rPr sz="1200" spc="-20" dirty="0">
                <a:latin typeface="Times New Roman"/>
                <a:cs typeface="Times New Roman"/>
              </a:rPr>
              <a:t> </a:t>
            </a:r>
            <a:r>
              <a:rPr sz="1200" spc="-10" dirty="0">
                <a:latin typeface="Times New Roman"/>
                <a:cs typeface="Times New Roman"/>
              </a:rPr>
              <a:t>called</a:t>
            </a:r>
            <a:endParaRPr sz="1200" dirty="0">
              <a:latin typeface="Times New Roman"/>
              <a:cs typeface="Times New Roman"/>
            </a:endParaRPr>
          </a:p>
          <a:p>
            <a:pPr marL="436245">
              <a:lnSpc>
                <a:spcPct val="100000"/>
              </a:lnSpc>
            </a:pPr>
            <a:r>
              <a:rPr sz="1200" b="1" spc="-10" dirty="0">
                <a:latin typeface="Times New Roman"/>
                <a:cs typeface="Times New Roman"/>
              </a:rPr>
              <a:t>tracks</a:t>
            </a:r>
            <a:r>
              <a:rPr sz="1200" spc="-10" dirty="0">
                <a:latin typeface="Times New Roman"/>
                <a:cs typeface="Times New Roman"/>
              </a:rPr>
              <a:t>.</a:t>
            </a:r>
            <a:endParaRPr sz="1200" dirty="0">
              <a:latin typeface="Times New Roman"/>
              <a:cs typeface="Times New Roman"/>
            </a:endParaRPr>
          </a:p>
          <a:p>
            <a:pPr marL="434975" indent="-172720">
              <a:lnSpc>
                <a:spcPct val="100000"/>
              </a:lnSpc>
              <a:spcBef>
                <a:spcPts val="900"/>
              </a:spcBef>
              <a:buClr>
                <a:srgbClr val="3E762B"/>
              </a:buClr>
              <a:buFont typeface="Wingdings"/>
              <a:buChar char=""/>
              <a:tabLst>
                <a:tab pos="434975" algn="l"/>
              </a:tabLst>
            </a:pP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tracks</a:t>
            </a:r>
            <a:r>
              <a:rPr sz="1200" spc="-25" dirty="0">
                <a:latin typeface="Times New Roman"/>
                <a:cs typeface="Times New Roman"/>
              </a:rPr>
              <a:t>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commonly</a:t>
            </a:r>
            <a:r>
              <a:rPr sz="1200" spc="-45" dirty="0">
                <a:latin typeface="Times New Roman"/>
                <a:cs typeface="Times New Roman"/>
              </a:rPr>
              <a:t> </a:t>
            </a:r>
            <a:r>
              <a:rPr sz="1200" dirty="0">
                <a:latin typeface="Times New Roman"/>
                <a:cs typeface="Times New Roman"/>
              </a:rPr>
              <a:t>divided</a:t>
            </a:r>
            <a:r>
              <a:rPr sz="1200" spc="-50" dirty="0">
                <a:latin typeface="Times New Roman"/>
                <a:cs typeface="Times New Roman"/>
              </a:rPr>
              <a:t> </a:t>
            </a:r>
            <a:r>
              <a:rPr sz="1200" dirty="0">
                <a:latin typeface="Times New Roman"/>
                <a:cs typeface="Times New Roman"/>
              </a:rPr>
              <a:t>into</a:t>
            </a:r>
            <a:r>
              <a:rPr sz="1200" spc="-45" dirty="0">
                <a:latin typeface="Times New Roman"/>
                <a:cs typeface="Times New Roman"/>
              </a:rPr>
              <a:t> </a:t>
            </a:r>
            <a:r>
              <a:rPr sz="1200" dirty="0">
                <a:latin typeface="Times New Roman"/>
                <a:cs typeface="Times New Roman"/>
              </a:rPr>
              <a:t>sections</a:t>
            </a:r>
            <a:r>
              <a:rPr sz="1200" spc="-30" dirty="0">
                <a:latin typeface="Times New Roman"/>
                <a:cs typeface="Times New Roman"/>
              </a:rPr>
              <a:t> </a:t>
            </a:r>
            <a:r>
              <a:rPr sz="1200" dirty="0">
                <a:latin typeface="Times New Roman"/>
                <a:cs typeface="Times New Roman"/>
              </a:rPr>
              <a:t>called</a:t>
            </a:r>
            <a:r>
              <a:rPr sz="1200" spc="-20" dirty="0">
                <a:latin typeface="Times New Roman"/>
                <a:cs typeface="Times New Roman"/>
              </a:rPr>
              <a:t> </a:t>
            </a:r>
            <a:r>
              <a:rPr sz="1200" b="1" spc="-10" dirty="0">
                <a:latin typeface="Times New Roman"/>
                <a:cs typeface="Times New Roman"/>
              </a:rPr>
              <a:t>sectors</a:t>
            </a:r>
            <a:r>
              <a:rPr sz="1200" spc="-10" dirty="0">
                <a:latin typeface="Times New Roman"/>
                <a:cs typeface="Times New Roman"/>
              </a:rPr>
              <a:t>.</a:t>
            </a:r>
            <a:endParaRPr sz="1200" dirty="0">
              <a:latin typeface="Times New Roman"/>
              <a:cs typeface="Times New Roman"/>
            </a:endParaRPr>
          </a:p>
          <a:p>
            <a:pPr marL="434975" marR="454659" indent="-172720">
              <a:lnSpc>
                <a:spcPct val="100000"/>
              </a:lnSpc>
              <a:spcBef>
                <a:spcPts val="900"/>
              </a:spcBef>
              <a:buClr>
                <a:srgbClr val="3E762B"/>
              </a:buClr>
              <a:buFont typeface="Wingdings"/>
              <a:buChar char=""/>
              <a:tabLst>
                <a:tab pos="436245" algn="l"/>
              </a:tabLst>
            </a:pP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most</a:t>
            </a:r>
            <a:r>
              <a:rPr sz="1200" spc="-30" dirty="0">
                <a:latin typeface="Times New Roman"/>
                <a:cs typeface="Times New Roman"/>
              </a:rPr>
              <a:t> </a:t>
            </a:r>
            <a:r>
              <a:rPr sz="1200" dirty="0">
                <a:latin typeface="Times New Roman"/>
                <a:cs typeface="Times New Roman"/>
              </a:rPr>
              <a:t>systems,</a:t>
            </a:r>
            <a:r>
              <a:rPr sz="1200" spc="-1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b="1" dirty="0">
                <a:latin typeface="Times New Roman"/>
                <a:cs typeface="Times New Roman"/>
              </a:rPr>
              <a:t>minimum</a:t>
            </a:r>
            <a:r>
              <a:rPr sz="1200" b="1" spc="-20" dirty="0">
                <a:latin typeface="Times New Roman"/>
                <a:cs typeface="Times New Roman"/>
              </a:rPr>
              <a:t> </a:t>
            </a:r>
            <a:r>
              <a:rPr sz="1200" b="1" dirty="0">
                <a:latin typeface="Times New Roman"/>
                <a:cs typeface="Times New Roman"/>
              </a:rPr>
              <a:t>quantity</a:t>
            </a:r>
            <a:r>
              <a:rPr sz="1200" b="1" spc="-3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information</a:t>
            </a:r>
            <a:r>
              <a:rPr sz="1200" spc="-40" dirty="0">
                <a:latin typeface="Times New Roman"/>
                <a:cs typeface="Times New Roman"/>
              </a:rPr>
              <a:t> </a:t>
            </a:r>
            <a:r>
              <a:rPr sz="1200" dirty="0">
                <a:latin typeface="Times New Roman"/>
                <a:cs typeface="Times New Roman"/>
              </a:rPr>
              <a:t>which</a:t>
            </a:r>
            <a:r>
              <a:rPr sz="1200" spc="-3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be</a:t>
            </a:r>
            <a:r>
              <a:rPr sz="1200" spc="-35" dirty="0">
                <a:latin typeface="Times New Roman"/>
                <a:cs typeface="Times New Roman"/>
              </a:rPr>
              <a:t> </a:t>
            </a:r>
            <a:r>
              <a:rPr sz="1200" spc="-10" dirty="0">
                <a:latin typeface="Times New Roman"/>
                <a:cs typeface="Times New Roman"/>
              </a:rPr>
              <a:t>transferred 	</a:t>
            </a:r>
            <a:r>
              <a:rPr sz="1200" dirty="0">
                <a:latin typeface="Times New Roman"/>
                <a:cs typeface="Times New Roman"/>
              </a:rPr>
              <a:t>is</a:t>
            </a:r>
            <a:r>
              <a:rPr sz="1200" spc="-5"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b="1" spc="-10" dirty="0">
                <a:latin typeface="Times New Roman"/>
                <a:cs typeface="Times New Roman"/>
              </a:rPr>
              <a:t>sector</a:t>
            </a:r>
            <a:r>
              <a:rPr sz="1200" spc="-10" dirty="0">
                <a:latin typeface="Times New Roman"/>
                <a:cs typeface="Times New Roman"/>
              </a:rPr>
              <a:t>.</a:t>
            </a:r>
            <a:endParaRPr sz="1200" dirty="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15</a:t>
            </a:fld>
            <a:endParaRPr spc="-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Magnetic</a:t>
            </a:r>
            <a:r>
              <a:rPr sz="2200" spc="-70" dirty="0">
                <a:latin typeface="Georgia"/>
                <a:cs typeface="Georgia"/>
              </a:rPr>
              <a:t> </a:t>
            </a:r>
            <a:r>
              <a:rPr sz="2200" dirty="0">
                <a:latin typeface="Georgia"/>
                <a:cs typeface="Georgia"/>
              </a:rPr>
              <a:t>Disk</a:t>
            </a:r>
            <a:r>
              <a:rPr sz="2200" spc="-75" dirty="0">
                <a:latin typeface="Georgia"/>
                <a:cs typeface="Georgia"/>
              </a:rPr>
              <a:t> </a:t>
            </a:r>
            <a:r>
              <a:rPr sz="2200" dirty="0">
                <a:latin typeface="Georgia"/>
                <a:cs typeface="Georgia"/>
              </a:rPr>
              <a:t>(Hard</a:t>
            </a:r>
            <a:r>
              <a:rPr sz="2200" spc="-80" dirty="0">
                <a:latin typeface="Georgia"/>
                <a:cs typeface="Georgia"/>
              </a:rPr>
              <a:t> </a:t>
            </a:r>
            <a:r>
              <a:rPr sz="2200" spc="-10" dirty="0">
                <a:latin typeface="Georgia"/>
                <a:cs typeface="Georgia"/>
              </a:rPr>
              <a:t>disk)</a:t>
            </a:r>
            <a:endParaRPr sz="2200" dirty="0">
              <a:latin typeface="Georgia"/>
              <a:cs typeface="Georgia"/>
            </a:endParaRPr>
          </a:p>
          <a:p>
            <a:pPr marL="434975" marR="2873375" indent="-172720">
              <a:lnSpc>
                <a:spcPct val="100000"/>
              </a:lnSpc>
              <a:spcBef>
                <a:spcPts val="1570"/>
              </a:spcBef>
              <a:buClr>
                <a:srgbClr val="3E762B"/>
              </a:buClr>
              <a:buFont typeface="Wingdings"/>
              <a:buChar char=""/>
              <a:tabLst>
                <a:tab pos="436245" algn="l"/>
              </a:tabLst>
            </a:pP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disk</a:t>
            </a:r>
            <a:r>
              <a:rPr sz="1200" spc="-25" dirty="0">
                <a:latin typeface="Times New Roman"/>
                <a:cs typeface="Times New Roman"/>
              </a:rPr>
              <a:t> </a:t>
            </a:r>
            <a:r>
              <a:rPr sz="1200" dirty="0">
                <a:latin typeface="Times New Roman"/>
                <a:cs typeface="Times New Roman"/>
              </a:rPr>
              <a:t>system</a:t>
            </a:r>
            <a:r>
              <a:rPr sz="1200" spc="5"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addressed</a:t>
            </a:r>
            <a:r>
              <a:rPr sz="1200" spc="-10" dirty="0">
                <a:latin typeface="Times New Roman"/>
                <a:cs typeface="Times New Roman"/>
              </a:rPr>
              <a:t> </a:t>
            </a:r>
            <a:r>
              <a:rPr sz="1200" dirty="0">
                <a:latin typeface="Times New Roman"/>
                <a:cs typeface="Times New Roman"/>
              </a:rPr>
              <a:t>by</a:t>
            </a:r>
            <a:r>
              <a:rPr sz="1200" spc="-10" dirty="0">
                <a:latin typeface="Times New Roman"/>
                <a:cs typeface="Times New Roman"/>
              </a:rPr>
              <a:t> </a:t>
            </a:r>
            <a:r>
              <a:rPr sz="1200" b="1" spc="-10" dirty="0">
                <a:solidFill>
                  <a:srgbClr val="00AF50"/>
                </a:solidFill>
                <a:latin typeface="Times New Roman"/>
                <a:cs typeface="Times New Roman"/>
              </a:rPr>
              <a:t>address 	</a:t>
            </a:r>
            <a:r>
              <a:rPr sz="1200" dirty="0">
                <a:latin typeface="Times New Roman"/>
                <a:cs typeface="Times New Roman"/>
              </a:rPr>
              <a:t>bits</a:t>
            </a:r>
            <a:r>
              <a:rPr sz="1200" spc="-35" dirty="0">
                <a:latin typeface="Times New Roman"/>
                <a:cs typeface="Times New Roman"/>
              </a:rPr>
              <a:t> </a:t>
            </a:r>
            <a:r>
              <a:rPr sz="1200" dirty="0">
                <a:latin typeface="Times New Roman"/>
                <a:cs typeface="Times New Roman"/>
              </a:rPr>
              <a:t>that</a:t>
            </a:r>
            <a:r>
              <a:rPr sz="1200" spc="-20" dirty="0">
                <a:latin typeface="Times New Roman"/>
                <a:cs typeface="Times New Roman"/>
              </a:rPr>
              <a:t> </a:t>
            </a:r>
            <a:r>
              <a:rPr sz="1200" dirty="0">
                <a:latin typeface="Times New Roman"/>
                <a:cs typeface="Times New Roman"/>
              </a:rPr>
              <a:t>specify</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b="1" dirty="0">
                <a:latin typeface="Times New Roman"/>
                <a:cs typeface="Times New Roman"/>
              </a:rPr>
              <a:t>disk</a:t>
            </a:r>
            <a:r>
              <a:rPr sz="1200" b="1" spc="-25" dirty="0">
                <a:latin typeface="Times New Roman"/>
                <a:cs typeface="Times New Roman"/>
              </a:rPr>
              <a:t> </a:t>
            </a:r>
            <a:r>
              <a:rPr sz="1200" b="1" spc="-20" dirty="0">
                <a:latin typeface="Times New Roman"/>
                <a:cs typeface="Times New Roman"/>
              </a:rPr>
              <a:t>number,</a:t>
            </a:r>
            <a:r>
              <a:rPr sz="1200" b="1" dirty="0">
                <a:latin typeface="Times New Roman"/>
                <a:cs typeface="Times New Roman"/>
              </a:rPr>
              <a:t> </a:t>
            </a:r>
            <a:r>
              <a:rPr sz="1200" spc="-25" dirty="0">
                <a:latin typeface="Times New Roman"/>
                <a:cs typeface="Times New Roman"/>
              </a:rPr>
              <a:t>the 	</a:t>
            </a:r>
            <a:r>
              <a:rPr sz="1200" b="1" dirty="0">
                <a:latin typeface="Times New Roman"/>
                <a:cs typeface="Times New Roman"/>
              </a:rPr>
              <a:t>disk</a:t>
            </a:r>
            <a:r>
              <a:rPr sz="1200" b="1" spc="-30" dirty="0">
                <a:latin typeface="Times New Roman"/>
                <a:cs typeface="Times New Roman"/>
              </a:rPr>
              <a:t> </a:t>
            </a:r>
            <a:r>
              <a:rPr sz="1200" b="1" dirty="0">
                <a:latin typeface="Times New Roman"/>
                <a:cs typeface="Times New Roman"/>
              </a:rPr>
              <a:t>surface,</a:t>
            </a:r>
            <a:r>
              <a:rPr sz="1200" b="1"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b="1" dirty="0">
                <a:latin typeface="Times New Roman"/>
                <a:cs typeface="Times New Roman"/>
              </a:rPr>
              <a:t>sector</a:t>
            </a:r>
            <a:r>
              <a:rPr sz="1200" b="1" spc="-50" dirty="0">
                <a:latin typeface="Times New Roman"/>
                <a:cs typeface="Times New Roman"/>
              </a:rPr>
              <a:t> </a:t>
            </a:r>
            <a:r>
              <a:rPr sz="1200" b="1" dirty="0">
                <a:latin typeface="Times New Roman"/>
                <a:cs typeface="Times New Roman"/>
              </a:rPr>
              <a:t>number</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25" dirty="0">
                <a:latin typeface="Times New Roman"/>
                <a:cs typeface="Times New Roman"/>
              </a:rPr>
              <a:t>the 	</a:t>
            </a:r>
            <a:r>
              <a:rPr sz="1200" b="1" dirty="0">
                <a:latin typeface="Times New Roman"/>
                <a:cs typeface="Times New Roman"/>
              </a:rPr>
              <a:t>track</a:t>
            </a:r>
            <a:r>
              <a:rPr sz="1200" b="1" spc="-15" dirty="0">
                <a:latin typeface="Times New Roman"/>
                <a:cs typeface="Times New Roman"/>
              </a:rPr>
              <a:t> </a:t>
            </a:r>
            <a:r>
              <a:rPr sz="1200" dirty="0">
                <a:latin typeface="Times New Roman"/>
                <a:cs typeface="Times New Roman"/>
              </a:rPr>
              <a:t>within</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sector</a:t>
            </a:r>
            <a:r>
              <a:rPr sz="1200" b="1" spc="-10" dirty="0">
                <a:latin typeface="Times New Roman"/>
                <a:cs typeface="Times New Roman"/>
              </a:rPr>
              <a:t>.</a:t>
            </a:r>
            <a:endParaRPr sz="1200" dirty="0">
              <a:latin typeface="Times New Roman"/>
              <a:cs typeface="Times New Roman"/>
            </a:endParaRPr>
          </a:p>
          <a:p>
            <a:pPr marL="434975" marR="2936875" indent="-172720">
              <a:lnSpc>
                <a:spcPct val="100000"/>
              </a:lnSpc>
              <a:spcBef>
                <a:spcPts val="900"/>
              </a:spcBef>
              <a:buClr>
                <a:srgbClr val="3E762B"/>
              </a:buClr>
              <a:buFont typeface="Wingdings"/>
              <a:buChar char=""/>
              <a:tabLst>
                <a:tab pos="436245" algn="l"/>
              </a:tabLst>
            </a:pPr>
            <a:r>
              <a:rPr sz="1200" dirty="0">
                <a:latin typeface="Times New Roman"/>
                <a:cs typeface="Times New Roman"/>
              </a:rPr>
              <a:t>After</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read/write</a:t>
            </a:r>
            <a:r>
              <a:rPr sz="1200" spc="-25" dirty="0">
                <a:latin typeface="Times New Roman"/>
                <a:cs typeface="Times New Roman"/>
              </a:rPr>
              <a:t> </a:t>
            </a:r>
            <a:r>
              <a:rPr sz="1200" dirty="0">
                <a:latin typeface="Times New Roman"/>
                <a:cs typeface="Times New Roman"/>
              </a:rPr>
              <a:t>heads</a:t>
            </a:r>
            <a:r>
              <a:rPr sz="1200" spc="-30" dirty="0">
                <a:latin typeface="Times New Roman"/>
                <a:cs typeface="Times New Roman"/>
              </a:rPr>
              <a:t> </a:t>
            </a:r>
            <a:r>
              <a:rPr sz="1200" dirty="0">
                <a:latin typeface="Times New Roman"/>
                <a:cs typeface="Times New Roman"/>
              </a:rPr>
              <a:t>are</a:t>
            </a:r>
            <a:r>
              <a:rPr sz="1200" spc="-30" dirty="0">
                <a:latin typeface="Times New Roman"/>
                <a:cs typeface="Times New Roman"/>
              </a:rPr>
              <a:t> </a:t>
            </a:r>
            <a:r>
              <a:rPr sz="1200" spc="-10" dirty="0">
                <a:latin typeface="Times New Roman"/>
                <a:cs typeface="Times New Roman"/>
              </a:rPr>
              <a:t>positioned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specified</a:t>
            </a:r>
            <a:r>
              <a:rPr sz="1200" spc="-20" dirty="0">
                <a:latin typeface="Times New Roman"/>
                <a:cs typeface="Times New Roman"/>
              </a:rPr>
              <a:t> </a:t>
            </a:r>
            <a:r>
              <a:rPr sz="1200" dirty="0">
                <a:latin typeface="Times New Roman"/>
                <a:cs typeface="Times New Roman"/>
              </a:rPr>
              <a:t>track,</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system</a:t>
            </a:r>
            <a:r>
              <a:rPr sz="1200" spc="5" dirty="0">
                <a:latin typeface="Times New Roman"/>
                <a:cs typeface="Times New Roman"/>
              </a:rPr>
              <a:t> </a:t>
            </a:r>
            <a:r>
              <a:rPr sz="1200" dirty="0">
                <a:latin typeface="Times New Roman"/>
                <a:cs typeface="Times New Roman"/>
              </a:rPr>
              <a:t>has</a:t>
            </a:r>
            <a:r>
              <a:rPr sz="1200" spc="-30" dirty="0">
                <a:latin typeface="Times New Roman"/>
                <a:cs typeface="Times New Roman"/>
              </a:rPr>
              <a:t> </a:t>
            </a:r>
            <a:r>
              <a:rPr sz="1200" spc="-25" dirty="0">
                <a:latin typeface="Times New Roman"/>
                <a:cs typeface="Times New Roman"/>
              </a:rPr>
              <a:t>to 	</a:t>
            </a:r>
            <a:r>
              <a:rPr sz="1200" dirty="0">
                <a:latin typeface="Times New Roman"/>
                <a:cs typeface="Times New Roman"/>
              </a:rPr>
              <a:t>wait</a:t>
            </a:r>
            <a:r>
              <a:rPr sz="1200" spc="-35" dirty="0">
                <a:latin typeface="Times New Roman"/>
                <a:cs typeface="Times New Roman"/>
              </a:rPr>
              <a:t> </a:t>
            </a:r>
            <a:r>
              <a:rPr sz="1200" dirty="0">
                <a:latin typeface="Times New Roman"/>
                <a:cs typeface="Times New Roman"/>
              </a:rPr>
              <a:t>until</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rotating</a:t>
            </a:r>
            <a:r>
              <a:rPr sz="1200" spc="-35" dirty="0">
                <a:latin typeface="Times New Roman"/>
                <a:cs typeface="Times New Roman"/>
              </a:rPr>
              <a:t> </a:t>
            </a:r>
            <a:r>
              <a:rPr sz="1200" dirty="0">
                <a:latin typeface="Times New Roman"/>
                <a:cs typeface="Times New Roman"/>
              </a:rPr>
              <a:t>disk</a:t>
            </a:r>
            <a:r>
              <a:rPr sz="1200" spc="-35" dirty="0">
                <a:latin typeface="Times New Roman"/>
                <a:cs typeface="Times New Roman"/>
              </a:rPr>
              <a:t> </a:t>
            </a:r>
            <a:r>
              <a:rPr sz="1200" dirty="0">
                <a:latin typeface="Times New Roman"/>
                <a:cs typeface="Times New Roman"/>
              </a:rPr>
              <a:t>reaches</a:t>
            </a:r>
            <a:r>
              <a:rPr sz="1200" spc="-20" dirty="0">
                <a:latin typeface="Times New Roman"/>
                <a:cs typeface="Times New Roman"/>
              </a:rPr>
              <a:t> </a:t>
            </a:r>
            <a:r>
              <a:rPr sz="1200" spc="-25" dirty="0">
                <a:latin typeface="Times New Roman"/>
                <a:cs typeface="Times New Roman"/>
              </a:rPr>
              <a:t>the 	</a:t>
            </a:r>
            <a:r>
              <a:rPr sz="1200" b="1" dirty="0">
                <a:latin typeface="Times New Roman"/>
                <a:cs typeface="Times New Roman"/>
              </a:rPr>
              <a:t>specified</a:t>
            </a:r>
            <a:r>
              <a:rPr sz="1200" b="1" spc="-40" dirty="0">
                <a:latin typeface="Times New Roman"/>
                <a:cs typeface="Times New Roman"/>
              </a:rPr>
              <a:t> </a:t>
            </a:r>
            <a:r>
              <a:rPr sz="1200" b="1" dirty="0">
                <a:latin typeface="Times New Roman"/>
                <a:cs typeface="Times New Roman"/>
              </a:rPr>
              <a:t>sector</a:t>
            </a:r>
            <a:r>
              <a:rPr sz="1200" b="1" spc="-50" dirty="0">
                <a:latin typeface="Times New Roman"/>
                <a:cs typeface="Times New Roman"/>
              </a:rPr>
              <a:t> </a:t>
            </a:r>
            <a:r>
              <a:rPr sz="1200" b="1" dirty="0">
                <a:latin typeface="Times New Roman"/>
                <a:cs typeface="Times New Roman"/>
              </a:rPr>
              <a:t>under</a:t>
            </a:r>
            <a:r>
              <a:rPr sz="1200" b="1" spc="-60" dirty="0">
                <a:latin typeface="Times New Roman"/>
                <a:cs typeface="Times New Roman"/>
              </a:rPr>
              <a:t> </a:t>
            </a:r>
            <a:r>
              <a:rPr sz="1200" b="1" dirty="0">
                <a:latin typeface="Times New Roman"/>
                <a:cs typeface="Times New Roman"/>
              </a:rPr>
              <a:t>the</a:t>
            </a:r>
            <a:r>
              <a:rPr sz="1200" b="1" spc="-25" dirty="0">
                <a:latin typeface="Times New Roman"/>
                <a:cs typeface="Times New Roman"/>
              </a:rPr>
              <a:t> </a:t>
            </a:r>
            <a:r>
              <a:rPr sz="1200" b="1" spc="-10" dirty="0">
                <a:latin typeface="Times New Roman"/>
                <a:cs typeface="Times New Roman"/>
              </a:rPr>
              <a:t>read/write 	head</a:t>
            </a:r>
            <a:r>
              <a:rPr sz="1200" spc="-10" dirty="0">
                <a:latin typeface="Times New Roman"/>
                <a:cs typeface="Times New Roman"/>
              </a:rPr>
              <a:t>.</a:t>
            </a:r>
            <a:endParaRPr sz="1200" dirty="0">
              <a:latin typeface="Times New Roman"/>
              <a:cs typeface="Times New Roman"/>
            </a:endParaRPr>
          </a:p>
          <a:p>
            <a:pPr marL="434975" marR="3030855" indent="-172720">
              <a:lnSpc>
                <a:spcPct val="100000"/>
              </a:lnSpc>
              <a:spcBef>
                <a:spcPts val="900"/>
              </a:spcBef>
              <a:buClr>
                <a:srgbClr val="3E762B"/>
              </a:buClr>
              <a:buFont typeface="Wingdings"/>
              <a:buChar char=""/>
              <a:tabLst>
                <a:tab pos="436245" algn="l"/>
              </a:tabLst>
            </a:pPr>
            <a:r>
              <a:rPr sz="1200" b="1" dirty="0">
                <a:latin typeface="Times New Roman"/>
                <a:cs typeface="Times New Roman"/>
              </a:rPr>
              <a:t>Information</a:t>
            </a:r>
            <a:r>
              <a:rPr sz="1200" b="1" spc="-25" dirty="0">
                <a:latin typeface="Times New Roman"/>
                <a:cs typeface="Times New Roman"/>
              </a:rPr>
              <a:t> </a:t>
            </a:r>
            <a:r>
              <a:rPr sz="1200" b="1" dirty="0">
                <a:latin typeface="Times New Roman"/>
                <a:cs typeface="Times New Roman"/>
              </a:rPr>
              <a:t>transfer</a:t>
            </a:r>
            <a:r>
              <a:rPr sz="1200" b="1" spc="-35"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very</a:t>
            </a:r>
            <a:r>
              <a:rPr sz="1200" spc="-30" dirty="0">
                <a:latin typeface="Times New Roman"/>
                <a:cs typeface="Times New Roman"/>
              </a:rPr>
              <a:t> </a:t>
            </a:r>
            <a:r>
              <a:rPr sz="1200" dirty="0">
                <a:latin typeface="Times New Roman"/>
                <a:cs typeface="Times New Roman"/>
              </a:rPr>
              <a:t>fast</a:t>
            </a:r>
            <a:r>
              <a:rPr sz="1200" spc="-25" dirty="0">
                <a:latin typeface="Times New Roman"/>
                <a:cs typeface="Times New Roman"/>
              </a:rPr>
              <a:t> </a:t>
            </a:r>
            <a:r>
              <a:rPr sz="1200" spc="-20" dirty="0">
                <a:latin typeface="Times New Roman"/>
                <a:cs typeface="Times New Roman"/>
              </a:rPr>
              <a:t>once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beginning</a:t>
            </a:r>
            <a:r>
              <a:rPr sz="1200" spc="-3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sector</a:t>
            </a:r>
            <a:r>
              <a:rPr sz="1200" spc="-20" dirty="0">
                <a:latin typeface="Times New Roman"/>
                <a:cs typeface="Times New Roman"/>
              </a:rPr>
              <a:t> </a:t>
            </a:r>
            <a:r>
              <a:rPr sz="1200" dirty="0">
                <a:latin typeface="Times New Roman"/>
                <a:cs typeface="Times New Roman"/>
              </a:rPr>
              <a:t>has</a:t>
            </a:r>
            <a:r>
              <a:rPr sz="1200" spc="-25" dirty="0">
                <a:latin typeface="Times New Roman"/>
                <a:cs typeface="Times New Roman"/>
              </a:rPr>
              <a:t> </a:t>
            </a:r>
            <a:r>
              <a:rPr sz="1200" spc="-20" dirty="0">
                <a:latin typeface="Times New Roman"/>
                <a:cs typeface="Times New Roman"/>
              </a:rPr>
              <a:t>been 	</a:t>
            </a:r>
            <a:r>
              <a:rPr sz="1200" spc="-10" dirty="0">
                <a:latin typeface="Times New Roman"/>
                <a:cs typeface="Times New Roman"/>
              </a:rPr>
              <a:t>reached.</a:t>
            </a:r>
            <a:endParaRPr sz="1200" dirty="0">
              <a:latin typeface="Times New Roman"/>
              <a:cs typeface="Times New Roman"/>
            </a:endParaRPr>
          </a:p>
        </p:txBody>
      </p:sp>
      <p:pic>
        <p:nvPicPr>
          <p:cNvPr id="3" name="object 3"/>
          <p:cNvPicPr/>
          <p:nvPr/>
        </p:nvPicPr>
        <p:blipFill>
          <a:blip r:embed="rId2" cstate="print"/>
          <a:stretch>
            <a:fillRect/>
          </a:stretch>
        </p:blipFill>
        <p:spPr>
          <a:xfrm>
            <a:off x="3785615" y="1863851"/>
            <a:ext cx="2505456" cy="2260092"/>
          </a:xfrm>
          <a:prstGeom prst="rect">
            <a:avLst/>
          </a:prstGeom>
        </p:spPr>
      </p:pic>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8" name="object 8"/>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Magnetic</a:t>
            </a:r>
            <a:r>
              <a:rPr sz="2200" spc="-70" dirty="0">
                <a:latin typeface="Georgia"/>
                <a:cs typeface="Georgia"/>
              </a:rPr>
              <a:t> </a:t>
            </a:r>
            <a:r>
              <a:rPr sz="2200" dirty="0">
                <a:latin typeface="Georgia"/>
                <a:cs typeface="Georgia"/>
              </a:rPr>
              <a:t>Disk</a:t>
            </a:r>
            <a:r>
              <a:rPr sz="2200" spc="-75" dirty="0">
                <a:latin typeface="Georgia"/>
                <a:cs typeface="Georgia"/>
              </a:rPr>
              <a:t> </a:t>
            </a:r>
            <a:r>
              <a:rPr sz="2200" dirty="0">
                <a:latin typeface="Georgia"/>
                <a:cs typeface="Georgia"/>
              </a:rPr>
              <a:t>(Hard</a:t>
            </a:r>
            <a:r>
              <a:rPr sz="2200" spc="-80" dirty="0">
                <a:latin typeface="Georgia"/>
                <a:cs typeface="Georgia"/>
              </a:rPr>
              <a:t> </a:t>
            </a:r>
            <a:r>
              <a:rPr sz="2200" spc="-10" dirty="0">
                <a:latin typeface="Georgia"/>
                <a:cs typeface="Georgia"/>
              </a:rPr>
              <a:t>disk)</a:t>
            </a:r>
            <a:endParaRPr sz="2200" dirty="0">
              <a:latin typeface="Georgia"/>
              <a:cs typeface="Georgia"/>
            </a:endParaRPr>
          </a:p>
          <a:p>
            <a:pPr marL="434975" marR="690245" indent="-172720">
              <a:lnSpc>
                <a:spcPct val="100000"/>
              </a:lnSpc>
              <a:spcBef>
                <a:spcPts val="1570"/>
              </a:spcBef>
              <a:buClr>
                <a:srgbClr val="3E762B"/>
              </a:buClr>
              <a:buFont typeface="Wingdings"/>
              <a:buChar char=""/>
              <a:tabLst>
                <a:tab pos="436245" algn="l"/>
              </a:tabLst>
            </a:pPr>
            <a:r>
              <a:rPr sz="1200" dirty="0">
                <a:latin typeface="Times New Roman"/>
                <a:cs typeface="Times New Roman"/>
              </a:rPr>
              <a:t>Disks</a:t>
            </a:r>
            <a:r>
              <a:rPr sz="1200" spc="-25" dirty="0">
                <a:latin typeface="Times New Roman"/>
                <a:cs typeface="Times New Roman"/>
              </a:rPr>
              <a:t> </a:t>
            </a:r>
            <a:r>
              <a:rPr sz="1200" dirty="0">
                <a:latin typeface="Times New Roman"/>
                <a:cs typeface="Times New Roman"/>
              </a:rPr>
              <a:t>may</a:t>
            </a:r>
            <a:r>
              <a:rPr sz="1200" spc="-25" dirty="0">
                <a:latin typeface="Times New Roman"/>
                <a:cs typeface="Times New Roman"/>
              </a:rPr>
              <a:t> </a:t>
            </a:r>
            <a:r>
              <a:rPr sz="1200" dirty="0">
                <a:latin typeface="Times New Roman"/>
                <a:cs typeface="Times New Roman"/>
              </a:rPr>
              <a:t>have</a:t>
            </a:r>
            <a:r>
              <a:rPr sz="1200" spc="-15" dirty="0">
                <a:latin typeface="Times New Roman"/>
                <a:cs typeface="Times New Roman"/>
              </a:rPr>
              <a:t> </a:t>
            </a:r>
            <a:r>
              <a:rPr sz="1200" spc="-10" dirty="0">
                <a:latin typeface="Times New Roman"/>
                <a:cs typeface="Times New Roman"/>
              </a:rPr>
              <a:t>multiple</a:t>
            </a:r>
            <a:r>
              <a:rPr sz="1200" spc="-45" dirty="0">
                <a:latin typeface="Times New Roman"/>
                <a:cs typeface="Times New Roman"/>
              </a:rPr>
              <a:t> </a:t>
            </a:r>
            <a:r>
              <a:rPr sz="1200" dirty="0">
                <a:latin typeface="Times New Roman"/>
                <a:cs typeface="Times New Roman"/>
              </a:rPr>
              <a:t>heads</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simultaneous</a:t>
            </a:r>
            <a:r>
              <a:rPr sz="1200" spc="-30" dirty="0">
                <a:latin typeface="Times New Roman"/>
                <a:cs typeface="Times New Roman"/>
              </a:rPr>
              <a:t> </a:t>
            </a:r>
            <a:r>
              <a:rPr sz="1200" dirty="0">
                <a:latin typeface="Times New Roman"/>
                <a:cs typeface="Times New Roman"/>
              </a:rPr>
              <a:t>transfer</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bits</a:t>
            </a:r>
            <a:r>
              <a:rPr sz="1200" spc="-20" dirty="0">
                <a:latin typeface="Times New Roman"/>
                <a:cs typeface="Times New Roman"/>
              </a:rPr>
              <a:t> </a:t>
            </a:r>
            <a:r>
              <a:rPr sz="1200" dirty="0">
                <a:latin typeface="Times New Roman"/>
                <a:cs typeface="Times New Roman"/>
              </a:rPr>
              <a:t>from</a:t>
            </a:r>
            <a:r>
              <a:rPr sz="1200" spc="-20" dirty="0">
                <a:latin typeface="Times New Roman"/>
                <a:cs typeface="Times New Roman"/>
              </a:rPr>
              <a:t> </a:t>
            </a:r>
            <a:r>
              <a:rPr sz="1200" spc="-10" dirty="0">
                <a:latin typeface="Times New Roman"/>
                <a:cs typeface="Times New Roman"/>
              </a:rPr>
              <a:t>several 	</a:t>
            </a:r>
            <a:r>
              <a:rPr sz="1200" dirty="0">
                <a:latin typeface="Times New Roman"/>
                <a:cs typeface="Times New Roman"/>
              </a:rPr>
              <a:t>tracks</a:t>
            </a:r>
            <a:r>
              <a:rPr sz="1200" spc="-20" dirty="0">
                <a:latin typeface="Times New Roman"/>
                <a:cs typeface="Times New Roman"/>
              </a:rPr>
              <a:t> </a:t>
            </a:r>
            <a:r>
              <a:rPr sz="1200" dirty="0">
                <a:latin typeface="Times New Roman"/>
                <a:cs typeface="Times New Roman"/>
              </a:rPr>
              <a:t>at</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same</a:t>
            </a:r>
            <a:r>
              <a:rPr sz="1200" spc="-20" dirty="0">
                <a:latin typeface="Times New Roman"/>
                <a:cs typeface="Times New Roman"/>
              </a:rPr>
              <a:t> </a:t>
            </a:r>
            <a:r>
              <a:rPr sz="1200" spc="-10" dirty="0">
                <a:latin typeface="Times New Roman"/>
                <a:cs typeface="Times New Roman"/>
              </a:rPr>
              <a:t>time.</a:t>
            </a:r>
            <a:endParaRPr sz="1200" dirty="0">
              <a:latin typeface="Times New Roman"/>
              <a:cs typeface="Times New Roman"/>
            </a:endParaRPr>
          </a:p>
          <a:p>
            <a:pPr marL="434975" marR="369570" indent="-172720">
              <a:lnSpc>
                <a:spcPct val="100000"/>
              </a:lnSpc>
              <a:spcBef>
                <a:spcPts val="905"/>
              </a:spcBef>
              <a:buClr>
                <a:srgbClr val="3E762B"/>
              </a:buClr>
              <a:buFont typeface="Wingdings"/>
              <a:buChar char=""/>
              <a:tabLst>
                <a:tab pos="436245" algn="l"/>
              </a:tabLst>
            </a:pPr>
            <a:r>
              <a:rPr sz="1200" spc="-30" dirty="0">
                <a:latin typeface="Times New Roman"/>
                <a:cs typeface="Times New Roman"/>
              </a:rPr>
              <a:t>To</a:t>
            </a:r>
            <a:r>
              <a:rPr sz="1200" spc="-25" dirty="0">
                <a:latin typeface="Times New Roman"/>
                <a:cs typeface="Times New Roman"/>
              </a:rPr>
              <a:t> </a:t>
            </a:r>
            <a:r>
              <a:rPr sz="1200" dirty="0">
                <a:latin typeface="Times New Roman"/>
                <a:cs typeface="Times New Roman"/>
              </a:rPr>
              <a:t>make</a:t>
            </a:r>
            <a:r>
              <a:rPr sz="1200" spc="-30" dirty="0">
                <a:latin typeface="Times New Roman"/>
                <a:cs typeface="Times New Roman"/>
              </a:rPr>
              <a:t> </a:t>
            </a: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records</a:t>
            </a:r>
            <a:r>
              <a:rPr sz="1200" spc="-5"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sector</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equal</a:t>
            </a:r>
            <a:r>
              <a:rPr sz="1200" spc="-10" dirty="0">
                <a:latin typeface="Times New Roman"/>
                <a:cs typeface="Times New Roman"/>
              </a:rPr>
              <a:t> </a:t>
            </a:r>
            <a:r>
              <a:rPr sz="1200" dirty="0">
                <a:latin typeface="Times New Roman"/>
                <a:cs typeface="Times New Roman"/>
              </a:rPr>
              <a:t>length,</a:t>
            </a:r>
            <a:r>
              <a:rPr sz="1200" spc="-20" dirty="0">
                <a:latin typeface="Times New Roman"/>
                <a:cs typeface="Times New Roman"/>
              </a:rPr>
              <a:t> </a:t>
            </a:r>
            <a:r>
              <a:rPr sz="1200" dirty="0">
                <a:latin typeface="Times New Roman"/>
                <a:cs typeface="Times New Roman"/>
              </a:rPr>
              <a:t>some</a:t>
            </a:r>
            <a:r>
              <a:rPr sz="1200" spc="-25" dirty="0">
                <a:latin typeface="Times New Roman"/>
                <a:cs typeface="Times New Roman"/>
              </a:rPr>
              <a:t> </a:t>
            </a:r>
            <a:r>
              <a:rPr sz="1200" dirty="0">
                <a:latin typeface="Times New Roman"/>
                <a:cs typeface="Times New Roman"/>
              </a:rPr>
              <a:t>disks</a:t>
            </a:r>
            <a:r>
              <a:rPr sz="1200" spc="-20" dirty="0">
                <a:latin typeface="Times New Roman"/>
                <a:cs typeface="Times New Roman"/>
              </a:rPr>
              <a:t> </a:t>
            </a:r>
            <a:r>
              <a:rPr sz="1200" dirty="0">
                <a:latin typeface="Times New Roman"/>
                <a:cs typeface="Times New Roman"/>
              </a:rPr>
              <a:t>use</a:t>
            </a:r>
            <a:r>
              <a:rPr sz="1200" spc="-20"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10" dirty="0">
                <a:latin typeface="Times New Roman"/>
                <a:cs typeface="Times New Roman"/>
              </a:rPr>
              <a:t>variable 	</a:t>
            </a:r>
            <a:r>
              <a:rPr sz="1200" dirty="0">
                <a:latin typeface="Times New Roman"/>
                <a:cs typeface="Times New Roman"/>
              </a:rPr>
              <a:t>recording</a:t>
            </a:r>
            <a:r>
              <a:rPr sz="1200" spc="-25" dirty="0">
                <a:latin typeface="Times New Roman"/>
                <a:cs typeface="Times New Roman"/>
              </a:rPr>
              <a:t> </a:t>
            </a:r>
            <a:r>
              <a:rPr sz="1200" dirty="0">
                <a:latin typeface="Times New Roman"/>
                <a:cs typeface="Times New Roman"/>
              </a:rPr>
              <a:t>density</a:t>
            </a:r>
            <a:r>
              <a:rPr sz="1200" spc="-4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higher</a:t>
            </a:r>
            <a:r>
              <a:rPr sz="1200" spc="-25" dirty="0">
                <a:latin typeface="Times New Roman"/>
                <a:cs typeface="Times New Roman"/>
              </a:rPr>
              <a:t> </a:t>
            </a:r>
            <a:r>
              <a:rPr sz="1200" dirty="0">
                <a:latin typeface="Times New Roman"/>
                <a:cs typeface="Times New Roman"/>
              </a:rPr>
              <a:t>density</a:t>
            </a:r>
            <a:r>
              <a:rPr sz="1200" spc="-35" dirty="0">
                <a:latin typeface="Times New Roman"/>
                <a:cs typeface="Times New Roman"/>
              </a:rPr>
              <a:t> </a:t>
            </a:r>
            <a:r>
              <a:rPr sz="1200" dirty="0">
                <a:latin typeface="Times New Roman"/>
                <a:cs typeface="Times New Roman"/>
              </a:rPr>
              <a:t>on</a:t>
            </a:r>
            <a:r>
              <a:rPr sz="1200" spc="-30" dirty="0">
                <a:latin typeface="Times New Roman"/>
                <a:cs typeface="Times New Roman"/>
              </a:rPr>
              <a:t> </a:t>
            </a:r>
            <a:r>
              <a:rPr sz="1200" dirty="0">
                <a:latin typeface="Times New Roman"/>
                <a:cs typeface="Times New Roman"/>
              </a:rPr>
              <a:t>tracks</a:t>
            </a:r>
            <a:r>
              <a:rPr sz="1200" spc="-25" dirty="0">
                <a:latin typeface="Times New Roman"/>
                <a:cs typeface="Times New Roman"/>
              </a:rPr>
              <a:t> </a:t>
            </a:r>
            <a:r>
              <a:rPr sz="1200" dirty="0">
                <a:latin typeface="Times New Roman"/>
                <a:cs typeface="Times New Roman"/>
              </a:rPr>
              <a:t>near</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center</a:t>
            </a:r>
            <a:r>
              <a:rPr sz="1200" spc="-30" dirty="0">
                <a:latin typeface="Times New Roman"/>
                <a:cs typeface="Times New Roman"/>
              </a:rPr>
              <a:t> </a:t>
            </a:r>
            <a:r>
              <a:rPr sz="1200" dirty="0">
                <a:latin typeface="Times New Roman"/>
                <a:cs typeface="Times New Roman"/>
              </a:rPr>
              <a:t>than</a:t>
            </a:r>
            <a:r>
              <a:rPr sz="1200" spc="-25" dirty="0">
                <a:latin typeface="Times New Roman"/>
                <a:cs typeface="Times New Roman"/>
              </a:rPr>
              <a:t> </a:t>
            </a:r>
            <a:r>
              <a:rPr sz="1200" dirty="0">
                <a:latin typeface="Times New Roman"/>
                <a:cs typeface="Times New Roman"/>
              </a:rPr>
              <a:t>on</a:t>
            </a:r>
            <a:r>
              <a:rPr sz="1200" spc="-30" dirty="0">
                <a:latin typeface="Times New Roman"/>
                <a:cs typeface="Times New Roman"/>
              </a:rPr>
              <a:t> </a:t>
            </a:r>
            <a:r>
              <a:rPr sz="1200" dirty="0">
                <a:latin typeface="Times New Roman"/>
                <a:cs typeface="Times New Roman"/>
              </a:rPr>
              <a:t>tracks</a:t>
            </a:r>
            <a:r>
              <a:rPr sz="1200" spc="-30" dirty="0">
                <a:latin typeface="Times New Roman"/>
                <a:cs typeface="Times New Roman"/>
              </a:rPr>
              <a:t> </a:t>
            </a:r>
            <a:r>
              <a:rPr sz="1200" spc="-20" dirty="0">
                <a:latin typeface="Times New Roman"/>
                <a:cs typeface="Times New Roman"/>
              </a:rPr>
              <a:t>near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circumference.</a:t>
            </a:r>
            <a:r>
              <a:rPr sz="1200" spc="-20" dirty="0">
                <a:latin typeface="Times New Roman"/>
                <a:cs typeface="Times New Roman"/>
              </a:rPr>
              <a:t> </a:t>
            </a:r>
            <a:r>
              <a:rPr sz="1200" dirty="0">
                <a:latin typeface="Times New Roman"/>
                <a:cs typeface="Times New Roman"/>
              </a:rPr>
              <a:t>This</a:t>
            </a:r>
            <a:r>
              <a:rPr sz="1200" spc="-20" dirty="0">
                <a:latin typeface="Times New Roman"/>
                <a:cs typeface="Times New Roman"/>
              </a:rPr>
              <a:t> </a:t>
            </a:r>
            <a:r>
              <a:rPr sz="1200" dirty="0">
                <a:latin typeface="Times New Roman"/>
                <a:cs typeface="Times New Roman"/>
              </a:rPr>
              <a:t>equalizes</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number</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bits</a:t>
            </a:r>
            <a:r>
              <a:rPr sz="1200" spc="-20"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all</a:t>
            </a:r>
            <a:r>
              <a:rPr sz="1200" spc="-25" dirty="0">
                <a:latin typeface="Times New Roman"/>
                <a:cs typeface="Times New Roman"/>
              </a:rPr>
              <a:t> </a:t>
            </a:r>
            <a:r>
              <a:rPr sz="1200" dirty="0">
                <a:latin typeface="Times New Roman"/>
                <a:cs typeface="Times New Roman"/>
              </a:rPr>
              <a:t>tracks</a:t>
            </a:r>
            <a:r>
              <a:rPr sz="1200" spc="-1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given</a:t>
            </a:r>
            <a:r>
              <a:rPr sz="1200" spc="-10" dirty="0">
                <a:latin typeface="Times New Roman"/>
                <a:cs typeface="Times New Roman"/>
              </a:rPr>
              <a:t> sector.</a:t>
            </a:r>
            <a:endParaRPr sz="1200" dirty="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16</a:t>
            </a:fld>
            <a:endParaRPr spc="-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Magnetic</a:t>
            </a:r>
            <a:r>
              <a:rPr sz="2200" spc="-114" dirty="0">
                <a:latin typeface="Georgia"/>
                <a:cs typeface="Georgia"/>
              </a:rPr>
              <a:t> </a:t>
            </a:r>
            <a:r>
              <a:rPr sz="2200" spc="-10" dirty="0">
                <a:latin typeface="Georgia"/>
                <a:cs typeface="Georgia"/>
              </a:rPr>
              <a:t>Tapes</a:t>
            </a:r>
            <a:endParaRPr sz="2200">
              <a:latin typeface="Georgia"/>
              <a:cs typeface="Georgia"/>
            </a:endParaRPr>
          </a:p>
        </p:txBody>
      </p:sp>
      <p:pic>
        <p:nvPicPr>
          <p:cNvPr id="3" name="object 3"/>
          <p:cNvPicPr/>
          <p:nvPr/>
        </p:nvPicPr>
        <p:blipFill>
          <a:blip r:embed="rId2" cstate="print"/>
          <a:stretch>
            <a:fillRect/>
          </a:stretch>
        </p:blipFill>
        <p:spPr>
          <a:xfrm>
            <a:off x="2013204" y="1577339"/>
            <a:ext cx="3848100" cy="1781555"/>
          </a:xfrm>
          <a:prstGeom prst="rect">
            <a:avLst/>
          </a:prstGeom>
        </p:spPr>
      </p:pic>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pic>
          <p:nvPicPr>
            <p:cNvPr id="8" name="object 8"/>
            <p:cNvPicPr/>
            <p:nvPr/>
          </p:nvPicPr>
          <p:blipFill>
            <a:blip r:embed="rId3" cstate="print"/>
            <a:stretch>
              <a:fillRect/>
            </a:stretch>
          </p:blipFill>
          <p:spPr>
            <a:xfrm>
              <a:off x="3025139" y="6402324"/>
              <a:ext cx="3276600" cy="1703832"/>
            </a:xfrm>
            <a:prstGeom prst="rect">
              <a:avLst/>
            </a:prstGeom>
          </p:spPr>
        </p:pic>
      </p:grpSp>
      <p:sp>
        <p:nvSpPr>
          <p:cNvPr id="9" name="object 9"/>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Magnetic</a:t>
            </a:r>
            <a:r>
              <a:rPr sz="2200" spc="-114" dirty="0">
                <a:latin typeface="Georgia"/>
                <a:cs typeface="Georgia"/>
              </a:rPr>
              <a:t> </a:t>
            </a:r>
            <a:r>
              <a:rPr sz="2200" spc="-10" dirty="0">
                <a:latin typeface="Georgia"/>
                <a:cs typeface="Georgia"/>
              </a:rPr>
              <a:t>Tapes</a:t>
            </a:r>
            <a:endParaRPr sz="2200">
              <a:latin typeface="Georgia"/>
              <a:cs typeface="Georgia"/>
            </a:endParaRPr>
          </a:p>
        </p:txBody>
      </p:sp>
      <p:pic>
        <p:nvPicPr>
          <p:cNvPr id="10" name="object 10"/>
          <p:cNvPicPr/>
          <p:nvPr/>
        </p:nvPicPr>
        <p:blipFill>
          <a:blip r:embed="rId4" cstate="print"/>
          <a:stretch>
            <a:fillRect/>
          </a:stretch>
        </p:blipFill>
        <p:spPr>
          <a:xfrm>
            <a:off x="601980" y="5588508"/>
            <a:ext cx="3986784" cy="1691639"/>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17</a:t>
            </a:fld>
            <a:endParaRPr spc="-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936491" y="1571244"/>
            <a:ext cx="2395728" cy="1967483"/>
          </a:xfrm>
          <a:prstGeom prst="rect">
            <a:avLst/>
          </a:prstGeom>
        </p:spPr>
      </p:pic>
      <p:sp>
        <p:nvSpPr>
          <p:cNvPr id="3" name="object 3"/>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Magnetic</a:t>
            </a:r>
            <a:r>
              <a:rPr sz="2200" spc="-114" dirty="0">
                <a:latin typeface="Georgia"/>
                <a:cs typeface="Georgia"/>
              </a:rPr>
              <a:t> </a:t>
            </a:r>
            <a:r>
              <a:rPr sz="2200" spc="-10" dirty="0">
                <a:latin typeface="Georgia"/>
                <a:cs typeface="Georgia"/>
              </a:rPr>
              <a:t>Tapes</a:t>
            </a:r>
            <a:endParaRPr sz="2200" dirty="0">
              <a:latin typeface="Georgia"/>
              <a:cs typeface="Georgia"/>
            </a:endParaRPr>
          </a:p>
          <a:p>
            <a:pPr marL="434975" marR="2559050" indent="-172720">
              <a:lnSpc>
                <a:spcPct val="100000"/>
              </a:lnSpc>
              <a:spcBef>
                <a:spcPts val="1355"/>
              </a:spcBef>
              <a:buClr>
                <a:srgbClr val="3E762B"/>
              </a:buClr>
              <a:buFont typeface="Wingdings"/>
              <a:buChar char=""/>
              <a:tabLst>
                <a:tab pos="436245" algn="l"/>
              </a:tabLst>
            </a:pPr>
            <a:r>
              <a:rPr sz="1200" dirty="0">
                <a:latin typeface="Times New Roman"/>
                <a:cs typeface="Times New Roman"/>
              </a:rPr>
              <a:t>Magnetic</a:t>
            </a:r>
            <a:r>
              <a:rPr sz="1200" spc="-20" dirty="0">
                <a:latin typeface="Times New Roman"/>
                <a:cs typeface="Times New Roman"/>
              </a:rPr>
              <a:t> </a:t>
            </a:r>
            <a:r>
              <a:rPr sz="1200" dirty="0">
                <a:latin typeface="Times New Roman"/>
                <a:cs typeface="Times New Roman"/>
              </a:rPr>
              <a:t>tape</a:t>
            </a:r>
            <a:r>
              <a:rPr sz="1200" spc="-30"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one</a:t>
            </a:r>
            <a:r>
              <a:rPr sz="1200" spc="-3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oldest</a:t>
            </a:r>
            <a:r>
              <a:rPr sz="1200" spc="-25" dirty="0">
                <a:latin typeface="Times New Roman"/>
                <a:cs typeface="Times New Roman"/>
              </a:rPr>
              <a:t> </a:t>
            </a:r>
            <a:r>
              <a:rPr sz="1200" spc="-10" dirty="0">
                <a:latin typeface="Times New Roman"/>
                <a:cs typeface="Times New Roman"/>
              </a:rPr>
              <a:t>technologies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electronic</a:t>
            </a:r>
            <a:r>
              <a:rPr sz="1200" spc="-40" dirty="0">
                <a:latin typeface="Times New Roman"/>
                <a:cs typeface="Times New Roman"/>
              </a:rPr>
              <a:t> </a:t>
            </a:r>
            <a:r>
              <a:rPr sz="1200" dirty="0">
                <a:latin typeface="Times New Roman"/>
                <a:cs typeface="Times New Roman"/>
              </a:rPr>
              <a:t>data</a:t>
            </a:r>
            <a:r>
              <a:rPr sz="1200" spc="-40" dirty="0">
                <a:latin typeface="Times New Roman"/>
                <a:cs typeface="Times New Roman"/>
              </a:rPr>
              <a:t> </a:t>
            </a:r>
            <a:r>
              <a:rPr sz="1200" spc="-10" dirty="0">
                <a:latin typeface="Times New Roman"/>
                <a:cs typeface="Times New Roman"/>
              </a:rPr>
              <a:t>storage.</a:t>
            </a:r>
            <a:endParaRPr sz="1200" dirty="0">
              <a:latin typeface="Times New Roman"/>
              <a:cs typeface="Times New Roman"/>
            </a:endParaRPr>
          </a:p>
          <a:p>
            <a:pPr marL="435609" indent="-173355">
              <a:lnSpc>
                <a:spcPct val="100000"/>
              </a:lnSpc>
              <a:spcBef>
                <a:spcPts val="894"/>
              </a:spcBef>
              <a:buClr>
                <a:srgbClr val="3E762B"/>
              </a:buClr>
              <a:buFont typeface="Wingdings"/>
              <a:buChar char=""/>
              <a:tabLst>
                <a:tab pos="435609" algn="l"/>
              </a:tabLst>
            </a:pPr>
            <a:r>
              <a:rPr sz="1200" dirty="0">
                <a:latin typeface="Times New Roman"/>
                <a:cs typeface="Times New Roman"/>
              </a:rPr>
              <a:t>It</a:t>
            </a:r>
            <a:r>
              <a:rPr sz="1200" spc="-5"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spc="-10" dirty="0">
                <a:latin typeface="Times New Roman"/>
                <a:cs typeface="Times New Roman"/>
              </a:rPr>
              <a:t>well-</a:t>
            </a:r>
            <a:r>
              <a:rPr sz="1200" dirty="0">
                <a:latin typeface="Times New Roman"/>
                <a:cs typeface="Times New Roman"/>
              </a:rPr>
              <a:t>suited</a:t>
            </a:r>
            <a:r>
              <a:rPr sz="1200" spc="-4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b="1" dirty="0">
                <a:latin typeface="Times New Roman"/>
                <a:cs typeface="Times New Roman"/>
              </a:rPr>
              <a:t>archiving</a:t>
            </a:r>
            <a:r>
              <a:rPr sz="1200" b="1" spc="-30" dirty="0">
                <a:latin typeface="Times New Roman"/>
                <a:cs typeface="Times New Roman"/>
              </a:rPr>
              <a:t> </a:t>
            </a:r>
            <a:r>
              <a:rPr sz="1200" dirty="0">
                <a:latin typeface="Times New Roman"/>
                <a:cs typeface="Times New Roman"/>
              </a:rPr>
              <a:t>because</a:t>
            </a:r>
            <a:r>
              <a:rPr sz="1200" spc="-1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spc="-25" dirty="0">
                <a:latin typeface="Times New Roman"/>
                <a:cs typeface="Times New Roman"/>
              </a:rPr>
              <a:t>its</a:t>
            </a:r>
            <a:endParaRPr sz="1200" dirty="0">
              <a:latin typeface="Times New Roman"/>
              <a:cs typeface="Times New Roman"/>
            </a:endParaRPr>
          </a:p>
          <a:p>
            <a:pPr marL="436245">
              <a:lnSpc>
                <a:spcPct val="100000"/>
              </a:lnSpc>
              <a:spcBef>
                <a:spcPts val="5"/>
              </a:spcBef>
            </a:pPr>
            <a:r>
              <a:rPr sz="1200" b="1" dirty="0">
                <a:latin typeface="Times New Roman"/>
                <a:cs typeface="Times New Roman"/>
              </a:rPr>
              <a:t>high</a:t>
            </a:r>
            <a:r>
              <a:rPr sz="1200" b="1" spc="-20" dirty="0">
                <a:latin typeface="Times New Roman"/>
                <a:cs typeface="Times New Roman"/>
              </a:rPr>
              <a:t> </a:t>
            </a:r>
            <a:r>
              <a:rPr sz="1200" b="1" dirty="0">
                <a:latin typeface="Times New Roman"/>
                <a:cs typeface="Times New Roman"/>
              </a:rPr>
              <a:t>capacity</a:t>
            </a:r>
            <a:r>
              <a:rPr sz="1200" dirty="0">
                <a:latin typeface="Times New Roman"/>
                <a:cs typeface="Times New Roman"/>
              </a:rPr>
              <a:t>,</a:t>
            </a:r>
            <a:r>
              <a:rPr sz="1200" spc="-10" dirty="0">
                <a:latin typeface="Times New Roman"/>
                <a:cs typeface="Times New Roman"/>
              </a:rPr>
              <a:t> </a:t>
            </a:r>
            <a:r>
              <a:rPr sz="1200" b="1" dirty="0">
                <a:latin typeface="Times New Roman"/>
                <a:cs typeface="Times New Roman"/>
              </a:rPr>
              <a:t>low</a:t>
            </a:r>
            <a:r>
              <a:rPr sz="1200" b="1" spc="-15" dirty="0">
                <a:latin typeface="Times New Roman"/>
                <a:cs typeface="Times New Roman"/>
              </a:rPr>
              <a:t> </a:t>
            </a:r>
            <a:r>
              <a:rPr sz="1200" b="1" dirty="0">
                <a:latin typeface="Times New Roman"/>
                <a:cs typeface="Times New Roman"/>
              </a:rPr>
              <a:t>cost</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b="1" dirty="0">
                <a:latin typeface="Times New Roman"/>
                <a:cs typeface="Times New Roman"/>
              </a:rPr>
              <a:t>long</a:t>
            </a:r>
            <a:r>
              <a:rPr sz="1200" b="1" spc="-10" dirty="0">
                <a:latin typeface="Times New Roman"/>
                <a:cs typeface="Times New Roman"/>
              </a:rPr>
              <a:t> durability</a:t>
            </a:r>
            <a:r>
              <a:rPr sz="1200" spc="-10" dirty="0">
                <a:latin typeface="Times New Roman"/>
                <a:cs typeface="Times New Roman"/>
              </a:rPr>
              <a:t>.</a:t>
            </a:r>
            <a:endParaRPr sz="1200" dirty="0">
              <a:latin typeface="Times New Roman"/>
              <a:cs typeface="Times New Roman"/>
            </a:endParaRPr>
          </a:p>
          <a:p>
            <a:pPr marL="434975" marR="2781300" indent="-172720">
              <a:lnSpc>
                <a:spcPct val="100000"/>
              </a:lnSpc>
              <a:spcBef>
                <a:spcPts val="900"/>
              </a:spcBef>
              <a:buClr>
                <a:srgbClr val="3E762B"/>
              </a:buClr>
              <a:buFont typeface="Wingdings"/>
              <a:buChar char=""/>
              <a:tabLst>
                <a:tab pos="436245" algn="l"/>
              </a:tabLst>
            </a:pPr>
            <a:r>
              <a:rPr sz="1200" dirty="0">
                <a:latin typeface="Times New Roman"/>
                <a:cs typeface="Times New Roman"/>
              </a:rPr>
              <a:t>Content</a:t>
            </a:r>
            <a:r>
              <a:rPr sz="1200" spc="-35"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tape</a:t>
            </a:r>
            <a:r>
              <a:rPr sz="1200" spc="-25" dirty="0">
                <a:latin typeface="Times New Roman"/>
                <a:cs typeface="Times New Roman"/>
              </a:rPr>
              <a:t> </a:t>
            </a:r>
            <a:r>
              <a:rPr sz="1200" dirty="0">
                <a:latin typeface="Times New Roman"/>
                <a:cs typeface="Times New Roman"/>
              </a:rPr>
              <a:t>can</a:t>
            </a:r>
            <a:r>
              <a:rPr sz="1200" spc="-10" dirty="0">
                <a:latin typeface="Times New Roman"/>
                <a:cs typeface="Times New Roman"/>
              </a:rPr>
              <a:t> </a:t>
            </a:r>
            <a:r>
              <a:rPr sz="1200" dirty="0">
                <a:latin typeface="Times New Roman"/>
                <a:cs typeface="Times New Roman"/>
              </a:rPr>
              <a:t>only</a:t>
            </a:r>
            <a:r>
              <a:rPr sz="1200" spc="-30"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dirty="0">
                <a:latin typeface="Times New Roman"/>
                <a:cs typeface="Times New Roman"/>
              </a:rPr>
              <a:t>read</a:t>
            </a:r>
            <a:r>
              <a:rPr sz="1200" spc="-1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spc="-10" dirty="0">
                <a:latin typeface="Times New Roman"/>
                <a:cs typeface="Times New Roman"/>
              </a:rPr>
              <a:t>written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b="1" dirty="0">
                <a:latin typeface="Times New Roman"/>
                <a:cs typeface="Times New Roman"/>
              </a:rPr>
              <a:t>sequential</a:t>
            </a:r>
            <a:r>
              <a:rPr sz="1200" b="1" spc="-25" dirty="0">
                <a:latin typeface="Times New Roman"/>
                <a:cs typeface="Times New Roman"/>
              </a:rPr>
              <a:t> </a:t>
            </a:r>
            <a:r>
              <a:rPr sz="1200" spc="-10" dirty="0">
                <a:latin typeface="Times New Roman"/>
                <a:cs typeface="Times New Roman"/>
              </a:rPr>
              <a:t>format.</a:t>
            </a:r>
            <a:endParaRPr sz="1200" dirty="0">
              <a:latin typeface="Times New Roman"/>
              <a:cs typeface="Times New Roman"/>
            </a:endParaRPr>
          </a:p>
          <a:p>
            <a:pPr marL="434975" indent="-172720">
              <a:lnSpc>
                <a:spcPct val="100000"/>
              </a:lnSpc>
              <a:spcBef>
                <a:spcPts val="900"/>
              </a:spcBef>
              <a:buClr>
                <a:srgbClr val="3E762B"/>
              </a:buClr>
              <a:buFont typeface="Wingdings"/>
              <a:buChar char=""/>
              <a:tabLst>
                <a:tab pos="434975" algn="l"/>
              </a:tabLst>
            </a:pPr>
            <a:r>
              <a:rPr sz="1200" spc="-20" dirty="0">
                <a:latin typeface="Times New Roman"/>
                <a:cs typeface="Times New Roman"/>
              </a:rPr>
              <a:t>Tape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slower</a:t>
            </a:r>
            <a:r>
              <a:rPr sz="1200" spc="-20" dirty="0">
                <a:latin typeface="Times New Roman"/>
                <a:cs typeface="Times New Roman"/>
              </a:rPr>
              <a:t> </a:t>
            </a:r>
            <a:r>
              <a:rPr sz="1200" dirty="0">
                <a:latin typeface="Times New Roman"/>
                <a:cs typeface="Times New Roman"/>
              </a:rPr>
              <a:t>than</a:t>
            </a:r>
            <a:r>
              <a:rPr sz="1200" spc="-25" dirty="0">
                <a:latin typeface="Times New Roman"/>
                <a:cs typeface="Times New Roman"/>
              </a:rPr>
              <a:t> </a:t>
            </a:r>
            <a:r>
              <a:rPr sz="1200" spc="-10" dirty="0">
                <a:latin typeface="Times New Roman"/>
                <a:cs typeface="Times New Roman"/>
              </a:rPr>
              <a:t>disk.</a:t>
            </a:r>
            <a:endParaRPr sz="1200" dirty="0">
              <a:latin typeface="Times New Roman"/>
              <a:cs typeface="Times New Roman"/>
            </a:endParaRPr>
          </a:p>
          <a:p>
            <a:pPr marL="434975" indent="-172720">
              <a:lnSpc>
                <a:spcPct val="100000"/>
              </a:lnSpc>
              <a:spcBef>
                <a:spcPts val="900"/>
              </a:spcBef>
              <a:buClr>
                <a:srgbClr val="3E762B"/>
              </a:buClr>
              <a:buFont typeface="Wingdings"/>
              <a:buChar char=""/>
              <a:tabLst>
                <a:tab pos="434975" algn="l"/>
              </a:tabLst>
            </a:pPr>
            <a:r>
              <a:rPr sz="1200" spc="-20" dirty="0">
                <a:latin typeface="Times New Roman"/>
                <a:cs typeface="Times New Roman"/>
              </a:rPr>
              <a:t>Tape</a:t>
            </a:r>
            <a:r>
              <a:rPr sz="1200" spc="-25" dirty="0">
                <a:latin typeface="Times New Roman"/>
                <a:cs typeface="Times New Roman"/>
              </a:rPr>
              <a:t> </a:t>
            </a:r>
            <a:r>
              <a:rPr sz="1200" dirty="0">
                <a:latin typeface="Times New Roman"/>
                <a:cs typeface="Times New Roman"/>
              </a:rPr>
              <a:t>not</a:t>
            </a:r>
            <a:r>
              <a:rPr sz="1200" spc="-35" dirty="0">
                <a:latin typeface="Times New Roman"/>
                <a:cs typeface="Times New Roman"/>
              </a:rPr>
              <a:t> </a:t>
            </a:r>
            <a:r>
              <a:rPr sz="1200" dirty="0">
                <a:latin typeface="Times New Roman"/>
                <a:cs typeface="Times New Roman"/>
              </a:rPr>
              <a:t>support</a:t>
            </a:r>
            <a:r>
              <a:rPr sz="1200" spc="-25" dirty="0">
                <a:latin typeface="Times New Roman"/>
                <a:cs typeface="Times New Roman"/>
              </a:rPr>
              <a:t> </a:t>
            </a:r>
            <a:r>
              <a:rPr sz="1200" dirty="0">
                <a:latin typeface="Times New Roman"/>
                <a:cs typeface="Times New Roman"/>
              </a:rPr>
              <a:t>random</a:t>
            </a:r>
            <a:r>
              <a:rPr sz="1200" spc="-25" dirty="0">
                <a:latin typeface="Times New Roman"/>
                <a:cs typeface="Times New Roman"/>
              </a:rPr>
              <a:t> </a:t>
            </a:r>
            <a:r>
              <a:rPr sz="1200" spc="-10" dirty="0">
                <a:latin typeface="Times New Roman"/>
                <a:cs typeface="Times New Roman"/>
              </a:rPr>
              <a:t>access.</a:t>
            </a:r>
            <a:endParaRPr sz="1200" dirty="0">
              <a:latin typeface="Times New Roman"/>
              <a:cs typeface="Times New Roman"/>
            </a:endParaRPr>
          </a:p>
          <a:p>
            <a:pPr marL="434975" marR="779780" indent="-172720">
              <a:lnSpc>
                <a:spcPct val="100000"/>
              </a:lnSpc>
              <a:spcBef>
                <a:spcPts val="900"/>
              </a:spcBef>
              <a:buClr>
                <a:srgbClr val="3E762B"/>
              </a:buClr>
              <a:buFont typeface="Wingdings"/>
              <a:buChar char=""/>
              <a:tabLst>
                <a:tab pos="436245" algn="l"/>
              </a:tabLst>
            </a:pPr>
            <a:r>
              <a:rPr sz="1200" dirty="0">
                <a:latin typeface="Times New Roman"/>
                <a:cs typeface="Times New Roman"/>
              </a:rPr>
              <a:t>Disk</a:t>
            </a:r>
            <a:r>
              <a:rPr sz="1200" spc="-25" dirty="0">
                <a:latin typeface="Times New Roman"/>
                <a:cs typeface="Times New Roman"/>
              </a:rPr>
              <a:t> </a:t>
            </a:r>
            <a:r>
              <a:rPr sz="1200" dirty="0">
                <a:latin typeface="Times New Roman"/>
                <a:cs typeface="Times New Roman"/>
              </a:rPr>
              <a:t>access</a:t>
            </a:r>
            <a:r>
              <a:rPr sz="1200" spc="-10" dirty="0">
                <a:latin typeface="Times New Roman"/>
                <a:cs typeface="Times New Roman"/>
              </a:rPr>
              <a:t> </a:t>
            </a:r>
            <a:r>
              <a:rPr sz="1200" dirty="0">
                <a:latin typeface="Times New Roman"/>
                <a:cs typeface="Times New Roman"/>
              </a:rPr>
              <a:t>times</a:t>
            </a:r>
            <a:r>
              <a:rPr sz="1200" spc="-35"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measured</a:t>
            </a:r>
            <a:r>
              <a:rPr sz="1200" spc="-1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spc="-10" dirty="0">
                <a:latin typeface="Times New Roman"/>
                <a:cs typeface="Times New Roman"/>
              </a:rPr>
              <a:t>milliseconds,</a:t>
            </a:r>
            <a:r>
              <a:rPr sz="1200" spc="-45" dirty="0">
                <a:latin typeface="Times New Roman"/>
                <a:cs typeface="Times New Roman"/>
              </a:rPr>
              <a:t> </a:t>
            </a:r>
            <a:r>
              <a:rPr sz="1200" dirty="0">
                <a:latin typeface="Times New Roman"/>
                <a:cs typeface="Times New Roman"/>
              </a:rPr>
              <a:t>while</a:t>
            </a:r>
            <a:r>
              <a:rPr sz="1200" spc="-20" dirty="0">
                <a:latin typeface="Times New Roman"/>
                <a:cs typeface="Times New Roman"/>
              </a:rPr>
              <a:t> </a:t>
            </a:r>
            <a:r>
              <a:rPr sz="1200" dirty="0">
                <a:latin typeface="Times New Roman"/>
                <a:cs typeface="Times New Roman"/>
              </a:rPr>
              <a:t>tape</a:t>
            </a:r>
            <a:r>
              <a:rPr sz="1200" spc="-25" dirty="0">
                <a:latin typeface="Times New Roman"/>
                <a:cs typeface="Times New Roman"/>
              </a:rPr>
              <a:t> </a:t>
            </a:r>
            <a:r>
              <a:rPr sz="1200" dirty="0">
                <a:latin typeface="Times New Roman"/>
                <a:cs typeface="Times New Roman"/>
              </a:rPr>
              <a:t>access times</a:t>
            </a:r>
            <a:r>
              <a:rPr sz="1200" spc="-35" dirty="0">
                <a:latin typeface="Times New Roman"/>
                <a:cs typeface="Times New Roman"/>
              </a:rPr>
              <a:t> </a:t>
            </a:r>
            <a:r>
              <a:rPr sz="1200" spc="-25" dirty="0">
                <a:latin typeface="Times New Roman"/>
                <a:cs typeface="Times New Roman"/>
              </a:rPr>
              <a:t>can 	</a:t>
            </a:r>
            <a:r>
              <a:rPr sz="1200" dirty="0">
                <a:latin typeface="Times New Roman"/>
                <a:cs typeface="Times New Roman"/>
              </a:rPr>
              <a:t>be</a:t>
            </a:r>
            <a:r>
              <a:rPr sz="1200" spc="-30" dirty="0">
                <a:latin typeface="Times New Roman"/>
                <a:cs typeface="Times New Roman"/>
              </a:rPr>
              <a:t> </a:t>
            </a:r>
            <a:r>
              <a:rPr sz="1200" dirty="0">
                <a:latin typeface="Times New Roman"/>
                <a:cs typeface="Times New Roman"/>
              </a:rPr>
              <a:t>seconds</a:t>
            </a:r>
            <a:r>
              <a:rPr sz="1200" spc="-1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minutes</a:t>
            </a:r>
            <a:r>
              <a:rPr sz="1200" spc="-40" dirty="0">
                <a:latin typeface="Times New Roman"/>
                <a:cs typeface="Times New Roman"/>
              </a:rPr>
              <a:t> </a:t>
            </a:r>
            <a:r>
              <a:rPr sz="1200" spc="-10" dirty="0">
                <a:latin typeface="Times New Roman"/>
                <a:cs typeface="Times New Roman"/>
              </a:rPr>
              <a:t>long.</a:t>
            </a:r>
            <a:endParaRPr sz="1200" dirty="0">
              <a:latin typeface="Times New Roman"/>
              <a:cs typeface="Times New Roman"/>
            </a:endParaRPr>
          </a:p>
        </p:txBody>
      </p:sp>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8" name="object 8"/>
          <p:cNvSpPr txBox="1"/>
          <p:nvPr/>
        </p:nvSpPr>
        <p:spPr>
          <a:xfrm>
            <a:off x="496823" y="4966715"/>
            <a:ext cx="5862955" cy="3188335"/>
          </a:xfrm>
          <a:prstGeom prst="rect">
            <a:avLst/>
          </a:prstGeom>
        </p:spPr>
        <p:txBody>
          <a:bodyPr vert="horz" wrap="square" lIns="0" tIns="149225" rIns="0" bIns="0" rtlCol="0">
            <a:spAutoFit/>
          </a:bodyPr>
          <a:lstStyle/>
          <a:p>
            <a:pPr marL="228600">
              <a:lnSpc>
                <a:spcPct val="100000"/>
              </a:lnSpc>
              <a:spcBef>
                <a:spcPts val="1175"/>
              </a:spcBef>
            </a:pPr>
            <a:r>
              <a:rPr sz="1800" dirty="0">
                <a:latin typeface="Georgia"/>
                <a:cs typeface="Georgia"/>
              </a:rPr>
              <a:t>The</a:t>
            </a:r>
            <a:r>
              <a:rPr sz="1800" spc="-40" dirty="0">
                <a:latin typeface="Georgia"/>
                <a:cs typeface="Georgia"/>
              </a:rPr>
              <a:t> </a:t>
            </a:r>
            <a:r>
              <a:rPr sz="1800" dirty="0">
                <a:latin typeface="Georgia"/>
                <a:cs typeface="Georgia"/>
              </a:rPr>
              <a:t>important</a:t>
            </a:r>
            <a:r>
              <a:rPr sz="1800" spc="-50" dirty="0">
                <a:latin typeface="Georgia"/>
                <a:cs typeface="Georgia"/>
              </a:rPr>
              <a:t> </a:t>
            </a:r>
            <a:r>
              <a:rPr sz="1800" spc="-10" dirty="0">
                <a:latin typeface="Georgia"/>
                <a:cs typeface="Georgia"/>
              </a:rPr>
              <a:t>characteristics</a:t>
            </a:r>
            <a:r>
              <a:rPr sz="1800" spc="-55" dirty="0">
                <a:latin typeface="Georgia"/>
                <a:cs typeface="Georgia"/>
              </a:rPr>
              <a:t> </a:t>
            </a:r>
            <a:r>
              <a:rPr sz="1800" dirty="0">
                <a:latin typeface="Georgia"/>
                <a:cs typeface="Georgia"/>
              </a:rPr>
              <a:t>of</a:t>
            </a:r>
            <a:r>
              <a:rPr sz="1800" spc="-35" dirty="0">
                <a:latin typeface="Georgia"/>
                <a:cs typeface="Georgia"/>
              </a:rPr>
              <a:t> </a:t>
            </a:r>
            <a:r>
              <a:rPr sz="1800" dirty="0">
                <a:latin typeface="Georgia"/>
                <a:cs typeface="Georgia"/>
              </a:rPr>
              <a:t>any</a:t>
            </a:r>
            <a:r>
              <a:rPr sz="1800" spc="-45" dirty="0">
                <a:latin typeface="Georgia"/>
                <a:cs typeface="Georgia"/>
              </a:rPr>
              <a:t> </a:t>
            </a:r>
            <a:r>
              <a:rPr sz="1800" dirty="0">
                <a:latin typeface="Georgia"/>
                <a:cs typeface="Georgia"/>
              </a:rPr>
              <a:t>Memory</a:t>
            </a:r>
            <a:r>
              <a:rPr sz="1800" spc="-35" dirty="0">
                <a:latin typeface="Georgia"/>
                <a:cs typeface="Georgia"/>
              </a:rPr>
              <a:t> </a:t>
            </a:r>
            <a:r>
              <a:rPr sz="1800" spc="-10" dirty="0">
                <a:latin typeface="Georgia"/>
                <a:cs typeface="Georgia"/>
              </a:rPr>
              <a:t>device</a:t>
            </a:r>
            <a:endParaRPr sz="1800">
              <a:latin typeface="Georgia"/>
              <a:cs typeface="Georgia"/>
            </a:endParaRPr>
          </a:p>
          <a:p>
            <a:pPr>
              <a:lnSpc>
                <a:spcPct val="100000"/>
              </a:lnSpc>
              <a:spcBef>
                <a:spcPts val="215"/>
              </a:spcBef>
            </a:pPr>
            <a:endParaRPr sz="1800">
              <a:latin typeface="Georgia"/>
              <a:cs typeface="Georgia"/>
            </a:endParaRPr>
          </a:p>
          <a:p>
            <a:pPr marL="607695" indent="-171450">
              <a:lnSpc>
                <a:spcPct val="100000"/>
              </a:lnSpc>
              <a:buClr>
                <a:srgbClr val="3E762B"/>
              </a:buClr>
              <a:buFont typeface="Arial MT"/>
              <a:buChar char="•"/>
              <a:tabLst>
                <a:tab pos="607695" algn="l"/>
              </a:tabLst>
            </a:pPr>
            <a:r>
              <a:rPr sz="1400" dirty="0">
                <a:latin typeface="Times New Roman"/>
                <a:cs typeface="Times New Roman"/>
              </a:rPr>
              <a:t>Access</a:t>
            </a:r>
            <a:r>
              <a:rPr sz="1400" spc="-70" dirty="0">
                <a:latin typeface="Times New Roman"/>
                <a:cs typeface="Times New Roman"/>
              </a:rPr>
              <a:t> </a:t>
            </a:r>
            <a:r>
              <a:rPr sz="1400" dirty="0">
                <a:latin typeface="Times New Roman"/>
                <a:cs typeface="Times New Roman"/>
              </a:rPr>
              <a:t>time</a:t>
            </a:r>
            <a:r>
              <a:rPr sz="1400" spc="-45" dirty="0">
                <a:latin typeface="Times New Roman"/>
                <a:cs typeface="Times New Roman"/>
              </a:rPr>
              <a:t> </a:t>
            </a:r>
            <a:r>
              <a:rPr sz="1400" dirty="0">
                <a:latin typeface="Times New Roman"/>
                <a:cs typeface="Times New Roman"/>
              </a:rPr>
              <a:t>(Transfer</a:t>
            </a:r>
            <a:r>
              <a:rPr sz="1400" spc="-65" dirty="0">
                <a:latin typeface="Times New Roman"/>
                <a:cs typeface="Times New Roman"/>
              </a:rPr>
              <a:t> </a:t>
            </a:r>
            <a:r>
              <a:rPr sz="1400" spc="-20" dirty="0">
                <a:latin typeface="Times New Roman"/>
                <a:cs typeface="Times New Roman"/>
              </a:rPr>
              <a:t>rate)</a:t>
            </a:r>
            <a:endParaRPr sz="1400">
              <a:latin typeface="Times New Roman"/>
              <a:cs typeface="Times New Roman"/>
            </a:endParaRPr>
          </a:p>
          <a:p>
            <a:pPr marL="607695" indent="-171450">
              <a:lnSpc>
                <a:spcPct val="100000"/>
              </a:lnSpc>
              <a:spcBef>
                <a:spcPts val="1440"/>
              </a:spcBef>
              <a:buClr>
                <a:srgbClr val="3E762B"/>
              </a:buClr>
              <a:buFont typeface="Arial MT"/>
              <a:buChar char="•"/>
              <a:tabLst>
                <a:tab pos="607695" algn="l"/>
              </a:tabLst>
            </a:pPr>
            <a:r>
              <a:rPr sz="1400" spc="-10" dirty="0">
                <a:latin typeface="Times New Roman"/>
                <a:cs typeface="Times New Roman"/>
              </a:rPr>
              <a:t>Capacity</a:t>
            </a:r>
            <a:endParaRPr sz="1400">
              <a:latin typeface="Times New Roman"/>
              <a:cs typeface="Times New Roman"/>
            </a:endParaRPr>
          </a:p>
          <a:p>
            <a:pPr marL="607695" indent="-171450">
              <a:lnSpc>
                <a:spcPct val="100000"/>
              </a:lnSpc>
              <a:spcBef>
                <a:spcPts val="1440"/>
              </a:spcBef>
              <a:buClr>
                <a:srgbClr val="3E762B"/>
              </a:buClr>
              <a:buFont typeface="Arial MT"/>
              <a:buChar char="•"/>
              <a:tabLst>
                <a:tab pos="607695" algn="l"/>
              </a:tabLst>
            </a:pPr>
            <a:r>
              <a:rPr sz="1400" spc="-20" dirty="0">
                <a:latin typeface="Times New Roman"/>
                <a:cs typeface="Times New Roman"/>
              </a:rPr>
              <a:t>Cost</a:t>
            </a:r>
            <a:endParaRPr sz="14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18</a:t>
            </a:fld>
            <a:endParaRPr spc="-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81000" y="868680"/>
            <a:ext cx="6096000" cy="3429000"/>
            <a:chOff x="381000" y="868680"/>
            <a:chExt cx="6096000" cy="3429000"/>
          </a:xfrm>
        </p:grpSpPr>
        <p:sp>
          <p:nvSpPr>
            <p:cNvPr id="3" name="object 3"/>
            <p:cNvSpPr/>
            <p:nvPr/>
          </p:nvSpPr>
          <p:spPr>
            <a:xfrm>
              <a:off x="496823" y="990600"/>
              <a:ext cx="5862955" cy="3188335"/>
            </a:xfrm>
            <a:custGeom>
              <a:avLst/>
              <a:gdLst/>
              <a:ahLst/>
              <a:cxnLst/>
              <a:rect l="l" t="t" r="r" b="b"/>
              <a:pathLst>
                <a:path w="5862955" h="3188335">
                  <a:moveTo>
                    <a:pt x="5862828" y="0"/>
                  </a:moveTo>
                  <a:lnTo>
                    <a:pt x="0" y="0"/>
                  </a:lnTo>
                  <a:lnTo>
                    <a:pt x="0" y="3188208"/>
                  </a:lnTo>
                  <a:lnTo>
                    <a:pt x="5862828" y="3188208"/>
                  </a:lnTo>
                  <a:lnTo>
                    <a:pt x="5862828" y="0"/>
                  </a:lnTo>
                  <a:close/>
                </a:path>
              </a:pathLst>
            </a:custGeom>
            <a:solidFill>
              <a:srgbClr val="FFFFFF"/>
            </a:solidFill>
          </p:spPr>
          <p:txBody>
            <a:bodyPr wrap="square" lIns="0" tIns="0" rIns="0" bIns="0" rtlCol="0"/>
            <a:lstStyle/>
            <a:p>
              <a:endParaRPr/>
            </a:p>
          </p:txBody>
        </p:sp>
        <p:sp>
          <p:nvSpPr>
            <p:cNvPr id="4" name="object 4"/>
            <p:cNvSpPr/>
            <p:nvPr/>
          </p:nvSpPr>
          <p:spPr>
            <a:xfrm>
              <a:off x="662177" y="1538478"/>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5" name="object 5"/>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Memory</a:t>
            </a:r>
            <a:r>
              <a:rPr spc="-105" dirty="0"/>
              <a:t> </a:t>
            </a:r>
            <a:r>
              <a:rPr spc="-10" dirty="0"/>
              <a:t>Technology</a:t>
            </a:r>
          </a:p>
        </p:txBody>
      </p:sp>
      <p:sp>
        <p:nvSpPr>
          <p:cNvPr id="6" name="object 6"/>
          <p:cNvSpPr txBox="1"/>
          <p:nvPr/>
        </p:nvSpPr>
        <p:spPr>
          <a:xfrm>
            <a:off x="746861" y="1513484"/>
            <a:ext cx="3194685" cy="1254125"/>
          </a:xfrm>
          <a:prstGeom prst="rect">
            <a:avLst/>
          </a:prstGeom>
        </p:spPr>
        <p:txBody>
          <a:bodyPr vert="horz" wrap="square" lIns="0" tIns="101600" rIns="0" bIns="0" rtlCol="0">
            <a:spAutoFit/>
          </a:bodyPr>
          <a:lstStyle/>
          <a:p>
            <a:pPr marL="186055" indent="-173355">
              <a:lnSpc>
                <a:spcPct val="100000"/>
              </a:lnSpc>
              <a:spcBef>
                <a:spcPts val="800"/>
              </a:spcBef>
              <a:buClr>
                <a:srgbClr val="3E762B"/>
              </a:buClr>
              <a:buFont typeface="Wingdings"/>
              <a:buChar char=""/>
              <a:tabLst>
                <a:tab pos="186055" algn="l"/>
              </a:tabLst>
            </a:pPr>
            <a:r>
              <a:rPr sz="1200" dirty="0">
                <a:latin typeface="Times New Roman"/>
                <a:cs typeface="Times New Roman"/>
              </a:rPr>
              <a:t>Static</a:t>
            </a:r>
            <a:r>
              <a:rPr sz="1200" spc="35" dirty="0">
                <a:latin typeface="Times New Roman"/>
                <a:cs typeface="Times New Roman"/>
              </a:rPr>
              <a:t> </a:t>
            </a:r>
            <a:r>
              <a:rPr sz="1200" dirty="0">
                <a:latin typeface="Times New Roman"/>
                <a:cs typeface="Times New Roman"/>
              </a:rPr>
              <a:t>RAM</a:t>
            </a:r>
            <a:r>
              <a:rPr sz="1200" spc="60" dirty="0">
                <a:latin typeface="Times New Roman"/>
                <a:cs typeface="Times New Roman"/>
              </a:rPr>
              <a:t> </a:t>
            </a:r>
            <a:r>
              <a:rPr sz="1200" spc="-10" dirty="0">
                <a:latin typeface="Times New Roman"/>
                <a:cs typeface="Times New Roman"/>
              </a:rPr>
              <a:t>(SRAM)</a:t>
            </a:r>
            <a:endParaRPr sz="1200">
              <a:latin typeface="Times New Roman"/>
              <a:cs typeface="Times New Roman"/>
            </a:endParaRPr>
          </a:p>
          <a:p>
            <a:pPr marL="375285">
              <a:lnSpc>
                <a:spcPct val="100000"/>
              </a:lnSpc>
              <a:spcBef>
                <a:spcPts val="705"/>
              </a:spcBef>
              <a:tabLst>
                <a:tab pos="1823085" algn="l"/>
              </a:tabLst>
            </a:pPr>
            <a:r>
              <a:rPr sz="1200" dirty="0">
                <a:latin typeface="Times New Roman"/>
                <a:cs typeface="Times New Roman"/>
              </a:rPr>
              <a:t>0.5</a:t>
            </a:r>
            <a:r>
              <a:rPr sz="1200" spc="25" dirty="0">
                <a:latin typeface="Times New Roman"/>
                <a:cs typeface="Times New Roman"/>
              </a:rPr>
              <a:t> </a:t>
            </a:r>
            <a:r>
              <a:rPr sz="1200" dirty="0">
                <a:latin typeface="Times New Roman"/>
                <a:cs typeface="Times New Roman"/>
              </a:rPr>
              <a:t>ns</a:t>
            </a:r>
            <a:r>
              <a:rPr sz="1200" spc="35" dirty="0">
                <a:latin typeface="Times New Roman"/>
                <a:cs typeface="Times New Roman"/>
              </a:rPr>
              <a:t> </a:t>
            </a:r>
            <a:r>
              <a:rPr sz="1200" dirty="0">
                <a:latin typeface="Times New Roman"/>
                <a:cs typeface="Times New Roman"/>
              </a:rPr>
              <a:t>-</a:t>
            </a:r>
            <a:r>
              <a:rPr sz="1200" spc="40" dirty="0">
                <a:latin typeface="Times New Roman"/>
                <a:cs typeface="Times New Roman"/>
              </a:rPr>
              <a:t> </a:t>
            </a:r>
            <a:r>
              <a:rPr sz="1200" dirty="0">
                <a:latin typeface="Times New Roman"/>
                <a:cs typeface="Times New Roman"/>
              </a:rPr>
              <a:t>2.5</a:t>
            </a:r>
            <a:r>
              <a:rPr sz="1200" spc="25" dirty="0">
                <a:latin typeface="Times New Roman"/>
                <a:cs typeface="Times New Roman"/>
              </a:rPr>
              <a:t> </a:t>
            </a:r>
            <a:r>
              <a:rPr sz="1200" spc="-35" dirty="0">
                <a:latin typeface="Times New Roman"/>
                <a:cs typeface="Times New Roman"/>
              </a:rPr>
              <a:t>ns</a:t>
            </a:r>
            <a:r>
              <a:rPr sz="1200" dirty="0">
                <a:latin typeface="Times New Roman"/>
                <a:cs typeface="Times New Roman"/>
              </a:rPr>
              <a:t>	$500</a:t>
            </a:r>
            <a:r>
              <a:rPr sz="1200" spc="50" dirty="0">
                <a:latin typeface="Times New Roman"/>
                <a:cs typeface="Times New Roman"/>
              </a:rPr>
              <a:t> </a:t>
            </a:r>
            <a:r>
              <a:rPr sz="1200" dirty="0">
                <a:latin typeface="Times New Roman"/>
                <a:cs typeface="Times New Roman"/>
              </a:rPr>
              <a:t>–</a:t>
            </a:r>
            <a:r>
              <a:rPr sz="1200" spc="65" dirty="0">
                <a:latin typeface="Times New Roman"/>
                <a:cs typeface="Times New Roman"/>
              </a:rPr>
              <a:t> </a:t>
            </a:r>
            <a:r>
              <a:rPr sz="1200" dirty="0">
                <a:latin typeface="Times New Roman"/>
                <a:cs typeface="Times New Roman"/>
              </a:rPr>
              <a:t>$1000</a:t>
            </a:r>
            <a:r>
              <a:rPr sz="1200" spc="35" dirty="0">
                <a:latin typeface="Times New Roman"/>
                <a:cs typeface="Times New Roman"/>
              </a:rPr>
              <a:t> </a:t>
            </a:r>
            <a:r>
              <a:rPr sz="1200" dirty="0">
                <a:latin typeface="Times New Roman"/>
                <a:cs typeface="Times New Roman"/>
              </a:rPr>
              <a:t>per</a:t>
            </a:r>
            <a:r>
              <a:rPr sz="1200" spc="55" dirty="0">
                <a:latin typeface="Times New Roman"/>
                <a:cs typeface="Times New Roman"/>
              </a:rPr>
              <a:t> </a:t>
            </a:r>
            <a:r>
              <a:rPr sz="1200" spc="-25" dirty="0">
                <a:latin typeface="Times New Roman"/>
                <a:cs typeface="Times New Roman"/>
              </a:rPr>
              <a:t>GB</a:t>
            </a:r>
            <a:endParaRPr sz="1200">
              <a:latin typeface="Times New Roman"/>
              <a:cs typeface="Times New Roman"/>
            </a:endParaRPr>
          </a:p>
          <a:p>
            <a:pPr>
              <a:lnSpc>
                <a:spcPct val="100000"/>
              </a:lnSpc>
              <a:spcBef>
                <a:spcPts val="470"/>
              </a:spcBef>
            </a:pPr>
            <a:endParaRPr sz="1200">
              <a:latin typeface="Times New Roman"/>
              <a:cs typeface="Times New Roman"/>
            </a:endParaRPr>
          </a:p>
          <a:p>
            <a:pPr marL="186055" indent="-173355">
              <a:lnSpc>
                <a:spcPct val="100000"/>
              </a:lnSpc>
              <a:buClr>
                <a:srgbClr val="3E762B"/>
              </a:buClr>
              <a:buFont typeface="Wingdings"/>
              <a:buChar char=""/>
              <a:tabLst>
                <a:tab pos="186055" algn="l"/>
              </a:tabLst>
            </a:pPr>
            <a:r>
              <a:rPr sz="1200" dirty="0">
                <a:latin typeface="Times New Roman"/>
                <a:cs typeface="Times New Roman"/>
              </a:rPr>
              <a:t>Dynamic</a:t>
            </a:r>
            <a:r>
              <a:rPr sz="1200" spc="85" dirty="0">
                <a:latin typeface="Times New Roman"/>
                <a:cs typeface="Times New Roman"/>
              </a:rPr>
              <a:t> </a:t>
            </a:r>
            <a:r>
              <a:rPr sz="1200" dirty="0">
                <a:latin typeface="Times New Roman"/>
                <a:cs typeface="Times New Roman"/>
              </a:rPr>
              <a:t>RAM</a:t>
            </a:r>
            <a:r>
              <a:rPr sz="1200" spc="45" dirty="0">
                <a:latin typeface="Times New Roman"/>
                <a:cs typeface="Times New Roman"/>
              </a:rPr>
              <a:t> </a:t>
            </a:r>
            <a:r>
              <a:rPr sz="1200" spc="-10" dirty="0">
                <a:latin typeface="Times New Roman"/>
                <a:cs typeface="Times New Roman"/>
              </a:rPr>
              <a:t>(DRAM)</a:t>
            </a:r>
            <a:endParaRPr sz="1200">
              <a:latin typeface="Times New Roman"/>
              <a:cs typeface="Times New Roman"/>
            </a:endParaRPr>
          </a:p>
          <a:p>
            <a:pPr marL="375285">
              <a:lnSpc>
                <a:spcPct val="100000"/>
              </a:lnSpc>
              <a:spcBef>
                <a:spcPts val="650"/>
              </a:spcBef>
              <a:tabLst>
                <a:tab pos="1823085" algn="l"/>
              </a:tabLst>
            </a:pPr>
            <a:r>
              <a:rPr sz="1200" dirty="0">
                <a:latin typeface="Times New Roman"/>
                <a:cs typeface="Times New Roman"/>
              </a:rPr>
              <a:t>50</a:t>
            </a:r>
            <a:r>
              <a:rPr sz="1200" spc="35" dirty="0">
                <a:latin typeface="Times New Roman"/>
                <a:cs typeface="Times New Roman"/>
              </a:rPr>
              <a:t> </a:t>
            </a:r>
            <a:r>
              <a:rPr sz="1200" dirty="0">
                <a:latin typeface="Times New Roman"/>
                <a:cs typeface="Times New Roman"/>
              </a:rPr>
              <a:t>ns</a:t>
            </a:r>
            <a:r>
              <a:rPr sz="1200" spc="30" dirty="0">
                <a:latin typeface="Times New Roman"/>
                <a:cs typeface="Times New Roman"/>
              </a:rPr>
              <a:t> </a:t>
            </a:r>
            <a:r>
              <a:rPr sz="1200" dirty="0">
                <a:latin typeface="Times New Roman"/>
                <a:cs typeface="Times New Roman"/>
              </a:rPr>
              <a:t>–</a:t>
            </a:r>
            <a:r>
              <a:rPr sz="1200" spc="35" dirty="0">
                <a:latin typeface="Times New Roman"/>
                <a:cs typeface="Times New Roman"/>
              </a:rPr>
              <a:t> </a:t>
            </a:r>
            <a:r>
              <a:rPr sz="1200" dirty="0">
                <a:latin typeface="Times New Roman"/>
                <a:cs typeface="Times New Roman"/>
              </a:rPr>
              <a:t>70</a:t>
            </a:r>
            <a:r>
              <a:rPr sz="1200" spc="40" dirty="0">
                <a:latin typeface="Times New Roman"/>
                <a:cs typeface="Times New Roman"/>
              </a:rPr>
              <a:t> </a:t>
            </a:r>
            <a:r>
              <a:rPr sz="1200" spc="-25" dirty="0">
                <a:latin typeface="Times New Roman"/>
                <a:cs typeface="Times New Roman"/>
              </a:rPr>
              <a:t>ns</a:t>
            </a:r>
            <a:r>
              <a:rPr sz="1200" dirty="0">
                <a:latin typeface="Times New Roman"/>
                <a:cs typeface="Times New Roman"/>
              </a:rPr>
              <a:t>	$3</a:t>
            </a:r>
            <a:r>
              <a:rPr sz="1200" spc="35" dirty="0">
                <a:latin typeface="Times New Roman"/>
                <a:cs typeface="Times New Roman"/>
              </a:rPr>
              <a:t> </a:t>
            </a:r>
            <a:r>
              <a:rPr sz="1200" dirty="0">
                <a:latin typeface="Times New Roman"/>
                <a:cs typeface="Times New Roman"/>
              </a:rPr>
              <a:t>–</a:t>
            </a:r>
            <a:r>
              <a:rPr sz="1200" spc="40" dirty="0">
                <a:latin typeface="Times New Roman"/>
                <a:cs typeface="Times New Roman"/>
              </a:rPr>
              <a:t> </a:t>
            </a:r>
            <a:r>
              <a:rPr sz="1200" dirty="0">
                <a:latin typeface="Times New Roman"/>
                <a:cs typeface="Times New Roman"/>
              </a:rPr>
              <a:t>$6</a:t>
            </a:r>
            <a:r>
              <a:rPr sz="1200" spc="20" dirty="0">
                <a:latin typeface="Times New Roman"/>
                <a:cs typeface="Times New Roman"/>
              </a:rPr>
              <a:t> </a:t>
            </a:r>
            <a:r>
              <a:rPr sz="1200" dirty="0">
                <a:latin typeface="Times New Roman"/>
                <a:cs typeface="Times New Roman"/>
              </a:rPr>
              <a:t>per</a:t>
            </a:r>
            <a:r>
              <a:rPr sz="1200" spc="30" dirty="0">
                <a:latin typeface="Times New Roman"/>
                <a:cs typeface="Times New Roman"/>
              </a:rPr>
              <a:t> </a:t>
            </a:r>
            <a:r>
              <a:rPr sz="1200" spc="-25" dirty="0">
                <a:latin typeface="Times New Roman"/>
                <a:cs typeface="Times New Roman"/>
              </a:rPr>
              <a:t>GB</a:t>
            </a:r>
            <a:endParaRPr sz="1200">
              <a:latin typeface="Times New Roman"/>
              <a:cs typeface="Times New Roman"/>
            </a:endParaRPr>
          </a:p>
        </p:txBody>
      </p:sp>
      <p:sp>
        <p:nvSpPr>
          <p:cNvPr id="7" name="object 7"/>
          <p:cNvSpPr txBox="1"/>
          <p:nvPr/>
        </p:nvSpPr>
        <p:spPr>
          <a:xfrm>
            <a:off x="759561" y="2902102"/>
            <a:ext cx="1205230" cy="553085"/>
          </a:xfrm>
          <a:prstGeom prst="rect">
            <a:avLst/>
          </a:prstGeom>
        </p:spPr>
        <p:txBody>
          <a:bodyPr vert="horz" wrap="square" lIns="0" tIns="92075" rIns="0" bIns="0" rtlCol="0">
            <a:spAutoFit/>
          </a:bodyPr>
          <a:lstStyle/>
          <a:p>
            <a:pPr marL="173355" indent="-173355">
              <a:lnSpc>
                <a:spcPct val="100000"/>
              </a:lnSpc>
              <a:spcBef>
                <a:spcPts val="725"/>
              </a:spcBef>
              <a:buClr>
                <a:srgbClr val="3E762B"/>
              </a:buClr>
              <a:buFont typeface="Wingdings"/>
              <a:buChar char=""/>
              <a:tabLst>
                <a:tab pos="173355" algn="l"/>
              </a:tabLst>
            </a:pPr>
            <a:r>
              <a:rPr sz="1200" dirty="0">
                <a:latin typeface="Times New Roman"/>
                <a:cs typeface="Times New Roman"/>
              </a:rPr>
              <a:t>Magnetic</a:t>
            </a:r>
            <a:r>
              <a:rPr sz="1200" spc="70" dirty="0">
                <a:latin typeface="Times New Roman"/>
                <a:cs typeface="Times New Roman"/>
              </a:rPr>
              <a:t> </a:t>
            </a:r>
            <a:r>
              <a:rPr sz="1200" spc="-20" dirty="0">
                <a:latin typeface="Times New Roman"/>
                <a:cs typeface="Times New Roman"/>
              </a:rPr>
              <a:t>disk</a:t>
            </a:r>
            <a:endParaRPr sz="1200">
              <a:latin typeface="Times New Roman"/>
              <a:cs typeface="Times New Roman"/>
            </a:endParaRPr>
          </a:p>
          <a:p>
            <a:pPr marL="362585">
              <a:lnSpc>
                <a:spcPct val="100000"/>
              </a:lnSpc>
              <a:spcBef>
                <a:spcPts val="640"/>
              </a:spcBef>
            </a:pPr>
            <a:r>
              <a:rPr sz="1200" dirty="0">
                <a:latin typeface="Times New Roman"/>
                <a:cs typeface="Times New Roman"/>
              </a:rPr>
              <a:t>5</a:t>
            </a:r>
            <a:r>
              <a:rPr sz="1200" spc="25" dirty="0">
                <a:latin typeface="Times New Roman"/>
                <a:cs typeface="Times New Roman"/>
              </a:rPr>
              <a:t> </a:t>
            </a:r>
            <a:r>
              <a:rPr sz="1200" dirty="0">
                <a:latin typeface="Times New Roman"/>
                <a:cs typeface="Times New Roman"/>
              </a:rPr>
              <a:t>ms</a:t>
            </a:r>
            <a:r>
              <a:rPr sz="1200" spc="45"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20</a:t>
            </a:r>
            <a:r>
              <a:rPr sz="1200" spc="25" dirty="0">
                <a:latin typeface="Times New Roman"/>
                <a:cs typeface="Times New Roman"/>
              </a:rPr>
              <a:t> </a:t>
            </a:r>
            <a:r>
              <a:rPr sz="1200" spc="-35" dirty="0">
                <a:latin typeface="Times New Roman"/>
                <a:cs typeface="Times New Roman"/>
              </a:rPr>
              <a:t>ms</a:t>
            </a:r>
            <a:endParaRPr sz="1200">
              <a:latin typeface="Times New Roman"/>
              <a:cs typeface="Times New Roman"/>
            </a:endParaRPr>
          </a:p>
        </p:txBody>
      </p:sp>
      <p:sp>
        <p:nvSpPr>
          <p:cNvPr id="8" name="object 8"/>
          <p:cNvSpPr txBox="1"/>
          <p:nvPr/>
        </p:nvSpPr>
        <p:spPr>
          <a:xfrm>
            <a:off x="2570352" y="3241039"/>
            <a:ext cx="1370330" cy="213995"/>
          </a:xfrm>
          <a:prstGeom prst="rect">
            <a:avLst/>
          </a:prstGeom>
        </p:spPr>
        <p:txBody>
          <a:bodyPr vert="horz" wrap="square" lIns="0" tIns="17145" rIns="0" bIns="0" rtlCol="0">
            <a:spAutoFit/>
          </a:bodyPr>
          <a:lstStyle/>
          <a:p>
            <a:pPr>
              <a:lnSpc>
                <a:spcPct val="100000"/>
              </a:lnSpc>
              <a:spcBef>
                <a:spcPts val="135"/>
              </a:spcBef>
            </a:pPr>
            <a:r>
              <a:rPr sz="1200" dirty="0">
                <a:latin typeface="Times New Roman"/>
                <a:cs typeface="Times New Roman"/>
              </a:rPr>
              <a:t>$0.01</a:t>
            </a:r>
            <a:r>
              <a:rPr sz="1200" spc="40" dirty="0">
                <a:latin typeface="Times New Roman"/>
                <a:cs typeface="Times New Roman"/>
              </a:rPr>
              <a:t> </a:t>
            </a:r>
            <a:r>
              <a:rPr sz="1200" dirty="0">
                <a:latin typeface="Times New Roman"/>
                <a:cs typeface="Times New Roman"/>
              </a:rPr>
              <a:t>–</a:t>
            </a:r>
            <a:r>
              <a:rPr sz="1200" spc="60" dirty="0">
                <a:latin typeface="Times New Roman"/>
                <a:cs typeface="Times New Roman"/>
              </a:rPr>
              <a:t> </a:t>
            </a:r>
            <a:r>
              <a:rPr sz="1200" dirty="0">
                <a:latin typeface="Times New Roman"/>
                <a:cs typeface="Times New Roman"/>
              </a:rPr>
              <a:t>$0.02</a:t>
            </a:r>
            <a:r>
              <a:rPr sz="1200" spc="50" dirty="0">
                <a:latin typeface="Times New Roman"/>
                <a:cs typeface="Times New Roman"/>
              </a:rPr>
              <a:t> </a:t>
            </a:r>
            <a:r>
              <a:rPr sz="1200" dirty="0">
                <a:latin typeface="Times New Roman"/>
                <a:cs typeface="Times New Roman"/>
              </a:rPr>
              <a:t>per</a:t>
            </a:r>
            <a:r>
              <a:rPr sz="1200" spc="40" dirty="0">
                <a:latin typeface="Times New Roman"/>
                <a:cs typeface="Times New Roman"/>
              </a:rPr>
              <a:t> </a:t>
            </a:r>
            <a:r>
              <a:rPr sz="1200" spc="-25" dirty="0">
                <a:latin typeface="Times New Roman"/>
                <a:cs typeface="Times New Roman"/>
              </a:rPr>
              <a:t>GB</a:t>
            </a:r>
            <a:endParaRPr sz="1200">
              <a:latin typeface="Times New Roman"/>
              <a:cs typeface="Times New Roman"/>
            </a:endParaRPr>
          </a:p>
        </p:txBody>
      </p:sp>
      <p:grpSp>
        <p:nvGrpSpPr>
          <p:cNvPr id="9" name="object 9"/>
          <p:cNvGrpSpPr/>
          <p:nvPr/>
        </p:nvGrpSpPr>
        <p:grpSpPr>
          <a:xfrm>
            <a:off x="381000" y="4844796"/>
            <a:ext cx="6096000" cy="3429000"/>
            <a:chOff x="381000" y="4844796"/>
            <a:chExt cx="6096000" cy="3429000"/>
          </a:xfrm>
        </p:grpSpPr>
        <p:sp>
          <p:nvSpPr>
            <p:cNvPr id="10" name="object 10"/>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11" name="object 11"/>
            <p:cNvSpPr/>
            <p:nvPr/>
          </p:nvSpPr>
          <p:spPr>
            <a:xfrm>
              <a:off x="1370838" y="6712458"/>
              <a:ext cx="4114800" cy="0"/>
            </a:xfrm>
            <a:custGeom>
              <a:avLst/>
              <a:gdLst/>
              <a:ahLst/>
              <a:cxnLst/>
              <a:rect l="l" t="t" r="r" b="b"/>
              <a:pathLst>
                <a:path w="4114800">
                  <a:moveTo>
                    <a:pt x="0" y="0"/>
                  </a:moveTo>
                  <a:lnTo>
                    <a:pt x="4114800" y="0"/>
                  </a:lnTo>
                </a:path>
              </a:pathLst>
            </a:custGeom>
            <a:ln w="4572">
              <a:solidFill>
                <a:srgbClr val="FFFFFF"/>
              </a:solidFill>
            </a:ln>
          </p:spPr>
          <p:txBody>
            <a:bodyPr wrap="square" lIns="0" tIns="0" rIns="0" bIns="0" rtlCol="0"/>
            <a:lstStyle/>
            <a:p>
              <a:endParaRPr/>
            </a:p>
          </p:txBody>
        </p:sp>
      </p:grpSp>
      <p:sp>
        <p:nvSpPr>
          <p:cNvPr id="12" name="object 12"/>
          <p:cNvSpPr txBox="1"/>
          <p:nvPr/>
        </p:nvSpPr>
        <p:spPr>
          <a:xfrm>
            <a:off x="496823" y="4966715"/>
            <a:ext cx="5862955" cy="3188335"/>
          </a:xfrm>
          <a:prstGeom prst="rect">
            <a:avLst/>
          </a:prstGeom>
          <a:ln w="6096">
            <a:solidFill>
              <a:srgbClr val="FFFFFF"/>
            </a:solidFill>
          </a:ln>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spcBef>
                <a:spcPts val="635"/>
              </a:spcBef>
            </a:pPr>
            <a:endParaRPr sz="3600">
              <a:latin typeface="Times New Roman"/>
              <a:cs typeface="Times New Roman"/>
            </a:endParaRPr>
          </a:p>
          <a:p>
            <a:pPr marL="2058035" marR="760730" indent="-1292860">
              <a:lnSpc>
                <a:spcPct val="100000"/>
              </a:lnSpc>
            </a:pPr>
            <a:r>
              <a:rPr sz="3600" b="1" spc="-25" dirty="0">
                <a:solidFill>
                  <a:srgbClr val="FFFFFF"/>
                </a:solidFill>
                <a:latin typeface="Times New Roman"/>
                <a:cs typeface="Times New Roman"/>
              </a:rPr>
              <a:t>Memory</a:t>
            </a:r>
            <a:r>
              <a:rPr sz="3600" b="1" spc="-165" dirty="0">
                <a:solidFill>
                  <a:srgbClr val="FFFFFF"/>
                </a:solidFill>
                <a:latin typeface="Times New Roman"/>
                <a:cs typeface="Times New Roman"/>
              </a:rPr>
              <a:t> </a:t>
            </a:r>
            <a:r>
              <a:rPr sz="3600" b="1" spc="-30" dirty="0">
                <a:solidFill>
                  <a:srgbClr val="FFFFFF"/>
                </a:solidFill>
                <a:latin typeface="Times New Roman"/>
                <a:cs typeface="Times New Roman"/>
              </a:rPr>
              <a:t>Address</a:t>
            </a:r>
            <a:r>
              <a:rPr sz="3600" b="1" spc="-170" dirty="0">
                <a:solidFill>
                  <a:srgbClr val="FFFFFF"/>
                </a:solidFill>
                <a:latin typeface="Times New Roman"/>
                <a:cs typeface="Times New Roman"/>
              </a:rPr>
              <a:t> </a:t>
            </a:r>
            <a:r>
              <a:rPr sz="3600" b="1" spc="-25" dirty="0">
                <a:solidFill>
                  <a:srgbClr val="FFFFFF"/>
                </a:solidFill>
                <a:latin typeface="Times New Roman"/>
                <a:cs typeface="Times New Roman"/>
              </a:rPr>
              <a:t>Map </a:t>
            </a:r>
            <a:r>
              <a:rPr sz="3600" b="1" spc="-10" dirty="0">
                <a:solidFill>
                  <a:srgbClr val="FFFFFF"/>
                </a:solidFill>
                <a:latin typeface="Times New Roman"/>
                <a:cs typeface="Times New Roman"/>
              </a:rPr>
              <a:t>Example</a:t>
            </a:r>
            <a:endParaRPr sz="360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19</a:t>
            </a:fld>
            <a:endParaRPr spc="-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Memory</a:t>
            </a:r>
            <a:r>
              <a:rPr sz="2200" spc="-80" dirty="0">
                <a:latin typeface="Georgia"/>
                <a:cs typeface="Georgia"/>
              </a:rPr>
              <a:t> </a:t>
            </a:r>
            <a:r>
              <a:rPr sz="2200" dirty="0">
                <a:latin typeface="Georgia"/>
                <a:cs typeface="Georgia"/>
              </a:rPr>
              <a:t>Address</a:t>
            </a:r>
            <a:r>
              <a:rPr sz="2200" spc="-75" dirty="0">
                <a:latin typeface="Georgia"/>
                <a:cs typeface="Georgia"/>
              </a:rPr>
              <a:t> </a:t>
            </a:r>
            <a:r>
              <a:rPr sz="2200" dirty="0">
                <a:latin typeface="Georgia"/>
                <a:cs typeface="Georgia"/>
              </a:rPr>
              <a:t>MAP</a:t>
            </a:r>
            <a:r>
              <a:rPr sz="2200" spc="-90" dirty="0">
                <a:latin typeface="Georgia"/>
                <a:cs typeface="Georgia"/>
              </a:rPr>
              <a:t> </a:t>
            </a:r>
            <a:r>
              <a:rPr sz="2200" spc="-10" dirty="0">
                <a:latin typeface="Georgia"/>
                <a:cs typeface="Georgia"/>
              </a:rPr>
              <a:t>Example</a:t>
            </a:r>
            <a:endParaRPr sz="2200">
              <a:latin typeface="Georgia"/>
              <a:cs typeface="Georgia"/>
            </a:endParaRPr>
          </a:p>
          <a:p>
            <a:pPr marL="431800" indent="-169545">
              <a:lnSpc>
                <a:spcPct val="100000"/>
              </a:lnSpc>
              <a:spcBef>
                <a:spcPts val="1265"/>
              </a:spcBef>
              <a:buClr>
                <a:srgbClr val="3E762B"/>
              </a:buClr>
              <a:buFont typeface="Wingdings"/>
              <a:buChar char=""/>
              <a:tabLst>
                <a:tab pos="431800" algn="l"/>
              </a:tabLst>
            </a:pPr>
            <a:r>
              <a:rPr sz="1200" b="1" dirty="0">
                <a:latin typeface="Times New Roman"/>
                <a:cs typeface="Times New Roman"/>
              </a:rPr>
              <a:t>Given</a:t>
            </a:r>
            <a:r>
              <a:rPr sz="1200" b="1" spc="-25" dirty="0">
                <a:latin typeface="Times New Roman"/>
                <a:cs typeface="Times New Roman"/>
              </a:rPr>
              <a:t> </a:t>
            </a:r>
            <a:r>
              <a:rPr sz="1200" b="1" dirty="0">
                <a:latin typeface="Times New Roman"/>
                <a:cs typeface="Times New Roman"/>
              </a:rPr>
              <a:t>RAM</a:t>
            </a:r>
            <a:r>
              <a:rPr sz="1200" b="1" spc="-20" dirty="0">
                <a:latin typeface="Times New Roman"/>
                <a:cs typeface="Times New Roman"/>
              </a:rPr>
              <a:t> chip</a:t>
            </a:r>
            <a:endParaRPr sz="1200">
              <a:latin typeface="Times New Roman"/>
              <a:cs typeface="Times New Roman"/>
            </a:endParaRPr>
          </a:p>
          <a:p>
            <a:pPr>
              <a:lnSpc>
                <a:spcPct val="100000"/>
              </a:lnSpc>
              <a:buClr>
                <a:srgbClr val="3E762B"/>
              </a:buClr>
              <a:buFont typeface="Wingdings"/>
              <a:buChar char=""/>
            </a:pPr>
            <a:endParaRPr sz="1200">
              <a:latin typeface="Times New Roman"/>
              <a:cs typeface="Times New Roman"/>
            </a:endParaRPr>
          </a:p>
          <a:p>
            <a:pPr>
              <a:lnSpc>
                <a:spcPct val="100000"/>
              </a:lnSpc>
              <a:buClr>
                <a:srgbClr val="3E762B"/>
              </a:buClr>
              <a:buFont typeface="Wingdings"/>
              <a:buChar char=""/>
            </a:pPr>
            <a:endParaRPr sz="1200">
              <a:latin typeface="Times New Roman"/>
              <a:cs typeface="Times New Roman"/>
            </a:endParaRPr>
          </a:p>
          <a:p>
            <a:pPr>
              <a:lnSpc>
                <a:spcPct val="100000"/>
              </a:lnSpc>
              <a:spcBef>
                <a:spcPts val="405"/>
              </a:spcBef>
              <a:buClr>
                <a:srgbClr val="3E762B"/>
              </a:buClr>
              <a:buFont typeface="Wingdings"/>
              <a:buChar char=""/>
            </a:pPr>
            <a:endParaRPr sz="1200">
              <a:latin typeface="Times New Roman"/>
              <a:cs typeface="Times New Roman"/>
            </a:endParaRPr>
          </a:p>
          <a:p>
            <a:pPr marL="431800" indent="-169545">
              <a:lnSpc>
                <a:spcPct val="100000"/>
              </a:lnSpc>
              <a:buClr>
                <a:srgbClr val="3E762B"/>
              </a:buClr>
              <a:buFont typeface="Wingdings"/>
              <a:buChar char=""/>
              <a:tabLst>
                <a:tab pos="431800" algn="l"/>
              </a:tabLst>
            </a:pPr>
            <a:r>
              <a:rPr sz="1200" b="1" dirty="0">
                <a:latin typeface="Times New Roman"/>
                <a:cs typeface="Times New Roman"/>
              </a:rPr>
              <a:t>Given</a:t>
            </a:r>
            <a:r>
              <a:rPr sz="1200" b="1" spc="-40" dirty="0">
                <a:latin typeface="Times New Roman"/>
                <a:cs typeface="Times New Roman"/>
              </a:rPr>
              <a:t> </a:t>
            </a:r>
            <a:r>
              <a:rPr sz="1200" b="1" dirty="0">
                <a:latin typeface="Times New Roman"/>
                <a:cs typeface="Times New Roman"/>
              </a:rPr>
              <a:t>ROM</a:t>
            </a:r>
            <a:r>
              <a:rPr sz="1200" b="1" spc="-35" dirty="0">
                <a:latin typeface="Times New Roman"/>
                <a:cs typeface="Times New Roman"/>
              </a:rPr>
              <a:t> </a:t>
            </a:r>
            <a:r>
              <a:rPr sz="1200" b="1" spc="-20" dirty="0">
                <a:latin typeface="Times New Roman"/>
                <a:cs typeface="Times New Roman"/>
              </a:rPr>
              <a:t>chip</a:t>
            </a:r>
            <a:endParaRPr sz="1200">
              <a:latin typeface="Times New Roman"/>
              <a:cs typeface="Times New Roman"/>
            </a:endParaRPr>
          </a:p>
          <a:p>
            <a:pPr>
              <a:lnSpc>
                <a:spcPct val="100000"/>
              </a:lnSpc>
              <a:buClr>
                <a:srgbClr val="3E762B"/>
              </a:buClr>
              <a:buFont typeface="Wingdings"/>
              <a:buChar char=""/>
            </a:pPr>
            <a:endParaRPr sz="1200">
              <a:latin typeface="Times New Roman"/>
              <a:cs typeface="Times New Roman"/>
            </a:endParaRPr>
          </a:p>
          <a:p>
            <a:pPr>
              <a:lnSpc>
                <a:spcPct val="100000"/>
              </a:lnSpc>
              <a:buClr>
                <a:srgbClr val="3E762B"/>
              </a:buClr>
              <a:buFont typeface="Wingdings"/>
              <a:buChar char=""/>
            </a:pPr>
            <a:endParaRPr sz="1200">
              <a:latin typeface="Times New Roman"/>
              <a:cs typeface="Times New Roman"/>
            </a:endParaRPr>
          </a:p>
          <a:p>
            <a:pPr>
              <a:lnSpc>
                <a:spcPct val="100000"/>
              </a:lnSpc>
              <a:buClr>
                <a:srgbClr val="3E762B"/>
              </a:buClr>
              <a:buFont typeface="Wingdings"/>
              <a:buChar char=""/>
            </a:pPr>
            <a:endParaRPr sz="1200">
              <a:latin typeface="Times New Roman"/>
              <a:cs typeface="Times New Roman"/>
            </a:endParaRPr>
          </a:p>
          <a:p>
            <a:pPr>
              <a:lnSpc>
                <a:spcPct val="100000"/>
              </a:lnSpc>
              <a:buClr>
                <a:srgbClr val="3E762B"/>
              </a:buClr>
              <a:buFont typeface="Wingdings"/>
              <a:buChar char=""/>
            </a:pPr>
            <a:endParaRPr sz="1200">
              <a:latin typeface="Times New Roman"/>
              <a:cs typeface="Times New Roman"/>
            </a:endParaRPr>
          </a:p>
          <a:p>
            <a:pPr>
              <a:lnSpc>
                <a:spcPct val="100000"/>
              </a:lnSpc>
              <a:buClr>
                <a:srgbClr val="3E762B"/>
              </a:buClr>
              <a:buFont typeface="Wingdings"/>
              <a:buChar char=""/>
            </a:pPr>
            <a:endParaRPr sz="1200">
              <a:latin typeface="Times New Roman"/>
              <a:cs typeface="Times New Roman"/>
            </a:endParaRPr>
          </a:p>
          <a:p>
            <a:pPr>
              <a:lnSpc>
                <a:spcPct val="100000"/>
              </a:lnSpc>
              <a:spcBef>
                <a:spcPts val="415"/>
              </a:spcBef>
              <a:buClr>
                <a:srgbClr val="3E762B"/>
              </a:buClr>
              <a:buFont typeface="Wingdings"/>
              <a:buChar char=""/>
            </a:pPr>
            <a:endParaRPr sz="1200">
              <a:latin typeface="Times New Roman"/>
              <a:cs typeface="Times New Roman"/>
            </a:endParaRPr>
          </a:p>
          <a:p>
            <a:pPr marL="431800" marR="1479550" indent="-169545">
              <a:lnSpc>
                <a:spcPts val="1300"/>
              </a:lnSpc>
              <a:buClr>
                <a:srgbClr val="3E762B"/>
              </a:buClr>
              <a:buFont typeface="Wingdings"/>
              <a:buChar char=""/>
              <a:tabLst>
                <a:tab pos="433070" algn="l"/>
              </a:tabLst>
            </a:pPr>
            <a:r>
              <a:rPr sz="1200" dirty="0">
                <a:latin typeface="Times New Roman"/>
                <a:cs typeface="Times New Roman"/>
              </a:rPr>
              <a:t>Show</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memory</a:t>
            </a:r>
            <a:r>
              <a:rPr sz="1200" spc="-20" dirty="0">
                <a:latin typeface="Times New Roman"/>
                <a:cs typeface="Times New Roman"/>
              </a:rPr>
              <a:t> </a:t>
            </a:r>
            <a:r>
              <a:rPr sz="1200" dirty="0">
                <a:latin typeface="Times New Roman"/>
                <a:cs typeface="Times New Roman"/>
              </a:rPr>
              <a:t>address</a:t>
            </a:r>
            <a:r>
              <a:rPr sz="1200" spc="-10" dirty="0">
                <a:latin typeface="Times New Roman"/>
                <a:cs typeface="Times New Roman"/>
              </a:rPr>
              <a:t> </a:t>
            </a:r>
            <a:r>
              <a:rPr sz="1200" dirty="0">
                <a:latin typeface="Times New Roman"/>
                <a:cs typeface="Times New Roman"/>
              </a:rPr>
              <a:t>map</a:t>
            </a:r>
            <a:r>
              <a:rPr sz="1200" spc="-1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CPU</a:t>
            </a:r>
            <a:r>
              <a:rPr sz="1200" spc="-20" dirty="0">
                <a:latin typeface="Times New Roman"/>
                <a:cs typeface="Times New Roman"/>
              </a:rPr>
              <a:t> </a:t>
            </a:r>
            <a:r>
              <a:rPr sz="1200" dirty="0">
                <a:latin typeface="Times New Roman"/>
                <a:cs typeface="Times New Roman"/>
              </a:rPr>
              <a:t>with</a:t>
            </a:r>
            <a:r>
              <a:rPr sz="1200" spc="-15" dirty="0">
                <a:latin typeface="Times New Roman"/>
                <a:cs typeface="Times New Roman"/>
              </a:rPr>
              <a:t> </a:t>
            </a:r>
            <a:r>
              <a:rPr sz="1200" dirty="0">
                <a:latin typeface="Times New Roman"/>
                <a:cs typeface="Times New Roman"/>
              </a:rPr>
              <a:t>1K</a:t>
            </a:r>
            <a:r>
              <a:rPr sz="1200" spc="-25" dirty="0">
                <a:latin typeface="Times New Roman"/>
                <a:cs typeface="Times New Roman"/>
              </a:rPr>
              <a:t> </a:t>
            </a:r>
            <a:r>
              <a:rPr sz="1200" dirty="0">
                <a:latin typeface="Times New Roman"/>
                <a:cs typeface="Times New Roman"/>
              </a:rPr>
              <a:t>Main</a:t>
            </a:r>
            <a:r>
              <a:rPr sz="1200" spc="-15" dirty="0">
                <a:latin typeface="Times New Roman"/>
                <a:cs typeface="Times New Roman"/>
              </a:rPr>
              <a:t> </a:t>
            </a:r>
            <a:r>
              <a:rPr sz="1200" spc="-10" dirty="0">
                <a:latin typeface="Times New Roman"/>
                <a:cs typeface="Times New Roman"/>
              </a:rPr>
              <a:t>Memory, 	</a:t>
            </a:r>
            <a:r>
              <a:rPr sz="1200" dirty="0">
                <a:latin typeface="Times New Roman"/>
                <a:cs typeface="Times New Roman"/>
              </a:rPr>
              <a:t>512</a:t>
            </a:r>
            <a:r>
              <a:rPr sz="1200" spc="-5" dirty="0">
                <a:latin typeface="Times New Roman"/>
                <a:cs typeface="Times New Roman"/>
              </a:rPr>
              <a:t> </a:t>
            </a:r>
            <a:r>
              <a:rPr sz="1200" dirty="0">
                <a:latin typeface="Times New Roman"/>
                <a:cs typeface="Times New Roman"/>
              </a:rPr>
              <a:t>RAM</a:t>
            </a:r>
            <a:r>
              <a:rPr sz="1200" spc="-5"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512</a:t>
            </a:r>
            <a:r>
              <a:rPr sz="1200" spc="-5" dirty="0">
                <a:latin typeface="Times New Roman"/>
                <a:cs typeface="Times New Roman"/>
              </a:rPr>
              <a:t> </a:t>
            </a:r>
            <a:r>
              <a:rPr sz="1200" spc="-25" dirty="0">
                <a:latin typeface="Times New Roman"/>
                <a:cs typeface="Times New Roman"/>
              </a:rPr>
              <a:t>ROM</a:t>
            </a:r>
            <a:endParaRPr sz="1200">
              <a:latin typeface="Times New Roman"/>
              <a:cs typeface="Times New Roman"/>
            </a:endParaRPr>
          </a:p>
        </p:txBody>
      </p:sp>
      <p:grpSp>
        <p:nvGrpSpPr>
          <p:cNvPr id="3" name="object 3"/>
          <p:cNvGrpSpPr/>
          <p:nvPr/>
        </p:nvGrpSpPr>
        <p:grpSpPr>
          <a:xfrm>
            <a:off x="3035807" y="1580388"/>
            <a:ext cx="3243580" cy="1856739"/>
            <a:chOff x="3035807" y="1580388"/>
            <a:chExt cx="3243580" cy="1856739"/>
          </a:xfrm>
        </p:grpSpPr>
        <p:pic>
          <p:nvPicPr>
            <p:cNvPr id="4" name="object 4"/>
            <p:cNvPicPr/>
            <p:nvPr/>
          </p:nvPicPr>
          <p:blipFill>
            <a:blip r:embed="rId2" cstate="print"/>
            <a:stretch>
              <a:fillRect/>
            </a:stretch>
          </p:blipFill>
          <p:spPr>
            <a:xfrm>
              <a:off x="3192779" y="2522220"/>
              <a:ext cx="3086099" cy="914400"/>
            </a:xfrm>
            <a:prstGeom prst="rect">
              <a:avLst/>
            </a:prstGeom>
          </p:spPr>
        </p:pic>
        <p:pic>
          <p:nvPicPr>
            <p:cNvPr id="5" name="object 5"/>
            <p:cNvPicPr/>
            <p:nvPr/>
          </p:nvPicPr>
          <p:blipFill>
            <a:blip r:embed="rId3" cstate="print"/>
            <a:stretch>
              <a:fillRect/>
            </a:stretch>
          </p:blipFill>
          <p:spPr>
            <a:xfrm>
              <a:off x="3035807" y="1580388"/>
              <a:ext cx="3243072" cy="868679"/>
            </a:xfrm>
            <a:prstGeom prst="rect">
              <a:avLst/>
            </a:prstGeom>
          </p:spPr>
        </p:pic>
      </p:grpSp>
      <p:grpSp>
        <p:nvGrpSpPr>
          <p:cNvPr id="6" name="object 6"/>
          <p:cNvGrpSpPr/>
          <p:nvPr/>
        </p:nvGrpSpPr>
        <p:grpSpPr>
          <a:xfrm>
            <a:off x="381000" y="4844796"/>
            <a:ext cx="6096000" cy="3429000"/>
            <a:chOff x="381000" y="4844796"/>
            <a:chExt cx="6096000" cy="3429000"/>
          </a:xfrm>
        </p:grpSpPr>
        <p:sp>
          <p:nvSpPr>
            <p:cNvPr id="7" name="object 7"/>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8" name="object 8"/>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9" name="object 9"/>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10" name="object 10"/>
          <p:cNvSpPr txBox="1"/>
          <p:nvPr/>
        </p:nvSpPr>
        <p:spPr>
          <a:xfrm>
            <a:off x="496823" y="4966715"/>
            <a:ext cx="5862955" cy="3188335"/>
          </a:xfrm>
          <a:prstGeom prst="rect">
            <a:avLst/>
          </a:prstGeom>
        </p:spPr>
        <p:txBody>
          <a:bodyPr vert="horz" wrap="square" lIns="0" tIns="113030" rIns="0" bIns="0" rtlCol="0">
            <a:spAutoFit/>
          </a:bodyPr>
          <a:lstStyle/>
          <a:p>
            <a:pPr marL="228600">
              <a:lnSpc>
                <a:spcPct val="100000"/>
              </a:lnSpc>
              <a:spcBef>
                <a:spcPts val="890"/>
              </a:spcBef>
            </a:pPr>
            <a:r>
              <a:rPr sz="2200" dirty="0">
                <a:latin typeface="Georgia"/>
                <a:cs typeface="Georgia"/>
              </a:rPr>
              <a:t>Memory</a:t>
            </a:r>
            <a:r>
              <a:rPr sz="2200" spc="-80" dirty="0">
                <a:latin typeface="Georgia"/>
                <a:cs typeface="Georgia"/>
              </a:rPr>
              <a:t> </a:t>
            </a:r>
            <a:r>
              <a:rPr sz="2200" dirty="0">
                <a:latin typeface="Georgia"/>
                <a:cs typeface="Georgia"/>
              </a:rPr>
              <a:t>Address</a:t>
            </a:r>
            <a:r>
              <a:rPr sz="2200" spc="-75" dirty="0">
                <a:latin typeface="Georgia"/>
                <a:cs typeface="Georgia"/>
              </a:rPr>
              <a:t> </a:t>
            </a:r>
            <a:r>
              <a:rPr sz="2200" dirty="0">
                <a:latin typeface="Georgia"/>
                <a:cs typeface="Georgia"/>
              </a:rPr>
              <a:t>MAP</a:t>
            </a:r>
            <a:r>
              <a:rPr sz="2200" spc="-90" dirty="0">
                <a:latin typeface="Georgia"/>
                <a:cs typeface="Georgia"/>
              </a:rPr>
              <a:t> </a:t>
            </a:r>
            <a:r>
              <a:rPr sz="2200" spc="-10" dirty="0">
                <a:latin typeface="Georgia"/>
                <a:cs typeface="Georgia"/>
              </a:rPr>
              <a:t>Example</a:t>
            </a:r>
            <a:endParaRPr sz="2200">
              <a:latin typeface="Georgia"/>
              <a:cs typeface="Georgia"/>
            </a:endParaRPr>
          </a:p>
          <a:p>
            <a:pPr marL="434975" indent="-172720">
              <a:lnSpc>
                <a:spcPct val="100000"/>
              </a:lnSpc>
              <a:spcBef>
                <a:spcPts val="1440"/>
              </a:spcBef>
              <a:buClr>
                <a:srgbClr val="3E762B"/>
              </a:buClr>
              <a:buFont typeface="Wingdings"/>
              <a:buChar char=""/>
              <a:tabLst>
                <a:tab pos="434975" algn="l"/>
                <a:tab pos="3921125" algn="l"/>
              </a:tabLst>
            </a:pPr>
            <a:r>
              <a:rPr sz="1200" dirty="0">
                <a:latin typeface="Times New Roman"/>
                <a:cs typeface="Times New Roman"/>
              </a:rPr>
              <a:t>CPU</a:t>
            </a:r>
            <a:r>
              <a:rPr sz="1200" spc="-20" dirty="0">
                <a:latin typeface="Times New Roman"/>
                <a:cs typeface="Times New Roman"/>
              </a:rPr>
              <a:t> </a:t>
            </a:r>
            <a:r>
              <a:rPr sz="1200" dirty="0">
                <a:latin typeface="Times New Roman"/>
                <a:cs typeface="Times New Roman"/>
              </a:rPr>
              <a:t>with</a:t>
            </a:r>
            <a:r>
              <a:rPr sz="1200" spc="-30" dirty="0">
                <a:latin typeface="Times New Roman"/>
                <a:cs typeface="Times New Roman"/>
              </a:rPr>
              <a:t> </a:t>
            </a:r>
            <a:r>
              <a:rPr sz="1200" dirty="0">
                <a:latin typeface="Times New Roman"/>
                <a:cs typeface="Times New Roman"/>
              </a:rPr>
              <a:t>1K</a:t>
            </a:r>
            <a:r>
              <a:rPr sz="1200" spc="-10" dirty="0">
                <a:latin typeface="Times New Roman"/>
                <a:cs typeface="Times New Roman"/>
              </a:rPr>
              <a:t> Memory,</a:t>
            </a:r>
            <a:r>
              <a:rPr sz="1200" spc="25" dirty="0">
                <a:latin typeface="Times New Roman"/>
                <a:cs typeface="Times New Roman"/>
              </a:rPr>
              <a:t> </a:t>
            </a:r>
            <a:r>
              <a:rPr sz="1200" dirty="0">
                <a:latin typeface="Times New Roman"/>
                <a:cs typeface="Times New Roman"/>
              </a:rPr>
              <a:t>512</a:t>
            </a:r>
            <a:r>
              <a:rPr sz="1200" spc="-15" dirty="0">
                <a:latin typeface="Times New Roman"/>
                <a:cs typeface="Times New Roman"/>
              </a:rPr>
              <a:t> </a:t>
            </a:r>
            <a:r>
              <a:rPr sz="1200" dirty="0">
                <a:latin typeface="Times New Roman"/>
                <a:cs typeface="Times New Roman"/>
              </a:rPr>
              <a:t>RAM</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512</a:t>
            </a:r>
            <a:r>
              <a:rPr sz="1200" spc="-15" dirty="0">
                <a:latin typeface="Times New Roman"/>
                <a:cs typeface="Times New Roman"/>
              </a:rPr>
              <a:t> </a:t>
            </a:r>
            <a:r>
              <a:rPr sz="1200" spc="-25" dirty="0">
                <a:latin typeface="Times New Roman"/>
                <a:cs typeface="Times New Roman"/>
              </a:rPr>
              <a:t>ROM</a:t>
            </a:r>
            <a:r>
              <a:rPr sz="1200" dirty="0">
                <a:latin typeface="Times New Roman"/>
                <a:cs typeface="Times New Roman"/>
              </a:rPr>
              <a:t>	</a:t>
            </a:r>
            <a:r>
              <a:rPr sz="1200" b="1" dirty="0">
                <a:solidFill>
                  <a:srgbClr val="2A4F1D"/>
                </a:solidFill>
                <a:latin typeface="Times New Roman"/>
                <a:cs typeface="Times New Roman"/>
              </a:rPr>
              <a:t>(10</a:t>
            </a:r>
            <a:r>
              <a:rPr sz="1200" b="1" spc="-35" dirty="0">
                <a:solidFill>
                  <a:srgbClr val="2A4F1D"/>
                </a:solidFill>
                <a:latin typeface="Times New Roman"/>
                <a:cs typeface="Times New Roman"/>
              </a:rPr>
              <a:t> </a:t>
            </a:r>
            <a:r>
              <a:rPr sz="1200" b="1" dirty="0">
                <a:solidFill>
                  <a:srgbClr val="2A4F1D"/>
                </a:solidFill>
                <a:latin typeface="Times New Roman"/>
                <a:cs typeface="Times New Roman"/>
              </a:rPr>
              <a:t>address</a:t>
            </a:r>
            <a:r>
              <a:rPr sz="1200" b="1" spc="-25" dirty="0">
                <a:solidFill>
                  <a:srgbClr val="2A4F1D"/>
                </a:solidFill>
                <a:latin typeface="Times New Roman"/>
                <a:cs typeface="Times New Roman"/>
              </a:rPr>
              <a:t> </a:t>
            </a:r>
            <a:r>
              <a:rPr sz="1200" b="1" spc="-10" dirty="0">
                <a:solidFill>
                  <a:srgbClr val="2A4F1D"/>
                </a:solidFill>
                <a:latin typeface="Times New Roman"/>
                <a:cs typeface="Times New Roman"/>
              </a:rPr>
              <a:t>bits)</a:t>
            </a:r>
            <a:endParaRPr sz="1200">
              <a:latin typeface="Times New Roman"/>
              <a:cs typeface="Times New Roman"/>
            </a:endParaRPr>
          </a:p>
          <a:p>
            <a:pPr marL="719455">
              <a:lnSpc>
                <a:spcPct val="100000"/>
              </a:lnSpc>
              <a:spcBef>
                <a:spcPts val="555"/>
              </a:spcBef>
            </a:pPr>
            <a:r>
              <a:rPr sz="1200" dirty="0">
                <a:solidFill>
                  <a:srgbClr val="2A4F1D"/>
                </a:solidFill>
                <a:latin typeface="Wingdings"/>
                <a:cs typeface="Wingdings"/>
              </a:rPr>
              <a:t></a:t>
            </a:r>
            <a:r>
              <a:rPr sz="1200" spc="-20" dirty="0">
                <a:solidFill>
                  <a:srgbClr val="2A4F1D"/>
                </a:solidFill>
                <a:latin typeface="Times New Roman"/>
                <a:cs typeface="Times New Roman"/>
              </a:rPr>
              <a:t> </a:t>
            </a:r>
            <a:r>
              <a:rPr sz="1200" b="1" dirty="0">
                <a:solidFill>
                  <a:srgbClr val="2A4F1D"/>
                </a:solidFill>
                <a:latin typeface="Times New Roman"/>
                <a:cs typeface="Times New Roman"/>
              </a:rPr>
              <a:t>Four</a:t>
            </a:r>
            <a:r>
              <a:rPr sz="1200" b="1" spc="-5" dirty="0">
                <a:solidFill>
                  <a:srgbClr val="2A4F1D"/>
                </a:solidFill>
                <a:latin typeface="Times New Roman"/>
                <a:cs typeface="Times New Roman"/>
              </a:rPr>
              <a:t> </a:t>
            </a:r>
            <a:r>
              <a:rPr sz="1200" dirty="0">
                <a:solidFill>
                  <a:srgbClr val="2A4F1D"/>
                </a:solidFill>
                <a:latin typeface="Times New Roman"/>
                <a:cs typeface="Times New Roman"/>
              </a:rPr>
              <a:t>128</a:t>
            </a:r>
            <a:r>
              <a:rPr sz="1200" spc="-20" dirty="0">
                <a:solidFill>
                  <a:srgbClr val="2A4F1D"/>
                </a:solidFill>
                <a:latin typeface="Times New Roman"/>
                <a:cs typeface="Times New Roman"/>
              </a:rPr>
              <a:t> </a:t>
            </a:r>
            <a:r>
              <a:rPr sz="1200" dirty="0">
                <a:solidFill>
                  <a:srgbClr val="2A4F1D"/>
                </a:solidFill>
                <a:latin typeface="Times New Roman"/>
                <a:cs typeface="Times New Roman"/>
              </a:rPr>
              <a:t>bytes</a:t>
            </a:r>
            <a:r>
              <a:rPr sz="1200" spc="15" dirty="0">
                <a:solidFill>
                  <a:srgbClr val="2A4F1D"/>
                </a:solidFill>
                <a:latin typeface="Times New Roman"/>
                <a:cs typeface="Times New Roman"/>
              </a:rPr>
              <a:t> </a:t>
            </a:r>
            <a:r>
              <a:rPr sz="1200" dirty="0">
                <a:solidFill>
                  <a:srgbClr val="2A4F1D"/>
                </a:solidFill>
                <a:latin typeface="Times New Roman"/>
                <a:cs typeface="Times New Roman"/>
              </a:rPr>
              <a:t>RAM</a:t>
            </a:r>
            <a:r>
              <a:rPr sz="1200" spc="-20" dirty="0">
                <a:solidFill>
                  <a:srgbClr val="2A4F1D"/>
                </a:solidFill>
                <a:latin typeface="Times New Roman"/>
                <a:cs typeface="Times New Roman"/>
              </a:rPr>
              <a:t> </a:t>
            </a:r>
            <a:r>
              <a:rPr sz="1200" dirty="0">
                <a:solidFill>
                  <a:srgbClr val="2A4F1D"/>
                </a:solidFill>
                <a:latin typeface="Times New Roman"/>
                <a:cs typeface="Times New Roman"/>
              </a:rPr>
              <a:t>and</a:t>
            </a:r>
            <a:r>
              <a:rPr sz="1200" spc="-10" dirty="0">
                <a:solidFill>
                  <a:srgbClr val="2A4F1D"/>
                </a:solidFill>
                <a:latin typeface="Times New Roman"/>
                <a:cs typeface="Times New Roman"/>
              </a:rPr>
              <a:t> </a:t>
            </a:r>
            <a:r>
              <a:rPr sz="1200" b="1" dirty="0">
                <a:solidFill>
                  <a:srgbClr val="2A4F1D"/>
                </a:solidFill>
                <a:latin typeface="Times New Roman"/>
                <a:cs typeface="Times New Roman"/>
              </a:rPr>
              <a:t>one</a:t>
            </a:r>
            <a:r>
              <a:rPr sz="1200" b="1" spc="-20" dirty="0">
                <a:solidFill>
                  <a:srgbClr val="2A4F1D"/>
                </a:solidFill>
                <a:latin typeface="Times New Roman"/>
                <a:cs typeface="Times New Roman"/>
              </a:rPr>
              <a:t> </a:t>
            </a:r>
            <a:r>
              <a:rPr sz="1200" dirty="0">
                <a:solidFill>
                  <a:srgbClr val="2A4F1D"/>
                </a:solidFill>
                <a:latin typeface="Times New Roman"/>
                <a:cs typeface="Times New Roman"/>
              </a:rPr>
              <a:t>512</a:t>
            </a:r>
            <a:r>
              <a:rPr sz="1200" spc="-20" dirty="0">
                <a:solidFill>
                  <a:srgbClr val="2A4F1D"/>
                </a:solidFill>
                <a:latin typeface="Times New Roman"/>
                <a:cs typeface="Times New Roman"/>
              </a:rPr>
              <a:t> </a:t>
            </a:r>
            <a:r>
              <a:rPr sz="1200" dirty="0">
                <a:solidFill>
                  <a:srgbClr val="2A4F1D"/>
                </a:solidFill>
                <a:latin typeface="Times New Roman"/>
                <a:cs typeface="Times New Roman"/>
              </a:rPr>
              <a:t>bytes</a:t>
            </a:r>
            <a:r>
              <a:rPr sz="1200" spc="10" dirty="0">
                <a:solidFill>
                  <a:srgbClr val="2A4F1D"/>
                </a:solidFill>
                <a:latin typeface="Times New Roman"/>
                <a:cs typeface="Times New Roman"/>
              </a:rPr>
              <a:t> </a:t>
            </a:r>
            <a:r>
              <a:rPr sz="1200" spc="-20" dirty="0">
                <a:solidFill>
                  <a:srgbClr val="2A4F1D"/>
                </a:solidFill>
                <a:latin typeface="Times New Roman"/>
                <a:cs typeface="Times New Roman"/>
              </a:rPr>
              <a:t>ROM,</a:t>
            </a:r>
            <a:endParaRPr sz="1200">
              <a:latin typeface="Times New Roman"/>
              <a:cs typeface="Times New Roman"/>
            </a:endParaRPr>
          </a:p>
        </p:txBody>
      </p:sp>
      <p:pic>
        <p:nvPicPr>
          <p:cNvPr id="11" name="object 11"/>
          <p:cNvPicPr/>
          <p:nvPr/>
        </p:nvPicPr>
        <p:blipFill>
          <a:blip r:embed="rId4" cstate="print"/>
          <a:stretch>
            <a:fillRect/>
          </a:stretch>
        </p:blipFill>
        <p:spPr>
          <a:xfrm>
            <a:off x="1892807" y="6316979"/>
            <a:ext cx="4134612" cy="1417320"/>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20</a:t>
            </a:fld>
            <a:endParaRPr spc="-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596639" y="943356"/>
            <a:ext cx="2781300" cy="3291840"/>
          </a:xfrm>
          <a:prstGeom prst="rect">
            <a:avLst/>
          </a:prstGeom>
        </p:spPr>
      </p:pic>
      <p:sp>
        <p:nvSpPr>
          <p:cNvPr id="3" name="object 3"/>
          <p:cNvSpPr txBox="1"/>
          <p:nvPr/>
        </p:nvSpPr>
        <p:spPr>
          <a:xfrm>
            <a:off x="496823" y="990600"/>
            <a:ext cx="5862955" cy="3188335"/>
          </a:xfrm>
          <a:prstGeom prst="rect">
            <a:avLst/>
          </a:prstGeom>
        </p:spPr>
        <p:txBody>
          <a:bodyPr vert="horz" wrap="square" lIns="0" tIns="125730" rIns="0" bIns="0" rtlCol="0">
            <a:spAutoFit/>
          </a:bodyPr>
          <a:lstStyle/>
          <a:p>
            <a:pPr marL="228600">
              <a:lnSpc>
                <a:spcPct val="100000"/>
              </a:lnSpc>
              <a:spcBef>
                <a:spcPts val="990"/>
              </a:spcBef>
            </a:pPr>
            <a:r>
              <a:rPr sz="1800" dirty="0">
                <a:latin typeface="Georgia"/>
                <a:cs typeface="Georgia"/>
              </a:rPr>
              <a:t>Memory</a:t>
            </a:r>
            <a:r>
              <a:rPr sz="1800" spc="-90" dirty="0">
                <a:latin typeface="Georgia"/>
                <a:cs typeface="Georgia"/>
              </a:rPr>
              <a:t> </a:t>
            </a:r>
            <a:r>
              <a:rPr sz="1800" dirty="0">
                <a:latin typeface="Georgia"/>
                <a:cs typeface="Georgia"/>
              </a:rPr>
              <a:t>Address</a:t>
            </a:r>
            <a:r>
              <a:rPr sz="1800" spc="-100" dirty="0">
                <a:latin typeface="Georgia"/>
                <a:cs typeface="Georgia"/>
              </a:rPr>
              <a:t> </a:t>
            </a:r>
            <a:r>
              <a:rPr sz="1800" spc="-25" dirty="0">
                <a:latin typeface="Georgia"/>
                <a:cs typeface="Georgia"/>
              </a:rPr>
              <a:t>MAP</a:t>
            </a:r>
            <a:endParaRPr sz="1800">
              <a:latin typeface="Georgia"/>
              <a:cs typeface="Georgia"/>
            </a:endParaRPr>
          </a:p>
          <a:p>
            <a:pPr>
              <a:lnSpc>
                <a:spcPct val="100000"/>
              </a:lnSpc>
            </a:pPr>
            <a:endParaRPr sz="1800">
              <a:latin typeface="Georgia"/>
              <a:cs typeface="Georgia"/>
            </a:endParaRPr>
          </a:p>
          <a:p>
            <a:pPr>
              <a:lnSpc>
                <a:spcPct val="100000"/>
              </a:lnSpc>
              <a:spcBef>
                <a:spcPts val="1625"/>
              </a:spcBef>
            </a:pPr>
            <a:endParaRPr sz="1800">
              <a:latin typeface="Georgia"/>
              <a:cs typeface="Georgia"/>
            </a:endParaRPr>
          </a:p>
          <a:p>
            <a:pPr marL="228600">
              <a:lnSpc>
                <a:spcPct val="100000"/>
              </a:lnSpc>
              <a:spcBef>
                <a:spcPts val="5"/>
              </a:spcBef>
            </a:pPr>
            <a:r>
              <a:rPr sz="1200" b="1" dirty="0">
                <a:solidFill>
                  <a:srgbClr val="2A4F1D"/>
                </a:solidFill>
                <a:latin typeface="Times New Roman"/>
                <a:cs typeface="Times New Roman"/>
              </a:rPr>
              <a:t>Their</a:t>
            </a:r>
            <a:r>
              <a:rPr sz="1200" b="1" spc="-60" dirty="0">
                <a:solidFill>
                  <a:srgbClr val="2A4F1D"/>
                </a:solidFill>
                <a:latin typeface="Times New Roman"/>
                <a:cs typeface="Times New Roman"/>
              </a:rPr>
              <a:t> </a:t>
            </a:r>
            <a:r>
              <a:rPr sz="1200" b="1" dirty="0">
                <a:solidFill>
                  <a:srgbClr val="2A4F1D"/>
                </a:solidFill>
                <a:latin typeface="Times New Roman"/>
                <a:cs typeface="Times New Roman"/>
              </a:rPr>
              <a:t>connection</a:t>
            </a:r>
            <a:r>
              <a:rPr sz="1200" b="1" spc="-25" dirty="0">
                <a:solidFill>
                  <a:srgbClr val="2A4F1D"/>
                </a:solidFill>
                <a:latin typeface="Times New Roman"/>
                <a:cs typeface="Times New Roman"/>
              </a:rPr>
              <a:t> </a:t>
            </a:r>
            <a:r>
              <a:rPr sz="1200" b="1" dirty="0">
                <a:solidFill>
                  <a:srgbClr val="2A4F1D"/>
                </a:solidFill>
                <a:latin typeface="Times New Roman"/>
                <a:cs typeface="Times New Roman"/>
              </a:rPr>
              <a:t>to</a:t>
            </a:r>
            <a:r>
              <a:rPr sz="1200" b="1" spc="-30" dirty="0">
                <a:solidFill>
                  <a:srgbClr val="2A4F1D"/>
                </a:solidFill>
                <a:latin typeface="Times New Roman"/>
                <a:cs typeface="Times New Roman"/>
              </a:rPr>
              <a:t> </a:t>
            </a:r>
            <a:r>
              <a:rPr sz="1200" b="1" dirty="0">
                <a:solidFill>
                  <a:srgbClr val="2A4F1D"/>
                </a:solidFill>
                <a:latin typeface="Times New Roman"/>
                <a:cs typeface="Times New Roman"/>
              </a:rPr>
              <a:t>the</a:t>
            </a:r>
            <a:r>
              <a:rPr sz="1200" b="1" spc="-35" dirty="0">
                <a:solidFill>
                  <a:srgbClr val="2A4F1D"/>
                </a:solidFill>
                <a:latin typeface="Times New Roman"/>
                <a:cs typeface="Times New Roman"/>
              </a:rPr>
              <a:t> </a:t>
            </a:r>
            <a:r>
              <a:rPr sz="1200" b="1" dirty="0">
                <a:solidFill>
                  <a:srgbClr val="2A4F1D"/>
                </a:solidFill>
                <a:latin typeface="Times New Roman"/>
                <a:cs typeface="Times New Roman"/>
              </a:rPr>
              <a:t>CPU</a:t>
            </a:r>
            <a:r>
              <a:rPr sz="1200" b="1" spc="-10" dirty="0">
                <a:solidFill>
                  <a:srgbClr val="2A4F1D"/>
                </a:solidFill>
                <a:latin typeface="Times New Roman"/>
                <a:cs typeface="Times New Roman"/>
              </a:rPr>
              <a:t> </a:t>
            </a:r>
            <a:r>
              <a:rPr sz="1200" b="1" dirty="0">
                <a:solidFill>
                  <a:srgbClr val="2A4F1D"/>
                </a:solidFill>
                <a:latin typeface="Times New Roman"/>
                <a:cs typeface="Times New Roman"/>
              </a:rPr>
              <a:t>address</a:t>
            </a:r>
            <a:r>
              <a:rPr sz="1200" b="1" spc="-30" dirty="0">
                <a:solidFill>
                  <a:srgbClr val="2A4F1D"/>
                </a:solidFill>
                <a:latin typeface="Times New Roman"/>
                <a:cs typeface="Times New Roman"/>
              </a:rPr>
              <a:t> </a:t>
            </a:r>
            <a:r>
              <a:rPr sz="1200" b="1" spc="-25" dirty="0">
                <a:solidFill>
                  <a:srgbClr val="2A4F1D"/>
                </a:solidFill>
                <a:latin typeface="Times New Roman"/>
                <a:cs typeface="Times New Roman"/>
              </a:rPr>
              <a:t>bus</a:t>
            </a:r>
            <a:endParaRPr sz="1200">
              <a:latin typeface="Times New Roman"/>
              <a:cs typeface="Times New Roman"/>
            </a:endParaRPr>
          </a:p>
        </p:txBody>
      </p:sp>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8" name="object 8"/>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Memory</a:t>
            </a:r>
            <a:r>
              <a:rPr sz="2200" spc="-105" dirty="0">
                <a:latin typeface="Georgia"/>
                <a:cs typeface="Georgia"/>
              </a:rPr>
              <a:t> </a:t>
            </a:r>
            <a:r>
              <a:rPr sz="2200" dirty="0">
                <a:latin typeface="Georgia"/>
                <a:cs typeface="Georgia"/>
              </a:rPr>
              <a:t>Address</a:t>
            </a:r>
            <a:r>
              <a:rPr sz="2200" spc="-100" dirty="0">
                <a:latin typeface="Georgia"/>
                <a:cs typeface="Georgia"/>
              </a:rPr>
              <a:t> </a:t>
            </a:r>
            <a:r>
              <a:rPr sz="2200" spc="-25" dirty="0">
                <a:latin typeface="Georgia"/>
                <a:cs typeface="Georgia"/>
              </a:rPr>
              <a:t>MAP</a:t>
            </a:r>
            <a:endParaRPr sz="2200">
              <a:latin typeface="Georgia"/>
              <a:cs typeface="Georgia"/>
            </a:endParaRPr>
          </a:p>
          <a:p>
            <a:pPr marL="434975" marR="814705" indent="-172720">
              <a:lnSpc>
                <a:spcPts val="1300"/>
              </a:lnSpc>
              <a:spcBef>
                <a:spcPts val="1860"/>
              </a:spcBef>
              <a:buClr>
                <a:srgbClr val="3E762B"/>
              </a:buClr>
              <a:buFont typeface="Wingdings"/>
              <a:buChar char=""/>
              <a:tabLst>
                <a:tab pos="436245" algn="l"/>
              </a:tabLst>
            </a:pPr>
            <a:r>
              <a:rPr sz="1200" dirty="0">
                <a:latin typeface="Times New Roman"/>
                <a:cs typeface="Times New Roman"/>
              </a:rPr>
              <a:t>RAM</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ROM</a:t>
            </a:r>
            <a:r>
              <a:rPr sz="1200" spc="-15" dirty="0">
                <a:latin typeface="Times New Roman"/>
                <a:cs typeface="Times New Roman"/>
              </a:rPr>
              <a:t> </a:t>
            </a:r>
            <a:r>
              <a:rPr sz="1200" dirty="0">
                <a:latin typeface="Times New Roman"/>
                <a:cs typeface="Times New Roman"/>
              </a:rPr>
              <a:t>chips</a:t>
            </a:r>
            <a:r>
              <a:rPr sz="1200" spc="-25"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connected</a:t>
            </a:r>
            <a:r>
              <a:rPr sz="1200" spc="-1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CPU</a:t>
            </a:r>
            <a:r>
              <a:rPr sz="1200" spc="-20" dirty="0">
                <a:latin typeface="Times New Roman"/>
                <a:cs typeface="Times New Roman"/>
              </a:rPr>
              <a:t> </a:t>
            </a:r>
            <a:r>
              <a:rPr sz="1200" dirty="0">
                <a:latin typeface="Times New Roman"/>
                <a:cs typeface="Times New Roman"/>
              </a:rPr>
              <a:t>through</a:t>
            </a:r>
            <a:r>
              <a:rPr sz="1200" spc="-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data</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address 	buses</a:t>
            </a:r>
            <a:endParaRPr sz="1200">
              <a:latin typeface="Times New Roman"/>
              <a:cs typeface="Times New Roman"/>
            </a:endParaRPr>
          </a:p>
          <a:p>
            <a:pPr marL="434975" marR="803275" indent="-172720">
              <a:lnSpc>
                <a:spcPts val="1300"/>
              </a:lnSpc>
              <a:spcBef>
                <a:spcPts val="685"/>
              </a:spcBef>
              <a:buClr>
                <a:srgbClr val="3E762B"/>
              </a:buClr>
              <a:buFont typeface="Wingdings"/>
              <a:buChar char=""/>
              <a:tabLst>
                <a:tab pos="436245" algn="l"/>
              </a:tabLst>
            </a:pPr>
            <a:r>
              <a:rPr sz="1200" dirty="0">
                <a:latin typeface="Times New Roman"/>
                <a:cs typeface="Times New Roman"/>
              </a:rPr>
              <a:t>The</a:t>
            </a:r>
            <a:r>
              <a:rPr sz="1200" spc="-30" dirty="0">
                <a:latin typeface="Times New Roman"/>
                <a:cs typeface="Times New Roman"/>
              </a:rPr>
              <a:t> </a:t>
            </a:r>
            <a:r>
              <a:rPr sz="1200" b="1" dirty="0">
                <a:latin typeface="Times New Roman"/>
                <a:cs typeface="Times New Roman"/>
              </a:rPr>
              <a:t>low-order</a:t>
            </a:r>
            <a:r>
              <a:rPr sz="1200" b="1" spc="-45" dirty="0">
                <a:latin typeface="Times New Roman"/>
                <a:cs typeface="Times New Roman"/>
              </a:rPr>
              <a:t> </a:t>
            </a:r>
            <a:r>
              <a:rPr sz="1200" b="1" dirty="0">
                <a:latin typeface="Times New Roman"/>
                <a:cs typeface="Times New Roman"/>
              </a:rPr>
              <a:t>lines</a:t>
            </a:r>
            <a:r>
              <a:rPr sz="1200" b="1" spc="-20" dirty="0">
                <a:latin typeface="Times New Roman"/>
                <a:cs typeface="Times New Roman"/>
              </a:rPr>
              <a:t> </a:t>
            </a:r>
            <a:r>
              <a:rPr sz="1200" b="1" dirty="0">
                <a:latin typeface="Times New Roman"/>
                <a:cs typeface="Times New Roman"/>
              </a:rPr>
              <a:t>in</a:t>
            </a:r>
            <a:r>
              <a:rPr sz="1200" b="1" spc="-25" dirty="0">
                <a:latin typeface="Times New Roman"/>
                <a:cs typeface="Times New Roman"/>
              </a:rPr>
              <a:t> </a:t>
            </a:r>
            <a:r>
              <a:rPr sz="1200" b="1" dirty="0">
                <a:latin typeface="Times New Roman"/>
                <a:cs typeface="Times New Roman"/>
              </a:rPr>
              <a:t>the</a:t>
            </a:r>
            <a:r>
              <a:rPr sz="1200" b="1" spc="-20" dirty="0">
                <a:latin typeface="Times New Roman"/>
                <a:cs typeface="Times New Roman"/>
              </a:rPr>
              <a:t> </a:t>
            </a:r>
            <a:r>
              <a:rPr sz="1200" b="1" dirty="0">
                <a:latin typeface="Times New Roman"/>
                <a:cs typeface="Times New Roman"/>
              </a:rPr>
              <a:t>address</a:t>
            </a:r>
            <a:r>
              <a:rPr sz="1200" b="1" spc="-10" dirty="0">
                <a:latin typeface="Times New Roman"/>
                <a:cs typeface="Times New Roman"/>
              </a:rPr>
              <a:t> </a:t>
            </a:r>
            <a:r>
              <a:rPr sz="1200" b="1" dirty="0">
                <a:latin typeface="Times New Roman"/>
                <a:cs typeface="Times New Roman"/>
              </a:rPr>
              <a:t>bus</a:t>
            </a:r>
            <a:r>
              <a:rPr sz="1200" b="1" spc="-35" dirty="0">
                <a:latin typeface="Times New Roman"/>
                <a:cs typeface="Times New Roman"/>
              </a:rPr>
              <a:t> </a:t>
            </a:r>
            <a:r>
              <a:rPr sz="1200" b="1" dirty="0">
                <a:latin typeface="Times New Roman"/>
                <a:cs typeface="Times New Roman"/>
              </a:rPr>
              <a:t>select</a:t>
            </a:r>
            <a:r>
              <a:rPr sz="1200" b="1" spc="-10" dirty="0">
                <a:latin typeface="Times New Roman"/>
                <a:cs typeface="Times New Roman"/>
              </a:rPr>
              <a:t> </a:t>
            </a:r>
            <a:r>
              <a:rPr sz="1200" b="1" dirty="0">
                <a:latin typeface="Times New Roman"/>
                <a:cs typeface="Times New Roman"/>
              </a:rPr>
              <a:t>the</a:t>
            </a:r>
            <a:r>
              <a:rPr sz="1200" b="1" spc="-25" dirty="0">
                <a:latin typeface="Times New Roman"/>
                <a:cs typeface="Times New Roman"/>
              </a:rPr>
              <a:t> </a:t>
            </a:r>
            <a:r>
              <a:rPr sz="1200" b="1" dirty="0">
                <a:latin typeface="Times New Roman"/>
                <a:cs typeface="Times New Roman"/>
              </a:rPr>
              <a:t>byte</a:t>
            </a:r>
            <a:r>
              <a:rPr sz="1200" b="1" spc="-20" dirty="0">
                <a:latin typeface="Times New Roman"/>
                <a:cs typeface="Times New Roman"/>
              </a:rPr>
              <a:t> </a:t>
            </a:r>
            <a:r>
              <a:rPr sz="1200" b="1" dirty="0">
                <a:latin typeface="Times New Roman"/>
                <a:cs typeface="Times New Roman"/>
              </a:rPr>
              <a:t>within</a:t>
            </a:r>
            <a:r>
              <a:rPr sz="1200" b="1" spc="-35" dirty="0">
                <a:latin typeface="Times New Roman"/>
                <a:cs typeface="Times New Roman"/>
              </a:rPr>
              <a:t> </a:t>
            </a:r>
            <a:r>
              <a:rPr sz="1200" b="1" dirty="0">
                <a:latin typeface="Times New Roman"/>
                <a:cs typeface="Times New Roman"/>
              </a:rPr>
              <a:t>the</a:t>
            </a:r>
            <a:r>
              <a:rPr sz="1200" b="1" spc="-25" dirty="0">
                <a:latin typeface="Times New Roman"/>
                <a:cs typeface="Times New Roman"/>
              </a:rPr>
              <a:t> </a:t>
            </a:r>
            <a:r>
              <a:rPr sz="1200" b="1" spc="-10" dirty="0">
                <a:latin typeface="Times New Roman"/>
                <a:cs typeface="Times New Roman"/>
              </a:rPr>
              <a:t>chips 	</a:t>
            </a:r>
            <a:r>
              <a:rPr sz="1200" dirty="0">
                <a:latin typeface="Times New Roman"/>
                <a:cs typeface="Times New Roman"/>
              </a:rPr>
              <a:t>and</a:t>
            </a:r>
            <a:r>
              <a:rPr sz="1200" spc="-15" dirty="0">
                <a:latin typeface="Times New Roman"/>
                <a:cs typeface="Times New Roman"/>
              </a:rPr>
              <a:t> </a:t>
            </a:r>
            <a:r>
              <a:rPr sz="1200" b="1" spc="-10" dirty="0">
                <a:latin typeface="Times New Roman"/>
                <a:cs typeface="Times New Roman"/>
              </a:rPr>
              <a:t>high-</a:t>
            </a:r>
            <a:r>
              <a:rPr sz="1200" b="1" dirty="0">
                <a:latin typeface="Times New Roman"/>
                <a:cs typeface="Times New Roman"/>
              </a:rPr>
              <a:t>order</a:t>
            </a:r>
            <a:r>
              <a:rPr sz="1200" b="1" spc="-40" dirty="0">
                <a:latin typeface="Times New Roman"/>
                <a:cs typeface="Times New Roman"/>
              </a:rPr>
              <a:t> </a:t>
            </a:r>
            <a:r>
              <a:rPr sz="1200" b="1" dirty="0">
                <a:latin typeface="Times New Roman"/>
                <a:cs typeface="Times New Roman"/>
              </a:rPr>
              <a:t>lines</a:t>
            </a:r>
            <a:r>
              <a:rPr sz="1200" b="1" spc="-1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address bus</a:t>
            </a:r>
            <a:r>
              <a:rPr sz="1200" spc="-15" dirty="0">
                <a:latin typeface="Times New Roman"/>
                <a:cs typeface="Times New Roman"/>
              </a:rPr>
              <a:t> </a:t>
            </a:r>
            <a:r>
              <a:rPr sz="1200" dirty="0">
                <a:latin typeface="Times New Roman"/>
                <a:cs typeface="Times New Roman"/>
              </a:rPr>
              <a:t>select</a:t>
            </a:r>
            <a:r>
              <a:rPr sz="1200" spc="-10" dirty="0">
                <a:latin typeface="Times New Roman"/>
                <a:cs typeface="Times New Roman"/>
              </a:rPr>
              <a:t> </a:t>
            </a:r>
            <a:r>
              <a:rPr sz="1200" dirty="0">
                <a:latin typeface="Times New Roman"/>
                <a:cs typeface="Times New Roman"/>
              </a:rPr>
              <a:t>a </a:t>
            </a:r>
            <a:r>
              <a:rPr sz="1200" b="1" spc="-10" dirty="0">
                <a:latin typeface="Times New Roman"/>
                <a:cs typeface="Times New Roman"/>
              </a:rPr>
              <a:t>particular</a:t>
            </a:r>
            <a:r>
              <a:rPr sz="1200" b="1" spc="-40" dirty="0">
                <a:latin typeface="Times New Roman"/>
                <a:cs typeface="Times New Roman"/>
              </a:rPr>
              <a:t> </a:t>
            </a:r>
            <a:r>
              <a:rPr sz="1200" b="1" dirty="0">
                <a:latin typeface="Times New Roman"/>
                <a:cs typeface="Times New Roman"/>
              </a:rPr>
              <a:t>chip</a:t>
            </a:r>
            <a:r>
              <a:rPr sz="1200" b="1" spc="-15" dirty="0">
                <a:latin typeface="Times New Roman"/>
                <a:cs typeface="Times New Roman"/>
              </a:rPr>
              <a:t> </a:t>
            </a:r>
            <a:r>
              <a:rPr sz="1200" dirty="0">
                <a:latin typeface="Times New Roman"/>
                <a:cs typeface="Times New Roman"/>
              </a:rPr>
              <a:t>through </a:t>
            </a:r>
            <a:r>
              <a:rPr sz="1200" spc="-25" dirty="0">
                <a:latin typeface="Times New Roman"/>
                <a:cs typeface="Times New Roman"/>
              </a:rPr>
              <a:t>its 	</a:t>
            </a:r>
            <a:r>
              <a:rPr sz="1200" dirty="0">
                <a:latin typeface="Times New Roman"/>
                <a:cs typeface="Times New Roman"/>
              </a:rPr>
              <a:t>chip</a:t>
            </a:r>
            <a:r>
              <a:rPr sz="1200" spc="-35" dirty="0">
                <a:latin typeface="Times New Roman"/>
                <a:cs typeface="Times New Roman"/>
              </a:rPr>
              <a:t> </a:t>
            </a:r>
            <a:r>
              <a:rPr sz="1200" dirty="0">
                <a:latin typeface="Times New Roman"/>
                <a:cs typeface="Times New Roman"/>
              </a:rPr>
              <a:t>select</a:t>
            </a:r>
            <a:r>
              <a:rPr sz="1200" spc="-35" dirty="0">
                <a:latin typeface="Times New Roman"/>
                <a:cs typeface="Times New Roman"/>
              </a:rPr>
              <a:t> </a:t>
            </a:r>
            <a:r>
              <a:rPr sz="1200" spc="-10" dirty="0">
                <a:latin typeface="Times New Roman"/>
                <a:cs typeface="Times New Roman"/>
              </a:rPr>
              <a:t>inputs</a:t>
            </a:r>
            <a:endParaRPr sz="12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21</a:t>
            </a:fld>
            <a:endParaRPr spc="-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7FFC5-737D-1255-249E-36D2C6E8F336}"/>
              </a:ext>
            </a:extLst>
          </p:cNvPr>
          <p:cNvSpPr>
            <a:spLocks noGrp="1"/>
          </p:cNvSpPr>
          <p:nvPr>
            <p:ph type="title"/>
          </p:nvPr>
        </p:nvSpPr>
        <p:spPr>
          <a:xfrm>
            <a:off x="712723" y="1092835"/>
            <a:ext cx="2554604" cy="338554"/>
          </a:xfrm>
        </p:spPr>
        <p:txBody>
          <a:bodyPr/>
          <a:lstStyle/>
          <a:p>
            <a:r>
              <a:rPr lang="en-US" dirty="0"/>
              <a:t>Example 1</a:t>
            </a:r>
          </a:p>
        </p:txBody>
      </p:sp>
      <p:sp>
        <p:nvSpPr>
          <p:cNvPr id="3" name="Text Placeholder 2">
            <a:extLst>
              <a:ext uri="{FF2B5EF4-FFF2-40B4-BE49-F238E27FC236}">
                <a16:creationId xmlns:a16="http://schemas.microsoft.com/office/drawing/2014/main" id="{009D7C9C-9FEA-019B-BF04-97BDA2E364C1}"/>
              </a:ext>
            </a:extLst>
          </p:cNvPr>
          <p:cNvSpPr>
            <a:spLocks noGrp="1"/>
          </p:cNvSpPr>
          <p:nvPr>
            <p:ph type="body" idx="1"/>
          </p:nvPr>
        </p:nvSpPr>
        <p:spPr/>
        <p:txBody>
          <a:bodyPr/>
          <a:lstStyle/>
          <a:p>
            <a:endParaRPr lang="en-US" dirty="0"/>
          </a:p>
        </p:txBody>
      </p:sp>
      <p:pic>
        <p:nvPicPr>
          <p:cNvPr id="4" name="Picture 3">
            <a:extLst>
              <a:ext uri="{FF2B5EF4-FFF2-40B4-BE49-F238E27FC236}">
                <a16:creationId xmlns:a16="http://schemas.microsoft.com/office/drawing/2014/main" id="{A1DF6020-1C67-9CDB-F324-FD8C4743C4CA}"/>
              </a:ext>
            </a:extLst>
          </p:cNvPr>
          <p:cNvPicPr>
            <a:picLocks noChangeAspect="1"/>
          </p:cNvPicPr>
          <p:nvPr/>
        </p:nvPicPr>
        <p:blipFill>
          <a:blip r:embed="rId2"/>
          <a:stretch>
            <a:fillRect/>
          </a:stretch>
        </p:blipFill>
        <p:spPr>
          <a:xfrm>
            <a:off x="400050" y="2362200"/>
            <a:ext cx="6057900" cy="737870"/>
          </a:xfrm>
          <a:prstGeom prst="rect">
            <a:avLst/>
          </a:prstGeom>
        </p:spPr>
      </p:pic>
    </p:spTree>
    <p:extLst>
      <p:ext uri="{BB962C8B-B14F-4D97-AF65-F5344CB8AC3E}">
        <p14:creationId xmlns:p14="http://schemas.microsoft.com/office/powerpoint/2010/main" val="1302013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166AC-6484-88E7-E2BC-D35DEE04E14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C98B0E44-20C2-EF74-2FB1-A81AA643E405}"/>
              </a:ext>
            </a:extLst>
          </p:cNvPr>
          <p:cNvSpPr>
            <a:spLocks noGrp="1"/>
          </p:cNvSpPr>
          <p:nvPr>
            <p:ph type="body" idx="1"/>
          </p:nvPr>
        </p:nvSpPr>
        <p:spPr/>
        <p:txBody>
          <a:bodyPr/>
          <a:lstStyle/>
          <a:p>
            <a:endParaRPr lang="en-US" dirty="0"/>
          </a:p>
        </p:txBody>
      </p:sp>
      <p:pic>
        <p:nvPicPr>
          <p:cNvPr id="4" name="image2.jpeg">
            <a:extLst>
              <a:ext uri="{FF2B5EF4-FFF2-40B4-BE49-F238E27FC236}">
                <a16:creationId xmlns:a16="http://schemas.microsoft.com/office/drawing/2014/main" id="{B70A76E3-DE85-111A-C88A-ED39A697BE37}"/>
              </a:ext>
            </a:extLst>
          </p:cNvPr>
          <p:cNvPicPr>
            <a:picLocks noChangeAspect="1"/>
          </p:cNvPicPr>
          <p:nvPr/>
        </p:nvPicPr>
        <p:blipFill>
          <a:blip r:embed="rId2" cstate="print"/>
          <a:stretch>
            <a:fillRect/>
          </a:stretch>
        </p:blipFill>
        <p:spPr>
          <a:xfrm>
            <a:off x="-227330" y="-488950"/>
            <a:ext cx="7312660" cy="10121900"/>
          </a:xfrm>
          <a:prstGeom prst="rect">
            <a:avLst/>
          </a:prstGeom>
        </p:spPr>
      </p:pic>
      <p:sp>
        <p:nvSpPr>
          <p:cNvPr id="5" name="Rectangle 4">
            <a:extLst>
              <a:ext uri="{FF2B5EF4-FFF2-40B4-BE49-F238E27FC236}">
                <a16:creationId xmlns:a16="http://schemas.microsoft.com/office/drawing/2014/main" id="{A6949FDC-141A-2BD5-D588-D06300AA16E2}"/>
              </a:ext>
            </a:extLst>
          </p:cNvPr>
          <p:cNvSpPr/>
          <p:nvPr/>
        </p:nvSpPr>
        <p:spPr>
          <a:xfrm>
            <a:off x="228600" y="6553200"/>
            <a:ext cx="484123" cy="228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13</a:t>
            </a:r>
          </a:p>
        </p:txBody>
      </p:sp>
    </p:spTree>
    <p:extLst>
      <p:ext uri="{BB962C8B-B14F-4D97-AF65-F5344CB8AC3E}">
        <p14:creationId xmlns:p14="http://schemas.microsoft.com/office/powerpoint/2010/main" val="9606897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EFA5C-64A6-3D83-D22A-8BA51B6D74D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25197B0-C0D4-F305-1A5F-58EE673B9F55}"/>
              </a:ext>
            </a:extLst>
          </p:cNvPr>
          <p:cNvSpPr>
            <a:spLocks noGrp="1"/>
          </p:cNvSpPr>
          <p:nvPr>
            <p:ph type="body" idx="1"/>
          </p:nvPr>
        </p:nvSpPr>
        <p:spPr/>
        <p:txBody>
          <a:bodyPr/>
          <a:lstStyle/>
          <a:p>
            <a:endParaRPr lang="en-US"/>
          </a:p>
        </p:txBody>
      </p:sp>
      <p:pic>
        <p:nvPicPr>
          <p:cNvPr id="4" name="image3.jpeg">
            <a:extLst>
              <a:ext uri="{FF2B5EF4-FFF2-40B4-BE49-F238E27FC236}">
                <a16:creationId xmlns:a16="http://schemas.microsoft.com/office/drawing/2014/main" id="{AADE73AF-4264-7184-F768-96CAD5305298}"/>
              </a:ext>
            </a:extLst>
          </p:cNvPr>
          <p:cNvPicPr>
            <a:picLocks noChangeAspect="1"/>
          </p:cNvPicPr>
          <p:nvPr/>
        </p:nvPicPr>
        <p:blipFill>
          <a:blip r:embed="rId2" cstate="print"/>
          <a:stretch>
            <a:fillRect/>
          </a:stretch>
        </p:blipFill>
        <p:spPr>
          <a:xfrm>
            <a:off x="-247650" y="-488950"/>
            <a:ext cx="7353300" cy="10121900"/>
          </a:xfrm>
          <a:prstGeom prst="rect">
            <a:avLst/>
          </a:prstGeom>
        </p:spPr>
      </p:pic>
    </p:spTree>
    <p:extLst>
      <p:ext uri="{BB962C8B-B14F-4D97-AF65-F5344CB8AC3E}">
        <p14:creationId xmlns:p14="http://schemas.microsoft.com/office/powerpoint/2010/main" val="8963991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9E581-0510-F0E1-5C16-999E542405AC}"/>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BA87DB8-42B5-D642-5D28-5A4102367A0E}"/>
              </a:ext>
            </a:extLst>
          </p:cNvPr>
          <p:cNvSpPr>
            <a:spLocks noGrp="1"/>
          </p:cNvSpPr>
          <p:nvPr>
            <p:ph type="body" idx="1"/>
          </p:nvPr>
        </p:nvSpPr>
        <p:spPr/>
        <p:txBody>
          <a:bodyPr/>
          <a:lstStyle/>
          <a:p>
            <a:endParaRPr lang="en-US"/>
          </a:p>
        </p:txBody>
      </p:sp>
      <p:pic>
        <p:nvPicPr>
          <p:cNvPr id="4" name="image4.jpeg">
            <a:extLst>
              <a:ext uri="{FF2B5EF4-FFF2-40B4-BE49-F238E27FC236}">
                <a16:creationId xmlns:a16="http://schemas.microsoft.com/office/drawing/2014/main" id="{ACC6CF3B-929F-FCF6-88C0-4E09BB93BE21}"/>
              </a:ext>
            </a:extLst>
          </p:cNvPr>
          <p:cNvPicPr>
            <a:picLocks noChangeAspect="1"/>
          </p:cNvPicPr>
          <p:nvPr/>
        </p:nvPicPr>
        <p:blipFill>
          <a:blip r:embed="rId2" cstate="print"/>
          <a:stretch>
            <a:fillRect/>
          </a:stretch>
        </p:blipFill>
        <p:spPr>
          <a:xfrm>
            <a:off x="-137795" y="-488950"/>
            <a:ext cx="7133590" cy="10121900"/>
          </a:xfrm>
          <a:prstGeom prst="rect">
            <a:avLst/>
          </a:prstGeom>
        </p:spPr>
      </p:pic>
    </p:spTree>
    <p:extLst>
      <p:ext uri="{BB962C8B-B14F-4D97-AF65-F5344CB8AC3E}">
        <p14:creationId xmlns:p14="http://schemas.microsoft.com/office/powerpoint/2010/main" val="31853831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DDC08-DB04-6665-4A3A-101CC9B2B9E4}"/>
              </a:ext>
            </a:extLst>
          </p:cNvPr>
          <p:cNvSpPr>
            <a:spLocks noGrp="1"/>
          </p:cNvSpPr>
          <p:nvPr>
            <p:ph type="title"/>
          </p:nvPr>
        </p:nvSpPr>
        <p:spPr>
          <a:xfrm>
            <a:off x="712723" y="1092835"/>
            <a:ext cx="2554604" cy="338554"/>
          </a:xfrm>
        </p:spPr>
        <p:txBody>
          <a:bodyPr/>
          <a:lstStyle/>
          <a:p>
            <a:r>
              <a:rPr lang="en-US" dirty="0"/>
              <a:t>Example 2</a:t>
            </a:r>
          </a:p>
        </p:txBody>
      </p:sp>
      <p:sp>
        <p:nvSpPr>
          <p:cNvPr id="3" name="Text Placeholder 2">
            <a:extLst>
              <a:ext uri="{FF2B5EF4-FFF2-40B4-BE49-F238E27FC236}">
                <a16:creationId xmlns:a16="http://schemas.microsoft.com/office/drawing/2014/main" id="{BE06DBFE-4F40-649E-3922-721D02F0ED19}"/>
              </a:ext>
            </a:extLst>
          </p:cNvPr>
          <p:cNvSpPr>
            <a:spLocks noGrp="1"/>
          </p:cNvSpPr>
          <p:nvPr>
            <p:ph type="body" idx="1"/>
          </p:nvPr>
        </p:nvSpPr>
        <p:spPr/>
        <p:txBody>
          <a:bodyPr/>
          <a:lstStyle/>
          <a:p>
            <a:endParaRPr lang="en-US" dirty="0"/>
          </a:p>
        </p:txBody>
      </p:sp>
      <p:pic>
        <p:nvPicPr>
          <p:cNvPr id="4" name="Picture 3">
            <a:extLst>
              <a:ext uri="{FF2B5EF4-FFF2-40B4-BE49-F238E27FC236}">
                <a16:creationId xmlns:a16="http://schemas.microsoft.com/office/drawing/2014/main" id="{6E0AD8A7-F3F5-1D77-04C6-F98529237690}"/>
              </a:ext>
            </a:extLst>
          </p:cNvPr>
          <p:cNvPicPr>
            <a:picLocks noChangeAspect="1"/>
          </p:cNvPicPr>
          <p:nvPr/>
        </p:nvPicPr>
        <p:blipFill>
          <a:blip r:embed="rId2"/>
          <a:stretch>
            <a:fillRect/>
          </a:stretch>
        </p:blipFill>
        <p:spPr>
          <a:xfrm>
            <a:off x="400050" y="1600200"/>
            <a:ext cx="6057900" cy="1707515"/>
          </a:xfrm>
          <a:prstGeom prst="rect">
            <a:avLst/>
          </a:prstGeom>
        </p:spPr>
      </p:pic>
    </p:spTree>
    <p:extLst>
      <p:ext uri="{BB962C8B-B14F-4D97-AF65-F5344CB8AC3E}">
        <p14:creationId xmlns:p14="http://schemas.microsoft.com/office/powerpoint/2010/main" val="7856908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EEADF-A149-70C4-A646-7A2FD67C08AD}"/>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E25FF99-0F01-FF0A-5225-D11DF01E0C6D}"/>
              </a:ext>
            </a:extLst>
          </p:cNvPr>
          <p:cNvSpPr>
            <a:spLocks noGrp="1"/>
          </p:cNvSpPr>
          <p:nvPr>
            <p:ph type="body" idx="1"/>
          </p:nvPr>
        </p:nvSpPr>
        <p:spPr/>
        <p:txBody>
          <a:bodyPr/>
          <a:lstStyle/>
          <a:p>
            <a:endParaRPr lang="en-US"/>
          </a:p>
        </p:txBody>
      </p:sp>
      <p:pic>
        <p:nvPicPr>
          <p:cNvPr id="4" name="image5.jpeg">
            <a:extLst>
              <a:ext uri="{FF2B5EF4-FFF2-40B4-BE49-F238E27FC236}">
                <a16:creationId xmlns:a16="http://schemas.microsoft.com/office/drawing/2014/main" id="{6AD863E0-4840-65CE-C7F6-AB08DE242BBA}"/>
              </a:ext>
            </a:extLst>
          </p:cNvPr>
          <p:cNvPicPr>
            <a:picLocks noChangeAspect="1"/>
          </p:cNvPicPr>
          <p:nvPr/>
        </p:nvPicPr>
        <p:blipFill>
          <a:blip r:embed="rId2" cstate="print"/>
          <a:stretch>
            <a:fillRect/>
          </a:stretch>
        </p:blipFill>
        <p:spPr>
          <a:xfrm>
            <a:off x="14923" y="-488950"/>
            <a:ext cx="6828155" cy="10121900"/>
          </a:xfrm>
          <a:prstGeom prst="rect">
            <a:avLst/>
          </a:prstGeom>
        </p:spPr>
      </p:pic>
    </p:spTree>
    <p:extLst>
      <p:ext uri="{BB962C8B-B14F-4D97-AF65-F5344CB8AC3E}">
        <p14:creationId xmlns:p14="http://schemas.microsoft.com/office/powerpoint/2010/main" val="11585819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127AE-3170-D570-382F-2859567A9FD0}"/>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AB98F05-BA09-5223-87A3-8488A2E40EB2}"/>
              </a:ext>
            </a:extLst>
          </p:cNvPr>
          <p:cNvSpPr>
            <a:spLocks noGrp="1"/>
          </p:cNvSpPr>
          <p:nvPr>
            <p:ph type="body" idx="1"/>
          </p:nvPr>
        </p:nvSpPr>
        <p:spPr/>
        <p:txBody>
          <a:bodyPr/>
          <a:lstStyle/>
          <a:p>
            <a:endParaRPr lang="en-US"/>
          </a:p>
        </p:txBody>
      </p:sp>
      <p:pic>
        <p:nvPicPr>
          <p:cNvPr id="4" name="image6.jpeg">
            <a:extLst>
              <a:ext uri="{FF2B5EF4-FFF2-40B4-BE49-F238E27FC236}">
                <a16:creationId xmlns:a16="http://schemas.microsoft.com/office/drawing/2014/main" id="{F2B37B25-DC9C-C1DA-6174-2BEFD9CDE912}"/>
              </a:ext>
            </a:extLst>
          </p:cNvPr>
          <p:cNvPicPr>
            <a:picLocks noChangeAspect="1"/>
          </p:cNvPicPr>
          <p:nvPr/>
        </p:nvPicPr>
        <p:blipFill>
          <a:blip r:embed="rId2" cstate="print"/>
          <a:stretch>
            <a:fillRect/>
          </a:stretch>
        </p:blipFill>
        <p:spPr>
          <a:xfrm>
            <a:off x="-189865" y="-488950"/>
            <a:ext cx="7237730" cy="10121900"/>
          </a:xfrm>
          <a:prstGeom prst="rect">
            <a:avLst/>
          </a:prstGeom>
        </p:spPr>
      </p:pic>
    </p:spTree>
    <p:extLst>
      <p:ext uri="{BB962C8B-B14F-4D97-AF65-F5344CB8AC3E}">
        <p14:creationId xmlns:p14="http://schemas.microsoft.com/office/powerpoint/2010/main" val="28764096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70492-C5FB-F507-2C94-BE8A4BA753D3}"/>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98B8B4D-99F0-C53F-25B0-71692F16462D}"/>
              </a:ext>
            </a:extLst>
          </p:cNvPr>
          <p:cNvSpPr>
            <a:spLocks noGrp="1"/>
          </p:cNvSpPr>
          <p:nvPr>
            <p:ph type="body" idx="1"/>
          </p:nvPr>
        </p:nvSpPr>
        <p:spPr/>
        <p:txBody>
          <a:bodyPr/>
          <a:lstStyle/>
          <a:p>
            <a:endParaRPr lang="en-US"/>
          </a:p>
        </p:txBody>
      </p:sp>
      <p:pic>
        <p:nvPicPr>
          <p:cNvPr id="4" name="image7.jpeg">
            <a:extLst>
              <a:ext uri="{FF2B5EF4-FFF2-40B4-BE49-F238E27FC236}">
                <a16:creationId xmlns:a16="http://schemas.microsoft.com/office/drawing/2014/main" id="{EEFB0892-6004-D493-F0CB-ED9B7E29F5AE}"/>
              </a:ext>
            </a:extLst>
          </p:cNvPr>
          <p:cNvPicPr>
            <a:picLocks noChangeAspect="1"/>
          </p:cNvPicPr>
          <p:nvPr/>
        </p:nvPicPr>
        <p:blipFill>
          <a:blip r:embed="rId2" cstate="print"/>
          <a:stretch>
            <a:fillRect/>
          </a:stretch>
        </p:blipFill>
        <p:spPr>
          <a:xfrm>
            <a:off x="-127952" y="-488950"/>
            <a:ext cx="7113905" cy="10121900"/>
          </a:xfrm>
          <a:prstGeom prst="rect">
            <a:avLst/>
          </a:prstGeom>
        </p:spPr>
      </p:pic>
    </p:spTree>
    <p:extLst>
      <p:ext uri="{BB962C8B-B14F-4D97-AF65-F5344CB8AC3E}">
        <p14:creationId xmlns:p14="http://schemas.microsoft.com/office/powerpoint/2010/main" val="14993453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BBAB-9F4C-C2A5-E1B3-BF0C9861A85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F47BBE4-36C9-73E9-5691-FFABD24B8CB3}"/>
              </a:ext>
            </a:extLst>
          </p:cNvPr>
          <p:cNvSpPr>
            <a:spLocks noGrp="1"/>
          </p:cNvSpPr>
          <p:nvPr>
            <p:ph type="body" idx="1"/>
          </p:nvPr>
        </p:nvSpPr>
        <p:spPr/>
        <p:txBody>
          <a:bodyPr/>
          <a:lstStyle/>
          <a:p>
            <a:endParaRPr lang="en-US"/>
          </a:p>
        </p:txBody>
      </p:sp>
      <p:pic>
        <p:nvPicPr>
          <p:cNvPr id="4" name="image8.jpeg">
            <a:extLst>
              <a:ext uri="{FF2B5EF4-FFF2-40B4-BE49-F238E27FC236}">
                <a16:creationId xmlns:a16="http://schemas.microsoft.com/office/drawing/2014/main" id="{A8B4D2FA-94F0-258B-25B1-65365D795171}"/>
              </a:ext>
            </a:extLst>
          </p:cNvPr>
          <p:cNvPicPr>
            <a:picLocks noChangeAspect="1"/>
          </p:cNvPicPr>
          <p:nvPr/>
        </p:nvPicPr>
        <p:blipFill>
          <a:blip r:embed="rId2" cstate="print"/>
          <a:stretch>
            <a:fillRect/>
          </a:stretch>
        </p:blipFill>
        <p:spPr>
          <a:xfrm>
            <a:off x="-146050" y="-488950"/>
            <a:ext cx="7150100" cy="10121900"/>
          </a:xfrm>
          <a:prstGeom prst="rect">
            <a:avLst/>
          </a:prstGeom>
        </p:spPr>
      </p:pic>
    </p:spTree>
    <p:extLst>
      <p:ext uri="{BB962C8B-B14F-4D97-AF65-F5344CB8AC3E}">
        <p14:creationId xmlns:p14="http://schemas.microsoft.com/office/powerpoint/2010/main" val="24630326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49686-DCCB-16BD-3E0A-680E7E6B3DF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685E038F-620B-0590-5D1E-A8823B29615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159480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1305</TotalTime>
  <Words>3580</Words>
  <Application>Microsoft Office PowerPoint</Application>
  <PresentationFormat>On-screen Show (4:3)</PresentationFormat>
  <Paragraphs>443</Paragraphs>
  <Slides>31</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Aptos</vt:lpstr>
      <vt:lpstr>Arial MT</vt:lpstr>
      <vt:lpstr>Calibri</vt:lpstr>
      <vt:lpstr>Corbel</vt:lpstr>
      <vt:lpstr>Georgia</vt:lpstr>
      <vt:lpstr>Times New Roman</vt:lpstr>
      <vt:lpstr>Wingdings</vt:lpstr>
      <vt:lpstr>Office Theme</vt:lpstr>
      <vt:lpstr>PowerPoint Presentation</vt:lpstr>
      <vt:lpstr>PowerPoint Presentation</vt:lpstr>
      <vt:lpstr>PowerPoint Presentation</vt:lpstr>
      <vt:lpstr>PowerPoint Presentation</vt:lpstr>
      <vt:lpstr>  RAM/ROM Memory Basic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Memory Technology</vt:lpstr>
      <vt:lpstr>PowerPoint Presentation</vt:lpstr>
      <vt:lpstr>PowerPoint Presentation</vt:lpstr>
      <vt:lpstr>Example 1</vt:lpstr>
      <vt:lpstr>PowerPoint Presentation</vt:lpstr>
      <vt:lpstr>PowerPoint Presentation</vt:lpstr>
      <vt:lpstr>PowerPoint Presentation</vt:lpstr>
      <vt:lpstr>Example 2</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Zahraa.Ismail</cp:lastModifiedBy>
  <cp:revision>5</cp:revision>
  <dcterms:created xsi:type="dcterms:W3CDTF">2025-11-27T09:01:08Z</dcterms:created>
  <dcterms:modified xsi:type="dcterms:W3CDTF">2026-03-30T09:03:43Z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2025-04-12T00:00:00Z</vt:filetime>
  </property>
  <property fmtid="{D5CDD505-2E9C-101B-9397-08002B2CF9AE}" pid="3" name="Creator">
    <vt:lpwstr>Microsoft® PowerPoint® 2016</vt:lpwstr>
  </property>
  <property fmtid="{D5CDD505-2E9C-101B-9397-08002B2CF9AE}" pid="4" name="LastSaved">
    <vt:filetime>2025-11-27T00:00:00Z</vt:filetime>
  </property>
  <property fmtid="{D5CDD505-2E9C-101B-9397-08002B2CF9AE}" pid="5" name="Producer">
    <vt:lpwstr>Microsoft® PowerPoint® 2016</vt:lpwstr>
  </property>
</Properties>
</file>