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08" autoAdjust="0"/>
  </p:normalViewPr>
  <p:slideViewPr>
    <p:cSldViewPr>
      <p:cViewPr>
        <p:scale>
          <a:sx n="78" d="100"/>
          <a:sy n="78" d="100"/>
        </p:scale>
        <p:origin x="2322" y="-4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4D387-1DC4-4EDE-994A-1739BA6FF87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EB7E3-44E5-4D65-A806-296FFB629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2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Why Increasing Logic Density Improves Performance</a:t>
                </a:r>
              </a:p>
              <a:p>
                <a:r>
                  <a:rPr lang="en-US" dirty="0"/>
                  <a:t>Logic density refers to the number of transistors per unit area (e.g., transistors/cm²).</a:t>
                </a:r>
              </a:p>
              <a:p>
                <a:r>
                  <a:rPr lang="en-US" dirty="0"/>
                  <a:t>When logic density increases:</a:t>
                </a:r>
              </a:p>
              <a:p>
                <a:r>
                  <a:rPr lang="en-US" dirty="0"/>
                  <a:t>More transistors can be integrated on one chip.</a:t>
                </a:r>
              </a:p>
              <a:p>
                <a:r>
                  <a:rPr lang="en-US" dirty="0"/>
                  <a:t>More functional units (ALUs, caches, cores) can be added.</a:t>
                </a:r>
              </a:p>
              <a:p>
                <a:r>
                  <a:rPr lang="en-US" dirty="0"/>
                  <a:t>The processor can execute more operations in parallel.</a:t>
                </a:r>
              </a:p>
              <a:p>
                <a:r>
                  <a:rPr lang="en-US" dirty="0"/>
                  <a:t>Higher clock speeds can be achieved (shorter transistor switching times).</a:t>
                </a:r>
              </a:p>
              <a:p>
                <a:r>
                  <a:rPr lang="en-US" dirty="0"/>
                  <a:t>Therefore, higher logic density generally leads to higher computational performance.</a:t>
                </a:r>
              </a:p>
              <a:p>
                <a:r>
                  <a:rPr lang="en-US" b="1" dirty="0"/>
                  <a:t>2. Major Obstacles with Increasing Logic Density</a:t>
                </a:r>
              </a:p>
              <a:p>
                <a:r>
                  <a:rPr lang="en-US" dirty="0"/>
                  <a:t>As logic density and clock speed increase, three major challenges appear:</a:t>
                </a:r>
              </a:p>
              <a:p>
                <a:r>
                  <a:rPr lang="en-US" b="1" dirty="0"/>
                  <a:t>(a) Power Density</a:t>
                </a:r>
              </a:p>
              <a:p>
                <a:r>
                  <a:rPr lang="en-US" dirty="0"/>
                  <a:t>Power density = Power per unit area (Watts/cm²)</a:t>
                </a:r>
              </a:p>
              <a:p>
                <a:r>
                  <a:rPr lang="en-US" dirty="0"/>
                  <a:t>When:</a:t>
                </a:r>
              </a:p>
              <a:p>
                <a:r>
                  <a:rPr lang="en-US" dirty="0"/>
                  <a:t>Transistor count increases</a:t>
                </a:r>
              </a:p>
              <a:p>
                <a:r>
                  <a:rPr lang="en-US" dirty="0"/>
                  <a:t>Clock frequency increases</a:t>
                </a:r>
              </a:p>
              <a:p>
                <a:r>
                  <a:rPr lang="en-US" dirty="0"/>
                  <a:t>Power consumption increases significantly.</a:t>
                </a:r>
              </a:p>
              <a:p>
                <a:r>
                  <a:rPr lang="en-US" dirty="0"/>
                  <a:t>This causes:</a:t>
                </a:r>
              </a:p>
              <a:p>
                <a:r>
                  <a:rPr lang="en-US" dirty="0"/>
                  <a:t>Excessive heat generation</a:t>
                </a:r>
              </a:p>
              <a:p>
                <a:r>
                  <a:rPr lang="en-US" dirty="0"/>
                  <a:t>Thermal management problems</a:t>
                </a:r>
              </a:p>
              <a:p>
                <a:r>
                  <a:rPr lang="en-US" dirty="0"/>
                  <a:t>Reliability degradation</a:t>
                </a:r>
              </a:p>
              <a:p>
                <a:r>
                  <a:rPr lang="en-US" dirty="0"/>
                  <a:t>Possible chip failure</a:t>
                </a:r>
              </a:p>
              <a:p>
                <a:r>
                  <a:rPr lang="en-US" dirty="0"/>
                  <a:t>Heat removal becomes one of the biggest design challenges in modern processors.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(b) Interconnect Delay</a:t>
                </a:r>
              </a:p>
              <a:p>
                <a:r>
                  <a:rPr lang="en-US" dirty="0"/>
                  <a:t>In modern technologies (e.g., 9 nm):</a:t>
                </a:r>
              </a:p>
              <a:p>
                <a:r>
                  <a:rPr lang="en-US" dirty="0"/>
                  <a:t>Transistors are extremely small.</a:t>
                </a:r>
              </a:p>
              <a:p>
                <a:r>
                  <a:rPr lang="en-US" dirty="0"/>
                  <a:t>Wires (interconnects) become thinner and closer together.</a:t>
                </a:r>
              </a:p>
              <a:p>
                <a:r>
                  <a:rPr lang="en-US" dirty="0"/>
                  <a:t>Although transistor switching becomes faster, wire delay does not scale down at the same rate.</a:t>
                </a:r>
              </a:p>
              <a:p>
                <a:r>
                  <a:rPr lang="en-US" dirty="0"/>
                  <a:t>Interconnect delay depends 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𝐷𝑒𝑙𝑎𝑦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∝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𝑅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×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dirty="0"/>
                  <a:t>R = resistance of wire</a:t>
                </a:r>
              </a:p>
              <a:p>
                <a:r>
                  <a:rPr lang="en-US" dirty="0"/>
                  <a:t>C = capacitance between wires</a:t>
                </a:r>
              </a:p>
              <a:p>
                <a:r>
                  <a:rPr lang="en-US" dirty="0"/>
                  <a:t>As wires become thinner:</a:t>
                </a:r>
              </a:p>
              <a:p>
                <a:r>
                  <a:rPr lang="en-US" dirty="0"/>
                  <a:t>Resistance increases</a:t>
                </a:r>
              </a:p>
              <a:p>
                <a:r>
                  <a:rPr lang="en-US" dirty="0"/>
                  <a:t>Capacitance between nearby wires increases</a:t>
                </a:r>
              </a:p>
              <a:p>
                <a:r>
                  <a:rPr lang="en-US" dirty="0"/>
                  <a:t>Result:</a:t>
                </a:r>
                <a:br>
                  <a:rPr lang="en-US" dirty="0"/>
                </a:br>
                <a:r>
                  <a:rPr lang="en-US" dirty="0"/>
                  <a:t>Interconnect delay may dominate total chip delay.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(c) Crosstalk</a:t>
                </a:r>
              </a:p>
              <a:p>
                <a:r>
                  <a:rPr lang="en-US" dirty="0"/>
                  <a:t>Crosstalk is the unwanted electromagnetic coupling between adjacent signal wires.</a:t>
                </a:r>
              </a:p>
              <a:p>
                <a:r>
                  <a:rPr lang="en-US" dirty="0"/>
                  <a:t>As wires get closer:</a:t>
                </a:r>
              </a:p>
              <a:p>
                <a:r>
                  <a:rPr lang="en-US" dirty="0"/>
                  <a:t>Electric fields overlap</a:t>
                </a:r>
              </a:p>
              <a:p>
                <a:r>
                  <a:rPr lang="en-US" dirty="0"/>
                  <a:t>Signals in one wire induce noise in another</a:t>
                </a:r>
              </a:p>
              <a:p>
                <a:r>
                  <a:rPr lang="en-US" dirty="0"/>
                  <a:t>This causes:</a:t>
                </a:r>
              </a:p>
              <a:p>
                <a:r>
                  <a:rPr lang="en-US" dirty="0"/>
                  <a:t>Signal integrity problems</a:t>
                </a:r>
              </a:p>
              <a:p>
                <a:r>
                  <a:rPr lang="en-US" dirty="0"/>
                  <a:t>Timing errors</a:t>
                </a:r>
              </a:p>
              <a:p>
                <a:r>
                  <a:rPr lang="en-US" dirty="0"/>
                  <a:t>Increased power consumption</a:t>
                </a:r>
              </a:p>
              <a:p>
                <a:r>
                  <a:rPr lang="en-US" dirty="0"/>
                  <a:t>Possible logic malfunction</a:t>
                </a:r>
              </a:p>
              <a:p>
                <a:r>
                  <a:rPr lang="en-US" dirty="0"/>
                  <a:t>Crosstalk becomes more severe in high-frequency and high-density designs.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Why Power Density Is Critical at 9 nm</a:t>
                </a:r>
              </a:p>
              <a:p>
                <a:r>
                  <a:rPr lang="en-US" dirty="0"/>
                  <a:t>At very small technology nodes:</a:t>
                </a:r>
              </a:p>
              <a:p>
                <a:r>
                  <a:rPr lang="en-US" dirty="0"/>
                  <a:t>Billions of transistors are packed in a small area.</a:t>
                </a:r>
              </a:p>
              <a:p>
                <a:r>
                  <a:rPr lang="en-US" dirty="0"/>
                  <a:t>Leakage currents increase.</a:t>
                </a:r>
              </a:p>
              <a:p>
                <a:r>
                  <a:rPr lang="en-US" dirty="0"/>
                  <a:t>Switching frequency increases.</a:t>
                </a:r>
              </a:p>
              <a:p>
                <a:r>
                  <a:rPr lang="en-US" dirty="0"/>
                  <a:t>Power dissipation: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𝛼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𝐶</m:t>
                      </m:r>
                      <m:sSup>
                        <m:sSupPr>
                          <m:ctrlPr>
                            <a:rPr lang="ar-EG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EG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p>
                          <m:r>
                            <a:rPr lang="ar-EG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ar-EG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𝑓</m:t>
                      </m:r>
                    </m:oMath>
                  </m:oMathPara>
                </a14:m>
                <a:endParaRPr lang="ar-EG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𝑓</m:t>
                    </m:r>
                  </m:oMath>
                </a14:m>
                <a:r>
                  <a:rPr lang="en-US" dirty="0"/>
                  <a:t>= frequency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en-US" dirty="0"/>
                  <a:t>= voltage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𝐶</m:t>
                    </m:r>
                  </m:oMath>
                </a14:m>
                <a:r>
                  <a:rPr lang="en-US" dirty="0"/>
                  <a:t>= capacitance</a:t>
                </a:r>
              </a:p>
              <a:p>
                <a:r>
                  <a:rPr lang="en-US" dirty="0"/>
                  <a:t>As frequency increases → power increases.</a:t>
                </a:r>
                <a:br>
                  <a:rPr lang="en-US" dirty="0"/>
                </a:br>
                <a:r>
                  <a:rPr lang="en-US" dirty="0"/>
                  <a:t>As density increases → more total switching activity.</a:t>
                </a:r>
              </a:p>
              <a:p>
                <a:r>
                  <a:rPr lang="en-US" dirty="0"/>
                  <a:t>Result:</a:t>
                </a:r>
                <a:br>
                  <a:rPr lang="en-US" dirty="0"/>
                </a:br>
                <a:r>
                  <a:rPr lang="en-US" dirty="0"/>
                  <a:t>Very high heat concentration in small silicon area.</a:t>
                </a:r>
              </a:p>
              <a:p>
                <a:r>
                  <a:rPr lang="en-US" dirty="0"/>
                  <a:t>Cooling and thermal design become limiting factors in performance scaling.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Impact of Interconnect Delay on Performance</a:t>
                </a:r>
              </a:p>
              <a:p>
                <a:r>
                  <a:rPr lang="en-US" dirty="0"/>
                  <a:t>Even if transistors switch in picoseconds:</a:t>
                </a:r>
              </a:p>
              <a:p>
                <a:r>
                  <a:rPr lang="en-US" dirty="0"/>
                  <a:t>Signals must travel across long on-chip wires.</a:t>
                </a:r>
              </a:p>
              <a:p>
                <a:r>
                  <a:rPr lang="en-US" dirty="0"/>
                  <a:t>Wire delay increases with chip size.</a:t>
                </a:r>
              </a:p>
              <a:p>
                <a:r>
                  <a:rPr lang="en-US" dirty="0"/>
                  <a:t>Eventually:</a:t>
                </a:r>
              </a:p>
              <a:p>
                <a:r>
                  <a:rPr lang="en-US" dirty="0"/>
                  <a:t>Interconnect delay &gt; Gate delay</a:t>
                </a:r>
              </a:p>
              <a:p>
                <a:r>
                  <a:rPr lang="en-US" dirty="0"/>
                  <a:t>This means performance is limited not by transistor speed, but by how fast signals move across the chip.</a:t>
                </a:r>
              </a:p>
              <a:p>
                <a:r>
                  <a:rPr lang="en-US" dirty="0"/>
                  <a:t>Modern solutions include:</a:t>
                </a:r>
              </a:p>
              <a:p>
                <a:r>
                  <a:rPr lang="en-US" dirty="0"/>
                  <a:t>Repeaters (buffers)</a:t>
                </a:r>
              </a:p>
              <a:p>
                <a:r>
                  <a:rPr lang="en-US" dirty="0"/>
                  <a:t>Better materials (copper instead of aluminum)</a:t>
                </a:r>
              </a:p>
              <a:p>
                <a:r>
                  <a:rPr lang="en-US" dirty="0"/>
                  <a:t>3D stacking</a:t>
                </a:r>
              </a:p>
              <a:p>
                <a:r>
                  <a:rPr lang="en-US" dirty="0"/>
                  <a:t>Network-on-chip (NoC)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Crosstalk Explanation</a:t>
                </a:r>
              </a:p>
              <a:p>
                <a:r>
                  <a:rPr lang="en-US" dirty="0"/>
                  <a:t>Crosstalk occurs when:</a:t>
                </a:r>
              </a:p>
              <a:p>
                <a:r>
                  <a:rPr lang="en-US" dirty="0"/>
                  <a:t>A switching signal in one wire induces voltage in an adjacent wire.</a:t>
                </a:r>
              </a:p>
              <a:p>
                <a:r>
                  <a:rPr lang="en-US" dirty="0"/>
                  <a:t>This happens due to:</a:t>
                </a:r>
              </a:p>
              <a:p>
                <a:r>
                  <a:rPr lang="en-US" dirty="0"/>
                  <a:t>Capacitive coupling</a:t>
                </a:r>
              </a:p>
              <a:p>
                <a:r>
                  <a:rPr lang="en-US" dirty="0"/>
                  <a:t>Inductive coupling</a:t>
                </a:r>
              </a:p>
              <a:p>
                <a:r>
                  <a:rPr lang="en-US" dirty="0"/>
                  <a:t>Effects:</a:t>
                </a:r>
              </a:p>
              <a:p>
                <a:r>
                  <a:rPr lang="en-US" dirty="0"/>
                  <a:t>Noise</a:t>
                </a:r>
              </a:p>
              <a:p>
                <a:r>
                  <a:rPr lang="en-US" dirty="0"/>
                  <a:t>Delay variation</a:t>
                </a:r>
              </a:p>
              <a:p>
                <a:r>
                  <a:rPr lang="en-US" dirty="0"/>
                  <a:t>Glitches</a:t>
                </a:r>
              </a:p>
              <a:p>
                <a:r>
                  <a:rPr lang="en-US" dirty="0"/>
                  <a:t>Incorrect logic values</a:t>
                </a:r>
              </a:p>
              <a:p>
                <a:r>
                  <a:rPr lang="en-US" dirty="0"/>
                  <a:t>To reduce crosstalk:</a:t>
                </a:r>
              </a:p>
              <a:p>
                <a:r>
                  <a:rPr lang="en-US" dirty="0"/>
                  <a:t>Increase spacing between wires</a:t>
                </a:r>
              </a:p>
              <a:p>
                <a:r>
                  <a:rPr lang="en-US" dirty="0"/>
                  <a:t>Shield critical wires</a:t>
                </a:r>
              </a:p>
              <a:p>
                <a:r>
                  <a:rPr lang="en-US" dirty="0"/>
                  <a:t>Use lower voltage swings</a:t>
                </a:r>
              </a:p>
              <a:p>
                <a:r>
                  <a:rPr lang="en-US" dirty="0"/>
                  <a:t>Better routing techniques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Summary</a:t>
                </a:r>
              </a:p>
              <a:p>
                <a:r>
                  <a:rPr lang="en-US" dirty="0"/>
                  <a:t>As logic density increases, performance improves due to more transistors and higher clock speeds. However, three major physical limitations arise:</a:t>
                </a:r>
              </a:p>
              <a:p>
                <a:r>
                  <a:rPr lang="en-US" dirty="0"/>
                  <a:t>Power density (thermal problem)</a:t>
                </a:r>
              </a:p>
              <a:p>
                <a:r>
                  <a:rPr lang="en-US" dirty="0"/>
                  <a:t>Interconnect delay (RC delay dominance)</a:t>
                </a:r>
              </a:p>
              <a:p>
                <a:r>
                  <a:rPr lang="en-US" dirty="0"/>
                  <a:t>Crosstalk (signal integrity problem)</a:t>
                </a:r>
              </a:p>
              <a:p>
                <a:r>
                  <a:rPr lang="en-US" dirty="0"/>
                  <a:t>These factors now limit processor scaling more than transistor switching speed.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Question</a:t>
                </a:r>
              </a:p>
              <a:p>
                <a:r>
                  <a:rPr lang="en-US" dirty="0"/>
                  <a:t>The raw speed of a microprocessor cannot reach its full potential unless it is continuously supplied with instructions and data.</a:t>
                </a:r>
              </a:p>
              <a:p>
                <a:r>
                  <a:rPr lang="en-US" dirty="0"/>
                  <a:t>Explain why a constant stream of instructions is necessary for achieving maximum processor speed.</a:t>
                </a:r>
              </a:p>
              <a:p>
                <a:r>
                  <a:rPr lang="en-US" dirty="0"/>
                  <a:t>Discuss the main factors that drive microprocessor speed.</a:t>
                </a:r>
              </a:p>
              <a:p>
                <a:r>
                  <a:rPr lang="en-US" dirty="0"/>
                  <a:t>Explain how chip organization and branch instructions affect performance.</a:t>
                </a:r>
              </a:p>
              <a:p>
                <a:r>
                  <a:rPr lang="en-US" dirty="0"/>
                  <a:t>What is memory latency, and why does it limit processor performance?</a:t>
                </a:r>
              </a:p>
              <a:p>
                <a:r>
                  <a:rPr lang="en-US" dirty="0"/>
                  <a:t>How do I/O data rates influence overall system speed?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Answer</a:t>
                </a:r>
              </a:p>
              <a:p>
                <a:r>
                  <a:rPr lang="en-US" b="1" dirty="0"/>
                  <a:t>1. Importance of a Constant Instruction Stream</a:t>
                </a:r>
              </a:p>
              <a:p>
                <a:r>
                  <a:rPr lang="en-US" dirty="0"/>
                  <a:t>A microprocessor operates at a very high clock speed. However, it can only perform useful work if:</a:t>
                </a:r>
              </a:p>
              <a:p>
                <a:r>
                  <a:rPr lang="en-US" dirty="0"/>
                  <a:t>Instructions are continuously available.</a:t>
                </a:r>
              </a:p>
              <a:p>
                <a:r>
                  <a:rPr lang="en-US" dirty="0"/>
                  <a:t>Data is supplied without delay.</a:t>
                </a:r>
              </a:p>
              <a:p>
                <a:r>
                  <a:rPr lang="en-US" dirty="0"/>
                  <a:t>If the processor must wait for instructions or data:</a:t>
                </a:r>
              </a:p>
              <a:p>
                <a:r>
                  <a:rPr lang="en-US" dirty="0"/>
                  <a:t>Pipeline stalls occur.</a:t>
                </a:r>
              </a:p>
              <a:p>
                <a:r>
                  <a:rPr lang="en-US" dirty="0"/>
                  <a:t>Functional units remain idle.</a:t>
                </a:r>
              </a:p>
              <a:p>
                <a:r>
                  <a:rPr lang="en-US" dirty="0"/>
                  <a:t>Effective performance decreases.</a:t>
                </a:r>
              </a:p>
              <a:p>
                <a:r>
                  <a:rPr lang="en-US" dirty="0"/>
                  <a:t>Therefore, the processor’s real speed depends not only on clock frequency but also on how efficiently it is fed with instructions and data.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Driving Factors Behind Microprocessor Speed</a:t>
                </a:r>
              </a:p>
              <a:p>
                <a:r>
                  <a:rPr lang="en-US" dirty="0"/>
                  <a:t>The main factors that determine processor speed are:</a:t>
                </a:r>
              </a:p>
              <a:p>
                <a:r>
                  <a:rPr lang="en-US" b="1" dirty="0"/>
                  <a:t>(a) Clock Frequency</a:t>
                </a:r>
              </a:p>
              <a:p>
                <a:r>
                  <a:rPr lang="en-US" dirty="0"/>
                  <a:t>Determines how many cycles occur per second.</a:t>
                </a:r>
              </a:p>
              <a:p>
                <a:r>
                  <a:rPr lang="en-US" dirty="0"/>
                  <a:t>Higher frequency → more operations per second.</a:t>
                </a:r>
              </a:p>
              <a:p>
                <a:r>
                  <a:rPr lang="en-US" b="1" dirty="0"/>
                  <a:t>(b) Chip Organization and Architecture</a:t>
                </a:r>
              </a:p>
              <a:p>
                <a:r>
                  <a:rPr lang="en-US" dirty="0"/>
                  <a:t>Pipeline depth</a:t>
                </a:r>
              </a:p>
              <a:p>
                <a:r>
                  <a:rPr lang="en-US" dirty="0"/>
                  <a:t>Superscalar design</a:t>
                </a:r>
              </a:p>
              <a:p>
                <a:r>
                  <a:rPr lang="en-US" dirty="0"/>
                  <a:t>Out-of-order execution</a:t>
                </a:r>
              </a:p>
              <a:p>
                <a:r>
                  <a:rPr lang="en-US" dirty="0"/>
                  <a:t>Cache organization</a:t>
                </a:r>
              </a:p>
              <a:p>
                <a:r>
                  <a:rPr lang="en-US" dirty="0"/>
                  <a:t>Number of cores</a:t>
                </a:r>
              </a:p>
              <a:p>
                <a:r>
                  <a:rPr lang="en-US" dirty="0"/>
                  <a:t>Good architecture increases instruction-level parallelism and throughput.</a:t>
                </a:r>
              </a:p>
              <a:p>
                <a:r>
                  <a:rPr lang="en-US" b="1" dirty="0"/>
                  <a:t>(c) Branch Instructions</a:t>
                </a:r>
              </a:p>
              <a:p>
                <a:r>
                  <a:rPr lang="en-US" dirty="0"/>
                  <a:t>Branches change program flow.</a:t>
                </a:r>
              </a:p>
              <a:p>
                <a:r>
                  <a:rPr lang="en-US" dirty="0"/>
                  <a:t>Incorrect branch prediction causes pipeline flushing.</a:t>
                </a:r>
              </a:p>
              <a:p>
                <a:r>
                  <a:rPr lang="en-US" dirty="0"/>
                  <a:t>This wastes clock cycles and reduces performance.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Effect of Chip Organization and Branch Instructions</a:t>
                </a:r>
              </a:p>
              <a:p>
                <a:r>
                  <a:rPr lang="en-US" b="1" dirty="0"/>
                  <a:t>Chip Organization</a:t>
                </a:r>
              </a:p>
              <a:p>
                <a:r>
                  <a:rPr lang="en-US" dirty="0"/>
                  <a:t>Efficient organization includes:</a:t>
                </a:r>
              </a:p>
              <a:p>
                <a:r>
                  <a:rPr lang="en-US" dirty="0"/>
                  <a:t>Pipelining</a:t>
                </a:r>
              </a:p>
              <a:p>
                <a:r>
                  <a:rPr lang="en-US" dirty="0"/>
                  <a:t>Multiple execution units</a:t>
                </a:r>
              </a:p>
              <a:p>
                <a:r>
                  <a:rPr lang="en-US" dirty="0"/>
                  <a:t>Large and fast caches</a:t>
                </a:r>
              </a:p>
              <a:p>
                <a:r>
                  <a:rPr lang="en-US" dirty="0"/>
                  <a:t>Poor organization leads to:</a:t>
                </a:r>
              </a:p>
              <a:p>
                <a:r>
                  <a:rPr lang="en-US" dirty="0"/>
                  <a:t>Resource conflicts</a:t>
                </a:r>
              </a:p>
              <a:p>
                <a:r>
                  <a:rPr lang="en-US" dirty="0"/>
                  <a:t>Structural hazards</a:t>
                </a:r>
              </a:p>
              <a:p>
                <a:r>
                  <a:rPr lang="en-US" dirty="0"/>
                  <a:t>Increased latency</a:t>
                </a:r>
              </a:p>
              <a:p>
                <a:r>
                  <a:rPr lang="en-US" b="1" dirty="0"/>
                  <a:t>Branch Instructions</a:t>
                </a:r>
              </a:p>
              <a:p>
                <a:r>
                  <a:rPr lang="en-US" dirty="0"/>
                  <a:t>Branches introduce </a:t>
                </a:r>
                <a:r>
                  <a:rPr lang="en-US" b="1" dirty="0"/>
                  <a:t>control hazards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When a branch is encountered:</a:t>
                </a:r>
              </a:p>
              <a:p>
                <a:r>
                  <a:rPr lang="en-US" dirty="0"/>
                  <a:t>The processor may not know the next instruction.</a:t>
                </a:r>
              </a:p>
              <a:p>
                <a:r>
                  <a:rPr lang="en-US" dirty="0"/>
                  <a:t>It must predict the branch direction.</a:t>
                </a:r>
              </a:p>
              <a:p>
                <a:r>
                  <a:rPr lang="en-US" dirty="0"/>
                  <a:t>If prediction is wrong:</a:t>
                </a:r>
              </a:p>
              <a:p>
                <a:r>
                  <a:rPr lang="en-US" dirty="0"/>
                  <a:t>Pipeline is flushed.</a:t>
                </a:r>
              </a:p>
              <a:p>
                <a:r>
                  <a:rPr lang="en-US" dirty="0"/>
                  <a:t>Several cycles are lost.</a:t>
                </a:r>
              </a:p>
              <a:p>
                <a:r>
                  <a:rPr lang="en-US" dirty="0"/>
                  <a:t>Frequent branches significantly reduce performance.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Memory Latency</a:t>
                </a:r>
              </a:p>
              <a:p>
                <a:r>
                  <a:rPr lang="en-US" dirty="0"/>
                  <a:t>Memory latency is the time required to:</a:t>
                </a:r>
              </a:p>
              <a:p>
                <a:r>
                  <a:rPr lang="en-US" dirty="0"/>
                  <a:t>Access data from memory.</a:t>
                </a:r>
              </a:p>
              <a:p>
                <a:r>
                  <a:rPr lang="en-US" dirty="0"/>
                  <a:t>Deliver it to the processor.</a:t>
                </a:r>
              </a:p>
              <a:p>
                <a:r>
                  <a:rPr lang="en-US" dirty="0"/>
                  <a:t>Problem:</a:t>
                </a:r>
              </a:p>
              <a:p>
                <a:r>
                  <a:rPr lang="en-US" dirty="0"/>
                  <a:t>Processor speeds increase faster than memory speeds.</a:t>
                </a:r>
              </a:p>
              <a:p>
                <a:r>
                  <a:rPr lang="en-US" dirty="0"/>
                  <a:t>This creates a performance gap called the </a:t>
                </a:r>
                <a:r>
                  <a:rPr lang="en-US" b="1" dirty="0"/>
                  <a:t>memory wall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Because of this:</a:t>
                </a:r>
              </a:p>
              <a:p>
                <a:r>
                  <a:rPr lang="en-US" dirty="0"/>
                  <a:t>The processor often waits for memory.</a:t>
                </a:r>
              </a:p>
              <a:p>
                <a:r>
                  <a:rPr lang="en-US" dirty="0"/>
                  <a:t>Performance is limited by memory access time.</a:t>
                </a:r>
              </a:p>
              <a:p>
                <a:r>
                  <a:rPr lang="en-US" dirty="0"/>
                  <a:t>Solution:</a:t>
                </a:r>
              </a:p>
              <a:p>
                <a:r>
                  <a:rPr lang="en-US" dirty="0"/>
                  <a:t>Memory hierarchy (Registers → L1 → L2 → L3 → RAM)</a:t>
                </a:r>
              </a:p>
              <a:p>
                <a:r>
                  <a:rPr lang="en-US" dirty="0"/>
                  <a:t>Caching</a:t>
                </a:r>
              </a:p>
              <a:p>
                <a:r>
                  <a:rPr lang="en-US" dirty="0"/>
                  <a:t>Prefetching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I/O Data Rates and System Speed</a:t>
                </a:r>
              </a:p>
              <a:p>
                <a:r>
                  <a:rPr lang="en-US" dirty="0"/>
                  <a:t>I/O devices (disk, network, peripherals):</a:t>
                </a:r>
              </a:p>
              <a:p>
                <a:r>
                  <a:rPr lang="en-US" dirty="0"/>
                  <a:t>Operate much slower than CPU.</a:t>
                </a:r>
              </a:p>
              <a:p>
                <a:r>
                  <a:rPr lang="en-US" dirty="0"/>
                  <a:t>Can become system bottlenecks.</a:t>
                </a:r>
              </a:p>
              <a:p>
                <a:r>
                  <a:rPr lang="en-US" dirty="0"/>
                  <a:t>If data transfer rates are slow:</a:t>
                </a:r>
              </a:p>
              <a:p>
                <a:r>
                  <a:rPr lang="en-US" dirty="0"/>
                  <a:t>The processor waits for input/output operations.</a:t>
                </a:r>
              </a:p>
              <a:p>
                <a:r>
                  <a:rPr lang="en-US" dirty="0"/>
                  <a:t>Overall system performance decreases.</a:t>
                </a:r>
              </a:p>
              <a:p>
                <a:r>
                  <a:rPr lang="en-US" dirty="0"/>
                  <a:t>Modern systems use:</a:t>
                </a:r>
              </a:p>
              <a:p>
                <a:r>
                  <a:rPr lang="en-US" dirty="0"/>
                  <a:t>DMA (Direct Memory Access)</a:t>
                </a:r>
              </a:p>
              <a:p>
                <a:r>
                  <a:rPr lang="en-US" dirty="0"/>
                  <a:t>High-speed buses (PCIe)</a:t>
                </a:r>
              </a:p>
              <a:p>
                <a:r>
                  <a:rPr lang="en-US" dirty="0"/>
                  <a:t>Buffering techniques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Conclusion</a:t>
                </a:r>
              </a:p>
              <a:p>
                <a:r>
                  <a:rPr lang="en-US" dirty="0"/>
                  <a:t>Microprocessor speed is not determined by clock frequency alone.</a:t>
                </a:r>
              </a:p>
              <a:p>
                <a:r>
                  <a:rPr lang="en-US" dirty="0"/>
                  <a:t>Performance depends on:</a:t>
                </a:r>
              </a:p>
              <a:p>
                <a:r>
                  <a:rPr lang="en-US" dirty="0"/>
                  <a:t>Efficient chip architecture</a:t>
                </a:r>
              </a:p>
              <a:p>
                <a:r>
                  <a:rPr lang="en-US" dirty="0"/>
                  <a:t>Effective branch handling</a:t>
                </a:r>
              </a:p>
              <a:p>
                <a:r>
                  <a:rPr lang="en-US" dirty="0"/>
                  <a:t>Low memory latency</a:t>
                </a:r>
              </a:p>
              <a:p>
                <a:r>
                  <a:rPr lang="en-US" dirty="0"/>
                  <a:t>High I/O throughput</a:t>
                </a:r>
              </a:p>
              <a:p>
                <a:r>
                  <a:rPr lang="en-US" dirty="0"/>
                  <a:t>Any delay in instruction or data flow prevents the processor from achieving its full potential.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If you want, I can now:</a:t>
                </a:r>
              </a:p>
              <a:p>
                <a:r>
                  <a:rPr lang="en-US" dirty="0"/>
                  <a:t>Convert this into a short 5–6 mark exam answer</a:t>
                </a:r>
              </a:p>
              <a:p>
                <a:r>
                  <a:rPr lang="en-US" dirty="0"/>
                  <a:t>Add diagrams explaining memory hierarchy and branch stalls</a:t>
                </a:r>
              </a:p>
              <a:p>
                <a:r>
                  <a:rPr lang="en-US" dirty="0"/>
                  <a:t>Create comparison tables for revision</a:t>
                </a:r>
              </a:p>
              <a:p>
                <a:r>
                  <a:rPr lang="en-US" dirty="0"/>
                  <a:t>Give numerical examples related to memory latency</a:t>
                </a:r>
              </a:p>
              <a:p>
                <a:r>
                  <a:rPr lang="en-US" dirty="0"/>
                  <a:t>Just tell me what you prefer.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Why Increasing Logic Density Improves Performance</a:t>
                </a:r>
              </a:p>
              <a:p>
                <a:r>
                  <a:rPr lang="en-US" dirty="0"/>
                  <a:t>Logic density refers to the number of transistors per unit area (e.g., transistors/cm²).</a:t>
                </a:r>
              </a:p>
              <a:p>
                <a:r>
                  <a:rPr lang="en-US" dirty="0"/>
                  <a:t>When logic density increases:</a:t>
                </a:r>
              </a:p>
              <a:p>
                <a:r>
                  <a:rPr lang="en-US" dirty="0"/>
                  <a:t>More transistors can be integrated on one chip.</a:t>
                </a:r>
              </a:p>
              <a:p>
                <a:r>
                  <a:rPr lang="en-US" dirty="0"/>
                  <a:t>More functional units (ALUs, caches, cores) can be added.</a:t>
                </a:r>
              </a:p>
              <a:p>
                <a:r>
                  <a:rPr lang="en-US" dirty="0"/>
                  <a:t>The processor can execute more operations in parallel.</a:t>
                </a:r>
              </a:p>
              <a:p>
                <a:r>
                  <a:rPr lang="en-US" dirty="0"/>
                  <a:t>Higher clock speeds can be achieved (shorter transistor switching times).</a:t>
                </a:r>
              </a:p>
              <a:p>
                <a:r>
                  <a:rPr lang="en-US" dirty="0"/>
                  <a:t>Therefore, higher logic density generally leads to higher computational performance.</a:t>
                </a:r>
              </a:p>
              <a:p>
                <a:r>
                  <a:rPr lang="en-US" b="1" dirty="0"/>
                  <a:t>2. Major Obstacles with Increasing Logic Density</a:t>
                </a:r>
              </a:p>
              <a:p>
                <a:r>
                  <a:rPr lang="en-US" dirty="0"/>
                  <a:t>As logic density and clock speed increase, three major challenges appear:</a:t>
                </a:r>
              </a:p>
              <a:p>
                <a:r>
                  <a:rPr lang="en-US" b="1" dirty="0"/>
                  <a:t>(a) Power Density</a:t>
                </a:r>
              </a:p>
              <a:p>
                <a:r>
                  <a:rPr lang="en-US" dirty="0"/>
                  <a:t>Power density = Power per unit area (Watts/cm²)</a:t>
                </a:r>
              </a:p>
              <a:p>
                <a:r>
                  <a:rPr lang="en-US" dirty="0"/>
                  <a:t>When:</a:t>
                </a:r>
              </a:p>
              <a:p>
                <a:r>
                  <a:rPr lang="en-US" dirty="0"/>
                  <a:t>Transistor count increases</a:t>
                </a:r>
              </a:p>
              <a:p>
                <a:r>
                  <a:rPr lang="en-US" dirty="0"/>
                  <a:t>Clock frequency increases</a:t>
                </a:r>
              </a:p>
              <a:p>
                <a:r>
                  <a:rPr lang="en-US" dirty="0"/>
                  <a:t>Power consumption increases significantly.</a:t>
                </a:r>
              </a:p>
              <a:p>
                <a:r>
                  <a:rPr lang="en-US" dirty="0"/>
                  <a:t>This causes:</a:t>
                </a:r>
              </a:p>
              <a:p>
                <a:r>
                  <a:rPr lang="en-US" dirty="0"/>
                  <a:t>Excessive heat generation</a:t>
                </a:r>
              </a:p>
              <a:p>
                <a:r>
                  <a:rPr lang="en-US" dirty="0"/>
                  <a:t>Thermal management problems</a:t>
                </a:r>
              </a:p>
              <a:p>
                <a:r>
                  <a:rPr lang="en-US" dirty="0"/>
                  <a:t>Reliability degradation</a:t>
                </a:r>
              </a:p>
              <a:p>
                <a:r>
                  <a:rPr lang="en-US" dirty="0"/>
                  <a:t>Possible chip failure</a:t>
                </a:r>
              </a:p>
              <a:p>
                <a:r>
                  <a:rPr lang="en-US" dirty="0"/>
                  <a:t>Heat removal becomes one of the biggest design challenges in modern processors.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(b) Interconnect Delay</a:t>
                </a:r>
              </a:p>
              <a:p>
                <a:r>
                  <a:rPr lang="en-US" dirty="0"/>
                  <a:t>In modern technologies (e.g., 9 nm):</a:t>
                </a:r>
              </a:p>
              <a:p>
                <a:r>
                  <a:rPr lang="en-US" dirty="0"/>
                  <a:t>Transistors are extremely small.</a:t>
                </a:r>
              </a:p>
              <a:p>
                <a:r>
                  <a:rPr lang="en-US" dirty="0"/>
                  <a:t>Wires (interconnects) become thinner and closer together.</a:t>
                </a:r>
              </a:p>
              <a:p>
                <a:r>
                  <a:rPr lang="en-US" dirty="0"/>
                  <a:t>Although transistor switching becomes faster, wire delay does not scale down at the same rate.</a:t>
                </a:r>
              </a:p>
              <a:p>
                <a:r>
                  <a:rPr lang="en-US" dirty="0"/>
                  <a:t>Interconnect delay depends on: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𝐷𝑒𝑙𝑎𝑦∝𝑅×𝐶</a:t>
                </a:r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dirty="0"/>
                  <a:t>R = resistance of wire</a:t>
                </a:r>
              </a:p>
              <a:p>
                <a:r>
                  <a:rPr lang="en-US" dirty="0"/>
                  <a:t>C = capacitance between wires</a:t>
                </a:r>
              </a:p>
              <a:p>
                <a:r>
                  <a:rPr lang="en-US" dirty="0"/>
                  <a:t>As wires become thinner:</a:t>
                </a:r>
              </a:p>
              <a:p>
                <a:r>
                  <a:rPr lang="en-US" dirty="0"/>
                  <a:t>Resistance increases</a:t>
                </a:r>
              </a:p>
              <a:p>
                <a:r>
                  <a:rPr lang="en-US" dirty="0"/>
                  <a:t>Capacitance between nearby wires increases</a:t>
                </a:r>
              </a:p>
              <a:p>
                <a:r>
                  <a:rPr lang="en-US" dirty="0"/>
                  <a:t>Result:</a:t>
                </a:r>
                <a:br>
                  <a:rPr lang="en-US" dirty="0"/>
                </a:br>
                <a:r>
                  <a:rPr lang="en-US" dirty="0"/>
                  <a:t>Interconnect delay may dominate total chip delay.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(c) Crosstalk</a:t>
                </a:r>
              </a:p>
              <a:p>
                <a:r>
                  <a:rPr lang="en-US" dirty="0"/>
                  <a:t>Crosstalk is the unwanted electromagnetic coupling between adjacent signal wires.</a:t>
                </a:r>
              </a:p>
              <a:p>
                <a:r>
                  <a:rPr lang="en-US" dirty="0"/>
                  <a:t>As wires get closer:</a:t>
                </a:r>
              </a:p>
              <a:p>
                <a:r>
                  <a:rPr lang="en-US" dirty="0"/>
                  <a:t>Electric fields overlap</a:t>
                </a:r>
              </a:p>
              <a:p>
                <a:r>
                  <a:rPr lang="en-US" dirty="0"/>
                  <a:t>Signals in one wire induce noise in another</a:t>
                </a:r>
              </a:p>
              <a:p>
                <a:r>
                  <a:rPr lang="en-US" dirty="0"/>
                  <a:t>This causes:</a:t>
                </a:r>
              </a:p>
              <a:p>
                <a:r>
                  <a:rPr lang="en-US" dirty="0"/>
                  <a:t>Signal integrity problems</a:t>
                </a:r>
              </a:p>
              <a:p>
                <a:r>
                  <a:rPr lang="en-US" dirty="0"/>
                  <a:t>Timing errors</a:t>
                </a:r>
              </a:p>
              <a:p>
                <a:r>
                  <a:rPr lang="en-US" dirty="0"/>
                  <a:t>Increased power consumption</a:t>
                </a:r>
              </a:p>
              <a:p>
                <a:r>
                  <a:rPr lang="en-US" dirty="0"/>
                  <a:t>Possible logic malfunction</a:t>
                </a:r>
              </a:p>
              <a:p>
                <a:r>
                  <a:rPr lang="en-US" dirty="0"/>
                  <a:t>Crosstalk becomes more severe in high-frequency and high-density designs.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Why Power Density Is Critical at 9 nm</a:t>
                </a:r>
              </a:p>
              <a:p>
                <a:r>
                  <a:rPr lang="en-US" dirty="0"/>
                  <a:t>At very small technology nodes:</a:t>
                </a:r>
              </a:p>
              <a:p>
                <a:r>
                  <a:rPr lang="en-US" dirty="0"/>
                  <a:t>Billions of transistors are packed in a small area.</a:t>
                </a:r>
              </a:p>
              <a:p>
                <a:r>
                  <a:rPr lang="en-US" dirty="0"/>
                  <a:t>Leakage currents increase.</a:t>
                </a:r>
              </a:p>
              <a:p>
                <a:r>
                  <a:rPr lang="en-US" dirty="0"/>
                  <a:t>Switching frequency increases.</a:t>
                </a:r>
              </a:p>
              <a:p>
                <a:r>
                  <a:rPr lang="en-US" dirty="0"/>
                  <a:t>Power dissipation: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𝑃=𝛼𝐶</a:t>
                </a:r>
                <a:r>
                  <a:rPr lang="ar-EG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𝑉^2 𝑓</a:t>
                </a:r>
                <a:endParaRPr lang="ar-EG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US" dirty="0"/>
                  <a:t>= frequency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US" dirty="0"/>
                  <a:t>= voltage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en-US" dirty="0"/>
                  <a:t>= capacitance</a:t>
                </a:r>
              </a:p>
              <a:p>
                <a:r>
                  <a:rPr lang="en-US" dirty="0"/>
                  <a:t>As frequency increases → power increases.</a:t>
                </a:r>
                <a:br>
                  <a:rPr lang="en-US" dirty="0"/>
                </a:br>
                <a:r>
                  <a:rPr lang="en-US" dirty="0"/>
                  <a:t>As density increases → more total switching activity.</a:t>
                </a:r>
              </a:p>
              <a:p>
                <a:r>
                  <a:rPr lang="en-US" dirty="0"/>
                  <a:t>Result:</a:t>
                </a:r>
                <a:br>
                  <a:rPr lang="en-US" dirty="0"/>
                </a:br>
                <a:r>
                  <a:rPr lang="en-US" dirty="0"/>
                  <a:t>Very high heat concentration in small silicon area.</a:t>
                </a:r>
              </a:p>
              <a:p>
                <a:r>
                  <a:rPr lang="en-US" dirty="0"/>
                  <a:t>Cooling and thermal design become limiting factors in performance scaling.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Impact of Interconnect Delay on Performance</a:t>
                </a:r>
              </a:p>
              <a:p>
                <a:r>
                  <a:rPr lang="en-US" dirty="0"/>
                  <a:t>Even if transistors switch in picoseconds:</a:t>
                </a:r>
              </a:p>
              <a:p>
                <a:r>
                  <a:rPr lang="en-US" dirty="0"/>
                  <a:t>Signals must travel across long on-chip wires.</a:t>
                </a:r>
              </a:p>
              <a:p>
                <a:r>
                  <a:rPr lang="en-US" dirty="0"/>
                  <a:t>Wire delay increases with chip size.</a:t>
                </a:r>
              </a:p>
              <a:p>
                <a:r>
                  <a:rPr lang="en-US" dirty="0"/>
                  <a:t>Eventually:</a:t>
                </a:r>
              </a:p>
              <a:p>
                <a:r>
                  <a:rPr lang="en-US" dirty="0"/>
                  <a:t>Interconnect delay &gt; Gate delay</a:t>
                </a:r>
              </a:p>
              <a:p>
                <a:r>
                  <a:rPr lang="en-US" dirty="0"/>
                  <a:t>This means performance is limited not by transistor speed, but by how fast signals move across the chip.</a:t>
                </a:r>
              </a:p>
              <a:p>
                <a:r>
                  <a:rPr lang="en-US" dirty="0"/>
                  <a:t>Modern solutions include:</a:t>
                </a:r>
              </a:p>
              <a:p>
                <a:r>
                  <a:rPr lang="en-US" dirty="0"/>
                  <a:t>Repeaters (buffers)</a:t>
                </a:r>
              </a:p>
              <a:p>
                <a:r>
                  <a:rPr lang="en-US" dirty="0"/>
                  <a:t>Better materials (copper instead of aluminum)</a:t>
                </a:r>
              </a:p>
              <a:p>
                <a:r>
                  <a:rPr lang="en-US" dirty="0"/>
                  <a:t>3D stacking</a:t>
                </a:r>
              </a:p>
              <a:p>
                <a:r>
                  <a:rPr lang="en-US" dirty="0"/>
                  <a:t>Network-on-chip (NoC)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Crosstalk Explanation</a:t>
                </a:r>
              </a:p>
              <a:p>
                <a:r>
                  <a:rPr lang="en-US" dirty="0"/>
                  <a:t>Crosstalk occurs when:</a:t>
                </a:r>
              </a:p>
              <a:p>
                <a:r>
                  <a:rPr lang="en-US" dirty="0"/>
                  <a:t>A switching signal in one wire induces voltage in an adjacent wire.</a:t>
                </a:r>
              </a:p>
              <a:p>
                <a:r>
                  <a:rPr lang="en-US" dirty="0"/>
                  <a:t>This happens due to:</a:t>
                </a:r>
              </a:p>
              <a:p>
                <a:r>
                  <a:rPr lang="en-US" dirty="0"/>
                  <a:t>Capacitive coupling</a:t>
                </a:r>
              </a:p>
              <a:p>
                <a:r>
                  <a:rPr lang="en-US" dirty="0"/>
                  <a:t>Inductive coupling</a:t>
                </a:r>
              </a:p>
              <a:p>
                <a:r>
                  <a:rPr lang="en-US" dirty="0"/>
                  <a:t>Effects:</a:t>
                </a:r>
              </a:p>
              <a:p>
                <a:r>
                  <a:rPr lang="en-US" dirty="0"/>
                  <a:t>Noise</a:t>
                </a:r>
              </a:p>
              <a:p>
                <a:r>
                  <a:rPr lang="en-US" dirty="0"/>
                  <a:t>Delay variation</a:t>
                </a:r>
              </a:p>
              <a:p>
                <a:r>
                  <a:rPr lang="en-US" dirty="0"/>
                  <a:t>Glitches</a:t>
                </a:r>
              </a:p>
              <a:p>
                <a:r>
                  <a:rPr lang="en-US" dirty="0"/>
                  <a:t>Incorrect logic values</a:t>
                </a:r>
              </a:p>
              <a:p>
                <a:r>
                  <a:rPr lang="en-US" dirty="0"/>
                  <a:t>To reduce crosstalk:</a:t>
                </a:r>
              </a:p>
              <a:p>
                <a:r>
                  <a:rPr lang="en-US" dirty="0"/>
                  <a:t>Increase spacing between wires</a:t>
                </a:r>
              </a:p>
              <a:p>
                <a:r>
                  <a:rPr lang="en-US" dirty="0"/>
                  <a:t>Shield critical wires</a:t>
                </a:r>
              </a:p>
              <a:p>
                <a:r>
                  <a:rPr lang="en-US" dirty="0"/>
                  <a:t>Use lower voltage swings</a:t>
                </a:r>
              </a:p>
              <a:p>
                <a:r>
                  <a:rPr lang="en-US" dirty="0"/>
                  <a:t>Better routing techniques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Summary</a:t>
                </a:r>
              </a:p>
              <a:p>
                <a:r>
                  <a:rPr lang="en-US" dirty="0"/>
                  <a:t>As logic density increases, performance improves due to more transistors and higher clock speeds. However, three major physical limitations arise:</a:t>
                </a:r>
              </a:p>
              <a:p>
                <a:r>
                  <a:rPr lang="en-US" dirty="0"/>
                  <a:t>Power density (thermal problem)</a:t>
                </a:r>
              </a:p>
              <a:p>
                <a:r>
                  <a:rPr lang="en-US" dirty="0"/>
                  <a:t>Interconnect delay (RC delay dominance)</a:t>
                </a:r>
              </a:p>
              <a:p>
                <a:r>
                  <a:rPr lang="en-US" dirty="0"/>
                  <a:t>Crosstalk (signal integrity problem)</a:t>
                </a:r>
              </a:p>
              <a:p>
                <a:r>
                  <a:rPr lang="en-US" dirty="0"/>
                  <a:t>These factors now limit processor scaling more than transistor switching speed.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Question</a:t>
                </a:r>
              </a:p>
              <a:p>
                <a:r>
                  <a:rPr lang="en-US" dirty="0"/>
                  <a:t>The raw speed of a microprocessor cannot reach its full potential unless it is continuously supplied with instructions and data.</a:t>
                </a:r>
              </a:p>
              <a:p>
                <a:r>
                  <a:rPr lang="en-US" dirty="0"/>
                  <a:t>Explain why a constant stream of instructions is necessary for achieving maximum processor speed.</a:t>
                </a:r>
              </a:p>
              <a:p>
                <a:r>
                  <a:rPr lang="en-US" dirty="0"/>
                  <a:t>Discuss the main factors that drive microprocessor speed.</a:t>
                </a:r>
              </a:p>
              <a:p>
                <a:r>
                  <a:rPr lang="en-US" dirty="0"/>
                  <a:t>Explain how chip organization and branch instructions affect performance.</a:t>
                </a:r>
              </a:p>
              <a:p>
                <a:r>
                  <a:rPr lang="en-US" dirty="0"/>
                  <a:t>What is memory latency, and why does it limit processor performance?</a:t>
                </a:r>
              </a:p>
              <a:p>
                <a:r>
                  <a:rPr lang="en-US" dirty="0"/>
                  <a:t>How do I/O data rates influence overall system speed?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Answer</a:t>
                </a:r>
              </a:p>
              <a:p>
                <a:r>
                  <a:rPr lang="en-US" b="1" dirty="0"/>
                  <a:t>1. Importance of a Constant Instruction Stream</a:t>
                </a:r>
              </a:p>
              <a:p>
                <a:r>
                  <a:rPr lang="en-US" dirty="0"/>
                  <a:t>A microprocessor operates at a very high clock speed. However, it can only perform useful work if:</a:t>
                </a:r>
              </a:p>
              <a:p>
                <a:r>
                  <a:rPr lang="en-US" dirty="0"/>
                  <a:t>Instructions are continuously available.</a:t>
                </a:r>
              </a:p>
              <a:p>
                <a:r>
                  <a:rPr lang="en-US" dirty="0"/>
                  <a:t>Data is supplied without delay.</a:t>
                </a:r>
              </a:p>
              <a:p>
                <a:r>
                  <a:rPr lang="en-US" dirty="0"/>
                  <a:t>If the processor must wait for instructions or data:</a:t>
                </a:r>
              </a:p>
              <a:p>
                <a:r>
                  <a:rPr lang="en-US" dirty="0"/>
                  <a:t>Pipeline stalls occur.</a:t>
                </a:r>
              </a:p>
              <a:p>
                <a:r>
                  <a:rPr lang="en-US" dirty="0"/>
                  <a:t>Functional units remain idle.</a:t>
                </a:r>
              </a:p>
              <a:p>
                <a:r>
                  <a:rPr lang="en-US" dirty="0"/>
                  <a:t>Effective performance decreases.</a:t>
                </a:r>
              </a:p>
              <a:p>
                <a:r>
                  <a:rPr lang="en-US" dirty="0"/>
                  <a:t>Therefore, the processor’s real speed depends not only on clock frequency but also on how efficiently it is fed with instructions and data.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Driving Factors Behind Microprocessor Speed</a:t>
                </a:r>
              </a:p>
              <a:p>
                <a:r>
                  <a:rPr lang="en-US" dirty="0"/>
                  <a:t>The main factors that determine processor speed are:</a:t>
                </a:r>
              </a:p>
              <a:p>
                <a:r>
                  <a:rPr lang="en-US" b="1" dirty="0"/>
                  <a:t>(a) Clock Frequency</a:t>
                </a:r>
              </a:p>
              <a:p>
                <a:r>
                  <a:rPr lang="en-US" dirty="0"/>
                  <a:t>Determines how many cycles occur per second.</a:t>
                </a:r>
              </a:p>
              <a:p>
                <a:r>
                  <a:rPr lang="en-US" dirty="0"/>
                  <a:t>Higher frequency → more operations per second.</a:t>
                </a:r>
              </a:p>
              <a:p>
                <a:r>
                  <a:rPr lang="en-US" b="1" dirty="0"/>
                  <a:t>(b) Chip Organization and Architecture</a:t>
                </a:r>
              </a:p>
              <a:p>
                <a:r>
                  <a:rPr lang="en-US" dirty="0"/>
                  <a:t>Pipeline depth</a:t>
                </a:r>
              </a:p>
              <a:p>
                <a:r>
                  <a:rPr lang="en-US" dirty="0"/>
                  <a:t>Superscalar design</a:t>
                </a:r>
              </a:p>
              <a:p>
                <a:r>
                  <a:rPr lang="en-US" dirty="0"/>
                  <a:t>Out-of-order execution</a:t>
                </a:r>
              </a:p>
              <a:p>
                <a:r>
                  <a:rPr lang="en-US" dirty="0"/>
                  <a:t>Cache organization</a:t>
                </a:r>
              </a:p>
              <a:p>
                <a:r>
                  <a:rPr lang="en-US" dirty="0"/>
                  <a:t>Number of cores</a:t>
                </a:r>
              </a:p>
              <a:p>
                <a:r>
                  <a:rPr lang="en-US" dirty="0"/>
                  <a:t>Good architecture increases instruction-level parallelism and throughput.</a:t>
                </a:r>
              </a:p>
              <a:p>
                <a:r>
                  <a:rPr lang="en-US" b="1" dirty="0"/>
                  <a:t>(c) Branch Instructions</a:t>
                </a:r>
              </a:p>
              <a:p>
                <a:r>
                  <a:rPr lang="en-US" dirty="0"/>
                  <a:t>Branches change program flow.</a:t>
                </a:r>
              </a:p>
              <a:p>
                <a:r>
                  <a:rPr lang="en-US" dirty="0"/>
                  <a:t>Incorrect branch prediction causes pipeline flushing.</a:t>
                </a:r>
              </a:p>
              <a:p>
                <a:r>
                  <a:rPr lang="en-US" dirty="0"/>
                  <a:t>This wastes clock cycles and reduces performance.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Effect of Chip Organization and Branch Instructions</a:t>
                </a:r>
              </a:p>
              <a:p>
                <a:r>
                  <a:rPr lang="en-US" b="1" dirty="0"/>
                  <a:t>Chip Organization</a:t>
                </a:r>
              </a:p>
              <a:p>
                <a:r>
                  <a:rPr lang="en-US" dirty="0"/>
                  <a:t>Efficient organization includes:</a:t>
                </a:r>
              </a:p>
              <a:p>
                <a:r>
                  <a:rPr lang="en-US" dirty="0"/>
                  <a:t>Pipelining</a:t>
                </a:r>
              </a:p>
              <a:p>
                <a:r>
                  <a:rPr lang="en-US" dirty="0"/>
                  <a:t>Multiple execution units</a:t>
                </a:r>
              </a:p>
              <a:p>
                <a:r>
                  <a:rPr lang="en-US" dirty="0"/>
                  <a:t>Large and fast caches</a:t>
                </a:r>
              </a:p>
              <a:p>
                <a:r>
                  <a:rPr lang="en-US" dirty="0"/>
                  <a:t>Poor organization leads to:</a:t>
                </a:r>
              </a:p>
              <a:p>
                <a:r>
                  <a:rPr lang="en-US" dirty="0"/>
                  <a:t>Resource conflicts</a:t>
                </a:r>
              </a:p>
              <a:p>
                <a:r>
                  <a:rPr lang="en-US" dirty="0"/>
                  <a:t>Structural hazards</a:t>
                </a:r>
              </a:p>
              <a:p>
                <a:r>
                  <a:rPr lang="en-US" dirty="0"/>
                  <a:t>Increased latency</a:t>
                </a:r>
              </a:p>
              <a:p>
                <a:r>
                  <a:rPr lang="en-US" b="1" dirty="0"/>
                  <a:t>Branch Instructions</a:t>
                </a:r>
              </a:p>
              <a:p>
                <a:r>
                  <a:rPr lang="en-US" dirty="0"/>
                  <a:t>Branches introduce </a:t>
                </a:r>
                <a:r>
                  <a:rPr lang="en-US" b="1" dirty="0"/>
                  <a:t>control hazards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When a branch is encountered:</a:t>
                </a:r>
              </a:p>
              <a:p>
                <a:r>
                  <a:rPr lang="en-US" dirty="0"/>
                  <a:t>The processor may not know the next instruction.</a:t>
                </a:r>
              </a:p>
              <a:p>
                <a:r>
                  <a:rPr lang="en-US" dirty="0"/>
                  <a:t>It must predict the branch direction.</a:t>
                </a:r>
              </a:p>
              <a:p>
                <a:r>
                  <a:rPr lang="en-US" dirty="0"/>
                  <a:t>If prediction is wrong:</a:t>
                </a:r>
              </a:p>
              <a:p>
                <a:r>
                  <a:rPr lang="en-US" dirty="0"/>
                  <a:t>Pipeline is flushed.</a:t>
                </a:r>
              </a:p>
              <a:p>
                <a:r>
                  <a:rPr lang="en-US" dirty="0"/>
                  <a:t>Several cycles are lost.</a:t>
                </a:r>
              </a:p>
              <a:p>
                <a:r>
                  <a:rPr lang="en-US" dirty="0"/>
                  <a:t>Frequent branches significantly reduce performance.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Memory Latency</a:t>
                </a:r>
              </a:p>
              <a:p>
                <a:r>
                  <a:rPr lang="en-US" dirty="0"/>
                  <a:t>Memory latency is the time required to:</a:t>
                </a:r>
              </a:p>
              <a:p>
                <a:r>
                  <a:rPr lang="en-US" dirty="0"/>
                  <a:t>Access data from memory.</a:t>
                </a:r>
              </a:p>
              <a:p>
                <a:r>
                  <a:rPr lang="en-US" dirty="0"/>
                  <a:t>Deliver it to the processor.</a:t>
                </a:r>
              </a:p>
              <a:p>
                <a:r>
                  <a:rPr lang="en-US" dirty="0"/>
                  <a:t>Problem:</a:t>
                </a:r>
              </a:p>
              <a:p>
                <a:r>
                  <a:rPr lang="en-US" dirty="0"/>
                  <a:t>Processor speeds increase faster than memory speeds.</a:t>
                </a:r>
              </a:p>
              <a:p>
                <a:r>
                  <a:rPr lang="en-US" dirty="0"/>
                  <a:t>This creates a performance gap called the </a:t>
                </a:r>
                <a:r>
                  <a:rPr lang="en-US" b="1" dirty="0"/>
                  <a:t>memory wall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Because of this:</a:t>
                </a:r>
              </a:p>
              <a:p>
                <a:r>
                  <a:rPr lang="en-US" dirty="0"/>
                  <a:t>The processor often waits for memory.</a:t>
                </a:r>
              </a:p>
              <a:p>
                <a:r>
                  <a:rPr lang="en-US" dirty="0"/>
                  <a:t>Performance is limited by memory access time.</a:t>
                </a:r>
              </a:p>
              <a:p>
                <a:r>
                  <a:rPr lang="en-US" dirty="0"/>
                  <a:t>Solution:</a:t>
                </a:r>
              </a:p>
              <a:p>
                <a:r>
                  <a:rPr lang="en-US" dirty="0"/>
                  <a:t>Memory hierarchy (Registers → L1 → L2 → L3 → RAM)</a:t>
                </a:r>
              </a:p>
              <a:p>
                <a:r>
                  <a:rPr lang="en-US" dirty="0"/>
                  <a:t>Caching</a:t>
                </a:r>
              </a:p>
              <a:p>
                <a:r>
                  <a:rPr lang="en-US" dirty="0"/>
                  <a:t>Prefetching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I/O Data Rates and System Speed</a:t>
                </a:r>
              </a:p>
              <a:p>
                <a:r>
                  <a:rPr lang="en-US" dirty="0"/>
                  <a:t>I/O devices (disk, network, peripherals):</a:t>
                </a:r>
              </a:p>
              <a:p>
                <a:r>
                  <a:rPr lang="en-US" dirty="0"/>
                  <a:t>Operate much slower than CPU.</a:t>
                </a:r>
              </a:p>
              <a:p>
                <a:r>
                  <a:rPr lang="en-US" dirty="0"/>
                  <a:t>Can become system bottlenecks.</a:t>
                </a:r>
              </a:p>
              <a:p>
                <a:r>
                  <a:rPr lang="en-US" dirty="0"/>
                  <a:t>If data transfer rates are slow:</a:t>
                </a:r>
              </a:p>
              <a:p>
                <a:r>
                  <a:rPr lang="en-US" dirty="0"/>
                  <a:t>The processor waits for input/output operations.</a:t>
                </a:r>
              </a:p>
              <a:p>
                <a:r>
                  <a:rPr lang="en-US" dirty="0"/>
                  <a:t>Overall system performance decreases.</a:t>
                </a:r>
              </a:p>
              <a:p>
                <a:r>
                  <a:rPr lang="en-US" dirty="0"/>
                  <a:t>Modern systems use:</a:t>
                </a:r>
              </a:p>
              <a:p>
                <a:r>
                  <a:rPr lang="en-US" dirty="0"/>
                  <a:t>DMA (Direct Memory Access)</a:t>
                </a:r>
              </a:p>
              <a:p>
                <a:r>
                  <a:rPr lang="en-US" dirty="0"/>
                  <a:t>High-speed buses (PCIe)</a:t>
                </a:r>
              </a:p>
              <a:p>
                <a:r>
                  <a:rPr lang="en-US" dirty="0"/>
                  <a:t>Buffering techniques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Conclusion</a:t>
                </a:r>
              </a:p>
              <a:p>
                <a:r>
                  <a:rPr lang="en-US" dirty="0"/>
                  <a:t>Microprocessor speed is not determined by clock frequency alone.</a:t>
                </a:r>
              </a:p>
              <a:p>
                <a:r>
                  <a:rPr lang="en-US" dirty="0"/>
                  <a:t>Performance depends on:</a:t>
                </a:r>
              </a:p>
              <a:p>
                <a:r>
                  <a:rPr lang="en-US" dirty="0"/>
                  <a:t>Efficient chip architecture</a:t>
                </a:r>
              </a:p>
              <a:p>
                <a:r>
                  <a:rPr lang="en-US" dirty="0"/>
                  <a:t>Effective branch handling</a:t>
                </a:r>
              </a:p>
              <a:p>
                <a:r>
                  <a:rPr lang="en-US" dirty="0"/>
                  <a:t>Low memory latency</a:t>
                </a:r>
              </a:p>
              <a:p>
                <a:r>
                  <a:rPr lang="en-US" dirty="0"/>
                  <a:t>High I/O throughput</a:t>
                </a:r>
              </a:p>
              <a:p>
                <a:r>
                  <a:rPr lang="en-US" dirty="0"/>
                  <a:t>Any delay in instruction or data flow prevents the processor from achieving its full potential.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If you want, I can now:</a:t>
                </a:r>
              </a:p>
              <a:p>
                <a:r>
                  <a:rPr lang="en-US" dirty="0"/>
                  <a:t>Convert this into a short 5–6 mark exam answer</a:t>
                </a:r>
              </a:p>
              <a:p>
                <a:r>
                  <a:rPr lang="en-US" dirty="0"/>
                  <a:t>Add diagrams explaining memory hierarchy and branch stalls</a:t>
                </a:r>
              </a:p>
              <a:p>
                <a:r>
                  <a:rPr lang="en-US" dirty="0"/>
                  <a:t>Create comparison tables for revision</a:t>
                </a:r>
              </a:p>
              <a:p>
                <a:r>
                  <a:rPr lang="en-US" dirty="0"/>
                  <a:t>Give numerical examples related to memory latency</a:t>
                </a:r>
              </a:p>
              <a:p>
                <a:r>
                  <a:rPr lang="en-US" dirty="0"/>
                  <a:t>Just tell me what you prefer.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9EB7E3-44E5-4D65-A806-296FFB6291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3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🧠 CPU vs DRAM – Why Speed Mismatch Matters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The interface between the </a:t>
            </a:r>
            <a:r>
              <a:rPr lang="en-US" b="1" dirty="0"/>
              <a:t>CPU (processor)</a:t>
            </a:r>
            <a:r>
              <a:rPr lang="en-US" dirty="0"/>
              <a:t> and </a:t>
            </a:r>
            <a:r>
              <a:rPr lang="en-US" b="1" dirty="0"/>
              <a:t>main memory (DRAM)</a:t>
            </a:r>
            <a:r>
              <a:rPr lang="en-US" dirty="0"/>
              <a:t> is critical because it continuously transfers:</a:t>
            </a:r>
          </a:p>
          <a:p>
            <a:r>
              <a:rPr lang="en-US" dirty="0"/>
              <a:t>📥 Program instructions</a:t>
            </a:r>
          </a:p>
          <a:p>
            <a:r>
              <a:rPr lang="en-US" dirty="0"/>
              <a:t>📤 Data needed for execution</a:t>
            </a:r>
          </a:p>
          <a:p>
            <a:r>
              <a:rPr lang="en-US" dirty="0"/>
              <a:t>If this pathway is slow, the processor must </a:t>
            </a:r>
            <a:r>
              <a:rPr lang="en-US" b="1" dirty="0"/>
              <a:t>wait</a:t>
            </a:r>
            <a:r>
              <a:rPr lang="en-US" dirty="0"/>
              <a:t>, creating what is called a </a:t>
            </a:r>
            <a:r>
              <a:rPr lang="en-US" b="1" dirty="0"/>
              <a:t>wait state</a:t>
            </a:r>
            <a:r>
              <a:rPr lang="en-US" dirty="0"/>
              <a:t> — meaning the CPU is idle instead of doing useful work.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🔍 What is the CPU?</a:t>
            </a:r>
          </a:p>
          <a:p>
            <a:r>
              <a:rPr lang="en-US" dirty="0"/>
              <a:t>The </a:t>
            </a:r>
            <a:r>
              <a:rPr lang="en-US" b="1" dirty="0"/>
              <a:t>CPU (Central Processing Unit)</a:t>
            </a:r>
            <a:r>
              <a:rPr lang="en-US" dirty="0"/>
              <a:t>:</a:t>
            </a:r>
          </a:p>
          <a:p>
            <a:r>
              <a:rPr lang="en-US" dirty="0"/>
              <a:t>Executes instructions</a:t>
            </a:r>
          </a:p>
          <a:p>
            <a:r>
              <a:rPr lang="en-US" dirty="0"/>
              <a:t>Performs calculations</a:t>
            </a:r>
          </a:p>
          <a:p>
            <a:r>
              <a:rPr lang="en-US" dirty="0"/>
              <a:t>Controls system operations</a:t>
            </a:r>
          </a:p>
          <a:p>
            <a:r>
              <a:rPr lang="en-US" dirty="0"/>
              <a:t>Works at very high speed (GHz range)</a:t>
            </a:r>
          </a:p>
          <a:p>
            <a:r>
              <a:rPr lang="en-US" dirty="0"/>
              <a:t>Modern CPUs can process </a:t>
            </a:r>
            <a:r>
              <a:rPr lang="en-US" b="1" dirty="0"/>
              <a:t>billions of instructions per second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🔍 What is DRAM?</a:t>
            </a:r>
          </a:p>
          <a:p>
            <a:r>
              <a:rPr lang="en-US" b="1" dirty="0"/>
              <a:t>DRAM (Dynamic Random Access Memory)</a:t>
            </a:r>
            <a:r>
              <a:rPr lang="en-US" dirty="0"/>
              <a:t>:</a:t>
            </a:r>
          </a:p>
          <a:p>
            <a:r>
              <a:rPr lang="en-US" dirty="0"/>
              <a:t>Stores program instructions and data temporarily</a:t>
            </a:r>
          </a:p>
          <a:p>
            <a:r>
              <a:rPr lang="en-US" dirty="0"/>
              <a:t>Slower than CPU</a:t>
            </a:r>
          </a:p>
          <a:p>
            <a:r>
              <a:rPr lang="en-US" dirty="0"/>
              <a:t>Access time measured in nanoseconds</a:t>
            </a:r>
          </a:p>
          <a:p>
            <a:r>
              <a:rPr lang="en-US" dirty="0"/>
              <a:t>Needs constant refreshing</a:t>
            </a:r>
          </a:p>
          <a:p>
            <a:r>
              <a:rPr lang="en-US" dirty="0"/>
              <a:t>Even though DRAM is fast, it is </a:t>
            </a:r>
            <a:r>
              <a:rPr lang="en-US" b="1" dirty="0"/>
              <a:t>much slower than the CPU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⚡ The Problem: Speed Gap</a:t>
            </a:r>
          </a:p>
          <a:p>
            <a:r>
              <a:rPr lang="en-US" dirty="0" err="1"/>
              <a:t>ComponentSpeedCPUExtremely</a:t>
            </a:r>
            <a:r>
              <a:rPr lang="en-US" dirty="0"/>
              <a:t> fast (GHz)</a:t>
            </a:r>
            <a:r>
              <a:rPr lang="en-US" dirty="0" err="1"/>
              <a:t>DRAMMuch</a:t>
            </a:r>
            <a:r>
              <a:rPr lang="en-US" dirty="0"/>
              <a:t> slower than CPU</a:t>
            </a:r>
          </a:p>
          <a:p>
            <a:r>
              <a:rPr lang="en-US" dirty="0"/>
              <a:t>This difference is called the </a:t>
            </a:r>
            <a:r>
              <a:rPr lang="en-US" b="1" dirty="0"/>
              <a:t>Memory Bottleneck</a:t>
            </a:r>
            <a:r>
              <a:rPr lang="en-US" dirty="0"/>
              <a:t>.</a:t>
            </a:r>
          </a:p>
          <a:p>
            <a:r>
              <a:rPr lang="en-US" dirty="0"/>
              <a:t>When:</a:t>
            </a:r>
          </a:p>
          <a:p>
            <a:r>
              <a:rPr lang="en-US" dirty="0"/>
              <a:t>The CPU requests data</a:t>
            </a:r>
          </a:p>
          <a:p>
            <a:r>
              <a:rPr lang="en-US" dirty="0"/>
              <a:t>DRAM cannot deliver it quickly enough</a:t>
            </a:r>
          </a:p>
          <a:p>
            <a:r>
              <a:rPr lang="en-US" dirty="0"/>
              <a:t>➡ The CPU enters a </a:t>
            </a:r>
            <a:r>
              <a:rPr lang="en-US" b="1" dirty="0"/>
              <a:t>wait state</a:t>
            </a:r>
            <a:br>
              <a:rPr lang="en-US" dirty="0"/>
            </a:br>
            <a:r>
              <a:rPr lang="en-US" dirty="0"/>
              <a:t>➡ Processing stops temporarily</a:t>
            </a:r>
            <a:br>
              <a:rPr lang="en-US" dirty="0"/>
            </a:br>
            <a:r>
              <a:rPr lang="en-US" dirty="0"/>
              <a:t>➡ Performance decreases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🛠 How Computers Solve This Problem</a:t>
            </a:r>
          </a:p>
          <a:p>
            <a:r>
              <a:rPr lang="en-US" dirty="0"/>
              <a:t>To reduce CPU waiting:</a:t>
            </a:r>
          </a:p>
          <a:p>
            <a:r>
              <a:rPr lang="en-US" b="1" dirty="0"/>
              <a:t>1️⃣ Cache Memory</a:t>
            </a:r>
          </a:p>
          <a:p>
            <a:r>
              <a:rPr lang="en-US" dirty="0"/>
              <a:t>Small, very fast memory placed between CPU and DRAM.</a:t>
            </a:r>
          </a:p>
          <a:p>
            <a:r>
              <a:rPr lang="en-US" dirty="0"/>
              <a:t>Levels:</a:t>
            </a:r>
          </a:p>
          <a:p>
            <a:r>
              <a:rPr lang="en-US" dirty="0"/>
              <a:t>L1 (fastest, smallest)</a:t>
            </a:r>
          </a:p>
          <a:p>
            <a:r>
              <a:rPr lang="en-US" dirty="0"/>
              <a:t>L2</a:t>
            </a:r>
          </a:p>
          <a:p>
            <a:r>
              <a:rPr lang="en-US" dirty="0"/>
              <a:t>L3</a:t>
            </a:r>
          </a:p>
          <a:p>
            <a:r>
              <a:rPr lang="en-US" dirty="0"/>
              <a:t>Cache stores frequently used data so the CPU doesn't always access DRAM.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2️⃣ Faster Memory Buses</a:t>
            </a:r>
          </a:p>
          <a:p>
            <a:r>
              <a:rPr lang="en-US" dirty="0"/>
              <a:t>The pathway (bus) between CPU and memory is designed to:</a:t>
            </a:r>
          </a:p>
          <a:p>
            <a:r>
              <a:rPr lang="en-US" dirty="0"/>
              <a:t>Increase bandwidth</a:t>
            </a:r>
          </a:p>
          <a:p>
            <a:r>
              <a:rPr lang="en-US" dirty="0"/>
              <a:t>Reduce latency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3️⃣ Advanced Memory Technologies</a:t>
            </a:r>
          </a:p>
          <a:p>
            <a:r>
              <a:rPr lang="en-US" dirty="0"/>
              <a:t>Modern systems use:</a:t>
            </a:r>
          </a:p>
          <a:p>
            <a:r>
              <a:rPr lang="en-US" dirty="0"/>
              <a:t>DDR4 / DDR5</a:t>
            </a:r>
          </a:p>
          <a:p>
            <a:r>
              <a:rPr lang="en-US" dirty="0"/>
              <a:t>Dual-channel memory</a:t>
            </a:r>
          </a:p>
          <a:p>
            <a:r>
              <a:rPr lang="en-US" dirty="0"/>
              <a:t>Higher clock speeds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📌 Summary</a:t>
            </a:r>
          </a:p>
          <a:p>
            <a:r>
              <a:rPr lang="en-US" dirty="0"/>
              <a:t>The CPU is much faster than DRAM.</a:t>
            </a:r>
          </a:p>
          <a:p>
            <a:r>
              <a:rPr lang="en-US" dirty="0"/>
              <a:t>If DRAM or the memory pathway is too slow, the CPU stalls.</a:t>
            </a:r>
          </a:p>
          <a:p>
            <a:r>
              <a:rPr lang="en-US" dirty="0"/>
              <a:t>This stall is called a </a:t>
            </a:r>
            <a:r>
              <a:rPr lang="en-US" b="1" dirty="0"/>
              <a:t>wait state</a:t>
            </a:r>
            <a:r>
              <a:rPr lang="en-US" dirty="0"/>
              <a:t>.</a:t>
            </a:r>
          </a:p>
          <a:p>
            <a:r>
              <a:rPr lang="en-US" dirty="0"/>
              <a:t>Cache memory helps reduce this problem.</a:t>
            </a:r>
          </a:p>
          <a:p>
            <a:r>
              <a:rPr lang="en-US" dirty="0"/>
              <a:t>The CPU vs DRAM speed gap is a major system performance challenge.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9EB7E3-44E5-4D65-A806-296FFB6291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8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🔮 1) Branch Prediction</a:t>
            </a:r>
          </a:p>
          <a:p>
            <a:r>
              <a:rPr lang="en-US" dirty="0"/>
              <a:t>Programs often contain decision instructions like: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(x &gt; 0)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do A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do B</a:t>
            </a:r>
          </a:p>
          <a:p>
            <a:r>
              <a:rPr lang="en-US" dirty="0"/>
              <a:t>The processor does not want to wait to know which path will be taken.</a:t>
            </a:r>
          </a:p>
          <a:p>
            <a:r>
              <a:rPr lang="en-US" dirty="0"/>
              <a:t>👉 </a:t>
            </a:r>
            <a:r>
              <a:rPr lang="en-US" b="1" dirty="0"/>
              <a:t>Branch prediction guesses the correct path in advance.</a:t>
            </a:r>
            <a:endParaRPr lang="en-US" dirty="0"/>
          </a:p>
          <a:p>
            <a:r>
              <a:rPr lang="en-US" dirty="0"/>
              <a:t>If the guess is correct → no delay.</a:t>
            </a:r>
          </a:p>
          <a:p>
            <a:r>
              <a:rPr lang="en-US" dirty="0"/>
              <a:t>If wrong → processor discards work and corrects it (small penalty).</a:t>
            </a:r>
          </a:p>
          <a:p>
            <a:r>
              <a:rPr lang="en-US" dirty="0"/>
              <a:t>✅ Reduces waiting time</a:t>
            </a:r>
            <a:br>
              <a:rPr lang="en-US" dirty="0"/>
            </a:br>
            <a:r>
              <a:rPr lang="en-US" dirty="0"/>
              <a:t>✅ Keeps pipeline full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🔄 2) Data Flow Analysis</a:t>
            </a:r>
          </a:p>
          <a:p>
            <a:r>
              <a:rPr lang="en-US" dirty="0"/>
              <a:t>The processor analyzes:</a:t>
            </a:r>
          </a:p>
          <a:p>
            <a:r>
              <a:rPr lang="en-US" dirty="0"/>
              <a:t>Which instructions depend on previous results</a:t>
            </a:r>
          </a:p>
          <a:p>
            <a:r>
              <a:rPr lang="en-US" dirty="0"/>
              <a:t>Which instructions are independent</a:t>
            </a:r>
          </a:p>
          <a:p>
            <a:r>
              <a:rPr lang="en-US" dirty="0"/>
              <a:t>👉 Independent instructions can be executed </a:t>
            </a:r>
            <a:r>
              <a:rPr lang="en-US" b="1" dirty="0"/>
              <a:t>out of order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B + C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= E + F</a:t>
            </a:r>
          </a:p>
          <a:p>
            <a:r>
              <a:rPr lang="en-US" dirty="0"/>
              <a:t>These two can run at the same time because they don’t depend on each other.</a:t>
            </a:r>
          </a:p>
          <a:p>
            <a:r>
              <a:rPr lang="en-US" dirty="0"/>
              <a:t>✅ Improves parallel execution</a:t>
            </a:r>
            <a:br>
              <a:rPr lang="en-US" dirty="0"/>
            </a:br>
            <a:r>
              <a:rPr lang="en-US" dirty="0"/>
              <a:t>✅ Increases CPU efficiency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🚀 3) Speculative Execution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The processor executes instructions </a:t>
            </a:r>
            <a:r>
              <a:rPr lang="en-US" b="1" dirty="0"/>
              <a:t>before it is 100% sure they are needed</a:t>
            </a:r>
            <a:r>
              <a:rPr lang="en-US" dirty="0"/>
              <a:t>.</a:t>
            </a:r>
          </a:p>
          <a:p>
            <a:r>
              <a:rPr lang="en-US" dirty="0"/>
              <a:t>It “speculates” based on branch prediction.</a:t>
            </a:r>
          </a:p>
          <a:p>
            <a:r>
              <a:rPr lang="en-US" dirty="0"/>
              <a:t>If prediction is correct → results are kept.</a:t>
            </a:r>
          </a:p>
          <a:p>
            <a:r>
              <a:rPr lang="en-US" dirty="0"/>
              <a:t>If wrong → results are discarded.</a:t>
            </a:r>
          </a:p>
          <a:p>
            <a:r>
              <a:rPr lang="en-US" dirty="0"/>
              <a:t>✅ Saves time</a:t>
            </a:r>
            <a:br>
              <a:rPr lang="en-US" dirty="0"/>
            </a:br>
            <a:r>
              <a:rPr lang="en-US" dirty="0"/>
              <a:t>⚠️ Uses extra power</a:t>
            </a:r>
            <a:br>
              <a:rPr lang="en-US" dirty="0"/>
            </a:br>
            <a:r>
              <a:rPr lang="en-US" dirty="0"/>
              <a:t>⚠️ Can cause security risks (e.g., </a:t>
            </a:r>
            <a:r>
              <a:rPr lang="en-US" dirty="0" err="1"/>
              <a:t>Spectre</a:t>
            </a:r>
            <a:r>
              <a:rPr lang="en-US" dirty="0"/>
              <a:t>-type attacks)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⚡ 4) Superscalar Execution</a:t>
            </a:r>
          </a:p>
          <a:p>
            <a:r>
              <a:rPr lang="en-US" dirty="0"/>
              <a:t>A superscalar processor has:</a:t>
            </a:r>
          </a:p>
          <a:p>
            <a:r>
              <a:rPr lang="en-US" dirty="0"/>
              <a:t>Multiple ALUs (Arithmetic Logic Units)</a:t>
            </a:r>
          </a:p>
          <a:p>
            <a:r>
              <a:rPr lang="en-US" dirty="0"/>
              <a:t>Multiple execution units</a:t>
            </a:r>
          </a:p>
          <a:p>
            <a:r>
              <a:rPr lang="en-US" dirty="0"/>
              <a:t>👉 It can execute </a:t>
            </a:r>
            <a:r>
              <a:rPr lang="en-US" b="1" dirty="0"/>
              <a:t>more than one instruction per clock cycle</a:t>
            </a:r>
            <a:r>
              <a:rPr lang="en-US" dirty="0"/>
              <a:t>.</a:t>
            </a:r>
          </a:p>
          <a:p>
            <a:r>
              <a:rPr lang="en-US" dirty="0"/>
              <a:t>Instead of:</a:t>
            </a:r>
          </a:p>
          <a:p>
            <a:r>
              <a:rPr lang="en-US" dirty="0"/>
              <a:t>1 instruction per cycle</a:t>
            </a:r>
          </a:p>
          <a:p>
            <a:r>
              <a:rPr lang="en-US" dirty="0"/>
              <a:t>It can do:</a:t>
            </a:r>
          </a:p>
          <a:p>
            <a:r>
              <a:rPr lang="en-US" dirty="0"/>
              <a:t>2, 4, or more per cycle</a:t>
            </a:r>
          </a:p>
          <a:p>
            <a:r>
              <a:rPr lang="en-US" dirty="0"/>
              <a:t>✅ Increases throughput dramatically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🔁 5) Pipelining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Pipelining divides instruction execution into stages:</a:t>
            </a:r>
          </a:p>
          <a:p>
            <a:r>
              <a:rPr lang="en-US" dirty="0"/>
              <a:t>Fetch</a:t>
            </a:r>
          </a:p>
          <a:p>
            <a:r>
              <a:rPr lang="en-US" dirty="0"/>
              <a:t>Decode</a:t>
            </a:r>
          </a:p>
          <a:p>
            <a:r>
              <a:rPr lang="en-US" dirty="0"/>
              <a:t>Execute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Write-back</a:t>
            </a:r>
          </a:p>
          <a:p>
            <a:r>
              <a:rPr lang="en-US" dirty="0"/>
              <a:t>Like an assembly line in a factory.</a:t>
            </a:r>
          </a:p>
          <a:p>
            <a:r>
              <a:rPr lang="en-US" dirty="0"/>
              <a:t>While one instruction is executing,</a:t>
            </a:r>
            <a:br>
              <a:rPr lang="en-US" dirty="0"/>
            </a:br>
            <a:r>
              <a:rPr lang="en-US" dirty="0"/>
              <a:t>another is decoding,</a:t>
            </a:r>
            <a:br>
              <a:rPr lang="en-US" dirty="0"/>
            </a:br>
            <a:r>
              <a:rPr lang="en-US" dirty="0"/>
              <a:t>another is being fetched.</a:t>
            </a:r>
          </a:p>
          <a:p>
            <a:r>
              <a:rPr lang="en-US" dirty="0"/>
              <a:t>✅ Multiple instructions processed simultaneously</a:t>
            </a:r>
            <a:br>
              <a:rPr lang="en-US" dirty="0"/>
            </a:br>
            <a:r>
              <a:rPr lang="en-US" dirty="0"/>
              <a:t>✅ Greatly improves performance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📌 Why All These Techniques Exist</a:t>
            </a:r>
          </a:p>
          <a:p>
            <a:r>
              <a:rPr lang="en-US" dirty="0"/>
              <a:t>Because:</a:t>
            </a:r>
          </a:p>
          <a:p>
            <a:r>
              <a:rPr lang="en-US" dirty="0"/>
              <a:t>CPUs are extremely fast</a:t>
            </a:r>
          </a:p>
          <a:p>
            <a:r>
              <a:rPr lang="en-US" dirty="0"/>
              <a:t>Memory is slower</a:t>
            </a:r>
          </a:p>
          <a:p>
            <a:r>
              <a:rPr lang="en-US" dirty="0"/>
              <a:t>Waiting wastes processing power</a:t>
            </a:r>
          </a:p>
          <a:p>
            <a:r>
              <a:rPr lang="en-US" dirty="0"/>
              <a:t>So modern processors use:</a:t>
            </a:r>
          </a:p>
          <a:p>
            <a:r>
              <a:rPr lang="en-US" dirty="0"/>
              <a:t>Branch prediction</a:t>
            </a:r>
          </a:p>
          <a:p>
            <a:r>
              <a:rPr lang="en-US" dirty="0"/>
              <a:t>Data flow analysis</a:t>
            </a:r>
          </a:p>
          <a:p>
            <a:r>
              <a:rPr lang="en-US" dirty="0"/>
              <a:t>Speculative execution</a:t>
            </a:r>
          </a:p>
          <a:p>
            <a:r>
              <a:rPr lang="en-US" dirty="0"/>
              <a:t>Superscalar execution</a:t>
            </a:r>
          </a:p>
          <a:p>
            <a:r>
              <a:rPr lang="en-US" dirty="0"/>
              <a:t>Pipelining</a:t>
            </a:r>
          </a:p>
          <a:p>
            <a:r>
              <a:rPr lang="en-US" dirty="0"/>
              <a:t>👉 All to </a:t>
            </a:r>
            <a:r>
              <a:rPr lang="en-US" b="1" dirty="0"/>
              <a:t>keep the CPU busy and avoid stalls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you want, I can also give you:</a:t>
            </a:r>
          </a:p>
          <a:p>
            <a:r>
              <a:rPr lang="en-US" dirty="0"/>
              <a:t>✍️ A short exam-ready summary paragraph</a:t>
            </a:r>
          </a:p>
          <a:p>
            <a:r>
              <a:rPr lang="en-US" dirty="0"/>
              <a:t>📊 A comparison table</a:t>
            </a:r>
          </a:p>
          <a:p>
            <a:r>
              <a:rPr lang="en-US" dirty="0"/>
              <a:t>🧠 A simplified explanation for beginners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9EB7E3-44E5-4D65-A806-296FFB6291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00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🚀 Two Main Strategies to Increase CPU Performance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🧠 1️⃣ Increase Cache Capacity</a:t>
            </a:r>
          </a:p>
          <a:p>
            <a:r>
              <a:rPr lang="en-US" b="1" dirty="0"/>
              <a:t>🔹 What Happened?</a:t>
            </a:r>
          </a:p>
          <a:p>
            <a:r>
              <a:rPr lang="en-US" dirty="0"/>
              <a:t>As chip technology improved (higher transistor density):</a:t>
            </a:r>
          </a:p>
          <a:p>
            <a:r>
              <a:rPr lang="en-US" dirty="0"/>
              <a:t>More </a:t>
            </a:r>
            <a:r>
              <a:rPr lang="en-US" b="1" dirty="0"/>
              <a:t>cache memory</a:t>
            </a:r>
            <a:r>
              <a:rPr lang="en-US" dirty="0"/>
              <a:t> was added.</a:t>
            </a:r>
          </a:p>
          <a:p>
            <a:r>
              <a:rPr lang="en-US" dirty="0"/>
              <a:t>Cache was placed </a:t>
            </a:r>
            <a:r>
              <a:rPr lang="en-US" b="1" dirty="0"/>
              <a:t>inside the processor chip</a:t>
            </a:r>
            <a:r>
              <a:rPr lang="en-US" dirty="0"/>
              <a:t>.</a:t>
            </a:r>
          </a:p>
          <a:p>
            <a:r>
              <a:rPr lang="en-US" dirty="0"/>
              <a:t>Systems now typically use:</a:t>
            </a:r>
          </a:p>
          <a:p>
            <a:pPr lvl="1"/>
            <a:r>
              <a:rPr lang="en-US" b="1" dirty="0"/>
              <a:t>L1 Cache</a:t>
            </a:r>
            <a:endParaRPr lang="en-US" dirty="0"/>
          </a:p>
          <a:p>
            <a:pPr lvl="1"/>
            <a:r>
              <a:rPr lang="en-US" b="1" dirty="0"/>
              <a:t>L2 Cache</a:t>
            </a:r>
            <a:endParaRPr lang="en-US" dirty="0"/>
          </a:p>
          <a:p>
            <a:pPr lvl="1"/>
            <a:r>
              <a:rPr lang="en-US" b="1" dirty="0"/>
              <a:t>L3 Cache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Why Is This Important?</a:t>
            </a:r>
          </a:p>
          <a:p>
            <a:r>
              <a:rPr lang="en-US" dirty="0"/>
              <a:t>Cache is:</a:t>
            </a:r>
          </a:p>
          <a:p>
            <a:r>
              <a:rPr lang="en-US" dirty="0"/>
              <a:t>Much faster than DRAM</a:t>
            </a:r>
          </a:p>
          <a:p>
            <a:r>
              <a:rPr lang="en-US" dirty="0"/>
              <a:t>Closer to the CPU</a:t>
            </a:r>
          </a:p>
          <a:p>
            <a:r>
              <a:rPr lang="en-US" dirty="0"/>
              <a:t>Reduces wait states</a:t>
            </a:r>
          </a:p>
          <a:p>
            <a:r>
              <a:rPr lang="en-US" dirty="0"/>
              <a:t>More cache → fewer memory accesses → less stalling → higher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Example from the Text</a:t>
            </a:r>
          </a:p>
          <a:p>
            <a:r>
              <a:rPr lang="en-US" dirty="0"/>
              <a:t>Original </a:t>
            </a:r>
            <a:r>
              <a:rPr lang="en-US" b="1" dirty="0"/>
              <a:t>Pentium</a:t>
            </a:r>
            <a:r>
              <a:rPr lang="en-US" dirty="0"/>
              <a:t>: ~10% of chip area = cache</a:t>
            </a:r>
          </a:p>
          <a:p>
            <a:r>
              <a:rPr lang="en-US" b="1" dirty="0"/>
              <a:t>Pentium 4</a:t>
            </a:r>
            <a:r>
              <a:rPr lang="en-US" dirty="0"/>
              <a:t>: ~50% of chip area = cache</a:t>
            </a:r>
          </a:p>
          <a:p>
            <a:r>
              <a:rPr lang="en-US" dirty="0"/>
              <a:t>This shows how important cache became for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⚙️ 2️⃣ More Complex Instruction Execution Logic</a:t>
            </a:r>
          </a:p>
          <a:p>
            <a:r>
              <a:rPr lang="en-US" dirty="0"/>
              <a:t>The second strategy focuses on making the CPU execute </a:t>
            </a:r>
            <a:r>
              <a:rPr lang="en-US" b="1" dirty="0"/>
              <a:t>multiple instructions at the same time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b="1" dirty="0"/>
              <a:t>Instruction-Level Parallelism (ILP)</a:t>
            </a:r>
            <a:r>
              <a:rPr lang="en-US" dirty="0"/>
              <a:t>.</a:t>
            </a:r>
          </a:p>
          <a:p>
            <a:r>
              <a:rPr lang="en-US" dirty="0"/>
              <a:t>Two major techniques: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🔁 A) Pipelining</a:t>
            </a:r>
          </a:p>
          <a:p>
            <a:r>
              <a:rPr lang="en-US" b="1" dirty="0"/>
              <a:t>🔹 Idea:</a:t>
            </a:r>
          </a:p>
          <a:p>
            <a:r>
              <a:rPr lang="en-US" dirty="0"/>
              <a:t>Divide instruction execution into stages:</a:t>
            </a:r>
          </a:p>
          <a:p>
            <a:r>
              <a:rPr lang="en-US" dirty="0"/>
              <a:t>Fetch</a:t>
            </a:r>
          </a:p>
          <a:p>
            <a:r>
              <a:rPr lang="en-US" dirty="0"/>
              <a:t>Decode</a:t>
            </a:r>
          </a:p>
          <a:p>
            <a:r>
              <a:rPr lang="en-US" dirty="0"/>
              <a:t>Execute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Write Back</a:t>
            </a:r>
          </a:p>
          <a:p>
            <a:r>
              <a:rPr lang="en-US" dirty="0"/>
              <a:t>Instead of finishing one instruction before starting another:</a:t>
            </a:r>
          </a:p>
          <a:p>
            <a:r>
              <a:rPr lang="en-US" dirty="0"/>
              <a:t>👉 Different instructions are processed at different stages simultaneously.</a:t>
            </a:r>
          </a:p>
          <a:p>
            <a:r>
              <a:rPr lang="en-US" dirty="0"/>
              <a:t>Like a factory assembly line.</a:t>
            </a:r>
          </a:p>
          <a:p>
            <a:r>
              <a:rPr lang="en-US" b="1" dirty="0"/>
              <a:t>✅ Result:</a:t>
            </a:r>
          </a:p>
          <a:p>
            <a:r>
              <a:rPr lang="en-US" dirty="0"/>
              <a:t>Higher throughput (more instructions completed per second)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⚡ B) Superscalar Execution</a:t>
            </a:r>
          </a:p>
          <a:p>
            <a:r>
              <a:rPr lang="en-US" b="1" dirty="0"/>
              <a:t>🔹 Idea:</a:t>
            </a:r>
          </a:p>
          <a:p>
            <a:r>
              <a:rPr lang="en-US" dirty="0"/>
              <a:t>Have </a:t>
            </a:r>
            <a:r>
              <a:rPr lang="en-US" b="1" dirty="0"/>
              <a:t>multiple pipelines</a:t>
            </a:r>
            <a:r>
              <a:rPr lang="en-US" dirty="0"/>
              <a:t> inside one processor.</a:t>
            </a:r>
          </a:p>
          <a:p>
            <a:r>
              <a:rPr lang="en-US" dirty="0"/>
              <a:t>If instructions do not depend on each other:</a:t>
            </a:r>
          </a:p>
          <a:p>
            <a:r>
              <a:rPr lang="en-US" dirty="0"/>
              <a:t>👉 They can execute in parallel.</a:t>
            </a:r>
          </a:p>
          <a:p>
            <a:r>
              <a:rPr lang="en-US" dirty="0"/>
              <a:t>Example: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B + C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= E + F</a:t>
            </a:r>
          </a:p>
          <a:p>
            <a:r>
              <a:rPr lang="en-US" dirty="0"/>
              <a:t>These two can run at the same time.</a:t>
            </a:r>
          </a:p>
          <a:p>
            <a:r>
              <a:rPr lang="en-US" b="1" dirty="0"/>
              <a:t>✅ Result:</a:t>
            </a:r>
          </a:p>
          <a:p>
            <a:r>
              <a:rPr lang="en-US" dirty="0"/>
              <a:t>Multiple instructions per clock cycle</a:t>
            </a:r>
            <a:br>
              <a:rPr lang="en-US" dirty="0"/>
            </a:br>
            <a:r>
              <a:rPr lang="en-US" dirty="0"/>
              <a:t>Higher overall performance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📊 Final Summary Table</a:t>
            </a:r>
          </a:p>
          <a:p>
            <a:r>
              <a:rPr lang="en-US" dirty="0" err="1"/>
              <a:t>StrategyMethodGoalIncrease</a:t>
            </a:r>
            <a:r>
              <a:rPr lang="en-US" dirty="0"/>
              <a:t> </a:t>
            </a:r>
            <a:r>
              <a:rPr lang="en-US" dirty="0" err="1"/>
              <a:t>CacheLarger</a:t>
            </a:r>
            <a:r>
              <a:rPr lang="en-US" dirty="0"/>
              <a:t>, multi-level cache (L1, L2, L3)Reduce memory </a:t>
            </a:r>
            <a:r>
              <a:rPr lang="en-US" dirty="0" err="1"/>
              <a:t>delayIncrease</a:t>
            </a:r>
            <a:r>
              <a:rPr lang="en-US" dirty="0"/>
              <a:t> </a:t>
            </a:r>
            <a:r>
              <a:rPr lang="en-US" dirty="0" err="1"/>
              <a:t>ParallelismPipeliningOverlap</a:t>
            </a:r>
            <a:r>
              <a:rPr lang="en-US" dirty="0"/>
              <a:t> instruction </a:t>
            </a:r>
            <a:r>
              <a:rPr lang="en-US" dirty="0" err="1"/>
              <a:t>stagesIncrease</a:t>
            </a:r>
            <a:r>
              <a:rPr lang="en-US" dirty="0"/>
              <a:t> </a:t>
            </a:r>
            <a:r>
              <a:rPr lang="en-US" dirty="0" err="1"/>
              <a:t>ParallelismSuperscalarExecute</a:t>
            </a:r>
            <a:r>
              <a:rPr lang="en-US" dirty="0"/>
              <a:t> multiple instructions at once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🎯 Overall Idea</a:t>
            </a:r>
          </a:p>
          <a:p>
            <a:r>
              <a:rPr lang="en-US" dirty="0"/>
              <a:t>Performance improved by:</a:t>
            </a:r>
          </a:p>
          <a:p>
            <a:r>
              <a:rPr lang="en-US" dirty="0"/>
              <a:t>1️⃣ Reducing memory bottleneck (bigger/faster cache)</a:t>
            </a:r>
            <a:br>
              <a:rPr lang="en-US" dirty="0"/>
            </a:br>
            <a:r>
              <a:rPr lang="en-US" dirty="0"/>
              <a:t>2️⃣ Increasing internal parallel execution (pipeline + superscalar)</a:t>
            </a:r>
          </a:p>
          <a:p>
            <a:r>
              <a:rPr lang="en-US" dirty="0"/>
              <a:t>Modern processors use </a:t>
            </a:r>
            <a:r>
              <a:rPr lang="en-US" b="1" dirty="0"/>
              <a:t>both strategies together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If you'd like, I can also give you:</a:t>
            </a:r>
          </a:p>
          <a:p>
            <a:r>
              <a:rPr lang="en-US" dirty="0"/>
              <a:t>✍️ A short exam-ready paragraph</a:t>
            </a:r>
          </a:p>
          <a:p>
            <a:r>
              <a:rPr lang="en-US" dirty="0"/>
              <a:t>📘 A simplified version for quick revision</a:t>
            </a:r>
          </a:p>
          <a:p>
            <a:r>
              <a:rPr lang="en-US" dirty="0"/>
              <a:t>📈 A comparison between pipelining and superscalar only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9EB7E3-44E5-4D65-A806-296FFB6291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1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86868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6823" y="990600"/>
            <a:ext cx="5862955" cy="3188335"/>
          </a:xfrm>
          <a:custGeom>
            <a:avLst/>
            <a:gdLst/>
            <a:ahLst/>
            <a:cxnLst/>
            <a:rect l="l" t="t" r="r" b="b"/>
            <a:pathLst>
              <a:path w="5862955" h="3188335">
                <a:moveTo>
                  <a:pt x="5862828" y="0"/>
                </a:moveTo>
                <a:lnTo>
                  <a:pt x="0" y="0"/>
                </a:lnTo>
                <a:lnTo>
                  <a:pt x="0" y="3188208"/>
                </a:lnTo>
                <a:lnTo>
                  <a:pt x="5862828" y="3188208"/>
                </a:lnTo>
                <a:lnTo>
                  <a:pt x="58628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2177" y="1538478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>
                <a:moveTo>
                  <a:pt x="0" y="0"/>
                </a:moveTo>
                <a:lnTo>
                  <a:pt x="4660773" y="0"/>
                </a:lnTo>
              </a:path>
            </a:pathLst>
          </a:custGeom>
          <a:ln w="19812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71233" y="8933180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3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495"/>
              </a:spcBef>
            </a:pPr>
            <a:r>
              <a:rPr sz="1600" spc="-20" dirty="0">
                <a:solidFill>
                  <a:srgbClr val="FFFFFF"/>
                </a:solidFill>
                <a:latin typeface="Corbel"/>
                <a:cs typeface="Corbel"/>
              </a:rPr>
              <a:t>Dr.</a:t>
            </a:r>
            <a:r>
              <a:rPr sz="16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600" dirty="0">
                <a:solidFill>
                  <a:srgbClr val="FFFFFF"/>
                </a:solidFill>
                <a:latin typeface="Corbel"/>
                <a:cs typeface="Corbel"/>
              </a:rPr>
              <a:t>Mervat</a:t>
            </a:r>
            <a:r>
              <a:rPr sz="1600" spc="-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orbel"/>
                <a:cs typeface="Corbel"/>
              </a:rPr>
              <a:t>M.</a:t>
            </a:r>
            <a:r>
              <a:rPr sz="16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600" dirty="0">
                <a:solidFill>
                  <a:srgbClr val="FFFFFF"/>
                </a:solidFill>
                <a:latin typeface="Corbel"/>
                <a:cs typeface="Corbel"/>
              </a:rPr>
              <a:t>A.</a:t>
            </a:r>
            <a:r>
              <a:rPr sz="16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orbel"/>
                <a:cs typeface="Corbel"/>
              </a:rPr>
              <a:t>Mahmoud</a:t>
            </a:r>
            <a:endParaRPr sz="1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00">
              <a:latin typeface="Corbel"/>
              <a:cs typeface="Corbel"/>
            </a:endParaRPr>
          </a:p>
          <a:p>
            <a:pPr marL="74295">
              <a:lnSpc>
                <a:spcPct val="1000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Reference:</a:t>
            </a:r>
            <a:endParaRPr sz="1400">
              <a:latin typeface="Times New Roman"/>
              <a:cs typeface="Times New Roman"/>
            </a:endParaRPr>
          </a:p>
          <a:p>
            <a:pPr marL="53213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William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sterling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“computer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organization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architecture”,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</a:t>
            </a:r>
            <a:r>
              <a:rPr sz="1350" baseline="24691" dirty="0">
                <a:latin typeface="Times New Roman"/>
                <a:cs typeface="Times New Roman"/>
              </a:rPr>
              <a:t>th</a:t>
            </a:r>
            <a:r>
              <a:rPr sz="1350" spc="165" baseline="24691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edition.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9600" y="5065776"/>
            <a:ext cx="5486400" cy="502920"/>
          </a:xfrm>
          <a:prstGeom prst="rect">
            <a:avLst/>
          </a:prstGeom>
          <a:solidFill>
            <a:srgbClr val="539E39"/>
          </a:solidFill>
          <a:ln w="9144">
            <a:solidFill>
              <a:srgbClr val="3A7327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685"/>
              </a:spcBef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Computer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Architecture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Module</a:t>
            </a:r>
            <a:r>
              <a:rPr sz="2000" b="1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Content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759561" y="5650484"/>
            <a:ext cx="5344160" cy="24307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69545" indent="-169545">
              <a:lnSpc>
                <a:spcPct val="100000"/>
              </a:lnSpc>
              <a:spcBef>
                <a:spcPts val="195"/>
              </a:spcBef>
              <a:buClr>
                <a:srgbClr val="3E762B"/>
              </a:buClr>
              <a:buFont typeface="Wingdings"/>
              <a:buChar char=""/>
              <a:tabLst>
                <a:tab pos="169545" algn="l"/>
              </a:tabLst>
            </a:pPr>
            <a:r>
              <a:rPr sz="1200" b="1" dirty="0">
                <a:latin typeface="Times New Roman"/>
                <a:cs typeface="Times New Roman"/>
              </a:rPr>
              <a:t>Central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Processing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Unit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 marL="456565" lvl="1" indent="-111125">
              <a:lnSpc>
                <a:spcPct val="100000"/>
              </a:lnSpc>
              <a:spcBef>
                <a:spcPts val="95"/>
              </a:spcBef>
              <a:buClr>
                <a:srgbClr val="3E762B"/>
              </a:buClr>
              <a:buFont typeface="Arial MT"/>
              <a:buChar char="•"/>
              <a:tabLst>
                <a:tab pos="4565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Design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 [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Stack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Interrupt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Processor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Registers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r>
              <a:rPr sz="1200" spc="-1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456565" lvl="1" indent="-111125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6565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5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Set</a:t>
            </a:r>
            <a:r>
              <a:rPr sz="1200" b="1" spc="-7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Architecture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[Instruction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Format</a:t>
            </a:r>
            <a:r>
              <a:rPr sz="1200" b="1" spc="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–</a:t>
            </a:r>
            <a:r>
              <a:rPr sz="1200" b="1" spc="-7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Addressing</a:t>
            </a:r>
            <a:r>
              <a:rPr sz="1200" b="1" spc="-2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modes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539E39"/>
                </a:solidFill>
                <a:latin typeface="Times New Roman"/>
                <a:cs typeface="Times New Roman"/>
              </a:rPr>
              <a:t>–</a:t>
            </a:r>
            <a:endParaRPr sz="12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Data</a:t>
            </a:r>
            <a:r>
              <a:rPr sz="1200" b="1" spc="-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Transfer</a:t>
            </a:r>
            <a:r>
              <a:rPr sz="1200" b="1" spc="-3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and</a:t>
            </a:r>
            <a:r>
              <a:rPr sz="1200" b="1" spc="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Manipulation]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295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Example</a:t>
            </a:r>
            <a:r>
              <a:rPr sz="1200" b="1" spc="-2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architectures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(e.g.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CISC,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RISC)</a:t>
            </a:r>
            <a:endParaRPr sz="1200">
              <a:latin typeface="Times New Roman"/>
              <a:cs typeface="Times New Roman"/>
            </a:endParaRPr>
          </a:p>
          <a:p>
            <a:pPr marL="168275" indent="-168275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"/>
              <a:tabLst>
                <a:tab pos="168275" algn="l"/>
              </a:tabLst>
            </a:pPr>
            <a:r>
              <a:rPr sz="1200" spc="-10" dirty="0">
                <a:latin typeface="Times New Roman"/>
                <a:cs typeface="Times New Roman"/>
              </a:rPr>
              <a:t>Timing,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Processor</a:t>
            </a:r>
            <a:r>
              <a:rPr sz="1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Performance</a:t>
            </a:r>
            <a:endParaRPr sz="1200">
              <a:latin typeface="Times New Roman"/>
              <a:cs typeface="Times New Roman"/>
            </a:endParaRPr>
          </a:p>
          <a:p>
            <a:pPr marL="168275" indent="-168275">
              <a:lnSpc>
                <a:spcPct val="100000"/>
              </a:lnSpc>
              <a:spcBef>
                <a:spcPts val="700"/>
              </a:spcBef>
              <a:buClr>
                <a:srgbClr val="3E762B"/>
              </a:buClr>
              <a:buFont typeface="Wingdings"/>
              <a:buChar char=""/>
              <a:tabLst>
                <a:tab pos="168275" algn="l"/>
              </a:tabLst>
            </a:pP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Hierarchy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105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457200" lvl="1" indent="-109855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Arial MT"/>
              <a:buChar char="•"/>
              <a:tabLst>
                <a:tab pos="457200" algn="l"/>
              </a:tabLst>
            </a:pPr>
            <a:r>
              <a:rPr sz="1200" spc="-10" dirty="0">
                <a:latin typeface="Times New Roman"/>
                <a:cs typeface="Times New Roman"/>
              </a:rPr>
              <a:t>Virtual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8516" y="7986166"/>
            <a:ext cx="5206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Corbel"/>
                <a:cs typeface="Corbel"/>
              </a:rPr>
              <a:t>2</a:t>
            </a:r>
            <a:endParaRPr sz="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Processor</a:t>
            </a:r>
            <a:r>
              <a:rPr sz="3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30"/>
              </a:spcBef>
            </a:pPr>
            <a:endParaRPr sz="3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Reference:</a:t>
            </a:r>
            <a:endParaRPr sz="1400">
              <a:latin typeface="Times New Roman"/>
              <a:cs typeface="Times New Roman"/>
            </a:endParaRPr>
          </a:p>
          <a:p>
            <a:pPr marL="74295">
              <a:lnSpc>
                <a:spcPts val="1515"/>
              </a:lnSpc>
            </a:pP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William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sterling,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“computer</a:t>
            </a:r>
            <a:r>
              <a:rPr sz="1400" spc="-10" dirty="0">
                <a:latin typeface="Times New Roman"/>
                <a:cs typeface="Times New Roman"/>
              </a:rPr>
              <a:t> organization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architecture”,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chapter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R="499109" algn="r">
              <a:lnSpc>
                <a:spcPts val="555"/>
              </a:lnSpc>
            </a:pPr>
            <a:r>
              <a:rPr sz="600" spc="-50" dirty="0">
                <a:solidFill>
                  <a:srgbClr val="FFFFFF"/>
                </a:solidFill>
                <a:latin typeface="Corbel"/>
                <a:cs typeface="Corbel"/>
              </a:rPr>
              <a:t>3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spc="-25" dirty="0">
                <a:latin typeface="Times New Roman"/>
                <a:cs typeface="Times New Roman"/>
              </a:rPr>
              <a:t>Year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year,</a:t>
            </a:r>
            <a:endParaRPr sz="1200">
              <a:latin typeface="Times New Roman"/>
              <a:cs typeface="Times New Roman"/>
            </a:endParaRPr>
          </a:p>
          <a:p>
            <a:pPr marL="664210" lvl="1" indent="-17335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"/>
              <a:tabLst>
                <a:tab pos="664210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cost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continues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drop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dramatically,</a:t>
            </a:r>
            <a:endParaRPr sz="1100">
              <a:latin typeface="Times New Roman"/>
              <a:cs typeface="Times New Roman"/>
            </a:endParaRPr>
          </a:p>
          <a:p>
            <a:pPr marL="663575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66357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 capacity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those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equally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dramatically.</a:t>
            </a:r>
            <a:endParaRPr sz="1100">
              <a:latin typeface="Times New Roman"/>
              <a:cs typeface="Times New Roman"/>
            </a:endParaRPr>
          </a:p>
          <a:p>
            <a:pPr marL="801370" lvl="2" indent="-17335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801370" algn="l"/>
              </a:tabLst>
            </a:pP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amazing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power.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29"/>
              </a:spcBef>
              <a:buClr>
                <a:srgbClr val="3E762B"/>
              </a:buClr>
              <a:buFont typeface="Wingdings"/>
              <a:buChar char=""/>
            </a:pPr>
            <a:endParaRPr sz="11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10" dirty="0">
                <a:latin typeface="Times New Roman"/>
                <a:cs typeface="Times New Roman"/>
              </a:rPr>
              <a:t>Workstation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support</a:t>
            </a:r>
            <a:endParaRPr sz="1200">
              <a:latin typeface="Times New Roman"/>
              <a:cs typeface="Times New Roman"/>
            </a:endParaRPr>
          </a:p>
          <a:p>
            <a:pPr marL="627380" indent="-9080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dirty="0">
                <a:latin typeface="Times New Roman"/>
                <a:cs typeface="Times New Roman"/>
              </a:rPr>
              <a:t>Highly sophisticated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scientific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applications</a:t>
            </a:r>
            <a:endParaRPr sz="1100">
              <a:latin typeface="Times New Roman"/>
              <a:cs typeface="Times New Roman"/>
            </a:endParaRPr>
          </a:p>
          <a:p>
            <a:pPr marL="627380" indent="-9080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dirty="0">
                <a:latin typeface="Times New Roman"/>
                <a:cs typeface="Times New Roman"/>
              </a:rPr>
              <a:t>Simulation</a:t>
            </a:r>
            <a:r>
              <a:rPr sz="1100" spc="-10" dirty="0">
                <a:latin typeface="Times New Roman"/>
                <a:cs typeface="Times New Roman"/>
              </a:rPr>
              <a:t> systems</a:t>
            </a:r>
            <a:endParaRPr sz="1100">
              <a:latin typeface="Times New Roman"/>
              <a:cs typeface="Times New Roman"/>
            </a:endParaRPr>
          </a:p>
          <a:p>
            <a:pPr marL="627380" indent="-9080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dirty="0">
                <a:latin typeface="Times New Roman"/>
                <a:cs typeface="Times New Roman"/>
              </a:rPr>
              <a:t>Image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video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applications</a:t>
            </a:r>
            <a:endParaRPr sz="1100">
              <a:latin typeface="Times New Roman"/>
              <a:cs typeface="Times New Roman"/>
            </a:endParaRPr>
          </a:p>
          <a:p>
            <a:pPr marL="628015" marR="262890" indent="-9144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628015" algn="l"/>
              </a:tabLst>
            </a:pPr>
            <a:r>
              <a:rPr sz="1100" dirty="0">
                <a:latin typeface="Times New Roman"/>
                <a:cs typeface="Times New Roman"/>
              </a:rPr>
              <a:t>Servers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transaction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database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massive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client/server networks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spc="-10" dirty="0">
                <a:latin typeface="Times New Roman"/>
                <a:cs typeface="Times New Roman"/>
              </a:rPr>
              <a:t>However,</a:t>
            </a:r>
            <a:endParaRPr sz="1200">
              <a:latin typeface="Times New Roman"/>
              <a:cs typeface="Times New Roman"/>
            </a:endParaRPr>
          </a:p>
          <a:p>
            <a:pPr marL="663575" marR="58547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"/>
              <a:tabLst>
                <a:tab pos="664845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perspective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basic 	</a:t>
            </a:r>
            <a:r>
              <a:rPr sz="1200" b="1" dirty="0">
                <a:latin typeface="Times New Roman"/>
                <a:cs typeface="Times New Roman"/>
              </a:rPr>
              <a:t>building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blocks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today’s</a:t>
            </a:r>
            <a:r>
              <a:rPr sz="1200" b="1" spc="-10" dirty="0">
                <a:latin typeface="Times New Roman"/>
                <a:cs typeface="Times New Roman"/>
              </a:rPr>
              <a:t> computer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miracles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virtually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as 	</a:t>
            </a:r>
            <a:r>
              <a:rPr sz="1200" b="1" dirty="0">
                <a:latin typeface="Times New Roman"/>
                <a:cs typeface="Times New Roman"/>
              </a:rPr>
              <a:t>those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computers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from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60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years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ago</a:t>
            </a:r>
            <a:endParaRPr sz="1200">
              <a:latin typeface="Times New Roman"/>
              <a:cs typeface="Times New Roman"/>
            </a:endParaRPr>
          </a:p>
          <a:p>
            <a:pPr marL="663575" marR="60960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"/>
              <a:tabLst>
                <a:tab pos="664845" algn="l"/>
              </a:tabLst>
            </a:pP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materials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become 	</a:t>
            </a:r>
            <a:r>
              <a:rPr sz="1200" dirty="0">
                <a:latin typeface="Times New Roman"/>
                <a:cs typeface="Times New Roman"/>
              </a:rPr>
              <a:t>increasingly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sophisticated.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27347" y="7546848"/>
              <a:ext cx="1515110" cy="440690"/>
            </a:xfrm>
            <a:custGeom>
              <a:avLst/>
              <a:gdLst/>
              <a:ahLst/>
              <a:cxnLst/>
              <a:rect l="l" t="t" r="r" b="b"/>
              <a:pathLst>
                <a:path w="1515110" h="440690">
                  <a:moveTo>
                    <a:pt x="0" y="440435"/>
                  </a:moveTo>
                  <a:lnTo>
                    <a:pt x="1514855" y="440435"/>
                  </a:lnTo>
                  <a:lnTo>
                    <a:pt x="1514855" y="0"/>
                  </a:lnTo>
                  <a:lnTo>
                    <a:pt x="0" y="0"/>
                  </a:lnTo>
                  <a:lnTo>
                    <a:pt x="0" y="44043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ts val="2070"/>
              </a:lnSpc>
            </a:pPr>
            <a:r>
              <a:rPr sz="2000" dirty="0">
                <a:latin typeface="Georgia"/>
                <a:cs typeface="Georgia"/>
              </a:rPr>
              <a:t>How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change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performance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at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different</a:t>
            </a:r>
            <a:endParaRPr sz="2000">
              <a:latin typeface="Georgia"/>
              <a:cs typeface="Georgia"/>
            </a:endParaRPr>
          </a:p>
          <a:p>
            <a:pPr marL="165100">
              <a:lnSpc>
                <a:spcPts val="2280"/>
              </a:lnSpc>
              <a:tabLst>
                <a:tab pos="4826000" algn="l"/>
              </a:tabLst>
            </a:pPr>
            <a:r>
              <a:rPr sz="2000" u="heavy" spc="-3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abstraction</a:t>
            </a:r>
            <a:r>
              <a:rPr sz="2000" u="heavy" spc="-7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layers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19" y="5632703"/>
            <a:ext cx="3834383" cy="2260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55816" y="8005699"/>
            <a:ext cx="6540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latin typeface="Corbel"/>
                <a:cs typeface="Corbel"/>
              </a:rPr>
              <a:t>6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4579" y="886967"/>
              <a:ext cx="4091940" cy="338328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60960" marR="4171315">
              <a:lnSpc>
                <a:spcPts val="2160"/>
              </a:lnSpc>
              <a:spcBef>
                <a:spcPts val="1255"/>
              </a:spcBef>
            </a:pPr>
            <a:r>
              <a:rPr sz="2000" spc="-10" dirty="0">
                <a:solidFill>
                  <a:srgbClr val="539E39"/>
                </a:solidFill>
                <a:latin typeface="Corbel"/>
                <a:cs typeface="Corbel"/>
              </a:rPr>
              <a:t>Intel Microprocessor Performance</a:t>
            </a:r>
            <a:endParaRPr sz="2000">
              <a:latin typeface="Corbel"/>
              <a:cs typeface="Corbel"/>
            </a:endParaRPr>
          </a:p>
          <a:p>
            <a:pPr marL="192405" marR="4238625" indent="-117475">
              <a:lnSpc>
                <a:spcPct val="100000"/>
              </a:lnSpc>
              <a:spcBef>
                <a:spcPts val="1555"/>
              </a:spcBef>
              <a:buAutoNum type="arabicPeriod"/>
              <a:tabLst>
                <a:tab pos="192405" algn="l"/>
                <a:tab pos="214629" algn="l"/>
              </a:tabLst>
            </a:pPr>
            <a:r>
              <a:rPr sz="1100" dirty="0">
                <a:latin typeface="Times New Roman"/>
                <a:cs typeface="Times New Roman"/>
              </a:rPr>
              <a:t>	Increase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speed: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on-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logic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density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192405" marR="4162425" indent="-117475">
              <a:lnSpc>
                <a:spcPct val="100000"/>
              </a:lnSpc>
              <a:buAutoNum type="arabicPeriod"/>
              <a:tabLst>
                <a:tab pos="192405" algn="l"/>
                <a:tab pos="214629" algn="l"/>
              </a:tabLst>
            </a:pPr>
            <a:r>
              <a:rPr sz="1100" dirty="0">
                <a:latin typeface="Times New Roman"/>
                <a:cs typeface="Times New Roman"/>
              </a:rPr>
              <a:t>	Improvement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processor architecture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4844796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6350" rIns="0" bIns="0" rtlCol="0">
            <a:spAutoFit/>
          </a:bodyPr>
          <a:lstStyle/>
          <a:p>
            <a:pPr marL="228600">
              <a:lnSpc>
                <a:spcPts val="2310"/>
              </a:lnSpc>
              <a:spcBef>
                <a:spcPts val="50"/>
              </a:spcBef>
            </a:pPr>
            <a:r>
              <a:rPr sz="2000" dirty="0">
                <a:latin typeface="Georgia"/>
                <a:cs typeface="Georgia"/>
              </a:rPr>
              <a:t>Hardware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00893D"/>
                </a:solidFill>
                <a:latin typeface="Georgia"/>
                <a:cs typeface="Georgia"/>
              </a:rPr>
              <a:t>Technology</a:t>
            </a:r>
            <a:r>
              <a:rPr sz="2000" b="1" spc="-75" dirty="0">
                <a:solidFill>
                  <a:srgbClr val="00893D"/>
                </a:solidFill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dominant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factor</a:t>
            </a:r>
            <a:endParaRPr sz="2000">
              <a:latin typeface="Georgia"/>
              <a:cs typeface="Georgia"/>
            </a:endParaRPr>
          </a:p>
          <a:p>
            <a:pPr marL="165100">
              <a:lnSpc>
                <a:spcPts val="1830"/>
              </a:lnSpc>
              <a:tabLst>
                <a:tab pos="4826000" algn="l"/>
              </a:tabLst>
            </a:pPr>
            <a:r>
              <a:rPr sz="1600" u="heavy" spc="6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6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in</a:t>
            </a:r>
            <a:r>
              <a:rPr sz="1600" u="heavy" spc="-3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6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computer</a:t>
            </a:r>
            <a:r>
              <a:rPr sz="1600" u="heavy" spc="-2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6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design:</a:t>
            </a:r>
            <a:r>
              <a:rPr sz="16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1600">
              <a:latin typeface="Georgia"/>
              <a:cs typeface="Georgia"/>
            </a:endParaRPr>
          </a:p>
          <a:p>
            <a:pPr marL="903605" indent="-211454">
              <a:lnSpc>
                <a:spcPct val="100000"/>
              </a:lnSpc>
              <a:spcBef>
                <a:spcPts val="1725"/>
              </a:spcBef>
              <a:buClr>
                <a:srgbClr val="3E762B"/>
              </a:buClr>
              <a:buFont typeface="Wingdings"/>
              <a:buChar char=""/>
              <a:tabLst>
                <a:tab pos="903605" algn="l"/>
              </a:tabLst>
            </a:pPr>
            <a:r>
              <a:rPr sz="1400" spc="-10" dirty="0">
                <a:latin typeface="Times New Roman"/>
                <a:cs typeface="Times New Roman"/>
              </a:rPr>
              <a:t>Transistors</a:t>
            </a:r>
            <a:endParaRPr sz="1400">
              <a:latin typeface="Times New Roman"/>
              <a:cs typeface="Times New Roman"/>
            </a:endParaRPr>
          </a:p>
          <a:p>
            <a:pPr marL="906780" indent="-214629">
              <a:lnSpc>
                <a:spcPct val="100000"/>
              </a:lnSpc>
              <a:spcBef>
                <a:spcPts val="1540"/>
              </a:spcBef>
              <a:buClr>
                <a:srgbClr val="3E762B"/>
              </a:buClr>
              <a:buFont typeface="Wingdings"/>
              <a:buChar char=""/>
              <a:tabLst>
                <a:tab pos="906780" algn="l"/>
              </a:tabLst>
            </a:pPr>
            <a:r>
              <a:rPr sz="1400" dirty="0">
                <a:latin typeface="Times New Roman"/>
                <a:cs typeface="Times New Roman"/>
              </a:rPr>
              <a:t>Memories: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ROMs,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RAMs</a:t>
            </a:r>
            <a:endParaRPr sz="1400">
              <a:latin typeface="Times New Roman"/>
              <a:cs typeface="Times New Roman"/>
            </a:endParaRPr>
          </a:p>
          <a:p>
            <a:pPr marL="906780" indent="-214629">
              <a:lnSpc>
                <a:spcPct val="100000"/>
              </a:lnSpc>
              <a:spcBef>
                <a:spcPts val="1535"/>
              </a:spcBef>
              <a:buClr>
                <a:srgbClr val="3E762B"/>
              </a:buClr>
              <a:buFont typeface="Wingdings"/>
              <a:buChar char=""/>
              <a:tabLst>
                <a:tab pos="906780" algn="l"/>
              </a:tabLst>
            </a:pPr>
            <a:r>
              <a:rPr sz="1400" spc="-10" dirty="0">
                <a:latin typeface="Times New Roman"/>
                <a:cs typeface="Times New Roman"/>
              </a:rPr>
              <a:t>Packaging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5816" y="8005699"/>
            <a:ext cx="6540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latin typeface="Corbel"/>
                <a:cs typeface="Corbel"/>
              </a:rPr>
              <a:t>6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092" y="3203447"/>
            <a:ext cx="3709415" cy="8686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But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Software...</a:t>
            </a:r>
            <a:endParaRPr sz="2200">
              <a:latin typeface="Georgia"/>
              <a:cs typeface="Georgia"/>
            </a:endParaRPr>
          </a:p>
          <a:p>
            <a:pPr marL="490855" marR="591820" indent="-228600">
              <a:lnSpc>
                <a:spcPct val="100000"/>
              </a:lnSpc>
              <a:spcBef>
                <a:spcPts val="1345"/>
              </a:spcBef>
              <a:buClr>
                <a:srgbClr val="3E762B"/>
              </a:buClr>
              <a:buFont typeface="Wingdings"/>
              <a:buChar char=""/>
              <a:tabLst>
                <a:tab pos="490855" algn="l"/>
              </a:tabLst>
            </a:pPr>
            <a:r>
              <a:rPr sz="1400" dirty="0">
                <a:latin typeface="Times New Roman"/>
                <a:cs typeface="Times New Roman"/>
              </a:rPr>
              <a:t>As people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write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programs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computers,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 </a:t>
            </a:r>
            <a:r>
              <a:rPr sz="1400" dirty="0">
                <a:latin typeface="Times New Roman"/>
                <a:cs typeface="Times New Roman"/>
              </a:rPr>
              <a:t>programming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program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behavior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improves.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3E762B"/>
              </a:buClr>
              <a:buFont typeface="Wingdings"/>
              <a:buChar char=""/>
            </a:pPr>
            <a:endParaRPr sz="1400">
              <a:latin typeface="Times New Roman"/>
              <a:cs typeface="Times New Roman"/>
            </a:endParaRPr>
          </a:p>
          <a:p>
            <a:pPr marL="490220" indent="-22796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90220" algn="l"/>
              </a:tabLst>
            </a:pPr>
            <a:r>
              <a:rPr sz="1400" dirty="0">
                <a:latin typeface="Times New Roman"/>
                <a:cs typeface="Times New Roman"/>
              </a:rPr>
              <a:t>Modern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attention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software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compilation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issues.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3E762B"/>
              </a:buClr>
              <a:buFont typeface="Wingdings"/>
              <a:buChar char=""/>
            </a:pPr>
            <a:endParaRPr sz="1400">
              <a:latin typeface="Times New Roman"/>
              <a:cs typeface="Times New Roman"/>
            </a:endParaRPr>
          </a:p>
          <a:p>
            <a:pPr marL="490220" indent="-22796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90220" algn="l"/>
              </a:tabLst>
            </a:pPr>
            <a:r>
              <a:rPr sz="1400" b="1" dirty="0">
                <a:latin typeface="Times New Roman"/>
                <a:cs typeface="Times New Roman"/>
              </a:rPr>
              <a:t>Software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also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can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affect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speed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power.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400">
              <a:latin typeface="Times New Roman"/>
              <a:cs typeface="Times New Roman"/>
            </a:endParaRPr>
          </a:p>
          <a:p>
            <a:pPr marR="143510" algn="r">
              <a:lnSpc>
                <a:spcPct val="100000"/>
              </a:lnSpc>
            </a:pPr>
            <a:r>
              <a:rPr sz="600" spc="-50" dirty="0">
                <a:latin typeface="Corbel"/>
                <a:cs typeface="Corbel"/>
              </a:rPr>
              <a:t>9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Metrics</a:t>
            </a:r>
            <a:endParaRPr sz="2200">
              <a:latin typeface="Georgia"/>
              <a:cs typeface="Georgia"/>
            </a:endParaRPr>
          </a:p>
          <a:p>
            <a:pPr marL="607060" indent="-207645">
              <a:lnSpc>
                <a:spcPct val="100000"/>
              </a:lnSpc>
              <a:spcBef>
                <a:spcPts val="1810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(Frequency)</a:t>
            </a:r>
            <a:endParaRPr sz="1200">
              <a:latin typeface="Times New Roman"/>
              <a:cs typeface="Times New Roman"/>
            </a:endParaRPr>
          </a:p>
          <a:p>
            <a:pPr marL="607060" indent="-207645">
              <a:lnSpc>
                <a:spcPct val="100000"/>
              </a:lnSpc>
              <a:spcBef>
                <a:spcPts val="1320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(Area)</a:t>
            </a:r>
            <a:endParaRPr sz="1200">
              <a:latin typeface="Times New Roman"/>
              <a:cs typeface="Times New Roman"/>
            </a:endParaRPr>
          </a:p>
          <a:p>
            <a:pPr marL="607060" indent="-207645">
              <a:lnSpc>
                <a:spcPct val="100000"/>
              </a:lnSpc>
              <a:spcBef>
                <a:spcPts val="1320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spc="-20" dirty="0">
                <a:latin typeface="Times New Roman"/>
                <a:cs typeface="Times New Roman"/>
              </a:rPr>
              <a:t>Cost</a:t>
            </a:r>
            <a:endParaRPr sz="1200">
              <a:latin typeface="Times New Roman"/>
              <a:cs typeface="Times New Roman"/>
            </a:endParaRPr>
          </a:p>
          <a:p>
            <a:pPr marL="607060" indent="-207645">
              <a:lnSpc>
                <a:spcPct val="100000"/>
              </a:lnSpc>
              <a:spcBef>
                <a:spcPts val="1325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dissipation</a:t>
            </a:r>
            <a:endParaRPr sz="1200">
              <a:latin typeface="Times New Roman"/>
              <a:cs typeface="Times New Roman"/>
            </a:endParaRPr>
          </a:p>
          <a:p>
            <a:pPr marL="607060" indent="-207645">
              <a:lnSpc>
                <a:spcPct val="100000"/>
              </a:lnSpc>
              <a:spcBef>
                <a:spcPts val="1320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dirty="0">
                <a:latin typeface="Times New Roman"/>
                <a:cs typeface="Times New Roman"/>
              </a:rPr>
              <a:t>Energy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dissipation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devices</a:t>
            </a:r>
            <a:endParaRPr sz="1200">
              <a:latin typeface="Times New Roman"/>
              <a:cs typeface="Times New Roman"/>
            </a:endParaRPr>
          </a:p>
          <a:p>
            <a:pPr marL="607060" indent="-207645">
              <a:lnSpc>
                <a:spcPct val="100000"/>
              </a:lnSpc>
              <a:spcBef>
                <a:spcPts val="1315"/>
              </a:spcBef>
              <a:buClr>
                <a:srgbClr val="3E762B"/>
              </a:buClr>
              <a:buFont typeface="Wingdings"/>
              <a:buChar char=""/>
              <a:tabLst>
                <a:tab pos="607060" algn="l"/>
              </a:tabLst>
            </a:pPr>
            <a:r>
              <a:rPr sz="1200" spc="-10" dirty="0">
                <a:latin typeface="Times New Roman"/>
                <a:cs typeface="Times New Roman"/>
              </a:rPr>
              <a:t>Security,</a:t>
            </a:r>
            <a:r>
              <a:rPr sz="1200" dirty="0">
                <a:latin typeface="Times New Roman"/>
                <a:cs typeface="Times New Roman"/>
              </a:rPr>
              <a:t> …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according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Metrics</a:t>
            </a:r>
            <a:endParaRPr sz="2200" dirty="0">
              <a:latin typeface="Georgia"/>
              <a:cs typeface="Georgia"/>
            </a:endParaRPr>
          </a:p>
          <a:p>
            <a:pPr marL="434975" indent="-172720">
              <a:lnSpc>
                <a:spcPct val="100000"/>
              </a:lnSpc>
              <a:spcBef>
                <a:spcPts val="1700"/>
              </a:spcBef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dominant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clock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speed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logic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density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E762B"/>
              </a:buClr>
              <a:buFont typeface="Wingdings"/>
              <a:buChar char=""/>
            </a:pPr>
            <a:endParaRPr sz="1200" dirty="0">
              <a:latin typeface="Times New Roman"/>
              <a:cs typeface="Times New Roman"/>
            </a:endParaRPr>
          </a:p>
          <a:p>
            <a:pPr marL="473075" indent="-210820">
              <a:lnSpc>
                <a:spcPct val="100000"/>
              </a:lnSpc>
              <a:buClr>
                <a:srgbClr val="3E762B"/>
              </a:buClr>
              <a:buSzPct val="85714"/>
              <a:buFont typeface="Wingdings"/>
              <a:buChar char=""/>
              <a:tabLst>
                <a:tab pos="473075" algn="l"/>
              </a:tabLst>
            </a:pPr>
            <a:r>
              <a:rPr sz="1400" b="1" u="sng" dirty="0">
                <a:solidFill>
                  <a:srgbClr val="2A4F1D"/>
                </a:solidFill>
                <a:uFill>
                  <a:solidFill>
                    <a:srgbClr val="2A4F1D"/>
                  </a:solidFill>
                </a:uFill>
                <a:latin typeface="Times New Roman"/>
                <a:cs typeface="Times New Roman"/>
              </a:rPr>
              <a:t>logic</a:t>
            </a:r>
            <a:r>
              <a:rPr sz="1400" b="1" u="sng" spc="-70" dirty="0">
                <a:solidFill>
                  <a:srgbClr val="2A4F1D"/>
                </a:solidFill>
                <a:uFill>
                  <a:solidFill>
                    <a:srgbClr val="2A4F1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2A4F1D"/>
                </a:solidFill>
                <a:uFill>
                  <a:solidFill>
                    <a:srgbClr val="2A4F1D"/>
                  </a:solidFill>
                </a:uFill>
                <a:latin typeface="Times New Roman"/>
                <a:cs typeface="Times New Roman"/>
              </a:rPr>
              <a:t>density</a:t>
            </a:r>
            <a:r>
              <a:rPr sz="1400" b="1" spc="-4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obstacles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significant</a:t>
            </a:r>
            <a:endParaRPr sz="1200" dirty="0">
              <a:latin typeface="Times New Roman"/>
              <a:cs typeface="Times New Roman"/>
            </a:endParaRPr>
          </a:p>
          <a:p>
            <a:pPr marL="719455" marR="353060" algn="just">
              <a:lnSpc>
                <a:spcPct val="100000"/>
              </a:lnSpc>
              <a:spcBef>
                <a:spcPts val="910"/>
              </a:spcBef>
            </a:pP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Power:</a:t>
            </a:r>
            <a:r>
              <a:rPr sz="1200" b="1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does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density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(Watts/cm2).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difficulty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dissipating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heat</a:t>
            </a:r>
            <a:r>
              <a:rPr sz="1200" spc="-10" dirty="0">
                <a:latin typeface="Times New Roman"/>
                <a:cs typeface="Times New Roman"/>
              </a:rPr>
              <a:t> generated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high-density,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speed chips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serious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10" dirty="0">
                <a:latin typeface="Times New Roman"/>
                <a:cs typeface="Times New Roman"/>
              </a:rPr>
              <a:t> issue.</a:t>
            </a:r>
            <a:endParaRPr sz="1200" dirty="0">
              <a:latin typeface="Times New Roman"/>
              <a:cs typeface="Times New Roman"/>
            </a:endParaRPr>
          </a:p>
          <a:p>
            <a:pPr marL="719455" marR="415290" algn="just">
              <a:lnSpc>
                <a:spcPct val="100000"/>
              </a:lnSpc>
              <a:spcBef>
                <a:spcPts val="600"/>
              </a:spcBef>
            </a:pP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Interconnect</a:t>
            </a:r>
            <a:r>
              <a:rPr sz="1200" b="1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delay</a:t>
            </a:r>
            <a:r>
              <a:rPr sz="1200" b="1" dirty="0">
                <a:latin typeface="Times New Roman"/>
                <a:cs typeface="Times New Roman"/>
              </a:rPr>
              <a:t>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decrease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(Transistor </a:t>
            </a:r>
            <a:r>
              <a:rPr sz="1200" dirty="0">
                <a:latin typeface="Times New Roman"/>
                <a:cs typeface="Times New Roman"/>
              </a:rPr>
              <a:t>size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9nm),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interconnect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serious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issue.</a:t>
            </a:r>
            <a:endParaRPr sz="1200" dirty="0">
              <a:latin typeface="Times New Roman"/>
              <a:cs typeface="Times New Roman"/>
            </a:endParaRPr>
          </a:p>
          <a:p>
            <a:pPr marL="719455" marR="710565" algn="just">
              <a:lnSpc>
                <a:spcPct val="100000"/>
              </a:lnSpc>
              <a:spcBef>
                <a:spcPts val="600"/>
              </a:spcBef>
            </a:pP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Crosstalk</a:t>
            </a:r>
            <a:r>
              <a:rPr sz="1200" b="1" dirty="0">
                <a:latin typeface="Times New Roman"/>
                <a:cs typeface="Times New Roman"/>
              </a:rPr>
              <a:t>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unwanted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coupling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wires</a:t>
            </a:r>
            <a:r>
              <a:rPr sz="1200" spc="-25" dirty="0">
                <a:latin typeface="Times New Roman"/>
                <a:cs typeface="Times New Roman"/>
              </a:rPr>
              <a:t> are </a:t>
            </a:r>
            <a:r>
              <a:rPr sz="1200" dirty="0">
                <a:latin typeface="Times New Roman"/>
                <a:cs typeface="Times New Roman"/>
              </a:rPr>
              <a:t>closer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together.</a:t>
            </a:r>
            <a:endParaRPr sz="12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895" y="6703822"/>
              <a:ext cx="102108" cy="1066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895" y="6962902"/>
              <a:ext cx="102108" cy="1066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895" y="7221982"/>
              <a:ext cx="102108" cy="106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895" y="7481062"/>
              <a:ext cx="102108" cy="1066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Designing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 dirty="0">
              <a:latin typeface="Georgia"/>
              <a:cs typeface="Georgia"/>
            </a:endParaRPr>
          </a:p>
          <a:p>
            <a:pPr marL="434975" marR="753745" indent="-172720">
              <a:lnSpc>
                <a:spcPct val="100000"/>
              </a:lnSpc>
              <a:spcBef>
                <a:spcPts val="134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2A4F1D"/>
                </a:solidFill>
                <a:uFill>
                  <a:solidFill>
                    <a:srgbClr val="2A4F1D"/>
                  </a:solidFill>
                </a:uFill>
                <a:latin typeface="Times New Roman"/>
                <a:cs typeface="Times New Roman"/>
              </a:rPr>
              <a:t>Speed</a:t>
            </a:r>
            <a:r>
              <a:rPr sz="1400" b="1" spc="-8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microprocessor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unless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	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stream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instructions.</a:t>
            </a:r>
            <a:endParaRPr sz="1200" dirty="0">
              <a:latin typeface="Times New Roman"/>
              <a:cs typeface="Times New Roman"/>
            </a:endParaRPr>
          </a:p>
          <a:p>
            <a:pPr marL="43624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Anything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smooth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reduces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processor’s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speed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43497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behind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Microprocessor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Speed</a:t>
            </a:r>
            <a:endParaRPr sz="1200" dirty="0">
              <a:latin typeface="Times New Roman"/>
              <a:cs typeface="Times New Roman"/>
            </a:endParaRPr>
          </a:p>
          <a:p>
            <a:pPr marL="719455" marR="2962275">
              <a:lnSpc>
                <a:spcPct val="141700"/>
              </a:lnSpc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Chip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Organization</a:t>
            </a:r>
            <a:r>
              <a:rPr sz="1200" spc="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and</a:t>
            </a:r>
            <a:r>
              <a:rPr sz="1200" spc="-5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Architecture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Branch</a:t>
            </a:r>
            <a:r>
              <a:rPr sz="1200" spc="-3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instructions</a:t>
            </a:r>
            <a:endParaRPr sz="1200" dirty="0">
              <a:latin typeface="Times New Roman"/>
              <a:cs typeface="Times New Roman"/>
            </a:endParaRPr>
          </a:p>
          <a:p>
            <a:pPr marL="719455" marR="1666875">
              <a:lnSpc>
                <a:spcPct val="141700"/>
              </a:lnSpc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Memory</a:t>
            </a:r>
            <a:r>
              <a:rPr sz="1200" spc="-5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latency:</a:t>
            </a:r>
            <a:r>
              <a:rPr sz="1200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Memory</a:t>
            </a:r>
            <a:r>
              <a:rPr sz="1200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speeds</a:t>
            </a:r>
            <a:r>
              <a:rPr sz="1200" spc="-4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lag</a:t>
            </a:r>
            <a:r>
              <a:rPr sz="1200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processor</a:t>
            </a:r>
            <a:r>
              <a:rPr sz="1200" spc="-4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speed.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Data</a:t>
            </a:r>
            <a:r>
              <a:rPr sz="1200" spc="-4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flow</a:t>
            </a:r>
            <a:r>
              <a:rPr sz="1200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between</a:t>
            </a:r>
            <a:r>
              <a:rPr sz="1200" spc="-3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memory</a:t>
            </a:r>
            <a:r>
              <a:rPr sz="1200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systems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(memory</a:t>
            </a:r>
            <a:r>
              <a:rPr sz="1200" spc="-5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hierarchy)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I/O</a:t>
            </a:r>
            <a:r>
              <a:rPr sz="1200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data</a:t>
            </a:r>
            <a:r>
              <a:rPr sz="1200" spc="-3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rates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5895" y="7740142"/>
            <a:ext cx="102108" cy="10668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I/O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Device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Data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Rates</a:t>
            </a:r>
            <a:endParaRPr sz="2200">
              <a:latin typeface="Georgia"/>
              <a:cs typeface="Georgia"/>
            </a:endParaRPr>
          </a:p>
          <a:p>
            <a:pPr marL="434975" marR="583565" indent="-172720">
              <a:lnSpc>
                <a:spcPts val="1300"/>
              </a:lnSpc>
              <a:spcBef>
                <a:spcPts val="186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capable,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sophisticated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applications 	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peripherals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intensive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I/O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demands.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544830" marR="451484" lvl="1" indent="-145415">
              <a:lnSpc>
                <a:spcPts val="1300"/>
              </a:lnSpc>
              <a:buClr>
                <a:srgbClr val="3E762B"/>
              </a:buClr>
              <a:buFont typeface="Wingdings"/>
              <a:buChar char=""/>
              <a:tabLst>
                <a:tab pos="546100" algn="l"/>
              </a:tabLst>
            </a:pPr>
            <a:r>
              <a:rPr sz="1200" dirty="0">
                <a:latin typeface="Times New Roman"/>
                <a:cs typeface="Times New Roman"/>
              </a:rPr>
              <a:t>Strategies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caching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buffering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schemes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higher- 	</a:t>
            </a:r>
            <a:r>
              <a:rPr sz="1200" b="1" dirty="0">
                <a:latin typeface="Times New Roman"/>
                <a:cs typeface="Times New Roman"/>
              </a:rPr>
              <a:t>speed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interconnection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buses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Typical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I/O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Device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Data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Rates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516" y="5545835"/>
            <a:ext cx="3813048" cy="260604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624" y="1738883"/>
            <a:ext cx="4457700" cy="247040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630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speed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vs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speed</a:t>
            </a:r>
            <a:endParaRPr sz="2200">
              <a:latin typeface="Georgia"/>
              <a:cs typeface="Georgia"/>
            </a:endParaRPr>
          </a:p>
          <a:p>
            <a:pPr marL="108585">
              <a:lnSpc>
                <a:spcPct val="100000"/>
              </a:lnSpc>
              <a:spcBef>
                <a:spcPts val="1290"/>
              </a:spcBef>
            </a:pPr>
            <a:r>
              <a:rPr sz="1400" dirty="0">
                <a:solidFill>
                  <a:srgbClr val="2A4F1D"/>
                </a:solidFill>
                <a:latin typeface="Georgia"/>
                <a:cs typeface="Georgia"/>
              </a:rPr>
              <a:t>CPU</a:t>
            </a:r>
            <a:r>
              <a:rPr sz="1400" spc="-1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2A4F1D"/>
                </a:solidFill>
                <a:latin typeface="Georgia"/>
                <a:cs typeface="Georgia"/>
              </a:rPr>
              <a:t>vs</a:t>
            </a:r>
            <a:r>
              <a:rPr sz="1400" spc="-2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2A4F1D"/>
                </a:solidFill>
                <a:latin typeface="Georgia"/>
                <a:cs typeface="Georgia"/>
              </a:rPr>
              <a:t>DRAM</a:t>
            </a:r>
            <a:r>
              <a:rPr sz="1400" spc="-2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2A4F1D"/>
                </a:solidFill>
                <a:latin typeface="Georgia"/>
                <a:cs typeface="Georgia"/>
              </a:rPr>
              <a:t>Performance</a:t>
            </a:r>
            <a:endParaRPr sz="14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speed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vs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Memory</a:t>
            </a:r>
            <a:r>
              <a:rPr sz="2200" spc="-6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speed</a:t>
            </a:r>
            <a:endParaRPr sz="2200" dirty="0">
              <a:latin typeface="Georgia"/>
              <a:cs typeface="Georgia"/>
            </a:endParaRPr>
          </a:p>
          <a:p>
            <a:pPr marL="434975" marR="837565" indent="-172720">
              <a:lnSpc>
                <a:spcPts val="1300"/>
              </a:lnSpc>
              <a:spcBef>
                <a:spcPts val="153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25" dirty="0">
                <a:latin typeface="Times New Roman"/>
                <a:cs typeface="Times New Roman"/>
              </a:rPr>
              <a:t> for 	</a:t>
            </a:r>
            <a:r>
              <a:rPr sz="1200" dirty="0">
                <a:latin typeface="Times New Roman"/>
                <a:cs typeface="Times New Roman"/>
              </a:rPr>
              <a:t>carrying 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	</a:t>
            </a:r>
            <a:r>
              <a:rPr sz="1200" dirty="0">
                <a:latin typeface="Times New Roman"/>
                <a:cs typeface="Times New Roman"/>
              </a:rPr>
              <a:t>chips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processor.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Clr>
                <a:srgbClr val="3E762B"/>
              </a:buClr>
              <a:buFont typeface="Wingdings"/>
              <a:buChar char=""/>
            </a:pPr>
            <a:endParaRPr sz="1200" dirty="0">
              <a:latin typeface="Times New Roman"/>
              <a:cs typeface="Times New Roman"/>
            </a:endParaRPr>
          </a:p>
          <a:p>
            <a:pPr marL="434975" marR="552450" indent="-172720">
              <a:lnSpc>
                <a:spcPts val="1300"/>
              </a:lnSpc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pathway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keep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processor’s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demands, 	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stalls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wait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lost.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55" y="2747518"/>
              <a:ext cx="120396" cy="1249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55" y="3037078"/>
              <a:ext cx="120396" cy="1249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55" y="3326637"/>
              <a:ext cx="120396" cy="1249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3055" y="3616197"/>
              <a:ext cx="120396" cy="12496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Designing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 dirty="0">
              <a:latin typeface="Georgia"/>
              <a:cs typeface="Georgia"/>
            </a:endParaRPr>
          </a:p>
          <a:p>
            <a:pPr marL="434975" marR="561340" indent="-17272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chipmakers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fabricate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greater 	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greater</a:t>
            </a:r>
            <a:r>
              <a:rPr sz="1200" spc="-10" dirty="0">
                <a:latin typeface="Times New Roman"/>
                <a:cs typeface="Times New Roman"/>
              </a:rPr>
              <a:t> density,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designers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must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more 	</a:t>
            </a:r>
            <a:r>
              <a:rPr sz="1200" b="1" dirty="0">
                <a:latin typeface="Times New Roman"/>
                <a:cs typeface="Times New Roman"/>
              </a:rPr>
              <a:t>elaborate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techniques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feeding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monster.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Wingdings"/>
              <a:buChar char=""/>
            </a:pPr>
            <a:endParaRPr sz="1200" dirty="0">
              <a:latin typeface="Times New Roman"/>
              <a:cs typeface="Times New Roman"/>
            </a:endParaRPr>
          </a:p>
          <a:p>
            <a:pPr marL="435609" indent="-173355">
              <a:lnSpc>
                <a:spcPct val="100000"/>
              </a:lnSpc>
              <a:buFont typeface="Wingdings"/>
              <a:buChar char=""/>
              <a:tabLst>
                <a:tab pos="435609" algn="l"/>
              </a:tabLst>
            </a:pP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Some</a:t>
            </a:r>
            <a:r>
              <a:rPr sz="1400" b="1" u="sng" spc="-2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techniques</a:t>
            </a:r>
            <a:r>
              <a:rPr sz="1400" b="1" u="sng" spc="-3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that</a:t>
            </a:r>
            <a:r>
              <a:rPr sz="1400" b="1" u="sng" spc="-2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are</a:t>
            </a:r>
            <a:r>
              <a:rPr sz="1400" b="1" u="sng" spc="-3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built</a:t>
            </a:r>
            <a:r>
              <a:rPr sz="1400" b="1" u="sng" spc="-2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into</a:t>
            </a:r>
            <a:r>
              <a:rPr sz="1400" b="1" u="sng" spc="-2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modern</a:t>
            </a:r>
            <a:r>
              <a:rPr sz="1400" b="1" u="sng" spc="-10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 processors:</a:t>
            </a:r>
            <a:endParaRPr sz="1400" dirty="0">
              <a:latin typeface="Times New Roman"/>
              <a:cs typeface="Times New Roman"/>
            </a:endParaRPr>
          </a:p>
          <a:p>
            <a:pPr marL="856615" marR="3431540">
              <a:lnSpc>
                <a:spcPct val="135700"/>
              </a:lnSpc>
            </a:pPr>
            <a:r>
              <a:rPr sz="1400" dirty="0">
                <a:latin typeface="Times New Roman"/>
                <a:cs typeface="Times New Roman"/>
              </a:rPr>
              <a:t>Branch</a:t>
            </a:r>
            <a:r>
              <a:rPr sz="1400" spc="-1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prediction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flow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analysis Speculative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execution </a:t>
            </a:r>
            <a:r>
              <a:rPr sz="1400" dirty="0">
                <a:latin typeface="Times New Roman"/>
                <a:cs typeface="Times New Roman"/>
              </a:rPr>
              <a:t>Superscalar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execution Pipelining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055" y="3905758"/>
            <a:ext cx="120396" cy="12496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0" name="object 1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Branch</a:t>
            </a:r>
            <a:r>
              <a:rPr sz="2200" spc="-9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prediction</a:t>
            </a:r>
            <a:endParaRPr sz="2200">
              <a:latin typeface="Georgia"/>
              <a:cs typeface="Georgia"/>
            </a:endParaRPr>
          </a:p>
          <a:p>
            <a:pPr marL="719455" marR="756285" indent="-22860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looks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ahead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branches,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be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next.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marL="719455" marR="882650" indent="-228600">
              <a:lnSpc>
                <a:spcPct val="100000"/>
              </a:lnSpc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If 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guesses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right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prefetch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correct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buffer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busy.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Data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flow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analysis</a:t>
            </a:r>
            <a:endParaRPr sz="2200">
              <a:latin typeface="Georgia"/>
              <a:cs typeface="Georgia"/>
            </a:endParaRPr>
          </a:p>
          <a:p>
            <a:pPr marL="719455" marR="704215" indent="-22860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other’s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schedule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3E762B"/>
              </a:buClr>
              <a:buFont typeface="Wingdings"/>
              <a:buChar char=""/>
            </a:pPr>
            <a:endParaRPr sz="1200">
              <a:latin typeface="Times New Roman"/>
              <a:cs typeface="Times New Roman"/>
            </a:endParaRPr>
          </a:p>
          <a:p>
            <a:pPr marL="719455" marR="687705" indent="-228600">
              <a:lnSpc>
                <a:spcPct val="100000"/>
              </a:lnSpc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ready, </a:t>
            </a:r>
            <a:r>
              <a:rPr sz="1200" b="1" dirty="0">
                <a:latin typeface="Times New Roman"/>
                <a:cs typeface="Times New Roman"/>
              </a:rPr>
              <a:t>independent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original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order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unnecessary delay.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Speculative</a:t>
            </a:r>
            <a:r>
              <a:rPr sz="2200" spc="-3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execution</a:t>
            </a:r>
            <a:endParaRPr sz="2200">
              <a:latin typeface="Georgia"/>
              <a:cs typeface="Georgia"/>
            </a:endParaRPr>
          </a:p>
          <a:p>
            <a:pPr marL="262255">
              <a:lnSpc>
                <a:spcPct val="100000"/>
              </a:lnSpc>
              <a:spcBef>
                <a:spcPts val="1355"/>
              </a:spcBef>
            </a:pPr>
            <a:r>
              <a:rPr sz="1200" spc="-20" dirty="0">
                <a:latin typeface="Times New Roman"/>
                <a:cs typeface="Times New Roman"/>
              </a:rPr>
              <a:t>Type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parallelism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form</a:t>
            </a:r>
            <a:endParaRPr sz="1200">
              <a:latin typeface="Times New Roman"/>
              <a:cs typeface="Times New Roman"/>
            </a:endParaRPr>
          </a:p>
          <a:p>
            <a:pPr marL="719455" marR="704215" indent="-228600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branch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processors speculatively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ahead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appearance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execution,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holding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temporary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locations.</a:t>
            </a:r>
            <a:endParaRPr sz="1200">
              <a:latin typeface="Times New Roman"/>
              <a:cs typeface="Times New Roman"/>
            </a:endParaRPr>
          </a:p>
          <a:p>
            <a:pPr marL="719455" marR="1073150" indent="-228600">
              <a:lnSpc>
                <a:spcPct val="100000"/>
              </a:lnSpc>
              <a:spcBef>
                <a:spcPts val="900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keep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busy</a:t>
            </a:r>
            <a:r>
              <a:rPr sz="1200" spc="-25" dirty="0">
                <a:latin typeface="Times New Roman"/>
                <a:cs typeface="Times New Roman"/>
              </a:rPr>
              <a:t> as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needed.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Superscalar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execution</a:t>
            </a:r>
            <a:endParaRPr sz="2200">
              <a:latin typeface="Georgia"/>
              <a:cs typeface="Georgia"/>
            </a:endParaRPr>
          </a:p>
          <a:p>
            <a:pPr marL="719455" marR="656590" indent="-228600">
              <a:lnSpc>
                <a:spcPct val="100000"/>
              </a:lnSpc>
              <a:spcBef>
                <a:spcPts val="1355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superscalar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execute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more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than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during</a:t>
            </a:r>
            <a:r>
              <a:rPr sz="1200" b="1" spc="50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clock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cycle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simultaneously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</a:t>
            </a:r>
            <a:r>
              <a:rPr sz="1200" b="1" dirty="0">
                <a:latin typeface="Times New Roman"/>
                <a:cs typeface="Times New Roman"/>
              </a:rPr>
              <a:t>execution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units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processor.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536" y="2420111"/>
            <a:ext cx="4783836" cy="151180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Multicore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0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Example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467" y="5791200"/>
            <a:ext cx="4209287" cy="19431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 algn="just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Intel</a:t>
            </a:r>
            <a:r>
              <a:rPr sz="2200" spc="-2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Microprocessor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 dirty="0">
              <a:latin typeface="Georgia"/>
              <a:cs typeface="Georgia"/>
            </a:endParaRPr>
          </a:p>
          <a:p>
            <a:pPr marL="213995" algn="just">
              <a:lnSpc>
                <a:spcPct val="100000"/>
              </a:lnSpc>
              <a:spcBef>
                <a:spcPts val="1200"/>
              </a:spcBef>
            </a:pPr>
            <a:r>
              <a:rPr sz="1100" spc="-20" dirty="0">
                <a:latin typeface="Times New Roman"/>
                <a:cs typeface="Times New Roman"/>
              </a:rPr>
              <a:t>Two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 strategies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 been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performance:</a:t>
            </a:r>
            <a:endParaRPr sz="1100" dirty="0">
              <a:latin typeface="Times New Roman"/>
              <a:cs typeface="Times New Roman"/>
            </a:endParaRPr>
          </a:p>
          <a:p>
            <a:pPr marL="386715" marR="826769" indent="-172720" algn="just">
              <a:lnSpc>
                <a:spcPct val="100000"/>
              </a:lnSpc>
              <a:spcBef>
                <a:spcPts val="445"/>
              </a:spcBef>
              <a:buClr>
                <a:srgbClr val="3E762B"/>
              </a:buClr>
              <a:buFont typeface="Wingdings"/>
              <a:buChar char=""/>
              <a:tabLst>
                <a:tab pos="387985" algn="l"/>
              </a:tabLst>
            </a:pPr>
            <a:r>
              <a:rPr sz="1100" dirty="0">
                <a:latin typeface="Times New Roman"/>
                <a:cs typeface="Times New Roman"/>
              </a:rPr>
              <a:t>First,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cache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capacity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now typically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	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memory.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density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	</a:t>
            </a:r>
            <a:r>
              <a:rPr sz="1100" dirty="0">
                <a:latin typeface="Times New Roman"/>
                <a:cs typeface="Times New Roman"/>
              </a:rPr>
              <a:t>increased,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 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incorporated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enabling 	</a:t>
            </a:r>
            <a:r>
              <a:rPr sz="1100" dirty="0">
                <a:latin typeface="Times New Roman"/>
                <a:cs typeface="Times New Roman"/>
              </a:rPr>
              <a:t>faster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access.</a:t>
            </a:r>
            <a:endParaRPr sz="1100" dirty="0">
              <a:latin typeface="Times New Roman"/>
              <a:cs typeface="Times New Roman"/>
            </a:endParaRPr>
          </a:p>
          <a:p>
            <a:pPr marL="614045" marR="797560" lvl="1" indent="-116839" algn="just">
              <a:lnSpc>
                <a:spcPct val="100000"/>
              </a:lnSpc>
              <a:spcBef>
                <a:spcPts val="459"/>
              </a:spcBef>
              <a:buClr>
                <a:srgbClr val="3E762B"/>
              </a:buClr>
              <a:buFont typeface="Arial MT"/>
              <a:buChar char="•"/>
              <a:tabLst>
                <a:tab pos="616585" algn="l"/>
              </a:tabLst>
            </a:pPr>
            <a:r>
              <a:rPr sz="1100" dirty="0">
                <a:latin typeface="Times New Roman"/>
                <a:cs typeface="Times New Roman"/>
              </a:rPr>
              <a:t>For example,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original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Pentium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devoted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10%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	</a:t>
            </a:r>
            <a:r>
              <a:rPr sz="1100" dirty="0">
                <a:latin typeface="Times New Roman"/>
                <a:cs typeface="Times New Roman"/>
              </a:rPr>
              <a:t>cache.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Pentium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 chip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devotes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50% 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caches.</a:t>
            </a:r>
            <a:endParaRPr sz="1100" dirty="0">
              <a:latin typeface="Times New Roman"/>
              <a:cs typeface="Times New Roman"/>
            </a:endParaRPr>
          </a:p>
          <a:p>
            <a:pPr marL="386715" marR="823594" indent="-172720" algn="just">
              <a:lnSpc>
                <a:spcPct val="100000"/>
              </a:lnSpc>
              <a:spcBef>
                <a:spcPts val="440"/>
              </a:spcBef>
              <a:buClr>
                <a:srgbClr val="3E762B"/>
              </a:buClr>
              <a:buFont typeface="Wingdings"/>
              <a:buChar char=""/>
              <a:tabLst>
                <a:tab pos="387985" algn="l"/>
              </a:tabLst>
            </a:pPr>
            <a:r>
              <a:rPr sz="1100" dirty="0">
                <a:latin typeface="Times New Roman"/>
                <a:cs typeface="Times New Roman"/>
              </a:rPr>
              <a:t>Second,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increasingly 	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parallel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processor.</a:t>
            </a:r>
            <a:endParaRPr sz="1100" dirty="0">
              <a:latin typeface="Times New Roman"/>
              <a:cs typeface="Times New Roman"/>
            </a:endParaRPr>
          </a:p>
          <a:p>
            <a:pPr marL="614045" marR="1379220" lvl="1" indent="-116839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616585" algn="l"/>
              </a:tabLst>
            </a:pPr>
            <a:r>
              <a:rPr sz="1100" dirty="0">
                <a:latin typeface="Times New Roman"/>
                <a:cs typeface="Times New Roman"/>
              </a:rPr>
              <a:t>Pipelining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stages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different 	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time.</a:t>
            </a:r>
            <a:endParaRPr sz="1100" dirty="0">
              <a:latin typeface="Times New Roman"/>
              <a:cs typeface="Times New Roman"/>
            </a:endParaRPr>
          </a:p>
          <a:p>
            <a:pPr marL="614045" marR="772795" lvl="1" indent="-116839">
              <a:lnSpc>
                <a:spcPct val="100000"/>
              </a:lnSpc>
              <a:spcBef>
                <a:spcPts val="445"/>
              </a:spcBef>
              <a:buClr>
                <a:srgbClr val="3E762B"/>
              </a:buClr>
              <a:buFont typeface="Arial MT"/>
              <a:buChar char="•"/>
              <a:tabLst>
                <a:tab pos="616585" algn="l"/>
              </a:tabLst>
            </a:pPr>
            <a:r>
              <a:rPr sz="1100" dirty="0">
                <a:latin typeface="Times New Roman"/>
                <a:cs typeface="Times New Roman"/>
              </a:rPr>
              <a:t>Superscalar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pipelines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 processor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	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another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parallel.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Intel</a:t>
            </a:r>
            <a:r>
              <a:rPr sz="2200" spc="-2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Microprocessor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endParaRPr sz="2200">
              <a:latin typeface="Georgia"/>
              <a:cs typeface="Georgia"/>
            </a:endParaRPr>
          </a:p>
          <a:p>
            <a:pPr marL="436245" marR="877569" indent="-173990">
              <a:lnSpc>
                <a:spcPct val="100000"/>
              </a:lnSpc>
              <a:spcBef>
                <a:spcPts val="83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2003,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designers turned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fundamentally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performance: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chip,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large </a:t>
            </a:r>
            <a:r>
              <a:rPr sz="1200" dirty="0">
                <a:latin typeface="Times New Roman"/>
                <a:cs typeface="Times New Roman"/>
              </a:rPr>
              <a:t>shared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cache.</a:t>
            </a:r>
            <a:endParaRPr sz="1200">
              <a:latin typeface="Times New Roman"/>
              <a:cs typeface="Times New Roman"/>
            </a:endParaRPr>
          </a:p>
          <a:p>
            <a:pPr marL="661670" marR="935990" lvl="1" indent="-17081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Arial MT"/>
              <a:buChar char="•"/>
              <a:tabLst>
                <a:tab pos="66484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multicore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without 	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 if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	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processors,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doubling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almost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doubles 	</a:t>
            </a:r>
            <a:r>
              <a:rPr sz="1100" dirty="0">
                <a:latin typeface="Times New Roman"/>
                <a:cs typeface="Times New Roman"/>
              </a:rPr>
              <a:t>performance.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chip 	</a:t>
            </a:r>
            <a:r>
              <a:rPr sz="1100" dirty="0">
                <a:latin typeface="Times New Roman"/>
                <a:cs typeface="Times New Roman"/>
              </a:rPr>
              <a:t>rather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 complex </a:t>
            </a:r>
            <a:r>
              <a:rPr sz="1100" spc="-10" dirty="0">
                <a:latin typeface="Times New Roman"/>
                <a:cs typeface="Times New Roman"/>
              </a:rPr>
              <a:t>processor.</a:t>
            </a:r>
            <a:endParaRPr sz="1100">
              <a:latin typeface="Times New Roman"/>
              <a:cs typeface="Times New Roman"/>
            </a:endParaRPr>
          </a:p>
          <a:p>
            <a:pPr marL="661670" marR="875030" lvl="1" indent="-170815" algn="just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Arial MT"/>
              <a:buChar char="•"/>
              <a:tabLst>
                <a:tab pos="664845" algn="l"/>
              </a:tabLst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two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processors,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justified.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important 	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consumption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chip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much less</a:t>
            </a:r>
            <a:r>
              <a:rPr sz="1100" spc="-20" dirty="0">
                <a:latin typeface="Times New Roman"/>
                <a:cs typeface="Times New Roman"/>
              </a:rPr>
              <a:t> than 	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logic.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100"/>
              </a:spcBef>
            </a:pPr>
            <a:r>
              <a:rPr sz="1900" dirty="0">
                <a:latin typeface="Georgia"/>
                <a:cs typeface="Georgia"/>
              </a:rPr>
              <a:t>Evolution</a:t>
            </a:r>
            <a:r>
              <a:rPr sz="1900" spc="-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of</a:t>
            </a:r>
            <a:r>
              <a:rPr sz="1900" spc="-2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the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intel</a:t>
            </a:r>
            <a:r>
              <a:rPr sz="1900" spc="-15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x-</a:t>
            </a:r>
            <a:r>
              <a:rPr sz="1900" dirty="0">
                <a:latin typeface="Georgia"/>
                <a:cs typeface="Georgia"/>
              </a:rPr>
              <a:t>86</a:t>
            </a:r>
            <a:r>
              <a:rPr sz="1900" spc="-3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CISC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architecture</a:t>
            </a:r>
            <a:endParaRPr sz="1900">
              <a:latin typeface="Georgia"/>
              <a:cs typeface="Georgia"/>
            </a:endParaRPr>
          </a:p>
          <a:p>
            <a:pPr marL="430530" marR="679450" indent="-168275">
              <a:lnSpc>
                <a:spcPct val="120000"/>
              </a:lnSpc>
              <a:spcBef>
                <a:spcPts val="12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100" b="1" dirty="0">
                <a:latin typeface="Times New Roman"/>
                <a:cs typeface="Times New Roman"/>
              </a:rPr>
              <a:t>8080: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world’s</a:t>
            </a:r>
            <a:r>
              <a:rPr sz="1100" dirty="0">
                <a:latin typeface="Times New Roman"/>
                <a:cs typeface="Times New Roman"/>
              </a:rPr>
              <a:t> first </a:t>
            </a:r>
            <a:r>
              <a:rPr sz="1100" spc="-10" dirty="0">
                <a:latin typeface="Times New Roman"/>
                <a:cs typeface="Times New Roman"/>
              </a:rPr>
              <a:t>general-</a:t>
            </a:r>
            <a:r>
              <a:rPr sz="1100" dirty="0">
                <a:latin typeface="Times New Roman"/>
                <a:cs typeface="Times New Roman"/>
              </a:rPr>
              <a:t>purpose </a:t>
            </a:r>
            <a:r>
              <a:rPr sz="1100" spc="-10" dirty="0">
                <a:latin typeface="Times New Roman"/>
                <a:cs typeface="Times New Roman"/>
              </a:rPr>
              <a:t>microprocessor.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 was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8-bit </a:t>
            </a:r>
            <a:r>
              <a:rPr sz="1100" b="1" spc="-10" dirty="0">
                <a:latin typeface="Times New Roman"/>
                <a:cs typeface="Times New Roman"/>
              </a:rPr>
              <a:t>machine</a:t>
            </a:r>
            <a:r>
              <a:rPr sz="1100" spc="-10" dirty="0">
                <a:latin typeface="Times New Roman"/>
                <a:cs typeface="Times New Roman"/>
              </a:rPr>
              <a:t>, 	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8-</a:t>
            </a:r>
            <a:r>
              <a:rPr sz="1100" dirty="0">
                <a:latin typeface="Times New Roman"/>
                <a:cs typeface="Times New Roman"/>
              </a:rPr>
              <a:t>bit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memory.</a:t>
            </a:r>
            <a:endParaRPr sz="1100">
              <a:latin typeface="Times New Roman"/>
              <a:cs typeface="Times New Roman"/>
            </a:endParaRPr>
          </a:p>
          <a:p>
            <a:pPr marL="431800" marR="748030" indent="-169545">
              <a:lnSpc>
                <a:spcPct val="1201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100" b="1" dirty="0">
                <a:latin typeface="Times New Roman"/>
                <a:cs typeface="Times New Roman"/>
              </a:rPr>
              <a:t>8086: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16-</a:t>
            </a:r>
            <a:r>
              <a:rPr sz="1100" dirty="0">
                <a:latin typeface="Times New Roman"/>
                <a:cs typeface="Times New Roman"/>
              </a:rPr>
              <a:t>bit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wider</a:t>
            </a:r>
            <a:r>
              <a:rPr sz="1100" b="1" spc="-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data path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larger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registers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8086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sported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pre-</a:t>
            </a:r>
            <a:r>
              <a:rPr sz="1100" b="1" dirty="0">
                <a:latin typeface="Times New Roman"/>
                <a:cs typeface="Times New Roman"/>
              </a:rPr>
              <a:t>fetches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few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instructions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they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executed.</a:t>
            </a:r>
            <a:endParaRPr sz="1100">
              <a:latin typeface="Times New Roman"/>
              <a:cs typeface="Times New Roman"/>
            </a:endParaRPr>
          </a:p>
          <a:p>
            <a:pPr marL="430530" marR="713105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100" b="1" dirty="0">
                <a:latin typeface="Times New Roman"/>
                <a:cs typeface="Times New Roman"/>
              </a:rPr>
              <a:t>80286: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8086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16-MByte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instead 	</a:t>
            </a:r>
            <a:r>
              <a:rPr sz="1100" dirty="0">
                <a:latin typeface="Times New Roman"/>
                <a:cs typeface="Times New Roman"/>
              </a:rPr>
              <a:t>of just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MByte.</a:t>
            </a:r>
            <a:endParaRPr sz="1100">
              <a:latin typeface="Times New Roman"/>
              <a:cs typeface="Times New Roman"/>
            </a:endParaRPr>
          </a:p>
          <a:p>
            <a:pPr marL="430530" marR="816610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100" b="1" dirty="0">
                <a:latin typeface="Times New Roman"/>
                <a:cs typeface="Times New Roman"/>
              </a:rPr>
              <a:t>80386: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Intel’s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32-bit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machine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overhaul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product.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was 	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multitasking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could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multiple 	</a:t>
            </a:r>
            <a:r>
              <a:rPr sz="1100" dirty="0">
                <a:latin typeface="Times New Roman"/>
                <a:cs typeface="Times New Roman"/>
              </a:rPr>
              <a:t>programs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sz="1900" dirty="0">
                <a:latin typeface="Georgia"/>
                <a:cs typeface="Georgia"/>
              </a:rPr>
              <a:t>Evolution</a:t>
            </a:r>
            <a:r>
              <a:rPr sz="1900" spc="-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of</a:t>
            </a:r>
            <a:r>
              <a:rPr sz="1900" spc="-2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the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intel</a:t>
            </a:r>
            <a:r>
              <a:rPr sz="1900" spc="-15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x-</a:t>
            </a:r>
            <a:r>
              <a:rPr sz="1900" dirty="0">
                <a:latin typeface="Georgia"/>
                <a:cs typeface="Georgia"/>
              </a:rPr>
              <a:t>86</a:t>
            </a:r>
            <a:r>
              <a:rPr sz="1900" spc="-3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CISC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architecture</a:t>
            </a:r>
            <a:endParaRPr sz="1900">
              <a:latin typeface="Georgia"/>
              <a:cs typeface="Georgia"/>
            </a:endParaRPr>
          </a:p>
          <a:p>
            <a:pPr marL="430530" marR="429895" indent="-168275">
              <a:lnSpc>
                <a:spcPct val="120000"/>
              </a:lnSpc>
              <a:spcBef>
                <a:spcPts val="126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000" b="1" dirty="0">
                <a:latin typeface="Times New Roman"/>
                <a:cs typeface="Times New Roman"/>
              </a:rPr>
              <a:t>80486:</a:t>
            </a:r>
            <a:r>
              <a:rPr sz="1000" b="1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80486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introduced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much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sophisticated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powerful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cache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technology 	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sophisticated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instruction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pipelining</a:t>
            </a:r>
            <a:r>
              <a:rPr sz="1000" dirty="0">
                <a:latin typeface="Times New Roman"/>
                <a:cs typeface="Times New Roman"/>
              </a:rPr>
              <a:t>.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80486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offered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built-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coprocessor, 	offloading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complex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math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operations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from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CPU.</a:t>
            </a:r>
            <a:endParaRPr sz="1000">
              <a:latin typeface="Times New Roman"/>
              <a:cs typeface="Times New Roman"/>
            </a:endParaRPr>
          </a:p>
          <a:p>
            <a:pPr marL="430530" marR="687705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000" b="1" dirty="0">
                <a:latin typeface="Times New Roman"/>
                <a:cs typeface="Times New Roman"/>
              </a:rPr>
              <a:t>Pentium: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Pentium,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introduced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superscalar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techniques,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 </a:t>
            </a:r>
            <a:r>
              <a:rPr sz="1000" spc="-10" dirty="0">
                <a:latin typeface="Times New Roman"/>
                <a:cs typeface="Times New Roman"/>
              </a:rPr>
              <a:t>allow 	</a:t>
            </a:r>
            <a:r>
              <a:rPr sz="1000" dirty="0">
                <a:latin typeface="Times New Roman"/>
                <a:cs typeface="Times New Roman"/>
              </a:rPr>
              <a:t>multiple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instructions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execute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parallel.</a:t>
            </a:r>
            <a:endParaRPr sz="1000">
              <a:latin typeface="Times New Roman"/>
              <a:cs typeface="Times New Roman"/>
            </a:endParaRPr>
          </a:p>
          <a:p>
            <a:pPr marL="430530" marR="497840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000" b="1" dirty="0">
                <a:latin typeface="Times New Roman"/>
                <a:cs typeface="Times New Roman"/>
              </a:rPr>
              <a:t>Pentium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Pro: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Pentium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continued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move into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superscalar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organization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begun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 </a:t>
            </a:r>
            <a:r>
              <a:rPr sz="1000" spc="-25" dirty="0">
                <a:latin typeface="Times New Roman"/>
                <a:cs typeface="Times New Roman"/>
              </a:rPr>
              <a:t>the 	</a:t>
            </a:r>
            <a:r>
              <a:rPr sz="1000" dirty="0">
                <a:latin typeface="Times New Roman"/>
                <a:cs typeface="Times New Roman"/>
              </a:rPr>
              <a:t>Pentium,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aggressive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branch</a:t>
            </a:r>
            <a:r>
              <a:rPr sz="1000" b="1" spc="-10" dirty="0">
                <a:latin typeface="Times New Roman"/>
                <a:cs typeface="Times New Roman"/>
              </a:rPr>
              <a:t> prediction,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flow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analysis,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speculative 	execution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430530" marR="407034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000" b="1" dirty="0">
                <a:latin typeface="Times New Roman"/>
                <a:cs typeface="Times New Roman"/>
              </a:rPr>
              <a:t>Pentium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II: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Pentium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incorporated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MMX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technology,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specifically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	</a:t>
            </a:r>
            <a:r>
              <a:rPr sz="1000" dirty="0">
                <a:latin typeface="Times New Roman"/>
                <a:cs typeface="Times New Roman"/>
              </a:rPr>
              <a:t>process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video,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audio,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and</a:t>
            </a:r>
            <a:r>
              <a:rPr sz="1000" b="1" spc="-2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graphics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efficiently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  <a:p>
            <a:pPr marL="430530" marR="491490" indent="-168275">
              <a:lnSpc>
                <a:spcPct val="1202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000" b="1" dirty="0">
                <a:latin typeface="Times New Roman"/>
                <a:cs typeface="Times New Roman"/>
              </a:rPr>
              <a:t>Pentium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III: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Pentium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III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incorporates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additional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floating-</a:t>
            </a:r>
            <a:r>
              <a:rPr sz="1000" b="1" dirty="0">
                <a:latin typeface="Times New Roman"/>
                <a:cs typeface="Times New Roman"/>
              </a:rPr>
              <a:t>point</a:t>
            </a:r>
            <a:r>
              <a:rPr sz="1000" b="1" spc="-4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instructions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support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3D 	</a:t>
            </a:r>
            <a:r>
              <a:rPr sz="1000" dirty="0">
                <a:latin typeface="Times New Roman"/>
                <a:cs typeface="Times New Roman"/>
              </a:rPr>
              <a:t>graphics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software.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100"/>
              </a:spcBef>
            </a:pPr>
            <a:r>
              <a:rPr sz="1900" dirty="0">
                <a:latin typeface="Georgia"/>
                <a:cs typeface="Georgia"/>
              </a:rPr>
              <a:t>Evolution</a:t>
            </a:r>
            <a:r>
              <a:rPr sz="1900" spc="-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of</a:t>
            </a:r>
            <a:r>
              <a:rPr sz="1900" spc="-2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the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intel</a:t>
            </a:r>
            <a:r>
              <a:rPr sz="1900" spc="-15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x-</a:t>
            </a:r>
            <a:r>
              <a:rPr sz="1900" dirty="0">
                <a:latin typeface="Georgia"/>
                <a:cs typeface="Georgia"/>
              </a:rPr>
              <a:t>86</a:t>
            </a:r>
            <a:r>
              <a:rPr sz="1900" spc="-35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CISC</a:t>
            </a:r>
            <a:r>
              <a:rPr sz="1900" spc="-30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architecture</a:t>
            </a:r>
            <a:endParaRPr sz="1900">
              <a:latin typeface="Georgia"/>
              <a:cs typeface="Georgia"/>
            </a:endParaRPr>
          </a:p>
          <a:p>
            <a:pPr marL="430530" indent="-168275">
              <a:lnSpc>
                <a:spcPct val="100000"/>
              </a:lnSpc>
              <a:spcBef>
                <a:spcPts val="1510"/>
              </a:spcBef>
              <a:buClr>
                <a:srgbClr val="3E762B"/>
              </a:buClr>
              <a:buFont typeface="Wingdings"/>
              <a:buChar char=""/>
              <a:tabLst>
                <a:tab pos="430530" algn="l"/>
              </a:tabLst>
            </a:pPr>
            <a:r>
              <a:rPr sz="1100" b="1" dirty="0">
                <a:latin typeface="Times New Roman"/>
                <a:cs typeface="Times New Roman"/>
              </a:rPr>
              <a:t>Pentium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4: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Pentium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floating-point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enhancements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</a:t>
            </a:r>
            <a:endParaRPr sz="11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265"/>
              </a:spcBef>
            </a:pPr>
            <a:r>
              <a:rPr sz="1100" b="1" spc="-10" dirty="0">
                <a:latin typeface="Times New Roman"/>
                <a:cs typeface="Times New Roman"/>
              </a:rPr>
              <a:t>multimedia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31165" indent="-168910">
              <a:lnSpc>
                <a:spcPct val="100000"/>
              </a:lnSpc>
              <a:spcBef>
                <a:spcPts val="865"/>
              </a:spcBef>
              <a:buClr>
                <a:srgbClr val="3E762B"/>
              </a:buClr>
              <a:buFont typeface="Wingdings"/>
              <a:buChar char=""/>
              <a:tabLst>
                <a:tab pos="431165" algn="l"/>
              </a:tabLst>
            </a:pPr>
            <a:r>
              <a:rPr sz="1100" b="1" dirty="0">
                <a:latin typeface="Times New Roman"/>
                <a:cs typeface="Times New Roman"/>
              </a:rPr>
              <a:t>Core: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Intel x86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microprocessor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dual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core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referring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two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processors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 single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chip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30530" marR="277495" indent="-168275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100" b="1" dirty="0">
                <a:latin typeface="Times New Roman"/>
                <a:cs typeface="Times New Roman"/>
              </a:rPr>
              <a:t>Core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extends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64 bits.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 Quad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four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processors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 </a:t>
            </a:r>
            <a:r>
              <a:rPr sz="1100" b="1" spc="-50" dirty="0">
                <a:latin typeface="Times New Roman"/>
                <a:cs typeface="Times New Roman"/>
              </a:rPr>
              <a:t>a 	</a:t>
            </a:r>
            <a:r>
              <a:rPr sz="1100" b="1" dirty="0">
                <a:latin typeface="Times New Roman"/>
                <a:cs typeface="Times New Roman"/>
              </a:rPr>
              <a:t>single</a:t>
            </a:r>
            <a:r>
              <a:rPr sz="1100" b="1" spc="-10" dirty="0">
                <a:latin typeface="Times New Roman"/>
                <a:cs typeface="Times New Roman"/>
              </a:rPr>
              <a:t> chip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30530" indent="-168275">
              <a:lnSpc>
                <a:spcPct val="100000"/>
              </a:lnSpc>
              <a:spcBef>
                <a:spcPts val="865"/>
              </a:spcBef>
              <a:buClr>
                <a:srgbClr val="3E762B"/>
              </a:buClr>
              <a:buFont typeface="Wingdings"/>
              <a:buChar char=""/>
              <a:tabLst>
                <a:tab pos="430530" algn="l"/>
              </a:tabLst>
            </a:pPr>
            <a:r>
              <a:rPr sz="1100" b="1" dirty="0">
                <a:latin typeface="Times New Roman"/>
                <a:cs typeface="Times New Roman"/>
              </a:rPr>
              <a:t>Core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5: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six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eight</a:t>
            </a:r>
            <a:r>
              <a:rPr sz="1100" spc="-10" dirty="0">
                <a:latin typeface="Times New Roman"/>
                <a:cs typeface="Times New Roman"/>
              </a:rPr>
              <a:t> threads.</a:t>
            </a:r>
            <a:endParaRPr sz="1100">
              <a:latin typeface="Times New Roman"/>
              <a:cs typeface="Times New Roman"/>
            </a:endParaRPr>
          </a:p>
          <a:p>
            <a:pPr marL="430530" indent="-168275">
              <a:lnSpc>
                <a:spcPct val="100000"/>
              </a:lnSpc>
              <a:spcBef>
                <a:spcPts val="865"/>
              </a:spcBef>
              <a:buClr>
                <a:srgbClr val="3E762B"/>
              </a:buClr>
              <a:buFont typeface="Wingdings"/>
              <a:buChar char=""/>
              <a:tabLst>
                <a:tab pos="430530" algn="l"/>
              </a:tabLst>
            </a:pPr>
            <a:r>
              <a:rPr sz="1100" b="1" dirty="0">
                <a:latin typeface="Times New Roman"/>
                <a:cs typeface="Times New Roman"/>
              </a:rPr>
              <a:t>Core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9: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eight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sixteen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threads.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635635" marR="393700" lvl="1" indent="-147955">
              <a:lnSpc>
                <a:spcPct val="120000"/>
              </a:lnSpc>
              <a:buClr>
                <a:srgbClr val="3E762B"/>
              </a:buClr>
              <a:buFont typeface="Wingdings"/>
              <a:buChar char=""/>
              <a:tabLst>
                <a:tab pos="635635" algn="l"/>
              </a:tabLst>
            </a:pPr>
            <a:r>
              <a:rPr sz="1000" spc="-10" dirty="0">
                <a:latin typeface="Times New Roman"/>
                <a:cs typeface="Times New Roman"/>
              </a:rPr>
              <a:t>Multithreading </a:t>
            </a:r>
            <a:r>
              <a:rPr sz="1000" dirty="0">
                <a:latin typeface="Times New Roman"/>
                <a:cs typeface="Times New Roman"/>
              </a:rPr>
              <a:t>aims to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increase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utilization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single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thread-</a:t>
            </a:r>
            <a:r>
              <a:rPr sz="1000" dirty="0">
                <a:latin typeface="Times New Roman"/>
                <a:cs typeface="Times New Roman"/>
              </a:rPr>
              <a:t>level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parallelism,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as </a:t>
            </a:r>
            <a:r>
              <a:rPr sz="1000" dirty="0">
                <a:latin typeface="Times New Roman"/>
                <a:cs typeface="Times New Roman"/>
              </a:rPr>
              <a:t>well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10" dirty="0">
                <a:latin typeface="Times New Roman"/>
                <a:cs typeface="Times New Roman"/>
              </a:rPr>
              <a:t> instruction-</a:t>
            </a:r>
            <a:r>
              <a:rPr sz="1000" dirty="0">
                <a:latin typeface="Times New Roman"/>
                <a:cs typeface="Times New Roman"/>
              </a:rPr>
              <a:t>level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parallelism.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416" y="5542788"/>
              <a:ext cx="4328160" cy="260604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ts val="2080"/>
              </a:lnSpc>
            </a:pPr>
            <a:r>
              <a:rPr sz="1900" dirty="0">
                <a:latin typeface="Georgia"/>
                <a:cs typeface="Georgia"/>
              </a:rPr>
              <a:t>ARM</a:t>
            </a:r>
            <a:r>
              <a:rPr sz="1900" spc="-8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processor</a:t>
            </a:r>
            <a:r>
              <a:rPr sz="1900" spc="-60" dirty="0">
                <a:latin typeface="Georgia"/>
                <a:cs typeface="Georgia"/>
              </a:rPr>
              <a:t> </a:t>
            </a:r>
            <a:r>
              <a:rPr sz="1900" dirty="0">
                <a:latin typeface="Georgia"/>
                <a:cs typeface="Georgia"/>
              </a:rPr>
              <a:t>(RISC)</a:t>
            </a:r>
            <a:r>
              <a:rPr sz="1900" spc="-85" dirty="0">
                <a:latin typeface="Georgia"/>
                <a:cs typeface="Georgia"/>
              </a:rPr>
              <a:t> </a:t>
            </a:r>
            <a:r>
              <a:rPr sz="1900" spc="-10" dirty="0">
                <a:latin typeface="Georgia"/>
                <a:cs typeface="Georgia"/>
              </a:rPr>
              <a:t>Evolution</a:t>
            </a:r>
            <a:endParaRPr sz="1900">
              <a:latin typeface="Georgia"/>
              <a:cs typeface="Georgia"/>
            </a:endParaRPr>
          </a:p>
          <a:p>
            <a:pPr marL="165100">
              <a:lnSpc>
                <a:spcPts val="2165"/>
              </a:lnSpc>
              <a:tabLst>
                <a:tab pos="4826000" algn="l"/>
              </a:tabLst>
            </a:pPr>
            <a:r>
              <a:rPr sz="19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9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for</a:t>
            </a:r>
            <a:r>
              <a:rPr sz="1900" u="heavy" spc="-2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9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Embedded</a:t>
            </a:r>
            <a:r>
              <a:rPr sz="1900" u="heavy" spc="-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9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Systems</a:t>
            </a:r>
            <a:r>
              <a:rPr sz="19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381000" y="86868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0838" y="2736341"/>
              <a:ext cx="4114800" cy="0"/>
            </a:xfrm>
            <a:custGeom>
              <a:avLst/>
              <a:gdLst/>
              <a:ahLst/>
              <a:cxnLst/>
              <a:rect l="l" t="t" r="r" b="b"/>
              <a:pathLst>
                <a:path w="4114800">
                  <a:moveTo>
                    <a:pt x="0" y="0"/>
                  </a:moveTo>
                  <a:lnTo>
                    <a:pt x="4114800" y="0"/>
                  </a:lnTo>
                </a:path>
              </a:pathLst>
            </a:custGeom>
            <a:ln w="457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278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95"/>
              </a:spcBef>
            </a:pPr>
            <a:endParaRPr sz="3600">
              <a:latin typeface="Times New Roman"/>
              <a:cs typeface="Times New Roman"/>
            </a:endParaRPr>
          </a:p>
          <a:p>
            <a:pPr marL="1794510" marR="1682114" indent="-108585">
              <a:lnSpc>
                <a:spcPts val="3670"/>
              </a:lnSpc>
            </a:pPr>
            <a:r>
              <a:rPr sz="36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Performance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Assessment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3600">
              <a:latin typeface="Times New Roman"/>
              <a:cs typeface="Times New Roman"/>
            </a:endParaRPr>
          </a:p>
          <a:p>
            <a:pPr marR="497840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29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25423" y="5069586"/>
            <a:ext cx="3114040" cy="730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Assessment</a:t>
            </a:r>
            <a:endParaRPr sz="2200">
              <a:latin typeface="Georgia"/>
              <a:cs typeface="Georgia"/>
            </a:endParaRPr>
          </a:p>
          <a:p>
            <a:pPr marL="261620" indent="-227965">
              <a:lnSpc>
                <a:spcPct val="100000"/>
              </a:lnSpc>
              <a:spcBef>
                <a:spcPts val="1235"/>
              </a:spcBef>
              <a:buFont typeface="Wingdings"/>
              <a:buChar char=""/>
              <a:tabLst>
                <a:tab pos="261620" algn="l"/>
              </a:tabLst>
            </a:pPr>
            <a:r>
              <a:rPr sz="1400" b="1" dirty="0">
                <a:solidFill>
                  <a:srgbClr val="3E762B"/>
                </a:solidFill>
                <a:latin typeface="Times New Roman"/>
                <a:cs typeface="Times New Roman"/>
              </a:rPr>
              <a:t>System</a:t>
            </a:r>
            <a:r>
              <a:rPr sz="14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Clock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025" y="6370066"/>
            <a:ext cx="4624070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Symbol"/>
              <a:buChar char=""/>
              <a:tabLst>
                <a:tab pos="173355" algn="l"/>
              </a:tabLst>
            </a:pPr>
            <a:r>
              <a:rPr sz="1200" dirty="0">
                <a:latin typeface="Times New Roman"/>
                <a:cs typeface="Times New Roman"/>
              </a:rPr>
              <a:t>Operations,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fetching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decoding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instruction, 	</a:t>
            </a:r>
            <a:r>
              <a:rPr sz="1200" dirty="0">
                <a:latin typeface="Times New Roman"/>
                <a:cs typeface="Times New Roman"/>
              </a:rPr>
              <a:t>performing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 arithmetic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	clock.</a:t>
            </a:r>
            <a:endParaRPr sz="1200">
              <a:latin typeface="Times New Roman"/>
              <a:cs typeface="Times New Roman"/>
            </a:endParaRPr>
          </a:p>
          <a:p>
            <a:pPr marL="172720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Symbol"/>
              <a:buChar char=""/>
              <a:tabLst>
                <a:tab pos="172720" algn="l"/>
              </a:tabLst>
            </a:pPr>
            <a:r>
              <a:rPr sz="1200" spc="-25" dirty="0">
                <a:latin typeface="Times New Roman"/>
                <a:cs typeface="Times New Roman"/>
              </a:rPr>
              <a:t>Typically,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pulse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clock.</a:t>
            </a:r>
            <a:endParaRPr sz="1200">
              <a:latin typeface="Times New Roman"/>
              <a:cs typeface="Times New Roman"/>
            </a:endParaRPr>
          </a:p>
          <a:p>
            <a:pPr marL="172085" marR="87630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Symbol"/>
              <a:buChar char=""/>
              <a:tabLst>
                <a:tab pos="1733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frequency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clock,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cycles</a:t>
            </a:r>
            <a:r>
              <a:rPr sz="1200" spc="-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per</a:t>
            </a:r>
            <a:r>
              <a:rPr sz="1200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second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Hertz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spc="-20" dirty="0">
                <a:solidFill>
                  <a:srgbClr val="3E762B"/>
                </a:solidFill>
                <a:latin typeface="Times New Roman"/>
                <a:cs typeface="Times New Roman"/>
              </a:rPr>
              <a:t>Hz</a:t>
            </a:r>
            <a:r>
              <a:rPr sz="1200" spc="-20" dirty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3025" y="7740497"/>
            <a:ext cx="469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indent="-173355">
              <a:lnSpc>
                <a:spcPct val="100000"/>
              </a:lnSpc>
              <a:spcBef>
                <a:spcPts val="100"/>
              </a:spcBef>
              <a:buFont typeface="Symbol"/>
              <a:buChar char=""/>
              <a:tabLst>
                <a:tab pos="173355" algn="l"/>
              </a:tabLst>
            </a:pPr>
            <a:r>
              <a:rPr sz="1400" dirty="0">
                <a:solidFill>
                  <a:srgbClr val="3E762B"/>
                </a:solidFill>
                <a:latin typeface="Cambria Math"/>
                <a:cs typeface="Cambria Math"/>
              </a:rPr>
              <a:t>𝒇</a:t>
            </a:r>
            <a:r>
              <a:rPr sz="1400" spc="7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47241" y="7873847"/>
            <a:ext cx="681355" cy="12700"/>
          </a:xfrm>
          <a:custGeom>
            <a:avLst/>
            <a:gdLst/>
            <a:ahLst/>
            <a:cxnLst/>
            <a:rect l="l" t="t" r="r" b="b"/>
            <a:pathLst>
              <a:path w="681355" h="12700">
                <a:moveTo>
                  <a:pt x="681228" y="0"/>
                </a:moveTo>
                <a:lnTo>
                  <a:pt x="0" y="0"/>
                </a:lnTo>
                <a:lnTo>
                  <a:pt x="0" y="12192"/>
                </a:lnTo>
                <a:lnTo>
                  <a:pt x="681228" y="12192"/>
                </a:lnTo>
                <a:lnTo>
                  <a:pt x="681228" y="0"/>
                </a:lnTo>
                <a:close/>
              </a:path>
            </a:pathLst>
          </a:custGeom>
          <a:solidFill>
            <a:srgbClr val="3E7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76705" y="7644536"/>
            <a:ext cx="665480" cy="4159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R="34290" algn="ctr">
              <a:lnSpc>
                <a:spcPct val="100000"/>
              </a:lnSpc>
              <a:spcBef>
                <a:spcPts val="430"/>
              </a:spcBef>
            </a:pPr>
            <a:r>
              <a:rPr sz="1000" spc="-50" dirty="0">
                <a:solidFill>
                  <a:srgbClr val="3E762B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R="5080" algn="ctr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3E762B"/>
                </a:solidFill>
                <a:latin typeface="Cambria Math"/>
                <a:cs typeface="Cambria Math"/>
              </a:rPr>
              <a:t>𝒄𝒚𝒄𝒍𝒆</a:t>
            </a:r>
            <a:r>
              <a:rPr sz="1000" spc="4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000" spc="-20" dirty="0">
                <a:solidFill>
                  <a:srgbClr val="3E762B"/>
                </a:solidFill>
                <a:latin typeface="Cambria Math"/>
                <a:cs typeface="Cambria Math"/>
              </a:rPr>
              <a:t>𝒕𝒊𝒎𝒆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9269" y="7740497"/>
            <a:ext cx="1460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61641" y="7873847"/>
            <a:ext cx="245745" cy="12700"/>
          </a:xfrm>
          <a:custGeom>
            <a:avLst/>
            <a:gdLst/>
            <a:ahLst/>
            <a:cxnLst/>
            <a:rect l="l" t="t" r="r" b="b"/>
            <a:pathLst>
              <a:path w="245744" h="12700">
                <a:moveTo>
                  <a:pt x="245363" y="0"/>
                </a:moveTo>
                <a:lnTo>
                  <a:pt x="0" y="0"/>
                </a:lnTo>
                <a:lnTo>
                  <a:pt x="0" y="12192"/>
                </a:lnTo>
                <a:lnTo>
                  <a:pt x="245363" y="12192"/>
                </a:lnTo>
                <a:lnTo>
                  <a:pt x="245363" y="0"/>
                </a:lnTo>
                <a:close/>
              </a:path>
            </a:pathLst>
          </a:custGeom>
          <a:solidFill>
            <a:srgbClr val="3E7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36748" y="7618627"/>
            <a:ext cx="302895" cy="46735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1000" spc="-50" dirty="0">
                <a:solidFill>
                  <a:srgbClr val="3E762B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R="5080" algn="ctr">
              <a:lnSpc>
                <a:spcPct val="100000"/>
              </a:lnSpc>
              <a:spcBef>
                <a:spcPts val="540"/>
              </a:spcBef>
            </a:pPr>
            <a:r>
              <a:rPr sz="1500" spc="-30" baseline="11111" dirty="0">
                <a:solidFill>
                  <a:srgbClr val="3E762B"/>
                </a:solidFill>
                <a:latin typeface="Cambria Math"/>
                <a:cs typeface="Cambria Math"/>
              </a:rPr>
              <a:t>𝑻</a:t>
            </a:r>
            <a:r>
              <a:rPr sz="850" spc="-20" dirty="0">
                <a:solidFill>
                  <a:srgbClr val="3E762B"/>
                </a:solidFill>
                <a:latin typeface="Cambria Math"/>
                <a:cs typeface="Cambria Math"/>
              </a:rPr>
              <a:t>𝒄𝒍𝒌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44089" y="7766405"/>
            <a:ext cx="1677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=</a:t>
            </a:r>
            <a:r>
              <a:rPr sz="12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clock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rate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=</a:t>
            </a:r>
            <a:r>
              <a:rPr sz="12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clock</a:t>
            </a:r>
            <a:r>
              <a:rPr sz="12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speed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6264" y="5579364"/>
            <a:ext cx="1670304" cy="7680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1708" y="975106"/>
            <a:ext cx="419417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R="508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Georgia"/>
                <a:cs typeface="Georgia"/>
              </a:rPr>
              <a:t>How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does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design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affect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CPU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performance </a:t>
            </a:r>
            <a:r>
              <a:rPr sz="1800" dirty="0">
                <a:latin typeface="Georgia"/>
                <a:cs typeface="Georgia"/>
              </a:rPr>
              <a:t>(frequency/clock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cycle)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9561" y="1600047"/>
            <a:ext cx="253365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marR="965200" indent="-170180">
              <a:lnSpc>
                <a:spcPct val="12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228600" algn="l"/>
              </a:tabLst>
            </a:pPr>
            <a:r>
              <a:rPr sz="1100" dirty="0">
                <a:latin typeface="Times New Roman"/>
                <a:cs typeface="Times New Roman"/>
              </a:rPr>
              <a:t>Propagation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times: 	</a:t>
            </a:r>
            <a:r>
              <a:rPr sz="1100" dirty="0">
                <a:latin typeface="Times New Roman"/>
                <a:cs typeface="Times New Roman"/>
              </a:rPr>
              <a:t>30 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multiplexers,</a:t>
            </a:r>
            <a:endParaRPr sz="1100">
              <a:latin typeface="Times New Roman"/>
              <a:cs typeface="Times New Roman"/>
            </a:endParaRPr>
          </a:p>
          <a:p>
            <a:pPr marL="228600" marR="5080">
              <a:lnSpc>
                <a:spcPct val="120000"/>
              </a:lnSpc>
            </a:pPr>
            <a:r>
              <a:rPr sz="1100" dirty="0">
                <a:latin typeface="Times New Roman"/>
                <a:cs typeface="Times New Roman"/>
              </a:rPr>
              <a:t>80 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the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ALU, </a:t>
            </a:r>
            <a:r>
              <a:rPr sz="1100" dirty="0">
                <a:latin typeface="Times New Roman"/>
                <a:cs typeface="Times New Roman"/>
              </a:rPr>
              <a:t>20 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decoder,</a:t>
            </a:r>
            <a:endParaRPr sz="1100">
              <a:latin typeface="Times New Roman"/>
              <a:cs typeface="Times New Roman"/>
            </a:endParaRPr>
          </a:p>
          <a:p>
            <a:pPr marR="104139" indent="228600">
              <a:lnSpc>
                <a:spcPct val="120000"/>
              </a:lnSpc>
            </a:pPr>
            <a:r>
              <a:rPr sz="1100" dirty="0">
                <a:latin typeface="Times New Roman"/>
                <a:cs typeface="Times New Roman"/>
              </a:rPr>
              <a:t>10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register. </a:t>
            </a: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minimum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cycle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period?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561" y="3155137"/>
            <a:ext cx="2892425" cy="749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Sol:</a:t>
            </a:r>
            <a:endParaRPr sz="1100">
              <a:latin typeface="Times New Roman"/>
              <a:cs typeface="Times New Roman"/>
            </a:endParaRPr>
          </a:p>
          <a:p>
            <a:pPr marL="170180" indent="-170180">
              <a:lnSpc>
                <a:spcPct val="100000"/>
              </a:lnSpc>
              <a:spcBef>
                <a:spcPts val="865"/>
              </a:spcBef>
              <a:buClr>
                <a:srgbClr val="3E762B"/>
              </a:buClr>
              <a:buFont typeface="Wingdings"/>
              <a:buChar char=""/>
              <a:tabLst>
                <a:tab pos="170180" algn="l"/>
              </a:tabLst>
            </a:pPr>
            <a:r>
              <a:rPr sz="1100" dirty="0">
                <a:latin typeface="Times New Roman"/>
                <a:cs typeface="Times New Roman"/>
              </a:rPr>
              <a:t>30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80 +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120 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cycle</a:t>
            </a:r>
            <a:endParaRPr sz="1100">
              <a:latin typeface="Times New Roman"/>
              <a:cs typeface="Times New Roman"/>
            </a:endParaRPr>
          </a:p>
          <a:p>
            <a:pPr marL="492125">
              <a:lnSpc>
                <a:spcPct val="100000"/>
              </a:lnSpc>
              <a:spcBef>
                <a:spcPts val="865"/>
              </a:spcBef>
            </a:pPr>
            <a:r>
              <a:rPr sz="1100" dirty="0">
                <a:latin typeface="Wingdings"/>
                <a:cs typeface="Wingdings"/>
              </a:rPr>
              <a:t>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cycle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759" y="1589532"/>
            <a:ext cx="2912364" cy="21945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44694" y="2600325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30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2922" y="3224276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80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7146" y="2856992"/>
            <a:ext cx="116839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20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26865" y="1704212"/>
            <a:ext cx="11683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1" name="object 11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5423" y="5069586"/>
            <a:ext cx="5209540" cy="153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Assessment</a:t>
            </a:r>
            <a:endParaRPr sz="2200">
              <a:latin typeface="Georgia"/>
              <a:cs typeface="Georgia"/>
            </a:endParaRPr>
          </a:p>
          <a:p>
            <a:pPr marL="261620" indent="-227965">
              <a:lnSpc>
                <a:spcPct val="100000"/>
              </a:lnSpc>
              <a:spcBef>
                <a:spcPts val="1240"/>
              </a:spcBef>
              <a:buFont typeface="Wingdings"/>
              <a:buChar char=""/>
              <a:tabLst>
                <a:tab pos="261620" algn="l"/>
              </a:tabLst>
            </a:pPr>
            <a:r>
              <a:rPr sz="13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Average</a:t>
            </a:r>
            <a:r>
              <a:rPr sz="13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3E762B"/>
                </a:solidFill>
                <a:latin typeface="Times New Roman"/>
                <a:cs typeface="Times New Roman"/>
              </a:rPr>
              <a:t>Cycles</a:t>
            </a:r>
            <a:r>
              <a:rPr sz="13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3E762B"/>
                </a:solidFill>
                <a:latin typeface="Times New Roman"/>
                <a:cs typeface="Times New Roman"/>
              </a:rPr>
              <a:t>Per</a:t>
            </a:r>
            <a:r>
              <a:rPr sz="1300" b="1" spc="-4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3E762B"/>
                </a:solidFill>
                <a:latin typeface="Times New Roman"/>
                <a:cs typeface="Times New Roman"/>
              </a:rPr>
              <a:t>Instruction</a:t>
            </a:r>
            <a:r>
              <a:rPr sz="13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3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CPI</a:t>
            </a:r>
            <a:endParaRPr sz="1300">
              <a:latin typeface="Times New Roman"/>
              <a:cs typeface="Times New Roman"/>
            </a:endParaRPr>
          </a:p>
          <a:p>
            <a:pPr marL="490855" marR="186055" lvl="1" indent="-173990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Symbol"/>
              <a:buChar char=""/>
              <a:tabLst>
                <a:tab pos="490855" algn="l"/>
              </a:tabLst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clock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cycles,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CPI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constant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processor.</a:t>
            </a:r>
            <a:endParaRPr sz="1100">
              <a:latin typeface="Times New Roman"/>
              <a:cs typeface="Times New Roman"/>
            </a:endParaRPr>
          </a:p>
          <a:p>
            <a:pPr marL="490855" marR="5080" lvl="1" indent="-17399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Symbol"/>
              <a:buChar char=""/>
              <a:tabLst>
                <a:tab pos="490855" algn="l"/>
              </a:tabLst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clock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cycles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such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branch,</a:t>
            </a:r>
            <a:r>
              <a:rPr sz="1100" spc="-20" dirty="0">
                <a:latin typeface="Times New Roman"/>
                <a:cs typeface="Times New Roman"/>
              </a:rPr>
              <a:t> etc.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85136" y="6914515"/>
            <a:ext cx="5073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E762B"/>
                </a:solidFill>
                <a:latin typeface="Cambria Math"/>
                <a:cs typeface="Cambria Math"/>
              </a:rPr>
              <a:t>𝑪𝑷𝑰</a:t>
            </a:r>
            <a:r>
              <a:rPr sz="1400" spc="6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28697" y="7047864"/>
            <a:ext cx="1201420" cy="12700"/>
          </a:xfrm>
          <a:custGeom>
            <a:avLst/>
            <a:gdLst/>
            <a:ahLst/>
            <a:cxnLst/>
            <a:rect l="l" t="t" r="r" b="b"/>
            <a:pathLst>
              <a:path w="1201420" h="12700">
                <a:moveTo>
                  <a:pt x="1200912" y="0"/>
                </a:moveTo>
                <a:lnTo>
                  <a:pt x="0" y="0"/>
                </a:lnTo>
                <a:lnTo>
                  <a:pt x="0" y="12192"/>
                </a:lnTo>
                <a:lnTo>
                  <a:pt x="1200912" y="12192"/>
                </a:lnTo>
                <a:lnTo>
                  <a:pt x="1200912" y="0"/>
                </a:lnTo>
                <a:close/>
              </a:path>
            </a:pathLst>
          </a:custGeom>
          <a:solidFill>
            <a:srgbClr val="3E7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55697" y="6871842"/>
            <a:ext cx="233679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3E762B"/>
                </a:solidFill>
                <a:latin typeface="Cambria Math"/>
                <a:cs typeface="Cambria Math"/>
              </a:rPr>
              <a:t>𝒊=𝟏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2503804" y="6706869"/>
            <a:ext cx="274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100" spc="104" baseline="-19841" dirty="0">
                <a:solidFill>
                  <a:srgbClr val="3E762B"/>
                </a:solidFill>
                <a:latin typeface="Cambria Math"/>
                <a:cs typeface="Cambria Math"/>
              </a:rPr>
              <a:t>σ</a:t>
            </a:r>
            <a:r>
              <a:rPr sz="1000" spc="70" dirty="0">
                <a:solidFill>
                  <a:srgbClr val="3E762B"/>
                </a:solidFill>
                <a:latin typeface="Cambria Math"/>
                <a:cs typeface="Cambria Math"/>
              </a:rPr>
              <a:t>𝒏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9752" y="6738340"/>
            <a:ext cx="920115" cy="5346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20"/>
              </a:spcBef>
            </a:pPr>
            <a:r>
              <a:rPr sz="1400" dirty="0">
                <a:solidFill>
                  <a:srgbClr val="3E762B"/>
                </a:solidFill>
                <a:latin typeface="Cambria Math"/>
                <a:cs typeface="Cambria Math"/>
              </a:rPr>
              <a:t>(𝑪𝑷𝑰</a:t>
            </a:r>
            <a:r>
              <a:rPr sz="1500" baseline="-16666" dirty="0">
                <a:solidFill>
                  <a:srgbClr val="3E762B"/>
                </a:solidFill>
                <a:latin typeface="Cambria Math"/>
                <a:cs typeface="Cambria Math"/>
              </a:rPr>
              <a:t>𝒊</a:t>
            </a:r>
            <a:r>
              <a:rPr sz="1500" spc="232" baseline="-16666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3E762B"/>
                </a:solidFill>
                <a:latin typeface="Cambria Math"/>
                <a:cs typeface="Cambria Math"/>
              </a:rPr>
              <a:t>×</a:t>
            </a:r>
            <a:r>
              <a:rPr sz="1400" spc="-1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3E762B"/>
                </a:solidFill>
                <a:latin typeface="Cambria Math"/>
                <a:cs typeface="Cambria Math"/>
              </a:rPr>
              <a:t>𝑰</a:t>
            </a:r>
            <a:r>
              <a:rPr sz="1500" spc="-37" baseline="-16666" dirty="0">
                <a:solidFill>
                  <a:srgbClr val="3E762B"/>
                </a:solidFill>
                <a:latin typeface="Cambria Math"/>
                <a:cs typeface="Cambria Math"/>
              </a:rPr>
              <a:t>𝒊</a:t>
            </a:r>
            <a:r>
              <a:rPr sz="1400" spc="-25" dirty="0">
                <a:solidFill>
                  <a:srgbClr val="3E762B"/>
                </a:solidFill>
                <a:latin typeface="Cambria Math"/>
                <a:cs typeface="Cambria Math"/>
              </a:rPr>
              <a:t>)</a:t>
            </a:r>
            <a:endParaRPr sz="1400">
              <a:latin typeface="Cambria Math"/>
              <a:cs typeface="Cambria Math"/>
            </a:endParaRPr>
          </a:p>
          <a:p>
            <a:pPr marL="203835">
              <a:lnSpc>
                <a:spcPct val="100000"/>
              </a:lnSpc>
              <a:spcBef>
                <a:spcPts val="325"/>
              </a:spcBef>
            </a:pPr>
            <a:r>
              <a:rPr sz="1400" spc="-25" dirty="0">
                <a:solidFill>
                  <a:srgbClr val="3E762B"/>
                </a:solidFill>
                <a:latin typeface="Cambria Math"/>
                <a:cs typeface="Cambria Math"/>
              </a:rPr>
              <a:t>𝑰</a:t>
            </a:r>
            <a:r>
              <a:rPr sz="1500" spc="-37" baseline="-16666" dirty="0">
                <a:solidFill>
                  <a:srgbClr val="3E762B"/>
                </a:solidFill>
                <a:latin typeface="Cambria Math"/>
                <a:cs typeface="Cambria Math"/>
              </a:rPr>
              <a:t>𝒄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19986" y="7300696"/>
            <a:ext cx="4420870" cy="7569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00"/>
              </a:spcBef>
            </a:pP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mbria Math"/>
                <a:cs typeface="Cambria Math"/>
              </a:rPr>
              <a:t>𝑪𝑷𝑰</a:t>
            </a:r>
            <a:r>
              <a:rPr sz="1200" baseline="-17361" dirty="0">
                <a:latin typeface="Cambria Math"/>
                <a:cs typeface="Cambria Math"/>
              </a:rPr>
              <a:t>𝒊</a:t>
            </a:r>
            <a:r>
              <a:rPr sz="1200" spc="209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 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cycles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Cambria Math"/>
                <a:cs typeface="Cambria Math"/>
              </a:rPr>
              <a:t>𝑰</a:t>
            </a:r>
            <a:r>
              <a:rPr sz="1200" baseline="-17361" dirty="0">
                <a:latin typeface="Cambria Math"/>
                <a:cs typeface="Cambria Math"/>
              </a:rPr>
              <a:t>𝒊</a:t>
            </a:r>
            <a:r>
              <a:rPr sz="1200" spc="217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executed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i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2540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Cambria Math"/>
                <a:cs typeface="Cambria Math"/>
              </a:rPr>
              <a:t>𝑰</a:t>
            </a:r>
            <a:r>
              <a:rPr sz="1200" baseline="-17361" dirty="0">
                <a:latin typeface="Cambria Math"/>
                <a:cs typeface="Cambria Math"/>
              </a:rPr>
              <a:t>𝒄</a:t>
            </a:r>
            <a:r>
              <a:rPr sz="1200" spc="165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program 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 defined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 </a:t>
            </a:r>
            <a:r>
              <a:rPr sz="1100" spc="-10" dirty="0">
                <a:latin typeface="Times New Roman"/>
                <a:cs typeface="Times New Roman"/>
              </a:rPr>
              <a:t>interval.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Assessment</a:t>
            </a:r>
            <a:endParaRPr sz="2200">
              <a:latin typeface="Georgia"/>
              <a:cs typeface="Georgia"/>
            </a:endParaRPr>
          </a:p>
          <a:p>
            <a:pPr marL="490220" indent="-227965">
              <a:lnSpc>
                <a:spcPct val="100000"/>
              </a:lnSpc>
              <a:spcBef>
                <a:spcPts val="1180"/>
              </a:spcBef>
              <a:buFont typeface="Wingdings"/>
              <a:buChar char=""/>
              <a:tabLst>
                <a:tab pos="490220" algn="l"/>
              </a:tabLst>
            </a:pPr>
            <a:r>
              <a:rPr sz="1400" b="1" dirty="0">
                <a:solidFill>
                  <a:srgbClr val="3E762B"/>
                </a:solidFill>
                <a:latin typeface="Times New Roman"/>
                <a:cs typeface="Times New Roman"/>
              </a:rPr>
              <a:t>Execution</a:t>
            </a:r>
            <a:r>
              <a:rPr sz="1400" b="1" spc="-6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Time</a:t>
            </a:r>
            <a:endParaRPr sz="1400">
              <a:latin typeface="Times New Roman"/>
              <a:cs typeface="Times New Roman"/>
            </a:endParaRPr>
          </a:p>
          <a:p>
            <a:pPr marL="718820" lvl="1" indent="-172720">
              <a:lnSpc>
                <a:spcPct val="100000"/>
              </a:lnSpc>
              <a:spcBef>
                <a:spcPts val="610"/>
              </a:spcBef>
              <a:buClr>
                <a:srgbClr val="3E762B"/>
              </a:buClr>
              <a:buFont typeface="Symbol"/>
              <a:buChar char=""/>
              <a:tabLst>
                <a:tab pos="71882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1177290">
              <a:lnSpc>
                <a:spcPct val="100000"/>
              </a:lnSpc>
              <a:spcBef>
                <a:spcPts val="1165"/>
              </a:spcBef>
            </a:pPr>
            <a:r>
              <a:rPr sz="1500" b="1" dirty="0">
                <a:solidFill>
                  <a:srgbClr val="3E762B"/>
                </a:solidFill>
                <a:latin typeface="Times New Roman"/>
                <a:cs typeface="Times New Roman"/>
              </a:rPr>
              <a:t>Execution</a:t>
            </a:r>
            <a:r>
              <a:rPr sz="15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3E762B"/>
                </a:solidFill>
                <a:latin typeface="Times New Roman"/>
                <a:cs typeface="Times New Roman"/>
              </a:rPr>
              <a:t>time</a:t>
            </a:r>
            <a:r>
              <a:rPr sz="1500" b="1" spc="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r>
              <a:rPr sz="1500" spc="6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3E762B"/>
                </a:solidFill>
                <a:latin typeface="Cambria Math"/>
                <a:cs typeface="Cambria Math"/>
              </a:rPr>
              <a:t>𝑰</a:t>
            </a:r>
            <a:r>
              <a:rPr sz="1650" baseline="-15151" dirty="0">
                <a:solidFill>
                  <a:srgbClr val="3E762B"/>
                </a:solidFill>
                <a:latin typeface="Cambria Math"/>
                <a:cs typeface="Cambria Math"/>
              </a:rPr>
              <a:t>𝒄</a:t>
            </a:r>
            <a:r>
              <a:rPr sz="1650" spc="187" baseline="-15151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3E762B"/>
                </a:solidFill>
                <a:latin typeface="Cambria Math"/>
                <a:cs typeface="Cambria Math"/>
              </a:rPr>
              <a:t>×</a:t>
            </a:r>
            <a:r>
              <a:rPr sz="1500" spc="-1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3E762B"/>
                </a:solidFill>
                <a:latin typeface="Cambria Math"/>
                <a:cs typeface="Cambria Math"/>
              </a:rPr>
              <a:t>𝑪𝑷𝑰</a:t>
            </a:r>
            <a:r>
              <a:rPr sz="1500" spc="-1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500" dirty="0">
                <a:solidFill>
                  <a:srgbClr val="3E762B"/>
                </a:solidFill>
                <a:latin typeface="Cambria Math"/>
                <a:cs typeface="Cambria Math"/>
              </a:rPr>
              <a:t>×</a:t>
            </a:r>
            <a:r>
              <a:rPr sz="1500" spc="-1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500" spc="-20" dirty="0">
                <a:solidFill>
                  <a:srgbClr val="3E762B"/>
                </a:solidFill>
                <a:latin typeface="Cambria Math"/>
                <a:cs typeface="Cambria Math"/>
              </a:rPr>
              <a:t>𝑻</a:t>
            </a:r>
            <a:r>
              <a:rPr sz="1650" spc="-30" baseline="-15151" dirty="0">
                <a:solidFill>
                  <a:srgbClr val="3E762B"/>
                </a:solidFill>
                <a:latin typeface="Cambria Math"/>
                <a:cs typeface="Cambria Math"/>
              </a:rPr>
              <a:t>𝒄𝒍𝒌</a:t>
            </a:r>
            <a:endParaRPr sz="1650" baseline="-15151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36319" y="2971800"/>
            <a:ext cx="4180840" cy="300355"/>
            <a:chOff x="1036319" y="2971800"/>
            <a:chExt cx="4180840" cy="300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891" y="2976372"/>
              <a:ext cx="4171188" cy="2910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8605" y="2974086"/>
              <a:ext cx="4175760" cy="295910"/>
            </a:xfrm>
            <a:custGeom>
              <a:avLst/>
              <a:gdLst/>
              <a:ahLst/>
              <a:cxnLst/>
              <a:rect l="l" t="t" r="r" b="b"/>
              <a:pathLst>
                <a:path w="4175760" h="295910">
                  <a:moveTo>
                    <a:pt x="0" y="295656"/>
                  </a:moveTo>
                  <a:lnTo>
                    <a:pt x="4175760" y="295656"/>
                  </a:lnTo>
                  <a:lnTo>
                    <a:pt x="4175760" y="0"/>
                  </a:lnTo>
                  <a:lnTo>
                    <a:pt x="0" y="0"/>
                  </a:lnTo>
                  <a:lnTo>
                    <a:pt x="0" y="295656"/>
                  </a:lnTo>
                  <a:close/>
                </a:path>
              </a:pathLst>
            </a:custGeom>
            <a:ln w="4572">
              <a:solidFill>
                <a:srgbClr val="3E76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25423" y="5069586"/>
            <a:ext cx="3956050" cy="1273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4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Assessment</a:t>
            </a:r>
            <a:endParaRPr sz="2200">
              <a:latin typeface="Georgia"/>
              <a:cs typeface="Georgia"/>
            </a:endParaRPr>
          </a:p>
          <a:p>
            <a:pPr marL="261620" indent="-227965">
              <a:lnSpc>
                <a:spcPct val="100000"/>
              </a:lnSpc>
              <a:spcBef>
                <a:spcPts val="1720"/>
              </a:spcBef>
              <a:buFont typeface="Wingdings"/>
              <a:buChar char=""/>
              <a:tabLst>
                <a:tab pos="261620" algn="l"/>
              </a:tabLst>
            </a:pPr>
            <a:r>
              <a:rPr sz="1400" b="1" dirty="0">
                <a:solidFill>
                  <a:srgbClr val="3E762B"/>
                </a:solidFill>
                <a:latin typeface="Times New Roman"/>
                <a:cs typeface="Times New Roman"/>
              </a:rPr>
              <a:t>MIPS</a:t>
            </a:r>
            <a:r>
              <a:rPr sz="14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3E762B"/>
                </a:solidFill>
                <a:latin typeface="Times New Roman"/>
                <a:cs typeface="Times New Roman"/>
              </a:rPr>
              <a:t>Rate</a:t>
            </a:r>
            <a:endParaRPr sz="1400">
              <a:latin typeface="Times New Roman"/>
              <a:cs typeface="Times New Roman"/>
            </a:endParaRPr>
          </a:p>
          <a:p>
            <a:pPr marL="490220" lvl="1" indent="-172720">
              <a:lnSpc>
                <a:spcPct val="100000"/>
              </a:lnSpc>
              <a:spcBef>
                <a:spcPts val="910"/>
              </a:spcBef>
              <a:buClr>
                <a:srgbClr val="3E762B"/>
              </a:buClr>
              <a:buFont typeface="Symbol"/>
              <a:buChar char=""/>
              <a:tabLst>
                <a:tab pos="49022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millions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</a:t>
            </a:r>
            <a:r>
              <a:rPr sz="1200" spc="-10" dirty="0">
                <a:latin typeface="Times New Roman"/>
                <a:cs typeface="Times New Roman"/>
              </a:rPr>
              <a:t> (MIPS)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4155" y="6582917"/>
            <a:ext cx="922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𝑴𝑰𝑷𝑺</a:t>
            </a:r>
            <a:r>
              <a:rPr sz="1200" spc="-3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𝒓𝒂𝒕𝒆</a:t>
            </a:r>
            <a:r>
              <a:rPr sz="1200" spc="2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spc="-6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3585" y="6582917"/>
            <a:ext cx="12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762B"/>
                </a:solidFill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08145" y="6697980"/>
            <a:ext cx="699770" cy="10795"/>
          </a:xfrm>
          <a:custGeom>
            <a:avLst/>
            <a:gdLst/>
            <a:ahLst/>
            <a:cxnLst/>
            <a:rect l="l" t="t" r="r" b="b"/>
            <a:pathLst>
              <a:path w="699770" h="10795">
                <a:moveTo>
                  <a:pt x="699515" y="0"/>
                </a:moveTo>
                <a:lnTo>
                  <a:pt x="0" y="0"/>
                </a:lnTo>
                <a:lnTo>
                  <a:pt x="0" y="10667"/>
                </a:lnTo>
                <a:lnTo>
                  <a:pt x="699515" y="10667"/>
                </a:lnTo>
                <a:lnTo>
                  <a:pt x="699515" y="0"/>
                </a:lnTo>
                <a:close/>
              </a:path>
            </a:pathLst>
          </a:custGeom>
          <a:solidFill>
            <a:srgbClr val="3E7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06776" y="6467094"/>
            <a:ext cx="2233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602740" algn="l"/>
                <a:tab pos="2108200" algn="l"/>
              </a:tabLst>
            </a:pPr>
            <a:r>
              <a:rPr sz="1200" u="sng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sng" spc="-25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Cambria Math"/>
                <a:cs typeface="Cambria Math"/>
              </a:rPr>
              <a:t>𝑰</a:t>
            </a:r>
            <a:r>
              <a:rPr sz="1275" u="sng" spc="-37" baseline="-16339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Cambria Math"/>
                <a:cs typeface="Cambria Math"/>
              </a:rPr>
              <a:t>𝒄</a:t>
            </a:r>
            <a:r>
              <a:rPr sz="1275" u="sng" baseline="-16339" dirty="0">
                <a:solidFill>
                  <a:srgbClr val="3E762B"/>
                </a:solidFill>
                <a:uFill>
                  <a:solidFill>
                    <a:srgbClr val="3E762B"/>
                  </a:solidFill>
                </a:uFill>
                <a:latin typeface="Cambria Math"/>
                <a:cs typeface="Cambria Math"/>
              </a:rPr>
              <a:t>	</a:t>
            </a:r>
            <a:r>
              <a:rPr sz="1275" baseline="-16339" dirty="0">
                <a:solidFill>
                  <a:srgbClr val="3E762B"/>
                </a:solidFill>
                <a:latin typeface="Cambria Math"/>
                <a:cs typeface="Cambria Math"/>
              </a:rPr>
              <a:t>	</a:t>
            </a:r>
            <a:r>
              <a:rPr sz="1200" spc="-50" dirty="0">
                <a:solidFill>
                  <a:srgbClr val="3E762B"/>
                </a:solidFill>
                <a:latin typeface="Cambria Math"/>
                <a:cs typeface="Cambria Math"/>
              </a:rPr>
              <a:t>𝒇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2419985" y="6685026"/>
            <a:ext cx="2520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88795" algn="l"/>
              </a:tabLst>
            </a:pP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𝑬𝒙𝒆𝒄𝒖𝒕𝒊𝒐𝒏</a:t>
            </a:r>
            <a:r>
              <a:rPr sz="1200" spc="-2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𝒕𝒊𝒎𝒆</a:t>
            </a:r>
            <a:r>
              <a:rPr sz="1200" spc="-40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×</a:t>
            </a:r>
            <a:r>
              <a:rPr sz="1200" spc="-3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spc="-25" dirty="0">
                <a:solidFill>
                  <a:srgbClr val="3E762B"/>
                </a:solidFill>
                <a:latin typeface="Cambria Math"/>
                <a:cs typeface="Cambria Math"/>
              </a:rPr>
              <a:t>𝟏𝟎</a:t>
            </a:r>
            <a:r>
              <a:rPr sz="1275" spc="-37" baseline="22875" dirty="0">
                <a:solidFill>
                  <a:srgbClr val="3E762B"/>
                </a:solidFill>
                <a:latin typeface="Cambria Math"/>
                <a:cs typeface="Cambria Math"/>
              </a:rPr>
              <a:t>𝟔</a:t>
            </a:r>
            <a:r>
              <a:rPr sz="1275" baseline="22875" dirty="0">
                <a:solidFill>
                  <a:srgbClr val="3E762B"/>
                </a:solidFill>
                <a:latin typeface="Cambria Math"/>
                <a:cs typeface="Cambria Math"/>
              </a:rPr>
              <a:t>	</a:t>
            </a: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𝑪𝑷𝑰</a:t>
            </a:r>
            <a:r>
              <a:rPr sz="1200" spc="-2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3E762B"/>
                </a:solidFill>
                <a:latin typeface="Cambria Math"/>
                <a:cs typeface="Cambria Math"/>
              </a:rPr>
              <a:t>×</a:t>
            </a:r>
            <a:r>
              <a:rPr sz="1200" spc="-5" dirty="0">
                <a:solidFill>
                  <a:srgbClr val="3E762B"/>
                </a:solidFill>
                <a:latin typeface="Cambria Math"/>
                <a:cs typeface="Cambria Math"/>
              </a:rPr>
              <a:t> </a:t>
            </a:r>
            <a:r>
              <a:rPr sz="1200" spc="-25" dirty="0">
                <a:solidFill>
                  <a:srgbClr val="3E762B"/>
                </a:solidFill>
                <a:latin typeface="Cambria Math"/>
                <a:cs typeface="Cambria Math"/>
              </a:rPr>
              <a:t>𝟏𝟎</a:t>
            </a:r>
            <a:r>
              <a:rPr sz="1275" spc="-37" baseline="22875" dirty="0">
                <a:solidFill>
                  <a:srgbClr val="3E762B"/>
                </a:solidFill>
                <a:latin typeface="Cambria Math"/>
                <a:cs typeface="Cambria Math"/>
              </a:rPr>
              <a:t>𝟔</a:t>
            </a:r>
            <a:endParaRPr sz="1275" baseline="22875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1361" y="6953250"/>
            <a:ext cx="342455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convert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Cambria Math"/>
                <a:cs typeface="Cambria Math"/>
              </a:rPr>
              <a:t>𝐼</a:t>
            </a:r>
            <a:r>
              <a:rPr sz="1200" baseline="-17361" dirty="0">
                <a:latin typeface="Cambria Math"/>
                <a:cs typeface="Cambria Math"/>
              </a:rPr>
              <a:t>𝑐</a:t>
            </a:r>
            <a:r>
              <a:rPr sz="1200" spc="195" baseline="-17361" dirty="0">
                <a:latin typeface="Cambria Math"/>
                <a:cs typeface="Cambria Math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mega,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divided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10</a:t>
            </a:r>
            <a:r>
              <a:rPr sz="1200" spc="-37" baseline="27777" dirty="0">
                <a:latin typeface="Cambria Math"/>
                <a:cs typeface="Cambria Math"/>
              </a:rPr>
              <a:t>6</a:t>
            </a:r>
            <a:endParaRPr sz="1200" baseline="2777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 algn="just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Assessment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(Example)</a:t>
            </a:r>
            <a:endParaRPr sz="2200">
              <a:latin typeface="Georgia"/>
              <a:cs typeface="Georgia"/>
            </a:endParaRPr>
          </a:p>
          <a:p>
            <a:pPr marL="262255" marR="745490" algn="just">
              <a:lnSpc>
                <a:spcPct val="100000"/>
              </a:lnSpc>
              <a:spcBef>
                <a:spcPts val="1300"/>
              </a:spcBef>
            </a:pPr>
            <a:r>
              <a:rPr sz="1200" dirty="0">
                <a:latin typeface="Times New Roman"/>
                <a:cs typeface="Times New Roman"/>
              </a:rPr>
              <a:t>consider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execution of 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 which results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execution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million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400-MHz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processor.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four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major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 instructions.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instruction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mix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type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 trace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experiment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Times New Roman"/>
              <a:cs typeface="Times New Roman"/>
            </a:endParaRPr>
          </a:p>
          <a:p>
            <a:pPr marL="558800" indent="-15938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"/>
              <a:tabLst>
                <a:tab pos="558800" algn="l"/>
              </a:tabLst>
            </a:pP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(3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0.6)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(4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0.18)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(6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0.12) +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(10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0.1)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4.24</a:t>
            </a:r>
            <a:endParaRPr sz="1200">
              <a:latin typeface="Times New Roman"/>
              <a:cs typeface="Times New Roman"/>
            </a:endParaRPr>
          </a:p>
          <a:p>
            <a:pPr marL="558800" indent="-159385">
              <a:lnSpc>
                <a:spcPct val="100000"/>
              </a:lnSpc>
              <a:spcBef>
                <a:spcPts val="155"/>
              </a:spcBef>
              <a:buClr>
                <a:srgbClr val="3E762B"/>
              </a:buClr>
              <a:buFont typeface="Wingdings"/>
              <a:buChar char=""/>
              <a:tabLst>
                <a:tab pos="558800" algn="l"/>
              </a:tabLst>
            </a:pPr>
            <a:r>
              <a:rPr sz="1200" dirty="0">
                <a:latin typeface="Times New Roman"/>
                <a:cs typeface="Times New Roman"/>
              </a:rPr>
              <a:t>MIPS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(400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baseline="2430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(4.24 ×10</a:t>
            </a:r>
            <a:r>
              <a:rPr sz="1200" baseline="2430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≈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94</a:t>
            </a:r>
            <a:endParaRPr sz="1200">
              <a:latin typeface="Times New Roman"/>
              <a:cs typeface="Times New Roman"/>
            </a:endParaRPr>
          </a:p>
          <a:p>
            <a:pPr marL="558800" indent="-159385">
              <a:lnSpc>
                <a:spcPct val="100000"/>
              </a:lnSpc>
              <a:spcBef>
                <a:spcPts val="155"/>
              </a:spcBef>
              <a:buClr>
                <a:srgbClr val="3E762B"/>
              </a:buClr>
              <a:buFont typeface="Wingdings"/>
              <a:buChar char=""/>
              <a:tabLst>
                <a:tab pos="558800" algn="l"/>
              </a:tabLst>
            </a:pP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baseline="24305" dirty="0">
                <a:latin typeface="Times New Roman"/>
                <a:cs typeface="Times New Roman"/>
              </a:rPr>
              <a:t>6</a:t>
            </a:r>
            <a:r>
              <a:rPr sz="1200" spc="569" baseline="24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4.24)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(400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×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</a:t>
            </a:r>
            <a:r>
              <a:rPr sz="1200" baseline="2430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21.2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60" y="2420111"/>
            <a:ext cx="3041904" cy="9235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Benchmarks</a:t>
            </a:r>
            <a:endParaRPr sz="2200">
              <a:latin typeface="Georgia"/>
              <a:cs typeface="Georgia"/>
            </a:endParaRPr>
          </a:p>
          <a:p>
            <a:pPr marL="490855" marR="840740" indent="-228600">
              <a:lnSpc>
                <a:spcPct val="100000"/>
              </a:lnSpc>
              <a:spcBef>
                <a:spcPts val="1300"/>
              </a:spcBef>
            </a:pPr>
            <a:r>
              <a:rPr sz="1200" dirty="0">
                <a:solidFill>
                  <a:srgbClr val="3E762B"/>
                </a:solidFill>
                <a:latin typeface="Times New Roman"/>
                <a:cs typeface="Times New Roman"/>
              </a:rPr>
              <a:t>1.</a:t>
            </a:r>
            <a:r>
              <a:rPr sz="1200" spc="120" dirty="0">
                <a:solidFill>
                  <a:srgbClr val="3E762B"/>
                </a:solidFill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differences</a:t>
            </a:r>
            <a:r>
              <a:rPr sz="1200" dirty="0">
                <a:latin typeface="Times New Roman"/>
                <a:cs typeface="Times New Roman"/>
              </a:rPr>
              <a:t> 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(MIPS)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architectures.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814" y="1605481"/>
            <a:ext cx="4728845" cy="400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100" dirty="0">
                <a:solidFill>
                  <a:srgbClr val="3E762B"/>
                </a:solidFill>
                <a:latin typeface="Wingdings"/>
                <a:cs typeface="Wingdings"/>
              </a:rPr>
              <a:t></a:t>
            </a:r>
            <a:r>
              <a:rPr sz="1100" spc="11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consider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high-</a:t>
            </a:r>
            <a:r>
              <a:rPr sz="1100" dirty="0">
                <a:latin typeface="Times New Roman"/>
                <a:cs typeface="Times New Roman"/>
              </a:rPr>
              <a:t>level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statement:</a:t>
            </a:r>
            <a:endParaRPr sz="1100">
              <a:latin typeface="Times New Roman"/>
              <a:cs typeface="Times New Roman"/>
            </a:endParaRPr>
          </a:p>
          <a:p>
            <a:pPr marL="1398905">
              <a:lnSpc>
                <a:spcPct val="100000"/>
              </a:lnSpc>
              <a:spcBef>
                <a:spcPts val="600"/>
              </a:spcBef>
              <a:tabLst>
                <a:tab pos="2321560" algn="l"/>
              </a:tabLst>
            </a:pPr>
            <a:r>
              <a:rPr sz="1100" spc="-10" dirty="0">
                <a:latin typeface="Times New Roman"/>
                <a:cs typeface="Times New Roman"/>
              </a:rPr>
              <a:t>A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	/*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quantities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Benchmarks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200">
              <a:latin typeface="Georgia"/>
              <a:cs typeface="Georgia"/>
            </a:endParaRPr>
          </a:p>
          <a:p>
            <a:pPr marL="629920" marR="391160" indent="-173990">
              <a:lnSpc>
                <a:spcPct val="145700"/>
              </a:lnSpc>
              <a:buClr>
                <a:srgbClr val="3E762B"/>
              </a:buClr>
              <a:buFont typeface="Wingdings"/>
              <a:buChar char=""/>
              <a:tabLst>
                <a:tab pos="1599565" algn="l"/>
                <a:tab pos="2056764" algn="l"/>
              </a:tabLst>
            </a:pP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CISC </a:t>
            </a:r>
            <a:r>
              <a:rPr sz="1100" dirty="0">
                <a:latin typeface="Times New Roman"/>
                <a:cs typeface="Times New Roman"/>
              </a:rPr>
              <a:t>machine,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compiled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 processor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instruction: 	</a:t>
            </a:r>
            <a:r>
              <a:rPr sz="1100" spc="-25" dirty="0">
                <a:latin typeface="Times New Roman"/>
                <a:cs typeface="Times New Roman"/>
              </a:rPr>
              <a:t>Add</a:t>
            </a:r>
            <a:r>
              <a:rPr sz="1100" dirty="0">
                <a:latin typeface="Times New Roman"/>
                <a:cs typeface="Times New Roman"/>
              </a:rPr>
              <a:t>	mem(B),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mem(C),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(A)</a:t>
            </a:r>
            <a:endParaRPr sz="1100">
              <a:latin typeface="Times New Roman"/>
              <a:cs typeface="Times New Roman"/>
            </a:endParaRPr>
          </a:p>
          <a:p>
            <a:pPr marL="629920" marR="1333500" indent="-173990">
              <a:lnSpc>
                <a:spcPct val="1455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"/>
              <a:tabLst>
                <a:tab pos="1626870" algn="l"/>
                <a:tab pos="2056764" algn="l"/>
              </a:tabLst>
            </a:pP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RISC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machine,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look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something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this: 	</a:t>
            </a:r>
            <a:r>
              <a:rPr sz="1100" spc="-20" dirty="0">
                <a:latin typeface="Times New Roman"/>
                <a:cs typeface="Times New Roman"/>
              </a:rPr>
              <a:t>Load</a:t>
            </a:r>
            <a:r>
              <a:rPr sz="1100" dirty="0">
                <a:latin typeface="Times New Roman"/>
                <a:cs typeface="Times New Roman"/>
              </a:rPr>
              <a:t>	mem(B),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reg(1);</a:t>
            </a:r>
            <a:endParaRPr sz="1100">
              <a:latin typeface="Times New Roman"/>
              <a:cs typeface="Times New Roman"/>
            </a:endParaRPr>
          </a:p>
          <a:p>
            <a:pPr marL="1626870">
              <a:lnSpc>
                <a:spcPct val="100000"/>
              </a:lnSpc>
              <a:spcBef>
                <a:spcPts val="600"/>
              </a:spcBef>
              <a:tabLst>
                <a:tab pos="2056764" algn="l"/>
              </a:tabLst>
            </a:pPr>
            <a:r>
              <a:rPr sz="1100" spc="-20" dirty="0">
                <a:latin typeface="Times New Roman"/>
                <a:cs typeface="Times New Roman"/>
              </a:rPr>
              <a:t>Load</a:t>
            </a:r>
            <a:r>
              <a:rPr sz="1100" dirty="0">
                <a:latin typeface="Times New Roman"/>
                <a:cs typeface="Times New Roman"/>
              </a:rPr>
              <a:t>	mem(C),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reg(2);</a:t>
            </a:r>
            <a:endParaRPr sz="1100">
              <a:latin typeface="Times New Roman"/>
              <a:cs typeface="Times New Roman"/>
            </a:endParaRPr>
          </a:p>
          <a:p>
            <a:pPr marL="1626870" marR="2592070">
              <a:lnSpc>
                <a:spcPct val="145500"/>
              </a:lnSpc>
              <a:tabLst>
                <a:tab pos="2056764" algn="l"/>
              </a:tabLst>
            </a:pPr>
            <a:r>
              <a:rPr sz="1100" spc="-25" dirty="0">
                <a:latin typeface="Times New Roman"/>
                <a:cs typeface="Times New Roman"/>
              </a:rPr>
              <a:t>Add</a:t>
            </a:r>
            <a:r>
              <a:rPr sz="1100" dirty="0">
                <a:latin typeface="Times New Roman"/>
                <a:cs typeface="Times New Roman"/>
              </a:rPr>
              <a:t>	reg(1),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reg(2),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reg(3); Store</a:t>
            </a:r>
            <a:r>
              <a:rPr sz="1100" dirty="0">
                <a:latin typeface="Times New Roman"/>
                <a:cs typeface="Times New Roman"/>
              </a:rPr>
              <a:t>	reg(3),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(A)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98" y="1631442"/>
            <a:ext cx="5748655" cy="462280"/>
          </a:xfrm>
          <a:prstGeom prst="rect">
            <a:avLst/>
          </a:prstGeom>
          <a:solidFill>
            <a:srgbClr val="478630"/>
          </a:solidFill>
          <a:ln w="19811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145"/>
              </a:spcBef>
            </a:pP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1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CISC</a:t>
            </a:r>
            <a:r>
              <a:rPr sz="11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rated</a:t>
            </a:r>
            <a:r>
              <a:rPr sz="11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at 1 MIPS,</a:t>
            </a: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1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RISC</a:t>
            </a:r>
            <a:r>
              <a:rPr sz="11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1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rated</a:t>
            </a:r>
            <a:r>
              <a:rPr sz="11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1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MIPS.</a:t>
            </a: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do the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high-level</a:t>
            </a:r>
            <a:r>
              <a:rPr sz="11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r>
              <a:rPr sz="11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work</a:t>
            </a:r>
            <a:r>
              <a:rPr sz="11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in around the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1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1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6" name="object 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Benchmarks</a:t>
            </a:r>
            <a:endParaRPr sz="2200">
              <a:latin typeface="Georgia"/>
              <a:cs typeface="Georgia"/>
            </a:endParaRPr>
          </a:p>
          <a:p>
            <a:pPr marL="490855" marR="840740" indent="-228600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AutoNum type="arabicPeriod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(MIPS)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architectures.</a:t>
            </a:r>
            <a:endParaRPr sz="1200">
              <a:latin typeface="Times New Roman"/>
              <a:cs typeface="Times New Roman"/>
            </a:endParaRPr>
          </a:p>
          <a:p>
            <a:pPr marL="490855" marR="909319" indent="-22860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AutoNum type="arabicPeriod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 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be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determining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3E762B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718185" marR="825500" lvl="1" indent="-145415">
              <a:lnSpc>
                <a:spcPct val="90000"/>
              </a:lnSpc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200" spc="-10" dirty="0">
                <a:latin typeface="Times New Roman"/>
                <a:cs typeface="Times New Roman"/>
              </a:rPr>
              <a:t>Accordingly,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1980s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early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1990s,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spc="-10" dirty="0">
                <a:latin typeface="Times New Roman"/>
                <a:cs typeface="Times New Roman"/>
              </a:rPr>
              <a:t>academic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interest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shifted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systems 	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benchmark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be 	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execution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times</a:t>
            </a:r>
            <a:r>
              <a:rPr sz="1200" b="1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compared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Benchmarks</a:t>
            </a:r>
            <a:endParaRPr sz="2200">
              <a:latin typeface="Georgia"/>
              <a:cs typeface="Georgia"/>
            </a:endParaRPr>
          </a:p>
          <a:p>
            <a:pPr marL="490855" marR="814069" indent="-228600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Font typeface="Wingdings"/>
              <a:buChar char="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benchmark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programs, defined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language,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together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attempt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representative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particular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area.</a:t>
            </a:r>
            <a:endParaRPr sz="1200">
              <a:latin typeface="Times New Roman"/>
              <a:cs typeface="Times New Roman"/>
            </a:endParaRPr>
          </a:p>
          <a:p>
            <a:pPr marL="490855" marR="1280795" indent="-228600" algn="just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benchmark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Performance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Evaluation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Corporation </a:t>
            </a:r>
            <a:r>
              <a:rPr sz="1200" b="1" dirty="0">
                <a:latin typeface="Times New Roman"/>
                <a:cs typeface="Times New Roman"/>
              </a:rPr>
              <a:t>(SPEC)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association.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" name="object 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30349" y="6878701"/>
              <a:ext cx="2735580" cy="506095"/>
            </a:xfrm>
            <a:custGeom>
              <a:avLst/>
              <a:gdLst/>
              <a:ahLst/>
              <a:cxnLst/>
              <a:rect l="l" t="t" r="r" b="b"/>
              <a:pathLst>
                <a:path w="2735579" h="506095">
                  <a:moveTo>
                    <a:pt x="2619756" y="495300"/>
                  </a:moveTo>
                  <a:lnTo>
                    <a:pt x="0" y="495300"/>
                  </a:lnTo>
                  <a:lnTo>
                    <a:pt x="0" y="505968"/>
                  </a:lnTo>
                  <a:lnTo>
                    <a:pt x="2619756" y="505968"/>
                  </a:lnTo>
                  <a:lnTo>
                    <a:pt x="2619756" y="495300"/>
                  </a:lnTo>
                  <a:close/>
                </a:path>
                <a:path w="2735579" h="506095">
                  <a:moveTo>
                    <a:pt x="2735580" y="0"/>
                  </a:moveTo>
                  <a:lnTo>
                    <a:pt x="3048" y="0"/>
                  </a:lnTo>
                  <a:lnTo>
                    <a:pt x="3048" y="10668"/>
                  </a:lnTo>
                  <a:lnTo>
                    <a:pt x="2735580" y="10668"/>
                  </a:lnTo>
                  <a:lnTo>
                    <a:pt x="2735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Benchmarks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Performance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Metrics</a:t>
            </a:r>
            <a:endParaRPr sz="2200">
              <a:latin typeface="Georgia"/>
              <a:cs typeface="Georgia"/>
            </a:endParaRPr>
          </a:p>
          <a:p>
            <a:pPr marL="373380" marR="468630">
              <a:lnSpc>
                <a:spcPct val="100000"/>
              </a:lnSpc>
              <a:spcBef>
                <a:spcPts val="1245"/>
              </a:spcBef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Speed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up:</a:t>
            </a:r>
            <a:r>
              <a:rPr sz="12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improvement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[e.g.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</a:t>
            </a: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hierarchy].</a:t>
            </a:r>
            <a:endParaRPr sz="1200">
              <a:latin typeface="Times New Roman"/>
              <a:cs typeface="Times New Roman"/>
            </a:endParaRPr>
          </a:p>
          <a:p>
            <a:pPr marL="60198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Times New Roman"/>
                <a:cs typeface="Times New Roman"/>
              </a:rPr>
              <a:t>Speedup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200">
              <a:latin typeface="Times New Roman"/>
              <a:cs typeface="Times New Roman"/>
            </a:endParaRPr>
          </a:p>
          <a:p>
            <a:pPr marR="47625" algn="ctr">
              <a:lnSpc>
                <a:spcPts val="1180"/>
              </a:lnSpc>
              <a:spcBef>
                <a:spcPts val="5"/>
              </a:spcBef>
            </a:pPr>
            <a:r>
              <a:rPr sz="1200" dirty="0">
                <a:latin typeface="Cambria Math"/>
                <a:cs typeface="Cambria Math"/>
              </a:rPr>
              <a:t>𝑬𝒙𝒆𝒄𝒖𝒕𝒊𝒐𝒏</a:t>
            </a:r>
            <a:r>
              <a:rPr sz="1200" spc="-3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𝒕𝒊𝒎𝒆</a:t>
            </a:r>
            <a:r>
              <a:rPr sz="1200" spc="-1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𝒃𝒆𝒇𝒐𝒓𝒆</a:t>
            </a:r>
            <a:r>
              <a:rPr sz="1200" spc="-20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𝒆𝒏𝒉𝒂𝒏𝒄𝒆𝒎𝒆𝒏𝒕</a:t>
            </a:r>
            <a:endParaRPr sz="1200">
              <a:latin typeface="Cambria Math"/>
              <a:cs typeface="Cambria Math"/>
            </a:endParaRPr>
          </a:p>
          <a:p>
            <a:pPr marR="3639185" algn="ctr">
              <a:lnSpc>
                <a:spcPts val="860"/>
              </a:lnSpc>
            </a:pPr>
            <a:r>
              <a:rPr sz="1200" dirty="0">
                <a:latin typeface="Cambria Math"/>
                <a:cs typeface="Cambria Math"/>
              </a:rPr>
              <a:t>𝐒𝐩𝐞𝐞𝐝𝐮𝐩 </a:t>
            </a:r>
            <a:r>
              <a:rPr sz="1200" spc="-5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  <a:p>
            <a:pPr marR="48260" algn="ctr">
              <a:lnSpc>
                <a:spcPts val="1120"/>
              </a:lnSpc>
            </a:pPr>
            <a:r>
              <a:rPr sz="1200" dirty="0">
                <a:latin typeface="Cambria Math"/>
                <a:cs typeface="Cambria Math"/>
              </a:rPr>
              <a:t>𝑬𝒙𝒆𝒄𝒖𝒕𝒊𝒐𝒏</a:t>
            </a:r>
            <a:r>
              <a:rPr sz="1200" spc="-3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𝒕𝒊𝒎𝒆</a:t>
            </a:r>
            <a:r>
              <a:rPr sz="1200" spc="-5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𝒂𝒇𝒕𝒆𝒓</a:t>
            </a:r>
            <a:r>
              <a:rPr sz="1200" spc="-40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𝒆𝒏𝒉𝒂𝒏𝒄𝒆𝒎𝒆𝒏𝒕</a:t>
            </a:r>
            <a:endParaRPr sz="1200">
              <a:latin typeface="Cambria Math"/>
              <a:cs typeface="Cambria Math"/>
            </a:endParaRPr>
          </a:p>
          <a:p>
            <a:pPr marR="165735" algn="ctr">
              <a:lnSpc>
                <a:spcPts val="1175"/>
              </a:lnSpc>
              <a:spcBef>
                <a:spcPts val="740"/>
              </a:spcBef>
            </a:pPr>
            <a:r>
              <a:rPr sz="1200" dirty="0">
                <a:latin typeface="Cambria Math"/>
                <a:cs typeface="Cambria Math"/>
              </a:rPr>
              <a:t>𝑷𝒆𝒓𝒇𝒐𝒓𝒎𝒂𝒏𝒄𝒆</a:t>
            </a:r>
            <a:r>
              <a:rPr sz="1200" spc="-4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𝒂𝒇𝒕𝒆𝒓</a:t>
            </a:r>
            <a:r>
              <a:rPr sz="1200" spc="-4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𝒆𝒏𝒉𝒂𝒏𝒄𝒆𝒎𝒆𝒏𝒕</a:t>
            </a:r>
            <a:endParaRPr sz="1200">
              <a:latin typeface="Cambria Math"/>
              <a:cs typeface="Cambria Math"/>
            </a:endParaRPr>
          </a:p>
          <a:p>
            <a:pPr marR="2983865" algn="ctr">
              <a:lnSpc>
                <a:spcPts val="860"/>
              </a:lnSpc>
            </a:pPr>
            <a:r>
              <a:rPr sz="1200" spc="-50" dirty="0">
                <a:latin typeface="Cambria Math"/>
                <a:cs typeface="Cambria Math"/>
              </a:rPr>
              <a:t>=</a:t>
            </a:r>
            <a:endParaRPr sz="1200">
              <a:latin typeface="Cambria Math"/>
              <a:cs typeface="Cambria Math"/>
            </a:endParaRPr>
          </a:p>
          <a:p>
            <a:pPr marR="165735" algn="ctr">
              <a:lnSpc>
                <a:spcPts val="1120"/>
              </a:lnSpc>
            </a:pPr>
            <a:r>
              <a:rPr sz="1200" spc="-10" dirty="0">
                <a:latin typeface="Cambria Math"/>
                <a:cs typeface="Cambria Math"/>
              </a:rPr>
              <a:t>𝑷𝒆𝒓𝒇𝒐𝒓𝒎𝒂𝒏𝒄𝒆</a:t>
            </a:r>
            <a:r>
              <a:rPr sz="1200" spc="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𝒃𝒆𝒇𝒐𝒓𝒆</a:t>
            </a:r>
            <a:r>
              <a:rPr sz="1200" spc="-15" dirty="0">
                <a:latin typeface="Cambria Math"/>
                <a:cs typeface="Cambria Math"/>
              </a:rPr>
              <a:t> </a:t>
            </a:r>
            <a:r>
              <a:rPr sz="1200" spc="-10" dirty="0">
                <a:latin typeface="Cambria Math"/>
                <a:cs typeface="Cambria Math"/>
              </a:rPr>
              <a:t>𝒆𝒏𝒉𝒂𝒏𝒄𝒆𝒎𝒆𝒏𝒕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</TotalTime>
  <Words>4856</Words>
  <Application>Microsoft Office PowerPoint</Application>
  <PresentationFormat>On-screen Show (4:3)</PresentationFormat>
  <Paragraphs>667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Arial MT</vt:lpstr>
      <vt:lpstr>Calibri</vt:lpstr>
      <vt:lpstr>Cambria Math</vt:lpstr>
      <vt:lpstr>Corbel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Zahraa.Ismail</cp:lastModifiedBy>
  <cp:revision>3</cp:revision>
  <dcterms:created xsi:type="dcterms:W3CDTF">2025-11-27T09:00:27Z</dcterms:created>
  <dcterms:modified xsi:type="dcterms:W3CDTF">2026-02-25T10:38:33Z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