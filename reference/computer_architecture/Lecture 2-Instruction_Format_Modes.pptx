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65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86868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6096000" h="3429000">
                <a:moveTo>
                  <a:pt x="6096000" y="0"/>
                </a:moveTo>
                <a:lnTo>
                  <a:pt x="0" y="0"/>
                </a:lnTo>
                <a:lnTo>
                  <a:pt x="0" y="3429000"/>
                </a:lnTo>
                <a:lnTo>
                  <a:pt x="6096000" y="3429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86868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6096000" h="3429000">
                <a:moveTo>
                  <a:pt x="6096000" y="0"/>
                </a:moveTo>
                <a:lnTo>
                  <a:pt x="0" y="0"/>
                </a:lnTo>
                <a:lnTo>
                  <a:pt x="0" y="3429000"/>
                </a:lnTo>
                <a:lnTo>
                  <a:pt x="6096000" y="3429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6823" y="990600"/>
            <a:ext cx="5862955" cy="3188335"/>
          </a:xfrm>
          <a:custGeom>
            <a:avLst/>
            <a:gdLst/>
            <a:ahLst/>
            <a:cxnLst/>
            <a:rect l="l" t="t" r="r" b="b"/>
            <a:pathLst>
              <a:path w="5862955" h="3188335">
                <a:moveTo>
                  <a:pt x="5862828" y="0"/>
                </a:moveTo>
                <a:lnTo>
                  <a:pt x="0" y="0"/>
                </a:lnTo>
                <a:lnTo>
                  <a:pt x="0" y="3188208"/>
                </a:lnTo>
                <a:lnTo>
                  <a:pt x="5862828" y="3188208"/>
                </a:lnTo>
                <a:lnTo>
                  <a:pt x="58628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62177" y="1538478"/>
            <a:ext cx="4660900" cy="0"/>
          </a:xfrm>
          <a:custGeom>
            <a:avLst/>
            <a:gdLst/>
            <a:ahLst/>
            <a:cxnLst/>
            <a:rect l="l" t="t" r="r" b="b"/>
            <a:pathLst>
              <a:path w="4660900">
                <a:moveTo>
                  <a:pt x="0" y="0"/>
                </a:moveTo>
                <a:lnTo>
                  <a:pt x="4660773" y="0"/>
                </a:lnTo>
              </a:path>
            </a:pathLst>
          </a:custGeom>
          <a:ln w="19812">
            <a:solidFill>
              <a:srgbClr val="53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2723" y="1092835"/>
            <a:ext cx="3676650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71233" y="8933180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jp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0838" y="2736341"/>
            <a:ext cx="4114800" cy="0"/>
          </a:xfrm>
          <a:custGeom>
            <a:avLst/>
            <a:gdLst/>
            <a:ahLst/>
            <a:cxnLst/>
            <a:rect l="l" t="t" r="r" b="b"/>
            <a:pathLst>
              <a:path w="4114800">
                <a:moveTo>
                  <a:pt x="0" y="0"/>
                </a:moveTo>
                <a:lnTo>
                  <a:pt x="4114800" y="0"/>
                </a:lnTo>
              </a:path>
            </a:pathLst>
          </a:custGeom>
          <a:ln w="457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6823" y="990600"/>
            <a:ext cx="5862955" cy="2477601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3600" b="1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Architecture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0" dirty="0">
              <a:latin typeface="Corbel"/>
              <a:cs typeface="Corbel"/>
            </a:endParaRPr>
          </a:p>
          <a:p>
            <a:pPr marL="74295">
              <a:lnSpc>
                <a:spcPct val="100000"/>
              </a:lnSpc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Reference:</a:t>
            </a:r>
            <a:endParaRPr sz="1400" dirty="0">
              <a:latin typeface="Times New Roman"/>
              <a:cs typeface="Times New Roman"/>
            </a:endParaRPr>
          </a:p>
          <a:p>
            <a:pPr marL="53213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Mano,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“Computer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Architecture”,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Chapter</a:t>
            </a:r>
            <a:r>
              <a:rPr sz="1400" spc="-50" dirty="0">
                <a:latin typeface="Times New Roman"/>
                <a:cs typeface="Times New Roman"/>
              </a:rPr>
              <a:t> 8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4844796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6096000" h="3429000">
                <a:moveTo>
                  <a:pt x="6096000" y="0"/>
                </a:moveTo>
                <a:lnTo>
                  <a:pt x="0" y="0"/>
                </a:lnTo>
                <a:lnTo>
                  <a:pt x="0" y="3429000"/>
                </a:lnTo>
                <a:lnTo>
                  <a:pt x="6096000" y="3429000"/>
                </a:lnTo>
                <a:lnTo>
                  <a:pt x="6096000" y="0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9600" y="5065776"/>
            <a:ext cx="5486400" cy="502920"/>
          </a:xfrm>
          <a:prstGeom prst="rect">
            <a:avLst/>
          </a:prstGeom>
          <a:solidFill>
            <a:srgbClr val="539E39"/>
          </a:solidFill>
          <a:ln w="9144">
            <a:solidFill>
              <a:srgbClr val="3A7327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685"/>
              </a:spcBef>
            </a:pP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Computer</a:t>
            </a:r>
            <a:r>
              <a:rPr sz="20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Architecture</a:t>
            </a:r>
            <a:r>
              <a:rPr sz="20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Module</a:t>
            </a:r>
            <a:r>
              <a:rPr sz="2000" b="1" spc="-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Content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Central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Processing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Unit</a:t>
            </a:r>
            <a:r>
              <a:rPr sz="1200" b="1" spc="-7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Architecture</a:t>
            </a:r>
            <a:endParaRPr sz="1200">
              <a:latin typeface="Times New Roman"/>
              <a:cs typeface="Times New Roman"/>
            </a:endParaRPr>
          </a:p>
          <a:p>
            <a:pPr marL="719455" lvl="1" indent="-111125">
              <a:lnSpc>
                <a:spcPts val="137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spc="-10" dirty="0">
                <a:latin typeface="Times New Roman"/>
                <a:cs typeface="Times New Roman"/>
              </a:rPr>
              <a:t>Design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Approaches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Stack</a:t>
            </a:r>
            <a:r>
              <a:rPr sz="1200" b="1" spc="-15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Pipelining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Interrupt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Processor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Organization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–</a:t>
            </a:r>
            <a:endParaRPr sz="1200">
              <a:latin typeface="Times New Roman"/>
              <a:cs typeface="Times New Roman"/>
            </a:endParaRPr>
          </a:p>
          <a:p>
            <a:pPr marL="719455">
              <a:lnSpc>
                <a:spcPts val="1370"/>
              </a:lnSpc>
            </a:pPr>
            <a:r>
              <a:rPr sz="1200" b="1" dirty="0">
                <a:solidFill>
                  <a:srgbClr val="539E39"/>
                </a:solidFill>
                <a:latin typeface="Times New Roman"/>
                <a:cs typeface="Times New Roman"/>
              </a:rPr>
              <a:t>Registers</a:t>
            </a:r>
            <a:r>
              <a:rPr sz="1200" b="1" spc="-50" dirty="0">
                <a:solidFill>
                  <a:srgbClr val="539E39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539E39"/>
                </a:solidFill>
                <a:latin typeface="Times New Roman"/>
                <a:cs typeface="Times New Roman"/>
              </a:rPr>
              <a:t>Organization</a:t>
            </a:r>
            <a:r>
              <a:rPr sz="1200" spc="-10" dirty="0">
                <a:latin typeface="Times New Roman"/>
                <a:cs typeface="Times New Roman"/>
              </a:rPr>
              <a:t>]</a:t>
            </a:r>
            <a:endParaRPr sz="1200">
              <a:latin typeface="Times New Roman"/>
              <a:cs typeface="Times New Roman"/>
            </a:endParaRPr>
          </a:p>
          <a:p>
            <a:pPr marL="719455" lvl="1" indent="-111125">
              <a:lnSpc>
                <a:spcPts val="137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Set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Instruction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Format</a:t>
            </a:r>
            <a:r>
              <a:rPr sz="1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Addressing</a:t>
            </a:r>
            <a:r>
              <a:rPr sz="1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modes </a:t>
            </a:r>
            <a:r>
              <a:rPr sz="1200" dirty="0">
                <a:latin typeface="Times New Roman"/>
                <a:cs typeface="Times New Roman"/>
              </a:rPr>
              <a:t>–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  <a:p>
            <a:pPr marL="719455">
              <a:lnSpc>
                <a:spcPts val="1370"/>
              </a:lnSpc>
            </a:pPr>
            <a:r>
              <a:rPr sz="1200" spc="-10" dirty="0">
                <a:latin typeface="Times New Roman"/>
                <a:cs typeface="Times New Roman"/>
              </a:rPr>
              <a:t>Transfer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Manipulation]</a:t>
            </a:r>
            <a:endParaRPr sz="1200">
              <a:latin typeface="Times New Roman"/>
              <a:cs typeface="Times New Roman"/>
            </a:endParaRPr>
          </a:p>
          <a:p>
            <a:pPr marL="719455" lvl="1" indent="-109855">
              <a:lnSpc>
                <a:spcPct val="100000"/>
              </a:lnSpc>
              <a:spcBef>
                <a:spcPts val="459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Example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architectures </a:t>
            </a:r>
            <a:r>
              <a:rPr sz="1200" dirty="0">
                <a:latin typeface="Times New Roman"/>
                <a:cs typeface="Times New Roman"/>
              </a:rPr>
              <a:t>(e.g.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CISC, </a:t>
            </a:r>
            <a:r>
              <a:rPr sz="1200" spc="-20" dirty="0">
                <a:latin typeface="Times New Roman"/>
                <a:cs typeface="Times New Roman"/>
              </a:rPr>
              <a:t>RISC)</a:t>
            </a:r>
            <a:endParaRPr sz="1200">
              <a:latin typeface="Times New Roman"/>
              <a:cs typeface="Times New Roman"/>
            </a:endParaRPr>
          </a:p>
          <a:p>
            <a:pPr marL="602615" indent="-16954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Wingdings"/>
              <a:buChar char=""/>
              <a:tabLst>
                <a:tab pos="602615" algn="l"/>
              </a:tabLst>
            </a:pPr>
            <a:r>
              <a:rPr sz="1200" b="1" dirty="0">
                <a:latin typeface="Times New Roman"/>
                <a:cs typeface="Times New Roman"/>
              </a:rPr>
              <a:t>Timing,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Clock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Parameters,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Processor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Performance</a:t>
            </a:r>
            <a:endParaRPr sz="1200">
              <a:latin typeface="Times New Roman"/>
              <a:cs typeface="Times New Roman"/>
            </a:endParaRPr>
          </a:p>
          <a:p>
            <a:pPr marL="602615" indent="-16954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Wingdings"/>
              <a:buChar char=""/>
              <a:tabLst>
                <a:tab pos="602615" algn="l"/>
              </a:tabLst>
            </a:pP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Hierarchy</a:t>
            </a:r>
            <a:endParaRPr sz="1200">
              <a:latin typeface="Times New Roman"/>
              <a:cs typeface="Times New Roman"/>
            </a:endParaRPr>
          </a:p>
          <a:p>
            <a:pPr marL="719455" lvl="1" indent="-10985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Main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719455" lvl="1" indent="-109855">
              <a:lnSpc>
                <a:spcPct val="100000"/>
              </a:lnSpc>
              <a:spcBef>
                <a:spcPts val="45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Cache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</a:t>
            </a:r>
            <a:endParaRPr sz="1200">
              <a:latin typeface="Times New Roman"/>
              <a:cs typeface="Times New Roman"/>
            </a:endParaRPr>
          </a:p>
          <a:p>
            <a:pPr marL="719455" lvl="1" indent="-109855">
              <a:lnSpc>
                <a:spcPct val="100000"/>
              </a:lnSpc>
              <a:spcBef>
                <a:spcPts val="535"/>
              </a:spcBef>
              <a:buClr>
                <a:srgbClr val="3E762B"/>
              </a:buClr>
              <a:buFont typeface="Arial MT"/>
              <a:buChar char="•"/>
              <a:tabLst>
                <a:tab pos="719455" algn="l"/>
                <a:tab pos="5671185" algn="l"/>
              </a:tabLst>
            </a:pPr>
            <a:r>
              <a:rPr sz="1800" spc="-15" baseline="4629" dirty="0">
                <a:latin typeface="Times New Roman"/>
                <a:cs typeface="Times New Roman"/>
              </a:rPr>
              <a:t>Virtual</a:t>
            </a:r>
            <a:r>
              <a:rPr sz="1800" spc="-60" baseline="4629" dirty="0">
                <a:latin typeface="Times New Roman"/>
                <a:cs typeface="Times New Roman"/>
              </a:rPr>
              <a:t> </a:t>
            </a:r>
            <a:r>
              <a:rPr sz="1800" spc="-15" baseline="4629" dirty="0">
                <a:latin typeface="Times New Roman"/>
                <a:cs typeface="Times New Roman"/>
              </a:rPr>
              <a:t>Memory</a:t>
            </a:r>
            <a:r>
              <a:rPr sz="1800" baseline="4629" dirty="0">
                <a:latin typeface="Times New Roman"/>
                <a:cs typeface="Times New Roman"/>
              </a:rPr>
              <a:t>	</a:t>
            </a:r>
            <a:r>
              <a:rPr sz="600" spc="-50" dirty="0">
                <a:solidFill>
                  <a:srgbClr val="539E39"/>
                </a:solidFill>
                <a:latin typeface="Corbel"/>
                <a:cs typeface="Corbel"/>
              </a:rPr>
              <a:t>2</a:t>
            </a:r>
            <a:endParaRPr sz="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0838" y="2736341"/>
            <a:ext cx="4114800" cy="0"/>
          </a:xfrm>
          <a:custGeom>
            <a:avLst/>
            <a:gdLst/>
            <a:ahLst/>
            <a:cxnLst/>
            <a:rect l="l" t="t" r="r" b="b"/>
            <a:pathLst>
              <a:path w="4114800">
                <a:moveTo>
                  <a:pt x="0" y="0"/>
                </a:moveTo>
                <a:lnTo>
                  <a:pt x="4114800" y="0"/>
                </a:lnTo>
              </a:path>
            </a:pathLst>
          </a:custGeom>
          <a:ln w="457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4000">
              <a:latin typeface="Times New Roman"/>
              <a:cs typeface="Times New Roman"/>
            </a:endParaRPr>
          </a:p>
          <a:p>
            <a:pPr marL="1464945" marR="1460500" indent="371475">
              <a:lnSpc>
                <a:spcPts val="4079"/>
              </a:lnSpc>
              <a:spcBef>
                <a:spcPts val="5"/>
              </a:spcBef>
            </a:pPr>
            <a:r>
              <a:rPr sz="4000" spc="-10" dirty="0">
                <a:solidFill>
                  <a:srgbClr val="FFFFFF"/>
                </a:solidFill>
                <a:latin typeface="Georgia"/>
                <a:cs typeface="Georgia"/>
              </a:rPr>
              <a:t>Processor Organization</a:t>
            </a:r>
            <a:endParaRPr sz="4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4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95"/>
              </a:spcBef>
            </a:pPr>
            <a:endParaRPr sz="4000">
              <a:latin typeface="Georgia"/>
              <a:cs typeface="Georgia"/>
            </a:endParaRPr>
          </a:p>
          <a:p>
            <a:pPr marR="499109" algn="r">
              <a:lnSpc>
                <a:spcPct val="100000"/>
              </a:lnSpc>
            </a:pPr>
            <a:r>
              <a:rPr sz="600" spc="-50" dirty="0">
                <a:solidFill>
                  <a:srgbClr val="FFFFFF"/>
                </a:solidFill>
                <a:latin typeface="Corbel"/>
                <a:cs typeface="Corbel"/>
              </a:rPr>
              <a:t>3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114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Organization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6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Single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(Accumulator)</a:t>
            </a:r>
            <a:r>
              <a:rPr sz="1200" b="1" spc="-10" dirty="0">
                <a:latin typeface="Times New Roman"/>
                <a:cs typeface="Times New Roman"/>
              </a:rPr>
              <a:t> organization</a:t>
            </a:r>
            <a:endParaRPr sz="1200">
              <a:latin typeface="Times New Roman"/>
              <a:cs typeface="Times New Roman"/>
            </a:endParaRPr>
          </a:p>
          <a:p>
            <a:pPr marL="628015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»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Basic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good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example</a:t>
            </a:r>
            <a:endParaRPr sz="1100">
              <a:latin typeface="Times New Roman"/>
              <a:cs typeface="Times New Roman"/>
            </a:endParaRPr>
          </a:p>
          <a:p>
            <a:pPr marL="628015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»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Accumulator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purpose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register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 marL="628015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»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 modern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 </a:t>
            </a:r>
            <a:r>
              <a:rPr sz="1100" spc="-10" dirty="0">
                <a:latin typeface="Times New Roman"/>
                <a:cs typeface="Times New Roman"/>
              </a:rPr>
              <a:t>processors</a:t>
            </a:r>
            <a:endParaRPr sz="1100">
              <a:latin typeface="Times New Roman"/>
              <a:cs typeface="Times New Roman"/>
            </a:endParaRPr>
          </a:p>
          <a:p>
            <a:pPr marL="628015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Times New Roman"/>
                <a:cs typeface="Times New Roman"/>
              </a:rPr>
              <a:t>»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registers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 used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source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destination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 computer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operations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Stack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 marL="628015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Times New Roman"/>
                <a:cs typeface="Times New Roman"/>
              </a:rPr>
              <a:t>»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operations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done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hardware</a:t>
            </a:r>
            <a:r>
              <a:rPr sz="1100" spc="-20" dirty="0">
                <a:latin typeface="Times New Roman"/>
                <a:cs typeface="Times New Roman"/>
              </a:rPr>
              <a:t> stack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5816" y="8005699"/>
            <a:ext cx="6476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50" dirty="0">
                <a:solidFill>
                  <a:srgbClr val="539E39"/>
                </a:solidFill>
                <a:latin typeface="Corbel"/>
                <a:cs typeface="Corbel"/>
              </a:rPr>
              <a:t>4</a:t>
            </a:r>
            <a:endParaRPr sz="600">
              <a:latin typeface="Corbel"/>
              <a:cs typeface="Corbe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114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Organization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6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Single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(Accumulator)</a:t>
            </a:r>
            <a:r>
              <a:rPr sz="1200" b="1" spc="-10" dirty="0">
                <a:latin typeface="Times New Roman"/>
                <a:cs typeface="Times New Roman"/>
              </a:rPr>
              <a:t> organization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solidFill>
                  <a:srgbClr val="E2DED1"/>
                </a:solidFill>
                <a:latin typeface="Times New Roman"/>
                <a:cs typeface="Times New Roman"/>
              </a:rPr>
              <a:t>General</a:t>
            </a:r>
            <a:r>
              <a:rPr sz="1200" b="1" spc="-25" dirty="0">
                <a:solidFill>
                  <a:srgbClr val="E2DED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E2DED1"/>
                </a:solidFill>
                <a:latin typeface="Times New Roman"/>
                <a:cs typeface="Times New Roman"/>
              </a:rPr>
              <a:t>register</a:t>
            </a:r>
            <a:r>
              <a:rPr sz="1200" b="1" spc="-45" dirty="0">
                <a:solidFill>
                  <a:srgbClr val="E2DED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E2DED1"/>
                </a:solidFill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solidFill>
                  <a:srgbClr val="E2DED1"/>
                </a:solidFill>
                <a:latin typeface="Times New Roman"/>
                <a:cs typeface="Times New Roman"/>
              </a:rPr>
              <a:t>Stack</a:t>
            </a:r>
            <a:r>
              <a:rPr sz="1200" b="1" spc="-30" dirty="0">
                <a:solidFill>
                  <a:srgbClr val="E2DED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E2DED1"/>
                </a:solidFill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200">
              <a:latin typeface="Times New Roman"/>
              <a:cs typeface="Times New Roman"/>
            </a:endParaRPr>
          </a:p>
          <a:p>
            <a:pPr marR="143510" algn="r">
              <a:lnSpc>
                <a:spcPct val="100000"/>
              </a:lnSpc>
            </a:pPr>
            <a:r>
              <a:rPr sz="600" spc="-50" dirty="0">
                <a:solidFill>
                  <a:srgbClr val="539E39"/>
                </a:solidFill>
                <a:latin typeface="Corbel"/>
                <a:cs typeface="Corbel"/>
              </a:rPr>
              <a:t>5</a:t>
            </a:r>
            <a:endParaRPr sz="600">
              <a:latin typeface="Corbel"/>
              <a:cs typeface="Corbe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8260" y="1908048"/>
            <a:ext cx="3200400" cy="16611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35"/>
              </a:spcBef>
            </a:pPr>
            <a:r>
              <a:rPr sz="2000" dirty="0">
                <a:latin typeface="Georgia"/>
                <a:cs typeface="Georgia"/>
              </a:rPr>
              <a:t>Single</a:t>
            </a:r>
            <a:r>
              <a:rPr sz="2000" spc="-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register</a:t>
            </a:r>
            <a:r>
              <a:rPr sz="2000" spc="-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(Accumulator)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organization</a:t>
            </a:r>
            <a:endParaRPr sz="2000">
              <a:latin typeface="Georgia"/>
              <a:cs typeface="Georg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0372" y="5579364"/>
            <a:ext cx="5477510" cy="2545080"/>
            <a:chOff x="690372" y="5579364"/>
            <a:chExt cx="5477510" cy="25450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9683" y="5667730"/>
              <a:ext cx="1837943" cy="22616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0372" y="5579364"/>
              <a:ext cx="3182112" cy="254508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155816" y="8005699"/>
            <a:ext cx="6476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50" dirty="0">
                <a:solidFill>
                  <a:srgbClr val="539E39"/>
                </a:solidFill>
                <a:latin typeface="Corbel"/>
                <a:cs typeface="Corbel"/>
              </a:rPr>
              <a:t>4</a:t>
            </a:r>
            <a:endParaRPr sz="600">
              <a:latin typeface="Corbel"/>
              <a:cs typeface="Corbe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114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Organization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6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solidFill>
                  <a:srgbClr val="E2DED1"/>
                </a:solidFill>
                <a:latin typeface="Times New Roman"/>
                <a:cs typeface="Times New Roman"/>
              </a:rPr>
              <a:t>Single</a:t>
            </a:r>
            <a:r>
              <a:rPr sz="1200" b="1" spc="-50" dirty="0">
                <a:solidFill>
                  <a:srgbClr val="E2DED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E2DED1"/>
                </a:solidFill>
                <a:latin typeface="Times New Roman"/>
                <a:cs typeface="Times New Roman"/>
              </a:rPr>
              <a:t>register</a:t>
            </a:r>
            <a:r>
              <a:rPr sz="1200" b="1" spc="-55" dirty="0">
                <a:solidFill>
                  <a:srgbClr val="E2DED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2DED1"/>
                </a:solidFill>
                <a:latin typeface="Times New Roman"/>
                <a:cs typeface="Times New Roman"/>
              </a:rPr>
              <a:t>(Accumulator)</a:t>
            </a:r>
            <a:r>
              <a:rPr sz="1200" b="1" spc="-10" dirty="0">
                <a:solidFill>
                  <a:srgbClr val="E2DED1"/>
                </a:solidFill>
                <a:latin typeface="Times New Roman"/>
                <a:cs typeface="Times New Roman"/>
              </a:rPr>
              <a:t> organization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solidFill>
                  <a:srgbClr val="E2DED1"/>
                </a:solidFill>
                <a:latin typeface="Times New Roman"/>
                <a:cs typeface="Times New Roman"/>
              </a:rPr>
              <a:t>Stack</a:t>
            </a:r>
            <a:r>
              <a:rPr sz="1200" b="1" spc="-30" dirty="0">
                <a:solidFill>
                  <a:srgbClr val="E2DED1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E2DED1"/>
                </a:solidFill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200">
              <a:latin typeface="Times New Roman"/>
              <a:cs typeface="Times New Roman"/>
            </a:endParaRPr>
          </a:p>
          <a:p>
            <a:pPr marR="144145" algn="r">
              <a:lnSpc>
                <a:spcPct val="100000"/>
              </a:lnSpc>
            </a:pPr>
            <a:r>
              <a:rPr sz="600" spc="-50" dirty="0">
                <a:solidFill>
                  <a:srgbClr val="539E39"/>
                </a:solidFill>
                <a:latin typeface="Corbel"/>
                <a:cs typeface="Corbel"/>
              </a:rPr>
              <a:t>8</a:t>
            </a:r>
            <a:endParaRPr sz="600">
              <a:latin typeface="Corbel"/>
              <a:cs typeface="Corbe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596" y="2525267"/>
            <a:ext cx="2926079" cy="72542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35"/>
              </a:spcBef>
            </a:pPr>
            <a:r>
              <a:rPr sz="2000" dirty="0">
                <a:latin typeface="Georgia"/>
                <a:cs typeface="Georgia"/>
              </a:rPr>
              <a:t>General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Register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Organization</a:t>
            </a:r>
            <a:endParaRPr sz="20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1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RTL</a:t>
            </a: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(register-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transfer</a:t>
            </a:r>
            <a:r>
              <a:rPr sz="1200" u="sng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level)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197607" y="5777484"/>
            <a:ext cx="4160520" cy="2377440"/>
            <a:chOff x="2197607" y="5777484"/>
            <a:chExt cx="4160520" cy="237744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9511" y="5804916"/>
              <a:ext cx="1118615" cy="8747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7607" y="5777484"/>
              <a:ext cx="3110484" cy="237744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155816" y="8005699"/>
            <a:ext cx="6540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50" dirty="0">
                <a:solidFill>
                  <a:srgbClr val="539E39"/>
                </a:solidFill>
                <a:latin typeface="Corbel"/>
                <a:cs typeface="Corbel"/>
              </a:rPr>
              <a:t>9</a:t>
            </a:r>
            <a:endParaRPr sz="600">
              <a:latin typeface="Corbel"/>
              <a:cs typeface="Corbe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0983" y="1078992"/>
              <a:ext cx="2971800" cy="22859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spc="-10" dirty="0">
                <a:latin typeface="Georgia"/>
                <a:cs typeface="Georgia"/>
              </a:rPr>
              <a:t>Example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200">
              <a:latin typeface="Georgia"/>
              <a:cs typeface="Georgia"/>
            </a:endParaRPr>
          </a:p>
          <a:p>
            <a:pPr marR="144780" algn="r">
              <a:lnSpc>
                <a:spcPct val="100000"/>
              </a:lnSpc>
            </a:pPr>
            <a:r>
              <a:rPr sz="600" spc="-25" dirty="0">
                <a:solidFill>
                  <a:srgbClr val="539E39"/>
                </a:solidFill>
                <a:latin typeface="Corbel"/>
                <a:cs typeface="Corbel"/>
              </a:rPr>
              <a:t>10</a:t>
            </a:r>
            <a:endParaRPr sz="600">
              <a:latin typeface="Corbel"/>
              <a:cs typeface="Corbe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683" y="3300984"/>
            <a:ext cx="3796284" cy="86563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9" name="object 9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10" dirty="0">
                <a:latin typeface="Georgia"/>
                <a:cs typeface="Georgia"/>
              </a:rPr>
              <a:t>Example</a:t>
            </a:r>
            <a:endParaRPr sz="2200">
              <a:latin typeface="Georgia"/>
              <a:cs typeface="Georg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8368" y="5538215"/>
            <a:ext cx="5506720" cy="2377440"/>
            <a:chOff x="658368" y="5538215"/>
            <a:chExt cx="5506720" cy="237744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8368" y="5538215"/>
              <a:ext cx="3279648" cy="5532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1647" y="6132575"/>
              <a:ext cx="2122931" cy="17830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40123" y="5884163"/>
              <a:ext cx="1821179" cy="25298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5547" y="6173723"/>
              <a:ext cx="2299716" cy="123443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155816" y="8005699"/>
            <a:ext cx="65405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50" dirty="0">
                <a:solidFill>
                  <a:srgbClr val="539E39"/>
                </a:solidFill>
                <a:latin typeface="Corbel"/>
                <a:cs typeface="Corbel"/>
              </a:rPr>
              <a:t>9</a:t>
            </a:r>
            <a:endParaRPr sz="600">
              <a:latin typeface="Corbel"/>
              <a:cs typeface="Corbe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Examples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7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Microoperations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200">
              <a:latin typeface="Georgia"/>
              <a:cs typeface="Georgia"/>
            </a:endParaRPr>
          </a:p>
          <a:p>
            <a:pPr marR="144780" algn="r">
              <a:lnSpc>
                <a:spcPct val="100000"/>
              </a:lnSpc>
            </a:pPr>
            <a:r>
              <a:rPr sz="600" spc="-25" dirty="0">
                <a:solidFill>
                  <a:srgbClr val="539E39"/>
                </a:solidFill>
                <a:latin typeface="Corbel"/>
                <a:cs typeface="Corbel"/>
              </a:rPr>
              <a:t>12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01267" y="1616963"/>
            <a:ext cx="5299075" cy="2444750"/>
            <a:chOff x="1001267" y="1616963"/>
            <a:chExt cx="5299075" cy="24447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1267" y="2232659"/>
              <a:ext cx="4241291" cy="1828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0567" y="1616963"/>
              <a:ext cx="3279648" cy="332231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0" name="object 10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Processor</a:t>
            </a:r>
            <a:r>
              <a:rPr sz="2200" spc="-114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Organization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6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Single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(Accumulator)</a:t>
            </a:r>
            <a:r>
              <a:rPr sz="1200" b="1" spc="-10" dirty="0">
                <a:latin typeface="Times New Roman"/>
                <a:cs typeface="Times New Roman"/>
              </a:rPr>
              <a:t> organization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solidFill>
                  <a:srgbClr val="00893D"/>
                </a:solidFill>
                <a:latin typeface="Times New Roman"/>
                <a:cs typeface="Times New Roman"/>
              </a:rPr>
              <a:t>Stack</a:t>
            </a:r>
            <a:r>
              <a:rPr sz="1200" b="1" spc="-30" dirty="0">
                <a:solidFill>
                  <a:srgbClr val="00893D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0893D"/>
                </a:solidFill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18260" y="5884164"/>
            <a:ext cx="3200400" cy="2047239"/>
            <a:chOff x="1318260" y="5884164"/>
            <a:chExt cx="3200400" cy="2047239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8260" y="5884164"/>
              <a:ext cx="3200400" cy="1661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9596" y="6501384"/>
              <a:ext cx="2926079" cy="7254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8072" y="7580376"/>
              <a:ext cx="2743200" cy="35052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128384" y="8005699"/>
            <a:ext cx="901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65"/>
              </a:lnSpc>
            </a:pPr>
            <a:r>
              <a:rPr sz="600" spc="-25" dirty="0">
                <a:solidFill>
                  <a:srgbClr val="539E39"/>
                </a:solidFill>
                <a:latin typeface="Corbel"/>
                <a:cs typeface="Corbel"/>
              </a:rPr>
              <a:t>13</a:t>
            </a:r>
            <a:endParaRPr sz="600">
              <a:latin typeface="Corbel"/>
              <a:cs typeface="Corbe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0838" y="2736341"/>
            <a:ext cx="4114800" cy="0"/>
          </a:xfrm>
          <a:custGeom>
            <a:avLst/>
            <a:gdLst/>
            <a:ahLst/>
            <a:cxnLst/>
            <a:rect l="l" t="t" r="r" b="b"/>
            <a:pathLst>
              <a:path w="4114800">
                <a:moveTo>
                  <a:pt x="0" y="0"/>
                </a:moveTo>
                <a:lnTo>
                  <a:pt x="4114800" y="0"/>
                </a:lnTo>
              </a:path>
            </a:pathLst>
          </a:custGeom>
          <a:ln w="457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Instruction</a:t>
            </a:r>
            <a:r>
              <a:rPr sz="3600" b="1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Format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25"/>
              </a:spcBef>
            </a:pPr>
            <a:endParaRPr sz="3600">
              <a:latin typeface="Times New Roman"/>
              <a:cs typeface="Times New Roman"/>
            </a:endParaRPr>
          </a:p>
          <a:p>
            <a:pPr marR="499745" algn="r">
              <a:lnSpc>
                <a:spcPct val="100000"/>
              </a:lnSpc>
            </a:pPr>
            <a:r>
              <a:rPr sz="600" spc="-25" dirty="0">
                <a:solidFill>
                  <a:srgbClr val="FFFFFF"/>
                </a:solidFill>
                <a:latin typeface="Corbel"/>
                <a:cs typeface="Corbel"/>
              </a:rPr>
              <a:t>14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10" dirty="0">
                <a:latin typeface="Georgia"/>
                <a:cs typeface="Georgia"/>
              </a:rPr>
              <a:t>Instruction</a:t>
            </a:r>
            <a:r>
              <a:rPr sz="2200" spc="-2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Fields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3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OP</a:t>
            </a:r>
            <a:r>
              <a:rPr sz="1400" b="1" spc="-10" dirty="0">
                <a:latin typeface="Times New Roman"/>
                <a:cs typeface="Times New Roman"/>
              </a:rPr>
              <a:t>-</a:t>
            </a:r>
            <a:r>
              <a:rPr sz="1200" b="1" dirty="0">
                <a:latin typeface="Times New Roman"/>
                <a:cs typeface="Times New Roman"/>
              </a:rPr>
              <a:t>code:</a:t>
            </a:r>
            <a:r>
              <a:rPr sz="1200" b="1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performed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latin typeface="Times New Roman"/>
                <a:cs typeface="Times New Roman"/>
              </a:rPr>
              <a:t>Address: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designates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address(es)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register(s)</a:t>
            </a:r>
            <a:endParaRPr sz="1200">
              <a:latin typeface="Times New Roman"/>
              <a:cs typeface="Times New Roman"/>
            </a:endParaRPr>
          </a:p>
          <a:p>
            <a:pPr marL="719455" marR="894715" lvl="1" indent="-10985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"/>
              <a:tabLst>
                <a:tab pos="7194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dirty="0">
                <a:latin typeface="Times New Roman"/>
                <a:cs typeface="Times New Roman"/>
              </a:rPr>
              <a:t>internal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organization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CPU.</a:t>
            </a:r>
            <a:endParaRPr sz="1200">
              <a:latin typeface="Times New Roman"/>
              <a:cs typeface="Times New Roman"/>
            </a:endParaRPr>
          </a:p>
          <a:p>
            <a:pPr marL="71945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(e.g.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00">
              <a:latin typeface="Times New Roman"/>
              <a:cs typeface="Times New Roman"/>
            </a:endParaRPr>
          </a:p>
          <a:p>
            <a:pPr marL="431165" indent="-16891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165" algn="l"/>
              </a:tabLst>
            </a:pP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Mode: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determines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interpreted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(to</a:t>
            </a:r>
            <a:r>
              <a:rPr sz="1200" spc="-25" dirty="0">
                <a:latin typeface="Times New Roman"/>
                <a:cs typeface="Times New Roman"/>
              </a:rPr>
              <a:t> get</a:t>
            </a:r>
            <a:endParaRPr sz="12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operand)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Processor</a:t>
            </a:r>
            <a:r>
              <a:rPr spc="-114" dirty="0"/>
              <a:t> </a:t>
            </a:r>
            <a:r>
              <a:rPr spc="-10" dirty="0"/>
              <a:t>Organization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613407"/>
            <a:ext cx="29768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182245" algn="l"/>
              </a:tabLst>
            </a:pPr>
            <a:r>
              <a:rPr sz="1200" b="1" dirty="0">
                <a:latin typeface="Times New Roman"/>
                <a:cs typeface="Times New Roman"/>
              </a:rPr>
              <a:t>Single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(Accumulator)</a:t>
            </a:r>
            <a:r>
              <a:rPr sz="1200" b="1" spc="-10" dirty="0">
                <a:latin typeface="Times New Roman"/>
                <a:cs typeface="Times New Roman"/>
              </a:rPr>
              <a:t> organization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9561" y="2283968"/>
            <a:ext cx="2096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 indent="-169545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169545" algn="l"/>
              </a:tabLst>
            </a:pPr>
            <a:r>
              <a:rPr sz="1200" b="1" dirty="0">
                <a:latin typeface="Times New Roman"/>
                <a:cs typeface="Times New Roman"/>
              </a:rPr>
              <a:t>General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9561" y="3320541"/>
            <a:ext cx="1405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 indent="-169545">
              <a:lnSpc>
                <a:spcPct val="100000"/>
              </a:lnSpc>
              <a:spcBef>
                <a:spcPts val="100"/>
              </a:spcBef>
              <a:buClr>
                <a:srgbClr val="3E762B"/>
              </a:buClr>
              <a:buFont typeface="Wingdings"/>
              <a:buChar char=""/>
              <a:tabLst>
                <a:tab pos="169545" algn="l"/>
              </a:tabLst>
            </a:pPr>
            <a:r>
              <a:rPr sz="1200" b="1" dirty="0">
                <a:latin typeface="Times New Roman"/>
                <a:cs typeface="Times New Roman"/>
              </a:rPr>
              <a:t>Stack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organization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34989" y="4009390"/>
            <a:ext cx="8572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" spc="-25" dirty="0">
                <a:solidFill>
                  <a:srgbClr val="539E39"/>
                </a:solidFill>
                <a:latin typeface="Corbel"/>
                <a:cs typeface="Corbel"/>
              </a:rPr>
              <a:t>16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63752" y="1908048"/>
            <a:ext cx="3200400" cy="2047239"/>
            <a:chOff x="1063752" y="1908048"/>
            <a:chExt cx="3200400" cy="2047239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3752" y="1908048"/>
              <a:ext cx="3200400" cy="1661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3564" y="2525268"/>
              <a:ext cx="2926080" cy="7254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040" y="3604260"/>
              <a:ext cx="2743200" cy="35052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21302" y="2093214"/>
            <a:ext cx="1734820" cy="230504"/>
          </a:xfrm>
          <a:prstGeom prst="rect">
            <a:avLst/>
          </a:prstGeom>
          <a:solidFill>
            <a:srgbClr val="FFFFFF"/>
          </a:solidFill>
          <a:ln w="13716">
            <a:solidFill>
              <a:srgbClr val="539E39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E762B"/>
                </a:solidFill>
                <a:latin typeface="Corbel"/>
                <a:cs typeface="Corbel"/>
              </a:rPr>
              <a:t>one</a:t>
            </a:r>
            <a:r>
              <a:rPr sz="1200" b="1" spc="-55" dirty="0">
                <a:solidFill>
                  <a:srgbClr val="3E762B"/>
                </a:solidFill>
                <a:latin typeface="Corbel"/>
                <a:cs typeface="Corbel"/>
              </a:rPr>
              <a:t> </a:t>
            </a:r>
            <a:r>
              <a:rPr sz="1200" b="1" dirty="0">
                <a:solidFill>
                  <a:srgbClr val="3E762B"/>
                </a:solidFill>
                <a:latin typeface="Corbel"/>
                <a:cs typeface="Corbel"/>
              </a:rPr>
              <a:t>Address</a:t>
            </a:r>
            <a:r>
              <a:rPr sz="1200" b="1" spc="-30" dirty="0">
                <a:solidFill>
                  <a:srgbClr val="3E762B"/>
                </a:solidFill>
                <a:latin typeface="Corbel"/>
                <a:cs typeface="Corbel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Corbel"/>
                <a:cs typeface="Corbel"/>
              </a:rPr>
              <a:t>Instructions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15661" y="3473958"/>
            <a:ext cx="955675" cy="414655"/>
          </a:xfrm>
          <a:prstGeom prst="rect">
            <a:avLst/>
          </a:prstGeom>
          <a:solidFill>
            <a:srgbClr val="FFFFFF"/>
          </a:solidFill>
          <a:ln w="13716">
            <a:solidFill>
              <a:srgbClr val="539E39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86360" marR="39370" indent="-4000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3E762B"/>
                </a:solidFill>
                <a:latin typeface="Corbel"/>
                <a:cs typeface="Corbel"/>
              </a:rPr>
              <a:t>Zero</a:t>
            </a:r>
            <a:r>
              <a:rPr sz="1200" b="1" spc="-50" dirty="0">
                <a:solidFill>
                  <a:srgbClr val="3E762B"/>
                </a:solidFill>
                <a:latin typeface="Corbel"/>
                <a:cs typeface="Corbel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Corbel"/>
                <a:cs typeface="Corbel"/>
              </a:rPr>
              <a:t>Address Instructions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71954" y="1770887"/>
            <a:ext cx="3016250" cy="1928495"/>
          </a:xfrm>
          <a:custGeom>
            <a:avLst/>
            <a:gdLst/>
            <a:ahLst/>
            <a:cxnLst/>
            <a:rect l="l" t="t" r="r" b="b"/>
            <a:pathLst>
              <a:path w="3016250" h="1928495">
                <a:moveTo>
                  <a:pt x="2733459" y="1915033"/>
                </a:moveTo>
                <a:lnTo>
                  <a:pt x="2709037" y="1915033"/>
                </a:lnTo>
                <a:lnTo>
                  <a:pt x="2702141" y="1915033"/>
                </a:lnTo>
                <a:lnTo>
                  <a:pt x="2701163" y="1928241"/>
                </a:lnTo>
                <a:lnTo>
                  <a:pt x="2733459" y="1915033"/>
                </a:lnTo>
                <a:close/>
              </a:path>
              <a:path w="3016250" h="1928495">
                <a:moveTo>
                  <a:pt x="2743708" y="1910842"/>
                </a:moveTo>
                <a:lnTo>
                  <a:pt x="2704211" y="1887220"/>
                </a:lnTo>
                <a:lnTo>
                  <a:pt x="2703182" y="1900936"/>
                </a:lnTo>
                <a:lnTo>
                  <a:pt x="1016" y="1696212"/>
                </a:lnTo>
                <a:lnTo>
                  <a:pt x="0" y="1709928"/>
                </a:lnTo>
                <a:lnTo>
                  <a:pt x="2702179" y="1914525"/>
                </a:lnTo>
                <a:lnTo>
                  <a:pt x="2709062" y="1914525"/>
                </a:lnTo>
                <a:lnTo>
                  <a:pt x="2734716" y="1914525"/>
                </a:lnTo>
                <a:lnTo>
                  <a:pt x="2743708" y="1910842"/>
                </a:lnTo>
                <a:close/>
              </a:path>
              <a:path w="3016250" h="1928495">
                <a:moveTo>
                  <a:pt x="3009290" y="324485"/>
                </a:moveTo>
                <a:lnTo>
                  <a:pt x="2980944" y="324485"/>
                </a:lnTo>
                <a:lnTo>
                  <a:pt x="2974060" y="324485"/>
                </a:lnTo>
                <a:lnTo>
                  <a:pt x="2972435" y="337312"/>
                </a:lnTo>
                <a:lnTo>
                  <a:pt x="3009290" y="324485"/>
                </a:lnTo>
                <a:close/>
              </a:path>
              <a:path w="3016250" h="1928495">
                <a:moveTo>
                  <a:pt x="3015869" y="322199"/>
                </a:moveTo>
                <a:lnTo>
                  <a:pt x="2977642" y="296418"/>
                </a:lnTo>
                <a:lnTo>
                  <a:pt x="2975902" y="310019"/>
                </a:lnTo>
                <a:lnTo>
                  <a:pt x="588137" y="0"/>
                </a:lnTo>
                <a:lnTo>
                  <a:pt x="586359" y="13716"/>
                </a:lnTo>
                <a:lnTo>
                  <a:pt x="2974175" y="323608"/>
                </a:lnTo>
                <a:lnTo>
                  <a:pt x="2981058" y="323608"/>
                </a:lnTo>
                <a:lnTo>
                  <a:pt x="3011817" y="323608"/>
                </a:lnTo>
                <a:lnTo>
                  <a:pt x="3015869" y="322199"/>
                </a:lnTo>
                <a:close/>
              </a:path>
            </a:pathLst>
          </a:custGeom>
          <a:solidFill>
            <a:srgbClr val="53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72178" y="2675382"/>
            <a:ext cx="1443355" cy="416559"/>
          </a:xfrm>
          <a:prstGeom prst="rect">
            <a:avLst/>
          </a:prstGeom>
          <a:solidFill>
            <a:srgbClr val="FFFFFF"/>
          </a:solidFill>
          <a:ln w="13716">
            <a:solidFill>
              <a:srgbClr val="539E39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50800" marR="42545" indent="22225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3E762B"/>
                </a:solidFill>
                <a:latin typeface="Corbel"/>
                <a:cs typeface="Corbel"/>
              </a:rPr>
              <a:t>Two,</a:t>
            </a:r>
            <a:r>
              <a:rPr sz="1200" b="1" spc="-35" dirty="0">
                <a:solidFill>
                  <a:srgbClr val="3E762B"/>
                </a:solidFill>
                <a:latin typeface="Corbel"/>
                <a:cs typeface="Corbel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Corbel"/>
                <a:cs typeface="Corbel"/>
              </a:rPr>
              <a:t>or</a:t>
            </a:r>
            <a:r>
              <a:rPr sz="1200" b="1" spc="-80" dirty="0">
                <a:solidFill>
                  <a:srgbClr val="3E762B"/>
                </a:solidFill>
                <a:latin typeface="Corbel"/>
                <a:cs typeface="Corbel"/>
              </a:rPr>
              <a:t> </a:t>
            </a:r>
            <a:r>
              <a:rPr sz="1200" b="1" spc="-20" dirty="0">
                <a:solidFill>
                  <a:srgbClr val="3E762B"/>
                </a:solidFill>
                <a:latin typeface="Corbel"/>
                <a:cs typeface="Corbel"/>
              </a:rPr>
              <a:t>Three </a:t>
            </a:r>
            <a:r>
              <a:rPr sz="1200" b="1" dirty="0">
                <a:solidFill>
                  <a:srgbClr val="3E762B"/>
                </a:solidFill>
                <a:latin typeface="Corbel"/>
                <a:cs typeface="Corbel"/>
              </a:rPr>
              <a:t>Address</a:t>
            </a:r>
            <a:r>
              <a:rPr sz="1200" b="1" spc="-60" dirty="0">
                <a:solidFill>
                  <a:srgbClr val="3E762B"/>
                </a:solidFill>
                <a:latin typeface="Corbel"/>
                <a:cs typeface="Corbel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Corbel"/>
                <a:cs typeface="Corbel"/>
              </a:rPr>
              <a:t>Instructions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23972" y="1600187"/>
            <a:ext cx="3480435" cy="1091565"/>
            <a:chOff x="2823972" y="1600187"/>
            <a:chExt cx="3480435" cy="1091565"/>
          </a:xfrm>
        </p:grpSpPr>
        <p:sp>
          <p:nvSpPr>
            <p:cNvPr id="16" name="object 16"/>
            <p:cNvSpPr/>
            <p:nvPr/>
          </p:nvSpPr>
          <p:spPr>
            <a:xfrm>
              <a:off x="2823972" y="2404872"/>
              <a:ext cx="2369820" cy="286385"/>
            </a:xfrm>
            <a:custGeom>
              <a:avLst/>
              <a:gdLst/>
              <a:ahLst/>
              <a:cxnLst/>
              <a:rect l="l" t="t" r="r" b="b"/>
              <a:pathLst>
                <a:path w="2369820" h="286385">
                  <a:moveTo>
                    <a:pt x="2330957" y="245363"/>
                  </a:moveTo>
                  <a:lnTo>
                    <a:pt x="2329438" y="258952"/>
                  </a:lnTo>
                  <a:lnTo>
                    <a:pt x="2336291" y="259714"/>
                  </a:lnTo>
                  <a:lnTo>
                    <a:pt x="2334853" y="272542"/>
                  </a:lnTo>
                  <a:lnTo>
                    <a:pt x="2334767" y="273303"/>
                  </a:lnTo>
                  <a:lnTo>
                    <a:pt x="2327834" y="273303"/>
                  </a:lnTo>
                  <a:lnTo>
                    <a:pt x="2326386" y="286257"/>
                  </a:lnTo>
                  <a:lnTo>
                    <a:pt x="2361620" y="273303"/>
                  </a:lnTo>
                  <a:lnTo>
                    <a:pt x="2334767" y="273303"/>
                  </a:lnTo>
                  <a:lnTo>
                    <a:pt x="2327919" y="272542"/>
                  </a:lnTo>
                  <a:lnTo>
                    <a:pt x="2363692" y="272542"/>
                  </a:lnTo>
                  <a:lnTo>
                    <a:pt x="2369566" y="270382"/>
                  </a:lnTo>
                  <a:lnTo>
                    <a:pt x="2330957" y="245363"/>
                  </a:lnTo>
                  <a:close/>
                </a:path>
                <a:path w="2369820" h="286385">
                  <a:moveTo>
                    <a:pt x="2329438" y="258952"/>
                  </a:moveTo>
                  <a:lnTo>
                    <a:pt x="2327919" y="272542"/>
                  </a:lnTo>
                  <a:lnTo>
                    <a:pt x="2334767" y="273303"/>
                  </a:lnTo>
                  <a:lnTo>
                    <a:pt x="2336291" y="259714"/>
                  </a:lnTo>
                  <a:lnTo>
                    <a:pt x="2329438" y="258952"/>
                  </a:lnTo>
                  <a:close/>
                </a:path>
                <a:path w="2369820" h="286385">
                  <a:moveTo>
                    <a:pt x="1523" y="0"/>
                  </a:moveTo>
                  <a:lnTo>
                    <a:pt x="0" y="13716"/>
                  </a:lnTo>
                  <a:lnTo>
                    <a:pt x="2327919" y="272542"/>
                  </a:lnTo>
                  <a:lnTo>
                    <a:pt x="2329353" y="259714"/>
                  </a:lnTo>
                  <a:lnTo>
                    <a:pt x="2329438" y="258952"/>
                  </a:lnTo>
                  <a:lnTo>
                    <a:pt x="1523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791" y="1600187"/>
              <a:ext cx="1872234" cy="33910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528058" y="1627758"/>
            <a:ext cx="1683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3E762B"/>
                </a:solidFill>
                <a:latin typeface="Corbel"/>
                <a:cs typeface="Corbel"/>
              </a:rPr>
              <a:t>Depend</a:t>
            </a:r>
            <a:r>
              <a:rPr sz="1200" b="1" spc="-15" dirty="0">
                <a:solidFill>
                  <a:srgbClr val="3E762B"/>
                </a:solidFill>
                <a:latin typeface="Corbel"/>
                <a:cs typeface="Corbel"/>
              </a:rPr>
              <a:t> </a:t>
            </a:r>
            <a:r>
              <a:rPr sz="1200" b="1" dirty="0">
                <a:solidFill>
                  <a:srgbClr val="3E762B"/>
                </a:solidFill>
                <a:latin typeface="Corbel"/>
                <a:cs typeface="Corbel"/>
              </a:rPr>
              <a:t>on</a:t>
            </a:r>
            <a:r>
              <a:rPr sz="1200" b="1" spc="-55" dirty="0">
                <a:solidFill>
                  <a:srgbClr val="3E762B"/>
                </a:solidFill>
                <a:latin typeface="Corbel"/>
                <a:cs typeface="Corbel"/>
              </a:rPr>
              <a:t> </a:t>
            </a:r>
            <a:r>
              <a:rPr sz="1200" b="1" dirty="0">
                <a:solidFill>
                  <a:srgbClr val="3E762B"/>
                </a:solidFill>
                <a:latin typeface="Corbel"/>
                <a:cs typeface="Corbel"/>
              </a:rPr>
              <a:t>ALU</a:t>
            </a:r>
            <a:r>
              <a:rPr sz="1200" b="1" spc="-30" dirty="0">
                <a:solidFill>
                  <a:srgbClr val="3E762B"/>
                </a:solidFill>
                <a:latin typeface="Corbel"/>
                <a:cs typeface="Corbel"/>
              </a:rPr>
              <a:t> </a:t>
            </a:r>
            <a:r>
              <a:rPr sz="1200" b="1" spc="-10" dirty="0">
                <a:solidFill>
                  <a:srgbClr val="3E762B"/>
                </a:solidFill>
                <a:latin typeface="Corbel"/>
                <a:cs typeface="Corbel"/>
              </a:rPr>
              <a:t>operands</a:t>
            </a:r>
            <a:endParaRPr sz="1200">
              <a:latin typeface="Corbel"/>
              <a:cs typeface="Corbe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20" name="object 20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190"/>
              </a:spcBef>
            </a:pP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Computer</a:t>
            </a:r>
            <a:r>
              <a:rPr sz="1700" b="1" spc="-40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with</a:t>
            </a:r>
            <a:r>
              <a:rPr sz="1700" b="1" spc="-30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One</a:t>
            </a:r>
            <a:r>
              <a:rPr sz="1700" b="1" spc="-2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address</a:t>
            </a:r>
            <a:r>
              <a:rPr sz="1700" b="1" spc="-5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2A4F1D"/>
                </a:solidFill>
                <a:latin typeface="Georgia"/>
                <a:cs typeface="Georgia"/>
              </a:rPr>
              <a:t>instructions</a:t>
            </a:r>
            <a:endParaRPr sz="17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52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Accumulator-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</a:t>
            </a:r>
            <a:r>
              <a:rPr sz="1200" b="1" u="sng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computer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582930" lvl="1" indent="-175895">
              <a:lnSpc>
                <a:spcPct val="100000"/>
              </a:lnSpc>
              <a:buClr>
                <a:srgbClr val="3E762B"/>
              </a:buClr>
              <a:buSzPct val="109090"/>
              <a:buFont typeface="Wingdings"/>
              <a:buChar char=""/>
              <a:tabLst>
                <a:tab pos="582930" algn="l"/>
              </a:tabLst>
            </a:pP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implied</a:t>
            </a:r>
            <a:r>
              <a:rPr sz="1100" spc="-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 register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manipulation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(there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specify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25"/>
              </a:spcBef>
            </a:pPr>
            <a:r>
              <a:rPr sz="1100" spc="-10" dirty="0">
                <a:latin typeface="Times New Roman"/>
                <a:cs typeface="Times New Roman"/>
              </a:rPr>
              <a:t>instruction).</a:t>
            </a:r>
            <a:endParaRPr sz="1100">
              <a:latin typeface="Times New Roman"/>
              <a:cs typeface="Times New Roman"/>
            </a:endParaRPr>
          </a:p>
          <a:p>
            <a:pPr marL="545465" lvl="1" indent="-138430">
              <a:lnSpc>
                <a:spcPct val="100000"/>
              </a:lnSpc>
              <a:spcBef>
                <a:spcPts val="300"/>
              </a:spcBef>
              <a:buClr>
                <a:srgbClr val="3E762B"/>
              </a:buClr>
              <a:buFont typeface="Wingdings"/>
              <a:buChar char=""/>
              <a:tabLst>
                <a:tab pos="545465" algn="l"/>
              </a:tabLst>
            </a:pPr>
            <a:r>
              <a:rPr sz="1100" dirty="0">
                <a:latin typeface="Times New Roman"/>
                <a:cs typeface="Times New Roman"/>
              </a:rPr>
              <a:t>One operand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accumulator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 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register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 memory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location.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40"/>
              </a:spcBef>
              <a:buFont typeface="Wingdings"/>
              <a:buChar char=""/>
            </a:pPr>
            <a:endParaRPr sz="1100">
              <a:latin typeface="Times New Roman"/>
              <a:cs typeface="Times New Roman"/>
            </a:endParaRPr>
          </a:p>
          <a:p>
            <a:pPr marL="490220" lvl="1" indent="-90805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49022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890"/>
              </a:spcBef>
            </a:pPr>
            <a:r>
              <a:rPr sz="1200" b="1" dirty="0">
                <a:latin typeface="Times New Roman"/>
                <a:cs typeface="Times New Roman"/>
              </a:rPr>
              <a:t>X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(A+B)*(C+D)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15639" y="1845564"/>
            <a:ext cx="2978150" cy="2260600"/>
            <a:chOff x="3215639" y="1845564"/>
            <a:chExt cx="2978150" cy="22606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2883" y="1845564"/>
              <a:ext cx="2930652" cy="3459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5639" y="3099816"/>
              <a:ext cx="1060703" cy="10058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6947" y="3099816"/>
              <a:ext cx="1385315" cy="100583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1" name="object 11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190"/>
              </a:spcBef>
            </a:pP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Computer</a:t>
            </a:r>
            <a:r>
              <a:rPr sz="1700" b="1" spc="-40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with</a:t>
            </a:r>
            <a:r>
              <a:rPr sz="1700" b="1" spc="-30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One</a:t>
            </a:r>
            <a:r>
              <a:rPr sz="1700" b="1" spc="-2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address</a:t>
            </a:r>
            <a:r>
              <a:rPr sz="1700" b="1" spc="-5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2A4F1D"/>
                </a:solidFill>
                <a:latin typeface="Georgia"/>
                <a:cs typeface="Georgia"/>
              </a:rPr>
              <a:t>instructions</a:t>
            </a:r>
            <a:endParaRPr sz="170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98192" y="5551906"/>
            <a:ext cx="2243455" cy="2560320"/>
            <a:chOff x="2298192" y="5551906"/>
            <a:chExt cx="2243455" cy="256032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5060" y="5551906"/>
              <a:ext cx="2081784" cy="256031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308098" y="6736841"/>
              <a:ext cx="2223770" cy="594360"/>
            </a:xfrm>
            <a:custGeom>
              <a:avLst/>
              <a:gdLst/>
              <a:ahLst/>
              <a:cxnLst/>
              <a:rect l="l" t="t" r="r" b="b"/>
              <a:pathLst>
                <a:path w="2223770" h="594359">
                  <a:moveTo>
                    <a:pt x="0" y="297179"/>
                  </a:moveTo>
                  <a:lnTo>
                    <a:pt x="9360" y="258447"/>
                  </a:lnTo>
                  <a:lnTo>
                    <a:pt x="36662" y="221217"/>
                  </a:lnTo>
                  <a:lnTo>
                    <a:pt x="80732" y="185805"/>
                  </a:lnTo>
                  <a:lnTo>
                    <a:pt x="140400" y="152524"/>
                  </a:lnTo>
                  <a:lnTo>
                    <a:pt x="175717" y="136781"/>
                  </a:lnTo>
                  <a:lnTo>
                    <a:pt x="214493" y="121688"/>
                  </a:lnTo>
                  <a:lnTo>
                    <a:pt x="256584" y="107284"/>
                  </a:lnTo>
                  <a:lnTo>
                    <a:pt x="301841" y="93610"/>
                  </a:lnTo>
                  <a:lnTo>
                    <a:pt x="350119" y="80703"/>
                  </a:lnTo>
                  <a:lnTo>
                    <a:pt x="401271" y="68604"/>
                  </a:lnTo>
                  <a:lnTo>
                    <a:pt x="455151" y="57351"/>
                  </a:lnTo>
                  <a:lnTo>
                    <a:pt x="511612" y="46983"/>
                  </a:lnTo>
                  <a:lnTo>
                    <a:pt x="570509" y="37541"/>
                  </a:lnTo>
                  <a:lnTo>
                    <a:pt x="631693" y="29062"/>
                  </a:lnTo>
                  <a:lnTo>
                    <a:pt x="695019" y="21587"/>
                  </a:lnTo>
                  <a:lnTo>
                    <a:pt x="760341" y="15154"/>
                  </a:lnTo>
                  <a:lnTo>
                    <a:pt x="827512" y="9803"/>
                  </a:lnTo>
                  <a:lnTo>
                    <a:pt x="896386" y="5573"/>
                  </a:lnTo>
                  <a:lnTo>
                    <a:pt x="966816" y="2503"/>
                  </a:lnTo>
                  <a:lnTo>
                    <a:pt x="1038655" y="632"/>
                  </a:lnTo>
                  <a:lnTo>
                    <a:pt x="1111757" y="0"/>
                  </a:lnTo>
                  <a:lnTo>
                    <a:pt x="1184860" y="632"/>
                  </a:lnTo>
                  <a:lnTo>
                    <a:pt x="1256699" y="2503"/>
                  </a:lnTo>
                  <a:lnTo>
                    <a:pt x="1327129" y="5573"/>
                  </a:lnTo>
                  <a:lnTo>
                    <a:pt x="1396003" y="9803"/>
                  </a:lnTo>
                  <a:lnTo>
                    <a:pt x="1463174" y="15154"/>
                  </a:lnTo>
                  <a:lnTo>
                    <a:pt x="1528496" y="21587"/>
                  </a:lnTo>
                  <a:lnTo>
                    <a:pt x="1591822" y="29062"/>
                  </a:lnTo>
                  <a:lnTo>
                    <a:pt x="1653006" y="37541"/>
                  </a:lnTo>
                  <a:lnTo>
                    <a:pt x="1711903" y="46983"/>
                  </a:lnTo>
                  <a:lnTo>
                    <a:pt x="1768364" y="57351"/>
                  </a:lnTo>
                  <a:lnTo>
                    <a:pt x="1822244" y="68604"/>
                  </a:lnTo>
                  <a:lnTo>
                    <a:pt x="1873396" y="80703"/>
                  </a:lnTo>
                  <a:lnTo>
                    <a:pt x="1921674" y="93610"/>
                  </a:lnTo>
                  <a:lnTo>
                    <a:pt x="1966931" y="107284"/>
                  </a:lnTo>
                  <a:lnTo>
                    <a:pt x="2009022" y="121688"/>
                  </a:lnTo>
                  <a:lnTo>
                    <a:pt x="2047798" y="136781"/>
                  </a:lnTo>
                  <a:lnTo>
                    <a:pt x="2083115" y="152524"/>
                  </a:lnTo>
                  <a:lnTo>
                    <a:pt x="2142783" y="185805"/>
                  </a:lnTo>
                  <a:lnTo>
                    <a:pt x="2186853" y="221217"/>
                  </a:lnTo>
                  <a:lnTo>
                    <a:pt x="2214155" y="258447"/>
                  </a:lnTo>
                  <a:lnTo>
                    <a:pt x="2223516" y="297179"/>
                  </a:lnTo>
                  <a:lnTo>
                    <a:pt x="2221151" y="316714"/>
                  </a:lnTo>
                  <a:lnTo>
                    <a:pt x="2202673" y="354735"/>
                  </a:lnTo>
                  <a:lnTo>
                    <a:pt x="2166841" y="391094"/>
                  </a:lnTo>
                  <a:lnTo>
                    <a:pt x="2114825" y="425480"/>
                  </a:lnTo>
                  <a:lnTo>
                    <a:pt x="2047798" y="457578"/>
                  </a:lnTo>
                  <a:lnTo>
                    <a:pt x="2009022" y="472671"/>
                  </a:lnTo>
                  <a:lnTo>
                    <a:pt x="1966931" y="487075"/>
                  </a:lnTo>
                  <a:lnTo>
                    <a:pt x="1921674" y="500749"/>
                  </a:lnTo>
                  <a:lnTo>
                    <a:pt x="1873396" y="513656"/>
                  </a:lnTo>
                  <a:lnTo>
                    <a:pt x="1822244" y="525755"/>
                  </a:lnTo>
                  <a:lnTo>
                    <a:pt x="1768364" y="537008"/>
                  </a:lnTo>
                  <a:lnTo>
                    <a:pt x="1711903" y="547376"/>
                  </a:lnTo>
                  <a:lnTo>
                    <a:pt x="1653006" y="556818"/>
                  </a:lnTo>
                  <a:lnTo>
                    <a:pt x="1591822" y="565297"/>
                  </a:lnTo>
                  <a:lnTo>
                    <a:pt x="1528496" y="572772"/>
                  </a:lnTo>
                  <a:lnTo>
                    <a:pt x="1463174" y="579205"/>
                  </a:lnTo>
                  <a:lnTo>
                    <a:pt x="1396003" y="584556"/>
                  </a:lnTo>
                  <a:lnTo>
                    <a:pt x="1327129" y="588786"/>
                  </a:lnTo>
                  <a:lnTo>
                    <a:pt x="1256699" y="591856"/>
                  </a:lnTo>
                  <a:lnTo>
                    <a:pt x="1184860" y="593727"/>
                  </a:lnTo>
                  <a:lnTo>
                    <a:pt x="1111757" y="594359"/>
                  </a:lnTo>
                  <a:lnTo>
                    <a:pt x="1038655" y="593727"/>
                  </a:lnTo>
                  <a:lnTo>
                    <a:pt x="966816" y="591856"/>
                  </a:lnTo>
                  <a:lnTo>
                    <a:pt x="896386" y="588786"/>
                  </a:lnTo>
                  <a:lnTo>
                    <a:pt x="827512" y="584556"/>
                  </a:lnTo>
                  <a:lnTo>
                    <a:pt x="760341" y="579205"/>
                  </a:lnTo>
                  <a:lnTo>
                    <a:pt x="695019" y="572772"/>
                  </a:lnTo>
                  <a:lnTo>
                    <a:pt x="631693" y="565297"/>
                  </a:lnTo>
                  <a:lnTo>
                    <a:pt x="570509" y="556818"/>
                  </a:lnTo>
                  <a:lnTo>
                    <a:pt x="511612" y="547376"/>
                  </a:lnTo>
                  <a:lnTo>
                    <a:pt x="455151" y="537008"/>
                  </a:lnTo>
                  <a:lnTo>
                    <a:pt x="401271" y="525755"/>
                  </a:lnTo>
                  <a:lnTo>
                    <a:pt x="350119" y="513656"/>
                  </a:lnTo>
                  <a:lnTo>
                    <a:pt x="301841" y="500749"/>
                  </a:lnTo>
                  <a:lnTo>
                    <a:pt x="256584" y="487075"/>
                  </a:lnTo>
                  <a:lnTo>
                    <a:pt x="214493" y="472671"/>
                  </a:lnTo>
                  <a:lnTo>
                    <a:pt x="175717" y="457578"/>
                  </a:lnTo>
                  <a:lnTo>
                    <a:pt x="140400" y="441835"/>
                  </a:lnTo>
                  <a:lnTo>
                    <a:pt x="80732" y="408554"/>
                  </a:lnTo>
                  <a:lnTo>
                    <a:pt x="36662" y="373142"/>
                  </a:lnTo>
                  <a:lnTo>
                    <a:pt x="9360" y="335912"/>
                  </a:lnTo>
                  <a:lnTo>
                    <a:pt x="0" y="297179"/>
                  </a:lnTo>
                  <a:close/>
                </a:path>
              </a:pathLst>
            </a:custGeom>
            <a:ln w="19811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944"/>
              </a:spcBef>
            </a:pP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Computer</a:t>
            </a:r>
            <a:r>
              <a:rPr sz="1700" b="1" spc="-3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with</a:t>
            </a:r>
            <a:r>
              <a:rPr sz="1700" b="1" spc="-2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Two</a:t>
            </a:r>
            <a:r>
              <a:rPr sz="1700" b="1" spc="-1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address</a:t>
            </a:r>
            <a:r>
              <a:rPr sz="1700" b="1" spc="-50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2A4F1D"/>
                </a:solidFill>
                <a:latin typeface="Georgia"/>
                <a:cs typeface="Georgia"/>
              </a:rPr>
              <a:t>instructions</a:t>
            </a:r>
            <a:endParaRPr sz="17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89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Instruction</a:t>
            </a:r>
            <a:r>
              <a:rPr sz="12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531495" lvl="1" indent="-132080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531495" algn="l"/>
              </a:tabLst>
            </a:pPr>
            <a:r>
              <a:rPr sz="1300" dirty="0">
                <a:latin typeface="Times New Roman"/>
                <a:cs typeface="Times New Roman"/>
              </a:rPr>
              <a:t>Destination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address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also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contains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operand.</a:t>
            </a:r>
            <a:endParaRPr sz="13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30"/>
              </a:spcBef>
              <a:buClr>
                <a:srgbClr val="3E762B"/>
              </a:buClr>
              <a:buFont typeface="Wingdings"/>
              <a:buChar char=""/>
            </a:pPr>
            <a:endParaRPr sz="13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890"/>
              </a:spcBef>
            </a:pPr>
            <a:r>
              <a:rPr sz="1200" b="1" dirty="0">
                <a:latin typeface="Times New Roman"/>
                <a:cs typeface="Times New Roman"/>
              </a:rPr>
              <a:t>X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(A+B)*(C+D)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65120" y="1851660"/>
            <a:ext cx="3317875" cy="2202180"/>
            <a:chOff x="2865120" y="1851660"/>
            <a:chExt cx="3317875" cy="22021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5120" y="1851660"/>
              <a:ext cx="3317748" cy="3505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6496" y="3002280"/>
              <a:ext cx="1022604" cy="10515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7888" y="3025140"/>
              <a:ext cx="1537715" cy="10058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17820" y="3189732"/>
              <a:ext cx="329184" cy="22860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2" name="object 12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070"/>
              </a:spcBef>
            </a:pP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Computer</a:t>
            </a:r>
            <a:r>
              <a:rPr sz="1700" b="1" spc="-40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with</a:t>
            </a:r>
            <a:r>
              <a:rPr sz="1700" b="1" spc="-30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Three</a:t>
            </a:r>
            <a:r>
              <a:rPr sz="1700" b="1" spc="-40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address</a:t>
            </a:r>
            <a:r>
              <a:rPr sz="1700" b="1" spc="-40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2A4F1D"/>
                </a:solidFill>
                <a:latin typeface="Georgia"/>
                <a:cs typeface="Georgia"/>
              </a:rPr>
              <a:t>instructions</a:t>
            </a:r>
            <a:endParaRPr sz="17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9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Instruction</a:t>
            </a:r>
            <a:r>
              <a:rPr sz="12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544830" lvl="1" indent="-145415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"/>
              <a:tabLst>
                <a:tab pos="544830" algn="l"/>
              </a:tabLst>
            </a:pPr>
            <a:r>
              <a:rPr sz="1200" dirty="0">
                <a:latin typeface="Times New Roman"/>
                <a:cs typeface="Times New Roman"/>
              </a:rPr>
              <a:t>Short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long</a:t>
            </a:r>
            <a:endParaRPr sz="12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285"/>
              </a:spcBef>
            </a:pPr>
            <a:r>
              <a:rPr sz="1200" dirty="0">
                <a:latin typeface="Times New Roman"/>
                <a:cs typeface="Times New Roman"/>
              </a:rPr>
              <a:t>(a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instructions)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890"/>
              </a:spcBef>
            </a:pPr>
            <a:r>
              <a:rPr sz="1200" b="1" dirty="0">
                <a:latin typeface="Times New Roman"/>
                <a:cs typeface="Times New Roman"/>
              </a:rPr>
              <a:t>X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(A+B)*(C+D)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59279" y="5832347"/>
            <a:ext cx="4363720" cy="2179320"/>
            <a:chOff x="1859279" y="5832347"/>
            <a:chExt cx="4363720" cy="217932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9279" y="5832347"/>
              <a:ext cx="4363212" cy="36880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4743" y="7417307"/>
              <a:ext cx="1155192" cy="5943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51375" y="7417307"/>
              <a:ext cx="2017776" cy="594359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3416" y="1612392"/>
              <a:ext cx="3268979" cy="25145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ts val="2065"/>
              </a:lnSpc>
            </a:pPr>
            <a:r>
              <a:rPr sz="2000" dirty="0">
                <a:latin typeface="Georgia"/>
                <a:cs typeface="Georgia"/>
              </a:rPr>
              <a:t>ALU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connections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for</a:t>
            </a:r>
            <a:endParaRPr sz="2000">
              <a:latin typeface="Georgia"/>
              <a:cs typeface="Georgia"/>
            </a:endParaRPr>
          </a:p>
          <a:p>
            <a:pPr marL="103505">
              <a:lnSpc>
                <a:spcPts val="2280"/>
              </a:lnSpc>
            </a:pP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Computer</a:t>
            </a:r>
            <a:r>
              <a:rPr sz="2000" u="heavy" spc="-5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with</a:t>
            </a:r>
            <a:r>
              <a:rPr sz="2000" u="heavy" spc="-4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Two</a:t>
            </a:r>
            <a:r>
              <a:rPr sz="2000" u="heavy" spc="-3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or</a:t>
            </a:r>
            <a:r>
              <a:rPr sz="2000" u="heavy" spc="-3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Three</a:t>
            </a:r>
            <a:r>
              <a:rPr sz="2000" u="heavy" spc="-2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address</a:t>
            </a:r>
            <a:r>
              <a:rPr sz="2000" u="heavy" spc="-4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2000" u="heavy" spc="-1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instr</a:t>
            </a:r>
            <a:r>
              <a:rPr sz="2000" spc="-10" dirty="0">
                <a:latin typeface="Georgia"/>
                <a:cs typeface="Georgia"/>
              </a:rPr>
              <a:t>uctions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2000">
              <a:latin typeface="Georgia"/>
              <a:cs typeface="Georgia"/>
            </a:endParaRPr>
          </a:p>
          <a:p>
            <a:pPr marR="146685" algn="r">
              <a:lnSpc>
                <a:spcPct val="100000"/>
              </a:lnSpc>
              <a:spcBef>
                <a:spcPts val="5"/>
              </a:spcBef>
            </a:pPr>
            <a:r>
              <a:rPr sz="600" spc="-25" dirty="0">
                <a:solidFill>
                  <a:srgbClr val="539E39"/>
                </a:solidFill>
                <a:latin typeface="Corbel"/>
                <a:cs typeface="Corbel"/>
              </a:rPr>
              <a:t>22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22250">
              <a:lnSpc>
                <a:spcPts val="1939"/>
              </a:lnSpc>
              <a:spcBef>
                <a:spcPts val="325"/>
              </a:spcBef>
            </a:pPr>
            <a:r>
              <a:rPr sz="1700" b="1" spc="-10" dirty="0">
                <a:solidFill>
                  <a:srgbClr val="2A4F1D"/>
                </a:solidFill>
                <a:latin typeface="Georgia"/>
                <a:cs typeface="Georgia"/>
              </a:rPr>
              <a:t>Stack-</a:t>
            </a:r>
            <a:r>
              <a:rPr sz="1700" b="1" dirty="0">
                <a:solidFill>
                  <a:srgbClr val="2A4F1D"/>
                </a:solidFill>
                <a:latin typeface="Georgia"/>
                <a:cs typeface="Georgia"/>
              </a:rPr>
              <a:t>organized</a:t>
            </a:r>
            <a:r>
              <a:rPr sz="1700" b="1" spc="5" dirty="0">
                <a:solidFill>
                  <a:srgbClr val="2A4F1D"/>
                </a:solidFill>
                <a:latin typeface="Georgia"/>
                <a:cs typeface="Georgia"/>
              </a:rPr>
              <a:t> </a:t>
            </a:r>
            <a:r>
              <a:rPr sz="1700" b="1" spc="-10" dirty="0">
                <a:solidFill>
                  <a:srgbClr val="2A4F1D"/>
                </a:solidFill>
                <a:latin typeface="Georgia"/>
                <a:cs typeface="Georgia"/>
              </a:rPr>
              <a:t>Computer</a:t>
            </a:r>
            <a:endParaRPr sz="1700">
              <a:latin typeface="Georgia"/>
              <a:cs typeface="Georgia"/>
            </a:endParaRPr>
          </a:p>
          <a:p>
            <a:pPr marL="165100">
              <a:lnSpc>
                <a:spcPts val="1939"/>
              </a:lnSpc>
              <a:tabLst>
                <a:tab pos="4826000" algn="l"/>
              </a:tabLst>
            </a:pPr>
            <a:r>
              <a:rPr sz="1700" b="1" u="heavy" spc="15" dirty="0">
                <a:solidFill>
                  <a:srgbClr val="2A4F1D"/>
                </a:solidFill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700" b="1" u="heavy" spc="-10" dirty="0">
                <a:solidFill>
                  <a:srgbClr val="2A4F1D"/>
                </a:solidFill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(zero-</a:t>
            </a:r>
            <a:r>
              <a:rPr sz="1700" b="1" u="heavy" dirty="0">
                <a:solidFill>
                  <a:srgbClr val="2A4F1D"/>
                </a:solidFill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address</a:t>
            </a:r>
            <a:r>
              <a:rPr sz="1700" b="1" u="heavy" spc="-20" dirty="0">
                <a:solidFill>
                  <a:srgbClr val="2A4F1D"/>
                </a:solidFill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700" b="1" u="heavy" spc="-10" dirty="0">
                <a:solidFill>
                  <a:srgbClr val="2A4F1D"/>
                </a:solidFill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instructions)</a:t>
            </a:r>
            <a:r>
              <a:rPr sz="1700" b="1" u="heavy" dirty="0">
                <a:solidFill>
                  <a:srgbClr val="2A4F1D"/>
                </a:solidFill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	</a:t>
            </a:r>
            <a:endParaRPr sz="1700">
              <a:latin typeface="Georgia"/>
              <a:cs typeface="Georgia"/>
            </a:endParaRPr>
          </a:p>
          <a:p>
            <a:pPr marL="434975" marR="750570" indent="-172720">
              <a:lnSpc>
                <a:spcPct val="100000"/>
              </a:lnSpc>
              <a:spcBef>
                <a:spcPts val="860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stack-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	</a:t>
            </a:r>
            <a:r>
              <a:rPr sz="1200" dirty="0">
                <a:latin typeface="Times New Roman"/>
                <a:cs typeface="Times New Roman"/>
              </a:rPr>
              <a:t>converted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reverse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Polish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(Postfix)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expression.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885"/>
              </a:spcBef>
            </a:pPr>
            <a:r>
              <a:rPr sz="1200" b="1" dirty="0">
                <a:latin typeface="Times New Roman"/>
                <a:cs typeface="Times New Roman"/>
              </a:rPr>
              <a:t>X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(A+B)*(C+D)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44723" y="6839711"/>
            <a:ext cx="3321050" cy="1097280"/>
            <a:chOff x="2744723" y="6839711"/>
            <a:chExt cx="3321050" cy="10972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4723" y="6839711"/>
              <a:ext cx="1059179" cy="10972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2147" y="6839711"/>
              <a:ext cx="1833372" cy="1097280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711" y="1732788"/>
              <a:ext cx="5228844" cy="20573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8600">
              <a:lnSpc>
                <a:spcPts val="2050"/>
              </a:lnSpc>
              <a:spcBef>
                <a:spcPts val="90"/>
              </a:spcBef>
            </a:pPr>
            <a:r>
              <a:rPr sz="1800" dirty="0">
                <a:latin typeface="Georgia"/>
                <a:cs typeface="Georgia"/>
              </a:rPr>
              <a:t>Summary</a:t>
            </a:r>
            <a:r>
              <a:rPr sz="1800" spc="-6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of</a:t>
            </a:r>
            <a:r>
              <a:rPr sz="1800" spc="-7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Instruction</a:t>
            </a:r>
            <a:r>
              <a:rPr sz="1800" spc="-7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Addresses</a:t>
            </a:r>
            <a:endParaRPr sz="1800">
              <a:latin typeface="Georgia"/>
              <a:cs typeface="Georgia"/>
            </a:endParaRPr>
          </a:p>
          <a:p>
            <a:pPr marL="165100">
              <a:lnSpc>
                <a:spcPts val="2050"/>
              </a:lnSpc>
              <a:tabLst>
                <a:tab pos="4826000" algn="l"/>
              </a:tabLst>
            </a:pPr>
            <a:r>
              <a:rPr sz="1800" u="heavy" spc="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8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(Nonbranching</a:t>
            </a:r>
            <a:r>
              <a:rPr sz="1800" u="heavy" spc="-55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 </a:t>
            </a:r>
            <a:r>
              <a:rPr sz="1800" u="heavy" spc="-10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Instructions)</a:t>
            </a:r>
            <a:r>
              <a:rPr sz="1800" u="heavy" dirty="0">
                <a:uFill>
                  <a:solidFill>
                    <a:srgbClr val="539E39"/>
                  </a:solidFill>
                </a:uFill>
                <a:latin typeface="Georgia"/>
                <a:cs typeface="Georgia"/>
              </a:rPr>
              <a:t>	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10" dirty="0">
                <a:latin typeface="Georgia"/>
                <a:cs typeface="Georgia"/>
              </a:rPr>
              <a:t>Instruction</a:t>
            </a:r>
            <a:r>
              <a:rPr sz="2200" spc="-2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Format</a:t>
            </a:r>
            <a:endParaRPr sz="2200">
              <a:latin typeface="Georgia"/>
              <a:cs typeface="Georgia"/>
            </a:endParaRPr>
          </a:p>
          <a:p>
            <a:pPr marL="433070" marR="467995" indent="-171450">
              <a:lnSpc>
                <a:spcPct val="120000"/>
              </a:lnSpc>
              <a:spcBef>
                <a:spcPts val="1180"/>
              </a:spcBef>
              <a:buClr>
                <a:srgbClr val="3E762B"/>
              </a:buClr>
              <a:buFont typeface="Wingdings"/>
              <a:buChar char=""/>
              <a:tabLst>
                <a:tab pos="434340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Three-</a:t>
            </a:r>
            <a:r>
              <a:rPr sz="1150" b="1" dirty="0">
                <a:latin typeface="Times New Roman"/>
                <a:cs typeface="Times New Roman"/>
              </a:rPr>
              <a:t>address</a:t>
            </a:r>
            <a:r>
              <a:rPr sz="1150" b="1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formats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are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not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common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because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they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require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relatively 	</a:t>
            </a:r>
            <a:r>
              <a:rPr sz="1150" dirty="0">
                <a:latin typeface="Times New Roman"/>
                <a:cs typeface="Times New Roman"/>
              </a:rPr>
              <a:t>long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format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hold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three-</a:t>
            </a:r>
            <a:r>
              <a:rPr sz="1150" dirty="0">
                <a:latin typeface="Times New Roman"/>
                <a:cs typeface="Times New Roman"/>
              </a:rPr>
              <a:t>address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references.</a:t>
            </a:r>
            <a:endParaRPr sz="1150">
              <a:latin typeface="Times New Roman"/>
              <a:cs typeface="Times New Roman"/>
            </a:endParaRPr>
          </a:p>
          <a:p>
            <a:pPr marL="433070" marR="349885" indent="-171450">
              <a:lnSpc>
                <a:spcPct val="120100"/>
              </a:lnSpc>
              <a:spcBef>
                <a:spcPts val="595"/>
              </a:spcBef>
              <a:buClr>
                <a:srgbClr val="3E762B"/>
              </a:buClr>
              <a:buFont typeface="Wingdings"/>
              <a:buChar char=""/>
              <a:tabLst>
                <a:tab pos="434340" algn="l"/>
              </a:tabLst>
            </a:pP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b="1" spc="-30" dirty="0">
                <a:latin typeface="Times New Roman"/>
                <a:cs typeface="Times New Roman"/>
              </a:rPr>
              <a:t>Two-</a:t>
            </a:r>
            <a:r>
              <a:rPr sz="1150" b="1" dirty="0">
                <a:latin typeface="Times New Roman"/>
                <a:cs typeface="Times New Roman"/>
              </a:rPr>
              <a:t>address</a:t>
            </a:r>
            <a:r>
              <a:rPr sz="1150" b="1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instructions,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one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address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must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do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double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duty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both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operand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and</a:t>
            </a:r>
            <a:r>
              <a:rPr sz="1150" spc="500" dirty="0">
                <a:latin typeface="Times New Roman"/>
                <a:cs typeface="Times New Roman"/>
              </a:rPr>
              <a:t> 	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result.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Thus,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 </a:t>
            </a:r>
            <a:r>
              <a:rPr sz="1150" spc="-10" dirty="0">
                <a:latin typeface="Times New Roman"/>
                <a:cs typeface="Times New Roman"/>
              </a:rPr>
              <a:t>instruction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SUB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75" dirty="0">
                <a:latin typeface="Times New Roman"/>
                <a:cs typeface="Times New Roman"/>
              </a:rPr>
              <a:t>Y,</a:t>
            </a:r>
            <a:r>
              <a:rPr sz="1150" dirty="0">
                <a:latin typeface="Times New Roman"/>
                <a:cs typeface="Times New Roman"/>
              </a:rPr>
              <a:t> B carries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out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10" dirty="0">
                <a:latin typeface="Times New Roman"/>
                <a:cs typeface="Times New Roman"/>
              </a:rPr>
              <a:t> calculation</a:t>
            </a:r>
            <a:r>
              <a:rPr sz="1150" spc="-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 B and stores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 	</a:t>
            </a:r>
            <a:r>
              <a:rPr sz="1150" dirty="0">
                <a:latin typeface="Times New Roman"/>
                <a:cs typeface="Times New Roman"/>
              </a:rPr>
              <a:t>result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spc="-75" dirty="0">
                <a:latin typeface="Times New Roman"/>
                <a:cs typeface="Times New Roman"/>
              </a:rPr>
              <a:t>Y.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two-</a:t>
            </a:r>
            <a:r>
              <a:rPr sz="1150" dirty="0">
                <a:latin typeface="Times New Roman"/>
                <a:cs typeface="Times New Roman"/>
              </a:rPr>
              <a:t>address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format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reduces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space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requirement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but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also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introduces 	</a:t>
            </a:r>
            <a:r>
              <a:rPr sz="1150" dirty="0">
                <a:latin typeface="Times New Roman"/>
                <a:cs typeface="Times New Roman"/>
              </a:rPr>
              <a:t>some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confusion.</a:t>
            </a:r>
            <a:endParaRPr sz="1150">
              <a:latin typeface="Times New Roman"/>
              <a:cs typeface="Times New Roman"/>
            </a:endParaRPr>
          </a:p>
          <a:p>
            <a:pPr marL="433070" marR="450850" indent="-171450">
              <a:lnSpc>
                <a:spcPct val="12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4340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Zero-</a:t>
            </a:r>
            <a:r>
              <a:rPr sz="1150" b="1" dirty="0">
                <a:latin typeface="Times New Roman"/>
                <a:cs typeface="Times New Roman"/>
              </a:rPr>
              <a:t>address</a:t>
            </a:r>
            <a:r>
              <a:rPr sz="1150" b="1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instructions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are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applicable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special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memory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organization,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called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50" dirty="0">
                <a:latin typeface="Times New Roman"/>
                <a:cs typeface="Times New Roman"/>
              </a:rPr>
              <a:t>a 	</a:t>
            </a:r>
            <a:r>
              <a:rPr sz="1150" spc="-10" dirty="0">
                <a:latin typeface="Times New Roman"/>
                <a:cs typeface="Times New Roman"/>
              </a:rPr>
              <a:t>stack.</a:t>
            </a:r>
            <a:r>
              <a:rPr sz="1150" spc="-7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-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stack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 </a:t>
            </a:r>
            <a:r>
              <a:rPr sz="1150" spc="-10" dirty="0">
                <a:latin typeface="Times New Roman"/>
                <a:cs typeface="Times New Roman"/>
              </a:rPr>
              <a:t>last-in-first-</a:t>
            </a:r>
            <a:r>
              <a:rPr sz="1150" dirty="0">
                <a:latin typeface="Times New Roman"/>
                <a:cs typeface="Times New Roman"/>
              </a:rPr>
              <a:t>out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set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locations.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stack is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 known </a:t>
            </a:r>
            <a:r>
              <a:rPr sz="1150" spc="-10" dirty="0">
                <a:latin typeface="Times New Roman"/>
                <a:cs typeface="Times New Roman"/>
              </a:rPr>
              <a:t>location 	</a:t>
            </a:r>
            <a:r>
              <a:rPr sz="1150" dirty="0">
                <a:latin typeface="Times New Roman"/>
                <a:cs typeface="Times New Roman"/>
              </a:rPr>
              <a:t>and,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often,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at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least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top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two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elements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are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processor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registers.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Thus,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zero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address 	instructions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would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reference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top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two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stack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elements.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spc="-10" dirty="0">
                <a:latin typeface="Georgia"/>
                <a:cs typeface="Georgia"/>
              </a:rPr>
              <a:t>Instruction</a:t>
            </a:r>
            <a:r>
              <a:rPr sz="2200" spc="-2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Format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trade-offs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2200">
              <a:latin typeface="Georgia"/>
              <a:cs typeface="Georgia"/>
            </a:endParaRPr>
          </a:p>
          <a:p>
            <a:pPr marL="434975" indent="-173355">
              <a:lnSpc>
                <a:spcPct val="100000"/>
              </a:lnSpc>
              <a:buClr>
                <a:srgbClr val="3E762B"/>
              </a:buClr>
              <a:buAutoNum type="arabicPeriod"/>
              <a:tabLst>
                <a:tab pos="434975" algn="l"/>
              </a:tabLst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addresses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3E762B"/>
              </a:buClr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434975" indent="-173355">
              <a:lnSpc>
                <a:spcPct val="100000"/>
              </a:lnSpc>
              <a:buClr>
                <a:srgbClr val="3E762B"/>
              </a:buClr>
              <a:buAutoNum type="arabicPeriod"/>
              <a:tabLst>
                <a:tab pos="434975" algn="l"/>
              </a:tabLst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references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location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125"/>
              </a:spcBef>
            </a:pPr>
            <a:r>
              <a:rPr sz="1800" dirty="0">
                <a:latin typeface="Georgia"/>
                <a:cs typeface="Georgia"/>
              </a:rPr>
              <a:t>Processor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Organization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trade-</a:t>
            </a:r>
            <a:r>
              <a:rPr sz="1800" spc="-20" dirty="0">
                <a:latin typeface="Georgia"/>
                <a:cs typeface="Georgia"/>
              </a:rPr>
              <a:t>offs</a:t>
            </a:r>
            <a:endParaRPr sz="18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47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Accumulator-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type</a:t>
            </a:r>
            <a:r>
              <a:rPr sz="1200" b="1" u="sng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computer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90220" lvl="1" indent="-90805">
              <a:lnSpc>
                <a:spcPct val="100000"/>
              </a:lnSpc>
              <a:buClr>
                <a:srgbClr val="3E762B"/>
              </a:buClr>
              <a:buFont typeface="Wingdings"/>
              <a:buChar char=""/>
              <a:tabLst>
                <a:tab pos="49022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890"/>
              </a:spcBef>
            </a:pPr>
            <a:r>
              <a:rPr sz="1200" b="1" dirty="0">
                <a:latin typeface="Times New Roman"/>
                <a:cs typeface="Times New Roman"/>
              </a:rPr>
              <a:t>X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(A+B)*(C+D)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91638" y="5821679"/>
            <a:ext cx="3502025" cy="2260600"/>
            <a:chOff x="2691638" y="5821679"/>
            <a:chExt cx="3502025" cy="22606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2884" y="5821679"/>
              <a:ext cx="2930652" cy="3459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5640" y="7075931"/>
              <a:ext cx="1060703" cy="100584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6948" y="7075931"/>
              <a:ext cx="1385315" cy="100584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91638" y="7283830"/>
              <a:ext cx="459740" cy="190500"/>
            </a:xfrm>
            <a:custGeom>
              <a:avLst/>
              <a:gdLst/>
              <a:ahLst/>
              <a:cxnLst/>
              <a:rect l="l" t="t" r="r" b="b"/>
              <a:pathLst>
                <a:path w="459739" h="190500">
                  <a:moveTo>
                    <a:pt x="400277" y="171578"/>
                  </a:moveTo>
                  <a:lnTo>
                    <a:pt x="393192" y="190119"/>
                  </a:lnTo>
                  <a:lnTo>
                    <a:pt x="459359" y="183642"/>
                  </a:lnTo>
                  <a:lnTo>
                    <a:pt x="451555" y="175133"/>
                  </a:lnTo>
                  <a:lnTo>
                    <a:pt x="409575" y="175133"/>
                  </a:lnTo>
                  <a:lnTo>
                    <a:pt x="400277" y="171578"/>
                  </a:lnTo>
                  <a:close/>
                </a:path>
                <a:path w="459739" h="190500">
                  <a:moveTo>
                    <a:pt x="407309" y="153177"/>
                  </a:moveTo>
                  <a:lnTo>
                    <a:pt x="400277" y="171578"/>
                  </a:lnTo>
                  <a:lnTo>
                    <a:pt x="409575" y="175133"/>
                  </a:lnTo>
                  <a:lnTo>
                    <a:pt x="416560" y="156718"/>
                  </a:lnTo>
                  <a:lnTo>
                    <a:pt x="407309" y="153177"/>
                  </a:lnTo>
                  <a:close/>
                </a:path>
                <a:path w="459739" h="190500">
                  <a:moveTo>
                    <a:pt x="414400" y="134620"/>
                  </a:moveTo>
                  <a:lnTo>
                    <a:pt x="407309" y="153177"/>
                  </a:lnTo>
                  <a:lnTo>
                    <a:pt x="416560" y="156718"/>
                  </a:lnTo>
                  <a:lnTo>
                    <a:pt x="409575" y="175133"/>
                  </a:lnTo>
                  <a:lnTo>
                    <a:pt x="451555" y="175133"/>
                  </a:lnTo>
                  <a:lnTo>
                    <a:pt x="414400" y="134620"/>
                  </a:lnTo>
                  <a:close/>
                </a:path>
                <a:path w="459739" h="190500">
                  <a:moveTo>
                    <a:pt x="7112" y="0"/>
                  </a:moveTo>
                  <a:lnTo>
                    <a:pt x="0" y="18542"/>
                  </a:lnTo>
                  <a:lnTo>
                    <a:pt x="400277" y="171578"/>
                  </a:lnTo>
                  <a:lnTo>
                    <a:pt x="407309" y="153177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34945" y="6970014"/>
            <a:ext cx="919480" cy="323215"/>
          </a:xfrm>
          <a:prstGeom prst="rect">
            <a:avLst/>
          </a:prstGeom>
          <a:solidFill>
            <a:srgbClr val="FFFFFF"/>
          </a:solidFill>
          <a:ln w="19812">
            <a:solidFill>
              <a:srgbClr val="539E3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50"/>
              </a:spcBef>
            </a:pP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7</a:t>
            </a:r>
            <a:r>
              <a:rPr sz="900" b="1" spc="-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Instructions</a:t>
            </a:r>
            <a:endParaRPr sz="9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</a:pP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6</a:t>
            </a:r>
            <a:r>
              <a:rPr sz="900" b="1" spc="-5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900" b="1" spc="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access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3307841" y="6832854"/>
            <a:ext cx="2944495" cy="184785"/>
          </a:xfrm>
          <a:prstGeom prst="rect">
            <a:avLst/>
          </a:prstGeom>
          <a:solidFill>
            <a:srgbClr val="FFFFFF"/>
          </a:solidFill>
          <a:ln w="19811">
            <a:solidFill>
              <a:srgbClr val="00AF50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50"/>
              </a:spcBef>
            </a:pPr>
            <a:r>
              <a:rPr sz="900" b="1" dirty="0">
                <a:solidFill>
                  <a:srgbClr val="00AF50"/>
                </a:solidFill>
                <a:latin typeface="Times New Roman"/>
                <a:cs typeface="Times New Roman"/>
              </a:rPr>
              <a:t>Each</a:t>
            </a:r>
            <a:r>
              <a:rPr sz="9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00AF50"/>
                </a:solidFill>
                <a:latin typeface="Times New Roman"/>
                <a:cs typeface="Times New Roman"/>
              </a:rPr>
              <a:t>Instruction</a:t>
            </a:r>
            <a:r>
              <a:rPr sz="9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00AF50"/>
                </a:solidFill>
                <a:latin typeface="Times New Roman"/>
                <a:cs typeface="Times New Roman"/>
              </a:rPr>
              <a:t>takes</a:t>
            </a:r>
            <a:r>
              <a:rPr sz="900" b="1" spc="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00AF50"/>
                </a:solidFill>
                <a:latin typeface="Times New Roman"/>
                <a:cs typeface="Times New Roman"/>
              </a:rPr>
              <a:t>4-6</a:t>
            </a:r>
            <a:r>
              <a:rPr sz="900" b="1" spc="-3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900" b="1" spc="-20" dirty="0">
                <a:solidFill>
                  <a:srgbClr val="00AF50"/>
                </a:solidFill>
                <a:latin typeface="Times New Roman"/>
                <a:cs typeface="Times New Roman"/>
              </a:rPr>
              <a:t>micro-</a:t>
            </a:r>
            <a:r>
              <a:rPr sz="900" b="1" dirty="0">
                <a:solidFill>
                  <a:srgbClr val="00AF50"/>
                </a:solidFill>
                <a:latin typeface="Times New Roman"/>
                <a:cs typeface="Times New Roman"/>
              </a:rPr>
              <a:t>operations</a:t>
            </a:r>
            <a:r>
              <a:rPr sz="900" b="1" spc="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00AF50"/>
                </a:solidFill>
                <a:latin typeface="Times New Roman"/>
                <a:cs typeface="Times New Roman"/>
              </a:rPr>
              <a:t>(clock</a:t>
            </a:r>
            <a:r>
              <a:rPr sz="9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9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cycles)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875"/>
              </a:spcBef>
            </a:pPr>
            <a:r>
              <a:rPr sz="1800" dirty="0">
                <a:latin typeface="Georgia"/>
                <a:cs typeface="Georgia"/>
              </a:rPr>
              <a:t>Processor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Organization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trade-</a:t>
            </a:r>
            <a:r>
              <a:rPr sz="1800" spc="-20" dirty="0">
                <a:latin typeface="Georgia"/>
                <a:cs typeface="Georgia"/>
              </a:rPr>
              <a:t>offs</a:t>
            </a:r>
            <a:endParaRPr sz="18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39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Two</a:t>
            </a:r>
            <a:r>
              <a:rPr sz="12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sz="12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885"/>
              </a:spcBef>
            </a:pPr>
            <a:r>
              <a:rPr sz="1200" b="1" dirty="0">
                <a:latin typeface="Times New Roman"/>
                <a:cs typeface="Times New Roman"/>
              </a:rPr>
              <a:t>X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(A+B)*(C+D)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34945" y="1851660"/>
            <a:ext cx="3948429" cy="2202180"/>
            <a:chOff x="2234945" y="1851660"/>
            <a:chExt cx="3948429" cy="22021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5119" y="1851660"/>
              <a:ext cx="3317748" cy="3505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6495" y="3002280"/>
              <a:ext cx="1022604" cy="10515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37888" y="3025140"/>
              <a:ext cx="1537715" cy="10058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27959" y="3307842"/>
              <a:ext cx="422275" cy="188595"/>
            </a:xfrm>
            <a:custGeom>
              <a:avLst/>
              <a:gdLst/>
              <a:ahLst/>
              <a:cxnLst/>
              <a:rect l="l" t="t" r="r" b="b"/>
              <a:pathLst>
                <a:path w="422275" h="188595">
                  <a:moveTo>
                    <a:pt x="363474" y="169797"/>
                  </a:moveTo>
                  <a:lnTo>
                    <a:pt x="355853" y="188087"/>
                  </a:lnTo>
                  <a:lnTo>
                    <a:pt x="422147" y="183515"/>
                  </a:lnTo>
                  <a:lnTo>
                    <a:pt x="413592" y="173609"/>
                  </a:lnTo>
                  <a:lnTo>
                    <a:pt x="372617" y="173609"/>
                  </a:lnTo>
                  <a:lnTo>
                    <a:pt x="363474" y="169797"/>
                  </a:lnTo>
                  <a:close/>
                </a:path>
                <a:path w="422275" h="188595">
                  <a:moveTo>
                    <a:pt x="371094" y="151509"/>
                  </a:moveTo>
                  <a:lnTo>
                    <a:pt x="363474" y="169797"/>
                  </a:lnTo>
                  <a:lnTo>
                    <a:pt x="372617" y="173609"/>
                  </a:lnTo>
                  <a:lnTo>
                    <a:pt x="380238" y="155321"/>
                  </a:lnTo>
                  <a:lnTo>
                    <a:pt x="371094" y="151509"/>
                  </a:lnTo>
                  <a:close/>
                </a:path>
                <a:path w="422275" h="188595">
                  <a:moveTo>
                    <a:pt x="378713" y="133223"/>
                  </a:moveTo>
                  <a:lnTo>
                    <a:pt x="371094" y="151509"/>
                  </a:lnTo>
                  <a:lnTo>
                    <a:pt x="380238" y="155321"/>
                  </a:lnTo>
                  <a:lnTo>
                    <a:pt x="372617" y="173609"/>
                  </a:lnTo>
                  <a:lnTo>
                    <a:pt x="413592" y="173609"/>
                  </a:lnTo>
                  <a:lnTo>
                    <a:pt x="378713" y="133223"/>
                  </a:lnTo>
                  <a:close/>
                </a:path>
                <a:path w="422275" h="188595">
                  <a:moveTo>
                    <a:pt x="7619" y="0"/>
                  </a:moveTo>
                  <a:lnTo>
                    <a:pt x="0" y="18287"/>
                  </a:lnTo>
                  <a:lnTo>
                    <a:pt x="363474" y="169797"/>
                  </a:lnTo>
                  <a:lnTo>
                    <a:pt x="371094" y="15150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34945" y="2993898"/>
              <a:ext cx="993775" cy="323215"/>
            </a:xfrm>
            <a:custGeom>
              <a:avLst/>
              <a:gdLst/>
              <a:ahLst/>
              <a:cxnLst/>
              <a:rect l="l" t="t" r="r" b="b"/>
              <a:pathLst>
                <a:path w="993775" h="323214">
                  <a:moveTo>
                    <a:pt x="993647" y="0"/>
                  </a:moveTo>
                  <a:lnTo>
                    <a:pt x="0" y="0"/>
                  </a:lnTo>
                  <a:lnTo>
                    <a:pt x="0" y="323088"/>
                  </a:lnTo>
                  <a:lnTo>
                    <a:pt x="993647" y="323088"/>
                  </a:lnTo>
                  <a:lnTo>
                    <a:pt x="9936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34945" y="2993898"/>
            <a:ext cx="993775" cy="323215"/>
          </a:xfrm>
          <a:prstGeom prst="rect">
            <a:avLst/>
          </a:prstGeom>
          <a:ln w="19812">
            <a:solidFill>
              <a:srgbClr val="539E39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45"/>
              </a:spcBef>
            </a:pP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6</a:t>
            </a:r>
            <a:r>
              <a:rPr sz="900" b="1" spc="-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Instructions</a:t>
            </a:r>
            <a:endParaRPr sz="9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</a:pP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5</a:t>
            </a:r>
            <a:r>
              <a:rPr sz="900" b="1" spc="-5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900" b="1" spc="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address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14" name="object 14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latin typeface="Georgia"/>
                <a:cs typeface="Georgia"/>
              </a:rPr>
              <a:t>Processor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Organization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trade-</a:t>
            </a:r>
            <a:r>
              <a:rPr sz="1800" spc="-20" dirty="0">
                <a:latin typeface="Georgia"/>
                <a:cs typeface="Georgia"/>
              </a:rPr>
              <a:t>offs</a:t>
            </a:r>
            <a:endParaRPr sz="18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4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Three</a:t>
            </a:r>
            <a:r>
              <a:rPr sz="12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format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890"/>
              </a:spcBef>
            </a:pPr>
            <a:r>
              <a:rPr sz="1200" b="1" dirty="0">
                <a:latin typeface="Times New Roman"/>
                <a:cs typeface="Times New Roman"/>
              </a:rPr>
              <a:t>X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=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(A+B)*(C+D)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59279" y="5832347"/>
            <a:ext cx="4363720" cy="2179320"/>
            <a:chOff x="1859279" y="5832347"/>
            <a:chExt cx="4363720" cy="217932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9279" y="5832347"/>
              <a:ext cx="4363212" cy="36880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04743" y="7417307"/>
              <a:ext cx="1155192" cy="5943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51375" y="7417307"/>
              <a:ext cx="2017776" cy="59435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50869" y="7284846"/>
              <a:ext cx="270510" cy="182880"/>
            </a:xfrm>
            <a:custGeom>
              <a:avLst/>
              <a:gdLst/>
              <a:ahLst/>
              <a:cxnLst/>
              <a:rect l="l" t="t" r="r" b="b"/>
              <a:pathLst>
                <a:path w="270510" h="182879">
                  <a:moveTo>
                    <a:pt x="33274" y="125094"/>
                  </a:moveTo>
                  <a:lnTo>
                    <a:pt x="0" y="182625"/>
                  </a:lnTo>
                  <a:lnTo>
                    <a:pt x="66040" y="174751"/>
                  </a:lnTo>
                  <a:lnTo>
                    <a:pt x="58665" y="163575"/>
                  </a:lnTo>
                  <a:lnTo>
                    <a:pt x="46862" y="163575"/>
                  </a:lnTo>
                  <a:lnTo>
                    <a:pt x="35941" y="147065"/>
                  </a:lnTo>
                  <a:lnTo>
                    <a:pt x="44185" y="141631"/>
                  </a:lnTo>
                  <a:lnTo>
                    <a:pt x="33274" y="125094"/>
                  </a:lnTo>
                  <a:close/>
                </a:path>
                <a:path w="270510" h="182879">
                  <a:moveTo>
                    <a:pt x="44185" y="141631"/>
                  </a:moveTo>
                  <a:lnTo>
                    <a:pt x="35941" y="147065"/>
                  </a:lnTo>
                  <a:lnTo>
                    <a:pt x="46862" y="163575"/>
                  </a:lnTo>
                  <a:lnTo>
                    <a:pt x="55088" y="158154"/>
                  </a:lnTo>
                  <a:lnTo>
                    <a:pt x="44185" y="141631"/>
                  </a:lnTo>
                  <a:close/>
                </a:path>
                <a:path w="270510" h="182879">
                  <a:moveTo>
                    <a:pt x="55088" y="158154"/>
                  </a:moveTo>
                  <a:lnTo>
                    <a:pt x="46862" y="163575"/>
                  </a:lnTo>
                  <a:lnTo>
                    <a:pt x="58665" y="163575"/>
                  </a:lnTo>
                  <a:lnTo>
                    <a:pt x="55088" y="158154"/>
                  </a:lnTo>
                  <a:close/>
                </a:path>
                <a:path w="270510" h="182879">
                  <a:moveTo>
                    <a:pt x="259080" y="0"/>
                  </a:moveTo>
                  <a:lnTo>
                    <a:pt x="44185" y="141631"/>
                  </a:lnTo>
                  <a:lnTo>
                    <a:pt x="55088" y="158154"/>
                  </a:lnTo>
                  <a:lnTo>
                    <a:pt x="270002" y="16509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234945" y="6970014"/>
            <a:ext cx="2360930" cy="323215"/>
          </a:xfrm>
          <a:prstGeom prst="rect">
            <a:avLst/>
          </a:prstGeom>
          <a:solidFill>
            <a:srgbClr val="FFFFFF"/>
          </a:solidFill>
          <a:ln w="19811">
            <a:solidFill>
              <a:srgbClr val="539E3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50"/>
              </a:spcBef>
            </a:pP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3</a:t>
            </a:r>
            <a:r>
              <a:rPr sz="900" b="1" spc="-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Instructions</a:t>
            </a:r>
            <a:endParaRPr sz="90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</a:pP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3</a:t>
            </a:r>
            <a:r>
              <a:rPr sz="900" b="1" spc="-4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memory</a:t>
            </a:r>
            <a:r>
              <a:rPr sz="900" b="1" spc="1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address</a:t>
            </a:r>
            <a:r>
              <a:rPr sz="900" b="1" spc="-2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(use</a:t>
            </a:r>
            <a:r>
              <a:rPr sz="900" b="1" spc="-35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dual</a:t>
            </a:r>
            <a:r>
              <a:rPr sz="900" b="1" spc="-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900" b="1" dirty="0">
                <a:solidFill>
                  <a:srgbClr val="3E762B"/>
                </a:solidFill>
                <a:latin typeface="Times New Roman"/>
                <a:cs typeface="Times New Roman"/>
              </a:rPr>
              <a:t>channel</a:t>
            </a:r>
            <a:r>
              <a:rPr sz="900" b="1" spc="-10" dirty="0">
                <a:solidFill>
                  <a:srgbClr val="3E762B"/>
                </a:solidFill>
                <a:latin typeface="Times New Roman"/>
                <a:cs typeface="Times New Roman"/>
              </a:rPr>
              <a:t> memory)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spc="-10" dirty="0">
                <a:latin typeface="Georgia"/>
                <a:cs typeface="Georgia"/>
              </a:rPr>
              <a:t>Instruction</a:t>
            </a:r>
            <a:r>
              <a:rPr sz="2200" spc="-2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Format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trade-offs</a:t>
            </a:r>
            <a:endParaRPr sz="2200">
              <a:latin typeface="Georgia"/>
              <a:cs typeface="Georgia"/>
            </a:endParaRPr>
          </a:p>
          <a:p>
            <a:pPr marL="490855" indent="-173355">
              <a:lnSpc>
                <a:spcPct val="100000"/>
              </a:lnSpc>
              <a:spcBef>
                <a:spcPts val="1775"/>
              </a:spcBef>
              <a:buClr>
                <a:srgbClr val="3E762B"/>
              </a:buClr>
              <a:buAutoNum type="arabicPeriod"/>
              <a:tabLst>
                <a:tab pos="49085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number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decision:</a:t>
            </a:r>
            <a:endParaRPr sz="1200">
              <a:latin typeface="Times New Roman"/>
              <a:cs typeface="Times New Roman"/>
            </a:endParaRPr>
          </a:p>
          <a:p>
            <a:pPr marL="719455" marR="802005" lvl="1" indent="-173990">
              <a:lnSpc>
                <a:spcPct val="100000"/>
              </a:lnSpc>
              <a:spcBef>
                <a:spcPts val="869"/>
              </a:spcBef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100" b="1" dirty="0">
                <a:latin typeface="Times New Roman"/>
                <a:cs typeface="Times New Roman"/>
              </a:rPr>
              <a:t>Fewer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addresses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 instruction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 instructions,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less </a:t>
            </a:r>
            <a:r>
              <a:rPr sz="1100" b="1" dirty="0">
                <a:latin typeface="Times New Roman"/>
                <a:cs typeface="Times New Roman"/>
              </a:rPr>
              <a:t>complex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processor.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 shorter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length.</a:t>
            </a:r>
            <a:endParaRPr sz="1100">
              <a:latin typeface="Times New Roman"/>
              <a:cs typeface="Times New Roman"/>
            </a:endParaRPr>
          </a:p>
          <a:p>
            <a:pPr marL="718820" lvl="1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"/>
              <a:tabLst>
                <a:tab pos="718820" algn="l"/>
              </a:tabLst>
            </a:pPr>
            <a:r>
              <a:rPr sz="1100" dirty="0">
                <a:latin typeface="Times New Roman"/>
                <a:cs typeface="Times New Roman"/>
              </a:rPr>
              <a:t>But,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programs contain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greater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 of instructions,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</a:t>
            </a:r>
            <a:r>
              <a:rPr sz="1100" spc="-10" dirty="0">
                <a:latin typeface="Times New Roman"/>
                <a:cs typeface="Times New Roman"/>
              </a:rPr>
              <a:t> results</a:t>
            </a:r>
            <a:endParaRPr sz="1100">
              <a:latin typeface="Times New Roman"/>
              <a:cs typeface="Times New Roman"/>
            </a:endParaRPr>
          </a:p>
          <a:p>
            <a:pPr marL="71945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longer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times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longer,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more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complex,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programs.</a:t>
            </a:r>
            <a:endParaRPr sz="1100">
              <a:latin typeface="Times New Roman"/>
              <a:cs typeface="Times New Roman"/>
            </a:endParaRPr>
          </a:p>
          <a:p>
            <a:pPr marL="719455" marR="1059815" lvl="1" indent="-173990">
              <a:lnSpc>
                <a:spcPct val="100000"/>
              </a:lnSpc>
              <a:spcBef>
                <a:spcPts val="595"/>
              </a:spcBef>
              <a:buClr>
                <a:srgbClr val="3E762B"/>
              </a:buClr>
              <a:buFont typeface="Wingdings"/>
              <a:buChar char=""/>
              <a:tabLst>
                <a:tab pos="719455" algn="l"/>
              </a:tabLst>
            </a:pPr>
            <a:r>
              <a:rPr sz="1100" dirty="0">
                <a:latin typeface="Times New Roman"/>
                <a:cs typeface="Times New Roman"/>
              </a:rPr>
              <a:t>On 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register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references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memory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references, </a:t>
            </a:r>
            <a:r>
              <a:rPr sz="1100" dirty="0">
                <a:latin typeface="Times New Roman"/>
                <a:cs typeface="Times New Roman"/>
              </a:rPr>
              <a:t>multiple-address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speed up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1525" y="3417570"/>
            <a:ext cx="3776979" cy="416559"/>
          </a:xfrm>
          <a:prstGeom prst="rect">
            <a:avLst/>
          </a:prstGeom>
          <a:solidFill>
            <a:srgbClr val="FFFFFF"/>
          </a:solidFill>
          <a:ln w="19811">
            <a:solidFill>
              <a:srgbClr val="3E762B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370205" marR="76200" indent="-154305">
              <a:lnSpc>
                <a:spcPct val="100000"/>
              </a:lnSpc>
              <a:spcBef>
                <a:spcPts val="145"/>
              </a:spcBef>
            </a:pP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reasons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flexibility,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most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current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machines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have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mixture 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two-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three-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instructions.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10" dirty="0">
                <a:latin typeface="Georgia"/>
                <a:cs typeface="Georgia"/>
              </a:rPr>
              <a:t>Instruction</a:t>
            </a:r>
            <a:r>
              <a:rPr sz="2200" spc="-2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Format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trade-offs</a:t>
            </a:r>
            <a:endParaRPr sz="2200">
              <a:latin typeface="Georgia"/>
              <a:cs typeface="Georgia"/>
            </a:endParaRPr>
          </a:p>
          <a:p>
            <a:pPr marL="261620">
              <a:lnSpc>
                <a:spcPct val="100000"/>
              </a:lnSpc>
              <a:spcBef>
                <a:spcPts val="1595"/>
              </a:spcBef>
            </a:pPr>
            <a:r>
              <a:rPr sz="1200" b="1" dirty="0">
                <a:solidFill>
                  <a:srgbClr val="3E762B"/>
                </a:solidFill>
                <a:latin typeface="Times New Roman"/>
                <a:cs typeface="Times New Roman"/>
              </a:rPr>
              <a:t>2.</a:t>
            </a:r>
            <a:r>
              <a:rPr sz="1200" b="1" spc="130" dirty="0">
                <a:solidFill>
                  <a:srgbClr val="3E762B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references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location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680" y="6126479"/>
            <a:ext cx="5120640" cy="11887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Instruction</a:t>
            </a:r>
            <a:r>
              <a:rPr spc="-45" dirty="0"/>
              <a:t> </a:t>
            </a:r>
            <a:r>
              <a:rPr dirty="0"/>
              <a:t>Format</a:t>
            </a:r>
            <a:r>
              <a:rPr spc="-5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251" y="1630171"/>
            <a:ext cx="4134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Most</a:t>
            </a:r>
            <a:r>
              <a:rPr sz="1200" b="1" spc="-10" dirty="0">
                <a:latin typeface="Times New Roman"/>
                <a:cs typeface="Times New Roman"/>
              </a:rPr>
              <a:t> processor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designs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involve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variety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formats.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588" y="2148331"/>
            <a:ext cx="1012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92422" y="2072131"/>
            <a:ext cx="19050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7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Example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Format </a:t>
            </a:r>
            <a:r>
              <a:rPr sz="1200" dirty="0">
                <a:latin typeface="Times New Roman"/>
                <a:cs typeface="Times New Roman"/>
              </a:rPr>
              <a:t>Dell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M6800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CPU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5545" y="2901823"/>
            <a:ext cx="2959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15</a:t>
            </a:r>
            <a:r>
              <a:rPr sz="700" b="1" spc="385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14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0424" y="2901823"/>
            <a:ext cx="2425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12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11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7470" y="2901823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0" dirty="0"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65632" y="3049523"/>
          <a:ext cx="1945005" cy="13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700" b="1" spc="-50" dirty="0">
                          <a:latin typeface="Arial"/>
                          <a:cs typeface="Arial"/>
                        </a:rPr>
                        <a:t>I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Opcode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Address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863853" y="3445509"/>
            <a:ext cx="1867535" cy="159385"/>
            <a:chOff x="863853" y="3445509"/>
            <a:chExt cx="1867535" cy="159385"/>
          </a:xfrm>
        </p:grpSpPr>
        <p:sp>
          <p:nvSpPr>
            <p:cNvPr id="11" name="object 11"/>
            <p:cNvSpPr/>
            <p:nvPr/>
          </p:nvSpPr>
          <p:spPr>
            <a:xfrm>
              <a:off x="870203" y="3459479"/>
              <a:ext cx="1854835" cy="139065"/>
            </a:xfrm>
            <a:custGeom>
              <a:avLst/>
              <a:gdLst/>
              <a:ahLst/>
              <a:cxnLst/>
              <a:rect l="l" t="t" r="r" b="b"/>
              <a:pathLst>
                <a:path w="1854835" h="139064">
                  <a:moveTo>
                    <a:pt x="0" y="138684"/>
                  </a:moveTo>
                  <a:lnTo>
                    <a:pt x="1854708" y="138684"/>
                  </a:lnTo>
                  <a:lnTo>
                    <a:pt x="1854708" y="0"/>
                  </a:lnTo>
                  <a:lnTo>
                    <a:pt x="0" y="0"/>
                  </a:lnTo>
                  <a:lnTo>
                    <a:pt x="0" y="13868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87423" y="3451859"/>
              <a:ext cx="0" cy="140335"/>
            </a:xfrm>
            <a:custGeom>
              <a:avLst/>
              <a:gdLst/>
              <a:ahLst/>
              <a:cxnLst/>
              <a:rect l="l" t="t" r="r" b="b"/>
              <a:pathLst>
                <a:path h="140335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59153" y="3305302"/>
            <a:ext cx="2425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12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11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01595" y="3305302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0" dirty="0"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9089" y="3453511"/>
            <a:ext cx="8051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Register</a:t>
            </a:r>
            <a:r>
              <a:rPr sz="700" b="1" spc="-3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operation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9683" y="3460242"/>
            <a:ext cx="51815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0</a:t>
            </a:r>
            <a:r>
              <a:rPr sz="700" b="1" spc="195" dirty="0">
                <a:latin typeface="Arial"/>
                <a:cs typeface="Arial"/>
              </a:rPr>
              <a:t>  </a:t>
            </a:r>
            <a:r>
              <a:rPr sz="700" b="1" dirty="0">
                <a:latin typeface="Arial"/>
                <a:cs typeface="Arial"/>
              </a:rPr>
              <a:t>1</a:t>
            </a:r>
            <a:r>
              <a:rPr sz="700" b="1" spc="195" dirty="0">
                <a:latin typeface="Arial"/>
                <a:cs typeface="Arial"/>
              </a:rPr>
              <a:t>  </a:t>
            </a:r>
            <a:r>
              <a:rPr sz="700" b="1" dirty="0">
                <a:latin typeface="Arial"/>
                <a:cs typeface="Arial"/>
              </a:rPr>
              <a:t>1</a:t>
            </a:r>
            <a:r>
              <a:rPr sz="700" b="1" spc="195" dirty="0">
                <a:latin typeface="Arial"/>
                <a:cs typeface="Arial"/>
              </a:rPr>
              <a:t>  </a:t>
            </a:r>
            <a:r>
              <a:rPr sz="700" b="1" spc="-50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88491" y="3852671"/>
            <a:ext cx="1854835" cy="142240"/>
          </a:xfrm>
          <a:custGeom>
            <a:avLst/>
            <a:gdLst/>
            <a:ahLst/>
            <a:cxnLst/>
            <a:rect l="l" t="t" r="r" b="b"/>
            <a:pathLst>
              <a:path w="1854835" h="142239">
                <a:moveTo>
                  <a:pt x="0" y="141732"/>
                </a:moveTo>
                <a:lnTo>
                  <a:pt x="1854708" y="141732"/>
                </a:lnTo>
                <a:lnTo>
                  <a:pt x="1854708" y="0"/>
                </a:lnTo>
                <a:lnTo>
                  <a:pt x="0" y="0"/>
                </a:lnTo>
                <a:lnTo>
                  <a:pt x="0" y="14173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63472" y="3701542"/>
            <a:ext cx="2425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12</a:t>
            </a:r>
            <a:r>
              <a:rPr sz="700" b="1" spc="-10" dirty="0">
                <a:latin typeface="Arial"/>
                <a:cs typeface="Arial"/>
              </a:rPr>
              <a:t> </a:t>
            </a:r>
            <a:r>
              <a:rPr sz="700" b="1" spc="-25" dirty="0">
                <a:latin typeface="Arial"/>
                <a:cs typeface="Arial"/>
              </a:rPr>
              <a:t>11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20136" y="3701542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0" dirty="0"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74063" y="3850386"/>
            <a:ext cx="5689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I/O</a:t>
            </a:r>
            <a:r>
              <a:rPr sz="700" b="1" spc="-30" dirty="0">
                <a:latin typeface="Arial"/>
                <a:cs typeface="Arial"/>
              </a:rPr>
              <a:t> </a:t>
            </a:r>
            <a:r>
              <a:rPr sz="700" b="1" spc="-10" dirty="0">
                <a:latin typeface="Arial"/>
                <a:cs typeface="Arial"/>
              </a:rPr>
              <a:t>operation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7608" y="3850386"/>
            <a:ext cx="51815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Arial"/>
                <a:cs typeface="Arial"/>
              </a:rPr>
              <a:t>1</a:t>
            </a:r>
            <a:r>
              <a:rPr sz="700" b="1" spc="195" dirty="0">
                <a:latin typeface="Arial"/>
                <a:cs typeface="Arial"/>
              </a:rPr>
              <a:t>  </a:t>
            </a:r>
            <a:r>
              <a:rPr sz="700" b="1" dirty="0">
                <a:latin typeface="Arial"/>
                <a:cs typeface="Arial"/>
              </a:rPr>
              <a:t>1</a:t>
            </a:r>
            <a:r>
              <a:rPr sz="700" b="1" spc="195" dirty="0">
                <a:latin typeface="Arial"/>
                <a:cs typeface="Arial"/>
              </a:rPr>
              <a:t>  </a:t>
            </a:r>
            <a:r>
              <a:rPr sz="700" b="1" dirty="0">
                <a:latin typeface="Arial"/>
                <a:cs typeface="Arial"/>
              </a:rPr>
              <a:t>1</a:t>
            </a:r>
            <a:r>
              <a:rPr sz="700" b="1" spc="195" dirty="0">
                <a:latin typeface="Arial"/>
                <a:cs typeface="Arial"/>
              </a:rPr>
              <a:t>  </a:t>
            </a:r>
            <a:r>
              <a:rPr sz="700" b="1" spc="-50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90472" y="2877311"/>
            <a:ext cx="4834255" cy="1123315"/>
            <a:chOff x="1490472" y="2877311"/>
            <a:chExt cx="4834255" cy="1123315"/>
          </a:xfrm>
        </p:grpSpPr>
        <p:sp>
          <p:nvSpPr>
            <p:cNvPr id="23" name="object 23"/>
            <p:cNvSpPr/>
            <p:nvPr/>
          </p:nvSpPr>
          <p:spPr>
            <a:xfrm>
              <a:off x="1496568" y="3860291"/>
              <a:ext cx="0" cy="140335"/>
            </a:xfrm>
            <a:custGeom>
              <a:avLst/>
              <a:gdLst/>
              <a:ahLst/>
              <a:cxnLst/>
              <a:rect l="l" t="t" r="r" b="b"/>
              <a:pathLst>
                <a:path h="140335">
                  <a:moveTo>
                    <a:pt x="0" y="0"/>
                  </a:moveTo>
                  <a:lnTo>
                    <a:pt x="0" y="14020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2464" y="2877311"/>
              <a:ext cx="2612136" cy="1104900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26" name="object 26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4779" y="5570220"/>
              <a:ext cx="2307336" cy="25145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031" y="7502652"/>
              <a:ext cx="3075432" cy="4572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spc="-20" dirty="0">
                <a:latin typeface="Georgia"/>
                <a:cs typeface="Georgia"/>
              </a:rPr>
              <a:t>Variable-</a:t>
            </a:r>
            <a:r>
              <a:rPr sz="2200" dirty="0">
                <a:latin typeface="Georgia"/>
                <a:cs typeface="Georgia"/>
              </a:rPr>
              <a:t>Length </a:t>
            </a:r>
            <a:r>
              <a:rPr sz="2200" spc="-10" dirty="0">
                <a:latin typeface="Georgia"/>
                <a:cs typeface="Georgia"/>
              </a:rPr>
              <a:t>Instructions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200">
              <a:latin typeface="Georgia"/>
              <a:cs typeface="Georgia"/>
            </a:endParaRPr>
          </a:p>
          <a:p>
            <a:pPr marR="2634615" algn="ctr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Formats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PDP-</a:t>
            </a:r>
            <a:r>
              <a:rPr sz="1200" b="1" spc="-25" dirty="0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  <a:p>
            <a:pPr marR="2636520" algn="ctr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Times New Roman"/>
                <a:cs typeface="Times New Roman"/>
              </a:rPr>
              <a:t>16-</a:t>
            </a:r>
            <a:r>
              <a:rPr sz="1200" b="1" dirty="0">
                <a:latin typeface="Times New Roman"/>
                <a:cs typeface="Times New Roman"/>
              </a:rPr>
              <a:t>bit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Processor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(Example)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0838" y="2736341"/>
            <a:ext cx="4114800" cy="0"/>
          </a:xfrm>
          <a:custGeom>
            <a:avLst/>
            <a:gdLst/>
            <a:ahLst/>
            <a:cxnLst/>
            <a:rect l="l" t="t" r="r" b="b"/>
            <a:pathLst>
              <a:path w="4114800">
                <a:moveTo>
                  <a:pt x="0" y="0"/>
                </a:moveTo>
                <a:lnTo>
                  <a:pt x="4114800" y="0"/>
                </a:lnTo>
              </a:path>
            </a:pathLst>
          </a:custGeom>
          <a:ln w="457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  <a:ln w="6096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3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r>
              <a:rPr sz="360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Modes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25"/>
              </a:spcBef>
            </a:pPr>
            <a:endParaRPr sz="3600">
              <a:latin typeface="Times New Roman"/>
              <a:cs typeface="Times New Roman"/>
            </a:endParaRPr>
          </a:p>
          <a:p>
            <a:pPr marR="497840" algn="r">
              <a:lnSpc>
                <a:spcPct val="100000"/>
              </a:lnSpc>
            </a:pPr>
            <a:r>
              <a:rPr sz="600" spc="-25" dirty="0">
                <a:solidFill>
                  <a:srgbClr val="FFFFFF"/>
                </a:solidFill>
                <a:latin typeface="Corbel"/>
                <a:cs typeface="Corbel"/>
              </a:rPr>
              <a:t>36</a:t>
            </a:r>
            <a:endParaRPr sz="60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5" name="object 5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  <a:tabLst>
                <a:tab pos="1750060" algn="l"/>
              </a:tabLst>
            </a:pP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dirty="0">
                <a:latin typeface="Georgia"/>
                <a:cs typeface="Georgia"/>
              </a:rPr>
              <a:t>	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  <a:p>
            <a:pPr marL="434975" marR="1189355" indent="-172720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6245" algn="l"/>
              </a:tabLst>
            </a:pPr>
            <a:r>
              <a:rPr sz="1200" dirty="0">
                <a:latin typeface="Times New Roman"/>
                <a:cs typeface="Times New Roman"/>
              </a:rPr>
              <a:t>Specifies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interpreting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modifying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field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5" dirty="0">
                <a:latin typeface="Times New Roman"/>
                <a:cs typeface="Times New Roman"/>
              </a:rPr>
              <a:t> the 	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(before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actually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referenced)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4975" indent="-17272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4975" algn="l"/>
              </a:tabLst>
            </a:pPr>
            <a:r>
              <a:rPr sz="1200" spc="-20" dirty="0">
                <a:latin typeface="Times New Roman"/>
                <a:cs typeface="Times New Roman"/>
              </a:rPr>
              <a:t>Variety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modes</a:t>
            </a:r>
            <a:endParaRPr sz="1200">
              <a:latin typeface="Times New Roman"/>
              <a:cs typeface="Times New Roman"/>
            </a:endParaRPr>
          </a:p>
          <a:p>
            <a:pPr marL="718820" lvl="1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"/>
              <a:tabLst>
                <a:tab pos="718820" algn="l"/>
              </a:tabLst>
            </a:pPr>
            <a:r>
              <a:rPr sz="1200" dirty="0">
                <a:latin typeface="Times New Roman"/>
                <a:cs typeface="Times New Roman"/>
              </a:rPr>
              <a:t>Give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flexibility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programmer</a:t>
            </a:r>
            <a:endParaRPr sz="1200">
              <a:latin typeface="Times New Roman"/>
              <a:cs typeface="Times New Roman"/>
            </a:endParaRPr>
          </a:p>
          <a:p>
            <a:pPr marL="718820" lvl="1" indent="-17272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"/>
              <a:tabLst>
                <a:tab pos="71882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Efficiently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bits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 address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field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instruction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  <a:tabLst>
                <a:tab pos="2851150" algn="l"/>
              </a:tabLst>
            </a:pPr>
            <a:r>
              <a:rPr sz="2200" dirty="0">
                <a:latin typeface="Georgia"/>
                <a:cs typeface="Georgia"/>
              </a:rPr>
              <a:t>Types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dirty="0">
                <a:latin typeface="Georgia"/>
                <a:cs typeface="Georgia"/>
              </a:rPr>
              <a:t>	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  <a:p>
            <a:pPr marL="432434" indent="-170180">
              <a:lnSpc>
                <a:spcPct val="100000"/>
              </a:lnSpc>
              <a:spcBef>
                <a:spcPts val="122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dirty="0">
                <a:latin typeface="Times New Roman"/>
                <a:cs typeface="Times New Roman"/>
              </a:rPr>
              <a:t>Implied mode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(i.e.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Stack)</a:t>
            </a:r>
            <a:endParaRPr sz="11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46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dirty="0">
                <a:latin typeface="Times New Roman"/>
                <a:cs typeface="Times New Roman"/>
              </a:rPr>
              <a:t>Immediate </a:t>
            </a:r>
            <a:r>
              <a:rPr sz="1100" spc="-20" dirty="0">
                <a:latin typeface="Times New Roman"/>
                <a:cs typeface="Times New Roman"/>
              </a:rPr>
              <a:t>mode</a:t>
            </a:r>
            <a:endParaRPr sz="11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470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dirty="0">
                <a:latin typeface="Times New Roman"/>
                <a:cs typeface="Times New Roman"/>
              </a:rPr>
              <a:t>Register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mode</a:t>
            </a:r>
            <a:endParaRPr sz="11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470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dirty="0">
                <a:latin typeface="Times New Roman"/>
                <a:cs typeface="Times New Roman"/>
              </a:rPr>
              <a:t>Register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Indirect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mode</a:t>
            </a:r>
            <a:endParaRPr sz="11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470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dirty="0">
                <a:latin typeface="Times New Roman"/>
                <a:cs typeface="Times New Roman"/>
              </a:rPr>
              <a:t>Autoincrement</a:t>
            </a:r>
            <a:r>
              <a:rPr sz="1100" spc="-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Autodecrement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mode</a:t>
            </a:r>
            <a:endParaRPr sz="11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46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dirty="0">
                <a:latin typeface="Times New Roman"/>
                <a:cs typeface="Times New Roman"/>
              </a:rPr>
              <a:t>Direct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mode</a:t>
            </a:r>
            <a:endParaRPr sz="11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470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dirty="0">
                <a:latin typeface="Times New Roman"/>
                <a:cs typeface="Times New Roman"/>
              </a:rPr>
              <a:t>Indirect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-20" dirty="0">
                <a:latin typeface="Times New Roman"/>
                <a:cs typeface="Times New Roman"/>
              </a:rPr>
              <a:t> mode</a:t>
            </a:r>
            <a:endParaRPr sz="11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46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spc="-10" dirty="0">
                <a:latin typeface="Times New Roman"/>
                <a:cs typeface="Times New Roman"/>
              </a:rPr>
              <a:t>Displacement/Relative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Modes</a:t>
            </a:r>
            <a:endParaRPr sz="1100">
              <a:latin typeface="Times New Roman"/>
              <a:cs typeface="Times New Roman"/>
            </a:endParaRPr>
          </a:p>
          <a:p>
            <a:pPr marL="627380" lvl="1" indent="-90805">
              <a:lnSpc>
                <a:spcPct val="100000"/>
              </a:lnSpc>
              <a:spcBef>
                <a:spcPts val="470"/>
              </a:spcBef>
              <a:buClr>
                <a:srgbClr val="3E762B"/>
              </a:buClr>
              <a:buFont typeface="Wingdings"/>
              <a:buChar char=""/>
              <a:tabLst>
                <a:tab pos="627380" algn="l"/>
              </a:tabLst>
            </a:pPr>
            <a:r>
              <a:rPr sz="1100" dirty="0">
                <a:latin typeface="Times New Roman"/>
                <a:cs typeface="Times New Roman"/>
              </a:rPr>
              <a:t>PC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Relative</a:t>
            </a:r>
            <a:r>
              <a:rPr sz="1100" spc="-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mode</a:t>
            </a:r>
            <a:endParaRPr sz="1100">
              <a:latin typeface="Times New Roman"/>
              <a:cs typeface="Times New Roman"/>
            </a:endParaRPr>
          </a:p>
          <a:p>
            <a:pPr marL="627380" lvl="1" indent="-90805">
              <a:lnSpc>
                <a:spcPct val="100000"/>
              </a:lnSpc>
              <a:spcBef>
                <a:spcPts val="470"/>
              </a:spcBef>
              <a:buClr>
                <a:srgbClr val="3E762B"/>
              </a:buClr>
              <a:buFont typeface="Wingdings"/>
              <a:buChar char=""/>
              <a:tabLst>
                <a:tab pos="627380" algn="l"/>
              </a:tabLst>
            </a:pPr>
            <a:r>
              <a:rPr sz="1100" spc="-10" dirty="0">
                <a:latin typeface="Times New Roman"/>
                <a:cs typeface="Times New Roman"/>
              </a:rPr>
              <a:t>Indexed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Mode</a:t>
            </a:r>
            <a:endParaRPr sz="1100">
              <a:latin typeface="Times New Roman"/>
              <a:cs typeface="Times New Roman"/>
            </a:endParaRPr>
          </a:p>
          <a:p>
            <a:pPr marL="627380" lvl="1" indent="-90805">
              <a:lnSpc>
                <a:spcPct val="100000"/>
              </a:lnSpc>
              <a:spcBef>
                <a:spcPts val="465"/>
              </a:spcBef>
              <a:buClr>
                <a:srgbClr val="3E762B"/>
              </a:buClr>
              <a:buFont typeface="Wingdings"/>
              <a:buChar char=""/>
              <a:tabLst>
                <a:tab pos="627380" algn="l"/>
              </a:tabLst>
            </a:pPr>
            <a:r>
              <a:rPr sz="1100" dirty="0">
                <a:latin typeface="Times New Roman"/>
                <a:cs typeface="Times New Roman"/>
              </a:rPr>
              <a:t>Base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Register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-20" dirty="0">
                <a:latin typeface="Times New Roman"/>
                <a:cs typeface="Times New Roman"/>
              </a:rPr>
              <a:t> Mode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What</a:t>
            </a:r>
            <a:r>
              <a:rPr sz="2200" spc="-6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is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the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effective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address?</a:t>
            </a:r>
            <a:endParaRPr sz="2200">
              <a:latin typeface="Georgia"/>
              <a:cs typeface="Georgia"/>
            </a:endParaRPr>
          </a:p>
          <a:p>
            <a:pPr marL="431800" marR="850900" indent="-169545">
              <a:lnSpc>
                <a:spcPct val="100000"/>
              </a:lnSpc>
              <a:spcBef>
                <a:spcPts val="135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CPU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	</a:t>
            </a:r>
            <a:r>
              <a:rPr sz="1200" dirty="0">
                <a:latin typeface="Times New Roman"/>
                <a:cs typeface="Times New Roman"/>
              </a:rPr>
              <a:t>obtain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memory.</a:t>
            </a:r>
            <a:endParaRPr sz="1200">
              <a:latin typeface="Times New Roman"/>
              <a:cs typeface="Times New Roman"/>
            </a:endParaRPr>
          </a:p>
          <a:p>
            <a:pPr marL="431800" marR="773430" indent="-16954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Sometimes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operand, 	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sometimes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just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is 	</a:t>
            </a:r>
            <a:r>
              <a:rPr sz="1200" spc="-10" dirty="0">
                <a:latin typeface="Times New Roman"/>
                <a:cs typeface="Times New Roman"/>
              </a:rPr>
              <a:t>calculated.</a:t>
            </a:r>
            <a:endParaRPr sz="1200">
              <a:latin typeface="Times New Roman"/>
              <a:cs typeface="Times New Roman"/>
            </a:endParaRPr>
          </a:p>
          <a:p>
            <a:pPr marL="431800" marR="1089660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spc="-3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differentiate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among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various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necessary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	</a:t>
            </a:r>
            <a:r>
              <a:rPr sz="1200" dirty="0">
                <a:latin typeface="Times New Roman"/>
                <a:cs typeface="Times New Roman"/>
              </a:rPr>
              <a:t>distinguish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 	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control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executing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  <a:p>
            <a:pPr marL="431800" marR="752475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operand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0" dirty="0">
                <a:latin typeface="Times New Roman"/>
                <a:cs typeface="Times New Roman"/>
              </a:rPr>
              <a:t> computational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type 	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6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effective</a:t>
            </a:r>
            <a:r>
              <a:rPr spc="-50" dirty="0"/>
              <a:t> </a:t>
            </a:r>
            <a:r>
              <a:rPr spc="-10" dirty="0"/>
              <a:t>address?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861" y="1585721"/>
            <a:ext cx="2224405" cy="5435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700"/>
              </a:spcBef>
              <a:buClr>
                <a:srgbClr val="3E762B"/>
              </a:buClr>
              <a:buFont typeface="Wingdings"/>
              <a:buChar char=""/>
              <a:tabLst>
                <a:tab pos="182245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required.</a:t>
            </a:r>
            <a:endParaRPr sz="12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  <a:spcBef>
                <a:spcPts val="600"/>
              </a:spcBef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549" y="2180081"/>
            <a:ext cx="2169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What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549" y="3140455"/>
            <a:ext cx="461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(a)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457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549" y="3658615"/>
            <a:ext cx="546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(b)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1350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00271" y="2401823"/>
            <a:ext cx="952500" cy="0"/>
          </a:xfrm>
          <a:custGeom>
            <a:avLst/>
            <a:gdLst/>
            <a:ahLst/>
            <a:cxnLst/>
            <a:rect l="l" t="t" r="r" b="b"/>
            <a:pathLst>
              <a:path w="952500">
                <a:moveTo>
                  <a:pt x="0" y="0"/>
                </a:moveTo>
                <a:lnTo>
                  <a:pt x="95250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95700" y="2295144"/>
            <a:ext cx="117475" cy="106680"/>
          </a:xfrm>
          <a:prstGeom prst="rect">
            <a:avLst/>
          </a:prstGeom>
          <a:solidFill>
            <a:srgbClr val="FFFFFF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5560">
              <a:lnSpc>
                <a:spcPts val="810"/>
              </a:lnSpc>
            </a:pPr>
            <a:r>
              <a:rPr sz="700" b="1" spc="-50" dirty="0"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3047" y="2295144"/>
            <a:ext cx="271780" cy="106680"/>
          </a:xfrm>
          <a:prstGeom prst="rect">
            <a:avLst/>
          </a:prstGeom>
          <a:solidFill>
            <a:srgbClr val="FFFFFF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5560">
              <a:lnSpc>
                <a:spcPts val="810"/>
              </a:lnSpc>
            </a:pPr>
            <a:r>
              <a:rPr sz="700" b="1" spc="-25" dirty="0">
                <a:latin typeface="Arial"/>
                <a:cs typeface="Arial"/>
              </a:rPr>
              <a:t>ADD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84320" y="2295144"/>
            <a:ext cx="574040" cy="106680"/>
          </a:xfrm>
          <a:prstGeom prst="rect">
            <a:avLst/>
          </a:prstGeom>
          <a:solidFill>
            <a:srgbClr val="FFFFFF"/>
          </a:solidFill>
          <a:ln w="12192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27305" algn="ctr">
              <a:lnSpc>
                <a:spcPts val="825"/>
              </a:lnSpc>
              <a:spcBef>
                <a:spcPts val="15"/>
              </a:spcBef>
            </a:pPr>
            <a:r>
              <a:rPr sz="700" b="1" spc="-25" dirty="0">
                <a:latin typeface="Arial"/>
                <a:cs typeface="Arial"/>
              </a:rPr>
              <a:t>457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2345" y="2308098"/>
            <a:ext cx="12318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Arial"/>
                <a:cs typeface="Arial"/>
              </a:rPr>
              <a:t>22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95700" y="2820923"/>
            <a:ext cx="962660" cy="104139"/>
          </a:xfrm>
          <a:prstGeom prst="rect">
            <a:avLst/>
          </a:prstGeom>
          <a:solidFill>
            <a:srgbClr val="FFFFFF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6700">
              <a:lnSpc>
                <a:spcPts val="770"/>
              </a:lnSpc>
            </a:pPr>
            <a:r>
              <a:rPr sz="700" b="1" spc="-10" dirty="0">
                <a:latin typeface="Arial"/>
                <a:cs typeface="Arial"/>
              </a:rPr>
              <a:t>Operand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89452" y="2830829"/>
            <a:ext cx="1720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Arial"/>
                <a:cs typeface="Arial"/>
              </a:rPr>
              <a:t>457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87826" y="2288794"/>
            <a:ext cx="2439035" cy="1089025"/>
            <a:chOff x="3687826" y="2288794"/>
            <a:chExt cx="2439035" cy="1089025"/>
          </a:xfrm>
        </p:grpSpPr>
        <p:sp>
          <p:nvSpPr>
            <p:cNvPr id="15" name="object 15"/>
            <p:cNvSpPr/>
            <p:nvPr/>
          </p:nvSpPr>
          <p:spPr>
            <a:xfrm>
              <a:off x="3700272" y="3316224"/>
              <a:ext cx="952500" cy="55244"/>
            </a:xfrm>
            <a:custGeom>
              <a:avLst/>
              <a:gdLst/>
              <a:ahLst/>
              <a:cxnLst/>
              <a:rect l="l" t="t" r="r" b="b"/>
              <a:pathLst>
                <a:path w="952500" h="55245">
                  <a:moveTo>
                    <a:pt x="0" y="27431"/>
                  </a:moveTo>
                  <a:lnTo>
                    <a:pt x="36063" y="13603"/>
                  </a:lnTo>
                  <a:lnTo>
                    <a:pt x="77374" y="8048"/>
                  </a:lnTo>
                  <a:lnTo>
                    <a:pt x="130857" y="3753"/>
                  </a:lnTo>
                  <a:lnTo>
                    <a:pt x="193998" y="982"/>
                  </a:lnTo>
                  <a:lnTo>
                    <a:pt x="264287" y="0"/>
                  </a:lnTo>
                </a:path>
                <a:path w="952500" h="55245">
                  <a:moveTo>
                    <a:pt x="263651" y="0"/>
                  </a:moveTo>
                  <a:lnTo>
                    <a:pt x="263905" y="0"/>
                  </a:lnTo>
                  <a:lnTo>
                    <a:pt x="264160" y="0"/>
                  </a:lnTo>
                  <a:lnTo>
                    <a:pt x="264540" y="0"/>
                  </a:lnTo>
                  <a:lnTo>
                    <a:pt x="335552" y="1402"/>
                  </a:lnTo>
                  <a:lnTo>
                    <a:pt x="397224" y="5303"/>
                  </a:lnTo>
                  <a:lnTo>
                    <a:pt x="445857" y="11247"/>
                  </a:lnTo>
                  <a:lnTo>
                    <a:pt x="477750" y="18775"/>
                  </a:lnTo>
                  <a:lnTo>
                    <a:pt x="489203" y="27431"/>
                  </a:lnTo>
                </a:path>
                <a:path w="952500" h="55245">
                  <a:moveTo>
                    <a:pt x="728472" y="54863"/>
                  </a:moveTo>
                  <a:lnTo>
                    <a:pt x="657673" y="53461"/>
                  </a:lnTo>
                  <a:lnTo>
                    <a:pt x="596176" y="49560"/>
                  </a:lnTo>
                  <a:lnTo>
                    <a:pt x="547676" y="43616"/>
                  </a:lnTo>
                  <a:lnTo>
                    <a:pt x="515867" y="36088"/>
                  </a:lnTo>
                  <a:lnTo>
                    <a:pt x="504443" y="27431"/>
                  </a:lnTo>
                </a:path>
                <a:path w="952500" h="55245">
                  <a:moveTo>
                    <a:pt x="952500" y="27431"/>
                  </a:moveTo>
                  <a:lnTo>
                    <a:pt x="941002" y="36088"/>
                  </a:lnTo>
                  <a:lnTo>
                    <a:pt x="908986" y="43616"/>
                  </a:lnTo>
                  <a:lnTo>
                    <a:pt x="860163" y="49560"/>
                  </a:lnTo>
                  <a:lnTo>
                    <a:pt x="798246" y="53461"/>
                  </a:lnTo>
                  <a:lnTo>
                    <a:pt x="726948" y="5486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95700" y="2301240"/>
              <a:ext cx="0" cy="1031875"/>
            </a:xfrm>
            <a:custGeom>
              <a:avLst/>
              <a:gdLst/>
              <a:ahLst/>
              <a:cxnLst/>
              <a:rect l="l" t="t" r="r" b="b"/>
              <a:pathLst>
                <a:path h="1031875">
                  <a:moveTo>
                    <a:pt x="0" y="0"/>
                  </a:moveTo>
                  <a:lnTo>
                    <a:pt x="0" y="1031747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94176" y="2295144"/>
              <a:ext cx="2426335" cy="1076325"/>
            </a:xfrm>
            <a:custGeom>
              <a:avLst/>
              <a:gdLst/>
              <a:ahLst/>
              <a:cxnLst/>
              <a:rect l="l" t="t" r="r" b="b"/>
              <a:pathLst>
                <a:path w="2426335" h="1076325">
                  <a:moveTo>
                    <a:pt x="0" y="0"/>
                  </a:moveTo>
                  <a:lnTo>
                    <a:pt x="963802" y="0"/>
                  </a:lnTo>
                  <a:lnTo>
                    <a:pt x="963802" y="1044701"/>
                  </a:lnTo>
                </a:path>
                <a:path w="2426335" h="1076325">
                  <a:moveTo>
                    <a:pt x="2199132" y="1075943"/>
                  </a:moveTo>
                  <a:lnTo>
                    <a:pt x="2127333" y="1074541"/>
                  </a:lnTo>
                  <a:lnTo>
                    <a:pt x="2064995" y="1070640"/>
                  </a:lnTo>
                  <a:lnTo>
                    <a:pt x="2015849" y="1064696"/>
                  </a:lnTo>
                  <a:lnTo>
                    <a:pt x="1983626" y="1057168"/>
                  </a:lnTo>
                  <a:lnTo>
                    <a:pt x="1972056" y="1048511"/>
                  </a:lnTo>
                </a:path>
                <a:path w="2426335" h="1076325">
                  <a:moveTo>
                    <a:pt x="2426208" y="1048511"/>
                  </a:moveTo>
                  <a:lnTo>
                    <a:pt x="2414625" y="1057168"/>
                  </a:lnTo>
                  <a:lnTo>
                    <a:pt x="2382377" y="1064696"/>
                  </a:lnTo>
                  <a:lnTo>
                    <a:pt x="2333213" y="1070640"/>
                  </a:lnTo>
                  <a:lnTo>
                    <a:pt x="2270881" y="1074541"/>
                  </a:lnTo>
                  <a:lnTo>
                    <a:pt x="2199132" y="107594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99735" y="2284856"/>
            <a:ext cx="12318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Arial"/>
                <a:cs typeface="Arial"/>
              </a:rPr>
              <a:t>35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50714" y="2604897"/>
            <a:ext cx="1720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Arial"/>
                <a:cs typeface="Arial"/>
              </a:rPr>
              <a:t>300</a:t>
            </a:r>
            <a:endParaRPr sz="70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158740" y="2289048"/>
          <a:ext cx="1050925" cy="1035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045">
                <a:tc>
                  <a:txBody>
                    <a:bodyPr/>
                    <a:lstStyle/>
                    <a:p>
                      <a:pPr marL="28575">
                        <a:lnSpc>
                          <a:spcPts val="740"/>
                        </a:lnSpc>
                      </a:pPr>
                      <a:r>
                        <a:rPr sz="700" b="1" spc="-50" dirty="0">
                          <a:latin typeface="Arial"/>
                          <a:cs typeface="Arial"/>
                        </a:rPr>
                        <a:t>1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9845">
                        <a:lnSpc>
                          <a:spcPts val="740"/>
                        </a:lnSpc>
                      </a:pPr>
                      <a:r>
                        <a:rPr sz="700" b="1" spc="-25" dirty="0">
                          <a:latin typeface="Arial"/>
                          <a:cs typeface="Arial"/>
                        </a:rPr>
                        <a:t>ADD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725"/>
                        </a:lnSpc>
                        <a:spcBef>
                          <a:spcPts val="15"/>
                        </a:spcBef>
                      </a:pPr>
                      <a:r>
                        <a:rPr sz="700" b="1" spc="-25" dirty="0">
                          <a:latin typeface="Arial"/>
                          <a:cs typeface="Arial"/>
                        </a:rPr>
                        <a:t>300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8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">
                <a:tc gridSpan="3">
                  <a:txBody>
                    <a:bodyPr/>
                    <a:lstStyle/>
                    <a:p>
                      <a:pPr marR="3810" algn="ctr">
                        <a:lnSpc>
                          <a:spcPts val="730"/>
                        </a:lnSpc>
                      </a:pPr>
                      <a:r>
                        <a:rPr sz="700" b="1" spc="-20" dirty="0">
                          <a:latin typeface="Arial"/>
                          <a:cs typeface="Arial"/>
                        </a:rPr>
                        <a:t>1350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045">
                <a:tc gridSpan="3">
                  <a:txBody>
                    <a:bodyPr/>
                    <a:lstStyle/>
                    <a:p>
                      <a:pPr marL="255270">
                        <a:lnSpc>
                          <a:spcPts val="740"/>
                        </a:lnSpc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Operand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5169408" y="3316223"/>
            <a:ext cx="483234" cy="27940"/>
          </a:xfrm>
          <a:custGeom>
            <a:avLst/>
            <a:gdLst/>
            <a:ahLst/>
            <a:cxnLst/>
            <a:rect l="l" t="t" r="r" b="b"/>
            <a:pathLst>
              <a:path w="483235" h="27939">
                <a:moveTo>
                  <a:pt x="0" y="27431"/>
                </a:moveTo>
                <a:lnTo>
                  <a:pt x="13306" y="18775"/>
                </a:lnTo>
                <a:lnTo>
                  <a:pt x="50369" y="11247"/>
                </a:lnTo>
                <a:lnTo>
                  <a:pt x="106902" y="5303"/>
                </a:lnTo>
                <a:lnTo>
                  <a:pt x="178620" y="1402"/>
                </a:lnTo>
                <a:lnTo>
                  <a:pt x="261238" y="0"/>
                </a:lnTo>
              </a:path>
              <a:path w="483235" h="27939">
                <a:moveTo>
                  <a:pt x="257555" y="0"/>
                </a:moveTo>
                <a:lnTo>
                  <a:pt x="257809" y="0"/>
                </a:lnTo>
                <a:lnTo>
                  <a:pt x="258063" y="0"/>
                </a:lnTo>
                <a:lnTo>
                  <a:pt x="258444" y="0"/>
                </a:lnTo>
                <a:lnTo>
                  <a:pt x="329456" y="1402"/>
                </a:lnTo>
                <a:lnTo>
                  <a:pt x="391128" y="5303"/>
                </a:lnTo>
                <a:lnTo>
                  <a:pt x="439761" y="11247"/>
                </a:lnTo>
                <a:lnTo>
                  <a:pt x="471654" y="18775"/>
                </a:lnTo>
                <a:lnTo>
                  <a:pt x="483107" y="27431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922646" y="2991357"/>
            <a:ext cx="22097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0" dirty="0">
                <a:latin typeface="Arial"/>
                <a:cs typeface="Arial"/>
              </a:rPr>
              <a:t>1350</a:t>
            </a:r>
            <a:endParaRPr sz="7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1271" y="3518915"/>
            <a:ext cx="188976" cy="17068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113021" y="3477005"/>
            <a:ext cx="12953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Arial"/>
                <a:cs typeface="Arial"/>
              </a:rPr>
              <a:t>+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00271" y="3875532"/>
            <a:ext cx="952500" cy="116205"/>
          </a:xfrm>
          <a:prstGeom prst="rect">
            <a:avLst/>
          </a:prstGeom>
          <a:solidFill>
            <a:srgbClr val="FFFFFF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28575" algn="ctr">
              <a:lnSpc>
                <a:spcPts val="819"/>
              </a:lnSpc>
            </a:pPr>
            <a:r>
              <a:rPr sz="700" b="1" spc="-25" dirty="0">
                <a:latin typeface="Arial"/>
                <a:cs typeface="Arial"/>
              </a:rPr>
              <a:t>AC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509517" y="3518915"/>
            <a:ext cx="2230120" cy="605790"/>
            <a:chOff x="3509517" y="3518915"/>
            <a:chExt cx="2230120" cy="605790"/>
          </a:xfrm>
        </p:grpSpPr>
        <p:sp>
          <p:nvSpPr>
            <p:cNvPr id="27" name="object 27"/>
            <p:cNvSpPr/>
            <p:nvPr/>
          </p:nvSpPr>
          <p:spPr>
            <a:xfrm>
              <a:off x="3518915" y="3995927"/>
              <a:ext cx="653415" cy="104775"/>
            </a:xfrm>
            <a:custGeom>
              <a:avLst/>
              <a:gdLst/>
              <a:ahLst/>
              <a:cxnLst/>
              <a:rect l="l" t="t" r="r" b="b"/>
              <a:pathLst>
                <a:path w="653414" h="104775">
                  <a:moveTo>
                    <a:pt x="652907" y="0"/>
                  </a:moveTo>
                  <a:lnTo>
                    <a:pt x="652907" y="104394"/>
                  </a:lnTo>
                  <a:lnTo>
                    <a:pt x="0" y="104394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15867" y="3628643"/>
              <a:ext cx="0" cy="489584"/>
            </a:xfrm>
            <a:custGeom>
              <a:avLst/>
              <a:gdLst/>
              <a:ahLst/>
              <a:cxnLst/>
              <a:rect l="l" t="t" r="r" b="b"/>
              <a:pathLst>
                <a:path h="489585">
                  <a:moveTo>
                    <a:pt x="0" y="0"/>
                  </a:moveTo>
                  <a:lnTo>
                    <a:pt x="0" y="48920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509771" y="3606545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546100" y="19050"/>
                  </a:moveTo>
                  <a:lnTo>
                    <a:pt x="533400" y="38100"/>
                  </a:lnTo>
                  <a:lnTo>
                    <a:pt x="559308" y="25145"/>
                  </a:lnTo>
                  <a:lnTo>
                    <a:pt x="546100" y="25145"/>
                  </a:lnTo>
                  <a:lnTo>
                    <a:pt x="546100" y="19050"/>
                  </a:lnTo>
                  <a:close/>
                </a:path>
                <a:path w="571500" h="38100">
                  <a:moveTo>
                    <a:pt x="542036" y="12953"/>
                  </a:moveTo>
                  <a:lnTo>
                    <a:pt x="0" y="12953"/>
                  </a:lnTo>
                  <a:lnTo>
                    <a:pt x="0" y="25145"/>
                  </a:lnTo>
                  <a:lnTo>
                    <a:pt x="542036" y="25145"/>
                  </a:lnTo>
                  <a:lnTo>
                    <a:pt x="546100" y="19050"/>
                  </a:lnTo>
                  <a:lnTo>
                    <a:pt x="542036" y="12953"/>
                  </a:lnTo>
                  <a:close/>
                </a:path>
                <a:path w="571500" h="38100">
                  <a:moveTo>
                    <a:pt x="559307" y="12953"/>
                  </a:moveTo>
                  <a:lnTo>
                    <a:pt x="546100" y="12953"/>
                  </a:lnTo>
                  <a:lnTo>
                    <a:pt x="546100" y="25145"/>
                  </a:lnTo>
                  <a:lnTo>
                    <a:pt x="559308" y="25145"/>
                  </a:lnTo>
                  <a:lnTo>
                    <a:pt x="571500" y="19050"/>
                  </a:lnTo>
                  <a:lnTo>
                    <a:pt x="559307" y="12953"/>
                  </a:lnTo>
                  <a:close/>
                </a:path>
                <a:path w="571500" h="38100">
                  <a:moveTo>
                    <a:pt x="533400" y="0"/>
                  </a:moveTo>
                  <a:lnTo>
                    <a:pt x="546100" y="19050"/>
                  </a:lnTo>
                  <a:lnTo>
                    <a:pt x="546100" y="12953"/>
                  </a:lnTo>
                  <a:lnTo>
                    <a:pt x="559307" y="12953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4311" y="3518915"/>
              <a:ext cx="195072" cy="17068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579490" y="3477005"/>
            <a:ext cx="12953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Arial"/>
                <a:cs typeface="Arial"/>
              </a:rPr>
              <a:t>+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69408" y="3875532"/>
            <a:ext cx="951230" cy="116205"/>
          </a:xfrm>
          <a:prstGeom prst="rect">
            <a:avLst/>
          </a:prstGeom>
          <a:solidFill>
            <a:srgbClr val="FFFFFF"/>
          </a:solidFill>
          <a:ln w="1219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ts val="819"/>
              </a:lnSpc>
            </a:pPr>
            <a:r>
              <a:rPr sz="700" b="1" spc="-25" dirty="0">
                <a:latin typeface="Arial"/>
                <a:cs typeface="Arial"/>
              </a:rPr>
              <a:t>AC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50614" y="2935223"/>
            <a:ext cx="1508760" cy="1165225"/>
            <a:chOff x="4150614" y="2935223"/>
            <a:chExt cx="1508760" cy="1165225"/>
          </a:xfrm>
        </p:grpSpPr>
        <p:sp>
          <p:nvSpPr>
            <p:cNvPr id="34" name="object 34"/>
            <p:cNvSpPr/>
            <p:nvPr/>
          </p:nvSpPr>
          <p:spPr>
            <a:xfrm>
              <a:off x="4980432" y="3989831"/>
              <a:ext cx="659130" cy="104775"/>
            </a:xfrm>
            <a:custGeom>
              <a:avLst/>
              <a:gdLst/>
              <a:ahLst/>
              <a:cxnLst/>
              <a:rect l="l" t="t" r="r" b="b"/>
              <a:pathLst>
                <a:path w="659129" h="104775">
                  <a:moveTo>
                    <a:pt x="659002" y="0"/>
                  </a:moveTo>
                  <a:lnTo>
                    <a:pt x="659002" y="104393"/>
                  </a:lnTo>
                  <a:lnTo>
                    <a:pt x="0" y="10439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72812" y="3628643"/>
              <a:ext cx="0" cy="466725"/>
            </a:xfrm>
            <a:custGeom>
              <a:avLst/>
              <a:gdLst/>
              <a:ahLst/>
              <a:cxnLst/>
              <a:rect l="l" t="t" r="r" b="b"/>
              <a:pathLst>
                <a:path h="466725">
                  <a:moveTo>
                    <a:pt x="0" y="0"/>
                  </a:moveTo>
                  <a:lnTo>
                    <a:pt x="0" y="46634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150614" y="2935223"/>
              <a:ext cx="1508760" cy="952500"/>
            </a:xfrm>
            <a:custGeom>
              <a:avLst/>
              <a:gdLst/>
              <a:ahLst/>
              <a:cxnLst/>
              <a:rect l="l" t="t" r="r" b="b"/>
              <a:pathLst>
                <a:path w="1508760" h="952500">
                  <a:moveTo>
                    <a:pt x="38100" y="533400"/>
                  </a:moveTo>
                  <a:lnTo>
                    <a:pt x="25146" y="542036"/>
                  </a:lnTo>
                  <a:lnTo>
                    <a:pt x="25146" y="0"/>
                  </a:lnTo>
                  <a:lnTo>
                    <a:pt x="12954" y="0"/>
                  </a:lnTo>
                  <a:lnTo>
                    <a:pt x="12954" y="542036"/>
                  </a:lnTo>
                  <a:lnTo>
                    <a:pt x="0" y="533400"/>
                  </a:lnTo>
                  <a:lnTo>
                    <a:pt x="19050" y="571500"/>
                  </a:lnTo>
                  <a:lnTo>
                    <a:pt x="31750" y="546100"/>
                  </a:lnTo>
                  <a:lnTo>
                    <a:pt x="38100" y="533400"/>
                  </a:lnTo>
                  <a:close/>
                </a:path>
                <a:path w="1508760" h="952500">
                  <a:moveTo>
                    <a:pt x="44196" y="890016"/>
                  </a:moveTo>
                  <a:lnTo>
                    <a:pt x="31242" y="898652"/>
                  </a:lnTo>
                  <a:lnTo>
                    <a:pt x="31242" y="749808"/>
                  </a:lnTo>
                  <a:lnTo>
                    <a:pt x="19050" y="749808"/>
                  </a:lnTo>
                  <a:lnTo>
                    <a:pt x="19050" y="898652"/>
                  </a:lnTo>
                  <a:lnTo>
                    <a:pt x="6096" y="890016"/>
                  </a:lnTo>
                  <a:lnTo>
                    <a:pt x="25146" y="928116"/>
                  </a:lnTo>
                  <a:lnTo>
                    <a:pt x="37846" y="902716"/>
                  </a:lnTo>
                  <a:lnTo>
                    <a:pt x="44196" y="890016"/>
                  </a:lnTo>
                  <a:close/>
                </a:path>
                <a:path w="1508760" h="952500">
                  <a:moveTo>
                    <a:pt x="1395222" y="696468"/>
                  </a:moveTo>
                  <a:lnTo>
                    <a:pt x="1383030" y="690372"/>
                  </a:lnTo>
                  <a:lnTo>
                    <a:pt x="1357122" y="677418"/>
                  </a:lnTo>
                  <a:lnTo>
                    <a:pt x="1365758" y="690372"/>
                  </a:lnTo>
                  <a:lnTo>
                    <a:pt x="825246" y="690372"/>
                  </a:lnTo>
                  <a:lnTo>
                    <a:pt x="825246" y="702564"/>
                  </a:lnTo>
                  <a:lnTo>
                    <a:pt x="1365758" y="702564"/>
                  </a:lnTo>
                  <a:lnTo>
                    <a:pt x="1357122" y="715518"/>
                  </a:lnTo>
                  <a:lnTo>
                    <a:pt x="1383017" y="702564"/>
                  </a:lnTo>
                  <a:lnTo>
                    <a:pt x="1395222" y="696468"/>
                  </a:lnTo>
                  <a:close/>
                </a:path>
                <a:path w="1508760" h="952500">
                  <a:moveTo>
                    <a:pt x="1508760" y="914400"/>
                  </a:moveTo>
                  <a:lnTo>
                    <a:pt x="1495806" y="923036"/>
                  </a:lnTo>
                  <a:lnTo>
                    <a:pt x="1495806" y="755904"/>
                  </a:lnTo>
                  <a:lnTo>
                    <a:pt x="1483614" y="755904"/>
                  </a:lnTo>
                  <a:lnTo>
                    <a:pt x="1483614" y="923036"/>
                  </a:lnTo>
                  <a:lnTo>
                    <a:pt x="1470660" y="914400"/>
                  </a:lnTo>
                  <a:lnTo>
                    <a:pt x="1489710" y="952500"/>
                  </a:lnTo>
                  <a:lnTo>
                    <a:pt x="1502410" y="927100"/>
                  </a:lnTo>
                  <a:lnTo>
                    <a:pt x="1508760" y="914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785996" y="1876775"/>
            <a:ext cx="886460" cy="3511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139065" algn="ctr">
              <a:lnSpc>
                <a:spcPct val="100000"/>
              </a:lnSpc>
              <a:spcBef>
                <a:spcPts val="395"/>
              </a:spcBef>
            </a:pPr>
            <a:r>
              <a:rPr sz="850" b="1" spc="-25" dirty="0">
                <a:latin typeface="Arial"/>
                <a:cs typeface="Arial"/>
              </a:rPr>
              <a:t>(a)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800" b="1" dirty="0">
                <a:latin typeface="Arial"/>
                <a:cs typeface="Arial"/>
              </a:rPr>
              <a:t>Direct</a:t>
            </a:r>
            <a:r>
              <a:rPr sz="800" b="1" spc="-3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addressing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49671" y="1844847"/>
            <a:ext cx="965200" cy="37020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163830" algn="ctr">
              <a:lnSpc>
                <a:spcPct val="100000"/>
              </a:lnSpc>
              <a:spcBef>
                <a:spcPts val="475"/>
              </a:spcBef>
            </a:pPr>
            <a:r>
              <a:rPr sz="850" b="1" spc="-25" dirty="0">
                <a:latin typeface="Arial"/>
                <a:cs typeface="Arial"/>
              </a:rPr>
              <a:t>(b)</a:t>
            </a:r>
            <a:endParaRPr sz="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800" b="1" dirty="0">
                <a:latin typeface="Arial"/>
                <a:cs typeface="Arial"/>
              </a:rPr>
              <a:t>Indirect</a:t>
            </a:r>
            <a:r>
              <a:rPr sz="800" b="1" spc="-3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addressing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616702" y="3102864"/>
            <a:ext cx="38100" cy="403860"/>
          </a:xfrm>
          <a:custGeom>
            <a:avLst/>
            <a:gdLst/>
            <a:ahLst/>
            <a:cxnLst/>
            <a:rect l="l" t="t" r="r" b="b"/>
            <a:pathLst>
              <a:path w="38100" h="403860">
                <a:moveTo>
                  <a:pt x="0" y="365760"/>
                </a:moveTo>
                <a:lnTo>
                  <a:pt x="19050" y="403860"/>
                </a:lnTo>
                <a:lnTo>
                  <a:pt x="31750" y="378460"/>
                </a:lnTo>
                <a:lnTo>
                  <a:pt x="12953" y="378460"/>
                </a:lnTo>
                <a:lnTo>
                  <a:pt x="12953" y="374396"/>
                </a:lnTo>
                <a:lnTo>
                  <a:pt x="0" y="365760"/>
                </a:lnTo>
                <a:close/>
              </a:path>
              <a:path w="38100" h="403860">
                <a:moveTo>
                  <a:pt x="12953" y="374396"/>
                </a:moveTo>
                <a:lnTo>
                  <a:pt x="12953" y="378460"/>
                </a:lnTo>
                <a:lnTo>
                  <a:pt x="19050" y="378460"/>
                </a:lnTo>
                <a:lnTo>
                  <a:pt x="12953" y="374396"/>
                </a:lnTo>
                <a:close/>
              </a:path>
              <a:path w="38100" h="403860">
                <a:moveTo>
                  <a:pt x="25146" y="0"/>
                </a:moveTo>
                <a:lnTo>
                  <a:pt x="12953" y="0"/>
                </a:lnTo>
                <a:lnTo>
                  <a:pt x="12953" y="374396"/>
                </a:lnTo>
                <a:lnTo>
                  <a:pt x="19050" y="378460"/>
                </a:lnTo>
                <a:lnTo>
                  <a:pt x="25146" y="374396"/>
                </a:lnTo>
                <a:lnTo>
                  <a:pt x="25146" y="0"/>
                </a:lnTo>
                <a:close/>
              </a:path>
              <a:path w="38100" h="403860">
                <a:moveTo>
                  <a:pt x="25146" y="374396"/>
                </a:moveTo>
                <a:lnTo>
                  <a:pt x="19050" y="378460"/>
                </a:lnTo>
                <a:lnTo>
                  <a:pt x="25146" y="378460"/>
                </a:lnTo>
                <a:lnTo>
                  <a:pt x="25146" y="374396"/>
                </a:lnTo>
                <a:close/>
              </a:path>
              <a:path w="38100" h="403860">
                <a:moveTo>
                  <a:pt x="38100" y="365760"/>
                </a:moveTo>
                <a:lnTo>
                  <a:pt x="25146" y="374396"/>
                </a:lnTo>
                <a:lnTo>
                  <a:pt x="25146" y="378460"/>
                </a:lnTo>
                <a:lnTo>
                  <a:pt x="31750" y="378460"/>
                </a:lnTo>
                <a:lnTo>
                  <a:pt x="38100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41" name="object 41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Implied</a:t>
            </a:r>
            <a:r>
              <a:rPr sz="2200" spc="-100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Mode/Stack</a:t>
            </a:r>
            <a:r>
              <a:rPr sz="2200" spc="-95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37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implicitly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definition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  <a:p>
            <a:pPr marL="433070" marR="469900" indent="-170815">
              <a:lnSpc>
                <a:spcPct val="1101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example,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“complement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accumulator”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0" dirty="0">
                <a:latin typeface="Times New Roman"/>
                <a:cs typeface="Times New Roman"/>
              </a:rPr>
              <a:t> implied-</a:t>
            </a:r>
            <a:r>
              <a:rPr sz="1200" spc="-20" dirty="0">
                <a:latin typeface="Times New Roman"/>
                <a:cs typeface="Times New Roman"/>
              </a:rPr>
              <a:t>mode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accumulator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implied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dirty="0">
                <a:latin typeface="Times New Roman"/>
                <a:cs typeface="Times New Roman"/>
              </a:rPr>
              <a:t>definition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(examples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CLA,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CME,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INP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431800" marR="763905" indent="-169545">
              <a:lnSpc>
                <a:spcPct val="11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b="1" spc="-20" dirty="0">
                <a:latin typeface="Times New Roman"/>
                <a:cs typeface="Times New Roman"/>
              </a:rPr>
              <a:t>Zero-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stack-organized</a:t>
            </a:r>
            <a:r>
              <a:rPr sz="1200" dirty="0">
                <a:latin typeface="Times New Roman"/>
                <a:cs typeface="Times New Roman"/>
              </a:rPr>
              <a:t> computer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10" dirty="0">
                <a:latin typeface="Times New Roman"/>
                <a:cs typeface="Times New Roman"/>
              </a:rPr>
              <a:t> implied-</a:t>
            </a:r>
            <a:r>
              <a:rPr sz="1200" spc="-20" dirty="0">
                <a:latin typeface="Times New Roman"/>
                <a:cs typeface="Times New Roman"/>
              </a:rPr>
              <a:t>mode 	</a:t>
            </a:r>
            <a:r>
              <a:rPr sz="1200" dirty="0">
                <a:latin typeface="Times New Roman"/>
                <a:cs typeface="Times New Roman"/>
              </a:rPr>
              <a:t>instructions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implied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stack.</a:t>
            </a: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7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For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stack</a:t>
            </a:r>
            <a:r>
              <a:rPr sz="1200" spc="-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organization:</a:t>
            </a:r>
            <a:r>
              <a:rPr sz="1200" spc="-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EA</a:t>
            </a:r>
            <a:r>
              <a:rPr sz="1200" spc="-6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=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2A4F1D"/>
                </a:solidFill>
                <a:latin typeface="Times New Roman"/>
                <a:cs typeface="Times New Roman"/>
              </a:rPr>
              <a:t>SP</a:t>
            </a:r>
            <a:endParaRPr sz="12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74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Some</a:t>
            </a:r>
            <a:r>
              <a:rPr sz="1200" spc="-4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other</a:t>
            </a:r>
            <a:r>
              <a:rPr sz="1200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instructions:</a:t>
            </a:r>
            <a:r>
              <a:rPr sz="1200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EA</a:t>
            </a:r>
            <a:r>
              <a:rPr sz="1200" spc="-8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=</a:t>
            </a:r>
            <a:r>
              <a:rPr sz="1200" spc="-7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AC,</a:t>
            </a:r>
            <a:r>
              <a:rPr sz="1200" spc="-1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or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address</a:t>
            </a:r>
            <a:r>
              <a:rPr sz="1200" spc="-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of</a:t>
            </a:r>
            <a:r>
              <a:rPr sz="1200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INP</a:t>
            </a:r>
            <a:r>
              <a:rPr sz="1200" spc="-3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register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7888" y="1662684"/>
              <a:ext cx="1780032" cy="41300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Immediate</a:t>
            </a:r>
            <a:r>
              <a:rPr sz="2200" spc="-13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The</a:t>
            </a:r>
            <a:r>
              <a:rPr sz="1200" b="1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operand</a:t>
            </a:r>
            <a:r>
              <a:rPr sz="1200" b="1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is</a:t>
            </a:r>
            <a:r>
              <a:rPr sz="1200" b="1" spc="-1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specified</a:t>
            </a:r>
            <a:r>
              <a:rPr sz="1200" b="1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in</a:t>
            </a:r>
            <a:r>
              <a:rPr sz="1200" b="1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the</a:t>
            </a:r>
            <a:r>
              <a:rPr sz="1200" b="1" spc="-1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2A4F1D"/>
                </a:solidFill>
                <a:latin typeface="Times New Roman"/>
                <a:cs typeface="Times New Roman"/>
              </a:rPr>
              <a:t>instruction</a:t>
            </a:r>
            <a:r>
              <a:rPr sz="1200" b="1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2A4F1D"/>
                </a:solidFill>
                <a:latin typeface="Times New Roman"/>
                <a:cs typeface="Times New Roman"/>
              </a:rPr>
              <a:t>itself.</a:t>
            </a: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field.</a:t>
            </a:r>
            <a:endParaRPr sz="1200">
              <a:latin typeface="Times New Roman"/>
              <a:cs typeface="Times New Roman"/>
            </a:endParaRPr>
          </a:p>
          <a:p>
            <a:pPr marL="431800" marR="541020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actual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conjunction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	</a:t>
            </a:r>
            <a:r>
              <a:rPr sz="1200" dirty="0">
                <a:latin typeface="Times New Roman"/>
                <a:cs typeface="Times New Roman"/>
              </a:rPr>
              <a:t>operation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  <a:p>
            <a:pPr marL="431800" marR="997585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Immediate-</a:t>
            </a:r>
            <a:r>
              <a:rPr sz="1200" b="1" dirty="0">
                <a:latin typeface="Times New Roman"/>
                <a:cs typeface="Times New Roman"/>
              </a:rPr>
              <a:t>mode</a:t>
            </a:r>
            <a:r>
              <a:rPr sz="1200" b="1" spc="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instructions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are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useful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for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initializing</a:t>
            </a:r>
            <a:r>
              <a:rPr sz="1200" b="1" spc="-7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registers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a 	</a:t>
            </a:r>
            <a:r>
              <a:rPr sz="1200" b="1" dirty="0">
                <a:latin typeface="Times New Roman"/>
                <a:cs typeface="Times New Roman"/>
              </a:rPr>
              <a:t>constant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value.</a:t>
            </a:r>
            <a:endParaRPr sz="12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dirty="0">
                <a:latin typeface="Times New Roman"/>
                <a:cs typeface="Times New Roman"/>
              </a:rPr>
              <a:t>Fast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operand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Direct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  <a:p>
            <a:pPr marL="431800" marR="391795" indent="-169545">
              <a:lnSpc>
                <a:spcPct val="100000"/>
              </a:lnSpc>
              <a:spcBef>
                <a:spcPts val="13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field 	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Faster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modes</a:t>
            </a: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spc="-20" dirty="0">
                <a:latin typeface="Times New Roman"/>
                <a:cs typeface="Times New Roman"/>
              </a:rPr>
              <a:t>Too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bits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physical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space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marR="1349375" indent="-169545">
              <a:lnSpc>
                <a:spcPct val="141700"/>
              </a:lnSpc>
              <a:buClr>
                <a:srgbClr val="3E762B"/>
              </a:buClr>
              <a:buFont typeface="Wingdings"/>
              <a:buChar char=""/>
              <a:tabLst>
                <a:tab pos="719455" algn="l"/>
              </a:tabLst>
            </a:pP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The</a:t>
            </a:r>
            <a:r>
              <a:rPr sz="1200" spc="-3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effective</a:t>
            </a:r>
            <a:r>
              <a:rPr sz="1200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address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is</a:t>
            </a:r>
            <a:r>
              <a:rPr sz="1200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equal</a:t>
            </a:r>
            <a:r>
              <a:rPr sz="1200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to</a:t>
            </a:r>
            <a:r>
              <a:rPr sz="1200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the</a:t>
            </a:r>
            <a:r>
              <a:rPr sz="1200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address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part</a:t>
            </a:r>
            <a:r>
              <a:rPr sz="1200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of</a:t>
            </a:r>
            <a:r>
              <a:rPr sz="1200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the</a:t>
            </a:r>
            <a:r>
              <a:rPr sz="1200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instruction. 	EA</a:t>
            </a:r>
            <a:r>
              <a:rPr sz="1200" spc="-6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=</a:t>
            </a:r>
            <a:r>
              <a:rPr sz="1200" spc="-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IR(addr)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Indirect</a:t>
            </a:r>
            <a:r>
              <a:rPr sz="2200" spc="-105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  <a:p>
            <a:pPr marL="431800" marR="1231900" indent="-169545">
              <a:lnSpc>
                <a:spcPct val="100000"/>
              </a:lnSpc>
              <a:spcBef>
                <a:spcPts val="140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memory 	</a:t>
            </a:r>
            <a:r>
              <a:rPr sz="1200" dirty="0">
                <a:latin typeface="Times New Roman"/>
                <a:cs typeface="Times New Roman"/>
              </a:rPr>
              <a:t>location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operand</a:t>
            </a: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Slow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additional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access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5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EA</a:t>
            </a:r>
            <a:r>
              <a:rPr sz="1200" spc="-7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=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 M[IR(address)]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</a:pPr>
            <a:r>
              <a:rPr sz="2200" dirty="0">
                <a:latin typeface="Georgia"/>
                <a:cs typeface="Georgia"/>
              </a:rPr>
              <a:t>Register</a:t>
            </a:r>
            <a:r>
              <a:rPr sz="2200" spc="-5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exist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CPU.</a:t>
            </a: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particular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k-</a:t>
            </a:r>
            <a:r>
              <a:rPr sz="1200" dirty="0">
                <a:latin typeface="Times New Roman"/>
                <a:cs typeface="Times New Roman"/>
              </a:rPr>
              <a:t>bit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field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baseline="24305" dirty="0">
                <a:latin typeface="Times New Roman"/>
                <a:cs typeface="Times New Roman"/>
              </a:rPr>
              <a:t>k</a:t>
            </a:r>
            <a:r>
              <a:rPr sz="1200" spc="120" baseline="243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registers.</a:t>
            </a: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Shorter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</a:t>
            </a:r>
            <a:endParaRPr sz="12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200" dirty="0">
                <a:latin typeface="Times New Roman"/>
                <a:cs typeface="Times New Roman"/>
              </a:rPr>
              <a:t>Faster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addressing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EA</a:t>
            </a:r>
            <a:r>
              <a:rPr sz="1200" spc="-6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=</a:t>
            </a:r>
            <a:r>
              <a:rPr sz="1200" spc="-5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IR(R)</a:t>
            </a:r>
            <a:r>
              <a:rPr sz="1200" spc="-1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(i.e.</a:t>
            </a:r>
            <a:r>
              <a:rPr sz="1200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IR(R):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Register</a:t>
            </a:r>
            <a:r>
              <a:rPr sz="1200" spc="-2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field</a:t>
            </a:r>
            <a:r>
              <a:rPr sz="1200" spc="-3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of</a:t>
            </a:r>
            <a:r>
              <a:rPr sz="1200" spc="-20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2A4F1D"/>
                </a:solidFill>
                <a:latin typeface="Times New Roman"/>
                <a:cs typeface="Times New Roman"/>
              </a:rPr>
              <a:t>IR)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Register</a:t>
            </a:r>
            <a:r>
              <a:rPr sz="2200" spc="-7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Indirect</a:t>
            </a:r>
            <a:r>
              <a:rPr sz="2200" spc="-80" dirty="0">
                <a:latin typeface="Georgia"/>
                <a:cs typeface="Georgia"/>
              </a:rPr>
              <a:t> </a:t>
            </a:r>
            <a:r>
              <a:rPr sz="2200" spc="-20" dirty="0">
                <a:latin typeface="Georgia"/>
                <a:cs typeface="Georgia"/>
              </a:rPr>
              <a:t>Mode</a:t>
            </a:r>
            <a:endParaRPr sz="2200">
              <a:latin typeface="Georgia"/>
              <a:cs typeface="Georgia"/>
            </a:endParaRPr>
          </a:p>
          <a:p>
            <a:pPr marL="431800" marR="965200" indent="-169545">
              <a:lnSpc>
                <a:spcPct val="100000"/>
              </a:lnSpc>
              <a:spcBef>
                <a:spcPts val="151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selected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contains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operand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rather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than 	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operand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itself.</a:t>
            </a:r>
            <a:endParaRPr sz="1200">
              <a:latin typeface="Times New Roman"/>
              <a:cs typeface="Times New Roman"/>
            </a:endParaRPr>
          </a:p>
          <a:p>
            <a:pPr marL="431800" marR="1001394" indent="-16954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indirect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programmer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must 	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address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placed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processor 	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previous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instruction.</a:t>
            </a:r>
            <a:endParaRPr sz="1200">
              <a:latin typeface="Times New Roman"/>
              <a:cs typeface="Times New Roman"/>
            </a:endParaRPr>
          </a:p>
          <a:p>
            <a:pPr marL="431800" marR="806450" indent="-169545">
              <a:lnSpc>
                <a:spcPct val="100000"/>
              </a:lnSpc>
              <a:spcBef>
                <a:spcPts val="59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advantage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register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indirect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instruction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address 	</a:t>
            </a:r>
            <a:r>
              <a:rPr sz="1200" b="1" dirty="0">
                <a:latin typeface="Times New Roman"/>
                <a:cs typeface="Times New Roman"/>
              </a:rPr>
              <a:t>field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instruction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uses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fewer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bits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select</a:t>
            </a:r>
            <a:r>
              <a:rPr sz="1200" b="1" spc="-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register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than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specify 	</a:t>
            </a:r>
            <a:r>
              <a:rPr sz="1200" b="1" dirty="0">
                <a:latin typeface="Times New Roman"/>
                <a:cs typeface="Times New Roman"/>
              </a:rPr>
              <a:t>a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memory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address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directly.</a:t>
            </a: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spcBef>
                <a:spcPts val="60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dirty="0">
                <a:latin typeface="Times New Roman"/>
                <a:cs typeface="Times New Roman"/>
              </a:rPr>
              <a:t>Slower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acquire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direct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addressing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buClr>
                <a:srgbClr val="3E762B"/>
              </a:buClr>
              <a:buFont typeface="Wingdings"/>
              <a:buChar char=""/>
            </a:pPr>
            <a:endParaRPr sz="1200">
              <a:latin typeface="Times New Roman"/>
              <a:cs typeface="Times New Roman"/>
            </a:endParaRPr>
          </a:p>
          <a:p>
            <a:pPr marL="431800" indent="-169545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EA</a:t>
            </a:r>
            <a:r>
              <a:rPr sz="1200" spc="-6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A4F1D"/>
                </a:solidFill>
                <a:latin typeface="Times New Roman"/>
                <a:cs typeface="Times New Roman"/>
              </a:rPr>
              <a:t>=</a:t>
            </a:r>
            <a:r>
              <a:rPr sz="1200" spc="-5" dirty="0">
                <a:solidFill>
                  <a:srgbClr val="2A4F1D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2A4F1D"/>
                </a:solidFill>
                <a:latin typeface="Times New Roman"/>
                <a:cs typeface="Times New Roman"/>
              </a:rPr>
              <a:t>M[IR(R)]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7" name="object 7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35"/>
              </a:spcBef>
            </a:pPr>
            <a:r>
              <a:rPr sz="2000" dirty="0">
                <a:latin typeface="Georgia"/>
                <a:cs typeface="Georgia"/>
              </a:rPr>
              <a:t>Autoincrement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or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Autodecrement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Mode</a:t>
            </a:r>
            <a:endParaRPr sz="2000">
              <a:latin typeface="Georgia"/>
              <a:cs typeface="Georgia"/>
            </a:endParaRPr>
          </a:p>
          <a:p>
            <a:pPr marL="433070" marR="1002665" indent="-170815">
              <a:lnSpc>
                <a:spcPts val="1190"/>
              </a:lnSpc>
              <a:spcBef>
                <a:spcPts val="148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100" b="1" dirty="0">
                <a:latin typeface="Times New Roman"/>
                <a:cs typeface="Times New Roman"/>
              </a:rPr>
              <a:t>When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 address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 register</a:t>
            </a:r>
            <a:r>
              <a:rPr sz="1100" b="1" spc="-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used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 access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memory,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value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 </a:t>
            </a:r>
            <a:r>
              <a:rPr sz="1100" b="1" spc="-25" dirty="0">
                <a:latin typeface="Times New Roman"/>
                <a:cs typeface="Times New Roman"/>
              </a:rPr>
              <a:t>the </a:t>
            </a:r>
            <a:r>
              <a:rPr sz="1100" b="1" dirty="0">
                <a:latin typeface="Times New Roman"/>
                <a:cs typeface="Times New Roman"/>
              </a:rPr>
              <a:t>register</a:t>
            </a:r>
            <a:r>
              <a:rPr sz="1100" b="1" spc="-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incremented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or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decremented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by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automatically.</a:t>
            </a:r>
            <a:endParaRPr sz="1100">
              <a:latin typeface="Times New Roman"/>
              <a:cs typeface="Times New Roman"/>
            </a:endParaRPr>
          </a:p>
          <a:p>
            <a:pPr marL="433070" marR="915035" indent="-170815">
              <a:lnSpc>
                <a:spcPts val="1190"/>
              </a:lnSpc>
              <a:spcBef>
                <a:spcPts val="600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stored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register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refers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table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data in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memory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increment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decrement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register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table.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increment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 decrement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instruction.</a:t>
            </a:r>
            <a:endParaRPr sz="1100">
              <a:latin typeface="Times New Roman"/>
              <a:cs typeface="Times New Roman"/>
            </a:endParaRPr>
          </a:p>
          <a:p>
            <a:pPr marL="433070" marR="830580" indent="-170815">
              <a:lnSpc>
                <a:spcPts val="1190"/>
              </a:lnSpc>
              <a:spcBef>
                <a:spcPts val="59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similar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register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indirect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except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register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solidFill>
                  <a:srgbClr val="FF0000"/>
                </a:solidFill>
                <a:latin typeface="Times New Roman"/>
                <a:cs typeface="Times New Roman"/>
              </a:rPr>
              <a:t>incremented</a:t>
            </a:r>
            <a:r>
              <a:rPr sz="11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6FC0"/>
                </a:solidFill>
                <a:latin typeface="Times New Roman"/>
                <a:cs typeface="Times New Roman"/>
              </a:rPr>
              <a:t>decremented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FF0000"/>
                </a:solidFill>
                <a:latin typeface="Times New Roman"/>
                <a:cs typeface="Times New Roman"/>
              </a:rPr>
              <a:t>after</a:t>
            </a:r>
            <a:r>
              <a:rPr sz="11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6FC0"/>
                </a:solidFill>
                <a:latin typeface="Times New Roman"/>
                <a:cs typeface="Times New Roman"/>
              </a:rPr>
              <a:t>before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value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memory.</a:t>
            </a:r>
            <a:endParaRPr sz="1100">
              <a:latin typeface="Times New Roman"/>
              <a:cs typeface="Times New Roman"/>
            </a:endParaRPr>
          </a:p>
          <a:p>
            <a:pPr marL="433070" marR="794385" indent="-170815">
              <a:lnSpc>
                <a:spcPts val="1190"/>
              </a:lnSpc>
              <a:spcBef>
                <a:spcPts val="595"/>
              </a:spcBef>
              <a:buClr>
                <a:srgbClr val="3E762B"/>
              </a:buClr>
              <a:buFont typeface="Wingdings"/>
              <a:buChar char=""/>
              <a:tabLst>
                <a:tab pos="433070" algn="l"/>
              </a:tabLst>
            </a:pPr>
            <a:r>
              <a:rPr sz="1100" spc="-10" dirty="0">
                <a:latin typeface="Times New Roman"/>
                <a:cs typeface="Times New Roman"/>
              </a:rPr>
              <a:t>However,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common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requirement,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computers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incorporate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special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automatically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increments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decrements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content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</a:t>
            </a:r>
            <a:r>
              <a:rPr sz="1100" dirty="0">
                <a:latin typeface="Times New Roman"/>
                <a:cs typeface="Times New Roman"/>
              </a:rPr>
              <a:t> register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 </a:t>
            </a:r>
            <a:r>
              <a:rPr sz="1100" spc="-10" dirty="0">
                <a:latin typeface="Times New Roman"/>
                <a:cs typeface="Times New Roman"/>
              </a:rPr>
              <a:t>access.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3E762B"/>
              </a:buClr>
              <a:buFont typeface="Wingdings"/>
              <a:buChar char=""/>
            </a:pPr>
            <a:endParaRPr sz="11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spc="-10" dirty="0">
                <a:solidFill>
                  <a:srgbClr val="FF0000"/>
                </a:solidFill>
                <a:latin typeface="Times New Roman"/>
                <a:cs typeface="Times New Roman"/>
              </a:rPr>
              <a:t>EA</a:t>
            </a:r>
            <a:r>
              <a:rPr sz="11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1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Times New Roman"/>
                <a:cs typeface="Times New Roman"/>
              </a:rPr>
              <a:t>M[IR(R)+1]</a:t>
            </a:r>
            <a:endParaRPr sz="1100">
              <a:latin typeface="Times New Roman"/>
              <a:cs typeface="Times New Roman"/>
            </a:endParaRPr>
          </a:p>
          <a:p>
            <a:pPr marL="432434" indent="-170180">
              <a:lnSpc>
                <a:spcPct val="100000"/>
              </a:lnSpc>
              <a:spcBef>
                <a:spcPts val="470"/>
              </a:spcBef>
              <a:buClr>
                <a:srgbClr val="3E762B"/>
              </a:buClr>
              <a:buFont typeface="Wingdings"/>
              <a:buChar char=""/>
              <a:tabLst>
                <a:tab pos="432434" algn="l"/>
              </a:tabLst>
            </a:pPr>
            <a:r>
              <a:rPr sz="1100" spc="-10" dirty="0">
                <a:solidFill>
                  <a:srgbClr val="006FC0"/>
                </a:solidFill>
                <a:latin typeface="Times New Roman"/>
                <a:cs typeface="Times New Roman"/>
              </a:rPr>
              <a:t>EA</a:t>
            </a:r>
            <a:r>
              <a:rPr sz="11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110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006FC0"/>
                </a:solidFill>
                <a:latin typeface="Times New Roman"/>
                <a:cs typeface="Times New Roman"/>
              </a:rPr>
              <a:t>M[IR(R)-</a:t>
            </a:r>
            <a:r>
              <a:rPr sz="1100" spc="-25" dirty="0">
                <a:solidFill>
                  <a:srgbClr val="006FC0"/>
                </a:solidFill>
                <a:latin typeface="Times New Roman"/>
                <a:cs typeface="Times New Roman"/>
              </a:rPr>
              <a:t>1]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  <a:tabLst>
                <a:tab pos="2851150" algn="l"/>
              </a:tabLst>
            </a:pPr>
            <a:r>
              <a:rPr sz="2200" dirty="0">
                <a:latin typeface="Georgia"/>
                <a:cs typeface="Georgia"/>
              </a:rPr>
              <a:t>Types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dirty="0">
                <a:latin typeface="Georgia"/>
                <a:cs typeface="Georgia"/>
              </a:rPr>
              <a:t>	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Auto-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increment</a:t>
            </a:r>
            <a:r>
              <a:rPr sz="1200" b="1" u="sng" spc="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Addressing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2427" y="2029967"/>
            <a:ext cx="3540252" cy="210311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  <a:tabLst>
                <a:tab pos="2851150" algn="l"/>
              </a:tabLst>
            </a:pPr>
            <a:r>
              <a:rPr sz="2200" dirty="0">
                <a:latin typeface="Georgia"/>
                <a:cs typeface="Georgia"/>
              </a:rPr>
              <a:t>Types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dirty="0">
                <a:latin typeface="Georgia"/>
                <a:cs typeface="Georgia"/>
              </a:rPr>
              <a:t>	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  <a:p>
            <a:pPr marL="431800" indent="-169545">
              <a:lnSpc>
                <a:spcPct val="100000"/>
              </a:lnSpc>
              <a:spcBef>
                <a:spcPts val="1845"/>
              </a:spcBef>
              <a:buClr>
                <a:srgbClr val="3E762B"/>
              </a:buClr>
              <a:buFont typeface="Wingdings"/>
              <a:buChar char=""/>
              <a:tabLst>
                <a:tab pos="431800" algn="l"/>
              </a:tabLst>
            </a:pP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Auto-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decrement</a:t>
            </a:r>
            <a:r>
              <a:rPr sz="1200" b="1" u="sng" spc="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Addressing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Mode: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25267" y="5972555"/>
            <a:ext cx="3457955" cy="192023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sp>
          <p:nvSpPr>
            <p:cNvPr id="3" name="object 3"/>
            <p:cNvSpPr/>
            <p:nvPr/>
          </p:nvSpPr>
          <p:spPr>
            <a:xfrm>
              <a:off x="496823" y="990600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5">
                  <a:moveTo>
                    <a:pt x="5862828" y="0"/>
                  </a:moveTo>
                  <a:lnTo>
                    <a:pt x="0" y="0"/>
                  </a:lnTo>
                  <a:lnTo>
                    <a:pt x="0" y="3188208"/>
                  </a:lnTo>
                  <a:lnTo>
                    <a:pt x="5862828" y="3188208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177" y="1538478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823" y="990600"/>
            <a:ext cx="5862955" cy="31883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200" dirty="0">
                <a:latin typeface="Georgia"/>
                <a:cs typeface="Georgia"/>
              </a:rPr>
              <a:t>Types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19" y="1834895"/>
            <a:ext cx="5852160" cy="18288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8" name="object 8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6823" y="4966715"/>
            <a:ext cx="5862955" cy="31883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905"/>
              </a:spcBef>
              <a:tabLst>
                <a:tab pos="2851150" algn="l"/>
              </a:tabLst>
            </a:pPr>
            <a:r>
              <a:rPr sz="2200" dirty="0">
                <a:latin typeface="Georgia"/>
                <a:cs typeface="Georgia"/>
              </a:rPr>
              <a:t>Types</a:t>
            </a:r>
            <a:r>
              <a:rPr sz="2200" spc="-55" dirty="0">
                <a:latin typeface="Georgia"/>
                <a:cs typeface="Georgia"/>
              </a:rPr>
              <a:t> </a:t>
            </a:r>
            <a:r>
              <a:rPr sz="2200" dirty="0">
                <a:latin typeface="Georgia"/>
                <a:cs typeface="Georgia"/>
              </a:rPr>
              <a:t>of</a:t>
            </a:r>
            <a:r>
              <a:rPr sz="2200" spc="-45" dirty="0">
                <a:latin typeface="Georgia"/>
                <a:cs typeface="Georgia"/>
              </a:rPr>
              <a:t> </a:t>
            </a:r>
            <a:r>
              <a:rPr sz="2200" spc="-10" dirty="0">
                <a:latin typeface="Georgia"/>
                <a:cs typeface="Georgia"/>
              </a:rPr>
              <a:t>Addressing</a:t>
            </a:r>
            <a:r>
              <a:rPr sz="2200" dirty="0">
                <a:latin typeface="Georgia"/>
                <a:cs typeface="Georgia"/>
              </a:rPr>
              <a:t>	</a:t>
            </a:r>
            <a:r>
              <a:rPr sz="2200" spc="-10" dirty="0">
                <a:latin typeface="Georgia"/>
                <a:cs typeface="Georgia"/>
              </a:rPr>
              <a:t>Modes</a:t>
            </a:r>
            <a:endParaRPr sz="220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19" y="5769864"/>
            <a:ext cx="5623560" cy="20574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3967" y="1039368"/>
            <a:ext cx="2743200" cy="27142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110" dirty="0"/>
              <a:t> </a:t>
            </a:r>
            <a:r>
              <a:rPr spc="-50" dirty="0"/>
              <a:t>1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19683" y="2609088"/>
            <a:ext cx="3731260" cy="1554480"/>
            <a:chOff x="519683" y="2609088"/>
            <a:chExt cx="3731260" cy="15544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683" y="2609088"/>
              <a:ext cx="3730752" cy="15544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1180" y="3604260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229362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3620" y="111251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21180" y="3604260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0" y="111251"/>
                  </a:moveTo>
                  <a:lnTo>
                    <a:pt x="2293620" y="111251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21180" y="3730752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2293620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293620" y="109727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21180" y="3730752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0" y="109727"/>
                  </a:moveTo>
                  <a:lnTo>
                    <a:pt x="2293620" y="109727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21180" y="3861816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229362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3620" y="111251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1180" y="3861816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0" y="111251"/>
                  </a:moveTo>
                  <a:lnTo>
                    <a:pt x="2293620" y="111251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21180" y="4003548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2293620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293620" y="109727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21180" y="4003548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0" y="109727"/>
                  </a:moveTo>
                  <a:lnTo>
                    <a:pt x="2293620" y="109727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21180" y="3328416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2293620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293620" y="109727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21180" y="3328416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0" y="109727"/>
                  </a:moveTo>
                  <a:lnTo>
                    <a:pt x="2293620" y="109727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1180" y="3468624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229362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3620" y="111251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21180" y="3468624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60">
                  <a:moveTo>
                    <a:pt x="0" y="111251"/>
                  </a:moveTo>
                  <a:lnTo>
                    <a:pt x="2293620" y="111251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7503" y="1657350"/>
            <a:ext cx="9505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Load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81000" y="4844796"/>
            <a:ext cx="6096000" cy="3429000"/>
            <a:chOff x="381000" y="4844796"/>
            <a:chExt cx="6096000" cy="3429000"/>
          </a:xfrm>
        </p:grpSpPr>
        <p:sp>
          <p:nvSpPr>
            <p:cNvPr id="20" name="object 20"/>
            <p:cNvSpPr/>
            <p:nvPr/>
          </p:nvSpPr>
          <p:spPr>
            <a:xfrm>
              <a:off x="381000" y="4844796"/>
              <a:ext cx="6096000" cy="3429000"/>
            </a:xfrm>
            <a:custGeom>
              <a:avLst/>
              <a:gdLst/>
              <a:ahLst/>
              <a:cxnLst/>
              <a:rect l="l" t="t" r="r" b="b"/>
              <a:pathLst>
                <a:path w="6096000" h="3429000">
                  <a:moveTo>
                    <a:pt x="6096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6096000" y="34290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6823" y="4966716"/>
              <a:ext cx="5862955" cy="3188335"/>
            </a:xfrm>
            <a:custGeom>
              <a:avLst/>
              <a:gdLst/>
              <a:ahLst/>
              <a:cxnLst/>
              <a:rect l="l" t="t" r="r" b="b"/>
              <a:pathLst>
                <a:path w="5862955" h="3188334">
                  <a:moveTo>
                    <a:pt x="5862828" y="0"/>
                  </a:moveTo>
                  <a:lnTo>
                    <a:pt x="0" y="0"/>
                  </a:lnTo>
                  <a:lnTo>
                    <a:pt x="0" y="3188207"/>
                  </a:lnTo>
                  <a:lnTo>
                    <a:pt x="5862828" y="3188207"/>
                  </a:lnTo>
                  <a:lnTo>
                    <a:pt x="58628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2177" y="5514594"/>
              <a:ext cx="4660900" cy="0"/>
            </a:xfrm>
            <a:custGeom>
              <a:avLst/>
              <a:gdLst/>
              <a:ahLst/>
              <a:cxnLst/>
              <a:rect l="l" t="t" r="r" b="b"/>
              <a:pathLst>
                <a:path w="4660900">
                  <a:moveTo>
                    <a:pt x="0" y="0"/>
                  </a:moveTo>
                  <a:lnTo>
                    <a:pt x="4660773" y="0"/>
                  </a:lnTo>
                </a:path>
              </a:pathLst>
            </a:custGeom>
            <a:ln w="19812">
              <a:solidFill>
                <a:srgbClr val="539E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53967" y="5015484"/>
              <a:ext cx="2743200" cy="271424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355335" y="5337047"/>
            <a:ext cx="794385" cy="9144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720"/>
              </a:lnSpc>
            </a:pPr>
            <a:r>
              <a:rPr sz="900" b="1" spc="-25" dirty="0">
                <a:latin typeface="Times New Roman"/>
                <a:cs typeface="Times New Roman"/>
              </a:rPr>
              <a:t>R1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19683" y="6585204"/>
            <a:ext cx="3731260" cy="1554480"/>
            <a:chOff x="519683" y="6585204"/>
            <a:chExt cx="3731260" cy="155448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683" y="6585204"/>
              <a:ext cx="3730752" cy="155448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821180" y="6915912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2293620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2293620" y="111252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821180" y="6915912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0" y="111252"/>
                  </a:moveTo>
                  <a:lnTo>
                    <a:pt x="2293620" y="111252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2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21180" y="7171944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229362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3620" y="111251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21180" y="7171944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0" y="111251"/>
                  </a:moveTo>
                  <a:lnTo>
                    <a:pt x="2293620" y="111251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21180" y="7304532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2293620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2293620" y="109727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21180" y="7304532"/>
              <a:ext cx="2293620" cy="109855"/>
            </a:xfrm>
            <a:custGeom>
              <a:avLst/>
              <a:gdLst/>
              <a:ahLst/>
              <a:cxnLst/>
              <a:rect l="l" t="t" r="r" b="b"/>
              <a:pathLst>
                <a:path w="2293620" h="109854">
                  <a:moveTo>
                    <a:pt x="0" y="109727"/>
                  </a:moveTo>
                  <a:lnTo>
                    <a:pt x="2293620" y="109727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21180" y="7444740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229362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2293620" y="111251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21180" y="7444740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0" y="111251"/>
                  </a:moveTo>
                  <a:lnTo>
                    <a:pt x="2293620" y="111251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1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21180" y="7040880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2293620" y="0"/>
                  </a:moveTo>
                  <a:lnTo>
                    <a:pt x="0" y="0"/>
                  </a:lnTo>
                  <a:lnTo>
                    <a:pt x="0" y="111252"/>
                  </a:lnTo>
                  <a:lnTo>
                    <a:pt x="2293620" y="111252"/>
                  </a:lnTo>
                  <a:lnTo>
                    <a:pt x="2293620" y="0"/>
                  </a:lnTo>
                  <a:close/>
                </a:path>
              </a:pathLst>
            </a:custGeom>
            <a:solidFill>
              <a:srgbClr val="539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21180" y="7040880"/>
              <a:ext cx="2293620" cy="111760"/>
            </a:xfrm>
            <a:custGeom>
              <a:avLst/>
              <a:gdLst/>
              <a:ahLst/>
              <a:cxnLst/>
              <a:rect l="l" t="t" r="r" b="b"/>
              <a:pathLst>
                <a:path w="2293620" h="111759">
                  <a:moveTo>
                    <a:pt x="0" y="111252"/>
                  </a:moveTo>
                  <a:lnTo>
                    <a:pt x="2293620" y="111252"/>
                  </a:lnTo>
                  <a:lnTo>
                    <a:pt x="2293620" y="0"/>
                  </a:lnTo>
                  <a:lnTo>
                    <a:pt x="0" y="0"/>
                  </a:lnTo>
                  <a:lnTo>
                    <a:pt x="0" y="111252"/>
                  </a:lnTo>
                  <a:close/>
                </a:path>
              </a:pathLst>
            </a:custGeom>
            <a:ln w="9144">
              <a:solidFill>
                <a:srgbClr val="3A73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96823" y="5069586"/>
            <a:ext cx="5862955" cy="772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126865" algn="ctr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Georgia"/>
                <a:cs typeface="Georgia"/>
              </a:rPr>
              <a:t>Example</a:t>
            </a:r>
            <a:r>
              <a:rPr sz="2200" spc="-110" dirty="0">
                <a:latin typeface="Georgia"/>
                <a:cs typeface="Georgia"/>
              </a:rPr>
              <a:t> </a:t>
            </a:r>
            <a:r>
              <a:rPr sz="2200" spc="-50" dirty="0">
                <a:latin typeface="Georgia"/>
                <a:cs typeface="Georgia"/>
              </a:rPr>
              <a:t>1</a:t>
            </a:r>
            <a:endParaRPr sz="2200">
              <a:latin typeface="Georgia"/>
              <a:cs typeface="Georgia"/>
            </a:endParaRPr>
          </a:p>
          <a:p>
            <a:pPr marR="4183379" algn="ctr">
              <a:lnSpc>
                <a:spcPct val="100000"/>
              </a:lnSpc>
              <a:spcBef>
                <a:spcPts val="1805"/>
              </a:spcBef>
            </a:pPr>
            <a:r>
              <a:rPr sz="1200" dirty="0">
                <a:latin typeface="Times New Roman"/>
                <a:cs typeface="Times New Roman"/>
              </a:rPr>
              <a:t>Load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1884</Words>
  <Application>Microsoft Office PowerPoint</Application>
  <PresentationFormat>On-screen Show (4:3)</PresentationFormat>
  <Paragraphs>389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MT</vt:lpstr>
      <vt:lpstr>Calibri</vt:lpstr>
      <vt:lpstr>Corbel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Processor Organization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Instruction Format Example</vt:lpstr>
      <vt:lpstr>PowerPoint Presentation</vt:lpstr>
      <vt:lpstr>PowerPoint Presentation</vt:lpstr>
      <vt:lpstr>What is the effective address?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Zahraa.Ismail</cp:lastModifiedBy>
  <cp:revision>2</cp:revision>
  <dcterms:created xsi:type="dcterms:W3CDTF">2025-11-27T08:57:23Z</dcterms:created>
  <dcterms:modified xsi:type="dcterms:W3CDTF">2025-12-07T12:40:16Z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2025-11-27T00:00:00Z</vt:filetime>
  </property>
  <property fmtid="{D5CDD505-2E9C-101B-9397-08002B2CF9AE}" pid="5" name="Producer">
    <vt:lpwstr>Microsoft® PowerPoint® 2016</vt:lpwstr>
  </property>
</Properties>
</file>