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6858000" cy="9144000" type="screen4x3"/>
  <p:notesSz cx="6858000" cy="9144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91" d="100"/>
          <a:sy n="91" d="100"/>
        </p:scale>
        <p:origin x="2028" y="-60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469F63-5D94-4BD8-B42D-BA28EE8E4C51}" type="datetimeFigureOut">
              <a:rPr lang="en-US" smtClean="0"/>
              <a:t>3/10/2026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5E5560-A398-44B1-84ED-312914F41311}" type="slidenum">
              <a:rPr lang="en-US" smtClean="0"/>
              <a:t>‹#›</a:t>
            </a:fld>
            <a:endParaRPr lang="en-US"/>
          </a:p>
        </p:txBody>
      </p:sp>
    </p:spTree>
    <p:extLst>
      <p:ext uri="{BB962C8B-B14F-4D97-AF65-F5344CB8AC3E}">
        <p14:creationId xmlns:p14="http://schemas.microsoft.com/office/powerpoint/2010/main" val="1162895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b="1" dirty="0"/>
                  <a:t>Floating-Point Representation</a:t>
                </a:r>
              </a:p>
              <a:p>
                <a:r>
                  <a:rPr lang="en-US" dirty="0"/>
                  <a:t>In floating-point representation, numbers are expressed as:</a:t>
                </a:r>
              </a:p>
              <a:p>
                <a14:m>
                  <m:oMathPara xmlns:m="http://schemas.openxmlformats.org/officeDocument/2006/math">
                    <m:oMathParaPr>
                      <m:jc m:val="centerGroup"/>
                    </m:oMathParaPr>
                    <m:oMath xmlns:m="http://schemas.openxmlformats.org/officeDocument/2006/math">
                      <m:r>
                        <a:rPr lang="en-US" sz="1200" i="1" kern="1200">
                          <a:solidFill>
                            <a:schemeClr val="tx1"/>
                          </a:solidFill>
                          <a:latin typeface="+mn-lt"/>
                          <a:ea typeface="+mn-ea"/>
                          <a:cs typeface="+mn-cs"/>
                        </a:rPr>
                        <m:t>𝑋</m:t>
                      </m:r>
                      <m:r>
                        <a:rPr lang="en-US" sz="1200" i="0" kern="1200">
                          <a:solidFill>
                            <a:schemeClr val="tx1"/>
                          </a:solidFill>
                          <a:latin typeface="+mn-lt"/>
                          <a:ea typeface="+mn-ea"/>
                          <a:cs typeface="+mn-cs"/>
                        </a:rPr>
                        <m:t>=</m:t>
                      </m:r>
                      <m:r>
                        <a:rPr lang="en-US" sz="1200" i="1" kern="1200">
                          <a:solidFill>
                            <a:schemeClr val="tx1"/>
                          </a:solidFill>
                          <a:latin typeface="+mn-lt"/>
                          <a:ea typeface="+mn-ea"/>
                          <a:cs typeface="+mn-cs"/>
                        </a:rPr>
                        <m:t>𝐴</m:t>
                      </m:r>
                      <m:r>
                        <a:rPr lang="en-US"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1" kern="1200">
                              <a:solidFill>
                                <a:schemeClr val="tx1"/>
                              </a:solidFill>
                              <a:latin typeface="+mn-lt"/>
                              <a:ea typeface="+mn-ea"/>
                              <a:cs typeface="+mn-cs"/>
                            </a:rPr>
                            <m:t>𝑎</m:t>
                          </m:r>
                        </m:sup>
                      </m:sSup>
                      <m:r>
                        <a:rPr lang="ar-EG" sz="1200" i="0" kern="1200">
                          <a:solidFill>
                            <a:schemeClr val="tx1"/>
                          </a:solidFill>
                          <a:latin typeface="+mn-lt"/>
                          <a:ea typeface="+mn-ea"/>
                          <a:cs typeface="+mn-cs"/>
                        </a:rPr>
                        <m:t>, </m:t>
                      </m:r>
                      <m:r>
                        <a:rPr lang="ar-EG" sz="1200" i="1" kern="1200">
                          <a:solidFill>
                            <a:schemeClr val="tx1"/>
                          </a:solidFill>
                          <a:latin typeface="+mn-lt"/>
                          <a:ea typeface="+mn-ea"/>
                          <a:cs typeface="+mn-cs"/>
                        </a:rPr>
                        <m:t>𝑌</m:t>
                      </m:r>
                      <m:r>
                        <a:rPr lang="ar-EG" sz="1200" i="0" kern="1200">
                          <a:solidFill>
                            <a:schemeClr val="tx1"/>
                          </a:solidFill>
                          <a:latin typeface="+mn-lt"/>
                          <a:ea typeface="+mn-ea"/>
                          <a:cs typeface="+mn-cs"/>
                        </a:rPr>
                        <m:t>=</m:t>
                      </m:r>
                      <m:r>
                        <a:rPr lang="ar-EG" sz="1200" i="1" kern="1200">
                          <a:solidFill>
                            <a:schemeClr val="tx1"/>
                          </a:solidFill>
                          <a:latin typeface="+mn-lt"/>
                          <a:ea typeface="+mn-ea"/>
                          <a:cs typeface="+mn-cs"/>
                        </a:rPr>
                        <m:t>𝐵</m:t>
                      </m:r>
                      <m:r>
                        <a:rPr lang="ar-EG"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1" kern="1200">
                              <a:solidFill>
                                <a:schemeClr val="tx1"/>
                              </a:solidFill>
                              <a:latin typeface="+mn-lt"/>
                              <a:ea typeface="+mn-ea"/>
                              <a:cs typeface="+mn-cs"/>
                            </a:rPr>
                            <m:t>𝑏</m:t>
                          </m:r>
                        </m:sup>
                      </m:sSup>
                    </m:oMath>
                  </m:oMathPara>
                </a14:m>
                <a:endParaRPr lang="ar-EG" dirty="0"/>
              </a:p>
              <a:p>
                <a:r>
                  <a:rPr lang="en-US" dirty="0"/>
                  <a:t>where:</a:t>
                </a:r>
              </a:p>
              <a:p>
                <a14:m>
                  <m:oMath xmlns:m="http://schemas.openxmlformats.org/officeDocument/2006/math">
                    <m:r>
                      <a:rPr lang="en-US" sz="1200" i="1" kern="1200">
                        <a:solidFill>
                          <a:schemeClr val="tx1"/>
                        </a:solidFill>
                        <a:latin typeface="+mn-lt"/>
                        <a:ea typeface="+mn-ea"/>
                        <a:cs typeface="+mn-cs"/>
                      </a:rPr>
                      <m:t>𝐴</m:t>
                    </m:r>
                  </m:oMath>
                </a14:m>
                <a:r>
                  <a:rPr lang="en-US" dirty="0"/>
                  <a:t>and </a:t>
                </a:r>
                <a14:m>
                  <m:oMath xmlns:m="http://schemas.openxmlformats.org/officeDocument/2006/math">
                    <m:r>
                      <a:rPr lang="en-US" sz="1200" i="1" kern="1200">
                        <a:solidFill>
                          <a:schemeClr val="tx1"/>
                        </a:solidFill>
                        <a:latin typeface="+mn-lt"/>
                        <a:ea typeface="+mn-ea"/>
                        <a:cs typeface="+mn-cs"/>
                      </a:rPr>
                      <m:t>𝐵</m:t>
                    </m:r>
                  </m:oMath>
                </a14:m>
                <a:r>
                  <a:rPr lang="en-US" dirty="0"/>
                  <a:t>are the significands (or mantissas)</a:t>
                </a:r>
              </a:p>
              <a:p>
                <a14:m>
                  <m:oMath xmlns:m="http://schemas.openxmlformats.org/officeDocument/2006/math">
                    <m:r>
                      <a:rPr lang="en-US" sz="1200" i="1" kern="1200">
                        <a:solidFill>
                          <a:schemeClr val="tx1"/>
                        </a:solidFill>
                        <a:latin typeface="+mn-lt"/>
                        <a:ea typeface="+mn-ea"/>
                        <a:cs typeface="+mn-cs"/>
                      </a:rPr>
                      <m:t>𝑎</m:t>
                    </m:r>
                  </m:oMath>
                </a14:m>
                <a:r>
                  <a:rPr lang="en-US" dirty="0"/>
                  <a:t>and </a:t>
                </a:r>
                <a14:m>
                  <m:oMath xmlns:m="http://schemas.openxmlformats.org/officeDocument/2006/math">
                    <m:r>
                      <a:rPr lang="en-US" sz="1200" i="1" kern="1200">
                        <a:solidFill>
                          <a:schemeClr val="tx1"/>
                        </a:solidFill>
                        <a:latin typeface="+mn-lt"/>
                        <a:ea typeface="+mn-ea"/>
                        <a:cs typeface="+mn-cs"/>
                      </a:rPr>
                      <m:t>𝑏</m:t>
                    </m:r>
                  </m:oMath>
                </a14:m>
                <a:r>
                  <a:rPr lang="en-US" dirty="0"/>
                  <a:t>are the exponents</a:t>
                </a:r>
              </a:p>
              <a:p>
                <a:r>
                  <a:rPr lang="en-US" b="1" dirty="0"/>
                  <a:t>Example Values</a:t>
                </a:r>
              </a:p>
              <a:p>
                <a:r>
                  <a:rPr lang="en-US" dirty="0"/>
                  <a:t>Given:</a:t>
                </a:r>
              </a:p>
              <a:p>
                <a14:m>
                  <m:oMathPara xmlns:m="http://schemas.openxmlformats.org/officeDocument/2006/math">
                    <m:oMathParaPr>
                      <m:jc m:val="centerGroup"/>
                    </m:oMathParaPr>
                    <m:oMath xmlns:m="http://schemas.openxmlformats.org/officeDocument/2006/math">
                      <m:r>
                        <a:rPr lang="en-US" sz="1200" i="1" kern="1200">
                          <a:solidFill>
                            <a:schemeClr val="tx1"/>
                          </a:solidFill>
                          <a:latin typeface="+mn-lt"/>
                          <a:ea typeface="+mn-ea"/>
                          <a:cs typeface="+mn-cs"/>
                        </a:rPr>
                        <m:t>𝑋</m:t>
                      </m:r>
                      <m:r>
                        <a:rPr lang="en-US" sz="1200" i="0" kern="1200">
                          <a:solidFill>
                            <a:schemeClr val="tx1"/>
                          </a:solidFill>
                          <a:latin typeface="+mn-lt"/>
                          <a:ea typeface="+mn-ea"/>
                          <a:cs typeface="+mn-cs"/>
                        </a:rPr>
                        <m:t>=</m:t>
                      </m:r>
                      <m:r>
                        <a:rPr lang="en-US" sz="1200" i="0" kern="1200">
                          <a:solidFill>
                            <a:schemeClr val="tx1"/>
                          </a:solidFill>
                          <a:latin typeface="+mn-lt"/>
                          <a:ea typeface="+mn-ea"/>
                          <a:cs typeface="+mn-cs"/>
                        </a:rPr>
                        <m:t>100010</m:t>
                      </m:r>
                      <m:r>
                        <a:rPr lang="en-US"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101</m:t>
                          </m:r>
                        </m:sup>
                      </m:sSup>
                    </m:oMath>
                  </m:oMathPara>
                </a14:m>
                <a:endParaRPr lang="ar-EG" dirty="0"/>
              </a:p>
              <a:p>
                <a14:m>
                  <m:oMathPara xmlns:m="http://schemas.openxmlformats.org/officeDocument/2006/math">
                    <m:oMathParaPr>
                      <m:jc m:val="centerGroup"/>
                    </m:oMathParaPr>
                    <m:oMath xmlns:m="http://schemas.openxmlformats.org/officeDocument/2006/math">
                      <m:r>
                        <a:rPr lang="ar-EG" sz="1200" i="1" kern="1200">
                          <a:solidFill>
                            <a:schemeClr val="tx1"/>
                          </a:solidFill>
                          <a:latin typeface="+mn-lt"/>
                          <a:ea typeface="+mn-ea"/>
                          <a:cs typeface="+mn-cs"/>
                        </a:rPr>
                        <m:t>𝑌</m:t>
                      </m:r>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10100</m:t>
                      </m:r>
                      <m:r>
                        <a:rPr lang="ar-EG"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111</m:t>
                          </m:r>
                        </m:sup>
                      </m:sSup>
                    </m:oMath>
                  </m:oMathPara>
                </a14:m>
                <a:endParaRPr lang="ar-EG" dirty="0"/>
              </a:p>
              <a:p>
                <a:r>
                  <a:rPr lang="en-US" dirty="0"/>
                  <a:t>This can be interpreted as:</a:t>
                </a:r>
              </a:p>
              <a:p>
                <a14:m>
                  <m:oMathPara xmlns:m="http://schemas.openxmlformats.org/officeDocument/2006/math">
                    <m:oMathParaPr>
                      <m:jc m:val="centerGroup"/>
                    </m:oMathParaPr>
                    <m:oMath xmlns:m="http://schemas.openxmlformats.org/officeDocument/2006/math">
                      <m:r>
                        <a:rPr lang="en-US" sz="1200" i="1" kern="1200">
                          <a:solidFill>
                            <a:schemeClr val="tx1"/>
                          </a:solidFill>
                          <a:latin typeface="+mn-lt"/>
                          <a:ea typeface="+mn-ea"/>
                          <a:cs typeface="+mn-cs"/>
                        </a:rPr>
                        <m:t>𝑋</m:t>
                      </m:r>
                      <m:r>
                        <a:rPr lang="en-US" sz="1200" i="0" kern="1200">
                          <a:solidFill>
                            <a:schemeClr val="tx1"/>
                          </a:solidFill>
                          <a:latin typeface="+mn-lt"/>
                          <a:ea typeface="+mn-ea"/>
                          <a:cs typeface="+mn-cs"/>
                        </a:rPr>
                        <m:t>=</m:t>
                      </m:r>
                      <m:r>
                        <a:rPr lang="en-US" sz="1200" i="0" kern="1200">
                          <a:solidFill>
                            <a:schemeClr val="tx1"/>
                          </a:solidFill>
                          <a:latin typeface="+mn-lt"/>
                          <a:ea typeface="+mn-ea"/>
                          <a:cs typeface="+mn-cs"/>
                        </a:rPr>
                        <m:t>34</m:t>
                      </m:r>
                      <m:r>
                        <a:rPr lang="en-US"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5</m:t>
                          </m:r>
                        </m:sup>
                      </m:sSup>
                    </m:oMath>
                  </m:oMathPara>
                </a14:m>
                <a:endParaRPr lang="ar-EG" dirty="0"/>
              </a:p>
              <a:p>
                <a14:m>
                  <m:oMathPara xmlns:m="http://schemas.openxmlformats.org/officeDocument/2006/math">
                    <m:oMathParaPr>
                      <m:jc m:val="centerGroup"/>
                    </m:oMathParaPr>
                    <m:oMath xmlns:m="http://schemas.openxmlformats.org/officeDocument/2006/math">
                      <m:r>
                        <a:rPr lang="ar-EG" sz="1200" i="1" kern="1200">
                          <a:solidFill>
                            <a:schemeClr val="tx1"/>
                          </a:solidFill>
                          <a:latin typeface="+mn-lt"/>
                          <a:ea typeface="+mn-ea"/>
                          <a:cs typeface="+mn-cs"/>
                        </a:rPr>
                        <m:t>𝑌</m:t>
                      </m:r>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20</m:t>
                      </m:r>
                      <m:r>
                        <a:rPr lang="ar-EG"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7</m:t>
                          </m:r>
                        </m:sup>
                      </m:sSup>
                    </m:oMath>
                  </m:oMathPara>
                </a14:m>
                <a:endParaRPr lang="ar-EG" dirty="0"/>
              </a:p>
              <a:p>
                <a:r>
                  <a:rPr lang="en-US" b="1" dirty="0"/>
                  <a:t>Step-by-Step Pipeline for Addition</a:t>
                </a:r>
              </a:p>
              <a:p>
                <a:r>
                  <a:rPr lang="en-US" b="1" dirty="0"/>
                  <a:t>1. Normalize the Exponents</a:t>
                </a:r>
              </a:p>
              <a:p>
                <a:r>
                  <a:rPr lang="en-US" dirty="0"/>
                  <a:t>Before adding, the exponents must be aligned. The greater exponent will dictate the normalization process.</a:t>
                </a:r>
              </a:p>
              <a:p>
                <a:r>
                  <a:rPr lang="en-US" b="1" dirty="0"/>
                  <a:t>Current Exponents</a:t>
                </a:r>
                <a:r>
                  <a:rPr lang="en-US" dirty="0"/>
                  <a:t>: </a:t>
                </a:r>
              </a:p>
              <a:p>
                <a:pPr lvl="1"/>
                <a14:m>
                  <m:oMath xmlns:m="http://schemas.openxmlformats.org/officeDocument/2006/math">
                    <m:r>
                      <a:rPr lang="en-US" sz="1200" i="1" kern="1200">
                        <a:solidFill>
                          <a:schemeClr val="tx1"/>
                        </a:solidFill>
                        <a:latin typeface="+mn-lt"/>
                        <a:ea typeface="+mn-ea"/>
                        <a:cs typeface="+mn-cs"/>
                      </a:rPr>
                      <m:t>𝑎</m:t>
                    </m:r>
                    <m:r>
                      <a:rPr lang="en-US" sz="1200" i="0" kern="1200">
                        <a:solidFill>
                          <a:schemeClr val="tx1"/>
                        </a:solidFill>
                        <a:latin typeface="+mn-lt"/>
                        <a:ea typeface="+mn-ea"/>
                        <a:cs typeface="+mn-cs"/>
                      </a:rPr>
                      <m:t>=</m:t>
                    </m:r>
                    <m:r>
                      <a:rPr lang="en-US" sz="1200" i="0" kern="1200">
                        <a:solidFill>
                          <a:schemeClr val="tx1"/>
                        </a:solidFill>
                        <a:latin typeface="+mn-lt"/>
                        <a:ea typeface="+mn-ea"/>
                        <a:cs typeface="+mn-cs"/>
                      </a:rPr>
                      <m:t>101</m:t>
                    </m:r>
                  </m:oMath>
                </a14:m>
                <a:r>
                  <a:rPr lang="en-US" dirty="0"/>
                  <a:t>(5 in decimal)</a:t>
                </a:r>
              </a:p>
              <a:p>
                <a:pPr lvl="1"/>
                <a14:m>
                  <m:oMath xmlns:m="http://schemas.openxmlformats.org/officeDocument/2006/math">
                    <m:r>
                      <a:rPr lang="en-US" sz="1200" i="1" kern="1200">
                        <a:solidFill>
                          <a:schemeClr val="tx1"/>
                        </a:solidFill>
                        <a:latin typeface="+mn-lt"/>
                        <a:ea typeface="+mn-ea"/>
                        <a:cs typeface="+mn-cs"/>
                      </a:rPr>
                      <m:t>𝑏</m:t>
                    </m:r>
                    <m:r>
                      <a:rPr lang="en-US" sz="1200" i="0" kern="1200">
                        <a:solidFill>
                          <a:schemeClr val="tx1"/>
                        </a:solidFill>
                        <a:latin typeface="+mn-lt"/>
                        <a:ea typeface="+mn-ea"/>
                        <a:cs typeface="+mn-cs"/>
                      </a:rPr>
                      <m:t>=</m:t>
                    </m:r>
                    <m:r>
                      <a:rPr lang="en-US" sz="1200" i="0" kern="1200">
                        <a:solidFill>
                          <a:schemeClr val="tx1"/>
                        </a:solidFill>
                        <a:latin typeface="+mn-lt"/>
                        <a:ea typeface="+mn-ea"/>
                        <a:cs typeface="+mn-cs"/>
                      </a:rPr>
                      <m:t>111</m:t>
                    </m:r>
                  </m:oMath>
                </a14:m>
                <a:r>
                  <a:rPr lang="en-US" dirty="0"/>
                  <a:t>(7 in decimal)</a:t>
                </a:r>
              </a:p>
              <a:p>
                <a:r>
                  <a:rPr lang="en-US" dirty="0"/>
                  <a:t>Since </a:t>
                </a:r>
                <a14:m>
                  <m:oMath xmlns:m="http://schemas.openxmlformats.org/officeDocument/2006/math">
                    <m:r>
                      <a:rPr lang="en-US" sz="1200" i="1" kern="1200">
                        <a:solidFill>
                          <a:schemeClr val="tx1"/>
                        </a:solidFill>
                        <a:latin typeface="+mn-lt"/>
                        <a:ea typeface="+mn-ea"/>
                        <a:cs typeface="+mn-cs"/>
                      </a:rPr>
                      <m:t>𝑏</m:t>
                    </m:r>
                    <m:r>
                      <a:rPr lang="en-US" sz="1200" i="0" kern="1200">
                        <a:solidFill>
                          <a:schemeClr val="tx1"/>
                        </a:solidFill>
                        <a:latin typeface="+mn-lt"/>
                        <a:ea typeface="+mn-ea"/>
                        <a:cs typeface="+mn-cs"/>
                      </a:rPr>
                      <m:t>&gt;</m:t>
                    </m:r>
                    <m:r>
                      <a:rPr lang="en-US" sz="1200" i="1" kern="1200">
                        <a:solidFill>
                          <a:schemeClr val="tx1"/>
                        </a:solidFill>
                        <a:latin typeface="+mn-lt"/>
                        <a:ea typeface="+mn-ea"/>
                        <a:cs typeface="+mn-cs"/>
                      </a:rPr>
                      <m:t>𝑎</m:t>
                    </m:r>
                  </m:oMath>
                </a14:m>
                <a:r>
                  <a:rPr lang="en-US" dirty="0"/>
                  <a:t>, we need to shift </a:t>
                </a:r>
                <a14:m>
                  <m:oMath xmlns:m="http://schemas.openxmlformats.org/officeDocument/2006/math">
                    <m:r>
                      <a:rPr lang="en-US" sz="1200" i="1" kern="1200">
                        <a:solidFill>
                          <a:schemeClr val="tx1"/>
                        </a:solidFill>
                        <a:latin typeface="+mn-lt"/>
                        <a:ea typeface="+mn-ea"/>
                        <a:cs typeface="+mn-cs"/>
                      </a:rPr>
                      <m:t>𝐴</m:t>
                    </m:r>
                  </m:oMath>
                </a14:m>
                <a:r>
                  <a:rPr lang="en-US" dirty="0"/>
                  <a:t>to match the exponent of </a:t>
                </a:r>
                <a14:m>
                  <m:oMath xmlns:m="http://schemas.openxmlformats.org/officeDocument/2006/math">
                    <m:r>
                      <a:rPr lang="en-US" sz="1200" i="1" kern="1200">
                        <a:solidFill>
                          <a:schemeClr val="tx1"/>
                        </a:solidFill>
                        <a:latin typeface="+mn-lt"/>
                        <a:ea typeface="+mn-ea"/>
                        <a:cs typeface="+mn-cs"/>
                      </a:rPr>
                      <m:t>𝑌</m:t>
                    </m:r>
                  </m:oMath>
                </a14:m>
                <a:r>
                  <a:rPr lang="en-US" dirty="0"/>
                  <a:t>:</a:t>
                </a:r>
              </a:p>
              <a:p>
                <a14:m>
                  <m:oMathPara xmlns:m="http://schemas.openxmlformats.org/officeDocument/2006/math">
                    <m:oMathParaPr>
                      <m:jc m:val="centerGroup"/>
                    </m:oMathParaPr>
                    <m:oMath xmlns:m="http://schemas.openxmlformats.org/officeDocument/2006/math">
                      <m:r>
                        <a:rPr lang="en-US" sz="1200" i="1" kern="1200">
                          <a:solidFill>
                            <a:schemeClr val="tx1"/>
                          </a:solidFill>
                          <a:latin typeface="+mn-lt"/>
                          <a:ea typeface="+mn-ea"/>
                          <a:cs typeface="+mn-cs"/>
                        </a:rPr>
                        <m:t>𝐴</m:t>
                      </m:r>
                      <m:r>
                        <a:rPr lang="en-US" sz="1200" i="0" kern="1200">
                          <a:solidFill>
                            <a:schemeClr val="tx1"/>
                          </a:solidFill>
                          <a:latin typeface="+mn-lt"/>
                          <a:ea typeface="+mn-ea"/>
                          <a:cs typeface="+mn-cs"/>
                        </a:rPr>
                        <m:t>→</m:t>
                      </m:r>
                      <m:r>
                        <a:rPr lang="en-US" sz="1200" i="1" kern="1200">
                          <a:solidFill>
                            <a:schemeClr val="tx1"/>
                          </a:solidFill>
                          <a:latin typeface="+mn-lt"/>
                          <a:ea typeface="+mn-ea"/>
                          <a:cs typeface="+mn-cs"/>
                        </a:rPr>
                        <m:t>𝐴</m:t>
                      </m:r>
                      <m:r>
                        <a:rPr lang="en-US"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d>
                            <m:dPr>
                              <m:ctrlPr>
                                <a:rPr lang="ar-EG" sz="1200" i="1" kern="1200">
                                  <a:solidFill>
                                    <a:schemeClr val="tx1"/>
                                  </a:solidFill>
                                  <a:latin typeface="+mn-lt"/>
                                  <a:ea typeface="+mn-ea"/>
                                  <a:cs typeface="+mn-cs"/>
                                </a:rPr>
                              </m:ctrlPr>
                            </m:dPr>
                            <m:e>
                              <m:r>
                                <a:rPr lang="ar-EG" sz="1200" i="0" kern="1200">
                                  <a:solidFill>
                                    <a:schemeClr val="tx1"/>
                                  </a:solidFill>
                                  <a:latin typeface="+mn-lt"/>
                                  <a:ea typeface="+mn-ea"/>
                                  <a:cs typeface="+mn-cs"/>
                                </a:rPr>
                                <m:t>111</m:t>
                              </m:r>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101</m:t>
                              </m:r>
                            </m:e>
                          </m:d>
                        </m:sup>
                      </m:sSup>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100010</m:t>
                      </m:r>
                      <m:r>
                        <a:rPr lang="ar-EG"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101</m:t>
                          </m:r>
                        </m:sup>
                      </m:sSup>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100010</m:t>
                      </m:r>
                      <m:r>
                        <a:rPr lang="ar-EG"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101</m:t>
                          </m:r>
                        </m:sup>
                      </m:sSup>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100010</m:t>
                      </m:r>
                      <m:r>
                        <a:rPr lang="ar-EG"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110</m:t>
                          </m:r>
                        </m:sup>
                      </m:sSup>
                      <m:r>
                        <m:rPr>
                          <m:nor/>
                        </m:rPr>
                        <a:rPr lang="ar-EG" sz="1200" b="0" i="1" kern="1200">
                          <a:solidFill>
                            <a:schemeClr val="tx1"/>
                          </a:solidFill>
                          <a:latin typeface="+mn-lt"/>
                          <a:ea typeface="+mn-ea"/>
                          <a:cs typeface="+mn-cs"/>
                        </a:rPr>
                        <m:t> </m:t>
                      </m:r>
                      <m:r>
                        <m:rPr>
                          <m:nor/>
                        </m:rPr>
                        <a:rPr lang="ar-EG" sz="1200" b="0" i="1" kern="1200">
                          <a:solidFill>
                            <a:schemeClr val="tx1"/>
                          </a:solidFill>
                          <a:latin typeface="+mn-lt"/>
                          <a:ea typeface="+mn-ea"/>
                          <a:cs typeface="+mn-cs"/>
                        </a:rPr>
                        <m:t>(</m:t>
                      </m:r>
                      <m:r>
                        <m:rPr>
                          <m:nor/>
                        </m:rPr>
                        <a:rPr lang="en-US" sz="1200" b="0" i="1" kern="1200">
                          <a:solidFill>
                            <a:schemeClr val="tx1"/>
                          </a:solidFill>
                          <a:latin typeface="+mn-lt"/>
                          <a:ea typeface="+mn-ea"/>
                          <a:cs typeface="+mn-cs"/>
                        </a:rPr>
                        <m:t>Shift</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right</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by</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1</m:t>
                      </m:r>
                      <m:r>
                        <m:rPr>
                          <m:nor/>
                        </m:rPr>
                        <a:rPr lang="en-US" sz="1200" b="0" i="1" kern="1200">
                          <a:solidFill>
                            <a:schemeClr val="tx1"/>
                          </a:solidFill>
                          <a:latin typeface="+mn-lt"/>
                          <a:ea typeface="+mn-ea"/>
                          <a:cs typeface="+mn-cs"/>
                        </a:rPr>
                        <m:t>)</m:t>
                      </m:r>
                    </m:oMath>
                  </m:oMathPara>
                </a14:m>
                <a:endParaRPr lang="en-US" b="0" dirty="0"/>
              </a:p>
              <a:p>
                <a:r>
                  <a:rPr lang="en-US" dirty="0"/>
                  <a:t>Now we have:</a:t>
                </a:r>
              </a:p>
              <a:p>
                <a14:m>
                  <m:oMathPara xmlns:m="http://schemas.openxmlformats.org/officeDocument/2006/math">
                    <m:oMathParaPr>
                      <m:jc m:val="centerGroup"/>
                    </m:oMathParaPr>
                    <m:oMath xmlns:m="http://schemas.openxmlformats.org/officeDocument/2006/math">
                      <m:r>
                        <a:rPr lang="en-US" sz="1200" i="1" kern="1200">
                          <a:solidFill>
                            <a:schemeClr val="tx1"/>
                          </a:solidFill>
                          <a:latin typeface="+mn-lt"/>
                          <a:ea typeface="+mn-ea"/>
                          <a:cs typeface="+mn-cs"/>
                        </a:rPr>
                        <m:t>𝑋</m:t>
                      </m:r>
                      <m:r>
                        <a:rPr lang="en-US" sz="1200" i="0" kern="1200">
                          <a:solidFill>
                            <a:schemeClr val="tx1"/>
                          </a:solidFill>
                          <a:latin typeface="+mn-lt"/>
                          <a:ea typeface="+mn-ea"/>
                          <a:cs typeface="+mn-cs"/>
                        </a:rPr>
                        <m:t>=</m:t>
                      </m:r>
                      <m:r>
                        <a:rPr lang="en-US" sz="1200" i="0" kern="1200">
                          <a:solidFill>
                            <a:schemeClr val="tx1"/>
                          </a:solidFill>
                          <a:latin typeface="+mn-lt"/>
                          <a:ea typeface="+mn-ea"/>
                          <a:cs typeface="+mn-cs"/>
                        </a:rPr>
                        <m:t>100010</m:t>
                      </m:r>
                      <m:r>
                        <a:rPr lang="en-US"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110</m:t>
                          </m:r>
                        </m:sup>
                      </m:sSup>
                    </m:oMath>
                  </m:oMathPara>
                </a14:m>
                <a:endParaRPr lang="ar-EG" dirty="0"/>
              </a:p>
              <a:p>
                <a14:m>
                  <m:oMathPara xmlns:m="http://schemas.openxmlformats.org/officeDocument/2006/math">
                    <m:oMathParaPr>
                      <m:jc m:val="centerGroup"/>
                    </m:oMathParaPr>
                    <m:oMath xmlns:m="http://schemas.openxmlformats.org/officeDocument/2006/math">
                      <m:r>
                        <a:rPr lang="ar-EG" sz="1200" i="1" kern="1200">
                          <a:solidFill>
                            <a:schemeClr val="tx1"/>
                          </a:solidFill>
                          <a:latin typeface="+mn-lt"/>
                          <a:ea typeface="+mn-ea"/>
                          <a:cs typeface="+mn-cs"/>
                        </a:rPr>
                        <m:t>𝑌</m:t>
                      </m:r>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10100</m:t>
                      </m:r>
                      <m:r>
                        <a:rPr lang="ar-EG"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111</m:t>
                          </m:r>
                        </m:sup>
                      </m:sSup>
                    </m:oMath>
                  </m:oMathPara>
                </a14:m>
                <a:endParaRPr lang="ar-EG" dirty="0"/>
              </a:p>
              <a:p>
                <a:r>
                  <a:rPr lang="ar-EG" b="1" dirty="0"/>
                  <a:t>2. </a:t>
                </a:r>
                <a:r>
                  <a:rPr lang="en-US" b="1" dirty="0"/>
                  <a:t>Adjust the Representation</a:t>
                </a:r>
              </a:p>
              <a:p>
                <a:r>
                  <a:rPr lang="en-US" dirty="0"/>
                  <a:t>Now the two numbers can be represented as:</a:t>
                </a:r>
              </a:p>
              <a:p>
                <a14:m>
                  <m:oMathPara xmlns:m="http://schemas.openxmlformats.org/officeDocument/2006/math">
                    <m:oMathParaPr>
                      <m:jc m:val="centerGroup"/>
                    </m:oMathParaPr>
                    <m:oMath xmlns:m="http://schemas.openxmlformats.org/officeDocument/2006/math">
                      <m:r>
                        <a:rPr lang="en-US" sz="1200" i="1" kern="1200">
                          <a:solidFill>
                            <a:schemeClr val="tx1"/>
                          </a:solidFill>
                          <a:latin typeface="+mn-lt"/>
                          <a:ea typeface="+mn-ea"/>
                          <a:cs typeface="+mn-cs"/>
                        </a:rPr>
                        <m:t>𝑋</m:t>
                      </m:r>
                      <m:r>
                        <a:rPr lang="en-US" sz="1200" i="0" kern="1200">
                          <a:solidFill>
                            <a:schemeClr val="tx1"/>
                          </a:solidFill>
                          <a:latin typeface="+mn-lt"/>
                          <a:ea typeface="+mn-ea"/>
                          <a:cs typeface="+mn-cs"/>
                        </a:rPr>
                        <m:t>=</m:t>
                      </m:r>
                      <m:r>
                        <a:rPr lang="en-US" sz="1200" i="0" kern="1200">
                          <a:solidFill>
                            <a:schemeClr val="tx1"/>
                          </a:solidFill>
                          <a:latin typeface="+mn-lt"/>
                          <a:ea typeface="+mn-ea"/>
                          <a:cs typeface="+mn-cs"/>
                        </a:rPr>
                        <m:t>100010</m:t>
                      </m:r>
                      <m:r>
                        <a:rPr lang="en-US"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110</m:t>
                          </m:r>
                        </m:sup>
                      </m:sSup>
                    </m:oMath>
                  </m:oMathPara>
                </a14:m>
                <a:endParaRPr lang="ar-EG" dirty="0"/>
              </a:p>
              <a:p>
                <a14:m>
                  <m:oMathPara xmlns:m="http://schemas.openxmlformats.org/officeDocument/2006/math">
                    <m:oMathParaPr>
                      <m:jc m:val="centerGroup"/>
                    </m:oMathParaPr>
                    <m:oMath xmlns:m="http://schemas.openxmlformats.org/officeDocument/2006/math">
                      <m:r>
                        <a:rPr lang="ar-EG" sz="1200" i="1" kern="1200">
                          <a:solidFill>
                            <a:schemeClr val="tx1"/>
                          </a:solidFill>
                          <a:latin typeface="+mn-lt"/>
                          <a:ea typeface="+mn-ea"/>
                          <a:cs typeface="+mn-cs"/>
                        </a:rPr>
                        <m:t>𝑌</m:t>
                      </m:r>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10100</m:t>
                      </m:r>
                      <m:r>
                        <a:rPr lang="ar-EG"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111</m:t>
                          </m:r>
                        </m:sup>
                      </m:sSup>
                    </m:oMath>
                  </m:oMathPara>
                </a14:m>
                <a:endParaRPr lang="ar-EG" dirty="0"/>
              </a:p>
              <a:p>
                <a:r>
                  <a:rPr lang="en-US" dirty="0"/>
                  <a:t>Align the significands so they are on the same exponent:</a:t>
                </a:r>
              </a:p>
              <a:p>
                <a:r>
                  <a:rPr lang="en-US" dirty="0"/>
                  <a:t>Convert </a:t>
                </a:r>
                <a14:m>
                  <m:oMath xmlns:m="http://schemas.openxmlformats.org/officeDocument/2006/math">
                    <m:r>
                      <a:rPr lang="en-US" sz="1200" i="1" kern="1200">
                        <a:solidFill>
                          <a:schemeClr val="tx1"/>
                        </a:solidFill>
                        <a:latin typeface="+mn-lt"/>
                        <a:ea typeface="+mn-ea"/>
                        <a:cs typeface="+mn-cs"/>
                      </a:rPr>
                      <m:t>𝑌</m:t>
                    </m:r>
                  </m:oMath>
                </a14:m>
                <a:r>
                  <a:rPr lang="en-US" dirty="0"/>
                  <a:t>to the same exponent as </a:t>
                </a:r>
                <a14:m>
                  <m:oMath xmlns:m="http://schemas.openxmlformats.org/officeDocument/2006/math">
                    <m:r>
                      <a:rPr lang="en-US" sz="1200" i="1" kern="1200">
                        <a:solidFill>
                          <a:schemeClr val="tx1"/>
                        </a:solidFill>
                        <a:latin typeface="+mn-lt"/>
                        <a:ea typeface="+mn-ea"/>
                        <a:cs typeface="+mn-cs"/>
                      </a:rPr>
                      <m:t>𝑋</m:t>
                    </m:r>
                  </m:oMath>
                </a14:m>
                <a:r>
                  <a:rPr lang="en-US" dirty="0"/>
                  <a:t>:</a:t>
                </a:r>
              </a:p>
              <a:p>
                <a14:m>
                  <m:oMathPara xmlns:m="http://schemas.openxmlformats.org/officeDocument/2006/math">
                    <m:oMathParaPr>
                      <m:jc m:val="centerGroup"/>
                    </m:oMathParaPr>
                    <m:oMath xmlns:m="http://schemas.openxmlformats.org/officeDocument/2006/math">
                      <m:r>
                        <a:rPr lang="en-US" sz="1200" i="1" kern="1200">
                          <a:solidFill>
                            <a:schemeClr val="tx1"/>
                          </a:solidFill>
                          <a:latin typeface="+mn-lt"/>
                          <a:ea typeface="+mn-ea"/>
                          <a:cs typeface="+mn-cs"/>
                        </a:rPr>
                        <m:t>𝑌</m:t>
                      </m:r>
                      <m:r>
                        <a:rPr lang="en-US" sz="1200" i="0" kern="1200">
                          <a:solidFill>
                            <a:schemeClr val="tx1"/>
                          </a:solidFill>
                          <a:latin typeface="+mn-lt"/>
                          <a:ea typeface="+mn-ea"/>
                          <a:cs typeface="+mn-cs"/>
                        </a:rPr>
                        <m:t>→</m:t>
                      </m:r>
                      <m:r>
                        <a:rPr lang="en-US" sz="1200" i="1" kern="1200">
                          <a:solidFill>
                            <a:schemeClr val="tx1"/>
                          </a:solidFill>
                          <a:latin typeface="+mn-lt"/>
                          <a:ea typeface="+mn-ea"/>
                          <a:cs typeface="+mn-cs"/>
                        </a:rPr>
                        <m:t>𝑌</m:t>
                      </m:r>
                      <m:r>
                        <a:rPr lang="en-US"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m:t>
                          </m:r>
                        </m:sup>
                      </m:sSup>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10100</m:t>
                      </m:r>
                      <m:r>
                        <a:rPr lang="ar-EG"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111</m:t>
                          </m:r>
                        </m:sup>
                      </m:sSup>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10100</m:t>
                      </m:r>
                      <m:r>
                        <a:rPr lang="ar-EG"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110</m:t>
                          </m:r>
                        </m:sup>
                      </m:sSup>
                    </m:oMath>
                  </m:oMathPara>
                </a14:m>
                <a:endParaRPr lang="ar-EG" dirty="0"/>
              </a:p>
              <a:p>
                <a:r>
                  <a:rPr lang="en-US" dirty="0"/>
                  <a:t>Now:</a:t>
                </a:r>
              </a:p>
              <a:p>
                <a14:m>
                  <m:oMathPara xmlns:m="http://schemas.openxmlformats.org/officeDocument/2006/math">
                    <m:oMathParaPr>
                      <m:jc m:val="centerGroup"/>
                    </m:oMathParaPr>
                    <m:oMath xmlns:m="http://schemas.openxmlformats.org/officeDocument/2006/math">
                      <m:r>
                        <a:rPr lang="en-US" sz="1200" i="1" kern="1200">
                          <a:solidFill>
                            <a:schemeClr val="tx1"/>
                          </a:solidFill>
                          <a:latin typeface="+mn-lt"/>
                          <a:ea typeface="+mn-ea"/>
                          <a:cs typeface="+mn-cs"/>
                        </a:rPr>
                        <m:t>𝑋</m:t>
                      </m:r>
                      <m:r>
                        <a:rPr lang="en-US" sz="1200" i="0" kern="1200">
                          <a:solidFill>
                            <a:schemeClr val="tx1"/>
                          </a:solidFill>
                          <a:latin typeface="+mn-lt"/>
                          <a:ea typeface="+mn-ea"/>
                          <a:cs typeface="+mn-cs"/>
                        </a:rPr>
                        <m:t>=</m:t>
                      </m:r>
                      <m:r>
                        <a:rPr lang="en-US" sz="1200" i="0" kern="1200">
                          <a:solidFill>
                            <a:schemeClr val="tx1"/>
                          </a:solidFill>
                          <a:latin typeface="+mn-lt"/>
                          <a:ea typeface="+mn-ea"/>
                          <a:cs typeface="+mn-cs"/>
                        </a:rPr>
                        <m:t>100010</m:t>
                      </m:r>
                      <m:r>
                        <a:rPr lang="en-US"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110</m:t>
                          </m:r>
                        </m:sup>
                      </m:sSup>
                    </m:oMath>
                  </m:oMathPara>
                </a14:m>
                <a:endParaRPr lang="ar-EG" dirty="0"/>
              </a:p>
              <a:p>
                <a14:m>
                  <m:oMathPara xmlns:m="http://schemas.openxmlformats.org/officeDocument/2006/math">
                    <m:oMathParaPr>
                      <m:jc m:val="centerGroup"/>
                    </m:oMathParaPr>
                    <m:oMath xmlns:m="http://schemas.openxmlformats.org/officeDocument/2006/math">
                      <m:r>
                        <a:rPr lang="ar-EG" sz="1200" i="1" kern="1200">
                          <a:solidFill>
                            <a:schemeClr val="tx1"/>
                          </a:solidFill>
                          <a:latin typeface="+mn-lt"/>
                          <a:ea typeface="+mn-ea"/>
                          <a:cs typeface="+mn-cs"/>
                        </a:rPr>
                        <m:t>𝑌</m:t>
                      </m:r>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10100</m:t>
                      </m:r>
                      <m:r>
                        <a:rPr lang="ar-EG"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110</m:t>
                          </m:r>
                        </m:sup>
                      </m:sSup>
                    </m:oMath>
                  </m:oMathPara>
                </a14:m>
                <a:endParaRPr lang="ar-EG" dirty="0"/>
              </a:p>
              <a:p>
                <a:r>
                  <a:rPr lang="ar-EG" b="1" dirty="0"/>
                  <a:t>3. </a:t>
                </a:r>
                <a:r>
                  <a:rPr lang="en-US" b="1" dirty="0"/>
                  <a:t>Add the Significands</a:t>
                </a:r>
              </a:p>
              <a:p>
                <a:r>
                  <a:rPr lang="en-US" dirty="0"/>
                  <a:t>Now that the exponents are aligned:</a:t>
                </a:r>
              </a:p>
              <a:p>
                <a14:m>
                  <m:oMathPara xmlns:m="http://schemas.openxmlformats.org/officeDocument/2006/math">
                    <m:oMathParaPr>
                      <m:jc m:val="centerGroup"/>
                    </m:oMathParaPr>
                    <m:oMath xmlns:m="http://schemas.openxmlformats.org/officeDocument/2006/math">
                      <m:r>
                        <a:rPr lang="en-US" sz="1200" i="1" kern="1200">
                          <a:solidFill>
                            <a:schemeClr val="tx1"/>
                          </a:solidFill>
                          <a:latin typeface="+mn-lt"/>
                          <a:ea typeface="+mn-ea"/>
                          <a:cs typeface="+mn-cs"/>
                        </a:rPr>
                        <m:t>𝑋</m:t>
                      </m:r>
                      <m:r>
                        <a:rPr lang="en-US" sz="1200" i="0" kern="1200">
                          <a:solidFill>
                            <a:schemeClr val="tx1"/>
                          </a:solidFill>
                          <a:latin typeface="+mn-lt"/>
                          <a:ea typeface="+mn-ea"/>
                          <a:cs typeface="+mn-cs"/>
                        </a:rPr>
                        <m:t>+</m:t>
                      </m:r>
                      <m:r>
                        <a:rPr lang="en-US" sz="1200" i="1" kern="1200">
                          <a:solidFill>
                            <a:schemeClr val="tx1"/>
                          </a:solidFill>
                          <a:latin typeface="+mn-lt"/>
                          <a:ea typeface="+mn-ea"/>
                          <a:cs typeface="+mn-cs"/>
                        </a:rPr>
                        <m:t>𝑌</m:t>
                      </m:r>
                      <m:r>
                        <a:rPr lang="en-US" sz="1200" i="0" kern="1200">
                          <a:solidFill>
                            <a:schemeClr val="tx1"/>
                          </a:solidFill>
                          <a:latin typeface="+mn-lt"/>
                          <a:ea typeface="+mn-ea"/>
                          <a:cs typeface="+mn-cs"/>
                        </a:rPr>
                        <m:t>=</m:t>
                      </m:r>
                      <m:d>
                        <m:dPr>
                          <m:ctrlPr>
                            <a:rPr lang="ar-EG" sz="1200" i="1" kern="1200">
                              <a:solidFill>
                                <a:schemeClr val="tx1"/>
                              </a:solidFill>
                              <a:latin typeface="+mn-lt"/>
                              <a:ea typeface="+mn-ea"/>
                              <a:cs typeface="+mn-cs"/>
                            </a:rPr>
                          </m:ctrlPr>
                        </m:dPr>
                        <m:e>
                          <m:r>
                            <a:rPr lang="ar-EG" sz="1200" i="0" kern="1200">
                              <a:solidFill>
                                <a:schemeClr val="tx1"/>
                              </a:solidFill>
                              <a:latin typeface="+mn-lt"/>
                              <a:ea typeface="+mn-ea"/>
                              <a:cs typeface="+mn-cs"/>
                            </a:rPr>
                            <m:t>100010</m:t>
                          </m:r>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10100</m:t>
                          </m:r>
                        </m:e>
                      </m:d>
                      <m:r>
                        <a:rPr lang="ar-EG"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110</m:t>
                          </m:r>
                        </m:sup>
                      </m:sSup>
                    </m:oMath>
                  </m:oMathPara>
                </a14:m>
                <a:endParaRPr lang="ar-EG" dirty="0"/>
              </a:p>
              <a:p>
                <a:r>
                  <a:rPr lang="en-US" dirty="0"/>
                  <a:t>Performing the addition between </a:t>
                </a:r>
                <a14:m>
                  <m:oMath xmlns:m="http://schemas.openxmlformats.org/officeDocument/2006/math">
                    <m:r>
                      <a:rPr lang="en-US" sz="1200" i="1" kern="1200">
                        <a:solidFill>
                          <a:schemeClr val="tx1"/>
                        </a:solidFill>
                        <a:latin typeface="+mn-lt"/>
                        <a:ea typeface="+mn-ea"/>
                        <a:cs typeface="+mn-cs"/>
                      </a:rPr>
                      <m:t>𝐴</m:t>
                    </m:r>
                  </m:oMath>
                </a14:m>
                <a:r>
                  <a:rPr lang="en-US" dirty="0"/>
                  <a:t>and </a:t>
                </a:r>
                <a14:m>
                  <m:oMath xmlns:m="http://schemas.openxmlformats.org/officeDocument/2006/math">
                    <m:r>
                      <a:rPr lang="en-US" sz="1200" i="1" kern="1200">
                        <a:solidFill>
                          <a:schemeClr val="tx1"/>
                        </a:solidFill>
                        <a:latin typeface="+mn-lt"/>
                        <a:ea typeface="+mn-ea"/>
                        <a:cs typeface="+mn-cs"/>
                      </a:rPr>
                      <m:t>𝐵</m:t>
                    </m:r>
                  </m:oMath>
                </a14:m>
                <a:r>
                  <a:rPr lang="en-US" dirty="0"/>
                  <a:t>:</a:t>
                </a:r>
              </a:p>
              <a:p>
                <a14:m>
                  <m:oMathPara xmlns:m="http://schemas.openxmlformats.org/officeDocument/2006/math">
                    <m:oMathParaPr>
                      <m:jc m:val="centerGroup"/>
                    </m:oMathParaPr>
                    <m:oMath xmlns:m="http://schemas.openxmlformats.org/officeDocument/2006/math">
                      <m:r>
                        <a:rPr lang="en-US" sz="1200" kern="1200">
                          <a:solidFill>
                            <a:schemeClr val="tx1"/>
                          </a:solidFill>
                          <a:latin typeface="+mn-lt"/>
                          <a:ea typeface="+mn-ea"/>
                          <a:cs typeface="+mn-cs"/>
                        </a:rPr>
                        <m:t>100010</m:t>
                      </m:r>
                      <m:r>
                        <a:rPr lang="en-US" sz="1200" i="0" kern="1200">
                          <a:solidFill>
                            <a:schemeClr val="tx1"/>
                          </a:solidFill>
                          <a:latin typeface="+mn-lt"/>
                          <a:ea typeface="+mn-ea"/>
                          <a:cs typeface="+mn-cs"/>
                        </a:rPr>
                        <m:t>+</m:t>
                      </m:r>
                      <m:r>
                        <a:rPr lang="en-US" sz="1200" i="0" kern="1200">
                          <a:solidFill>
                            <a:schemeClr val="tx1"/>
                          </a:solidFill>
                          <a:latin typeface="+mn-lt"/>
                          <a:ea typeface="+mn-ea"/>
                          <a:cs typeface="+mn-cs"/>
                        </a:rPr>
                        <m:t>10100</m:t>
                      </m:r>
                      <m:r>
                        <a:rPr lang="en-US" sz="1200" i="0" kern="1200">
                          <a:solidFill>
                            <a:schemeClr val="tx1"/>
                          </a:solidFill>
                          <a:latin typeface="+mn-lt"/>
                          <a:ea typeface="+mn-ea"/>
                          <a:cs typeface="+mn-cs"/>
                        </a:rPr>
                        <m:t>=</m:t>
                      </m:r>
                      <m:r>
                        <a:rPr lang="en-US" sz="1200" i="0" kern="1200">
                          <a:solidFill>
                            <a:schemeClr val="tx1"/>
                          </a:solidFill>
                          <a:latin typeface="+mn-lt"/>
                          <a:ea typeface="+mn-ea"/>
                          <a:cs typeface="+mn-cs"/>
                        </a:rPr>
                        <m:t>111110</m:t>
                      </m:r>
                    </m:oMath>
                  </m:oMathPara>
                </a14:m>
                <a:endParaRPr lang="en-US" dirty="0"/>
              </a:p>
              <a:p>
                <a:r>
                  <a:rPr lang="en-US" dirty="0"/>
                  <a:t>So,</a:t>
                </a:r>
              </a:p>
              <a:p>
                <a14:m>
                  <m:oMathPara xmlns:m="http://schemas.openxmlformats.org/officeDocument/2006/math">
                    <m:oMathParaPr>
                      <m:jc m:val="centerGroup"/>
                    </m:oMathParaPr>
                    <m:oMath xmlns:m="http://schemas.openxmlformats.org/officeDocument/2006/math">
                      <m:r>
                        <a:rPr lang="en-US" sz="1200" i="1" kern="1200">
                          <a:solidFill>
                            <a:schemeClr val="tx1"/>
                          </a:solidFill>
                          <a:latin typeface="+mn-lt"/>
                          <a:ea typeface="+mn-ea"/>
                          <a:cs typeface="+mn-cs"/>
                        </a:rPr>
                        <m:t>𝑋</m:t>
                      </m:r>
                      <m:r>
                        <a:rPr lang="en-US" sz="1200" i="0" kern="1200">
                          <a:solidFill>
                            <a:schemeClr val="tx1"/>
                          </a:solidFill>
                          <a:latin typeface="+mn-lt"/>
                          <a:ea typeface="+mn-ea"/>
                          <a:cs typeface="+mn-cs"/>
                        </a:rPr>
                        <m:t>+</m:t>
                      </m:r>
                      <m:r>
                        <a:rPr lang="en-US" sz="1200" i="1" kern="1200">
                          <a:solidFill>
                            <a:schemeClr val="tx1"/>
                          </a:solidFill>
                          <a:latin typeface="+mn-lt"/>
                          <a:ea typeface="+mn-ea"/>
                          <a:cs typeface="+mn-cs"/>
                        </a:rPr>
                        <m:t>𝑌</m:t>
                      </m:r>
                      <m:r>
                        <a:rPr lang="en-US" sz="1200" i="0" kern="1200">
                          <a:solidFill>
                            <a:schemeClr val="tx1"/>
                          </a:solidFill>
                          <a:latin typeface="+mn-lt"/>
                          <a:ea typeface="+mn-ea"/>
                          <a:cs typeface="+mn-cs"/>
                        </a:rPr>
                        <m:t>=</m:t>
                      </m:r>
                      <m:r>
                        <a:rPr lang="en-US" sz="1200" i="0" kern="1200">
                          <a:solidFill>
                            <a:schemeClr val="tx1"/>
                          </a:solidFill>
                          <a:latin typeface="+mn-lt"/>
                          <a:ea typeface="+mn-ea"/>
                          <a:cs typeface="+mn-cs"/>
                        </a:rPr>
                        <m:t>111110</m:t>
                      </m:r>
                      <m:r>
                        <a:rPr lang="en-US"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110</m:t>
                          </m:r>
                        </m:sup>
                      </m:sSup>
                    </m:oMath>
                  </m:oMathPara>
                </a14:m>
                <a:endParaRPr lang="ar-EG" dirty="0"/>
              </a:p>
              <a:p>
                <a:r>
                  <a:rPr lang="en-US" b="1" dirty="0"/>
                  <a:t>Summary of Results</a:t>
                </a:r>
              </a:p>
              <a:p>
                <a:r>
                  <a:rPr lang="en-US" b="1" dirty="0"/>
                  <a:t>Intermediate Step</a:t>
                </a:r>
                <a:r>
                  <a:rPr lang="en-US" dirty="0"/>
                  <a:t>:</a:t>
                </a:r>
              </a:p>
              <a:p>
                <a:pPr lvl="1"/>
                <a:r>
                  <a:rPr lang="en-US" dirty="0"/>
                  <a:t>Align </a:t>
                </a:r>
                <a14:m>
                  <m:oMath xmlns:m="http://schemas.openxmlformats.org/officeDocument/2006/math">
                    <m:r>
                      <a:rPr lang="en-US" sz="1200" i="1" kern="1200">
                        <a:solidFill>
                          <a:schemeClr val="tx1"/>
                        </a:solidFill>
                        <a:latin typeface="+mn-lt"/>
                        <a:ea typeface="+mn-ea"/>
                        <a:cs typeface="+mn-cs"/>
                      </a:rPr>
                      <m:t>𝑌</m:t>
                    </m:r>
                  </m:oMath>
                </a14:m>
                <a:r>
                  <a:rPr lang="en-US" dirty="0"/>
                  <a:t>to </a:t>
                </a:r>
                <a14:m>
                  <m:oMath xmlns:m="http://schemas.openxmlformats.org/officeDocument/2006/math">
                    <m:r>
                      <a:rPr lang="en-US" sz="1200" i="1" kern="1200">
                        <a:solidFill>
                          <a:schemeClr val="tx1"/>
                        </a:solidFill>
                        <a:latin typeface="+mn-lt"/>
                        <a:ea typeface="+mn-ea"/>
                        <a:cs typeface="+mn-cs"/>
                      </a:rPr>
                      <m:t>𝑋</m:t>
                    </m:r>
                  </m:oMath>
                </a14:m>
                <a:r>
                  <a:rPr lang="en-US" dirty="0"/>
                  <a:t>:</a:t>
                </a:r>
              </a:p>
              <a:p>
                <a:pPr lvl="1"/>
                <a14:m>
                  <m:oMathPara xmlns:m="http://schemas.openxmlformats.org/officeDocument/2006/math">
                    <m:oMathParaPr>
                      <m:jc m:val="centerGroup"/>
                    </m:oMathParaPr>
                    <m:oMath xmlns:m="http://schemas.openxmlformats.org/officeDocument/2006/math">
                      <m:r>
                        <a:rPr lang="en-US" sz="1200" i="1" kern="1200">
                          <a:solidFill>
                            <a:schemeClr val="tx1"/>
                          </a:solidFill>
                          <a:latin typeface="+mn-lt"/>
                          <a:ea typeface="+mn-ea"/>
                          <a:cs typeface="+mn-cs"/>
                        </a:rPr>
                        <m:t>𝑋</m:t>
                      </m:r>
                      <m:r>
                        <a:rPr lang="en-US" sz="1200" i="0" kern="1200">
                          <a:solidFill>
                            <a:schemeClr val="tx1"/>
                          </a:solidFill>
                          <a:latin typeface="+mn-lt"/>
                          <a:ea typeface="+mn-ea"/>
                          <a:cs typeface="+mn-cs"/>
                        </a:rPr>
                        <m:t>=</m:t>
                      </m:r>
                      <m:r>
                        <a:rPr lang="en-US" sz="1200" i="0" kern="1200">
                          <a:solidFill>
                            <a:schemeClr val="tx1"/>
                          </a:solidFill>
                          <a:latin typeface="+mn-lt"/>
                          <a:ea typeface="+mn-ea"/>
                          <a:cs typeface="+mn-cs"/>
                        </a:rPr>
                        <m:t>100010</m:t>
                      </m:r>
                      <m:r>
                        <a:rPr lang="en-US"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110</m:t>
                          </m:r>
                        </m:sup>
                      </m:sSup>
                    </m:oMath>
                  </m:oMathPara>
                </a14:m>
                <a:endParaRPr lang="ar-EG" dirty="0"/>
              </a:p>
              <a:p>
                <a:pPr lvl="1"/>
                <a14:m>
                  <m:oMathPara xmlns:m="http://schemas.openxmlformats.org/officeDocument/2006/math">
                    <m:oMathParaPr>
                      <m:jc m:val="centerGroup"/>
                    </m:oMathParaPr>
                    <m:oMath xmlns:m="http://schemas.openxmlformats.org/officeDocument/2006/math">
                      <m:r>
                        <a:rPr lang="ar-EG" sz="1200" i="1" kern="1200">
                          <a:solidFill>
                            <a:schemeClr val="tx1"/>
                          </a:solidFill>
                          <a:latin typeface="+mn-lt"/>
                          <a:ea typeface="+mn-ea"/>
                          <a:cs typeface="+mn-cs"/>
                        </a:rPr>
                        <m:t>𝑌</m:t>
                      </m:r>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10100</m:t>
                      </m:r>
                      <m:r>
                        <a:rPr lang="ar-EG"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110</m:t>
                          </m:r>
                        </m:sup>
                      </m:sSup>
                    </m:oMath>
                  </m:oMathPara>
                </a14:m>
                <a:endParaRPr lang="ar-EG" dirty="0"/>
              </a:p>
              <a:p>
                <a:r>
                  <a:rPr lang="en-US" b="1" dirty="0"/>
                  <a:t>Final Step</a:t>
                </a:r>
                <a:r>
                  <a:rPr lang="en-US" dirty="0"/>
                  <a:t>:</a:t>
                </a:r>
              </a:p>
              <a:p>
                <a:pPr lvl="1"/>
                <a:r>
                  <a:rPr lang="en-US" dirty="0"/>
                  <a:t>After addition:</a:t>
                </a:r>
              </a:p>
              <a:p>
                <a14:m>
                  <m:oMathPara xmlns:m="http://schemas.openxmlformats.org/officeDocument/2006/math">
                    <m:oMathParaPr>
                      <m:jc m:val="centerGroup"/>
                    </m:oMathParaPr>
                    <m:oMath xmlns:m="http://schemas.openxmlformats.org/officeDocument/2006/math">
                      <m:r>
                        <a:rPr lang="en-US" sz="1200" i="1" kern="1200">
                          <a:solidFill>
                            <a:schemeClr val="tx1"/>
                          </a:solidFill>
                          <a:latin typeface="+mn-lt"/>
                          <a:ea typeface="+mn-ea"/>
                          <a:cs typeface="+mn-cs"/>
                        </a:rPr>
                        <m:t>𝑋</m:t>
                      </m:r>
                      <m:r>
                        <a:rPr lang="en-US" sz="1200" i="0" kern="1200">
                          <a:solidFill>
                            <a:schemeClr val="tx1"/>
                          </a:solidFill>
                          <a:latin typeface="+mn-lt"/>
                          <a:ea typeface="+mn-ea"/>
                          <a:cs typeface="+mn-cs"/>
                        </a:rPr>
                        <m:t>+</m:t>
                      </m:r>
                      <m:r>
                        <a:rPr lang="en-US" sz="1200" i="1" kern="1200">
                          <a:solidFill>
                            <a:schemeClr val="tx1"/>
                          </a:solidFill>
                          <a:latin typeface="+mn-lt"/>
                          <a:ea typeface="+mn-ea"/>
                          <a:cs typeface="+mn-cs"/>
                        </a:rPr>
                        <m:t>𝑌</m:t>
                      </m:r>
                      <m:r>
                        <a:rPr lang="en-US" sz="1200" i="0" kern="1200">
                          <a:solidFill>
                            <a:schemeClr val="tx1"/>
                          </a:solidFill>
                          <a:latin typeface="+mn-lt"/>
                          <a:ea typeface="+mn-ea"/>
                          <a:cs typeface="+mn-cs"/>
                        </a:rPr>
                        <m:t>=</m:t>
                      </m:r>
                      <m:r>
                        <a:rPr lang="en-US" sz="1200" i="0" kern="1200">
                          <a:solidFill>
                            <a:schemeClr val="tx1"/>
                          </a:solidFill>
                          <a:latin typeface="+mn-lt"/>
                          <a:ea typeface="+mn-ea"/>
                          <a:cs typeface="+mn-cs"/>
                        </a:rPr>
                        <m:t>111110</m:t>
                      </m:r>
                      <m:r>
                        <a:rPr lang="en-US" sz="1200" i="0" kern="1200">
                          <a:solidFill>
                            <a:schemeClr val="tx1"/>
                          </a:solidFill>
                          <a:latin typeface="+mn-lt"/>
                          <a:ea typeface="+mn-ea"/>
                          <a:cs typeface="+mn-cs"/>
                        </a:rPr>
                        <m:t>×</m:t>
                      </m:r>
                      <m:sSup>
                        <m:sSupPr>
                          <m:ctrlPr>
                            <a:rPr lang="ar-EG" sz="1200" i="1" kern="1200">
                              <a:solidFill>
                                <a:schemeClr val="tx1"/>
                              </a:solidFill>
                              <a:latin typeface="+mn-lt"/>
                              <a:ea typeface="+mn-ea"/>
                              <a:cs typeface="+mn-cs"/>
                            </a:rPr>
                          </m:ctrlPr>
                        </m:sSupPr>
                        <m:e>
                          <m:r>
                            <a:rPr lang="ar-EG" sz="1200" i="0" kern="1200">
                              <a:solidFill>
                                <a:schemeClr val="tx1"/>
                              </a:solidFill>
                              <a:latin typeface="+mn-lt"/>
                              <a:ea typeface="+mn-ea"/>
                              <a:cs typeface="+mn-cs"/>
                            </a:rPr>
                            <m:t>2</m:t>
                          </m:r>
                        </m:e>
                        <m:sup>
                          <m:r>
                            <a:rPr lang="ar-EG" sz="1200" i="0" kern="1200">
                              <a:solidFill>
                                <a:schemeClr val="tx1"/>
                              </a:solidFill>
                              <a:latin typeface="+mn-lt"/>
                              <a:ea typeface="+mn-ea"/>
                              <a:cs typeface="+mn-cs"/>
                            </a:rPr>
                            <m:t>110</m:t>
                          </m:r>
                        </m:sup>
                      </m:sSup>
                    </m:oMath>
                  </m:oMathPara>
                </a14:m>
                <a:endParaRPr lang="ar-EG" dirty="0"/>
              </a:p>
              <a:p>
                <a:endParaRPr lang="en-US" dirty="0"/>
              </a:p>
            </p:txBody>
          </p:sp>
        </mc:Choice>
        <mc:Fallback>
          <p:sp>
            <p:nvSpPr>
              <p:cNvPr id="3" name="Notes Placeholder 2"/>
              <p:cNvSpPr>
                <a:spLocks noGrp="1"/>
              </p:cNvSpPr>
              <p:nvPr>
                <p:ph type="body" idx="1"/>
              </p:nvPr>
            </p:nvSpPr>
            <p:spPr/>
            <p:txBody>
              <a:bodyPr/>
              <a:lstStyle/>
              <a:p>
                <a:r>
                  <a:rPr lang="en-US" b="1" dirty="0"/>
                  <a:t>Floating-Point Representation</a:t>
                </a:r>
              </a:p>
              <a:p>
                <a:r>
                  <a:rPr lang="en-US" dirty="0"/>
                  <a:t>In floating-point representation, numbers are expressed as:</a:t>
                </a:r>
              </a:p>
              <a:p>
                <a:r>
                  <a:rPr lang="en-US" sz="1200" i="0" kern="1200">
                    <a:solidFill>
                      <a:schemeClr val="tx1"/>
                    </a:solidFill>
                    <a:latin typeface="+mn-lt"/>
                    <a:ea typeface="+mn-ea"/>
                    <a:cs typeface="+mn-cs"/>
                  </a:rPr>
                  <a:t>𝑋=𝐴×</a:t>
                </a:r>
                <a:r>
                  <a:rPr lang="ar-EG" sz="1200" i="0" kern="1200">
                    <a:solidFill>
                      <a:schemeClr val="tx1"/>
                    </a:solidFill>
                    <a:latin typeface="+mn-lt"/>
                    <a:ea typeface="+mn-ea"/>
                    <a:cs typeface="+mn-cs"/>
                  </a:rPr>
                  <a:t>2^𝑎, 𝑌=𝐵×2^𝑏</a:t>
                </a:r>
                <a:endParaRPr lang="ar-EG" dirty="0"/>
              </a:p>
              <a:p>
                <a:r>
                  <a:rPr lang="en-US" dirty="0"/>
                  <a:t>where:</a:t>
                </a:r>
              </a:p>
              <a:p>
                <a:r>
                  <a:rPr lang="en-US" sz="1200" i="0" kern="1200">
                    <a:solidFill>
                      <a:schemeClr val="tx1"/>
                    </a:solidFill>
                    <a:latin typeface="+mn-lt"/>
                    <a:ea typeface="+mn-ea"/>
                    <a:cs typeface="+mn-cs"/>
                  </a:rPr>
                  <a:t>𝐴</a:t>
                </a:r>
                <a:r>
                  <a:rPr lang="en-US" dirty="0"/>
                  <a:t>and </a:t>
                </a:r>
                <a:r>
                  <a:rPr lang="en-US" sz="1200" i="0" kern="1200">
                    <a:solidFill>
                      <a:schemeClr val="tx1"/>
                    </a:solidFill>
                    <a:latin typeface="+mn-lt"/>
                    <a:ea typeface="+mn-ea"/>
                    <a:cs typeface="+mn-cs"/>
                  </a:rPr>
                  <a:t>𝐵</a:t>
                </a:r>
                <a:r>
                  <a:rPr lang="en-US" dirty="0"/>
                  <a:t>are the significands (or mantissas)</a:t>
                </a:r>
              </a:p>
              <a:p>
                <a:r>
                  <a:rPr lang="en-US" sz="1200" i="0" kern="1200">
                    <a:solidFill>
                      <a:schemeClr val="tx1"/>
                    </a:solidFill>
                    <a:latin typeface="+mn-lt"/>
                    <a:ea typeface="+mn-ea"/>
                    <a:cs typeface="+mn-cs"/>
                  </a:rPr>
                  <a:t>𝑎</a:t>
                </a:r>
                <a:r>
                  <a:rPr lang="en-US" dirty="0"/>
                  <a:t>and </a:t>
                </a:r>
                <a:r>
                  <a:rPr lang="en-US" sz="1200" i="0" kern="1200">
                    <a:solidFill>
                      <a:schemeClr val="tx1"/>
                    </a:solidFill>
                    <a:latin typeface="+mn-lt"/>
                    <a:ea typeface="+mn-ea"/>
                    <a:cs typeface="+mn-cs"/>
                  </a:rPr>
                  <a:t>𝑏</a:t>
                </a:r>
                <a:r>
                  <a:rPr lang="en-US" dirty="0"/>
                  <a:t>are the exponents</a:t>
                </a:r>
              </a:p>
              <a:p>
                <a:r>
                  <a:rPr lang="en-US" b="1" dirty="0"/>
                  <a:t>Example Values</a:t>
                </a:r>
              </a:p>
              <a:p>
                <a:r>
                  <a:rPr lang="en-US" dirty="0"/>
                  <a:t>Given:</a:t>
                </a:r>
              </a:p>
              <a:p>
                <a:r>
                  <a:rPr lang="en-US" sz="1200" i="0" kern="1200">
                    <a:solidFill>
                      <a:schemeClr val="tx1"/>
                    </a:solidFill>
                    <a:latin typeface="+mn-lt"/>
                    <a:ea typeface="+mn-ea"/>
                    <a:cs typeface="+mn-cs"/>
                  </a:rPr>
                  <a:t>𝑋=100010×</a:t>
                </a:r>
                <a:r>
                  <a:rPr lang="ar-EG" sz="1200" i="0" kern="1200">
                    <a:solidFill>
                      <a:schemeClr val="tx1"/>
                    </a:solidFill>
                    <a:latin typeface="+mn-lt"/>
                    <a:ea typeface="+mn-ea"/>
                    <a:cs typeface="+mn-cs"/>
                  </a:rPr>
                  <a:t>2^101</a:t>
                </a:r>
                <a:endParaRPr lang="ar-EG" dirty="0"/>
              </a:p>
              <a:p>
                <a:r>
                  <a:rPr lang="ar-EG" sz="1200" i="0" kern="1200">
                    <a:solidFill>
                      <a:schemeClr val="tx1"/>
                    </a:solidFill>
                    <a:latin typeface="+mn-lt"/>
                    <a:ea typeface="+mn-ea"/>
                    <a:cs typeface="+mn-cs"/>
                  </a:rPr>
                  <a:t>𝑌=10100×2^111</a:t>
                </a:r>
                <a:endParaRPr lang="ar-EG" dirty="0"/>
              </a:p>
              <a:p>
                <a:r>
                  <a:rPr lang="en-US" dirty="0"/>
                  <a:t>This can be interpreted as:</a:t>
                </a:r>
              </a:p>
              <a:p>
                <a:r>
                  <a:rPr lang="en-US" sz="1200" i="0" kern="1200">
                    <a:solidFill>
                      <a:schemeClr val="tx1"/>
                    </a:solidFill>
                    <a:latin typeface="+mn-lt"/>
                    <a:ea typeface="+mn-ea"/>
                    <a:cs typeface="+mn-cs"/>
                  </a:rPr>
                  <a:t>𝑋=34×</a:t>
                </a:r>
                <a:r>
                  <a:rPr lang="ar-EG" sz="1200" i="0" kern="1200">
                    <a:solidFill>
                      <a:schemeClr val="tx1"/>
                    </a:solidFill>
                    <a:latin typeface="+mn-lt"/>
                    <a:ea typeface="+mn-ea"/>
                    <a:cs typeface="+mn-cs"/>
                  </a:rPr>
                  <a:t>2^5</a:t>
                </a:r>
                <a:endParaRPr lang="ar-EG" dirty="0"/>
              </a:p>
              <a:p>
                <a:r>
                  <a:rPr lang="ar-EG" sz="1200" i="0" kern="1200">
                    <a:solidFill>
                      <a:schemeClr val="tx1"/>
                    </a:solidFill>
                    <a:latin typeface="+mn-lt"/>
                    <a:ea typeface="+mn-ea"/>
                    <a:cs typeface="+mn-cs"/>
                  </a:rPr>
                  <a:t>𝑌=20×2^7</a:t>
                </a:r>
                <a:endParaRPr lang="ar-EG" dirty="0"/>
              </a:p>
              <a:p>
                <a:r>
                  <a:rPr lang="en-US" b="1" dirty="0"/>
                  <a:t>Step-by-Step Pipeline for Addition</a:t>
                </a:r>
              </a:p>
              <a:p>
                <a:r>
                  <a:rPr lang="en-US" b="1" dirty="0"/>
                  <a:t>1. Normalize the Exponents</a:t>
                </a:r>
              </a:p>
              <a:p>
                <a:r>
                  <a:rPr lang="en-US" dirty="0"/>
                  <a:t>Before adding, the exponents must be aligned. The greater exponent will dictate the normalization process.</a:t>
                </a:r>
              </a:p>
              <a:p>
                <a:r>
                  <a:rPr lang="en-US" b="1" dirty="0"/>
                  <a:t>Current Exponents</a:t>
                </a:r>
                <a:r>
                  <a:rPr lang="en-US" dirty="0"/>
                  <a:t>: </a:t>
                </a:r>
              </a:p>
              <a:p>
                <a:pPr lvl="1"/>
                <a:r>
                  <a:rPr lang="en-US" sz="1200" i="0" kern="1200">
                    <a:solidFill>
                      <a:schemeClr val="tx1"/>
                    </a:solidFill>
                    <a:latin typeface="+mn-lt"/>
                    <a:ea typeface="+mn-ea"/>
                    <a:cs typeface="+mn-cs"/>
                  </a:rPr>
                  <a:t>𝑎=101</a:t>
                </a:r>
                <a:r>
                  <a:rPr lang="en-US" dirty="0"/>
                  <a:t>(5 in decimal)</a:t>
                </a:r>
              </a:p>
              <a:p>
                <a:pPr lvl="1"/>
                <a:r>
                  <a:rPr lang="en-US" sz="1200" i="0" kern="1200">
                    <a:solidFill>
                      <a:schemeClr val="tx1"/>
                    </a:solidFill>
                    <a:latin typeface="+mn-lt"/>
                    <a:ea typeface="+mn-ea"/>
                    <a:cs typeface="+mn-cs"/>
                  </a:rPr>
                  <a:t>𝑏=111</a:t>
                </a:r>
                <a:r>
                  <a:rPr lang="en-US" dirty="0"/>
                  <a:t>(7 in decimal)</a:t>
                </a:r>
              </a:p>
              <a:p>
                <a:r>
                  <a:rPr lang="en-US" dirty="0"/>
                  <a:t>Since </a:t>
                </a:r>
                <a:r>
                  <a:rPr lang="en-US" sz="1200" i="0" kern="1200">
                    <a:solidFill>
                      <a:schemeClr val="tx1"/>
                    </a:solidFill>
                    <a:latin typeface="+mn-lt"/>
                    <a:ea typeface="+mn-ea"/>
                    <a:cs typeface="+mn-cs"/>
                  </a:rPr>
                  <a:t>𝑏&gt;𝑎</a:t>
                </a:r>
                <a:r>
                  <a:rPr lang="en-US" dirty="0"/>
                  <a:t>, we need to shift </a:t>
                </a:r>
                <a:r>
                  <a:rPr lang="en-US" sz="1200" i="0" kern="1200">
                    <a:solidFill>
                      <a:schemeClr val="tx1"/>
                    </a:solidFill>
                    <a:latin typeface="+mn-lt"/>
                    <a:ea typeface="+mn-ea"/>
                    <a:cs typeface="+mn-cs"/>
                  </a:rPr>
                  <a:t>𝐴</a:t>
                </a:r>
                <a:r>
                  <a:rPr lang="en-US" dirty="0"/>
                  <a:t>to match the exponent of </a:t>
                </a:r>
                <a:r>
                  <a:rPr lang="en-US" sz="1200" i="0" kern="1200">
                    <a:solidFill>
                      <a:schemeClr val="tx1"/>
                    </a:solidFill>
                    <a:latin typeface="+mn-lt"/>
                    <a:ea typeface="+mn-ea"/>
                    <a:cs typeface="+mn-cs"/>
                  </a:rPr>
                  <a:t>𝑌</a:t>
                </a:r>
                <a:r>
                  <a:rPr lang="en-US" dirty="0"/>
                  <a:t>:</a:t>
                </a:r>
              </a:p>
              <a:p>
                <a:r>
                  <a:rPr lang="en-US" sz="1200" i="0" kern="1200">
                    <a:solidFill>
                      <a:schemeClr val="tx1"/>
                    </a:solidFill>
                    <a:latin typeface="+mn-lt"/>
                    <a:ea typeface="+mn-ea"/>
                    <a:cs typeface="+mn-cs"/>
                  </a:rPr>
                  <a:t>𝐴→𝐴×</a:t>
                </a:r>
                <a:r>
                  <a:rPr lang="ar-EG" sz="1200" i="0" kern="1200">
                    <a:solidFill>
                      <a:schemeClr val="tx1"/>
                    </a:solidFill>
                    <a:latin typeface="+mn-lt"/>
                    <a:ea typeface="+mn-ea"/>
                    <a:cs typeface="+mn-cs"/>
                  </a:rPr>
                  <a:t>2^((111−101) )=100010×2^101→100010×2^101→100010×2^110</a:t>
                </a:r>
                <a:r>
                  <a:rPr lang="ar-EG" sz="1200" b="0" i="0" kern="1200">
                    <a:solidFill>
                      <a:schemeClr val="tx1"/>
                    </a:solidFill>
                    <a:latin typeface="+mn-lt"/>
                    <a:ea typeface="+mn-ea"/>
                    <a:cs typeface="+mn-cs"/>
                  </a:rPr>
                  <a:t> </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Shift right by 1)</a:t>
                </a:r>
                <a:r>
                  <a:rPr lang="en-US" sz="1200" b="0" i="0" kern="1200">
                    <a:solidFill>
                      <a:schemeClr val="tx1"/>
                    </a:solidFill>
                    <a:latin typeface="+mn-lt"/>
                    <a:ea typeface="+mn-ea"/>
                    <a:cs typeface="+mn-cs"/>
                  </a:rPr>
                  <a:t>"</a:t>
                </a:r>
                <a:endParaRPr lang="en-US" b="0" dirty="0"/>
              </a:p>
              <a:p>
                <a:r>
                  <a:rPr lang="en-US" dirty="0"/>
                  <a:t>Now we have:</a:t>
                </a:r>
              </a:p>
              <a:p>
                <a:r>
                  <a:rPr lang="en-US" sz="1200" i="0" kern="1200">
                    <a:solidFill>
                      <a:schemeClr val="tx1"/>
                    </a:solidFill>
                    <a:latin typeface="+mn-lt"/>
                    <a:ea typeface="+mn-ea"/>
                    <a:cs typeface="+mn-cs"/>
                  </a:rPr>
                  <a:t>𝑋=100010×</a:t>
                </a:r>
                <a:r>
                  <a:rPr lang="ar-EG" sz="1200" i="0" kern="1200">
                    <a:solidFill>
                      <a:schemeClr val="tx1"/>
                    </a:solidFill>
                    <a:latin typeface="+mn-lt"/>
                    <a:ea typeface="+mn-ea"/>
                    <a:cs typeface="+mn-cs"/>
                  </a:rPr>
                  <a:t>2^110</a:t>
                </a:r>
                <a:endParaRPr lang="ar-EG" dirty="0"/>
              </a:p>
              <a:p>
                <a:r>
                  <a:rPr lang="ar-EG" sz="1200" i="0" kern="1200">
                    <a:solidFill>
                      <a:schemeClr val="tx1"/>
                    </a:solidFill>
                    <a:latin typeface="+mn-lt"/>
                    <a:ea typeface="+mn-ea"/>
                    <a:cs typeface="+mn-cs"/>
                  </a:rPr>
                  <a:t>𝑌=10100×2^111</a:t>
                </a:r>
                <a:endParaRPr lang="ar-EG" dirty="0"/>
              </a:p>
              <a:p>
                <a:r>
                  <a:rPr lang="ar-EG" b="1" dirty="0"/>
                  <a:t>2. </a:t>
                </a:r>
                <a:r>
                  <a:rPr lang="en-US" b="1" dirty="0"/>
                  <a:t>Adjust the Representation</a:t>
                </a:r>
              </a:p>
              <a:p>
                <a:r>
                  <a:rPr lang="en-US" dirty="0"/>
                  <a:t>Now the two numbers can be represented as:</a:t>
                </a:r>
              </a:p>
              <a:p>
                <a:r>
                  <a:rPr lang="en-US" sz="1200" i="0" kern="1200">
                    <a:solidFill>
                      <a:schemeClr val="tx1"/>
                    </a:solidFill>
                    <a:latin typeface="+mn-lt"/>
                    <a:ea typeface="+mn-ea"/>
                    <a:cs typeface="+mn-cs"/>
                  </a:rPr>
                  <a:t>𝑋=100010×</a:t>
                </a:r>
                <a:r>
                  <a:rPr lang="ar-EG" sz="1200" i="0" kern="1200">
                    <a:solidFill>
                      <a:schemeClr val="tx1"/>
                    </a:solidFill>
                    <a:latin typeface="+mn-lt"/>
                    <a:ea typeface="+mn-ea"/>
                    <a:cs typeface="+mn-cs"/>
                  </a:rPr>
                  <a:t>2^110</a:t>
                </a:r>
                <a:endParaRPr lang="ar-EG" dirty="0"/>
              </a:p>
              <a:p>
                <a:r>
                  <a:rPr lang="ar-EG" sz="1200" i="0" kern="1200">
                    <a:solidFill>
                      <a:schemeClr val="tx1"/>
                    </a:solidFill>
                    <a:latin typeface="+mn-lt"/>
                    <a:ea typeface="+mn-ea"/>
                    <a:cs typeface="+mn-cs"/>
                  </a:rPr>
                  <a:t>𝑌=10100×2^111</a:t>
                </a:r>
                <a:endParaRPr lang="ar-EG" dirty="0"/>
              </a:p>
              <a:p>
                <a:r>
                  <a:rPr lang="en-US" dirty="0"/>
                  <a:t>Align the significands so they are on the same exponent:</a:t>
                </a:r>
              </a:p>
              <a:p>
                <a:r>
                  <a:rPr lang="en-US" dirty="0"/>
                  <a:t>Convert </a:t>
                </a:r>
                <a:r>
                  <a:rPr lang="en-US" sz="1200" i="0" kern="1200">
                    <a:solidFill>
                      <a:schemeClr val="tx1"/>
                    </a:solidFill>
                    <a:latin typeface="+mn-lt"/>
                    <a:ea typeface="+mn-ea"/>
                    <a:cs typeface="+mn-cs"/>
                  </a:rPr>
                  <a:t>𝑌</a:t>
                </a:r>
                <a:r>
                  <a:rPr lang="en-US" dirty="0"/>
                  <a:t>to the same exponent as </a:t>
                </a:r>
                <a:r>
                  <a:rPr lang="en-US" sz="1200" i="0" kern="1200">
                    <a:solidFill>
                      <a:schemeClr val="tx1"/>
                    </a:solidFill>
                    <a:latin typeface="+mn-lt"/>
                    <a:ea typeface="+mn-ea"/>
                    <a:cs typeface="+mn-cs"/>
                  </a:rPr>
                  <a:t>𝑋</a:t>
                </a:r>
                <a:r>
                  <a:rPr lang="en-US" dirty="0"/>
                  <a:t>:</a:t>
                </a:r>
              </a:p>
              <a:p>
                <a:r>
                  <a:rPr lang="en-US" sz="1200" i="0" kern="1200">
                    <a:solidFill>
                      <a:schemeClr val="tx1"/>
                    </a:solidFill>
                    <a:latin typeface="+mn-lt"/>
                    <a:ea typeface="+mn-ea"/>
                    <a:cs typeface="+mn-cs"/>
                  </a:rPr>
                  <a:t>𝑌→𝑌×</a:t>
                </a:r>
                <a:r>
                  <a:rPr lang="ar-EG" sz="1200" i="0" kern="1200">
                    <a:solidFill>
                      <a:schemeClr val="tx1"/>
                    </a:solidFill>
                    <a:latin typeface="+mn-lt"/>
                    <a:ea typeface="+mn-ea"/>
                    <a:cs typeface="+mn-cs"/>
                  </a:rPr>
                  <a:t>2^(−1)=10100×2^111→10100×2^110</a:t>
                </a:r>
                <a:endParaRPr lang="ar-EG" dirty="0"/>
              </a:p>
              <a:p>
                <a:r>
                  <a:rPr lang="en-US" dirty="0"/>
                  <a:t>Now:</a:t>
                </a:r>
              </a:p>
              <a:p>
                <a:r>
                  <a:rPr lang="en-US" sz="1200" i="0" kern="1200">
                    <a:solidFill>
                      <a:schemeClr val="tx1"/>
                    </a:solidFill>
                    <a:latin typeface="+mn-lt"/>
                    <a:ea typeface="+mn-ea"/>
                    <a:cs typeface="+mn-cs"/>
                  </a:rPr>
                  <a:t>𝑋=100010×</a:t>
                </a:r>
                <a:r>
                  <a:rPr lang="ar-EG" sz="1200" i="0" kern="1200">
                    <a:solidFill>
                      <a:schemeClr val="tx1"/>
                    </a:solidFill>
                    <a:latin typeface="+mn-lt"/>
                    <a:ea typeface="+mn-ea"/>
                    <a:cs typeface="+mn-cs"/>
                  </a:rPr>
                  <a:t>2^110</a:t>
                </a:r>
                <a:endParaRPr lang="ar-EG" dirty="0"/>
              </a:p>
              <a:p>
                <a:r>
                  <a:rPr lang="ar-EG" sz="1200" i="0" kern="1200">
                    <a:solidFill>
                      <a:schemeClr val="tx1"/>
                    </a:solidFill>
                    <a:latin typeface="+mn-lt"/>
                    <a:ea typeface="+mn-ea"/>
                    <a:cs typeface="+mn-cs"/>
                  </a:rPr>
                  <a:t>𝑌=10100×2^110</a:t>
                </a:r>
                <a:endParaRPr lang="ar-EG" dirty="0"/>
              </a:p>
              <a:p>
                <a:r>
                  <a:rPr lang="ar-EG" b="1" dirty="0"/>
                  <a:t>3. </a:t>
                </a:r>
                <a:r>
                  <a:rPr lang="en-US" b="1" dirty="0"/>
                  <a:t>Add the Significands</a:t>
                </a:r>
              </a:p>
              <a:p>
                <a:r>
                  <a:rPr lang="en-US" dirty="0"/>
                  <a:t>Now that the exponents are aligned:</a:t>
                </a:r>
              </a:p>
              <a:p>
                <a:r>
                  <a:rPr lang="en-US" sz="1200" i="0" kern="1200">
                    <a:solidFill>
                      <a:schemeClr val="tx1"/>
                    </a:solidFill>
                    <a:latin typeface="+mn-lt"/>
                    <a:ea typeface="+mn-ea"/>
                    <a:cs typeface="+mn-cs"/>
                  </a:rPr>
                  <a:t>𝑋+𝑌=</a:t>
                </a:r>
                <a:r>
                  <a:rPr lang="ar-EG" sz="1200" i="0" kern="1200">
                    <a:solidFill>
                      <a:schemeClr val="tx1"/>
                    </a:solidFill>
                    <a:latin typeface="+mn-lt"/>
                    <a:ea typeface="+mn-ea"/>
                    <a:cs typeface="+mn-cs"/>
                  </a:rPr>
                  <a:t>(100010+10100)×2^110</a:t>
                </a:r>
                <a:endParaRPr lang="ar-EG" dirty="0"/>
              </a:p>
              <a:p>
                <a:r>
                  <a:rPr lang="en-US" dirty="0"/>
                  <a:t>Performing the addition between </a:t>
                </a:r>
                <a:r>
                  <a:rPr lang="en-US" sz="1200" i="0" kern="1200">
                    <a:solidFill>
                      <a:schemeClr val="tx1"/>
                    </a:solidFill>
                    <a:latin typeface="+mn-lt"/>
                    <a:ea typeface="+mn-ea"/>
                    <a:cs typeface="+mn-cs"/>
                  </a:rPr>
                  <a:t>𝐴</a:t>
                </a:r>
                <a:r>
                  <a:rPr lang="en-US" dirty="0"/>
                  <a:t>and </a:t>
                </a:r>
                <a:r>
                  <a:rPr lang="en-US" sz="1200" i="0" kern="1200">
                    <a:solidFill>
                      <a:schemeClr val="tx1"/>
                    </a:solidFill>
                    <a:latin typeface="+mn-lt"/>
                    <a:ea typeface="+mn-ea"/>
                    <a:cs typeface="+mn-cs"/>
                  </a:rPr>
                  <a:t>𝐵</a:t>
                </a:r>
                <a:r>
                  <a:rPr lang="en-US" dirty="0"/>
                  <a:t>:</a:t>
                </a:r>
              </a:p>
              <a:p>
                <a:r>
                  <a:rPr lang="en-US" sz="1200" i="0" kern="1200">
                    <a:solidFill>
                      <a:schemeClr val="tx1"/>
                    </a:solidFill>
                    <a:latin typeface="+mn-lt"/>
                    <a:ea typeface="+mn-ea"/>
                    <a:cs typeface="+mn-cs"/>
                  </a:rPr>
                  <a:t>100010+10100=111110</a:t>
                </a:r>
                <a:endParaRPr lang="en-US" dirty="0"/>
              </a:p>
              <a:p>
                <a:r>
                  <a:rPr lang="en-US" dirty="0"/>
                  <a:t>So,</a:t>
                </a:r>
              </a:p>
              <a:p>
                <a:r>
                  <a:rPr lang="en-US" sz="1200" i="0" kern="1200">
                    <a:solidFill>
                      <a:schemeClr val="tx1"/>
                    </a:solidFill>
                    <a:latin typeface="+mn-lt"/>
                    <a:ea typeface="+mn-ea"/>
                    <a:cs typeface="+mn-cs"/>
                  </a:rPr>
                  <a:t>𝑋+𝑌=111110×</a:t>
                </a:r>
                <a:r>
                  <a:rPr lang="ar-EG" sz="1200" i="0" kern="1200">
                    <a:solidFill>
                      <a:schemeClr val="tx1"/>
                    </a:solidFill>
                    <a:latin typeface="+mn-lt"/>
                    <a:ea typeface="+mn-ea"/>
                    <a:cs typeface="+mn-cs"/>
                  </a:rPr>
                  <a:t>2^110</a:t>
                </a:r>
                <a:endParaRPr lang="ar-EG" dirty="0"/>
              </a:p>
              <a:p>
                <a:r>
                  <a:rPr lang="en-US" b="1" dirty="0"/>
                  <a:t>Summary of Results</a:t>
                </a:r>
              </a:p>
              <a:p>
                <a:r>
                  <a:rPr lang="en-US" b="1" dirty="0"/>
                  <a:t>Intermediate Step</a:t>
                </a:r>
                <a:r>
                  <a:rPr lang="en-US" dirty="0"/>
                  <a:t>:</a:t>
                </a:r>
              </a:p>
              <a:p>
                <a:pPr lvl="1"/>
                <a:r>
                  <a:rPr lang="en-US" dirty="0"/>
                  <a:t>Align </a:t>
                </a:r>
                <a:r>
                  <a:rPr lang="en-US" sz="1200" i="0" kern="1200">
                    <a:solidFill>
                      <a:schemeClr val="tx1"/>
                    </a:solidFill>
                    <a:latin typeface="+mn-lt"/>
                    <a:ea typeface="+mn-ea"/>
                    <a:cs typeface="+mn-cs"/>
                  </a:rPr>
                  <a:t>𝑌</a:t>
                </a:r>
                <a:r>
                  <a:rPr lang="en-US" dirty="0"/>
                  <a:t>to </a:t>
                </a:r>
                <a:r>
                  <a:rPr lang="en-US" sz="1200" i="0" kern="1200">
                    <a:solidFill>
                      <a:schemeClr val="tx1"/>
                    </a:solidFill>
                    <a:latin typeface="+mn-lt"/>
                    <a:ea typeface="+mn-ea"/>
                    <a:cs typeface="+mn-cs"/>
                  </a:rPr>
                  <a:t>𝑋</a:t>
                </a:r>
                <a:r>
                  <a:rPr lang="en-US" dirty="0"/>
                  <a:t>:</a:t>
                </a:r>
              </a:p>
              <a:p>
                <a:pPr lvl="1"/>
                <a:r>
                  <a:rPr lang="en-US" sz="1200" i="0" kern="1200">
                    <a:solidFill>
                      <a:schemeClr val="tx1"/>
                    </a:solidFill>
                    <a:latin typeface="+mn-lt"/>
                    <a:ea typeface="+mn-ea"/>
                    <a:cs typeface="+mn-cs"/>
                  </a:rPr>
                  <a:t>𝑋=100010×</a:t>
                </a:r>
                <a:r>
                  <a:rPr lang="ar-EG" sz="1200" i="0" kern="1200">
                    <a:solidFill>
                      <a:schemeClr val="tx1"/>
                    </a:solidFill>
                    <a:latin typeface="+mn-lt"/>
                    <a:ea typeface="+mn-ea"/>
                    <a:cs typeface="+mn-cs"/>
                  </a:rPr>
                  <a:t>2^110</a:t>
                </a:r>
                <a:endParaRPr lang="ar-EG" dirty="0"/>
              </a:p>
              <a:p>
                <a:pPr lvl="1"/>
                <a:r>
                  <a:rPr lang="ar-EG" sz="1200" i="0" kern="1200">
                    <a:solidFill>
                      <a:schemeClr val="tx1"/>
                    </a:solidFill>
                    <a:latin typeface="+mn-lt"/>
                    <a:ea typeface="+mn-ea"/>
                    <a:cs typeface="+mn-cs"/>
                  </a:rPr>
                  <a:t>𝑌=10100×2^110</a:t>
                </a:r>
                <a:endParaRPr lang="ar-EG" dirty="0"/>
              </a:p>
              <a:p>
                <a:r>
                  <a:rPr lang="en-US" b="1" dirty="0"/>
                  <a:t>Final Step</a:t>
                </a:r>
                <a:r>
                  <a:rPr lang="en-US" dirty="0"/>
                  <a:t>:</a:t>
                </a:r>
              </a:p>
              <a:p>
                <a:pPr lvl="1"/>
                <a:r>
                  <a:rPr lang="en-US" dirty="0"/>
                  <a:t>After addition:</a:t>
                </a:r>
              </a:p>
              <a:p>
                <a:r>
                  <a:rPr lang="en-US" sz="1200" i="0" kern="1200">
                    <a:solidFill>
                      <a:schemeClr val="tx1"/>
                    </a:solidFill>
                    <a:latin typeface="+mn-lt"/>
                    <a:ea typeface="+mn-ea"/>
                    <a:cs typeface="+mn-cs"/>
                  </a:rPr>
                  <a:t>𝑋+𝑌=111110×</a:t>
                </a:r>
                <a:r>
                  <a:rPr lang="ar-EG" sz="1200" i="0" kern="1200">
                    <a:solidFill>
                      <a:schemeClr val="tx1"/>
                    </a:solidFill>
                    <a:latin typeface="+mn-lt"/>
                    <a:ea typeface="+mn-ea"/>
                    <a:cs typeface="+mn-cs"/>
                  </a:rPr>
                  <a:t>2^110</a:t>
                </a:r>
                <a:endParaRPr lang="ar-EG" dirty="0"/>
              </a:p>
              <a:p>
                <a:endParaRPr lang="en-US" dirty="0"/>
              </a:p>
            </p:txBody>
          </p:sp>
        </mc:Fallback>
      </mc:AlternateContent>
      <p:sp>
        <p:nvSpPr>
          <p:cNvPr id="4" name="Slide Number Placeholder 3"/>
          <p:cNvSpPr>
            <a:spLocks noGrp="1"/>
          </p:cNvSpPr>
          <p:nvPr>
            <p:ph type="sldNum" sz="quarter" idx="5"/>
          </p:nvPr>
        </p:nvSpPr>
        <p:spPr/>
        <p:txBody>
          <a:bodyPr/>
          <a:lstStyle/>
          <a:p>
            <a:fld id="{B85E5560-A398-44B1-84ED-312914F41311}" type="slidenum">
              <a:rPr lang="en-US" smtClean="0"/>
              <a:t>9</a:t>
            </a:fld>
            <a:endParaRPr lang="en-US"/>
          </a:p>
        </p:txBody>
      </p:sp>
    </p:spTree>
    <p:extLst>
      <p:ext uri="{BB962C8B-B14F-4D97-AF65-F5344CB8AC3E}">
        <p14:creationId xmlns:p14="http://schemas.microsoft.com/office/powerpoint/2010/main" val="2666218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b="1" dirty="0"/>
                  <a:t>Instruction Cycle Stages</a:t>
                </a:r>
              </a:p>
              <a:p>
                <a:r>
                  <a:rPr lang="en-US" b="1" dirty="0"/>
                  <a:t>1. Instruction Fetch Cycle (IF)</a:t>
                </a:r>
              </a:p>
              <a:p>
                <a:r>
                  <a:rPr lang="en-US" b="1" dirty="0"/>
                  <a:t>Purpose</a:t>
                </a:r>
                <a:r>
                  <a:rPr lang="en-US" dirty="0"/>
                  <a:t>: Retrieve the instruction that will be executed.</a:t>
                </a:r>
              </a:p>
              <a:p>
                <a:r>
                  <a:rPr lang="en-US" b="1" dirty="0"/>
                  <a:t>Steps</a:t>
                </a:r>
                <a:r>
                  <a:rPr lang="en-US" dirty="0"/>
                  <a:t>: </a:t>
                </a:r>
              </a:p>
              <a:p>
                <a:pPr lvl="1"/>
                <a:r>
                  <a:rPr lang="en-US" b="1" dirty="0"/>
                  <a:t>Send the Program Counter (PC) to Memory</a:t>
                </a:r>
                <a:r>
                  <a:rPr lang="en-US" dirty="0"/>
                  <a:t>: The address stored in the PC is sent to the memory to fetch the instruction.</a:t>
                </a:r>
              </a:p>
              <a:p>
                <a:pPr lvl="1"/>
                <a:r>
                  <a:rPr lang="en-US" b="1" dirty="0"/>
                  <a:t>Fetch the Current Instruction</a:t>
                </a:r>
                <a:r>
                  <a:rPr lang="en-US" dirty="0"/>
                  <a:t>: The instruction at the memory location specified by the PC is retrieved.</a:t>
                </a:r>
              </a:p>
              <a:p>
                <a:pPr lvl="1"/>
                <a:r>
                  <a:rPr lang="en-US" b="1" dirty="0"/>
                  <a:t>Update the PC</a:t>
                </a:r>
                <a:r>
                  <a:rPr lang="en-US" dirty="0"/>
                  <a:t>: The PC is incremented by 4 (assuming each instruction is 4 bytes long) to point to the next instruction: </a:t>
                </a:r>
              </a:p>
              <a:p>
                <a14:m>
                  <m:oMathPara xmlns:m="http://schemas.openxmlformats.org/officeDocument/2006/math">
                    <m:oMathParaPr>
                      <m:jc m:val="centerGroup"/>
                    </m:oMathParaPr>
                    <m:oMath xmlns:m="http://schemas.openxmlformats.org/officeDocument/2006/math">
                      <m:r>
                        <m:rPr>
                          <m:nor/>
                        </m:rPr>
                        <a:rPr lang="en-US" b="0"/>
                        <m:t>PC</m:t>
                      </m:r>
                      <m:r>
                        <a:rPr lang="en-US" sz="1200" b="0" i="0" kern="1200">
                          <a:solidFill>
                            <a:schemeClr val="tx1"/>
                          </a:solidFill>
                          <a:latin typeface="+mn-lt"/>
                          <a:ea typeface="+mn-ea"/>
                          <a:cs typeface="+mn-cs"/>
                        </a:rPr>
                        <m:t>=</m:t>
                      </m:r>
                      <m:r>
                        <m:rPr>
                          <m:nor/>
                        </m:rPr>
                        <a:rPr lang="en-US" sz="1200" b="0" i="1" kern="1200">
                          <a:solidFill>
                            <a:schemeClr val="tx1"/>
                          </a:solidFill>
                          <a:latin typeface="+mn-lt"/>
                          <a:ea typeface="+mn-ea"/>
                          <a:cs typeface="+mn-cs"/>
                        </a:rPr>
                        <m:t>PC</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4</m:t>
                      </m:r>
                    </m:oMath>
                  </m:oMathPara>
                </a14:m>
                <a:endParaRPr lang="en-US" b="0" dirty="0"/>
              </a:p>
              <a:p>
                <a:r>
                  <a:rPr lang="en-US" b="1" dirty="0"/>
                  <a:t>2. Instruction Decode/Register Fetch Cycle (ID)</a:t>
                </a:r>
              </a:p>
              <a:p>
                <a:r>
                  <a:rPr lang="en-US" b="1" dirty="0"/>
                  <a:t>Purpose</a:t>
                </a:r>
                <a:r>
                  <a:rPr lang="en-US" dirty="0"/>
                  <a:t>: Decipher the fetched instruction and access the necessary registers.</a:t>
                </a:r>
              </a:p>
              <a:p>
                <a:r>
                  <a:rPr lang="en-US" b="1" dirty="0"/>
                  <a:t>Steps</a:t>
                </a:r>
                <a:r>
                  <a:rPr lang="en-US" dirty="0"/>
                  <a:t>: </a:t>
                </a:r>
              </a:p>
              <a:p>
                <a:pPr lvl="1"/>
                <a:r>
                  <a:rPr lang="en-US" b="1" dirty="0"/>
                  <a:t>Decode the Instruction</a:t>
                </a:r>
                <a:r>
                  <a:rPr lang="en-US" dirty="0"/>
                  <a:t>: The control unit decodes the instruction to determine the operation and the registers involved.</a:t>
                </a:r>
              </a:p>
              <a:p>
                <a:pPr lvl="1"/>
                <a:r>
                  <a:rPr lang="en-US" b="1" dirty="0"/>
                  <a:t>Read the Registers</a:t>
                </a:r>
                <a:r>
                  <a:rPr lang="en-US" dirty="0"/>
                  <a:t>: The values from the source registers indicated by the instruction are read from the register file.</a:t>
                </a:r>
              </a:p>
              <a:p>
                <a:r>
                  <a:rPr lang="en-US" b="1" dirty="0"/>
                  <a:t>3. Execution/Effective Address Cycle (EX)</a:t>
                </a:r>
              </a:p>
              <a:p>
                <a:r>
                  <a:rPr lang="en-US" b="1" dirty="0"/>
                  <a:t>Purpose</a:t>
                </a:r>
                <a:r>
                  <a:rPr lang="en-US" dirty="0"/>
                  <a:t>: Perform the arithmetic operation or determine the effective address for memory accesses.</a:t>
                </a:r>
              </a:p>
              <a:p>
                <a:r>
                  <a:rPr lang="en-US" b="1" dirty="0"/>
                  <a:t>Steps</a:t>
                </a:r>
                <a:r>
                  <a:rPr lang="en-US" dirty="0"/>
                  <a:t>: </a:t>
                </a:r>
              </a:p>
              <a:p>
                <a:pPr lvl="1"/>
                <a:r>
                  <a:rPr lang="en-US" b="1" dirty="0"/>
                  <a:t>ALU Operations</a:t>
                </a:r>
                <a:r>
                  <a:rPr lang="en-US" dirty="0"/>
                  <a:t>: The Arithmetic Logic Unit (ALU) performs operations based on the instruction type: </a:t>
                </a:r>
              </a:p>
              <a:p>
                <a:pPr lvl="2"/>
                <a:r>
                  <a:rPr lang="en-US" b="1" dirty="0"/>
                  <a:t>Memory Reference</a:t>
                </a:r>
                <a:r>
                  <a:rPr lang="en-US" dirty="0"/>
                  <a:t>: For instructions that require memory access (like Load or Store), the ALU computes the effective address by adding a base register value to an offset.</a:t>
                </a:r>
              </a:p>
              <a:p>
                <a:pPr lvl="2"/>
                <a:r>
                  <a:rPr lang="en-US" b="1" dirty="0"/>
                  <a:t>Register-Register ALU Instruction</a:t>
                </a:r>
                <a:r>
                  <a:rPr lang="en-US" dirty="0"/>
                  <a:t>: The ALU executes the operation specified by the opcode on the values obtained from the register file.</a:t>
                </a:r>
              </a:p>
              <a:p>
                <a:pPr lvl="2"/>
                <a:r>
                  <a:rPr lang="en-US" b="1" dirty="0"/>
                  <a:t>Register-Immediate ALU Instruction</a:t>
                </a:r>
                <a:r>
                  <a:rPr lang="en-US" dirty="0"/>
                  <a:t>: ALU operates on the value from the register file and a sign-extended immediate value.</a:t>
                </a:r>
              </a:p>
              <a:p>
                <a:r>
                  <a:rPr lang="en-US" b="1" dirty="0"/>
                  <a:t>4. Memory Access Cycle (MEM)</a:t>
                </a:r>
              </a:p>
              <a:p>
                <a:r>
                  <a:rPr lang="en-US" b="1" dirty="0"/>
                  <a:t>Purpose</a:t>
                </a:r>
                <a:r>
                  <a:rPr lang="en-US" dirty="0"/>
                  <a:t>: Access memory for load or store operations.</a:t>
                </a:r>
              </a:p>
              <a:p>
                <a:r>
                  <a:rPr lang="en-US" b="1" dirty="0"/>
                  <a:t>Steps</a:t>
                </a:r>
                <a:r>
                  <a:rPr lang="en-US" dirty="0"/>
                  <a:t>: </a:t>
                </a:r>
              </a:p>
              <a:p>
                <a:pPr lvl="1"/>
                <a:r>
                  <a:rPr lang="en-US" dirty="0"/>
                  <a:t>For </a:t>
                </a:r>
                <a:r>
                  <a:rPr lang="en-US" b="1" dirty="0"/>
                  <a:t>Load Instructions</a:t>
                </a:r>
                <a:r>
                  <a:rPr lang="en-US" dirty="0"/>
                  <a:t>: </a:t>
                </a:r>
              </a:p>
              <a:p>
                <a:pPr lvl="2"/>
                <a:r>
                  <a:rPr lang="en-US" dirty="0"/>
                  <a:t>Perform a read operation using the effective address calculated in the EX stage. The data from memory is fetched.</a:t>
                </a:r>
              </a:p>
              <a:p>
                <a:pPr lvl="1"/>
                <a:r>
                  <a:rPr lang="en-US" dirty="0"/>
                  <a:t>For </a:t>
                </a:r>
                <a:r>
                  <a:rPr lang="en-US" b="1" dirty="0"/>
                  <a:t>Store Instructions</a:t>
                </a:r>
                <a:r>
                  <a:rPr lang="en-US" dirty="0"/>
                  <a:t>: </a:t>
                </a:r>
              </a:p>
              <a:p>
                <a:pPr lvl="2"/>
                <a:r>
                  <a:rPr lang="en-US" dirty="0"/>
                  <a:t>Write the value from the specified register to the memory location determined by the effective address.</a:t>
                </a:r>
              </a:p>
              <a:p>
                <a:r>
                  <a:rPr lang="en-US" b="1" dirty="0"/>
                  <a:t>5. Write-Back Cycle (WB)</a:t>
                </a:r>
              </a:p>
              <a:p>
                <a:r>
                  <a:rPr lang="en-US" b="1" dirty="0"/>
                  <a:t>Purpose</a:t>
                </a:r>
                <a:r>
                  <a:rPr lang="en-US" dirty="0"/>
                  <a:t>: Store the result of an operation back into the register file.</a:t>
                </a:r>
              </a:p>
              <a:p>
                <a:r>
                  <a:rPr lang="en-US" b="1" dirty="0"/>
                  <a:t>Steps</a:t>
                </a:r>
                <a:r>
                  <a:rPr lang="en-US" dirty="0"/>
                  <a:t>: </a:t>
                </a:r>
              </a:p>
              <a:p>
                <a:pPr lvl="1"/>
                <a:r>
                  <a:rPr lang="en-US" b="1" dirty="0"/>
                  <a:t>Write to Register File</a:t>
                </a:r>
                <a:r>
                  <a:rPr lang="en-US" dirty="0"/>
                  <a:t>: </a:t>
                </a:r>
              </a:p>
              <a:p>
                <a:pPr lvl="2"/>
                <a:r>
                  <a:rPr lang="en-US" dirty="0"/>
                  <a:t>For </a:t>
                </a:r>
                <a:r>
                  <a:rPr lang="en-US" b="1" dirty="0"/>
                  <a:t>Register-Register ALU Instructions</a:t>
                </a:r>
                <a:r>
                  <a:rPr lang="en-US" dirty="0"/>
                  <a:t>: Write the result from the ALU back to the specified register.</a:t>
                </a:r>
              </a:p>
              <a:p>
                <a:pPr lvl="2"/>
                <a:r>
                  <a:rPr lang="en-US" dirty="0"/>
                  <a:t>For </a:t>
                </a:r>
                <a:r>
                  <a:rPr lang="en-US" b="1" dirty="0"/>
                  <a:t>Load Instructions</a:t>
                </a:r>
                <a:r>
                  <a:rPr lang="en-US" dirty="0"/>
                  <a:t>: Write the data fetched from memory into the appropriate register.</a:t>
                </a:r>
              </a:p>
              <a:p>
                <a:r>
                  <a:rPr lang="en-US" b="1" dirty="0"/>
                  <a:t>Summary of the Instruction Cycle</a:t>
                </a:r>
              </a:p>
              <a:p>
                <a:r>
                  <a:rPr lang="en-US" b="1" dirty="0"/>
                  <a:t>IF Phase</a:t>
                </a:r>
                <a:r>
                  <a:rPr lang="en-US" dirty="0"/>
                  <a:t>: Fetch the instruction and increment the PC.</a:t>
                </a:r>
              </a:p>
              <a:p>
                <a:r>
                  <a:rPr lang="en-US" b="1" dirty="0"/>
                  <a:t>ID Phase</a:t>
                </a:r>
                <a:r>
                  <a:rPr lang="en-US" dirty="0"/>
                  <a:t>: Decode the instruction and read the corresponding registers.</a:t>
                </a:r>
              </a:p>
              <a:p>
                <a:r>
                  <a:rPr lang="en-US" b="1" dirty="0"/>
                  <a:t>EX Phase</a:t>
                </a:r>
                <a:r>
                  <a:rPr lang="en-US" dirty="0"/>
                  <a:t>: Execute the operation or compute the effective address.</a:t>
                </a:r>
              </a:p>
              <a:p>
                <a:r>
                  <a:rPr lang="en-US" b="1" dirty="0"/>
                  <a:t>MEM Phase</a:t>
                </a:r>
                <a:r>
                  <a:rPr lang="en-US" dirty="0"/>
                  <a:t>: Access memory for load or store operations.</a:t>
                </a:r>
              </a:p>
              <a:p>
                <a:r>
                  <a:rPr lang="en-US" b="1" dirty="0"/>
                  <a:t>WB Phase</a:t>
                </a:r>
                <a:r>
                  <a:rPr lang="en-US" dirty="0"/>
                  <a:t>: Write the result back to the register file.</a:t>
                </a:r>
              </a:p>
              <a:p>
                <a:r>
                  <a:rPr lang="en-US" b="1" dirty="0"/>
                  <a:t>Example Instruction Flow</a:t>
                </a:r>
              </a:p>
              <a:p>
                <a:r>
                  <a:rPr lang="en-US" dirty="0"/>
                  <a:t>Let’s take an example of a simple load instruction </a:t>
                </a:r>
                <a:r>
                  <a:rPr lang="en-US" sz="1200" kern="1200" dirty="0">
                    <a:solidFill>
                      <a:schemeClr val="tx1"/>
                    </a:solidFill>
                    <a:latin typeface="+mn-lt"/>
                    <a:ea typeface="+mn-ea"/>
                    <a:cs typeface="+mn-cs"/>
                  </a:rPr>
                  <a:t>LOAD R1, 0(R2)</a:t>
                </a:r>
                <a:r>
                  <a:rPr lang="en-US" dirty="0"/>
                  <a:t>:</a:t>
                </a:r>
              </a:p>
              <a:p>
                <a:r>
                  <a:rPr lang="en-US" b="1" dirty="0"/>
                  <a:t>IF</a:t>
                </a:r>
                <a:r>
                  <a:rPr lang="en-US" dirty="0"/>
                  <a:t>: Fetch the instruction from memory where the PC points.</a:t>
                </a:r>
              </a:p>
              <a:p>
                <a:r>
                  <a:rPr lang="en-US" b="1" dirty="0"/>
                  <a:t>ID</a:t>
                </a:r>
                <a:r>
                  <a:rPr lang="en-US" dirty="0"/>
                  <a:t>: Decode this instruction to determine that we need to load into </a:t>
                </a:r>
                <a:r>
                  <a:rPr lang="en-US" sz="1200" kern="1200" dirty="0">
                    <a:solidFill>
                      <a:schemeClr val="tx1"/>
                    </a:solidFill>
                    <a:latin typeface="+mn-lt"/>
                    <a:ea typeface="+mn-ea"/>
                    <a:cs typeface="+mn-cs"/>
                  </a:rPr>
                  <a:t>R1</a:t>
                </a:r>
                <a:r>
                  <a:rPr lang="en-US" dirty="0"/>
                  <a:t> and use </a:t>
                </a:r>
                <a:r>
                  <a:rPr lang="en-US" sz="1200" kern="1200" dirty="0">
                    <a:solidFill>
                      <a:schemeClr val="tx1"/>
                    </a:solidFill>
                    <a:latin typeface="+mn-lt"/>
                    <a:ea typeface="+mn-ea"/>
                    <a:cs typeface="+mn-cs"/>
                  </a:rPr>
                  <a:t>R2</a:t>
                </a:r>
                <a:r>
                  <a:rPr lang="en-US" dirty="0"/>
                  <a:t> as the base address with an offset of </a:t>
                </a:r>
                <a:r>
                  <a:rPr lang="en-US" sz="1200" kern="1200" dirty="0">
                    <a:solidFill>
                      <a:schemeClr val="tx1"/>
                    </a:solidFill>
                    <a:latin typeface="+mn-lt"/>
                    <a:ea typeface="+mn-ea"/>
                    <a:cs typeface="+mn-cs"/>
                  </a:rPr>
                  <a:t>0</a:t>
                </a:r>
                <a:r>
                  <a:rPr lang="en-US" dirty="0"/>
                  <a:t>.</a:t>
                </a:r>
              </a:p>
              <a:p>
                <a:r>
                  <a:rPr lang="en-US" b="1" dirty="0"/>
                  <a:t>EX</a:t>
                </a:r>
                <a:r>
                  <a:rPr lang="en-US" dirty="0"/>
                  <a:t>: Calculate the effective address using the value in </a:t>
                </a:r>
                <a:r>
                  <a:rPr lang="en-US" sz="1200" kern="1200" dirty="0">
                    <a:solidFill>
                      <a:schemeClr val="tx1"/>
                    </a:solidFill>
                    <a:latin typeface="+mn-lt"/>
                    <a:ea typeface="+mn-ea"/>
                    <a:cs typeface="+mn-cs"/>
                  </a:rPr>
                  <a:t>R2</a:t>
                </a:r>
                <a:r>
                  <a:rPr lang="en-US" dirty="0"/>
                  <a:t>.</a:t>
                </a:r>
              </a:p>
              <a:p>
                <a:r>
                  <a:rPr lang="en-US" b="1" dirty="0"/>
                  <a:t>MEM</a:t>
                </a:r>
                <a:r>
                  <a:rPr lang="en-US" dirty="0"/>
                  <a:t>: Access memory at the calculated effective address to retrieve the data.</a:t>
                </a:r>
              </a:p>
              <a:p>
                <a:r>
                  <a:rPr lang="en-US" b="1" dirty="0"/>
                  <a:t>WB</a:t>
                </a:r>
                <a:r>
                  <a:rPr lang="en-US" dirty="0"/>
                  <a:t>: Write the loaded data into register </a:t>
                </a:r>
                <a:r>
                  <a:rPr lang="en-US" sz="1200" kern="1200" dirty="0">
                    <a:solidFill>
                      <a:schemeClr val="tx1"/>
                    </a:solidFill>
                    <a:latin typeface="+mn-lt"/>
                    <a:ea typeface="+mn-ea"/>
                    <a:cs typeface="+mn-cs"/>
                  </a:rPr>
                  <a:t>R1</a:t>
                </a:r>
                <a:r>
                  <a:rPr lang="en-US" dirty="0"/>
                  <a:t>.</a:t>
                </a:r>
              </a:p>
              <a:p>
                <a:r>
                  <a:rPr lang="en-US" dirty="0"/>
                  <a:t>This structured approach ensures that the CPU can process instructions efficiently and effectively in a pipelined fashion. If you need more specific details or clarifications, let me know!</a:t>
                </a:r>
              </a:p>
              <a:p>
                <a:endParaRPr lang="en-US" dirty="0"/>
              </a:p>
            </p:txBody>
          </p:sp>
        </mc:Choice>
        <mc:Fallback>
          <p:sp>
            <p:nvSpPr>
              <p:cNvPr id="3" name="Notes Placeholder 2"/>
              <p:cNvSpPr>
                <a:spLocks noGrp="1"/>
              </p:cNvSpPr>
              <p:nvPr>
                <p:ph type="body" idx="1"/>
              </p:nvPr>
            </p:nvSpPr>
            <p:spPr/>
            <p:txBody>
              <a:bodyPr/>
              <a:lstStyle/>
              <a:p>
                <a:r>
                  <a:rPr lang="en-US" b="1" dirty="0"/>
                  <a:t>Instruction Cycle Stages</a:t>
                </a:r>
              </a:p>
              <a:p>
                <a:r>
                  <a:rPr lang="en-US" b="1" dirty="0"/>
                  <a:t>1. Instruction Fetch Cycle (IF)</a:t>
                </a:r>
              </a:p>
              <a:p>
                <a:r>
                  <a:rPr lang="en-US" b="1" dirty="0"/>
                  <a:t>Purpose</a:t>
                </a:r>
                <a:r>
                  <a:rPr lang="en-US" dirty="0"/>
                  <a:t>: Retrieve the instruction that will be executed.</a:t>
                </a:r>
              </a:p>
              <a:p>
                <a:r>
                  <a:rPr lang="en-US" b="1" dirty="0"/>
                  <a:t>Steps</a:t>
                </a:r>
                <a:r>
                  <a:rPr lang="en-US" dirty="0"/>
                  <a:t>: </a:t>
                </a:r>
              </a:p>
              <a:p>
                <a:pPr lvl="1"/>
                <a:r>
                  <a:rPr lang="en-US" b="1" dirty="0"/>
                  <a:t>Send the Program Counter (PC) to Memory</a:t>
                </a:r>
                <a:r>
                  <a:rPr lang="en-US" dirty="0"/>
                  <a:t>: The address stored in the PC is sent to the memory to fetch the instruction.</a:t>
                </a:r>
              </a:p>
              <a:p>
                <a:pPr lvl="1"/>
                <a:r>
                  <a:rPr lang="en-US" b="1" dirty="0"/>
                  <a:t>Fetch the Current Instruction</a:t>
                </a:r>
                <a:r>
                  <a:rPr lang="en-US" dirty="0"/>
                  <a:t>: The instruction at the memory location specified by the PC is retrieved.</a:t>
                </a:r>
              </a:p>
              <a:p>
                <a:pPr lvl="1"/>
                <a:r>
                  <a:rPr lang="en-US" b="1" dirty="0"/>
                  <a:t>Update the PC</a:t>
                </a:r>
                <a:r>
                  <a:rPr lang="en-US" dirty="0"/>
                  <a:t>: The PC is incremented by 4 (assuming each instruction is 4 bytes long) to point to the next instruction: </a:t>
                </a:r>
              </a:p>
              <a:p>
                <a:r>
                  <a:rPr lang="en-US" b="0" i="0">
                    <a:latin typeface="Cambria Math" panose="02040503050406030204" pitchFamily="18" charset="0"/>
                  </a:rPr>
                  <a:t>"PC</a:t>
                </a:r>
                <a:r>
                  <a:rPr lang="en-US" sz="1200" b="0" i="0" kern="1200">
                    <a:solidFill>
                      <a:schemeClr val="tx1"/>
                    </a:solidFill>
                    <a:latin typeface="+mn-lt"/>
                    <a:ea typeface="+mn-ea"/>
                    <a:cs typeface="+mn-cs"/>
                  </a:rPr>
                  <a:t>"=</a:t>
                </a:r>
                <a:r>
                  <a:rPr lang="en-US" sz="1200" b="0" i="0" kern="1200">
                    <a:solidFill>
                      <a:schemeClr val="tx1"/>
                    </a:solidFill>
                    <a:latin typeface="Cambria Math" panose="02040503050406030204" pitchFamily="18" charset="0"/>
                    <a:ea typeface="+mn-ea"/>
                    <a:cs typeface="+mn-cs"/>
                  </a:rPr>
                  <a:t>"PC</a:t>
                </a:r>
                <a:r>
                  <a:rPr lang="en-US" sz="1200" b="0" i="0" kern="1200">
                    <a:solidFill>
                      <a:schemeClr val="tx1"/>
                    </a:solidFill>
                    <a:latin typeface="+mn-lt"/>
                    <a:ea typeface="+mn-ea"/>
                    <a:cs typeface="+mn-cs"/>
                  </a:rPr>
                  <a:t>"+4</a:t>
                </a:r>
                <a:endParaRPr lang="en-US" b="0" dirty="0"/>
              </a:p>
              <a:p>
                <a:r>
                  <a:rPr lang="en-US" b="1" dirty="0"/>
                  <a:t>2. Instruction Decode/Register Fetch Cycle (ID)</a:t>
                </a:r>
              </a:p>
              <a:p>
                <a:r>
                  <a:rPr lang="en-US" b="1" dirty="0"/>
                  <a:t>Purpose</a:t>
                </a:r>
                <a:r>
                  <a:rPr lang="en-US" dirty="0"/>
                  <a:t>: Decipher the fetched instruction and access the necessary registers.</a:t>
                </a:r>
              </a:p>
              <a:p>
                <a:r>
                  <a:rPr lang="en-US" b="1" dirty="0"/>
                  <a:t>Steps</a:t>
                </a:r>
                <a:r>
                  <a:rPr lang="en-US" dirty="0"/>
                  <a:t>: </a:t>
                </a:r>
              </a:p>
              <a:p>
                <a:pPr lvl="1"/>
                <a:r>
                  <a:rPr lang="en-US" b="1" dirty="0"/>
                  <a:t>Decode the Instruction</a:t>
                </a:r>
                <a:r>
                  <a:rPr lang="en-US" dirty="0"/>
                  <a:t>: The control unit decodes the instruction to determine the operation and the registers involved.</a:t>
                </a:r>
              </a:p>
              <a:p>
                <a:pPr lvl="1"/>
                <a:r>
                  <a:rPr lang="en-US" b="1" dirty="0"/>
                  <a:t>Read the Registers</a:t>
                </a:r>
                <a:r>
                  <a:rPr lang="en-US" dirty="0"/>
                  <a:t>: The values from the source registers indicated by the instruction are read from the register file.</a:t>
                </a:r>
              </a:p>
              <a:p>
                <a:r>
                  <a:rPr lang="en-US" b="1" dirty="0"/>
                  <a:t>3. Execution/Effective Address Cycle (EX)</a:t>
                </a:r>
              </a:p>
              <a:p>
                <a:r>
                  <a:rPr lang="en-US" b="1" dirty="0"/>
                  <a:t>Purpose</a:t>
                </a:r>
                <a:r>
                  <a:rPr lang="en-US" dirty="0"/>
                  <a:t>: Perform the arithmetic operation or determine the effective address for memory accesses.</a:t>
                </a:r>
              </a:p>
              <a:p>
                <a:r>
                  <a:rPr lang="en-US" b="1" dirty="0"/>
                  <a:t>Steps</a:t>
                </a:r>
                <a:r>
                  <a:rPr lang="en-US" dirty="0"/>
                  <a:t>: </a:t>
                </a:r>
              </a:p>
              <a:p>
                <a:pPr lvl="1"/>
                <a:r>
                  <a:rPr lang="en-US" b="1" dirty="0"/>
                  <a:t>ALU Operations</a:t>
                </a:r>
                <a:r>
                  <a:rPr lang="en-US" dirty="0"/>
                  <a:t>: The Arithmetic Logic Unit (ALU) performs operations based on the instruction type: </a:t>
                </a:r>
              </a:p>
              <a:p>
                <a:pPr lvl="2"/>
                <a:r>
                  <a:rPr lang="en-US" b="1" dirty="0"/>
                  <a:t>Memory Reference</a:t>
                </a:r>
                <a:r>
                  <a:rPr lang="en-US" dirty="0"/>
                  <a:t>: For instructions that require memory access (like Load or Store), the ALU computes the effective address by adding a base register value to an offset.</a:t>
                </a:r>
              </a:p>
              <a:p>
                <a:pPr lvl="2"/>
                <a:r>
                  <a:rPr lang="en-US" b="1" dirty="0"/>
                  <a:t>Register-Register ALU Instruction</a:t>
                </a:r>
                <a:r>
                  <a:rPr lang="en-US" dirty="0"/>
                  <a:t>: The ALU executes the operation specified by the opcode on the values obtained from the register file.</a:t>
                </a:r>
              </a:p>
              <a:p>
                <a:pPr lvl="2"/>
                <a:r>
                  <a:rPr lang="en-US" b="1" dirty="0"/>
                  <a:t>Register-Immediate ALU Instruction</a:t>
                </a:r>
                <a:r>
                  <a:rPr lang="en-US" dirty="0"/>
                  <a:t>: ALU operates on the value from the register file and a sign-extended immediate value.</a:t>
                </a:r>
              </a:p>
              <a:p>
                <a:r>
                  <a:rPr lang="en-US" b="1" dirty="0"/>
                  <a:t>4. Memory Access Cycle (MEM)</a:t>
                </a:r>
              </a:p>
              <a:p>
                <a:r>
                  <a:rPr lang="en-US" b="1" dirty="0"/>
                  <a:t>Purpose</a:t>
                </a:r>
                <a:r>
                  <a:rPr lang="en-US" dirty="0"/>
                  <a:t>: Access memory for load or store operations.</a:t>
                </a:r>
              </a:p>
              <a:p>
                <a:r>
                  <a:rPr lang="en-US" b="1" dirty="0"/>
                  <a:t>Steps</a:t>
                </a:r>
                <a:r>
                  <a:rPr lang="en-US" dirty="0"/>
                  <a:t>: </a:t>
                </a:r>
              </a:p>
              <a:p>
                <a:pPr lvl="1"/>
                <a:r>
                  <a:rPr lang="en-US" dirty="0"/>
                  <a:t>For </a:t>
                </a:r>
                <a:r>
                  <a:rPr lang="en-US" b="1" dirty="0"/>
                  <a:t>Load Instructions</a:t>
                </a:r>
                <a:r>
                  <a:rPr lang="en-US" dirty="0"/>
                  <a:t>: </a:t>
                </a:r>
              </a:p>
              <a:p>
                <a:pPr lvl="2"/>
                <a:r>
                  <a:rPr lang="en-US" dirty="0"/>
                  <a:t>Perform a read operation using the effective address calculated in the EX stage. The data from memory is fetched.</a:t>
                </a:r>
              </a:p>
              <a:p>
                <a:pPr lvl="1"/>
                <a:r>
                  <a:rPr lang="en-US" dirty="0"/>
                  <a:t>For </a:t>
                </a:r>
                <a:r>
                  <a:rPr lang="en-US" b="1" dirty="0"/>
                  <a:t>Store Instructions</a:t>
                </a:r>
                <a:r>
                  <a:rPr lang="en-US" dirty="0"/>
                  <a:t>: </a:t>
                </a:r>
              </a:p>
              <a:p>
                <a:pPr lvl="2"/>
                <a:r>
                  <a:rPr lang="en-US" dirty="0"/>
                  <a:t>Write the value from the specified register to the memory location determined by the effective address.</a:t>
                </a:r>
              </a:p>
              <a:p>
                <a:r>
                  <a:rPr lang="en-US" b="1" dirty="0"/>
                  <a:t>5. Write-Back Cycle (WB)</a:t>
                </a:r>
              </a:p>
              <a:p>
                <a:r>
                  <a:rPr lang="en-US" b="1" dirty="0"/>
                  <a:t>Purpose</a:t>
                </a:r>
                <a:r>
                  <a:rPr lang="en-US" dirty="0"/>
                  <a:t>: Store the result of an operation back into the register file.</a:t>
                </a:r>
              </a:p>
              <a:p>
                <a:r>
                  <a:rPr lang="en-US" b="1" dirty="0"/>
                  <a:t>Steps</a:t>
                </a:r>
                <a:r>
                  <a:rPr lang="en-US" dirty="0"/>
                  <a:t>: </a:t>
                </a:r>
              </a:p>
              <a:p>
                <a:pPr lvl="1"/>
                <a:r>
                  <a:rPr lang="en-US" b="1" dirty="0"/>
                  <a:t>Write to Register File</a:t>
                </a:r>
                <a:r>
                  <a:rPr lang="en-US" dirty="0"/>
                  <a:t>: </a:t>
                </a:r>
              </a:p>
              <a:p>
                <a:pPr lvl="2"/>
                <a:r>
                  <a:rPr lang="en-US" dirty="0"/>
                  <a:t>For </a:t>
                </a:r>
                <a:r>
                  <a:rPr lang="en-US" b="1" dirty="0"/>
                  <a:t>Register-Register ALU Instructions</a:t>
                </a:r>
                <a:r>
                  <a:rPr lang="en-US" dirty="0"/>
                  <a:t>: Write the result from the ALU back to the specified register.</a:t>
                </a:r>
              </a:p>
              <a:p>
                <a:pPr lvl="2"/>
                <a:r>
                  <a:rPr lang="en-US" dirty="0"/>
                  <a:t>For </a:t>
                </a:r>
                <a:r>
                  <a:rPr lang="en-US" b="1" dirty="0"/>
                  <a:t>Load Instructions</a:t>
                </a:r>
                <a:r>
                  <a:rPr lang="en-US" dirty="0"/>
                  <a:t>: Write the data fetched from memory into the appropriate register.</a:t>
                </a:r>
              </a:p>
              <a:p>
                <a:r>
                  <a:rPr lang="en-US" b="1" dirty="0"/>
                  <a:t>Summary of the Instruction Cycle</a:t>
                </a:r>
              </a:p>
              <a:p>
                <a:r>
                  <a:rPr lang="en-US" b="1" dirty="0"/>
                  <a:t>IF Phase</a:t>
                </a:r>
                <a:r>
                  <a:rPr lang="en-US" dirty="0"/>
                  <a:t>: Fetch the instruction and increment the PC.</a:t>
                </a:r>
              </a:p>
              <a:p>
                <a:r>
                  <a:rPr lang="en-US" b="1" dirty="0"/>
                  <a:t>ID Phase</a:t>
                </a:r>
                <a:r>
                  <a:rPr lang="en-US" dirty="0"/>
                  <a:t>: Decode the instruction and read the corresponding registers.</a:t>
                </a:r>
              </a:p>
              <a:p>
                <a:r>
                  <a:rPr lang="en-US" b="1" dirty="0"/>
                  <a:t>EX Phase</a:t>
                </a:r>
                <a:r>
                  <a:rPr lang="en-US" dirty="0"/>
                  <a:t>: Execute the operation or compute the effective address.</a:t>
                </a:r>
              </a:p>
              <a:p>
                <a:r>
                  <a:rPr lang="en-US" b="1" dirty="0"/>
                  <a:t>MEM Phase</a:t>
                </a:r>
                <a:r>
                  <a:rPr lang="en-US" dirty="0"/>
                  <a:t>: Access memory for load or store operations.</a:t>
                </a:r>
              </a:p>
              <a:p>
                <a:r>
                  <a:rPr lang="en-US" b="1" dirty="0"/>
                  <a:t>WB Phase</a:t>
                </a:r>
                <a:r>
                  <a:rPr lang="en-US" dirty="0"/>
                  <a:t>: Write the result back to the register file.</a:t>
                </a:r>
              </a:p>
              <a:p>
                <a:r>
                  <a:rPr lang="en-US" b="1" dirty="0"/>
                  <a:t>Example Instruction Flow</a:t>
                </a:r>
              </a:p>
              <a:p>
                <a:r>
                  <a:rPr lang="en-US" dirty="0"/>
                  <a:t>Let’s take an example of a simple load instruction </a:t>
                </a:r>
                <a:r>
                  <a:rPr lang="en-US" sz="1200" kern="1200" dirty="0">
                    <a:solidFill>
                      <a:schemeClr val="tx1"/>
                    </a:solidFill>
                    <a:latin typeface="+mn-lt"/>
                    <a:ea typeface="+mn-ea"/>
                    <a:cs typeface="+mn-cs"/>
                  </a:rPr>
                  <a:t>LOAD R1, 0(R2)</a:t>
                </a:r>
                <a:r>
                  <a:rPr lang="en-US" dirty="0"/>
                  <a:t>:</a:t>
                </a:r>
              </a:p>
              <a:p>
                <a:r>
                  <a:rPr lang="en-US" b="1" dirty="0"/>
                  <a:t>IF</a:t>
                </a:r>
                <a:r>
                  <a:rPr lang="en-US" dirty="0"/>
                  <a:t>: Fetch the instruction from memory where the PC points.</a:t>
                </a:r>
              </a:p>
              <a:p>
                <a:r>
                  <a:rPr lang="en-US" b="1" dirty="0"/>
                  <a:t>ID</a:t>
                </a:r>
                <a:r>
                  <a:rPr lang="en-US" dirty="0"/>
                  <a:t>: Decode this instruction to determine that we need to load into </a:t>
                </a:r>
                <a:r>
                  <a:rPr lang="en-US" sz="1200" kern="1200" dirty="0">
                    <a:solidFill>
                      <a:schemeClr val="tx1"/>
                    </a:solidFill>
                    <a:latin typeface="+mn-lt"/>
                    <a:ea typeface="+mn-ea"/>
                    <a:cs typeface="+mn-cs"/>
                  </a:rPr>
                  <a:t>R1</a:t>
                </a:r>
                <a:r>
                  <a:rPr lang="en-US" dirty="0"/>
                  <a:t> and use </a:t>
                </a:r>
                <a:r>
                  <a:rPr lang="en-US" sz="1200" kern="1200" dirty="0">
                    <a:solidFill>
                      <a:schemeClr val="tx1"/>
                    </a:solidFill>
                    <a:latin typeface="+mn-lt"/>
                    <a:ea typeface="+mn-ea"/>
                    <a:cs typeface="+mn-cs"/>
                  </a:rPr>
                  <a:t>R2</a:t>
                </a:r>
                <a:r>
                  <a:rPr lang="en-US" dirty="0"/>
                  <a:t> as the base address with an offset of </a:t>
                </a:r>
                <a:r>
                  <a:rPr lang="en-US" sz="1200" kern="1200" dirty="0">
                    <a:solidFill>
                      <a:schemeClr val="tx1"/>
                    </a:solidFill>
                    <a:latin typeface="+mn-lt"/>
                    <a:ea typeface="+mn-ea"/>
                    <a:cs typeface="+mn-cs"/>
                  </a:rPr>
                  <a:t>0</a:t>
                </a:r>
                <a:r>
                  <a:rPr lang="en-US" dirty="0"/>
                  <a:t>.</a:t>
                </a:r>
              </a:p>
              <a:p>
                <a:r>
                  <a:rPr lang="en-US" b="1" dirty="0"/>
                  <a:t>EX</a:t>
                </a:r>
                <a:r>
                  <a:rPr lang="en-US" dirty="0"/>
                  <a:t>: Calculate the effective address using the value in </a:t>
                </a:r>
                <a:r>
                  <a:rPr lang="en-US" sz="1200" kern="1200" dirty="0">
                    <a:solidFill>
                      <a:schemeClr val="tx1"/>
                    </a:solidFill>
                    <a:latin typeface="+mn-lt"/>
                    <a:ea typeface="+mn-ea"/>
                    <a:cs typeface="+mn-cs"/>
                  </a:rPr>
                  <a:t>R2</a:t>
                </a:r>
                <a:r>
                  <a:rPr lang="en-US" dirty="0"/>
                  <a:t>.</a:t>
                </a:r>
              </a:p>
              <a:p>
                <a:r>
                  <a:rPr lang="en-US" b="1" dirty="0"/>
                  <a:t>MEM</a:t>
                </a:r>
                <a:r>
                  <a:rPr lang="en-US" dirty="0"/>
                  <a:t>: Access memory at the calculated effective address to retrieve the data.</a:t>
                </a:r>
              </a:p>
              <a:p>
                <a:r>
                  <a:rPr lang="en-US" b="1" dirty="0"/>
                  <a:t>WB</a:t>
                </a:r>
                <a:r>
                  <a:rPr lang="en-US" dirty="0"/>
                  <a:t>: Write the loaded data into register </a:t>
                </a:r>
                <a:r>
                  <a:rPr lang="en-US" sz="1200" kern="1200" dirty="0">
                    <a:solidFill>
                      <a:schemeClr val="tx1"/>
                    </a:solidFill>
                    <a:latin typeface="+mn-lt"/>
                    <a:ea typeface="+mn-ea"/>
                    <a:cs typeface="+mn-cs"/>
                  </a:rPr>
                  <a:t>R1</a:t>
                </a:r>
                <a:r>
                  <a:rPr lang="en-US" dirty="0"/>
                  <a:t>.</a:t>
                </a:r>
              </a:p>
              <a:p>
                <a:r>
                  <a:rPr lang="en-US" dirty="0"/>
                  <a:t>This structured approach ensures that the CPU can process instructions efficiently and effectively in a pipelined fashion. If you need more specific details or clarifications, let me know!</a:t>
                </a:r>
              </a:p>
              <a:p>
                <a:endParaRPr lang="en-US" dirty="0"/>
              </a:p>
            </p:txBody>
          </p:sp>
        </mc:Fallback>
      </mc:AlternateContent>
      <p:sp>
        <p:nvSpPr>
          <p:cNvPr id="4" name="Slide Number Placeholder 3"/>
          <p:cNvSpPr>
            <a:spLocks noGrp="1"/>
          </p:cNvSpPr>
          <p:nvPr>
            <p:ph type="sldNum" sz="quarter" idx="5"/>
          </p:nvPr>
        </p:nvSpPr>
        <p:spPr/>
        <p:txBody>
          <a:bodyPr/>
          <a:lstStyle/>
          <a:p>
            <a:fld id="{B85E5560-A398-44B1-84ED-312914F41311}" type="slidenum">
              <a:rPr lang="en-US" smtClean="0"/>
              <a:t>13</a:t>
            </a:fld>
            <a:endParaRPr lang="en-US"/>
          </a:p>
        </p:txBody>
      </p:sp>
    </p:spTree>
    <p:extLst>
      <p:ext uri="{BB962C8B-B14F-4D97-AF65-F5344CB8AC3E}">
        <p14:creationId xmlns:p14="http://schemas.microsoft.com/office/powerpoint/2010/main" val="468110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ISC: Reduced Instruction Set Computer</a:t>
            </a:r>
          </a:p>
          <a:p>
            <a:r>
              <a:rPr lang="en-US" dirty="0"/>
              <a:t>A Reduced Instruction Set Computer (RISC) is a type of computer architecture that utilizes a small set of simple instructions. RISC designs focus on executing instructions in a single cycle and often use pipelining to improve performance.</a:t>
            </a:r>
          </a:p>
          <a:p>
            <a:r>
              <a:rPr lang="en-US" b="1" dirty="0"/>
              <a:t>Implementation of RISC with Register File in Two Stages</a:t>
            </a:r>
          </a:p>
          <a:p>
            <a:r>
              <a:rPr lang="en-US" dirty="0"/>
              <a:t>To achieve efficient instruction execution, RISC architectures often implement a register file that can be accessed in two stages. This allows for reading and writing registers within the same clock cycle, improving instruction throughput.</a:t>
            </a:r>
          </a:p>
          <a:p>
            <a:r>
              <a:rPr lang="en-US" b="1" dirty="0"/>
              <a:t>Key Concepts</a:t>
            </a:r>
          </a:p>
          <a:p>
            <a:r>
              <a:rPr lang="en-US" b="1" dirty="0"/>
              <a:t>Register File</a:t>
            </a:r>
            <a:r>
              <a:rPr lang="en-US" dirty="0"/>
              <a:t>: </a:t>
            </a:r>
          </a:p>
          <a:p>
            <a:pPr lvl="1"/>
            <a:r>
              <a:rPr lang="en-US" dirty="0"/>
              <a:t>A collection of registers available for CPU operations.</a:t>
            </a:r>
          </a:p>
          <a:p>
            <a:pPr lvl="1"/>
            <a:r>
              <a:rPr lang="en-US" dirty="0"/>
              <a:t>Allows for quick access to operands needed for instructions.</a:t>
            </a:r>
          </a:p>
          <a:p>
            <a:r>
              <a:rPr lang="en-US" b="1" dirty="0"/>
              <a:t>Two-Stage Access</a:t>
            </a:r>
            <a:r>
              <a:rPr lang="en-US" dirty="0"/>
              <a:t>: </a:t>
            </a:r>
          </a:p>
          <a:p>
            <a:pPr lvl="1"/>
            <a:r>
              <a:rPr lang="en-US" dirty="0"/>
              <a:t>This implementation allows one half of the clock cycle to be dedicated to writing to a register while the other half is used for reading from a register. This "write before read" approach helps maximize throughput.</a:t>
            </a:r>
          </a:p>
          <a:p>
            <a:r>
              <a:rPr lang="en-US" b="1" dirty="0"/>
              <a:t>How It Works</a:t>
            </a:r>
          </a:p>
          <a:p>
            <a:r>
              <a:rPr lang="en-US" b="1" dirty="0"/>
              <a:t>1. Stages of Register File Access:</a:t>
            </a:r>
          </a:p>
          <a:p>
            <a:r>
              <a:rPr lang="en-US" b="1" dirty="0"/>
              <a:t>Stage 1</a:t>
            </a:r>
            <a:r>
              <a:rPr lang="en-US" dirty="0"/>
              <a:t>: Write Operation</a:t>
            </a:r>
          </a:p>
          <a:p>
            <a:pPr lvl="1"/>
            <a:r>
              <a:rPr lang="en-US" dirty="0"/>
              <a:t>During the first half of the clock cycle, the CPU writes data to a specified register.</a:t>
            </a:r>
          </a:p>
          <a:p>
            <a:pPr lvl="1"/>
            <a:r>
              <a:rPr lang="en-US" dirty="0"/>
              <a:t>Once the ALU or memory has computed the result of the previous instruction, that result can be written back to the register file in this stage.</a:t>
            </a:r>
          </a:p>
          <a:p>
            <a:r>
              <a:rPr lang="en-US" b="1" dirty="0"/>
              <a:t>Stage 2</a:t>
            </a:r>
            <a:r>
              <a:rPr lang="en-US" dirty="0"/>
              <a:t>: Read Operation</a:t>
            </a:r>
          </a:p>
          <a:p>
            <a:pPr lvl="1"/>
            <a:r>
              <a:rPr lang="en-US" dirty="0"/>
              <a:t>In the second half of the clock cycle, the CPU can read data from another register for the next operation or instruction.</a:t>
            </a:r>
          </a:p>
          <a:p>
            <a:pPr lvl="1"/>
            <a:r>
              <a:rPr lang="en-US" dirty="0"/>
              <a:t>This ensures that operands required for the next instruction are available without waiting for the write operation to complete.</a:t>
            </a:r>
          </a:p>
          <a:p>
            <a:r>
              <a:rPr lang="en-US" b="1" dirty="0"/>
              <a:t>2. Timing Diagram:</a:t>
            </a:r>
          </a:p>
          <a:p>
            <a:r>
              <a:rPr lang="en-US" dirty="0"/>
              <a:t>A basic timing diagram for the two-stage register access can illustrate how these operations overlap during a single clock cycle.</a:t>
            </a:r>
          </a:p>
          <a:p>
            <a:r>
              <a:rPr lang="en-US" dirty="0"/>
              <a:t>gherkin</a:t>
            </a:r>
          </a:p>
          <a:p>
            <a:r>
              <a:rPr lang="en-US" sz="1200" kern="1200" dirty="0">
                <a:solidFill>
                  <a:schemeClr val="tx1"/>
                </a:solidFill>
                <a:effectLst/>
                <a:latin typeface="+mn-lt"/>
                <a:ea typeface="+mn-ea"/>
                <a:cs typeface="+mn-cs"/>
              </a:rPr>
              <a:t>Clock Cycle: |---|---|---|---|---|---|---|---|  (Each "-" represents equal time)</a:t>
            </a:r>
          </a:p>
          <a:p>
            <a:r>
              <a:rPr lang="en-US" sz="1200" kern="1200" dirty="0">
                <a:solidFill>
                  <a:schemeClr val="tx1"/>
                </a:solidFill>
                <a:effectLst/>
                <a:latin typeface="+mn-lt"/>
                <a:ea typeface="+mn-ea"/>
                <a:cs typeface="+mn-cs"/>
              </a:rPr>
              <a:t>              | W |   |   |   | R |   |   |</a:t>
            </a:r>
          </a:p>
          <a:p>
            <a:r>
              <a:rPr lang="en-US" sz="1200" kern="1200" dirty="0">
                <a:solidFill>
                  <a:schemeClr val="tx1"/>
                </a:solidFill>
                <a:effectLst/>
                <a:latin typeface="+mn-lt"/>
                <a:ea typeface="+mn-ea"/>
                <a:cs typeface="+mn-cs"/>
              </a:rPr>
              <a:t>              | r |   |   |   | e |   |   |</a:t>
            </a:r>
          </a:p>
          <a:p>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   |   |   | a |   |   |</a:t>
            </a:r>
          </a:p>
          <a:p>
            <a:r>
              <a:rPr lang="en-US" sz="1200" kern="1200" dirty="0">
                <a:solidFill>
                  <a:schemeClr val="tx1"/>
                </a:solidFill>
                <a:effectLst/>
                <a:latin typeface="+mn-lt"/>
                <a:ea typeface="+mn-ea"/>
                <a:cs typeface="+mn-cs"/>
              </a:rPr>
              <a:t>              | t |   |   |   | d |   |   |</a:t>
            </a:r>
          </a:p>
          <a:p>
            <a:r>
              <a:rPr lang="en-US" sz="1200" kern="1200" dirty="0">
                <a:solidFill>
                  <a:schemeClr val="tx1"/>
                </a:solidFill>
                <a:effectLst/>
                <a:latin typeface="+mn-lt"/>
                <a:ea typeface="+mn-ea"/>
                <a:cs typeface="+mn-cs"/>
              </a:rPr>
              <a:t>              |   |   |   |   |   |   |   |</a:t>
            </a:r>
          </a:p>
          <a:p>
            <a:r>
              <a:rPr lang="en-US" dirty="0"/>
              <a:t>Where:</a:t>
            </a:r>
          </a:p>
          <a:p>
            <a:r>
              <a:rPr lang="en-US" b="1" dirty="0"/>
              <a:t>W</a:t>
            </a:r>
            <a:r>
              <a:rPr lang="en-US" dirty="0"/>
              <a:t> represents writing to the register.</a:t>
            </a:r>
          </a:p>
          <a:p>
            <a:r>
              <a:rPr lang="en-US" b="1" dirty="0"/>
              <a:t>R</a:t>
            </a:r>
            <a:r>
              <a:rPr lang="en-US" dirty="0"/>
              <a:t> represents reading from the register.</a:t>
            </a:r>
          </a:p>
          <a:p>
            <a:r>
              <a:rPr lang="en-US" b="1" dirty="0"/>
              <a:t>3. Pipeline Example:</a:t>
            </a:r>
          </a:p>
          <a:p>
            <a:r>
              <a:rPr lang="en-US" dirty="0"/>
              <a:t>Let’s consider a sequence of instructions using this two-stage implementation:</a:t>
            </a:r>
          </a:p>
          <a:p>
            <a:r>
              <a:rPr lang="en-US" b="1" dirty="0"/>
              <a:t>Instruction 1</a:t>
            </a:r>
            <a:r>
              <a:rPr lang="en-US" dirty="0"/>
              <a:t>: </a:t>
            </a:r>
            <a:r>
              <a:rPr lang="en-US" sz="1200" kern="1200" dirty="0">
                <a:solidFill>
                  <a:schemeClr val="tx1"/>
                </a:solidFill>
                <a:latin typeface="+mn-lt"/>
                <a:ea typeface="+mn-ea"/>
                <a:cs typeface="+mn-cs"/>
              </a:rPr>
              <a:t>ADD R1, R2, R3</a:t>
            </a:r>
            <a:endParaRPr lang="en-US" dirty="0"/>
          </a:p>
          <a:p>
            <a:pPr lvl="1"/>
            <a:r>
              <a:rPr lang="en-US" dirty="0"/>
              <a:t>This adds the values in </a:t>
            </a:r>
            <a:r>
              <a:rPr lang="en-US" sz="1200" kern="1200" dirty="0">
                <a:solidFill>
                  <a:schemeClr val="tx1"/>
                </a:solidFill>
                <a:latin typeface="+mn-lt"/>
                <a:ea typeface="+mn-ea"/>
                <a:cs typeface="+mn-cs"/>
              </a:rPr>
              <a:t>R2</a:t>
            </a:r>
            <a:r>
              <a:rPr lang="en-US" dirty="0"/>
              <a:t> and </a:t>
            </a:r>
            <a:r>
              <a:rPr lang="en-US" sz="1200" kern="1200" dirty="0">
                <a:solidFill>
                  <a:schemeClr val="tx1"/>
                </a:solidFill>
                <a:latin typeface="+mn-lt"/>
                <a:ea typeface="+mn-ea"/>
                <a:cs typeface="+mn-cs"/>
              </a:rPr>
              <a:t>R3</a:t>
            </a:r>
            <a:r>
              <a:rPr lang="en-US" dirty="0"/>
              <a:t>, storing the result in </a:t>
            </a:r>
            <a:r>
              <a:rPr lang="en-US" sz="1200" kern="1200" dirty="0">
                <a:solidFill>
                  <a:schemeClr val="tx1"/>
                </a:solidFill>
                <a:latin typeface="+mn-lt"/>
                <a:ea typeface="+mn-ea"/>
                <a:cs typeface="+mn-cs"/>
              </a:rPr>
              <a:t>R1</a:t>
            </a:r>
            <a:r>
              <a:rPr lang="en-US" dirty="0"/>
              <a:t>.</a:t>
            </a:r>
          </a:p>
          <a:p>
            <a:r>
              <a:rPr lang="en-US" b="1" dirty="0"/>
              <a:t>Instruction 2</a:t>
            </a:r>
            <a:r>
              <a:rPr lang="en-US" dirty="0"/>
              <a:t>: </a:t>
            </a:r>
            <a:r>
              <a:rPr lang="en-US" sz="1200" kern="1200" dirty="0">
                <a:solidFill>
                  <a:schemeClr val="tx1"/>
                </a:solidFill>
                <a:latin typeface="+mn-lt"/>
                <a:ea typeface="+mn-ea"/>
                <a:cs typeface="+mn-cs"/>
              </a:rPr>
              <a:t>SUB R4, R1, R5</a:t>
            </a:r>
            <a:endParaRPr lang="en-US" dirty="0"/>
          </a:p>
          <a:p>
            <a:pPr lvl="1"/>
            <a:r>
              <a:rPr lang="en-US" dirty="0"/>
              <a:t>This instruction needs the result from the previous instruction which is stored in </a:t>
            </a:r>
            <a:r>
              <a:rPr lang="en-US" sz="1200" kern="1200" dirty="0">
                <a:solidFill>
                  <a:schemeClr val="tx1"/>
                </a:solidFill>
                <a:latin typeface="+mn-lt"/>
                <a:ea typeface="+mn-ea"/>
                <a:cs typeface="+mn-cs"/>
              </a:rPr>
              <a:t>R1</a:t>
            </a:r>
            <a:r>
              <a:rPr lang="en-US" dirty="0"/>
              <a:t>.</a:t>
            </a:r>
          </a:p>
          <a:p>
            <a:r>
              <a:rPr lang="en-US" b="1" dirty="0"/>
              <a:t>Execution Flow</a:t>
            </a:r>
            <a:r>
              <a:rPr lang="en-US" dirty="0"/>
              <a:t>:</a:t>
            </a:r>
          </a:p>
          <a:p>
            <a:r>
              <a:rPr lang="en-US" dirty="0"/>
              <a:t>During the first clock cycle, </a:t>
            </a:r>
            <a:r>
              <a:rPr lang="en-US" sz="1200" kern="1200" dirty="0">
                <a:solidFill>
                  <a:schemeClr val="tx1"/>
                </a:solidFill>
                <a:latin typeface="+mn-lt"/>
                <a:ea typeface="+mn-ea"/>
                <a:cs typeface="+mn-cs"/>
              </a:rPr>
              <a:t>R1</a:t>
            </a:r>
            <a:r>
              <a:rPr lang="en-US" dirty="0"/>
              <a:t> is updated with the sum of </a:t>
            </a:r>
            <a:r>
              <a:rPr lang="en-US" sz="1200" kern="1200" dirty="0">
                <a:solidFill>
                  <a:schemeClr val="tx1"/>
                </a:solidFill>
                <a:latin typeface="+mn-lt"/>
                <a:ea typeface="+mn-ea"/>
                <a:cs typeface="+mn-cs"/>
              </a:rPr>
              <a:t>R2</a:t>
            </a:r>
            <a:r>
              <a:rPr lang="en-US" dirty="0"/>
              <a:t> and </a:t>
            </a:r>
            <a:r>
              <a:rPr lang="en-US" sz="1200" kern="1200" dirty="0">
                <a:solidFill>
                  <a:schemeClr val="tx1"/>
                </a:solidFill>
                <a:latin typeface="+mn-lt"/>
                <a:ea typeface="+mn-ea"/>
                <a:cs typeface="+mn-cs"/>
              </a:rPr>
              <a:t>R3</a:t>
            </a:r>
            <a:r>
              <a:rPr lang="en-US" dirty="0"/>
              <a:t>.</a:t>
            </a:r>
          </a:p>
          <a:p>
            <a:r>
              <a:rPr lang="en-US" dirty="0"/>
              <a:t>In the second half of the same cycle, the CPU can read </a:t>
            </a:r>
            <a:r>
              <a:rPr lang="en-US" sz="1200" kern="1200" dirty="0">
                <a:solidFill>
                  <a:schemeClr val="tx1"/>
                </a:solidFill>
                <a:latin typeface="+mn-lt"/>
                <a:ea typeface="+mn-ea"/>
                <a:cs typeface="+mn-cs"/>
              </a:rPr>
              <a:t>R1</a:t>
            </a:r>
            <a:r>
              <a:rPr lang="en-US" dirty="0"/>
              <a:t>, which is ready for the </a:t>
            </a:r>
            <a:r>
              <a:rPr lang="en-US" sz="1200" kern="1200" dirty="0">
                <a:solidFill>
                  <a:schemeClr val="tx1"/>
                </a:solidFill>
                <a:latin typeface="+mn-lt"/>
                <a:ea typeface="+mn-ea"/>
                <a:cs typeface="+mn-cs"/>
              </a:rPr>
              <a:t>SUB</a:t>
            </a:r>
            <a:r>
              <a:rPr lang="en-US" dirty="0"/>
              <a:t> instruction in the next cycle.</a:t>
            </a:r>
          </a:p>
          <a:p>
            <a:r>
              <a:rPr lang="en-US" b="1" dirty="0"/>
              <a:t>Benefits of Two-Stage Register File Access</a:t>
            </a:r>
          </a:p>
          <a:p>
            <a:r>
              <a:rPr lang="en-US" b="1" dirty="0"/>
              <a:t>Increased Throughput</a:t>
            </a:r>
            <a:r>
              <a:rPr lang="en-US" dirty="0"/>
              <a:t>: By performing write and read operations in the same clock cycle, instructions can complete more quickly.</a:t>
            </a:r>
          </a:p>
          <a:p>
            <a:r>
              <a:rPr lang="en-US" b="1" dirty="0"/>
              <a:t>Reduced Latency</a:t>
            </a:r>
            <a:r>
              <a:rPr lang="en-US" dirty="0"/>
              <a:t>: It minimizes the wait time for results from previous instructions, allowing for a smoother pipeline flow.</a:t>
            </a:r>
          </a:p>
          <a:p>
            <a:r>
              <a:rPr lang="en-US" b="1" dirty="0"/>
              <a:t>Efficient Resource Usage</a:t>
            </a:r>
            <a:r>
              <a:rPr lang="en-US" dirty="0"/>
              <a:t>: The RISC architecture focuses on efficient use of register resources, maintaining a small and fast register file.</a:t>
            </a:r>
          </a:p>
          <a:p>
            <a:r>
              <a:rPr lang="en-US" b="1" dirty="0"/>
              <a:t>Conclusion</a:t>
            </a:r>
          </a:p>
          <a:p>
            <a:r>
              <a:rPr lang="en-US" dirty="0"/>
              <a:t>The implementation of a two-stage register access in RISC architecture enhances performance by allowing register writes and reads to overlap within the same clock cycle. This approach effectively utilizes pipeline methodologies to optimize the execution of instructions, contributing to the overall efficiency and effectiveness of the RISC design.</a:t>
            </a:r>
          </a:p>
          <a:p>
            <a:r>
              <a:rPr lang="en-US" dirty="0"/>
              <a:t>If you have any more questions or need further clarification, feel free to ask!</a:t>
            </a:r>
          </a:p>
          <a:p>
            <a:endParaRPr lang="en-US" dirty="0"/>
          </a:p>
        </p:txBody>
      </p:sp>
      <p:sp>
        <p:nvSpPr>
          <p:cNvPr id="4" name="Slide Number Placeholder 3"/>
          <p:cNvSpPr>
            <a:spLocks noGrp="1"/>
          </p:cNvSpPr>
          <p:nvPr>
            <p:ph type="sldNum" sz="quarter" idx="5"/>
          </p:nvPr>
        </p:nvSpPr>
        <p:spPr/>
        <p:txBody>
          <a:bodyPr/>
          <a:lstStyle/>
          <a:p>
            <a:fld id="{B85E5560-A398-44B1-84ED-312914F41311}" type="slidenum">
              <a:rPr lang="en-US" smtClean="0"/>
              <a:t>15</a:t>
            </a:fld>
            <a:endParaRPr lang="en-US"/>
          </a:p>
        </p:txBody>
      </p:sp>
    </p:spTree>
    <p:extLst>
      <p:ext uri="{BB962C8B-B14F-4D97-AF65-F5344CB8AC3E}">
        <p14:creationId xmlns:p14="http://schemas.microsoft.com/office/powerpoint/2010/main" val="513796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2834640"/>
            <a:ext cx="5829300" cy="1920240"/>
          </a:xfrm>
          <a:prstGeom prst="rect">
            <a:avLst/>
          </a:prstGeom>
        </p:spPr>
        <p:txBody>
          <a:bodyPr wrap="square" lIns="0" tIns="0" rIns="0" bIns="0">
            <a:spAutoFit/>
          </a:bodyPr>
          <a:lstStyle>
            <a:lvl1pPr>
              <a:defRPr sz="2000" b="0" i="0">
                <a:solidFill>
                  <a:schemeClr val="tx1"/>
                </a:solidFill>
                <a:latin typeface="Georgia"/>
                <a:cs typeface="Georgia"/>
              </a:defRPr>
            </a:lvl1pPr>
          </a:lstStyle>
          <a:p>
            <a:endParaRPr/>
          </a:p>
        </p:txBody>
      </p:sp>
      <p:sp>
        <p:nvSpPr>
          <p:cNvPr id="3" name="Holder 3"/>
          <p:cNvSpPr>
            <a:spLocks noGrp="1"/>
          </p:cNvSpPr>
          <p:nvPr>
            <p:ph type="subTitle" idx="4"/>
          </p:nvPr>
        </p:nvSpPr>
        <p:spPr>
          <a:xfrm>
            <a:off x="1028700" y="5120640"/>
            <a:ext cx="4800600" cy="2286000"/>
          </a:xfrm>
          <a:prstGeom prst="rect">
            <a:avLst/>
          </a:prstGeom>
        </p:spPr>
        <p:txBody>
          <a:bodyPr wrap="square" lIns="0" tIns="0" rIns="0" bIns="0">
            <a:spAutoFit/>
          </a:bodyPr>
          <a:lstStyle>
            <a:lvl1pPr>
              <a:defRPr sz="1300" b="1" i="0">
                <a:solidFill>
                  <a:srgbClr val="3E762B"/>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sz="1300" b="1" i="0">
                <a:solidFill>
                  <a:srgbClr val="3E762B"/>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Georgia"/>
                <a:cs typeface="Georgia"/>
              </a:defRPr>
            </a:lvl1pPr>
          </a:lstStyle>
          <a:p>
            <a:endParaRPr/>
          </a:p>
        </p:txBody>
      </p:sp>
      <p:sp>
        <p:nvSpPr>
          <p:cNvPr id="3" name="Holder 3"/>
          <p:cNvSpPr>
            <a:spLocks noGrp="1"/>
          </p:cNvSpPr>
          <p:nvPr>
            <p:ph sz="half" idx="2"/>
          </p:nvPr>
        </p:nvSpPr>
        <p:spPr>
          <a:xfrm>
            <a:off x="342900" y="2103120"/>
            <a:ext cx="298323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103120"/>
            <a:ext cx="298323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7" name="bg object 17"/>
          <p:cNvSpPr/>
          <p:nvPr/>
        </p:nvSpPr>
        <p:spPr>
          <a:xfrm>
            <a:off x="496823" y="990600"/>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18" name="bg object 18"/>
          <p:cNvSpPr/>
          <p:nvPr/>
        </p:nvSpPr>
        <p:spPr>
          <a:xfrm>
            <a:off x="662177" y="1538477"/>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sp>
        <p:nvSpPr>
          <p:cNvPr id="2" name="Holder 2"/>
          <p:cNvSpPr>
            <a:spLocks noGrp="1"/>
          </p:cNvSpPr>
          <p:nvPr>
            <p:ph type="title"/>
          </p:nvPr>
        </p:nvSpPr>
        <p:spPr>
          <a:xfrm>
            <a:off x="712723" y="1092835"/>
            <a:ext cx="4655185" cy="360680"/>
          </a:xfrm>
          <a:prstGeom prst="rect">
            <a:avLst/>
          </a:prstGeom>
        </p:spPr>
        <p:txBody>
          <a:bodyPr wrap="square" lIns="0" tIns="0" rIns="0" bIns="0">
            <a:spAutoFit/>
          </a:bodyPr>
          <a:lstStyle>
            <a:lvl1pPr>
              <a:defRPr sz="2000" b="0" i="0">
                <a:solidFill>
                  <a:schemeClr val="tx1"/>
                </a:solidFill>
                <a:latin typeface="Georgia"/>
                <a:cs typeface="Georgia"/>
              </a:defRPr>
            </a:lvl1pPr>
          </a:lstStyle>
          <a:p>
            <a:endParaRPr/>
          </a:p>
        </p:txBody>
      </p:sp>
      <p:sp>
        <p:nvSpPr>
          <p:cNvPr id="3" name="Holder 3"/>
          <p:cNvSpPr>
            <a:spLocks noGrp="1"/>
          </p:cNvSpPr>
          <p:nvPr>
            <p:ph type="body" idx="1"/>
          </p:nvPr>
        </p:nvSpPr>
        <p:spPr>
          <a:xfrm>
            <a:off x="746861" y="1502767"/>
            <a:ext cx="2799079" cy="2417445"/>
          </a:xfrm>
          <a:prstGeom prst="rect">
            <a:avLst/>
          </a:prstGeom>
        </p:spPr>
        <p:txBody>
          <a:bodyPr wrap="square" lIns="0" tIns="0" rIns="0" bIns="0">
            <a:spAutoFit/>
          </a:bodyPr>
          <a:lstStyle>
            <a:lvl1pPr>
              <a:defRPr sz="1300" b="1" i="0">
                <a:solidFill>
                  <a:srgbClr val="3E762B"/>
                </a:solidFill>
                <a:latin typeface="Times New Roman"/>
                <a:cs typeface="Times New Roman"/>
              </a:defRPr>
            </a:lvl1pPr>
          </a:lstStyle>
          <a:p>
            <a:endParaRPr/>
          </a:p>
        </p:txBody>
      </p:sp>
      <p:sp>
        <p:nvSpPr>
          <p:cNvPr id="4" name="Holder 4"/>
          <p:cNvSpPr>
            <a:spLocks noGrp="1"/>
          </p:cNvSpPr>
          <p:nvPr>
            <p:ph type="ftr" sz="quarter" idx="5"/>
          </p:nvPr>
        </p:nvSpPr>
        <p:spPr>
          <a:xfrm>
            <a:off x="2331720" y="8503920"/>
            <a:ext cx="2194560" cy="4572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8503920"/>
            <a:ext cx="1577340" cy="4572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3/4/2026</a:t>
            </a:fld>
            <a:endParaRPr lang="en-US"/>
          </a:p>
        </p:txBody>
      </p:sp>
      <p:sp>
        <p:nvSpPr>
          <p:cNvPr id="6" name="Holder 6"/>
          <p:cNvSpPr>
            <a:spLocks noGrp="1"/>
          </p:cNvSpPr>
          <p:nvPr>
            <p:ph type="sldNum" sz="quarter" idx="7"/>
          </p:nvPr>
        </p:nvSpPr>
        <p:spPr>
          <a:xfrm>
            <a:off x="4937760" y="8503920"/>
            <a:ext cx="1577340" cy="4572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p:nvPr/>
          </p:nvSpPr>
          <p:spPr>
            <a:xfrm>
              <a:off x="496823" y="990600"/>
              <a:ext cx="5862955" cy="3190240"/>
            </a:xfrm>
            <a:custGeom>
              <a:avLst/>
              <a:gdLst/>
              <a:ahLst/>
              <a:cxnLst/>
              <a:rect l="l" t="t" r="r" b="b"/>
              <a:pathLst>
                <a:path w="5862955" h="3190240">
                  <a:moveTo>
                    <a:pt x="0" y="3189732"/>
                  </a:moveTo>
                  <a:lnTo>
                    <a:pt x="5862828" y="3189732"/>
                  </a:lnTo>
                  <a:lnTo>
                    <a:pt x="5862828" y="0"/>
                  </a:lnTo>
                  <a:lnTo>
                    <a:pt x="0" y="0"/>
                  </a:lnTo>
                  <a:lnTo>
                    <a:pt x="0" y="3189732"/>
                  </a:lnTo>
                  <a:close/>
                </a:path>
              </a:pathLst>
            </a:custGeom>
            <a:ln w="6095">
              <a:solidFill>
                <a:srgbClr val="FFFFFF"/>
              </a:solidFill>
            </a:ln>
          </p:spPr>
          <p:txBody>
            <a:bodyPr wrap="square" lIns="0" tIns="0" rIns="0" bIns="0" rtlCol="0"/>
            <a:lstStyle/>
            <a:p>
              <a:endParaRPr/>
            </a:p>
          </p:txBody>
        </p:sp>
      </p:grpSp>
      <p:sp>
        <p:nvSpPr>
          <p:cNvPr id="5" name="object 5"/>
          <p:cNvSpPr/>
          <p:nvPr/>
        </p:nvSpPr>
        <p:spPr>
          <a:xfrm>
            <a:off x="1370838" y="2736342"/>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sp>
        <p:nvSpPr>
          <p:cNvPr id="6" name="object 6"/>
          <p:cNvSpPr txBox="1">
            <a:spLocks noGrp="1"/>
          </p:cNvSpPr>
          <p:nvPr>
            <p:ph type="title"/>
          </p:nvPr>
        </p:nvSpPr>
        <p:spPr>
          <a:xfrm>
            <a:off x="1182725" y="2164842"/>
            <a:ext cx="4488180" cy="574040"/>
          </a:xfrm>
          <a:prstGeom prst="rect">
            <a:avLst/>
          </a:prstGeom>
        </p:spPr>
        <p:txBody>
          <a:bodyPr vert="horz" wrap="square" lIns="0" tIns="12700" rIns="0" bIns="0" rtlCol="0">
            <a:spAutoFit/>
          </a:bodyPr>
          <a:lstStyle/>
          <a:p>
            <a:pPr marL="12700">
              <a:lnSpc>
                <a:spcPct val="100000"/>
              </a:lnSpc>
              <a:spcBef>
                <a:spcPts val="100"/>
              </a:spcBef>
            </a:pPr>
            <a:r>
              <a:rPr sz="3600" b="1" spc="-40" dirty="0">
                <a:solidFill>
                  <a:srgbClr val="FFFFFF"/>
                </a:solidFill>
                <a:latin typeface="Times New Roman"/>
                <a:cs typeface="Times New Roman"/>
              </a:rPr>
              <a:t>Computer</a:t>
            </a:r>
            <a:r>
              <a:rPr sz="3600" b="1" spc="-155" dirty="0">
                <a:solidFill>
                  <a:srgbClr val="FFFFFF"/>
                </a:solidFill>
                <a:latin typeface="Times New Roman"/>
                <a:cs typeface="Times New Roman"/>
              </a:rPr>
              <a:t> </a:t>
            </a:r>
            <a:r>
              <a:rPr sz="3600" b="1" spc="-60" dirty="0">
                <a:solidFill>
                  <a:srgbClr val="FFFFFF"/>
                </a:solidFill>
                <a:latin typeface="Times New Roman"/>
                <a:cs typeface="Times New Roman"/>
              </a:rPr>
              <a:t>Architecture</a:t>
            </a:r>
            <a:endParaRPr sz="3600">
              <a:latin typeface="Times New Roman"/>
              <a:cs typeface="Times New Roman"/>
            </a:endParaRPr>
          </a:p>
        </p:txBody>
      </p:sp>
      <p:sp>
        <p:nvSpPr>
          <p:cNvPr id="7" name="object 7"/>
          <p:cNvSpPr txBox="1"/>
          <p:nvPr/>
        </p:nvSpPr>
        <p:spPr>
          <a:xfrm>
            <a:off x="513080" y="2745752"/>
            <a:ext cx="5838190" cy="1042593"/>
          </a:xfrm>
          <a:prstGeom prst="rect">
            <a:avLst/>
          </a:prstGeom>
        </p:spPr>
        <p:txBody>
          <a:bodyPr vert="horz" wrap="square" lIns="0" tIns="153670" rIns="0" bIns="0" rtlCol="0">
            <a:spAutoFit/>
          </a:bodyPr>
          <a:lstStyle/>
          <a:p>
            <a:pPr marL="12700">
              <a:lnSpc>
                <a:spcPct val="100000"/>
              </a:lnSpc>
              <a:spcBef>
                <a:spcPts val="980"/>
              </a:spcBef>
            </a:pPr>
            <a:r>
              <a:rPr sz="1400" u="sng" spc="-10">
                <a:uFill>
                  <a:solidFill>
                    <a:srgbClr val="000000"/>
                  </a:solidFill>
                </a:uFill>
                <a:latin typeface="Times New Roman"/>
                <a:cs typeface="Times New Roman"/>
              </a:rPr>
              <a:t>Reference</a:t>
            </a:r>
            <a:r>
              <a:rPr sz="1400" u="sng" spc="-10" dirty="0">
                <a:uFill>
                  <a:solidFill>
                    <a:srgbClr val="000000"/>
                  </a:solidFill>
                </a:uFill>
                <a:latin typeface="Times New Roman"/>
                <a:cs typeface="Times New Roman"/>
              </a:rPr>
              <a:t>:</a:t>
            </a:r>
            <a:endParaRPr sz="1400" dirty="0">
              <a:latin typeface="Times New Roman"/>
              <a:cs typeface="Times New Roman"/>
            </a:endParaRPr>
          </a:p>
          <a:p>
            <a:pPr marL="344170" marR="5080" indent="-102870">
              <a:lnSpc>
                <a:spcPct val="100000"/>
              </a:lnSpc>
              <a:buChar char="-"/>
              <a:tabLst>
                <a:tab pos="358775" algn="l"/>
              </a:tabLst>
            </a:pPr>
            <a:r>
              <a:rPr sz="1400" dirty="0">
                <a:latin typeface="Times New Roman"/>
                <a:cs typeface="Times New Roman"/>
              </a:rPr>
              <a:t>Hennessy</a:t>
            </a:r>
            <a:r>
              <a:rPr sz="1400" spc="-15" dirty="0">
                <a:latin typeface="Times New Roman"/>
                <a:cs typeface="Times New Roman"/>
              </a:rPr>
              <a:t> </a:t>
            </a:r>
            <a:r>
              <a:rPr sz="1400" dirty="0">
                <a:latin typeface="Times New Roman"/>
                <a:cs typeface="Times New Roman"/>
              </a:rPr>
              <a:t>and</a:t>
            </a:r>
            <a:r>
              <a:rPr sz="1400" spc="5" dirty="0">
                <a:latin typeface="Times New Roman"/>
                <a:cs typeface="Times New Roman"/>
              </a:rPr>
              <a:t> </a:t>
            </a:r>
            <a:r>
              <a:rPr sz="1400" dirty="0">
                <a:latin typeface="Times New Roman"/>
                <a:cs typeface="Times New Roman"/>
              </a:rPr>
              <a:t>Patterson,</a:t>
            </a:r>
            <a:r>
              <a:rPr sz="1400" spc="-25" dirty="0">
                <a:latin typeface="Times New Roman"/>
                <a:cs typeface="Times New Roman"/>
              </a:rPr>
              <a:t> </a:t>
            </a:r>
            <a:r>
              <a:rPr sz="1400" spc="-10" dirty="0">
                <a:latin typeface="Times New Roman"/>
                <a:cs typeface="Times New Roman"/>
              </a:rPr>
              <a:t>“Computer</a:t>
            </a:r>
            <a:r>
              <a:rPr sz="1400" spc="-50" dirty="0">
                <a:latin typeface="Times New Roman"/>
                <a:cs typeface="Times New Roman"/>
              </a:rPr>
              <a:t> </a:t>
            </a:r>
            <a:r>
              <a:rPr sz="1400" spc="-10" dirty="0">
                <a:latin typeface="Times New Roman"/>
                <a:cs typeface="Times New Roman"/>
              </a:rPr>
              <a:t>Architecture:</a:t>
            </a:r>
            <a:r>
              <a:rPr sz="1400" spc="-105" dirty="0">
                <a:latin typeface="Times New Roman"/>
                <a:cs typeface="Times New Roman"/>
              </a:rPr>
              <a:t> </a:t>
            </a:r>
            <a:r>
              <a:rPr sz="1400" dirty="0">
                <a:latin typeface="Times New Roman"/>
                <a:cs typeface="Times New Roman"/>
              </a:rPr>
              <a:t>A</a:t>
            </a:r>
            <a:r>
              <a:rPr sz="1400" spc="-60" dirty="0">
                <a:latin typeface="Times New Roman"/>
                <a:cs typeface="Times New Roman"/>
              </a:rPr>
              <a:t> </a:t>
            </a:r>
            <a:r>
              <a:rPr sz="1400" spc="-10" dirty="0">
                <a:latin typeface="Times New Roman"/>
                <a:cs typeface="Times New Roman"/>
              </a:rPr>
              <a:t>Quantitative</a:t>
            </a:r>
            <a:r>
              <a:rPr sz="1400" spc="-105" dirty="0">
                <a:latin typeface="Times New Roman"/>
                <a:cs typeface="Times New Roman"/>
              </a:rPr>
              <a:t> </a:t>
            </a:r>
            <a:r>
              <a:rPr sz="1400" spc="-10" dirty="0">
                <a:latin typeface="Times New Roman"/>
                <a:cs typeface="Times New Roman"/>
              </a:rPr>
              <a:t>Approach”, 	</a:t>
            </a:r>
            <a:r>
              <a:rPr sz="1400" dirty="0">
                <a:latin typeface="Times New Roman"/>
                <a:cs typeface="Times New Roman"/>
              </a:rPr>
              <a:t>Appendix</a:t>
            </a:r>
            <a:r>
              <a:rPr sz="1400" spc="-50" dirty="0">
                <a:latin typeface="Times New Roman"/>
                <a:cs typeface="Times New Roman"/>
              </a:rPr>
              <a:t> C</a:t>
            </a:r>
            <a:endParaRPr sz="1400" dirty="0">
              <a:latin typeface="Times New Roman"/>
              <a:cs typeface="Times New Roman"/>
            </a:endParaRPr>
          </a:p>
          <a:p>
            <a:pPr marL="344170" indent="-102870">
              <a:lnSpc>
                <a:spcPct val="100000"/>
              </a:lnSpc>
              <a:spcBef>
                <a:spcPts val="190"/>
              </a:spcBef>
              <a:buChar char="-"/>
              <a:tabLst>
                <a:tab pos="344170" algn="l"/>
              </a:tabLst>
            </a:pPr>
            <a:r>
              <a:rPr sz="1400" dirty="0">
                <a:latin typeface="Times New Roman"/>
                <a:cs typeface="Times New Roman"/>
              </a:rPr>
              <a:t>Mano,</a:t>
            </a:r>
            <a:r>
              <a:rPr sz="1400" spc="-60" dirty="0">
                <a:latin typeface="Times New Roman"/>
                <a:cs typeface="Times New Roman"/>
              </a:rPr>
              <a:t> </a:t>
            </a:r>
            <a:r>
              <a:rPr sz="1400" dirty="0">
                <a:latin typeface="Times New Roman"/>
                <a:cs typeface="Times New Roman"/>
              </a:rPr>
              <a:t>“Computer</a:t>
            </a:r>
            <a:r>
              <a:rPr sz="1400" spc="-20" dirty="0">
                <a:latin typeface="Times New Roman"/>
                <a:cs typeface="Times New Roman"/>
              </a:rPr>
              <a:t> </a:t>
            </a:r>
            <a:r>
              <a:rPr sz="1400" spc="-10" dirty="0">
                <a:latin typeface="Times New Roman"/>
                <a:cs typeface="Times New Roman"/>
              </a:rPr>
              <a:t>System</a:t>
            </a:r>
            <a:r>
              <a:rPr sz="1400" spc="-90" dirty="0">
                <a:latin typeface="Times New Roman"/>
                <a:cs typeface="Times New Roman"/>
              </a:rPr>
              <a:t> </a:t>
            </a:r>
            <a:r>
              <a:rPr sz="1400" dirty="0">
                <a:latin typeface="Times New Roman"/>
                <a:cs typeface="Times New Roman"/>
              </a:rPr>
              <a:t>Architecture”,</a:t>
            </a:r>
            <a:r>
              <a:rPr sz="1400" spc="-60" dirty="0">
                <a:latin typeface="Times New Roman"/>
                <a:cs typeface="Times New Roman"/>
              </a:rPr>
              <a:t> </a:t>
            </a:r>
            <a:r>
              <a:rPr sz="1400" dirty="0">
                <a:latin typeface="Times New Roman"/>
                <a:cs typeface="Times New Roman"/>
              </a:rPr>
              <a:t>Chapter</a:t>
            </a:r>
            <a:r>
              <a:rPr sz="1400" spc="-55" dirty="0">
                <a:latin typeface="Times New Roman"/>
                <a:cs typeface="Times New Roman"/>
              </a:rPr>
              <a:t> </a:t>
            </a:r>
            <a:r>
              <a:rPr sz="1400" spc="-50" dirty="0">
                <a:latin typeface="Times New Roman"/>
                <a:cs typeface="Times New Roman"/>
              </a:rPr>
              <a:t>9</a:t>
            </a:r>
            <a:endParaRPr sz="1400" dirty="0">
              <a:latin typeface="Times New Roman"/>
              <a:cs typeface="Times New Roman"/>
            </a:endParaRPr>
          </a:p>
        </p:txBody>
      </p:sp>
      <p:grpSp>
        <p:nvGrpSpPr>
          <p:cNvPr id="8" name="object 8"/>
          <p:cNvGrpSpPr/>
          <p:nvPr/>
        </p:nvGrpSpPr>
        <p:grpSpPr>
          <a:xfrm>
            <a:off x="381000" y="4844796"/>
            <a:ext cx="6096000" cy="3429000"/>
            <a:chOff x="381000" y="4844796"/>
            <a:chExt cx="6096000" cy="3429000"/>
          </a:xfrm>
        </p:grpSpPr>
        <p:sp>
          <p:nvSpPr>
            <p:cNvPr id="9" name="object 9"/>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0" name="object 10"/>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grpSp>
      <p:sp>
        <p:nvSpPr>
          <p:cNvPr id="11" name="object 11"/>
          <p:cNvSpPr txBox="1"/>
          <p:nvPr/>
        </p:nvSpPr>
        <p:spPr>
          <a:xfrm>
            <a:off x="609600" y="5065776"/>
            <a:ext cx="5486400" cy="502920"/>
          </a:xfrm>
          <a:prstGeom prst="rect">
            <a:avLst/>
          </a:prstGeom>
          <a:solidFill>
            <a:srgbClr val="539E39"/>
          </a:solidFill>
          <a:ln w="9144">
            <a:solidFill>
              <a:srgbClr val="3A7327"/>
            </a:solidFill>
          </a:ln>
        </p:spPr>
        <p:txBody>
          <a:bodyPr vert="horz" wrap="square" lIns="0" tIns="86995" rIns="0" bIns="0" rtlCol="0">
            <a:spAutoFit/>
          </a:bodyPr>
          <a:lstStyle/>
          <a:p>
            <a:pPr marL="115570">
              <a:lnSpc>
                <a:spcPct val="100000"/>
              </a:lnSpc>
              <a:spcBef>
                <a:spcPts val="685"/>
              </a:spcBef>
            </a:pPr>
            <a:r>
              <a:rPr sz="2000" b="1" dirty="0">
                <a:solidFill>
                  <a:srgbClr val="FFFFFF"/>
                </a:solidFill>
                <a:latin typeface="Georgia"/>
                <a:cs typeface="Georgia"/>
              </a:rPr>
              <a:t>Computer</a:t>
            </a:r>
            <a:r>
              <a:rPr sz="2000" b="1" spc="-40" dirty="0">
                <a:solidFill>
                  <a:srgbClr val="FFFFFF"/>
                </a:solidFill>
                <a:latin typeface="Georgia"/>
                <a:cs typeface="Georgia"/>
              </a:rPr>
              <a:t> </a:t>
            </a:r>
            <a:r>
              <a:rPr sz="2000" b="1" dirty="0">
                <a:solidFill>
                  <a:srgbClr val="FFFFFF"/>
                </a:solidFill>
                <a:latin typeface="Georgia"/>
                <a:cs typeface="Georgia"/>
              </a:rPr>
              <a:t>Architecture</a:t>
            </a:r>
            <a:r>
              <a:rPr sz="2000" b="1" spc="-40" dirty="0">
                <a:solidFill>
                  <a:srgbClr val="FFFFFF"/>
                </a:solidFill>
                <a:latin typeface="Georgia"/>
                <a:cs typeface="Georgia"/>
              </a:rPr>
              <a:t> </a:t>
            </a:r>
            <a:r>
              <a:rPr sz="2000" b="1" dirty="0">
                <a:solidFill>
                  <a:srgbClr val="FFFFFF"/>
                </a:solidFill>
                <a:latin typeface="Georgia"/>
                <a:cs typeface="Georgia"/>
              </a:rPr>
              <a:t>Module</a:t>
            </a:r>
            <a:r>
              <a:rPr sz="2000" b="1" spc="-15" dirty="0">
                <a:solidFill>
                  <a:srgbClr val="FFFFFF"/>
                </a:solidFill>
                <a:latin typeface="Georgia"/>
                <a:cs typeface="Georgia"/>
              </a:rPr>
              <a:t> </a:t>
            </a:r>
            <a:r>
              <a:rPr sz="2000" b="1" spc="-10" dirty="0">
                <a:solidFill>
                  <a:srgbClr val="FFFFFF"/>
                </a:solidFill>
                <a:latin typeface="Georgia"/>
                <a:cs typeface="Georgia"/>
              </a:rPr>
              <a:t>Content</a:t>
            </a:r>
            <a:endParaRPr sz="2000">
              <a:latin typeface="Georgia"/>
              <a:cs typeface="Georgia"/>
            </a:endParaRPr>
          </a:p>
        </p:txBody>
      </p:sp>
      <p:sp>
        <p:nvSpPr>
          <p:cNvPr id="12" name="object 12"/>
          <p:cNvSpPr txBox="1"/>
          <p:nvPr/>
        </p:nvSpPr>
        <p:spPr>
          <a:xfrm>
            <a:off x="759561" y="5650484"/>
            <a:ext cx="5379085" cy="2430780"/>
          </a:xfrm>
          <a:prstGeom prst="rect">
            <a:avLst/>
          </a:prstGeom>
        </p:spPr>
        <p:txBody>
          <a:bodyPr vert="horz" wrap="square" lIns="0" tIns="24765" rIns="0" bIns="0" rtlCol="0">
            <a:spAutoFit/>
          </a:bodyPr>
          <a:lstStyle/>
          <a:p>
            <a:pPr marL="169545" indent="-169545">
              <a:lnSpc>
                <a:spcPct val="100000"/>
              </a:lnSpc>
              <a:spcBef>
                <a:spcPts val="195"/>
              </a:spcBef>
              <a:buClr>
                <a:srgbClr val="3E762B"/>
              </a:buClr>
              <a:buFont typeface="Wingdings"/>
              <a:buChar char=""/>
              <a:tabLst>
                <a:tab pos="169545" algn="l"/>
              </a:tabLst>
            </a:pPr>
            <a:r>
              <a:rPr sz="1200" b="1" dirty="0">
                <a:latin typeface="Times New Roman"/>
                <a:cs typeface="Times New Roman"/>
              </a:rPr>
              <a:t>Central</a:t>
            </a:r>
            <a:r>
              <a:rPr sz="1200" b="1" spc="-70" dirty="0">
                <a:latin typeface="Times New Roman"/>
                <a:cs typeface="Times New Roman"/>
              </a:rPr>
              <a:t> </a:t>
            </a:r>
            <a:r>
              <a:rPr sz="1200" b="1" dirty="0">
                <a:latin typeface="Times New Roman"/>
                <a:cs typeface="Times New Roman"/>
              </a:rPr>
              <a:t>Processing</a:t>
            </a:r>
            <a:r>
              <a:rPr sz="1200" b="1" spc="-45" dirty="0">
                <a:latin typeface="Times New Roman"/>
                <a:cs typeface="Times New Roman"/>
              </a:rPr>
              <a:t> </a:t>
            </a:r>
            <a:r>
              <a:rPr sz="1200" b="1" dirty="0">
                <a:latin typeface="Times New Roman"/>
                <a:cs typeface="Times New Roman"/>
              </a:rPr>
              <a:t>Unit</a:t>
            </a:r>
            <a:r>
              <a:rPr sz="1200" b="1" spc="-75" dirty="0">
                <a:latin typeface="Times New Roman"/>
                <a:cs typeface="Times New Roman"/>
              </a:rPr>
              <a:t> </a:t>
            </a:r>
            <a:r>
              <a:rPr sz="1200" b="1" spc="-10" dirty="0">
                <a:latin typeface="Times New Roman"/>
                <a:cs typeface="Times New Roman"/>
              </a:rPr>
              <a:t>Architecture</a:t>
            </a:r>
            <a:endParaRPr sz="1200">
              <a:latin typeface="Times New Roman"/>
              <a:cs typeface="Times New Roman"/>
            </a:endParaRPr>
          </a:p>
          <a:p>
            <a:pPr marL="456565" lvl="1" indent="-111125">
              <a:lnSpc>
                <a:spcPct val="100000"/>
              </a:lnSpc>
              <a:spcBef>
                <a:spcPts val="95"/>
              </a:spcBef>
              <a:buClr>
                <a:srgbClr val="3E762B"/>
              </a:buClr>
              <a:buFont typeface="Arial MT"/>
              <a:buChar char="•"/>
              <a:tabLst>
                <a:tab pos="456565" algn="l"/>
              </a:tabLst>
            </a:pPr>
            <a:r>
              <a:rPr sz="1200" spc="-10" dirty="0">
                <a:latin typeface="Times New Roman"/>
                <a:cs typeface="Times New Roman"/>
              </a:rPr>
              <a:t>Design</a:t>
            </a:r>
            <a:r>
              <a:rPr sz="1200" spc="-65" dirty="0">
                <a:latin typeface="Times New Roman"/>
                <a:cs typeface="Times New Roman"/>
              </a:rPr>
              <a:t> </a:t>
            </a:r>
            <a:r>
              <a:rPr sz="1200" dirty="0">
                <a:latin typeface="Times New Roman"/>
                <a:cs typeface="Times New Roman"/>
              </a:rPr>
              <a:t>Approaches</a:t>
            </a:r>
            <a:r>
              <a:rPr sz="1200" spc="-20" dirty="0">
                <a:latin typeface="Times New Roman"/>
                <a:cs typeface="Times New Roman"/>
              </a:rPr>
              <a:t> </a:t>
            </a:r>
            <a:r>
              <a:rPr sz="1200" dirty="0">
                <a:latin typeface="Times New Roman"/>
                <a:cs typeface="Times New Roman"/>
              </a:rPr>
              <a:t>[</a:t>
            </a:r>
            <a:r>
              <a:rPr sz="1200" b="1" dirty="0">
                <a:solidFill>
                  <a:srgbClr val="539E39"/>
                </a:solidFill>
                <a:latin typeface="Times New Roman"/>
                <a:cs typeface="Times New Roman"/>
              </a:rPr>
              <a:t>Stack</a:t>
            </a:r>
            <a:r>
              <a:rPr sz="1200" b="1" spc="-20" dirty="0">
                <a:solidFill>
                  <a:srgbClr val="539E39"/>
                </a:solidFill>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b="1" dirty="0">
                <a:solidFill>
                  <a:srgbClr val="FF0000"/>
                </a:solidFill>
                <a:latin typeface="Times New Roman"/>
                <a:cs typeface="Times New Roman"/>
              </a:rPr>
              <a:t>Pipelining</a:t>
            </a:r>
            <a:r>
              <a:rPr sz="1200" b="1" spc="-35" dirty="0">
                <a:solidFill>
                  <a:srgbClr val="FF0000"/>
                </a:solidFill>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b="1" dirty="0">
                <a:solidFill>
                  <a:srgbClr val="539E39"/>
                </a:solidFill>
                <a:latin typeface="Times New Roman"/>
                <a:cs typeface="Times New Roman"/>
              </a:rPr>
              <a:t>Interrupt</a:t>
            </a:r>
            <a:r>
              <a:rPr sz="1200" b="1" spc="-25" dirty="0">
                <a:solidFill>
                  <a:srgbClr val="539E39"/>
                </a:solidFill>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b="1" dirty="0">
                <a:solidFill>
                  <a:srgbClr val="539E39"/>
                </a:solidFill>
                <a:latin typeface="Times New Roman"/>
                <a:cs typeface="Times New Roman"/>
              </a:rPr>
              <a:t>Processor</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Organization</a:t>
            </a:r>
            <a:endParaRPr sz="1200">
              <a:latin typeface="Times New Roman"/>
              <a:cs typeface="Times New Roman"/>
            </a:endParaRPr>
          </a:p>
          <a:p>
            <a:pPr marL="457200">
              <a:lnSpc>
                <a:spcPct val="100000"/>
              </a:lnSpc>
            </a:pPr>
            <a:r>
              <a:rPr sz="1200" dirty="0">
                <a:latin typeface="Times New Roman"/>
                <a:cs typeface="Times New Roman"/>
              </a:rPr>
              <a:t>–</a:t>
            </a:r>
            <a:r>
              <a:rPr sz="1200" spc="-35" dirty="0">
                <a:latin typeface="Times New Roman"/>
                <a:cs typeface="Times New Roman"/>
              </a:rPr>
              <a:t> </a:t>
            </a:r>
            <a:r>
              <a:rPr sz="1200" b="1" dirty="0">
                <a:solidFill>
                  <a:srgbClr val="539E39"/>
                </a:solidFill>
                <a:latin typeface="Times New Roman"/>
                <a:cs typeface="Times New Roman"/>
              </a:rPr>
              <a:t>Registers</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Organization</a:t>
            </a:r>
            <a:r>
              <a:rPr sz="1200" spc="-10" dirty="0">
                <a:latin typeface="Times New Roman"/>
                <a:cs typeface="Times New Roman"/>
              </a:rPr>
              <a:t>]</a:t>
            </a:r>
            <a:endParaRPr sz="1200">
              <a:latin typeface="Times New Roman"/>
              <a:cs typeface="Times New Roman"/>
            </a:endParaRPr>
          </a:p>
          <a:p>
            <a:pPr marL="456565" lvl="1" indent="-111125">
              <a:lnSpc>
                <a:spcPct val="100000"/>
              </a:lnSpc>
              <a:spcBef>
                <a:spcPts val="300"/>
              </a:spcBef>
              <a:buClr>
                <a:srgbClr val="3E762B"/>
              </a:buClr>
              <a:buFont typeface="Arial MT"/>
              <a:buChar char="•"/>
              <a:tabLst>
                <a:tab pos="456565" algn="l"/>
              </a:tabLst>
            </a:pPr>
            <a:r>
              <a:rPr sz="1200" b="1" dirty="0">
                <a:solidFill>
                  <a:srgbClr val="539E39"/>
                </a:solidFill>
                <a:latin typeface="Times New Roman"/>
                <a:cs typeface="Times New Roman"/>
              </a:rPr>
              <a:t>Instruction</a:t>
            </a:r>
            <a:r>
              <a:rPr sz="1200" b="1" spc="-55" dirty="0">
                <a:solidFill>
                  <a:srgbClr val="539E39"/>
                </a:solidFill>
                <a:latin typeface="Times New Roman"/>
                <a:cs typeface="Times New Roman"/>
              </a:rPr>
              <a:t> </a:t>
            </a:r>
            <a:r>
              <a:rPr sz="1200" b="1" dirty="0">
                <a:solidFill>
                  <a:srgbClr val="539E39"/>
                </a:solidFill>
                <a:latin typeface="Times New Roman"/>
                <a:cs typeface="Times New Roman"/>
              </a:rPr>
              <a:t>Set</a:t>
            </a:r>
            <a:r>
              <a:rPr sz="1200" b="1" spc="-75" dirty="0">
                <a:solidFill>
                  <a:srgbClr val="539E39"/>
                </a:solidFill>
                <a:latin typeface="Times New Roman"/>
                <a:cs typeface="Times New Roman"/>
              </a:rPr>
              <a:t> </a:t>
            </a:r>
            <a:r>
              <a:rPr sz="1200" b="1" spc="-10" dirty="0">
                <a:solidFill>
                  <a:srgbClr val="539E39"/>
                </a:solidFill>
                <a:latin typeface="Times New Roman"/>
                <a:cs typeface="Times New Roman"/>
              </a:rPr>
              <a:t>Architecture </a:t>
            </a:r>
            <a:r>
              <a:rPr sz="1200" b="1" dirty="0">
                <a:solidFill>
                  <a:srgbClr val="539E39"/>
                </a:solidFill>
                <a:latin typeface="Times New Roman"/>
                <a:cs typeface="Times New Roman"/>
              </a:rPr>
              <a:t>[Instruction</a:t>
            </a:r>
            <a:r>
              <a:rPr sz="1200" b="1" spc="-15" dirty="0">
                <a:solidFill>
                  <a:srgbClr val="539E39"/>
                </a:solidFill>
                <a:latin typeface="Times New Roman"/>
                <a:cs typeface="Times New Roman"/>
              </a:rPr>
              <a:t> </a:t>
            </a:r>
            <a:r>
              <a:rPr sz="1200" b="1" dirty="0">
                <a:solidFill>
                  <a:srgbClr val="539E39"/>
                </a:solidFill>
                <a:latin typeface="Times New Roman"/>
                <a:cs typeface="Times New Roman"/>
              </a:rPr>
              <a:t>Format</a:t>
            </a:r>
            <a:r>
              <a:rPr sz="1200" b="1" spc="5" dirty="0">
                <a:solidFill>
                  <a:srgbClr val="539E39"/>
                </a:solidFill>
                <a:latin typeface="Times New Roman"/>
                <a:cs typeface="Times New Roman"/>
              </a:rPr>
              <a:t> </a:t>
            </a:r>
            <a:r>
              <a:rPr sz="1200" b="1" dirty="0">
                <a:solidFill>
                  <a:srgbClr val="539E39"/>
                </a:solidFill>
                <a:latin typeface="Times New Roman"/>
                <a:cs typeface="Times New Roman"/>
              </a:rPr>
              <a:t>–</a:t>
            </a:r>
            <a:r>
              <a:rPr sz="1200" b="1" spc="-75" dirty="0">
                <a:solidFill>
                  <a:srgbClr val="539E39"/>
                </a:solidFill>
                <a:latin typeface="Times New Roman"/>
                <a:cs typeface="Times New Roman"/>
              </a:rPr>
              <a:t> </a:t>
            </a:r>
            <a:r>
              <a:rPr sz="1200" b="1" dirty="0">
                <a:solidFill>
                  <a:srgbClr val="539E39"/>
                </a:solidFill>
                <a:latin typeface="Times New Roman"/>
                <a:cs typeface="Times New Roman"/>
              </a:rPr>
              <a:t>Addressing</a:t>
            </a:r>
            <a:r>
              <a:rPr sz="1200" b="1" spc="-25" dirty="0">
                <a:solidFill>
                  <a:srgbClr val="539E39"/>
                </a:solidFill>
                <a:latin typeface="Times New Roman"/>
                <a:cs typeface="Times New Roman"/>
              </a:rPr>
              <a:t> </a:t>
            </a:r>
            <a:r>
              <a:rPr sz="1200" b="1" dirty="0">
                <a:solidFill>
                  <a:srgbClr val="539E39"/>
                </a:solidFill>
                <a:latin typeface="Times New Roman"/>
                <a:cs typeface="Times New Roman"/>
              </a:rPr>
              <a:t>modes</a:t>
            </a:r>
            <a:r>
              <a:rPr sz="1200" b="1" spc="-15" dirty="0">
                <a:solidFill>
                  <a:srgbClr val="539E39"/>
                </a:solidFill>
                <a:latin typeface="Times New Roman"/>
                <a:cs typeface="Times New Roman"/>
              </a:rPr>
              <a:t> </a:t>
            </a:r>
            <a:r>
              <a:rPr sz="1200" b="1" spc="-50" dirty="0">
                <a:solidFill>
                  <a:srgbClr val="539E39"/>
                </a:solidFill>
                <a:latin typeface="Times New Roman"/>
                <a:cs typeface="Times New Roman"/>
              </a:rPr>
              <a:t>–</a:t>
            </a:r>
            <a:endParaRPr sz="1200">
              <a:latin typeface="Times New Roman"/>
              <a:cs typeface="Times New Roman"/>
            </a:endParaRPr>
          </a:p>
          <a:p>
            <a:pPr marL="457200">
              <a:lnSpc>
                <a:spcPct val="100000"/>
              </a:lnSpc>
              <a:spcBef>
                <a:spcPts val="5"/>
              </a:spcBef>
            </a:pPr>
            <a:r>
              <a:rPr sz="1200" b="1" dirty="0">
                <a:solidFill>
                  <a:srgbClr val="539E39"/>
                </a:solidFill>
                <a:latin typeface="Times New Roman"/>
                <a:cs typeface="Times New Roman"/>
              </a:rPr>
              <a:t>Data</a:t>
            </a:r>
            <a:r>
              <a:rPr sz="1200" b="1" spc="-5" dirty="0">
                <a:solidFill>
                  <a:srgbClr val="539E39"/>
                </a:solidFill>
                <a:latin typeface="Times New Roman"/>
                <a:cs typeface="Times New Roman"/>
              </a:rPr>
              <a:t> </a:t>
            </a:r>
            <a:r>
              <a:rPr sz="1200" b="1" spc="-20" dirty="0">
                <a:solidFill>
                  <a:srgbClr val="539E39"/>
                </a:solidFill>
                <a:latin typeface="Times New Roman"/>
                <a:cs typeface="Times New Roman"/>
              </a:rPr>
              <a:t>Transfer</a:t>
            </a:r>
            <a:r>
              <a:rPr sz="1200" b="1" spc="-30" dirty="0">
                <a:solidFill>
                  <a:srgbClr val="539E39"/>
                </a:solidFill>
                <a:latin typeface="Times New Roman"/>
                <a:cs typeface="Times New Roman"/>
              </a:rPr>
              <a:t> </a:t>
            </a:r>
            <a:r>
              <a:rPr sz="1200" b="1" dirty="0">
                <a:solidFill>
                  <a:srgbClr val="539E39"/>
                </a:solidFill>
                <a:latin typeface="Times New Roman"/>
                <a:cs typeface="Times New Roman"/>
              </a:rPr>
              <a:t>and</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Manipulation]</a:t>
            </a:r>
            <a:endParaRPr sz="1200">
              <a:latin typeface="Times New Roman"/>
              <a:cs typeface="Times New Roman"/>
            </a:endParaRPr>
          </a:p>
          <a:p>
            <a:pPr marL="457200" lvl="1" indent="-109855">
              <a:lnSpc>
                <a:spcPct val="100000"/>
              </a:lnSpc>
              <a:spcBef>
                <a:spcPts val="295"/>
              </a:spcBef>
              <a:buClr>
                <a:srgbClr val="3E762B"/>
              </a:buClr>
              <a:buFont typeface="Arial MT"/>
              <a:buChar char="•"/>
              <a:tabLst>
                <a:tab pos="457200" algn="l"/>
              </a:tabLst>
            </a:pPr>
            <a:r>
              <a:rPr sz="1200" b="1" dirty="0">
                <a:solidFill>
                  <a:srgbClr val="539E39"/>
                </a:solidFill>
                <a:latin typeface="Times New Roman"/>
                <a:cs typeface="Times New Roman"/>
              </a:rPr>
              <a:t>Example</a:t>
            </a:r>
            <a:r>
              <a:rPr sz="1200" b="1" spc="-20" dirty="0">
                <a:solidFill>
                  <a:srgbClr val="539E39"/>
                </a:solidFill>
                <a:latin typeface="Times New Roman"/>
                <a:cs typeface="Times New Roman"/>
              </a:rPr>
              <a:t> </a:t>
            </a:r>
            <a:r>
              <a:rPr sz="1200" b="1" spc="-10" dirty="0">
                <a:solidFill>
                  <a:srgbClr val="539E39"/>
                </a:solidFill>
                <a:latin typeface="Times New Roman"/>
                <a:cs typeface="Times New Roman"/>
              </a:rPr>
              <a:t>architectures </a:t>
            </a:r>
            <a:r>
              <a:rPr sz="1200" b="1" dirty="0">
                <a:solidFill>
                  <a:srgbClr val="539E39"/>
                </a:solidFill>
                <a:latin typeface="Times New Roman"/>
                <a:cs typeface="Times New Roman"/>
              </a:rPr>
              <a:t>(e.g.</a:t>
            </a:r>
            <a:r>
              <a:rPr sz="1200" b="1" spc="-15" dirty="0">
                <a:solidFill>
                  <a:srgbClr val="539E39"/>
                </a:solidFill>
                <a:latin typeface="Times New Roman"/>
                <a:cs typeface="Times New Roman"/>
              </a:rPr>
              <a:t> </a:t>
            </a:r>
            <a:r>
              <a:rPr sz="1200" b="1" dirty="0">
                <a:solidFill>
                  <a:srgbClr val="539E39"/>
                </a:solidFill>
                <a:latin typeface="Times New Roman"/>
                <a:cs typeface="Times New Roman"/>
              </a:rPr>
              <a:t>CISC,</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RISC)</a:t>
            </a:r>
            <a:endParaRPr sz="1200">
              <a:latin typeface="Times New Roman"/>
              <a:cs typeface="Times New Roman"/>
            </a:endParaRPr>
          </a:p>
          <a:p>
            <a:pPr marL="168275" indent="-168275">
              <a:lnSpc>
                <a:spcPct val="100000"/>
              </a:lnSpc>
              <a:spcBef>
                <a:spcPts val="900"/>
              </a:spcBef>
              <a:buClr>
                <a:srgbClr val="3E762B"/>
              </a:buClr>
              <a:buFont typeface="Wingdings"/>
              <a:buChar char=""/>
              <a:tabLst>
                <a:tab pos="168275" algn="l"/>
              </a:tabLst>
            </a:pPr>
            <a:r>
              <a:rPr sz="1200" spc="-10" dirty="0">
                <a:latin typeface="Times New Roman"/>
                <a:cs typeface="Times New Roman"/>
              </a:rPr>
              <a:t>Timing,</a:t>
            </a:r>
            <a:r>
              <a:rPr sz="1200" spc="-25" dirty="0">
                <a:latin typeface="Times New Roman"/>
                <a:cs typeface="Times New Roman"/>
              </a:rPr>
              <a:t> </a:t>
            </a:r>
            <a:r>
              <a:rPr sz="1200" dirty="0">
                <a:latin typeface="Times New Roman"/>
                <a:cs typeface="Times New Roman"/>
              </a:rPr>
              <a:t>Clock</a:t>
            </a:r>
            <a:r>
              <a:rPr sz="1200" spc="-20" dirty="0">
                <a:latin typeface="Times New Roman"/>
                <a:cs typeface="Times New Roman"/>
              </a:rPr>
              <a:t> </a:t>
            </a:r>
            <a:r>
              <a:rPr sz="1200" dirty="0">
                <a:latin typeface="Times New Roman"/>
                <a:cs typeface="Times New Roman"/>
              </a:rPr>
              <a:t>Parameters</a:t>
            </a:r>
            <a:r>
              <a:rPr sz="1200" b="1" dirty="0">
                <a:solidFill>
                  <a:srgbClr val="539E39"/>
                </a:solidFill>
                <a:latin typeface="Times New Roman"/>
                <a:cs typeface="Times New Roman"/>
              </a:rPr>
              <a:t>,</a:t>
            </a:r>
            <a:r>
              <a:rPr sz="1200" b="1" spc="-10" dirty="0">
                <a:solidFill>
                  <a:srgbClr val="539E39"/>
                </a:solidFill>
                <a:latin typeface="Times New Roman"/>
                <a:cs typeface="Times New Roman"/>
              </a:rPr>
              <a:t> </a:t>
            </a:r>
            <a:r>
              <a:rPr sz="1200" b="1" dirty="0">
                <a:solidFill>
                  <a:srgbClr val="539E39"/>
                </a:solidFill>
                <a:latin typeface="Times New Roman"/>
                <a:cs typeface="Times New Roman"/>
              </a:rPr>
              <a:t>and</a:t>
            </a:r>
            <a:r>
              <a:rPr sz="1200" b="1" spc="-30" dirty="0">
                <a:solidFill>
                  <a:srgbClr val="539E39"/>
                </a:solidFill>
                <a:latin typeface="Times New Roman"/>
                <a:cs typeface="Times New Roman"/>
              </a:rPr>
              <a:t> </a:t>
            </a:r>
            <a:r>
              <a:rPr sz="1200" b="1" spc="-10" dirty="0">
                <a:solidFill>
                  <a:srgbClr val="539E39"/>
                </a:solidFill>
                <a:latin typeface="Times New Roman"/>
                <a:cs typeface="Times New Roman"/>
              </a:rPr>
              <a:t>Processor</a:t>
            </a:r>
            <a:r>
              <a:rPr sz="1200" b="1" spc="-20" dirty="0">
                <a:solidFill>
                  <a:srgbClr val="539E39"/>
                </a:solidFill>
                <a:latin typeface="Times New Roman"/>
                <a:cs typeface="Times New Roman"/>
              </a:rPr>
              <a:t> </a:t>
            </a:r>
            <a:r>
              <a:rPr sz="1200" b="1" spc="-10" dirty="0">
                <a:solidFill>
                  <a:srgbClr val="539E39"/>
                </a:solidFill>
                <a:latin typeface="Times New Roman"/>
                <a:cs typeface="Times New Roman"/>
              </a:rPr>
              <a:t>Performance</a:t>
            </a:r>
            <a:endParaRPr sz="1200">
              <a:latin typeface="Times New Roman"/>
              <a:cs typeface="Times New Roman"/>
            </a:endParaRPr>
          </a:p>
          <a:p>
            <a:pPr marL="168275" indent="-168275">
              <a:lnSpc>
                <a:spcPct val="100000"/>
              </a:lnSpc>
              <a:spcBef>
                <a:spcPts val="700"/>
              </a:spcBef>
              <a:buClr>
                <a:srgbClr val="3E762B"/>
              </a:buClr>
              <a:buFont typeface="Wingdings"/>
              <a:buChar char=""/>
              <a:tabLst>
                <a:tab pos="168275" algn="l"/>
              </a:tabLst>
            </a:pPr>
            <a:r>
              <a:rPr sz="1200" b="1" dirty="0">
                <a:latin typeface="Times New Roman"/>
                <a:cs typeface="Times New Roman"/>
              </a:rPr>
              <a:t>Memory</a:t>
            </a:r>
            <a:r>
              <a:rPr sz="1200" b="1" spc="-55" dirty="0">
                <a:latin typeface="Times New Roman"/>
                <a:cs typeface="Times New Roman"/>
              </a:rPr>
              <a:t> </a:t>
            </a:r>
            <a:r>
              <a:rPr sz="1200" b="1" spc="-10" dirty="0">
                <a:latin typeface="Times New Roman"/>
                <a:cs typeface="Times New Roman"/>
              </a:rPr>
              <a:t>Hierarchy</a:t>
            </a:r>
            <a:endParaRPr sz="1200">
              <a:latin typeface="Times New Roman"/>
              <a:cs typeface="Times New Roman"/>
            </a:endParaRPr>
          </a:p>
          <a:p>
            <a:pPr marL="457200" lvl="1" indent="-109855">
              <a:lnSpc>
                <a:spcPct val="100000"/>
              </a:lnSpc>
              <a:spcBef>
                <a:spcPts val="105"/>
              </a:spcBef>
              <a:buClr>
                <a:srgbClr val="3E762B"/>
              </a:buClr>
              <a:buFont typeface="Arial MT"/>
              <a:buChar char="•"/>
              <a:tabLst>
                <a:tab pos="457200" algn="l"/>
              </a:tabLst>
            </a:pPr>
            <a:r>
              <a:rPr sz="1200" dirty="0">
                <a:latin typeface="Times New Roman"/>
                <a:cs typeface="Times New Roman"/>
              </a:rPr>
              <a:t>Main</a:t>
            </a:r>
            <a:r>
              <a:rPr sz="1200" spc="-35" dirty="0">
                <a:latin typeface="Times New Roman"/>
                <a:cs typeface="Times New Roman"/>
              </a:rPr>
              <a:t> </a:t>
            </a:r>
            <a:r>
              <a:rPr sz="1200" spc="-10" dirty="0">
                <a:latin typeface="Times New Roman"/>
                <a:cs typeface="Times New Roman"/>
              </a:rPr>
              <a:t>Memory</a:t>
            </a:r>
            <a:endParaRPr sz="1200">
              <a:latin typeface="Times New Roman"/>
              <a:cs typeface="Times New Roman"/>
            </a:endParaRPr>
          </a:p>
          <a:p>
            <a:pPr marL="457200" lvl="1" indent="-109855">
              <a:lnSpc>
                <a:spcPct val="100000"/>
              </a:lnSpc>
              <a:spcBef>
                <a:spcPts val="300"/>
              </a:spcBef>
              <a:buClr>
                <a:srgbClr val="3E762B"/>
              </a:buClr>
              <a:buFont typeface="Arial MT"/>
              <a:buChar char="•"/>
              <a:tabLst>
                <a:tab pos="457200" algn="l"/>
              </a:tabLst>
            </a:pPr>
            <a:r>
              <a:rPr sz="1200" dirty="0">
                <a:latin typeface="Times New Roman"/>
                <a:cs typeface="Times New Roman"/>
              </a:rPr>
              <a:t>Cache</a:t>
            </a:r>
            <a:r>
              <a:rPr sz="1200" spc="-40" dirty="0">
                <a:latin typeface="Times New Roman"/>
                <a:cs typeface="Times New Roman"/>
              </a:rPr>
              <a:t> </a:t>
            </a:r>
            <a:r>
              <a:rPr sz="1200" spc="-10" dirty="0">
                <a:latin typeface="Times New Roman"/>
                <a:cs typeface="Times New Roman"/>
              </a:rPr>
              <a:t>Memory</a:t>
            </a:r>
            <a:endParaRPr sz="1200">
              <a:latin typeface="Times New Roman"/>
              <a:cs typeface="Times New Roman"/>
            </a:endParaRPr>
          </a:p>
          <a:p>
            <a:pPr marL="457200" lvl="1" indent="-109855">
              <a:lnSpc>
                <a:spcPct val="100000"/>
              </a:lnSpc>
              <a:spcBef>
                <a:spcPts val="300"/>
              </a:spcBef>
              <a:buClr>
                <a:srgbClr val="3E762B"/>
              </a:buClr>
              <a:buFont typeface="Arial MT"/>
              <a:buChar char="•"/>
              <a:tabLst>
                <a:tab pos="457200" algn="l"/>
              </a:tabLst>
            </a:pP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Memory</a:t>
            </a:r>
            <a:endParaRPr sz="1200">
              <a:latin typeface="Times New Roman"/>
              <a:cs typeface="Times New Roman"/>
            </a:endParaRPr>
          </a:p>
        </p:txBody>
      </p:sp>
      <p:sp>
        <p:nvSpPr>
          <p:cNvPr id="13" name="object 13"/>
          <p:cNvSpPr txBox="1"/>
          <p:nvPr/>
        </p:nvSpPr>
        <p:spPr>
          <a:xfrm>
            <a:off x="6168516" y="7986166"/>
            <a:ext cx="52069" cy="116839"/>
          </a:xfrm>
          <a:prstGeom prst="rect">
            <a:avLst/>
          </a:prstGeom>
        </p:spPr>
        <p:txBody>
          <a:bodyPr vert="horz" wrap="square" lIns="0" tIns="12700" rIns="0" bIns="0" rtlCol="0">
            <a:spAutoFit/>
          </a:bodyPr>
          <a:lstStyle/>
          <a:p>
            <a:pPr>
              <a:lnSpc>
                <a:spcPct val="100000"/>
              </a:lnSpc>
              <a:spcBef>
                <a:spcPts val="100"/>
              </a:spcBef>
            </a:pPr>
            <a:r>
              <a:rPr sz="600" spc="-50" dirty="0">
                <a:solidFill>
                  <a:srgbClr val="539E39"/>
                </a:solidFill>
                <a:latin typeface="Corbel"/>
                <a:cs typeface="Corbel"/>
              </a:rPr>
              <a:t>2</a:t>
            </a:r>
            <a:endParaRPr sz="600">
              <a:latin typeface="Corbel"/>
              <a:cs typeface="Corbe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2200" spc="-10" dirty="0"/>
              <a:t>Pipelining</a:t>
            </a:r>
            <a:endParaRPr sz="2200"/>
          </a:p>
        </p:txBody>
      </p:sp>
      <p:sp>
        <p:nvSpPr>
          <p:cNvPr id="3" name="object 3"/>
          <p:cNvSpPr txBox="1">
            <a:spLocks noGrp="1"/>
          </p:cNvSpPr>
          <p:nvPr>
            <p:ph type="body" idx="1"/>
          </p:nvPr>
        </p:nvSpPr>
        <p:spPr>
          <a:prstGeom prst="rect">
            <a:avLst/>
          </a:prstGeom>
        </p:spPr>
        <p:txBody>
          <a:bodyPr vert="horz" wrap="square" lIns="0" tIns="95250" rIns="0" bIns="0" rtlCol="0">
            <a:spAutoFit/>
          </a:bodyPr>
          <a:lstStyle/>
          <a:p>
            <a:pPr marL="182245" indent="-169545">
              <a:lnSpc>
                <a:spcPct val="100000"/>
              </a:lnSpc>
              <a:spcBef>
                <a:spcPts val="750"/>
              </a:spcBef>
              <a:buFont typeface="Wingdings"/>
              <a:buChar char=""/>
              <a:tabLst>
                <a:tab pos="182245" algn="l"/>
              </a:tabLst>
            </a:pPr>
            <a:r>
              <a:rPr dirty="0"/>
              <a:t>Part:</a:t>
            </a:r>
            <a:r>
              <a:rPr spc="-25" dirty="0"/>
              <a:t> </a:t>
            </a:r>
            <a:r>
              <a:rPr dirty="0"/>
              <a:t>1</a:t>
            </a:r>
            <a:r>
              <a:rPr spc="-25" dirty="0"/>
              <a:t> </a:t>
            </a:r>
            <a:r>
              <a:rPr spc="-10" dirty="0"/>
              <a:t>Basics</a:t>
            </a:r>
          </a:p>
          <a:p>
            <a:pPr marL="358140" lvl="1" indent="-116839">
              <a:lnSpc>
                <a:spcPct val="100000"/>
              </a:lnSpc>
              <a:spcBef>
                <a:spcPts val="600"/>
              </a:spcBef>
              <a:buClr>
                <a:srgbClr val="3E762B"/>
              </a:buClr>
              <a:buFont typeface="Wingdings"/>
              <a:buChar char=""/>
              <a:tabLst>
                <a:tab pos="358140" algn="l"/>
              </a:tabLst>
            </a:pPr>
            <a:r>
              <a:rPr sz="1200" dirty="0">
                <a:latin typeface="Times New Roman"/>
                <a:cs typeface="Times New Roman"/>
              </a:rPr>
              <a:t>What</a:t>
            </a:r>
            <a:r>
              <a:rPr sz="1200" spc="-25"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spc="-10" dirty="0">
                <a:latin typeface="Times New Roman"/>
                <a:cs typeface="Times New Roman"/>
              </a:rPr>
              <a:t>pipelining</a:t>
            </a:r>
            <a:endParaRPr sz="1200">
              <a:latin typeface="Times New Roman"/>
              <a:cs typeface="Times New Roman"/>
            </a:endParaRPr>
          </a:p>
          <a:p>
            <a:pPr marL="358140" lvl="1" indent="-116839">
              <a:lnSpc>
                <a:spcPct val="100000"/>
              </a:lnSpc>
              <a:spcBef>
                <a:spcPts val="600"/>
              </a:spcBef>
              <a:buClr>
                <a:srgbClr val="3E762B"/>
              </a:buClr>
              <a:buFont typeface="Wingdings"/>
              <a:buChar char=""/>
              <a:tabLst>
                <a:tab pos="358140" algn="l"/>
              </a:tabLst>
            </a:pPr>
            <a:r>
              <a:rPr sz="1200" dirty="0">
                <a:latin typeface="Times New Roman"/>
                <a:cs typeface="Times New Roman"/>
              </a:rPr>
              <a:t>RISC</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its</a:t>
            </a:r>
            <a:r>
              <a:rPr sz="1200" spc="-35" dirty="0">
                <a:latin typeface="Times New Roman"/>
                <a:cs typeface="Times New Roman"/>
              </a:rPr>
              <a:t> </a:t>
            </a:r>
            <a:r>
              <a:rPr sz="1200" spc="-10" dirty="0">
                <a:latin typeface="Times New Roman"/>
                <a:cs typeface="Times New Roman"/>
              </a:rPr>
              <a:t>five-</a:t>
            </a:r>
            <a:r>
              <a:rPr sz="1200" dirty="0">
                <a:latin typeface="Times New Roman"/>
                <a:cs typeface="Times New Roman"/>
              </a:rPr>
              <a:t>stage</a:t>
            </a:r>
            <a:r>
              <a:rPr sz="1200" spc="-5" dirty="0">
                <a:latin typeface="Times New Roman"/>
                <a:cs typeface="Times New Roman"/>
              </a:rPr>
              <a:t> </a:t>
            </a:r>
            <a:r>
              <a:rPr sz="1200" spc="-10" dirty="0">
                <a:latin typeface="Times New Roman"/>
                <a:cs typeface="Times New Roman"/>
              </a:rPr>
              <a:t>pipeline</a:t>
            </a:r>
            <a:endParaRPr sz="1200">
              <a:latin typeface="Times New Roman"/>
              <a:cs typeface="Times New Roman"/>
            </a:endParaRPr>
          </a:p>
          <a:p>
            <a:pPr lvl="1">
              <a:lnSpc>
                <a:spcPct val="100000"/>
              </a:lnSpc>
              <a:spcBef>
                <a:spcPts val="140"/>
              </a:spcBef>
              <a:buClr>
                <a:srgbClr val="3E762B"/>
              </a:buClr>
              <a:buFont typeface="Wingdings"/>
              <a:buChar char=""/>
            </a:pPr>
            <a:endParaRPr sz="1200">
              <a:latin typeface="Times New Roman"/>
              <a:cs typeface="Times New Roman"/>
            </a:endParaRPr>
          </a:p>
          <a:p>
            <a:pPr marL="182245" indent="-169545">
              <a:lnSpc>
                <a:spcPct val="100000"/>
              </a:lnSpc>
              <a:buFont typeface="Wingdings"/>
              <a:buChar char=""/>
              <a:tabLst>
                <a:tab pos="182245" algn="l"/>
              </a:tabLst>
            </a:pPr>
            <a:r>
              <a:rPr dirty="0"/>
              <a:t>Part</a:t>
            </a:r>
            <a:r>
              <a:rPr spc="-40" dirty="0"/>
              <a:t> </a:t>
            </a:r>
            <a:r>
              <a:rPr dirty="0"/>
              <a:t>2:</a:t>
            </a:r>
            <a:r>
              <a:rPr spc="-40" dirty="0"/>
              <a:t> </a:t>
            </a:r>
            <a:r>
              <a:rPr dirty="0"/>
              <a:t>Challenges:</a:t>
            </a:r>
            <a:r>
              <a:rPr spc="-20" dirty="0"/>
              <a:t> </a:t>
            </a:r>
            <a:r>
              <a:rPr dirty="0"/>
              <a:t>Pipeline</a:t>
            </a:r>
            <a:r>
              <a:rPr spc="-20" dirty="0"/>
              <a:t> </a:t>
            </a:r>
            <a:r>
              <a:rPr spc="-10" dirty="0"/>
              <a:t>Hazards</a:t>
            </a:r>
          </a:p>
          <a:p>
            <a:pPr marL="358140" lvl="1" indent="-116839">
              <a:lnSpc>
                <a:spcPct val="100000"/>
              </a:lnSpc>
              <a:spcBef>
                <a:spcPts val="740"/>
              </a:spcBef>
              <a:buClr>
                <a:srgbClr val="3E762B"/>
              </a:buClr>
              <a:buFont typeface="Wingdings"/>
              <a:buChar char=""/>
              <a:tabLst>
                <a:tab pos="358140" algn="l"/>
              </a:tabLst>
            </a:pPr>
            <a:r>
              <a:rPr sz="1200" dirty="0">
                <a:latin typeface="Times New Roman"/>
                <a:cs typeface="Times New Roman"/>
              </a:rPr>
              <a:t>Structural</a:t>
            </a:r>
            <a:r>
              <a:rPr sz="1200" spc="-65" dirty="0">
                <a:latin typeface="Times New Roman"/>
                <a:cs typeface="Times New Roman"/>
              </a:rPr>
              <a:t> </a:t>
            </a:r>
            <a:r>
              <a:rPr sz="1200" spc="-10" dirty="0">
                <a:latin typeface="Times New Roman"/>
                <a:cs typeface="Times New Roman"/>
              </a:rPr>
              <a:t>hazard</a:t>
            </a:r>
            <a:endParaRPr sz="1200">
              <a:latin typeface="Times New Roman"/>
              <a:cs typeface="Times New Roman"/>
            </a:endParaRPr>
          </a:p>
          <a:p>
            <a:pPr marL="358140" lvl="1" indent="-116839">
              <a:lnSpc>
                <a:spcPct val="100000"/>
              </a:lnSpc>
              <a:spcBef>
                <a:spcPts val="600"/>
              </a:spcBef>
              <a:buClr>
                <a:srgbClr val="3E762B"/>
              </a:buClr>
              <a:buFont typeface="Wingdings"/>
              <a:buChar char=""/>
              <a:tabLst>
                <a:tab pos="358140" algn="l"/>
              </a:tabLst>
            </a:pPr>
            <a:r>
              <a:rPr sz="1200" dirty="0">
                <a:latin typeface="Times New Roman"/>
                <a:cs typeface="Times New Roman"/>
              </a:rPr>
              <a:t>Data</a:t>
            </a:r>
            <a:r>
              <a:rPr sz="1200" spc="-40" dirty="0">
                <a:latin typeface="Times New Roman"/>
                <a:cs typeface="Times New Roman"/>
              </a:rPr>
              <a:t> </a:t>
            </a:r>
            <a:r>
              <a:rPr sz="1200" spc="-10" dirty="0">
                <a:latin typeface="Times New Roman"/>
                <a:cs typeface="Times New Roman"/>
              </a:rPr>
              <a:t>hazard</a:t>
            </a:r>
            <a:endParaRPr sz="1200">
              <a:latin typeface="Times New Roman"/>
              <a:cs typeface="Times New Roman"/>
            </a:endParaRPr>
          </a:p>
          <a:p>
            <a:pPr marL="358140" lvl="1" indent="-116839">
              <a:lnSpc>
                <a:spcPct val="100000"/>
              </a:lnSpc>
              <a:spcBef>
                <a:spcPts val="600"/>
              </a:spcBef>
              <a:buClr>
                <a:srgbClr val="3E762B"/>
              </a:buClr>
              <a:buFont typeface="Wingdings"/>
              <a:buChar char=""/>
              <a:tabLst>
                <a:tab pos="358140" algn="l"/>
              </a:tabLst>
            </a:pPr>
            <a:r>
              <a:rPr sz="1200" dirty="0">
                <a:latin typeface="Times New Roman"/>
                <a:cs typeface="Times New Roman"/>
              </a:rPr>
              <a:t>Control</a:t>
            </a:r>
            <a:r>
              <a:rPr sz="1200" spc="-45" dirty="0">
                <a:latin typeface="Times New Roman"/>
                <a:cs typeface="Times New Roman"/>
              </a:rPr>
              <a:t> </a:t>
            </a:r>
            <a:r>
              <a:rPr sz="1200" spc="-10" dirty="0">
                <a:latin typeface="Times New Roman"/>
                <a:cs typeface="Times New Roman"/>
              </a:rPr>
              <a:t>hazard</a:t>
            </a:r>
            <a:endParaRPr sz="1200">
              <a:latin typeface="Times New Roman"/>
              <a:cs typeface="Times New Roman"/>
            </a:endParaRPr>
          </a:p>
          <a:p>
            <a:pPr lvl="1">
              <a:lnSpc>
                <a:spcPct val="100000"/>
              </a:lnSpc>
              <a:spcBef>
                <a:spcPts val="260"/>
              </a:spcBef>
              <a:buClr>
                <a:srgbClr val="3E762B"/>
              </a:buClr>
              <a:buFont typeface="Wingdings"/>
              <a:buChar char=""/>
            </a:pPr>
            <a:endParaRPr sz="1200">
              <a:latin typeface="Times New Roman"/>
              <a:cs typeface="Times New Roman"/>
            </a:endParaRPr>
          </a:p>
          <a:p>
            <a:pPr marL="182245" indent="-169545">
              <a:lnSpc>
                <a:spcPct val="100000"/>
              </a:lnSpc>
              <a:buFont typeface="Wingdings"/>
              <a:buChar char=""/>
              <a:tabLst>
                <a:tab pos="182245" algn="l"/>
              </a:tabLst>
            </a:pPr>
            <a:r>
              <a:rPr dirty="0"/>
              <a:t>Part</a:t>
            </a:r>
            <a:r>
              <a:rPr spc="-25" dirty="0"/>
              <a:t> </a:t>
            </a:r>
            <a:r>
              <a:rPr dirty="0"/>
              <a:t>3:</a:t>
            </a:r>
            <a:r>
              <a:rPr spc="-40" dirty="0"/>
              <a:t> </a:t>
            </a:r>
            <a:r>
              <a:rPr spc="-10" dirty="0"/>
              <a:t>Timing</a:t>
            </a:r>
            <a:r>
              <a:rPr spc="-55" dirty="0"/>
              <a:t> </a:t>
            </a:r>
            <a:r>
              <a:rPr spc="-10" dirty="0"/>
              <a:t>Analysis</a:t>
            </a:r>
          </a:p>
        </p:txBody>
      </p:sp>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3960621" y="6050026"/>
            <a:ext cx="279400" cy="208279"/>
          </a:xfrm>
          <a:prstGeom prst="rect">
            <a:avLst/>
          </a:prstGeom>
        </p:spPr>
        <p:txBody>
          <a:bodyPr vert="horz" wrap="square" lIns="0" tIns="12700" rIns="0" bIns="0" rtlCol="0">
            <a:spAutoFit/>
          </a:bodyPr>
          <a:lstStyle/>
          <a:p>
            <a:pPr>
              <a:lnSpc>
                <a:spcPct val="100000"/>
              </a:lnSpc>
              <a:spcBef>
                <a:spcPts val="100"/>
              </a:spcBef>
            </a:pPr>
            <a:r>
              <a:rPr sz="1200" b="1" spc="-20" dirty="0">
                <a:latin typeface="Times New Roman"/>
                <a:cs typeface="Times New Roman"/>
              </a:rPr>
              <a:t>dry</a:t>
            </a:r>
            <a:r>
              <a:rPr sz="1200" spc="-20" dirty="0">
                <a:latin typeface="Times New Roman"/>
                <a:cs typeface="Times New Roman"/>
              </a:rPr>
              <a:t>,</a:t>
            </a:r>
            <a:endParaRPr sz="1200">
              <a:latin typeface="Times New Roman"/>
              <a:cs typeface="Times New Roman"/>
            </a:endParaRPr>
          </a:p>
        </p:txBody>
      </p:sp>
      <p:sp>
        <p:nvSpPr>
          <p:cNvPr id="9" name="object 9"/>
          <p:cNvSpPr txBox="1"/>
          <p:nvPr/>
        </p:nvSpPr>
        <p:spPr>
          <a:xfrm>
            <a:off x="4875276" y="6050026"/>
            <a:ext cx="307340" cy="208279"/>
          </a:xfrm>
          <a:prstGeom prst="rect">
            <a:avLst/>
          </a:prstGeom>
        </p:spPr>
        <p:txBody>
          <a:bodyPr vert="horz" wrap="square" lIns="0" tIns="12700" rIns="0" bIns="0" rtlCol="0">
            <a:spAutoFit/>
          </a:bodyPr>
          <a:lstStyle/>
          <a:p>
            <a:pPr>
              <a:lnSpc>
                <a:spcPct val="100000"/>
              </a:lnSpc>
              <a:spcBef>
                <a:spcPts val="100"/>
              </a:spcBef>
            </a:pPr>
            <a:r>
              <a:rPr sz="1200" b="1" spc="-10" dirty="0">
                <a:latin typeface="Times New Roman"/>
                <a:cs typeface="Times New Roman"/>
              </a:rPr>
              <a:t>fold</a:t>
            </a:r>
            <a:r>
              <a:rPr sz="1200" spc="-10" dirty="0">
                <a:latin typeface="Times New Roman"/>
                <a:cs typeface="Times New Roman"/>
              </a:rPr>
              <a:t>.</a:t>
            </a:r>
            <a:endParaRPr sz="1200">
              <a:latin typeface="Times New Roman"/>
              <a:cs typeface="Times New Roman"/>
            </a:endParaRPr>
          </a:p>
        </p:txBody>
      </p:sp>
      <p:sp>
        <p:nvSpPr>
          <p:cNvPr id="10" name="object 10"/>
          <p:cNvSpPr txBox="1"/>
          <p:nvPr/>
        </p:nvSpPr>
        <p:spPr>
          <a:xfrm>
            <a:off x="759561" y="7825841"/>
            <a:ext cx="2286635" cy="208279"/>
          </a:xfrm>
          <a:prstGeom prst="rect">
            <a:avLst/>
          </a:prstGeom>
        </p:spPr>
        <p:txBody>
          <a:bodyPr vert="horz" wrap="square" lIns="0" tIns="12700" rIns="0" bIns="0" rtlCol="0">
            <a:spAutoFit/>
          </a:bodyPr>
          <a:lstStyle/>
          <a:p>
            <a:pPr marL="169545" indent="-169545">
              <a:lnSpc>
                <a:spcPct val="100000"/>
              </a:lnSpc>
              <a:spcBef>
                <a:spcPts val="100"/>
              </a:spcBef>
              <a:buClr>
                <a:srgbClr val="3E762B"/>
              </a:buClr>
              <a:buFont typeface="Wingdings"/>
              <a:buChar char=""/>
              <a:tabLst>
                <a:tab pos="169545" algn="l"/>
              </a:tabLst>
            </a:pPr>
            <a:r>
              <a:rPr sz="1200" b="1" dirty="0">
                <a:latin typeface="Times New Roman"/>
                <a:cs typeface="Times New Roman"/>
              </a:rPr>
              <a:t>Every</a:t>
            </a:r>
            <a:r>
              <a:rPr sz="1200" b="1" spc="-15" dirty="0">
                <a:latin typeface="Times New Roman"/>
                <a:cs typeface="Times New Roman"/>
              </a:rPr>
              <a:t> </a:t>
            </a:r>
            <a:r>
              <a:rPr sz="1200" b="1" dirty="0">
                <a:latin typeface="Times New Roman"/>
                <a:cs typeface="Times New Roman"/>
              </a:rPr>
              <a:t>task</a:t>
            </a:r>
            <a:r>
              <a:rPr sz="1200" b="1" spc="-10" dirty="0">
                <a:latin typeface="Times New Roman"/>
                <a:cs typeface="Times New Roman"/>
              </a:rPr>
              <a:t> </a:t>
            </a:r>
            <a:r>
              <a:rPr sz="1200" b="1" dirty="0">
                <a:latin typeface="Times New Roman"/>
                <a:cs typeface="Times New Roman"/>
              </a:rPr>
              <a:t>takes 90</a:t>
            </a:r>
            <a:r>
              <a:rPr sz="1200" b="1" spc="-10" dirty="0">
                <a:latin typeface="Times New Roman"/>
                <a:cs typeface="Times New Roman"/>
              </a:rPr>
              <a:t> </a:t>
            </a:r>
            <a:r>
              <a:rPr sz="1200" b="1" dirty="0">
                <a:latin typeface="Times New Roman"/>
                <a:cs typeface="Times New Roman"/>
              </a:rPr>
              <a:t>min</a:t>
            </a:r>
            <a:r>
              <a:rPr sz="1200" b="1" spc="-5" dirty="0">
                <a:latin typeface="Times New Roman"/>
                <a:cs typeface="Times New Roman"/>
              </a:rPr>
              <a:t> </a:t>
            </a:r>
            <a:r>
              <a:rPr sz="1200" b="1" dirty="0">
                <a:latin typeface="Times New Roman"/>
                <a:cs typeface="Times New Roman"/>
              </a:rPr>
              <a:t>=</a:t>
            </a:r>
            <a:r>
              <a:rPr sz="1200" b="1" spc="-10" dirty="0">
                <a:latin typeface="Times New Roman"/>
                <a:cs typeface="Times New Roman"/>
              </a:rPr>
              <a:t> </a:t>
            </a:r>
            <a:r>
              <a:rPr sz="1200" b="1" dirty="0">
                <a:latin typeface="Times New Roman"/>
                <a:cs typeface="Times New Roman"/>
              </a:rPr>
              <a:t>1.5</a:t>
            </a:r>
            <a:r>
              <a:rPr sz="1200" b="1" spc="-5" dirty="0">
                <a:latin typeface="Times New Roman"/>
                <a:cs typeface="Times New Roman"/>
              </a:rPr>
              <a:t> </a:t>
            </a:r>
            <a:r>
              <a:rPr sz="1200" b="1" spc="-25" dirty="0">
                <a:latin typeface="Times New Roman"/>
                <a:cs typeface="Times New Roman"/>
              </a:rPr>
              <a:t>hr</a:t>
            </a:r>
            <a:endParaRPr sz="1200">
              <a:latin typeface="Times New Roman"/>
              <a:cs typeface="Times New Roman"/>
            </a:endParaRPr>
          </a:p>
        </p:txBody>
      </p:sp>
      <p:sp>
        <p:nvSpPr>
          <p:cNvPr id="11" name="object 11"/>
          <p:cNvSpPr txBox="1"/>
          <p:nvPr/>
        </p:nvSpPr>
        <p:spPr>
          <a:xfrm>
            <a:off x="725423" y="5069586"/>
            <a:ext cx="2703830" cy="1188720"/>
          </a:xfrm>
          <a:prstGeom prst="rect">
            <a:avLst/>
          </a:prstGeom>
        </p:spPr>
        <p:txBody>
          <a:bodyPr vert="horz" wrap="square" lIns="0" tIns="12065" rIns="0" bIns="0" rtlCol="0">
            <a:spAutoFit/>
          </a:bodyPr>
          <a:lstStyle/>
          <a:p>
            <a:pPr>
              <a:lnSpc>
                <a:spcPct val="100000"/>
              </a:lnSpc>
              <a:spcBef>
                <a:spcPts val="95"/>
              </a:spcBef>
            </a:pPr>
            <a:r>
              <a:rPr sz="2200" dirty="0">
                <a:latin typeface="Georgia"/>
                <a:cs typeface="Georgia"/>
              </a:rPr>
              <a:t>What’s</a:t>
            </a:r>
            <a:r>
              <a:rPr sz="2200" spc="-75" dirty="0">
                <a:latin typeface="Georgia"/>
                <a:cs typeface="Georgia"/>
              </a:rPr>
              <a:t> </a:t>
            </a:r>
            <a:r>
              <a:rPr sz="2200" spc="-10" dirty="0">
                <a:latin typeface="Georgia"/>
                <a:cs typeface="Georgia"/>
              </a:rPr>
              <a:t>Pipelining</a:t>
            </a:r>
            <a:endParaRPr sz="2200">
              <a:latin typeface="Georgia"/>
              <a:cs typeface="Georgia"/>
            </a:endParaRPr>
          </a:p>
          <a:p>
            <a:pPr marL="203200" indent="-169545">
              <a:lnSpc>
                <a:spcPct val="100000"/>
              </a:lnSpc>
              <a:spcBef>
                <a:spcPts val="1100"/>
              </a:spcBef>
              <a:buClr>
                <a:srgbClr val="3E762B"/>
              </a:buClr>
              <a:buFont typeface="Wingdings"/>
              <a:buChar char=""/>
              <a:tabLst>
                <a:tab pos="203200" algn="l"/>
              </a:tabLst>
            </a:pPr>
            <a:r>
              <a:rPr sz="1200" u="sng" dirty="0">
                <a:uFill>
                  <a:solidFill>
                    <a:srgbClr val="000000"/>
                  </a:solidFill>
                </a:uFill>
                <a:latin typeface="Times New Roman"/>
                <a:cs typeface="Times New Roman"/>
              </a:rPr>
              <a:t>Laundry</a:t>
            </a:r>
            <a:r>
              <a:rPr sz="1200" u="sng" spc="-45" dirty="0">
                <a:uFill>
                  <a:solidFill>
                    <a:srgbClr val="000000"/>
                  </a:solidFill>
                </a:uFill>
                <a:latin typeface="Times New Roman"/>
                <a:cs typeface="Times New Roman"/>
              </a:rPr>
              <a:t> </a:t>
            </a:r>
            <a:r>
              <a:rPr sz="1200" u="sng" spc="-10" dirty="0">
                <a:uFill>
                  <a:solidFill>
                    <a:srgbClr val="000000"/>
                  </a:solidFill>
                </a:uFill>
                <a:latin typeface="Times New Roman"/>
                <a:cs typeface="Times New Roman"/>
              </a:rPr>
              <a:t>Example</a:t>
            </a:r>
            <a:endParaRPr sz="1200">
              <a:latin typeface="Times New Roman"/>
              <a:cs typeface="Times New Roman"/>
            </a:endParaRPr>
          </a:p>
          <a:p>
            <a:pPr marL="204470">
              <a:lnSpc>
                <a:spcPct val="100000"/>
              </a:lnSpc>
              <a:spcBef>
                <a:spcPts val="550"/>
              </a:spcBef>
            </a:pPr>
            <a:r>
              <a:rPr sz="1200" b="1" dirty="0">
                <a:latin typeface="Times New Roman"/>
                <a:cs typeface="Times New Roman"/>
              </a:rPr>
              <a:t>A</a:t>
            </a:r>
            <a:r>
              <a:rPr sz="1200" dirty="0">
                <a:latin typeface="Times New Roman"/>
                <a:cs typeface="Times New Roman"/>
              </a:rPr>
              <a:t>nn,</a:t>
            </a:r>
            <a:r>
              <a:rPr sz="1200" spc="-40" dirty="0">
                <a:latin typeface="Times New Roman"/>
                <a:cs typeface="Times New Roman"/>
              </a:rPr>
              <a:t> </a:t>
            </a:r>
            <a:r>
              <a:rPr sz="1200" b="1" dirty="0">
                <a:latin typeface="Times New Roman"/>
                <a:cs typeface="Times New Roman"/>
              </a:rPr>
              <a:t>B</a:t>
            </a:r>
            <a:r>
              <a:rPr sz="1200" dirty="0">
                <a:latin typeface="Times New Roman"/>
                <a:cs typeface="Times New Roman"/>
              </a:rPr>
              <a:t>rian,</a:t>
            </a:r>
            <a:r>
              <a:rPr sz="1200" spc="-35" dirty="0">
                <a:latin typeface="Times New Roman"/>
                <a:cs typeface="Times New Roman"/>
              </a:rPr>
              <a:t> </a:t>
            </a:r>
            <a:r>
              <a:rPr sz="1200" b="1" spc="-10" dirty="0">
                <a:latin typeface="Times New Roman"/>
                <a:cs typeface="Times New Roman"/>
              </a:rPr>
              <a:t>C</a:t>
            </a:r>
            <a:r>
              <a:rPr sz="1200" spc="-10" dirty="0">
                <a:latin typeface="Times New Roman"/>
                <a:cs typeface="Times New Roman"/>
              </a:rPr>
              <a:t>athy,</a:t>
            </a:r>
            <a:r>
              <a:rPr sz="1200" spc="5" dirty="0">
                <a:latin typeface="Times New Roman"/>
                <a:cs typeface="Times New Roman"/>
              </a:rPr>
              <a:t> </a:t>
            </a:r>
            <a:r>
              <a:rPr sz="1200" b="1" spc="-20" dirty="0">
                <a:latin typeface="Times New Roman"/>
                <a:cs typeface="Times New Roman"/>
              </a:rPr>
              <a:t>D</a:t>
            </a:r>
            <a:r>
              <a:rPr sz="1200" spc="-20" dirty="0">
                <a:latin typeface="Times New Roman"/>
                <a:cs typeface="Times New Roman"/>
              </a:rPr>
              <a:t>ave</a:t>
            </a:r>
            <a:endParaRPr sz="1200">
              <a:latin typeface="Times New Roman"/>
              <a:cs typeface="Times New Roman"/>
            </a:endParaRPr>
          </a:p>
          <a:p>
            <a:pPr marL="204470">
              <a:lnSpc>
                <a:spcPct val="100000"/>
              </a:lnSpc>
              <a:spcBef>
                <a:spcPts val="555"/>
              </a:spcBef>
              <a:tabLst>
                <a:tab pos="2320290" algn="l"/>
              </a:tabLst>
            </a:pP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has</a:t>
            </a:r>
            <a:r>
              <a:rPr sz="1200" spc="-15" dirty="0">
                <a:latin typeface="Times New Roman"/>
                <a:cs typeface="Times New Roman"/>
              </a:rPr>
              <a:t> </a:t>
            </a:r>
            <a:r>
              <a:rPr sz="1200" dirty="0">
                <a:latin typeface="Times New Roman"/>
                <a:cs typeface="Times New Roman"/>
              </a:rPr>
              <a:t>one</a:t>
            </a:r>
            <a:r>
              <a:rPr sz="1200" spc="-25" dirty="0">
                <a:latin typeface="Times New Roman"/>
                <a:cs typeface="Times New Roman"/>
              </a:rPr>
              <a:t> </a:t>
            </a:r>
            <a:r>
              <a:rPr sz="1200" dirty="0">
                <a:latin typeface="Times New Roman"/>
                <a:cs typeface="Times New Roman"/>
              </a:rPr>
              <a:t>load</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clothes</a:t>
            </a:r>
            <a:r>
              <a:rPr sz="1200" spc="-25" dirty="0">
                <a:latin typeface="Times New Roman"/>
                <a:cs typeface="Times New Roman"/>
              </a:rPr>
              <a:t> to</a:t>
            </a:r>
            <a:r>
              <a:rPr sz="1200" dirty="0">
                <a:latin typeface="Times New Roman"/>
                <a:cs typeface="Times New Roman"/>
              </a:rPr>
              <a:t>	</a:t>
            </a:r>
            <a:r>
              <a:rPr sz="1200" b="1" spc="-20" dirty="0">
                <a:latin typeface="Times New Roman"/>
                <a:cs typeface="Times New Roman"/>
              </a:rPr>
              <a:t>wash</a:t>
            </a:r>
            <a:r>
              <a:rPr sz="1200" spc="-20" dirty="0">
                <a:latin typeface="Times New Roman"/>
                <a:cs typeface="Times New Roman"/>
              </a:rPr>
              <a:t>,</a:t>
            </a:r>
            <a:endParaRPr sz="1200">
              <a:latin typeface="Times New Roman"/>
              <a:cs typeface="Times New Roman"/>
            </a:endParaRPr>
          </a:p>
        </p:txBody>
      </p:sp>
      <p:grpSp>
        <p:nvGrpSpPr>
          <p:cNvPr id="12" name="object 12"/>
          <p:cNvGrpSpPr/>
          <p:nvPr/>
        </p:nvGrpSpPr>
        <p:grpSpPr>
          <a:xfrm>
            <a:off x="3096767" y="6556247"/>
            <a:ext cx="2129155" cy="407034"/>
            <a:chOff x="3096767" y="6556247"/>
            <a:chExt cx="2129155" cy="407034"/>
          </a:xfrm>
        </p:grpSpPr>
        <p:sp>
          <p:nvSpPr>
            <p:cNvPr id="13" name="object 13"/>
            <p:cNvSpPr/>
            <p:nvPr/>
          </p:nvSpPr>
          <p:spPr>
            <a:xfrm>
              <a:off x="3970019" y="6707111"/>
              <a:ext cx="252095" cy="253365"/>
            </a:xfrm>
            <a:custGeom>
              <a:avLst/>
              <a:gdLst/>
              <a:ahLst/>
              <a:cxnLst/>
              <a:rect l="l" t="t" r="r" b="b"/>
              <a:pathLst>
                <a:path w="252095" h="253365">
                  <a:moveTo>
                    <a:pt x="251472" y="0"/>
                  </a:moveTo>
                  <a:lnTo>
                    <a:pt x="0" y="0"/>
                  </a:lnTo>
                  <a:lnTo>
                    <a:pt x="0" y="252996"/>
                  </a:lnTo>
                  <a:lnTo>
                    <a:pt x="251472" y="252996"/>
                  </a:lnTo>
                  <a:lnTo>
                    <a:pt x="251472" y="0"/>
                  </a:lnTo>
                  <a:close/>
                </a:path>
              </a:pathLst>
            </a:custGeom>
            <a:solidFill>
              <a:srgbClr val="A1C1FD"/>
            </a:solidFill>
          </p:spPr>
          <p:txBody>
            <a:bodyPr wrap="square" lIns="0" tIns="0" rIns="0" bIns="0" rtlCol="0"/>
            <a:lstStyle/>
            <a:p>
              <a:endParaRPr/>
            </a:p>
          </p:txBody>
        </p:sp>
        <p:sp>
          <p:nvSpPr>
            <p:cNvPr id="14" name="object 14"/>
            <p:cNvSpPr/>
            <p:nvPr/>
          </p:nvSpPr>
          <p:spPr>
            <a:xfrm>
              <a:off x="4221479" y="6623303"/>
              <a:ext cx="83820" cy="337185"/>
            </a:xfrm>
            <a:custGeom>
              <a:avLst/>
              <a:gdLst/>
              <a:ahLst/>
              <a:cxnLst/>
              <a:rect l="l" t="t" r="r" b="b"/>
              <a:pathLst>
                <a:path w="83820" h="337184">
                  <a:moveTo>
                    <a:pt x="83820" y="0"/>
                  </a:moveTo>
                  <a:lnTo>
                    <a:pt x="0" y="83820"/>
                  </a:lnTo>
                  <a:lnTo>
                    <a:pt x="0" y="336804"/>
                  </a:lnTo>
                  <a:lnTo>
                    <a:pt x="83820" y="252984"/>
                  </a:lnTo>
                  <a:lnTo>
                    <a:pt x="83820" y="0"/>
                  </a:lnTo>
                  <a:close/>
                </a:path>
              </a:pathLst>
            </a:custGeom>
            <a:solidFill>
              <a:srgbClr val="829BCC"/>
            </a:solidFill>
          </p:spPr>
          <p:txBody>
            <a:bodyPr wrap="square" lIns="0" tIns="0" rIns="0" bIns="0" rtlCol="0"/>
            <a:lstStyle/>
            <a:p>
              <a:endParaRPr/>
            </a:p>
          </p:txBody>
        </p:sp>
        <p:sp>
          <p:nvSpPr>
            <p:cNvPr id="15" name="object 15"/>
            <p:cNvSpPr/>
            <p:nvPr/>
          </p:nvSpPr>
          <p:spPr>
            <a:xfrm>
              <a:off x="3970019" y="6623303"/>
              <a:ext cx="335280" cy="83820"/>
            </a:xfrm>
            <a:custGeom>
              <a:avLst/>
              <a:gdLst/>
              <a:ahLst/>
              <a:cxnLst/>
              <a:rect l="l" t="t" r="r" b="b"/>
              <a:pathLst>
                <a:path w="335279" h="83820">
                  <a:moveTo>
                    <a:pt x="335279" y="0"/>
                  </a:moveTo>
                  <a:lnTo>
                    <a:pt x="83819" y="0"/>
                  </a:lnTo>
                  <a:lnTo>
                    <a:pt x="0" y="83820"/>
                  </a:lnTo>
                  <a:lnTo>
                    <a:pt x="251459" y="83820"/>
                  </a:lnTo>
                  <a:lnTo>
                    <a:pt x="335279" y="0"/>
                  </a:lnTo>
                  <a:close/>
                </a:path>
              </a:pathLst>
            </a:custGeom>
            <a:solidFill>
              <a:srgbClr val="B4CDFD"/>
            </a:solidFill>
          </p:spPr>
          <p:txBody>
            <a:bodyPr wrap="square" lIns="0" tIns="0" rIns="0" bIns="0" rtlCol="0"/>
            <a:lstStyle/>
            <a:p>
              <a:endParaRPr/>
            </a:p>
          </p:txBody>
        </p:sp>
        <p:sp>
          <p:nvSpPr>
            <p:cNvPr id="16" name="object 16"/>
            <p:cNvSpPr/>
            <p:nvPr/>
          </p:nvSpPr>
          <p:spPr>
            <a:xfrm>
              <a:off x="3970019" y="6623303"/>
              <a:ext cx="335280" cy="337185"/>
            </a:xfrm>
            <a:custGeom>
              <a:avLst/>
              <a:gdLst/>
              <a:ahLst/>
              <a:cxnLst/>
              <a:rect l="l" t="t" r="r" b="b"/>
              <a:pathLst>
                <a:path w="335279" h="337184">
                  <a:moveTo>
                    <a:pt x="0" y="83820"/>
                  </a:moveTo>
                  <a:lnTo>
                    <a:pt x="83819" y="0"/>
                  </a:lnTo>
                  <a:lnTo>
                    <a:pt x="335279" y="0"/>
                  </a:lnTo>
                  <a:lnTo>
                    <a:pt x="335279" y="252984"/>
                  </a:lnTo>
                  <a:lnTo>
                    <a:pt x="251459" y="336804"/>
                  </a:lnTo>
                  <a:lnTo>
                    <a:pt x="0" y="336804"/>
                  </a:lnTo>
                  <a:lnTo>
                    <a:pt x="0" y="83820"/>
                  </a:lnTo>
                  <a:close/>
                </a:path>
                <a:path w="335279" h="337184">
                  <a:moveTo>
                    <a:pt x="0" y="83820"/>
                  </a:moveTo>
                  <a:lnTo>
                    <a:pt x="251459" y="83820"/>
                  </a:lnTo>
                  <a:lnTo>
                    <a:pt x="335279" y="0"/>
                  </a:lnTo>
                </a:path>
                <a:path w="335279" h="337184">
                  <a:moveTo>
                    <a:pt x="251459" y="83820"/>
                  </a:moveTo>
                  <a:lnTo>
                    <a:pt x="251459" y="336804"/>
                  </a:lnTo>
                </a:path>
              </a:pathLst>
            </a:custGeom>
            <a:ln w="6096">
              <a:solidFill>
                <a:srgbClr val="000000"/>
              </a:solidFill>
            </a:ln>
          </p:spPr>
          <p:txBody>
            <a:bodyPr wrap="square" lIns="0" tIns="0" rIns="0" bIns="0" rtlCol="0"/>
            <a:lstStyle/>
            <a:p>
              <a:endParaRPr/>
            </a:p>
          </p:txBody>
        </p:sp>
        <p:sp>
          <p:nvSpPr>
            <p:cNvPr id="17" name="object 17"/>
            <p:cNvSpPr/>
            <p:nvPr/>
          </p:nvSpPr>
          <p:spPr>
            <a:xfrm>
              <a:off x="4046219" y="6576818"/>
              <a:ext cx="241935" cy="52705"/>
            </a:xfrm>
            <a:custGeom>
              <a:avLst/>
              <a:gdLst/>
              <a:ahLst/>
              <a:cxnLst/>
              <a:rect l="l" t="t" r="r" b="b"/>
              <a:pathLst>
                <a:path w="241935" h="52704">
                  <a:moveTo>
                    <a:pt x="241553" y="0"/>
                  </a:moveTo>
                  <a:lnTo>
                    <a:pt x="0" y="0"/>
                  </a:lnTo>
                  <a:lnTo>
                    <a:pt x="0" y="52581"/>
                  </a:lnTo>
                  <a:lnTo>
                    <a:pt x="241553" y="52581"/>
                  </a:lnTo>
                  <a:lnTo>
                    <a:pt x="241553" y="0"/>
                  </a:lnTo>
                  <a:close/>
                </a:path>
              </a:pathLst>
            </a:custGeom>
            <a:solidFill>
              <a:srgbClr val="A1C1FD"/>
            </a:solidFill>
          </p:spPr>
          <p:txBody>
            <a:bodyPr wrap="square" lIns="0" tIns="0" rIns="0" bIns="0" rtlCol="0"/>
            <a:lstStyle/>
            <a:p>
              <a:endParaRPr/>
            </a:p>
          </p:txBody>
        </p:sp>
        <p:sp>
          <p:nvSpPr>
            <p:cNvPr id="18" name="object 18"/>
            <p:cNvSpPr/>
            <p:nvPr/>
          </p:nvSpPr>
          <p:spPr>
            <a:xfrm>
              <a:off x="4287773" y="6559295"/>
              <a:ext cx="17780" cy="70485"/>
            </a:xfrm>
            <a:custGeom>
              <a:avLst/>
              <a:gdLst/>
              <a:ahLst/>
              <a:cxnLst/>
              <a:rect l="l" t="t" r="r" b="b"/>
              <a:pathLst>
                <a:path w="17779" h="70484">
                  <a:moveTo>
                    <a:pt x="17525" y="0"/>
                  </a:moveTo>
                  <a:lnTo>
                    <a:pt x="0" y="17525"/>
                  </a:lnTo>
                  <a:lnTo>
                    <a:pt x="0" y="70103"/>
                  </a:lnTo>
                  <a:lnTo>
                    <a:pt x="17525" y="52577"/>
                  </a:lnTo>
                  <a:lnTo>
                    <a:pt x="17525" y="0"/>
                  </a:lnTo>
                  <a:close/>
                </a:path>
              </a:pathLst>
            </a:custGeom>
            <a:solidFill>
              <a:srgbClr val="829BCC"/>
            </a:solidFill>
          </p:spPr>
          <p:txBody>
            <a:bodyPr wrap="square" lIns="0" tIns="0" rIns="0" bIns="0" rtlCol="0"/>
            <a:lstStyle/>
            <a:p>
              <a:endParaRPr/>
            </a:p>
          </p:txBody>
        </p:sp>
        <p:sp>
          <p:nvSpPr>
            <p:cNvPr id="19" name="object 19"/>
            <p:cNvSpPr/>
            <p:nvPr/>
          </p:nvSpPr>
          <p:spPr>
            <a:xfrm>
              <a:off x="4046219" y="6559295"/>
              <a:ext cx="259079" cy="17780"/>
            </a:xfrm>
            <a:custGeom>
              <a:avLst/>
              <a:gdLst/>
              <a:ahLst/>
              <a:cxnLst/>
              <a:rect l="l" t="t" r="r" b="b"/>
              <a:pathLst>
                <a:path w="259079" h="17779">
                  <a:moveTo>
                    <a:pt x="259079" y="0"/>
                  </a:moveTo>
                  <a:lnTo>
                    <a:pt x="17525" y="0"/>
                  </a:lnTo>
                  <a:lnTo>
                    <a:pt x="0" y="17525"/>
                  </a:lnTo>
                  <a:lnTo>
                    <a:pt x="241553" y="17525"/>
                  </a:lnTo>
                  <a:lnTo>
                    <a:pt x="259079" y="0"/>
                  </a:lnTo>
                  <a:close/>
                </a:path>
              </a:pathLst>
            </a:custGeom>
            <a:solidFill>
              <a:srgbClr val="B4CDFD"/>
            </a:solidFill>
          </p:spPr>
          <p:txBody>
            <a:bodyPr wrap="square" lIns="0" tIns="0" rIns="0" bIns="0" rtlCol="0"/>
            <a:lstStyle/>
            <a:p>
              <a:endParaRPr/>
            </a:p>
          </p:txBody>
        </p:sp>
        <p:sp>
          <p:nvSpPr>
            <p:cNvPr id="20" name="object 20"/>
            <p:cNvSpPr/>
            <p:nvPr/>
          </p:nvSpPr>
          <p:spPr>
            <a:xfrm>
              <a:off x="4046219" y="6559295"/>
              <a:ext cx="259079" cy="70485"/>
            </a:xfrm>
            <a:custGeom>
              <a:avLst/>
              <a:gdLst/>
              <a:ahLst/>
              <a:cxnLst/>
              <a:rect l="l" t="t" r="r" b="b"/>
              <a:pathLst>
                <a:path w="259079" h="70484">
                  <a:moveTo>
                    <a:pt x="0" y="17525"/>
                  </a:moveTo>
                  <a:lnTo>
                    <a:pt x="17525" y="0"/>
                  </a:lnTo>
                  <a:lnTo>
                    <a:pt x="259079" y="0"/>
                  </a:lnTo>
                  <a:lnTo>
                    <a:pt x="259079" y="52577"/>
                  </a:lnTo>
                  <a:lnTo>
                    <a:pt x="241553" y="70103"/>
                  </a:lnTo>
                  <a:lnTo>
                    <a:pt x="0" y="70103"/>
                  </a:lnTo>
                  <a:lnTo>
                    <a:pt x="0" y="17525"/>
                  </a:lnTo>
                  <a:close/>
                </a:path>
                <a:path w="259079" h="70484">
                  <a:moveTo>
                    <a:pt x="0" y="17525"/>
                  </a:moveTo>
                  <a:lnTo>
                    <a:pt x="241553" y="17525"/>
                  </a:lnTo>
                  <a:lnTo>
                    <a:pt x="259079" y="0"/>
                  </a:lnTo>
                </a:path>
                <a:path w="259079" h="70484">
                  <a:moveTo>
                    <a:pt x="241553" y="17525"/>
                  </a:moveTo>
                  <a:lnTo>
                    <a:pt x="241553" y="70103"/>
                  </a:lnTo>
                </a:path>
              </a:pathLst>
            </a:custGeom>
            <a:ln w="6096">
              <a:solidFill>
                <a:srgbClr val="000000"/>
              </a:solidFill>
            </a:ln>
          </p:spPr>
          <p:txBody>
            <a:bodyPr wrap="square" lIns="0" tIns="0" rIns="0" bIns="0" rtlCol="0"/>
            <a:lstStyle/>
            <a:p>
              <a:endParaRPr/>
            </a:p>
          </p:txBody>
        </p:sp>
        <p:sp>
          <p:nvSpPr>
            <p:cNvPr id="21" name="object 21"/>
            <p:cNvSpPr/>
            <p:nvPr/>
          </p:nvSpPr>
          <p:spPr>
            <a:xfrm>
              <a:off x="4070603" y="6591299"/>
              <a:ext cx="44450" cy="26034"/>
            </a:xfrm>
            <a:custGeom>
              <a:avLst/>
              <a:gdLst/>
              <a:ahLst/>
              <a:cxnLst/>
              <a:rect l="l" t="t" r="r" b="b"/>
              <a:pathLst>
                <a:path w="44450" h="26034">
                  <a:moveTo>
                    <a:pt x="22098" y="0"/>
                  </a:moveTo>
                  <a:lnTo>
                    <a:pt x="13501" y="1023"/>
                  </a:lnTo>
                  <a:lnTo>
                    <a:pt x="6477" y="3810"/>
                  </a:lnTo>
                  <a:lnTo>
                    <a:pt x="1738" y="7929"/>
                  </a:lnTo>
                  <a:lnTo>
                    <a:pt x="0" y="12954"/>
                  </a:lnTo>
                  <a:lnTo>
                    <a:pt x="1738" y="17978"/>
                  </a:lnTo>
                  <a:lnTo>
                    <a:pt x="6476" y="22098"/>
                  </a:lnTo>
                  <a:lnTo>
                    <a:pt x="13501" y="24884"/>
                  </a:lnTo>
                  <a:lnTo>
                    <a:pt x="22098" y="25907"/>
                  </a:lnTo>
                  <a:lnTo>
                    <a:pt x="30694" y="24884"/>
                  </a:lnTo>
                  <a:lnTo>
                    <a:pt x="37719" y="22098"/>
                  </a:lnTo>
                  <a:lnTo>
                    <a:pt x="42457" y="17978"/>
                  </a:lnTo>
                  <a:lnTo>
                    <a:pt x="44196" y="12954"/>
                  </a:lnTo>
                  <a:lnTo>
                    <a:pt x="42457" y="7929"/>
                  </a:lnTo>
                  <a:lnTo>
                    <a:pt x="37719" y="3810"/>
                  </a:lnTo>
                  <a:lnTo>
                    <a:pt x="30694" y="1023"/>
                  </a:lnTo>
                  <a:lnTo>
                    <a:pt x="22098" y="0"/>
                  </a:lnTo>
                  <a:close/>
                </a:path>
              </a:pathLst>
            </a:custGeom>
            <a:solidFill>
              <a:srgbClr val="FFFFFF"/>
            </a:solidFill>
          </p:spPr>
          <p:txBody>
            <a:bodyPr wrap="square" lIns="0" tIns="0" rIns="0" bIns="0" rtlCol="0"/>
            <a:lstStyle/>
            <a:p>
              <a:endParaRPr/>
            </a:p>
          </p:txBody>
        </p:sp>
        <p:sp>
          <p:nvSpPr>
            <p:cNvPr id="22" name="object 22"/>
            <p:cNvSpPr/>
            <p:nvPr/>
          </p:nvSpPr>
          <p:spPr>
            <a:xfrm>
              <a:off x="4070603" y="6591299"/>
              <a:ext cx="44450" cy="26034"/>
            </a:xfrm>
            <a:custGeom>
              <a:avLst/>
              <a:gdLst/>
              <a:ahLst/>
              <a:cxnLst/>
              <a:rect l="l" t="t" r="r" b="b"/>
              <a:pathLst>
                <a:path w="44450" h="26034">
                  <a:moveTo>
                    <a:pt x="0" y="12954"/>
                  </a:moveTo>
                  <a:lnTo>
                    <a:pt x="1738" y="7929"/>
                  </a:lnTo>
                  <a:lnTo>
                    <a:pt x="6477" y="3810"/>
                  </a:lnTo>
                  <a:lnTo>
                    <a:pt x="13501" y="1023"/>
                  </a:lnTo>
                  <a:lnTo>
                    <a:pt x="22098" y="0"/>
                  </a:lnTo>
                  <a:lnTo>
                    <a:pt x="30694" y="1023"/>
                  </a:lnTo>
                  <a:lnTo>
                    <a:pt x="37719" y="3810"/>
                  </a:lnTo>
                  <a:lnTo>
                    <a:pt x="42457" y="7929"/>
                  </a:lnTo>
                  <a:lnTo>
                    <a:pt x="44196" y="12954"/>
                  </a:lnTo>
                  <a:lnTo>
                    <a:pt x="42457" y="17978"/>
                  </a:lnTo>
                  <a:lnTo>
                    <a:pt x="37719" y="22098"/>
                  </a:lnTo>
                  <a:lnTo>
                    <a:pt x="30694" y="24884"/>
                  </a:lnTo>
                  <a:lnTo>
                    <a:pt x="22098" y="25907"/>
                  </a:lnTo>
                  <a:lnTo>
                    <a:pt x="13501" y="24884"/>
                  </a:lnTo>
                  <a:lnTo>
                    <a:pt x="6476" y="22098"/>
                  </a:lnTo>
                  <a:lnTo>
                    <a:pt x="1738" y="17978"/>
                  </a:lnTo>
                  <a:lnTo>
                    <a:pt x="0" y="12954"/>
                  </a:lnTo>
                  <a:close/>
                </a:path>
              </a:pathLst>
            </a:custGeom>
            <a:ln w="6096">
              <a:solidFill>
                <a:srgbClr val="000000"/>
              </a:solidFill>
            </a:ln>
          </p:spPr>
          <p:txBody>
            <a:bodyPr wrap="square" lIns="0" tIns="0" rIns="0" bIns="0" rtlCol="0"/>
            <a:lstStyle/>
            <a:p>
              <a:endParaRPr/>
            </a:p>
          </p:txBody>
        </p:sp>
        <p:pic>
          <p:nvPicPr>
            <p:cNvPr id="23" name="object 23"/>
            <p:cNvPicPr/>
            <p:nvPr/>
          </p:nvPicPr>
          <p:blipFill>
            <a:blip r:embed="rId2" cstate="print"/>
            <a:stretch>
              <a:fillRect/>
            </a:stretch>
          </p:blipFill>
          <p:spPr>
            <a:xfrm>
              <a:off x="4005071" y="6772655"/>
              <a:ext cx="188976" cy="88391"/>
            </a:xfrm>
            <a:prstGeom prst="rect">
              <a:avLst/>
            </a:prstGeom>
          </p:spPr>
        </p:pic>
        <p:pic>
          <p:nvPicPr>
            <p:cNvPr id="24" name="object 24"/>
            <p:cNvPicPr/>
            <p:nvPr/>
          </p:nvPicPr>
          <p:blipFill>
            <a:blip r:embed="rId3" cstate="print"/>
            <a:stretch>
              <a:fillRect/>
            </a:stretch>
          </p:blipFill>
          <p:spPr>
            <a:xfrm>
              <a:off x="5050535" y="6751319"/>
              <a:ext cx="175260" cy="169925"/>
            </a:xfrm>
            <a:prstGeom prst="rect">
              <a:avLst/>
            </a:prstGeom>
          </p:spPr>
        </p:pic>
        <p:sp>
          <p:nvSpPr>
            <p:cNvPr id="25" name="object 25"/>
            <p:cNvSpPr/>
            <p:nvPr/>
          </p:nvSpPr>
          <p:spPr>
            <a:xfrm>
              <a:off x="4895088" y="6597395"/>
              <a:ext cx="109855" cy="236220"/>
            </a:xfrm>
            <a:custGeom>
              <a:avLst/>
              <a:gdLst/>
              <a:ahLst/>
              <a:cxnLst/>
              <a:rect l="l" t="t" r="r" b="b"/>
              <a:pathLst>
                <a:path w="109854" h="236220">
                  <a:moveTo>
                    <a:pt x="92964" y="225552"/>
                  </a:moveTo>
                  <a:lnTo>
                    <a:pt x="0" y="225552"/>
                  </a:lnTo>
                  <a:lnTo>
                    <a:pt x="0" y="236220"/>
                  </a:lnTo>
                  <a:lnTo>
                    <a:pt x="92964" y="236220"/>
                  </a:lnTo>
                  <a:lnTo>
                    <a:pt x="92964" y="225552"/>
                  </a:lnTo>
                  <a:close/>
                </a:path>
                <a:path w="109854" h="236220">
                  <a:moveTo>
                    <a:pt x="109728" y="22098"/>
                  </a:moveTo>
                  <a:lnTo>
                    <a:pt x="107988" y="13512"/>
                  </a:lnTo>
                  <a:lnTo>
                    <a:pt x="103251" y="6477"/>
                  </a:lnTo>
                  <a:lnTo>
                    <a:pt x="96215" y="1739"/>
                  </a:lnTo>
                  <a:lnTo>
                    <a:pt x="87630" y="0"/>
                  </a:lnTo>
                  <a:lnTo>
                    <a:pt x="79032" y="1739"/>
                  </a:lnTo>
                  <a:lnTo>
                    <a:pt x="72009" y="6477"/>
                  </a:lnTo>
                  <a:lnTo>
                    <a:pt x="67259" y="13512"/>
                  </a:lnTo>
                  <a:lnTo>
                    <a:pt x="65532" y="22098"/>
                  </a:lnTo>
                  <a:lnTo>
                    <a:pt x="67259" y="30695"/>
                  </a:lnTo>
                  <a:lnTo>
                    <a:pt x="72009" y="37731"/>
                  </a:lnTo>
                  <a:lnTo>
                    <a:pt x="79032" y="42468"/>
                  </a:lnTo>
                  <a:lnTo>
                    <a:pt x="87630" y="44196"/>
                  </a:lnTo>
                  <a:lnTo>
                    <a:pt x="96215" y="42468"/>
                  </a:lnTo>
                  <a:lnTo>
                    <a:pt x="103251" y="37719"/>
                  </a:lnTo>
                  <a:lnTo>
                    <a:pt x="107988" y="30695"/>
                  </a:lnTo>
                  <a:lnTo>
                    <a:pt x="109728" y="22098"/>
                  </a:lnTo>
                  <a:close/>
                </a:path>
              </a:pathLst>
            </a:custGeom>
            <a:solidFill>
              <a:srgbClr val="FB0028"/>
            </a:solidFill>
          </p:spPr>
          <p:txBody>
            <a:bodyPr wrap="square" lIns="0" tIns="0" rIns="0" bIns="0" rtlCol="0"/>
            <a:lstStyle/>
            <a:p>
              <a:endParaRPr/>
            </a:p>
          </p:txBody>
        </p:sp>
        <p:sp>
          <p:nvSpPr>
            <p:cNvPr id="26" name="object 26"/>
            <p:cNvSpPr/>
            <p:nvPr/>
          </p:nvSpPr>
          <p:spPr>
            <a:xfrm>
              <a:off x="4960619" y="6597395"/>
              <a:ext cx="44450" cy="44450"/>
            </a:xfrm>
            <a:custGeom>
              <a:avLst/>
              <a:gdLst/>
              <a:ahLst/>
              <a:cxnLst/>
              <a:rect l="l" t="t" r="r" b="b"/>
              <a:pathLst>
                <a:path w="44450" h="44450">
                  <a:moveTo>
                    <a:pt x="0" y="22097"/>
                  </a:moveTo>
                  <a:lnTo>
                    <a:pt x="1738" y="13501"/>
                  </a:lnTo>
                  <a:lnTo>
                    <a:pt x="6476" y="6476"/>
                  </a:lnTo>
                  <a:lnTo>
                    <a:pt x="13501" y="1738"/>
                  </a:lnTo>
                  <a:lnTo>
                    <a:pt x="22097" y="0"/>
                  </a:lnTo>
                  <a:lnTo>
                    <a:pt x="30694" y="1738"/>
                  </a:lnTo>
                  <a:lnTo>
                    <a:pt x="37718" y="6476"/>
                  </a:lnTo>
                  <a:lnTo>
                    <a:pt x="42457" y="13501"/>
                  </a:lnTo>
                  <a:lnTo>
                    <a:pt x="44195" y="22097"/>
                  </a:lnTo>
                  <a:lnTo>
                    <a:pt x="42457" y="30694"/>
                  </a:lnTo>
                  <a:lnTo>
                    <a:pt x="37718" y="37718"/>
                  </a:lnTo>
                  <a:lnTo>
                    <a:pt x="30694" y="42457"/>
                  </a:lnTo>
                  <a:lnTo>
                    <a:pt x="22097" y="44195"/>
                  </a:lnTo>
                  <a:lnTo>
                    <a:pt x="13501" y="42457"/>
                  </a:lnTo>
                  <a:lnTo>
                    <a:pt x="6476" y="37718"/>
                  </a:lnTo>
                  <a:lnTo>
                    <a:pt x="1738" y="30694"/>
                  </a:lnTo>
                  <a:lnTo>
                    <a:pt x="0" y="22097"/>
                  </a:lnTo>
                  <a:close/>
                </a:path>
              </a:pathLst>
            </a:custGeom>
            <a:ln w="6096">
              <a:solidFill>
                <a:srgbClr val="000000"/>
              </a:solidFill>
            </a:ln>
          </p:spPr>
          <p:txBody>
            <a:bodyPr wrap="square" lIns="0" tIns="0" rIns="0" bIns="0" rtlCol="0"/>
            <a:lstStyle/>
            <a:p>
              <a:endParaRPr/>
            </a:p>
          </p:txBody>
        </p:sp>
        <p:sp>
          <p:nvSpPr>
            <p:cNvPr id="27" name="object 27"/>
            <p:cNvSpPr/>
            <p:nvPr/>
          </p:nvSpPr>
          <p:spPr>
            <a:xfrm>
              <a:off x="4893563" y="6658355"/>
              <a:ext cx="171450" cy="262890"/>
            </a:xfrm>
            <a:custGeom>
              <a:avLst/>
              <a:gdLst/>
              <a:ahLst/>
              <a:cxnLst/>
              <a:rect l="l" t="t" r="r" b="b"/>
              <a:pathLst>
                <a:path w="171450" h="262890">
                  <a:moveTo>
                    <a:pt x="76962" y="0"/>
                  </a:moveTo>
                  <a:lnTo>
                    <a:pt x="69850" y="0"/>
                  </a:lnTo>
                  <a:lnTo>
                    <a:pt x="66675" y="762"/>
                  </a:lnTo>
                  <a:lnTo>
                    <a:pt x="64262" y="1651"/>
                  </a:lnTo>
                  <a:lnTo>
                    <a:pt x="61087" y="2413"/>
                  </a:lnTo>
                  <a:lnTo>
                    <a:pt x="58674" y="3937"/>
                  </a:lnTo>
                  <a:lnTo>
                    <a:pt x="55499" y="5588"/>
                  </a:lnTo>
                  <a:lnTo>
                    <a:pt x="52324" y="10287"/>
                  </a:lnTo>
                  <a:lnTo>
                    <a:pt x="50800" y="11938"/>
                  </a:lnTo>
                  <a:lnTo>
                    <a:pt x="49149" y="15113"/>
                  </a:lnTo>
                  <a:lnTo>
                    <a:pt x="47625" y="16637"/>
                  </a:lnTo>
                  <a:lnTo>
                    <a:pt x="46862" y="19812"/>
                  </a:lnTo>
                  <a:lnTo>
                    <a:pt x="762" y="123063"/>
                  </a:lnTo>
                  <a:lnTo>
                    <a:pt x="762" y="124714"/>
                  </a:lnTo>
                  <a:lnTo>
                    <a:pt x="0" y="126238"/>
                  </a:lnTo>
                  <a:lnTo>
                    <a:pt x="0" y="133477"/>
                  </a:lnTo>
                  <a:lnTo>
                    <a:pt x="1524" y="138176"/>
                  </a:lnTo>
                  <a:lnTo>
                    <a:pt x="3937" y="142113"/>
                  </a:lnTo>
                  <a:lnTo>
                    <a:pt x="7112" y="145288"/>
                  </a:lnTo>
                  <a:lnTo>
                    <a:pt x="9525" y="146177"/>
                  </a:lnTo>
                  <a:lnTo>
                    <a:pt x="11049" y="147701"/>
                  </a:lnTo>
                  <a:lnTo>
                    <a:pt x="111887" y="147701"/>
                  </a:lnTo>
                  <a:lnTo>
                    <a:pt x="111887" y="262890"/>
                  </a:lnTo>
                  <a:lnTo>
                    <a:pt x="141224" y="262890"/>
                  </a:lnTo>
                  <a:lnTo>
                    <a:pt x="141224" y="124714"/>
                  </a:lnTo>
                  <a:lnTo>
                    <a:pt x="139700" y="121539"/>
                  </a:lnTo>
                  <a:lnTo>
                    <a:pt x="139700" y="120650"/>
                  </a:lnTo>
                  <a:lnTo>
                    <a:pt x="136525" y="117475"/>
                  </a:lnTo>
                  <a:lnTo>
                    <a:pt x="131699" y="115189"/>
                  </a:lnTo>
                  <a:lnTo>
                    <a:pt x="121412" y="115189"/>
                  </a:lnTo>
                  <a:lnTo>
                    <a:pt x="67437" y="112014"/>
                  </a:lnTo>
                  <a:lnTo>
                    <a:pt x="82550" y="66675"/>
                  </a:lnTo>
                  <a:lnTo>
                    <a:pt x="93599" y="82550"/>
                  </a:lnTo>
                  <a:lnTo>
                    <a:pt x="159512" y="82550"/>
                  </a:lnTo>
                  <a:lnTo>
                    <a:pt x="161162" y="81788"/>
                  </a:lnTo>
                  <a:lnTo>
                    <a:pt x="164337" y="81788"/>
                  </a:lnTo>
                  <a:lnTo>
                    <a:pt x="165862" y="80264"/>
                  </a:lnTo>
                  <a:lnTo>
                    <a:pt x="167512" y="79375"/>
                  </a:lnTo>
                  <a:lnTo>
                    <a:pt x="168275" y="77851"/>
                  </a:lnTo>
                  <a:lnTo>
                    <a:pt x="169799" y="77089"/>
                  </a:lnTo>
                  <a:lnTo>
                    <a:pt x="170687" y="75438"/>
                  </a:lnTo>
                  <a:lnTo>
                    <a:pt x="170687" y="73914"/>
                  </a:lnTo>
                  <a:lnTo>
                    <a:pt x="171450" y="72263"/>
                  </a:lnTo>
                  <a:lnTo>
                    <a:pt x="171450" y="67564"/>
                  </a:lnTo>
                  <a:lnTo>
                    <a:pt x="169037" y="62738"/>
                  </a:lnTo>
                  <a:lnTo>
                    <a:pt x="165100" y="58801"/>
                  </a:lnTo>
                  <a:lnTo>
                    <a:pt x="163449" y="57912"/>
                  </a:lnTo>
                  <a:lnTo>
                    <a:pt x="162687" y="57150"/>
                  </a:lnTo>
                  <a:lnTo>
                    <a:pt x="108712" y="57150"/>
                  </a:lnTo>
                  <a:lnTo>
                    <a:pt x="97662" y="38862"/>
                  </a:lnTo>
                  <a:lnTo>
                    <a:pt x="99187" y="37338"/>
                  </a:lnTo>
                  <a:lnTo>
                    <a:pt x="99949" y="34925"/>
                  </a:lnTo>
                  <a:lnTo>
                    <a:pt x="99949" y="32512"/>
                  </a:lnTo>
                  <a:lnTo>
                    <a:pt x="100837" y="30226"/>
                  </a:lnTo>
                  <a:lnTo>
                    <a:pt x="100837" y="21463"/>
                  </a:lnTo>
                  <a:lnTo>
                    <a:pt x="99187" y="16637"/>
                  </a:lnTo>
                  <a:lnTo>
                    <a:pt x="98425" y="15875"/>
                  </a:lnTo>
                  <a:lnTo>
                    <a:pt x="97662" y="13462"/>
                  </a:lnTo>
                  <a:lnTo>
                    <a:pt x="95250" y="9525"/>
                  </a:lnTo>
                  <a:lnTo>
                    <a:pt x="93599" y="8001"/>
                  </a:lnTo>
                  <a:lnTo>
                    <a:pt x="91312" y="6350"/>
                  </a:lnTo>
                  <a:lnTo>
                    <a:pt x="89662" y="4826"/>
                  </a:lnTo>
                  <a:lnTo>
                    <a:pt x="87249" y="3175"/>
                  </a:lnTo>
                  <a:lnTo>
                    <a:pt x="84962" y="2413"/>
                  </a:lnTo>
                  <a:lnTo>
                    <a:pt x="82550" y="762"/>
                  </a:lnTo>
                  <a:lnTo>
                    <a:pt x="79375" y="762"/>
                  </a:lnTo>
                  <a:lnTo>
                    <a:pt x="76962" y="0"/>
                  </a:lnTo>
                  <a:close/>
                </a:path>
              </a:pathLst>
            </a:custGeom>
            <a:solidFill>
              <a:srgbClr val="FB0028"/>
            </a:solidFill>
          </p:spPr>
          <p:txBody>
            <a:bodyPr wrap="square" lIns="0" tIns="0" rIns="0" bIns="0" rtlCol="0"/>
            <a:lstStyle/>
            <a:p>
              <a:endParaRPr/>
            </a:p>
          </p:txBody>
        </p:sp>
        <p:sp>
          <p:nvSpPr>
            <p:cNvPr id="28" name="object 28"/>
            <p:cNvSpPr/>
            <p:nvPr/>
          </p:nvSpPr>
          <p:spPr>
            <a:xfrm>
              <a:off x="3099815" y="6707492"/>
              <a:ext cx="252729" cy="252729"/>
            </a:xfrm>
            <a:custGeom>
              <a:avLst/>
              <a:gdLst/>
              <a:ahLst/>
              <a:cxnLst/>
              <a:rect l="l" t="t" r="r" b="b"/>
              <a:pathLst>
                <a:path w="252729" h="252729">
                  <a:moveTo>
                    <a:pt x="252615" y="0"/>
                  </a:moveTo>
                  <a:lnTo>
                    <a:pt x="0" y="0"/>
                  </a:lnTo>
                  <a:lnTo>
                    <a:pt x="0" y="252615"/>
                  </a:lnTo>
                  <a:lnTo>
                    <a:pt x="252615" y="252615"/>
                  </a:lnTo>
                  <a:lnTo>
                    <a:pt x="252615" y="0"/>
                  </a:lnTo>
                  <a:close/>
                </a:path>
              </a:pathLst>
            </a:custGeom>
            <a:solidFill>
              <a:srgbClr val="F6BE69"/>
            </a:solidFill>
          </p:spPr>
          <p:txBody>
            <a:bodyPr wrap="square" lIns="0" tIns="0" rIns="0" bIns="0" rtlCol="0"/>
            <a:lstStyle/>
            <a:p>
              <a:endParaRPr/>
            </a:p>
          </p:txBody>
        </p:sp>
        <p:sp>
          <p:nvSpPr>
            <p:cNvPr id="29" name="object 29"/>
            <p:cNvSpPr/>
            <p:nvPr/>
          </p:nvSpPr>
          <p:spPr>
            <a:xfrm>
              <a:off x="3352418" y="6623303"/>
              <a:ext cx="84455" cy="337185"/>
            </a:xfrm>
            <a:custGeom>
              <a:avLst/>
              <a:gdLst/>
              <a:ahLst/>
              <a:cxnLst/>
              <a:rect l="l" t="t" r="r" b="b"/>
              <a:pathLst>
                <a:path w="84454" h="337184">
                  <a:moveTo>
                    <a:pt x="84200" y="0"/>
                  </a:moveTo>
                  <a:lnTo>
                    <a:pt x="0" y="84201"/>
                  </a:lnTo>
                  <a:lnTo>
                    <a:pt x="0" y="336804"/>
                  </a:lnTo>
                  <a:lnTo>
                    <a:pt x="84200" y="252603"/>
                  </a:lnTo>
                  <a:lnTo>
                    <a:pt x="84200" y="0"/>
                  </a:lnTo>
                  <a:close/>
                </a:path>
              </a:pathLst>
            </a:custGeom>
            <a:solidFill>
              <a:srgbClr val="C59A53"/>
            </a:solidFill>
          </p:spPr>
          <p:txBody>
            <a:bodyPr wrap="square" lIns="0" tIns="0" rIns="0" bIns="0" rtlCol="0"/>
            <a:lstStyle/>
            <a:p>
              <a:endParaRPr/>
            </a:p>
          </p:txBody>
        </p:sp>
        <p:sp>
          <p:nvSpPr>
            <p:cNvPr id="30" name="object 30"/>
            <p:cNvSpPr/>
            <p:nvPr/>
          </p:nvSpPr>
          <p:spPr>
            <a:xfrm>
              <a:off x="3099815" y="6623303"/>
              <a:ext cx="337185" cy="84455"/>
            </a:xfrm>
            <a:custGeom>
              <a:avLst/>
              <a:gdLst/>
              <a:ahLst/>
              <a:cxnLst/>
              <a:rect l="l" t="t" r="r" b="b"/>
              <a:pathLst>
                <a:path w="337185" h="84454">
                  <a:moveTo>
                    <a:pt x="336804" y="0"/>
                  </a:moveTo>
                  <a:lnTo>
                    <a:pt x="84200" y="0"/>
                  </a:lnTo>
                  <a:lnTo>
                    <a:pt x="0" y="84201"/>
                  </a:lnTo>
                  <a:lnTo>
                    <a:pt x="252603" y="84201"/>
                  </a:lnTo>
                  <a:lnTo>
                    <a:pt x="336804" y="0"/>
                  </a:lnTo>
                  <a:close/>
                </a:path>
              </a:pathLst>
            </a:custGeom>
            <a:solidFill>
              <a:srgbClr val="F8CC85"/>
            </a:solidFill>
          </p:spPr>
          <p:txBody>
            <a:bodyPr wrap="square" lIns="0" tIns="0" rIns="0" bIns="0" rtlCol="0"/>
            <a:lstStyle/>
            <a:p>
              <a:endParaRPr/>
            </a:p>
          </p:txBody>
        </p:sp>
        <p:sp>
          <p:nvSpPr>
            <p:cNvPr id="31" name="object 31"/>
            <p:cNvSpPr/>
            <p:nvPr/>
          </p:nvSpPr>
          <p:spPr>
            <a:xfrm>
              <a:off x="3099815" y="6623303"/>
              <a:ext cx="337185" cy="337185"/>
            </a:xfrm>
            <a:custGeom>
              <a:avLst/>
              <a:gdLst/>
              <a:ahLst/>
              <a:cxnLst/>
              <a:rect l="l" t="t" r="r" b="b"/>
              <a:pathLst>
                <a:path w="337185" h="337184">
                  <a:moveTo>
                    <a:pt x="0" y="84201"/>
                  </a:moveTo>
                  <a:lnTo>
                    <a:pt x="84200" y="0"/>
                  </a:lnTo>
                  <a:lnTo>
                    <a:pt x="336804" y="0"/>
                  </a:lnTo>
                  <a:lnTo>
                    <a:pt x="336804" y="252603"/>
                  </a:lnTo>
                  <a:lnTo>
                    <a:pt x="252603" y="336804"/>
                  </a:lnTo>
                  <a:lnTo>
                    <a:pt x="0" y="336804"/>
                  </a:lnTo>
                  <a:lnTo>
                    <a:pt x="0" y="84201"/>
                  </a:lnTo>
                  <a:close/>
                </a:path>
                <a:path w="337185" h="337184">
                  <a:moveTo>
                    <a:pt x="0" y="84201"/>
                  </a:moveTo>
                  <a:lnTo>
                    <a:pt x="252603" y="84201"/>
                  </a:lnTo>
                  <a:lnTo>
                    <a:pt x="336804" y="0"/>
                  </a:lnTo>
                </a:path>
                <a:path w="337185" h="337184">
                  <a:moveTo>
                    <a:pt x="252603" y="84201"/>
                  </a:moveTo>
                  <a:lnTo>
                    <a:pt x="252603" y="336804"/>
                  </a:lnTo>
                </a:path>
              </a:pathLst>
            </a:custGeom>
            <a:ln w="6096">
              <a:solidFill>
                <a:srgbClr val="000000"/>
              </a:solidFill>
            </a:ln>
          </p:spPr>
          <p:txBody>
            <a:bodyPr wrap="square" lIns="0" tIns="0" rIns="0" bIns="0" rtlCol="0"/>
            <a:lstStyle/>
            <a:p>
              <a:endParaRPr/>
            </a:p>
          </p:txBody>
        </p:sp>
        <p:sp>
          <p:nvSpPr>
            <p:cNvPr id="32" name="object 32"/>
            <p:cNvSpPr/>
            <p:nvPr/>
          </p:nvSpPr>
          <p:spPr>
            <a:xfrm>
              <a:off x="3176015" y="6576818"/>
              <a:ext cx="243204" cy="52705"/>
            </a:xfrm>
            <a:custGeom>
              <a:avLst/>
              <a:gdLst/>
              <a:ahLst/>
              <a:cxnLst/>
              <a:rect l="l" t="t" r="r" b="b"/>
              <a:pathLst>
                <a:path w="243204" h="52704">
                  <a:moveTo>
                    <a:pt x="243078" y="0"/>
                  </a:moveTo>
                  <a:lnTo>
                    <a:pt x="0" y="0"/>
                  </a:lnTo>
                  <a:lnTo>
                    <a:pt x="0" y="52581"/>
                  </a:lnTo>
                  <a:lnTo>
                    <a:pt x="243078" y="52581"/>
                  </a:lnTo>
                  <a:lnTo>
                    <a:pt x="243078" y="0"/>
                  </a:lnTo>
                  <a:close/>
                </a:path>
              </a:pathLst>
            </a:custGeom>
            <a:solidFill>
              <a:srgbClr val="F6BE69"/>
            </a:solidFill>
          </p:spPr>
          <p:txBody>
            <a:bodyPr wrap="square" lIns="0" tIns="0" rIns="0" bIns="0" rtlCol="0"/>
            <a:lstStyle/>
            <a:p>
              <a:endParaRPr/>
            </a:p>
          </p:txBody>
        </p:sp>
        <p:sp>
          <p:nvSpPr>
            <p:cNvPr id="33" name="object 33"/>
            <p:cNvSpPr/>
            <p:nvPr/>
          </p:nvSpPr>
          <p:spPr>
            <a:xfrm>
              <a:off x="3419093" y="6559295"/>
              <a:ext cx="17780" cy="70485"/>
            </a:xfrm>
            <a:custGeom>
              <a:avLst/>
              <a:gdLst/>
              <a:ahLst/>
              <a:cxnLst/>
              <a:rect l="l" t="t" r="r" b="b"/>
              <a:pathLst>
                <a:path w="17779" h="70484">
                  <a:moveTo>
                    <a:pt x="17525" y="0"/>
                  </a:moveTo>
                  <a:lnTo>
                    <a:pt x="0" y="17525"/>
                  </a:lnTo>
                  <a:lnTo>
                    <a:pt x="0" y="70103"/>
                  </a:lnTo>
                  <a:lnTo>
                    <a:pt x="17525" y="52577"/>
                  </a:lnTo>
                  <a:lnTo>
                    <a:pt x="17525" y="0"/>
                  </a:lnTo>
                  <a:close/>
                </a:path>
              </a:pathLst>
            </a:custGeom>
            <a:solidFill>
              <a:srgbClr val="C59A53"/>
            </a:solidFill>
          </p:spPr>
          <p:txBody>
            <a:bodyPr wrap="square" lIns="0" tIns="0" rIns="0" bIns="0" rtlCol="0"/>
            <a:lstStyle/>
            <a:p>
              <a:endParaRPr/>
            </a:p>
          </p:txBody>
        </p:sp>
        <p:sp>
          <p:nvSpPr>
            <p:cNvPr id="34" name="object 34"/>
            <p:cNvSpPr/>
            <p:nvPr/>
          </p:nvSpPr>
          <p:spPr>
            <a:xfrm>
              <a:off x="3176015" y="6559295"/>
              <a:ext cx="260985" cy="17780"/>
            </a:xfrm>
            <a:custGeom>
              <a:avLst/>
              <a:gdLst/>
              <a:ahLst/>
              <a:cxnLst/>
              <a:rect l="l" t="t" r="r" b="b"/>
              <a:pathLst>
                <a:path w="260985" h="17779">
                  <a:moveTo>
                    <a:pt x="260604" y="0"/>
                  </a:moveTo>
                  <a:lnTo>
                    <a:pt x="17525" y="0"/>
                  </a:lnTo>
                  <a:lnTo>
                    <a:pt x="0" y="17525"/>
                  </a:lnTo>
                  <a:lnTo>
                    <a:pt x="243078" y="17525"/>
                  </a:lnTo>
                  <a:lnTo>
                    <a:pt x="260604" y="0"/>
                  </a:lnTo>
                  <a:close/>
                </a:path>
              </a:pathLst>
            </a:custGeom>
            <a:solidFill>
              <a:srgbClr val="F8CC85"/>
            </a:solidFill>
          </p:spPr>
          <p:txBody>
            <a:bodyPr wrap="square" lIns="0" tIns="0" rIns="0" bIns="0" rtlCol="0"/>
            <a:lstStyle/>
            <a:p>
              <a:endParaRPr/>
            </a:p>
          </p:txBody>
        </p:sp>
        <p:sp>
          <p:nvSpPr>
            <p:cNvPr id="35" name="object 35"/>
            <p:cNvSpPr/>
            <p:nvPr/>
          </p:nvSpPr>
          <p:spPr>
            <a:xfrm>
              <a:off x="3176015" y="6559295"/>
              <a:ext cx="260985" cy="70485"/>
            </a:xfrm>
            <a:custGeom>
              <a:avLst/>
              <a:gdLst/>
              <a:ahLst/>
              <a:cxnLst/>
              <a:rect l="l" t="t" r="r" b="b"/>
              <a:pathLst>
                <a:path w="260985" h="70484">
                  <a:moveTo>
                    <a:pt x="0" y="17525"/>
                  </a:moveTo>
                  <a:lnTo>
                    <a:pt x="17525" y="0"/>
                  </a:lnTo>
                  <a:lnTo>
                    <a:pt x="260604" y="0"/>
                  </a:lnTo>
                  <a:lnTo>
                    <a:pt x="260604" y="52577"/>
                  </a:lnTo>
                  <a:lnTo>
                    <a:pt x="243078" y="70103"/>
                  </a:lnTo>
                  <a:lnTo>
                    <a:pt x="0" y="70103"/>
                  </a:lnTo>
                  <a:lnTo>
                    <a:pt x="0" y="17525"/>
                  </a:lnTo>
                  <a:close/>
                </a:path>
                <a:path w="260985" h="70484">
                  <a:moveTo>
                    <a:pt x="0" y="17525"/>
                  </a:moveTo>
                  <a:lnTo>
                    <a:pt x="243078" y="17525"/>
                  </a:lnTo>
                  <a:lnTo>
                    <a:pt x="260604" y="0"/>
                  </a:lnTo>
                </a:path>
                <a:path w="260985" h="70484">
                  <a:moveTo>
                    <a:pt x="243078" y="17525"/>
                  </a:moveTo>
                  <a:lnTo>
                    <a:pt x="243078" y="70103"/>
                  </a:lnTo>
                </a:path>
              </a:pathLst>
            </a:custGeom>
            <a:ln w="6096">
              <a:solidFill>
                <a:srgbClr val="000000"/>
              </a:solidFill>
            </a:ln>
          </p:spPr>
          <p:txBody>
            <a:bodyPr wrap="square" lIns="0" tIns="0" rIns="0" bIns="0" rtlCol="0"/>
            <a:lstStyle/>
            <a:p>
              <a:endParaRPr/>
            </a:p>
          </p:txBody>
        </p:sp>
        <p:sp>
          <p:nvSpPr>
            <p:cNvPr id="36" name="object 36"/>
            <p:cNvSpPr/>
            <p:nvPr/>
          </p:nvSpPr>
          <p:spPr>
            <a:xfrm>
              <a:off x="3166871" y="6650735"/>
              <a:ext cx="178435" cy="26034"/>
            </a:xfrm>
            <a:custGeom>
              <a:avLst/>
              <a:gdLst/>
              <a:ahLst/>
              <a:cxnLst/>
              <a:rect l="l" t="t" r="r" b="b"/>
              <a:pathLst>
                <a:path w="178435" h="26034">
                  <a:moveTo>
                    <a:pt x="178307" y="0"/>
                  </a:moveTo>
                  <a:lnTo>
                    <a:pt x="45338" y="0"/>
                  </a:lnTo>
                  <a:lnTo>
                    <a:pt x="0" y="25907"/>
                  </a:lnTo>
                  <a:lnTo>
                    <a:pt x="132968" y="25907"/>
                  </a:lnTo>
                  <a:lnTo>
                    <a:pt x="178307" y="0"/>
                  </a:lnTo>
                  <a:close/>
                </a:path>
              </a:pathLst>
            </a:custGeom>
            <a:solidFill>
              <a:srgbClr val="F6BE69"/>
            </a:solidFill>
          </p:spPr>
          <p:txBody>
            <a:bodyPr wrap="square" lIns="0" tIns="0" rIns="0" bIns="0" rtlCol="0"/>
            <a:lstStyle/>
            <a:p>
              <a:endParaRPr/>
            </a:p>
          </p:txBody>
        </p:sp>
        <p:sp>
          <p:nvSpPr>
            <p:cNvPr id="37" name="object 37"/>
            <p:cNvSpPr/>
            <p:nvPr/>
          </p:nvSpPr>
          <p:spPr>
            <a:xfrm>
              <a:off x="3166871" y="6650735"/>
              <a:ext cx="178435" cy="26034"/>
            </a:xfrm>
            <a:custGeom>
              <a:avLst/>
              <a:gdLst/>
              <a:ahLst/>
              <a:cxnLst/>
              <a:rect l="l" t="t" r="r" b="b"/>
              <a:pathLst>
                <a:path w="178435" h="26034">
                  <a:moveTo>
                    <a:pt x="0" y="25907"/>
                  </a:moveTo>
                  <a:lnTo>
                    <a:pt x="45338" y="0"/>
                  </a:lnTo>
                  <a:lnTo>
                    <a:pt x="178307" y="0"/>
                  </a:lnTo>
                  <a:lnTo>
                    <a:pt x="132968" y="25907"/>
                  </a:lnTo>
                  <a:lnTo>
                    <a:pt x="0" y="25907"/>
                  </a:lnTo>
                  <a:close/>
                </a:path>
              </a:pathLst>
            </a:custGeom>
            <a:ln w="12192">
              <a:solidFill>
                <a:srgbClr val="000000"/>
              </a:solidFill>
            </a:ln>
          </p:spPr>
          <p:txBody>
            <a:bodyPr wrap="square" lIns="0" tIns="0" rIns="0" bIns="0" rtlCol="0"/>
            <a:lstStyle/>
            <a:p>
              <a:endParaRPr/>
            </a:p>
          </p:txBody>
        </p:sp>
        <p:sp>
          <p:nvSpPr>
            <p:cNvPr id="38" name="object 38"/>
            <p:cNvSpPr/>
            <p:nvPr/>
          </p:nvSpPr>
          <p:spPr>
            <a:xfrm>
              <a:off x="3360419" y="6591299"/>
              <a:ext cx="44450" cy="26034"/>
            </a:xfrm>
            <a:custGeom>
              <a:avLst/>
              <a:gdLst/>
              <a:ahLst/>
              <a:cxnLst/>
              <a:rect l="l" t="t" r="r" b="b"/>
              <a:pathLst>
                <a:path w="44450" h="26034">
                  <a:moveTo>
                    <a:pt x="22097" y="0"/>
                  </a:moveTo>
                  <a:lnTo>
                    <a:pt x="13501" y="1023"/>
                  </a:lnTo>
                  <a:lnTo>
                    <a:pt x="6476" y="3810"/>
                  </a:lnTo>
                  <a:lnTo>
                    <a:pt x="1738" y="7929"/>
                  </a:lnTo>
                  <a:lnTo>
                    <a:pt x="0" y="12954"/>
                  </a:lnTo>
                  <a:lnTo>
                    <a:pt x="1738" y="17978"/>
                  </a:lnTo>
                  <a:lnTo>
                    <a:pt x="6476" y="22098"/>
                  </a:lnTo>
                  <a:lnTo>
                    <a:pt x="13501" y="24884"/>
                  </a:lnTo>
                  <a:lnTo>
                    <a:pt x="22097" y="25907"/>
                  </a:lnTo>
                  <a:lnTo>
                    <a:pt x="30694" y="24884"/>
                  </a:lnTo>
                  <a:lnTo>
                    <a:pt x="37718" y="22098"/>
                  </a:lnTo>
                  <a:lnTo>
                    <a:pt x="42457" y="17978"/>
                  </a:lnTo>
                  <a:lnTo>
                    <a:pt x="44195" y="12954"/>
                  </a:lnTo>
                  <a:lnTo>
                    <a:pt x="42457" y="7929"/>
                  </a:lnTo>
                  <a:lnTo>
                    <a:pt x="37718" y="3810"/>
                  </a:lnTo>
                  <a:lnTo>
                    <a:pt x="30694" y="1023"/>
                  </a:lnTo>
                  <a:lnTo>
                    <a:pt x="22097" y="0"/>
                  </a:lnTo>
                  <a:close/>
                </a:path>
              </a:pathLst>
            </a:custGeom>
            <a:solidFill>
              <a:srgbClr val="FFFFFF"/>
            </a:solidFill>
          </p:spPr>
          <p:txBody>
            <a:bodyPr wrap="square" lIns="0" tIns="0" rIns="0" bIns="0" rtlCol="0"/>
            <a:lstStyle/>
            <a:p>
              <a:endParaRPr/>
            </a:p>
          </p:txBody>
        </p:sp>
        <p:sp>
          <p:nvSpPr>
            <p:cNvPr id="39" name="object 39"/>
            <p:cNvSpPr/>
            <p:nvPr/>
          </p:nvSpPr>
          <p:spPr>
            <a:xfrm>
              <a:off x="3360419" y="6591299"/>
              <a:ext cx="44450" cy="26034"/>
            </a:xfrm>
            <a:custGeom>
              <a:avLst/>
              <a:gdLst/>
              <a:ahLst/>
              <a:cxnLst/>
              <a:rect l="l" t="t" r="r" b="b"/>
              <a:pathLst>
                <a:path w="44450" h="26034">
                  <a:moveTo>
                    <a:pt x="0" y="12954"/>
                  </a:moveTo>
                  <a:lnTo>
                    <a:pt x="1738" y="7929"/>
                  </a:lnTo>
                  <a:lnTo>
                    <a:pt x="6476" y="3810"/>
                  </a:lnTo>
                  <a:lnTo>
                    <a:pt x="13501" y="1023"/>
                  </a:lnTo>
                  <a:lnTo>
                    <a:pt x="22097" y="0"/>
                  </a:lnTo>
                  <a:lnTo>
                    <a:pt x="30694" y="1023"/>
                  </a:lnTo>
                  <a:lnTo>
                    <a:pt x="37718" y="3810"/>
                  </a:lnTo>
                  <a:lnTo>
                    <a:pt x="42457" y="7929"/>
                  </a:lnTo>
                  <a:lnTo>
                    <a:pt x="44195" y="12954"/>
                  </a:lnTo>
                  <a:lnTo>
                    <a:pt x="42457" y="17978"/>
                  </a:lnTo>
                  <a:lnTo>
                    <a:pt x="37718" y="22098"/>
                  </a:lnTo>
                  <a:lnTo>
                    <a:pt x="30694" y="24884"/>
                  </a:lnTo>
                  <a:lnTo>
                    <a:pt x="22097" y="25907"/>
                  </a:lnTo>
                  <a:lnTo>
                    <a:pt x="13501" y="24884"/>
                  </a:lnTo>
                  <a:lnTo>
                    <a:pt x="6476" y="22098"/>
                  </a:lnTo>
                  <a:lnTo>
                    <a:pt x="1738" y="17978"/>
                  </a:lnTo>
                  <a:lnTo>
                    <a:pt x="0" y="12954"/>
                  </a:lnTo>
                  <a:close/>
                </a:path>
              </a:pathLst>
            </a:custGeom>
            <a:ln w="6096">
              <a:solidFill>
                <a:srgbClr val="000000"/>
              </a:solidFill>
            </a:ln>
          </p:spPr>
          <p:txBody>
            <a:bodyPr wrap="square" lIns="0" tIns="0" rIns="0" bIns="0" rtlCol="0"/>
            <a:lstStyle/>
            <a:p>
              <a:endParaRPr/>
            </a:p>
          </p:txBody>
        </p:sp>
      </p:grpSp>
      <p:sp>
        <p:nvSpPr>
          <p:cNvPr id="40" name="object 40"/>
          <p:cNvSpPr txBox="1"/>
          <p:nvPr/>
        </p:nvSpPr>
        <p:spPr>
          <a:xfrm>
            <a:off x="2973070" y="7064502"/>
            <a:ext cx="522605" cy="299720"/>
          </a:xfrm>
          <a:prstGeom prst="rect">
            <a:avLst/>
          </a:prstGeom>
        </p:spPr>
        <p:txBody>
          <a:bodyPr vert="horz" wrap="square" lIns="0" tIns="12700" rIns="0" bIns="0" rtlCol="0">
            <a:spAutoFit/>
          </a:bodyPr>
          <a:lstStyle/>
          <a:p>
            <a:pPr marR="5080">
              <a:lnSpc>
                <a:spcPct val="100000"/>
              </a:lnSpc>
              <a:spcBef>
                <a:spcPts val="100"/>
              </a:spcBef>
            </a:pPr>
            <a:r>
              <a:rPr sz="900" b="1" spc="-10" dirty="0">
                <a:latin typeface="Verdana"/>
                <a:cs typeface="Verdana"/>
              </a:rPr>
              <a:t>washer </a:t>
            </a:r>
            <a:r>
              <a:rPr sz="900" b="1" dirty="0">
                <a:latin typeface="Verdana"/>
                <a:cs typeface="Verdana"/>
              </a:rPr>
              <a:t>30</a:t>
            </a:r>
            <a:r>
              <a:rPr sz="900" b="1" spc="-15" dirty="0">
                <a:latin typeface="Verdana"/>
                <a:cs typeface="Verdana"/>
              </a:rPr>
              <a:t> </a:t>
            </a:r>
            <a:r>
              <a:rPr sz="900" b="1" spc="-20" dirty="0">
                <a:latin typeface="Verdana"/>
                <a:cs typeface="Verdana"/>
              </a:rPr>
              <a:t>mins</a:t>
            </a:r>
            <a:endParaRPr sz="900">
              <a:latin typeface="Verdana"/>
              <a:cs typeface="Verdana"/>
            </a:endParaRPr>
          </a:p>
        </p:txBody>
      </p:sp>
      <p:sp>
        <p:nvSpPr>
          <p:cNvPr id="41" name="object 41"/>
          <p:cNvSpPr txBox="1"/>
          <p:nvPr/>
        </p:nvSpPr>
        <p:spPr>
          <a:xfrm>
            <a:off x="3975480" y="7064502"/>
            <a:ext cx="522605" cy="299720"/>
          </a:xfrm>
          <a:prstGeom prst="rect">
            <a:avLst/>
          </a:prstGeom>
        </p:spPr>
        <p:txBody>
          <a:bodyPr vert="horz" wrap="square" lIns="0" tIns="12700" rIns="0" bIns="0" rtlCol="0">
            <a:spAutoFit/>
          </a:bodyPr>
          <a:lstStyle/>
          <a:p>
            <a:pPr marR="5080" indent="83820">
              <a:lnSpc>
                <a:spcPct val="100000"/>
              </a:lnSpc>
              <a:spcBef>
                <a:spcPts val="100"/>
              </a:spcBef>
            </a:pPr>
            <a:r>
              <a:rPr sz="900" b="1" spc="-10" dirty="0">
                <a:latin typeface="Verdana"/>
                <a:cs typeface="Verdana"/>
              </a:rPr>
              <a:t>dryer </a:t>
            </a:r>
            <a:r>
              <a:rPr sz="900" b="1" dirty="0">
                <a:latin typeface="Verdana"/>
                <a:cs typeface="Verdana"/>
              </a:rPr>
              <a:t>40</a:t>
            </a:r>
            <a:r>
              <a:rPr sz="900" b="1" spc="-15" dirty="0">
                <a:latin typeface="Verdana"/>
                <a:cs typeface="Verdana"/>
              </a:rPr>
              <a:t> </a:t>
            </a:r>
            <a:r>
              <a:rPr sz="900" b="1" spc="-20" dirty="0">
                <a:latin typeface="Verdana"/>
                <a:cs typeface="Verdana"/>
              </a:rPr>
              <a:t>mins</a:t>
            </a:r>
            <a:endParaRPr sz="900">
              <a:latin typeface="Verdana"/>
              <a:cs typeface="Verdana"/>
            </a:endParaRPr>
          </a:p>
        </p:txBody>
      </p:sp>
      <p:sp>
        <p:nvSpPr>
          <p:cNvPr id="42" name="object 42"/>
          <p:cNvSpPr txBox="1"/>
          <p:nvPr/>
        </p:nvSpPr>
        <p:spPr>
          <a:xfrm>
            <a:off x="4883784" y="7064502"/>
            <a:ext cx="522605" cy="299720"/>
          </a:xfrm>
          <a:prstGeom prst="rect">
            <a:avLst/>
          </a:prstGeom>
        </p:spPr>
        <p:txBody>
          <a:bodyPr vert="horz" wrap="square" lIns="0" tIns="12700" rIns="0" bIns="0" rtlCol="0">
            <a:spAutoFit/>
          </a:bodyPr>
          <a:lstStyle/>
          <a:p>
            <a:pPr marR="5080" indent="66675">
              <a:lnSpc>
                <a:spcPct val="100000"/>
              </a:lnSpc>
              <a:spcBef>
                <a:spcPts val="100"/>
              </a:spcBef>
            </a:pPr>
            <a:r>
              <a:rPr sz="900" b="1" spc="-10" dirty="0">
                <a:latin typeface="Verdana"/>
                <a:cs typeface="Verdana"/>
              </a:rPr>
              <a:t>folder </a:t>
            </a:r>
            <a:r>
              <a:rPr sz="900" b="1" dirty="0">
                <a:latin typeface="Verdana"/>
                <a:cs typeface="Verdana"/>
              </a:rPr>
              <a:t>20</a:t>
            </a:r>
            <a:r>
              <a:rPr sz="900" b="1" spc="-15" dirty="0">
                <a:latin typeface="Verdana"/>
                <a:cs typeface="Verdana"/>
              </a:rPr>
              <a:t> </a:t>
            </a:r>
            <a:r>
              <a:rPr sz="900" b="1" spc="-20" dirty="0">
                <a:latin typeface="Verdana"/>
                <a:cs typeface="Verdana"/>
              </a:rPr>
              <a:t>mins</a:t>
            </a:r>
            <a:endParaRPr sz="900">
              <a:latin typeface="Verdana"/>
              <a:cs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2200" spc="-10" dirty="0"/>
              <a:t>Sequential</a:t>
            </a:r>
            <a:r>
              <a:rPr sz="2200" spc="-35" dirty="0"/>
              <a:t> </a:t>
            </a:r>
            <a:r>
              <a:rPr sz="2200" spc="-10" dirty="0"/>
              <a:t>Laundry</a:t>
            </a:r>
            <a:endParaRPr sz="2200"/>
          </a:p>
        </p:txBody>
      </p:sp>
      <p:sp>
        <p:nvSpPr>
          <p:cNvPr id="3" name="object 3"/>
          <p:cNvSpPr/>
          <p:nvPr/>
        </p:nvSpPr>
        <p:spPr>
          <a:xfrm>
            <a:off x="812291" y="2251710"/>
            <a:ext cx="59690" cy="1638300"/>
          </a:xfrm>
          <a:custGeom>
            <a:avLst/>
            <a:gdLst/>
            <a:ahLst/>
            <a:cxnLst/>
            <a:rect l="l" t="t" r="r" b="b"/>
            <a:pathLst>
              <a:path w="59690" h="1638300">
                <a:moveTo>
                  <a:pt x="19811" y="1578864"/>
                </a:moveTo>
                <a:lnTo>
                  <a:pt x="0" y="1578864"/>
                </a:lnTo>
                <a:lnTo>
                  <a:pt x="29717" y="1638300"/>
                </a:lnTo>
                <a:lnTo>
                  <a:pt x="54483" y="1588770"/>
                </a:lnTo>
                <a:lnTo>
                  <a:pt x="19811" y="1588770"/>
                </a:lnTo>
                <a:lnTo>
                  <a:pt x="19811" y="1578864"/>
                </a:lnTo>
                <a:close/>
              </a:path>
              <a:path w="59690" h="1638300">
                <a:moveTo>
                  <a:pt x="39623" y="0"/>
                </a:moveTo>
                <a:lnTo>
                  <a:pt x="19811" y="0"/>
                </a:lnTo>
                <a:lnTo>
                  <a:pt x="19811" y="1588770"/>
                </a:lnTo>
                <a:lnTo>
                  <a:pt x="39623" y="1588770"/>
                </a:lnTo>
                <a:lnTo>
                  <a:pt x="39623" y="0"/>
                </a:lnTo>
                <a:close/>
              </a:path>
              <a:path w="59690" h="1638300">
                <a:moveTo>
                  <a:pt x="59436" y="1578864"/>
                </a:moveTo>
                <a:lnTo>
                  <a:pt x="39623" y="1578864"/>
                </a:lnTo>
                <a:lnTo>
                  <a:pt x="39623" y="1588770"/>
                </a:lnTo>
                <a:lnTo>
                  <a:pt x="54483" y="1588770"/>
                </a:lnTo>
                <a:lnTo>
                  <a:pt x="59436" y="1578864"/>
                </a:lnTo>
                <a:close/>
              </a:path>
            </a:pathLst>
          </a:custGeom>
          <a:solidFill>
            <a:srgbClr val="000000"/>
          </a:solidFill>
        </p:spPr>
        <p:txBody>
          <a:bodyPr wrap="square" lIns="0" tIns="0" rIns="0" bIns="0" rtlCol="0"/>
          <a:lstStyle/>
          <a:p>
            <a:endParaRPr/>
          </a:p>
        </p:txBody>
      </p:sp>
      <p:sp>
        <p:nvSpPr>
          <p:cNvPr id="4" name="object 4"/>
          <p:cNvSpPr txBox="1"/>
          <p:nvPr/>
        </p:nvSpPr>
        <p:spPr>
          <a:xfrm>
            <a:off x="581495" y="2451607"/>
            <a:ext cx="222885" cy="819150"/>
          </a:xfrm>
          <a:prstGeom prst="rect">
            <a:avLst/>
          </a:prstGeom>
        </p:spPr>
        <p:txBody>
          <a:bodyPr vert="vert" wrap="square" lIns="0" tIns="0" rIns="0" bIns="0" rtlCol="0">
            <a:spAutoFit/>
          </a:bodyPr>
          <a:lstStyle/>
          <a:p>
            <a:pPr marL="12700">
              <a:lnSpc>
                <a:spcPts val="1630"/>
              </a:lnSpc>
            </a:pPr>
            <a:r>
              <a:rPr sz="1400" spc="-20" dirty="0">
                <a:latin typeface="Times New Roman"/>
                <a:cs typeface="Times New Roman"/>
              </a:rPr>
              <a:t>Task</a:t>
            </a:r>
            <a:r>
              <a:rPr sz="1400" spc="-50" dirty="0">
                <a:latin typeface="Times New Roman"/>
                <a:cs typeface="Times New Roman"/>
              </a:rPr>
              <a:t> </a:t>
            </a:r>
            <a:r>
              <a:rPr sz="1400" spc="-10" dirty="0">
                <a:latin typeface="Times New Roman"/>
                <a:cs typeface="Times New Roman"/>
              </a:rPr>
              <a:t>Order</a:t>
            </a:r>
            <a:endParaRPr sz="1400">
              <a:latin typeface="Times New Roman"/>
              <a:cs typeface="Times New Roman"/>
            </a:endParaRPr>
          </a:p>
        </p:txBody>
      </p:sp>
      <p:grpSp>
        <p:nvGrpSpPr>
          <p:cNvPr id="5" name="object 5"/>
          <p:cNvGrpSpPr/>
          <p:nvPr/>
        </p:nvGrpSpPr>
        <p:grpSpPr>
          <a:xfrm>
            <a:off x="1240536" y="2209800"/>
            <a:ext cx="1019810" cy="405765"/>
            <a:chOff x="1240536" y="2209800"/>
            <a:chExt cx="1019810" cy="405765"/>
          </a:xfrm>
        </p:grpSpPr>
        <p:sp>
          <p:nvSpPr>
            <p:cNvPr id="6" name="object 6"/>
            <p:cNvSpPr/>
            <p:nvPr/>
          </p:nvSpPr>
          <p:spPr>
            <a:xfrm>
              <a:off x="1586484" y="2359520"/>
              <a:ext cx="252729" cy="252729"/>
            </a:xfrm>
            <a:custGeom>
              <a:avLst/>
              <a:gdLst/>
              <a:ahLst/>
              <a:cxnLst/>
              <a:rect l="l" t="t" r="r" b="b"/>
              <a:pathLst>
                <a:path w="252730" h="252730">
                  <a:moveTo>
                    <a:pt x="252615" y="0"/>
                  </a:moveTo>
                  <a:lnTo>
                    <a:pt x="0" y="0"/>
                  </a:lnTo>
                  <a:lnTo>
                    <a:pt x="0" y="252615"/>
                  </a:lnTo>
                  <a:lnTo>
                    <a:pt x="252615" y="252615"/>
                  </a:lnTo>
                  <a:lnTo>
                    <a:pt x="252615" y="0"/>
                  </a:lnTo>
                  <a:close/>
                </a:path>
              </a:pathLst>
            </a:custGeom>
            <a:solidFill>
              <a:srgbClr val="A1C1FD"/>
            </a:solidFill>
          </p:spPr>
          <p:txBody>
            <a:bodyPr wrap="square" lIns="0" tIns="0" rIns="0" bIns="0" rtlCol="0"/>
            <a:lstStyle/>
            <a:p>
              <a:endParaRPr/>
            </a:p>
          </p:txBody>
        </p:sp>
        <p:sp>
          <p:nvSpPr>
            <p:cNvPr id="7" name="object 7"/>
            <p:cNvSpPr/>
            <p:nvPr/>
          </p:nvSpPr>
          <p:spPr>
            <a:xfrm>
              <a:off x="1839087" y="2275331"/>
              <a:ext cx="84455" cy="337185"/>
            </a:xfrm>
            <a:custGeom>
              <a:avLst/>
              <a:gdLst/>
              <a:ahLst/>
              <a:cxnLst/>
              <a:rect l="l" t="t" r="r" b="b"/>
              <a:pathLst>
                <a:path w="84455" h="337185">
                  <a:moveTo>
                    <a:pt x="84200" y="0"/>
                  </a:moveTo>
                  <a:lnTo>
                    <a:pt x="0" y="84200"/>
                  </a:lnTo>
                  <a:lnTo>
                    <a:pt x="0" y="336803"/>
                  </a:lnTo>
                  <a:lnTo>
                    <a:pt x="84200" y="252602"/>
                  </a:lnTo>
                  <a:lnTo>
                    <a:pt x="84200" y="0"/>
                  </a:lnTo>
                  <a:close/>
                </a:path>
              </a:pathLst>
            </a:custGeom>
            <a:solidFill>
              <a:srgbClr val="829BCC"/>
            </a:solidFill>
          </p:spPr>
          <p:txBody>
            <a:bodyPr wrap="square" lIns="0" tIns="0" rIns="0" bIns="0" rtlCol="0"/>
            <a:lstStyle/>
            <a:p>
              <a:endParaRPr/>
            </a:p>
          </p:txBody>
        </p:sp>
        <p:sp>
          <p:nvSpPr>
            <p:cNvPr id="8" name="object 8"/>
            <p:cNvSpPr/>
            <p:nvPr/>
          </p:nvSpPr>
          <p:spPr>
            <a:xfrm>
              <a:off x="1586484" y="2275331"/>
              <a:ext cx="337185" cy="84455"/>
            </a:xfrm>
            <a:custGeom>
              <a:avLst/>
              <a:gdLst/>
              <a:ahLst/>
              <a:cxnLst/>
              <a:rect l="l" t="t" r="r" b="b"/>
              <a:pathLst>
                <a:path w="337185" h="84455">
                  <a:moveTo>
                    <a:pt x="336803" y="0"/>
                  </a:moveTo>
                  <a:lnTo>
                    <a:pt x="84201" y="0"/>
                  </a:lnTo>
                  <a:lnTo>
                    <a:pt x="0" y="84200"/>
                  </a:lnTo>
                  <a:lnTo>
                    <a:pt x="252603" y="84200"/>
                  </a:lnTo>
                  <a:lnTo>
                    <a:pt x="336803" y="0"/>
                  </a:lnTo>
                  <a:close/>
                </a:path>
              </a:pathLst>
            </a:custGeom>
            <a:solidFill>
              <a:srgbClr val="B4CDFD"/>
            </a:solidFill>
          </p:spPr>
          <p:txBody>
            <a:bodyPr wrap="square" lIns="0" tIns="0" rIns="0" bIns="0" rtlCol="0"/>
            <a:lstStyle/>
            <a:p>
              <a:endParaRPr/>
            </a:p>
          </p:txBody>
        </p:sp>
        <p:sp>
          <p:nvSpPr>
            <p:cNvPr id="9" name="object 9"/>
            <p:cNvSpPr/>
            <p:nvPr/>
          </p:nvSpPr>
          <p:spPr>
            <a:xfrm>
              <a:off x="1586484" y="2275331"/>
              <a:ext cx="337185" cy="337185"/>
            </a:xfrm>
            <a:custGeom>
              <a:avLst/>
              <a:gdLst/>
              <a:ahLst/>
              <a:cxnLst/>
              <a:rect l="l" t="t" r="r" b="b"/>
              <a:pathLst>
                <a:path w="337185" h="337185">
                  <a:moveTo>
                    <a:pt x="0" y="84200"/>
                  </a:moveTo>
                  <a:lnTo>
                    <a:pt x="84201" y="0"/>
                  </a:lnTo>
                  <a:lnTo>
                    <a:pt x="336803" y="0"/>
                  </a:lnTo>
                  <a:lnTo>
                    <a:pt x="336803" y="252602"/>
                  </a:lnTo>
                  <a:lnTo>
                    <a:pt x="252603" y="336803"/>
                  </a:lnTo>
                  <a:lnTo>
                    <a:pt x="0" y="336803"/>
                  </a:lnTo>
                  <a:lnTo>
                    <a:pt x="0" y="84200"/>
                  </a:lnTo>
                  <a:close/>
                </a:path>
                <a:path w="337185" h="337185">
                  <a:moveTo>
                    <a:pt x="0" y="84200"/>
                  </a:moveTo>
                  <a:lnTo>
                    <a:pt x="252603" y="84200"/>
                  </a:lnTo>
                  <a:lnTo>
                    <a:pt x="336803" y="0"/>
                  </a:lnTo>
                </a:path>
                <a:path w="337185" h="337185">
                  <a:moveTo>
                    <a:pt x="252603" y="84200"/>
                  </a:moveTo>
                  <a:lnTo>
                    <a:pt x="252603" y="336803"/>
                  </a:lnTo>
                </a:path>
              </a:pathLst>
            </a:custGeom>
            <a:ln w="6096">
              <a:solidFill>
                <a:srgbClr val="000000"/>
              </a:solidFill>
            </a:ln>
          </p:spPr>
          <p:txBody>
            <a:bodyPr wrap="square" lIns="0" tIns="0" rIns="0" bIns="0" rtlCol="0"/>
            <a:lstStyle/>
            <a:p>
              <a:endParaRPr/>
            </a:p>
          </p:txBody>
        </p:sp>
        <p:sp>
          <p:nvSpPr>
            <p:cNvPr id="10" name="object 10"/>
            <p:cNvSpPr/>
            <p:nvPr/>
          </p:nvSpPr>
          <p:spPr>
            <a:xfrm>
              <a:off x="1662684" y="2230370"/>
              <a:ext cx="243204" cy="52705"/>
            </a:xfrm>
            <a:custGeom>
              <a:avLst/>
              <a:gdLst/>
              <a:ahLst/>
              <a:cxnLst/>
              <a:rect l="l" t="t" r="r" b="b"/>
              <a:pathLst>
                <a:path w="243205" h="52705">
                  <a:moveTo>
                    <a:pt x="243078" y="0"/>
                  </a:moveTo>
                  <a:lnTo>
                    <a:pt x="0" y="0"/>
                  </a:lnTo>
                  <a:lnTo>
                    <a:pt x="0" y="52581"/>
                  </a:lnTo>
                  <a:lnTo>
                    <a:pt x="243078" y="52581"/>
                  </a:lnTo>
                  <a:lnTo>
                    <a:pt x="243078" y="0"/>
                  </a:lnTo>
                  <a:close/>
                </a:path>
              </a:pathLst>
            </a:custGeom>
            <a:solidFill>
              <a:srgbClr val="A1C1FD"/>
            </a:solidFill>
          </p:spPr>
          <p:txBody>
            <a:bodyPr wrap="square" lIns="0" tIns="0" rIns="0" bIns="0" rtlCol="0"/>
            <a:lstStyle/>
            <a:p>
              <a:endParaRPr/>
            </a:p>
          </p:txBody>
        </p:sp>
        <p:sp>
          <p:nvSpPr>
            <p:cNvPr id="11" name="object 11"/>
            <p:cNvSpPr/>
            <p:nvPr/>
          </p:nvSpPr>
          <p:spPr>
            <a:xfrm>
              <a:off x="1905762" y="2212847"/>
              <a:ext cx="17780" cy="70485"/>
            </a:xfrm>
            <a:custGeom>
              <a:avLst/>
              <a:gdLst/>
              <a:ahLst/>
              <a:cxnLst/>
              <a:rect l="l" t="t" r="r" b="b"/>
              <a:pathLst>
                <a:path w="17780" h="70485">
                  <a:moveTo>
                    <a:pt x="17525" y="0"/>
                  </a:moveTo>
                  <a:lnTo>
                    <a:pt x="0" y="17525"/>
                  </a:lnTo>
                  <a:lnTo>
                    <a:pt x="0" y="70103"/>
                  </a:lnTo>
                  <a:lnTo>
                    <a:pt x="17525" y="52577"/>
                  </a:lnTo>
                  <a:lnTo>
                    <a:pt x="17525" y="0"/>
                  </a:lnTo>
                  <a:close/>
                </a:path>
              </a:pathLst>
            </a:custGeom>
            <a:solidFill>
              <a:srgbClr val="829BCC"/>
            </a:solidFill>
          </p:spPr>
          <p:txBody>
            <a:bodyPr wrap="square" lIns="0" tIns="0" rIns="0" bIns="0" rtlCol="0"/>
            <a:lstStyle/>
            <a:p>
              <a:endParaRPr/>
            </a:p>
          </p:txBody>
        </p:sp>
        <p:sp>
          <p:nvSpPr>
            <p:cNvPr id="12" name="object 12"/>
            <p:cNvSpPr/>
            <p:nvPr/>
          </p:nvSpPr>
          <p:spPr>
            <a:xfrm>
              <a:off x="1662684" y="2212847"/>
              <a:ext cx="260985" cy="17780"/>
            </a:xfrm>
            <a:custGeom>
              <a:avLst/>
              <a:gdLst/>
              <a:ahLst/>
              <a:cxnLst/>
              <a:rect l="l" t="t" r="r" b="b"/>
              <a:pathLst>
                <a:path w="260985" h="17780">
                  <a:moveTo>
                    <a:pt x="260604" y="0"/>
                  </a:moveTo>
                  <a:lnTo>
                    <a:pt x="17526" y="0"/>
                  </a:lnTo>
                  <a:lnTo>
                    <a:pt x="0" y="17525"/>
                  </a:lnTo>
                  <a:lnTo>
                    <a:pt x="243078" y="17525"/>
                  </a:lnTo>
                  <a:lnTo>
                    <a:pt x="260604" y="0"/>
                  </a:lnTo>
                  <a:close/>
                </a:path>
              </a:pathLst>
            </a:custGeom>
            <a:solidFill>
              <a:srgbClr val="B4CDFD"/>
            </a:solidFill>
          </p:spPr>
          <p:txBody>
            <a:bodyPr wrap="square" lIns="0" tIns="0" rIns="0" bIns="0" rtlCol="0"/>
            <a:lstStyle/>
            <a:p>
              <a:endParaRPr/>
            </a:p>
          </p:txBody>
        </p:sp>
        <p:sp>
          <p:nvSpPr>
            <p:cNvPr id="13" name="object 13"/>
            <p:cNvSpPr/>
            <p:nvPr/>
          </p:nvSpPr>
          <p:spPr>
            <a:xfrm>
              <a:off x="1662684" y="2212847"/>
              <a:ext cx="260985" cy="70485"/>
            </a:xfrm>
            <a:custGeom>
              <a:avLst/>
              <a:gdLst/>
              <a:ahLst/>
              <a:cxnLst/>
              <a:rect l="l" t="t" r="r" b="b"/>
              <a:pathLst>
                <a:path w="260985" h="70485">
                  <a:moveTo>
                    <a:pt x="0" y="17525"/>
                  </a:moveTo>
                  <a:lnTo>
                    <a:pt x="17526" y="0"/>
                  </a:lnTo>
                  <a:lnTo>
                    <a:pt x="260604" y="0"/>
                  </a:lnTo>
                  <a:lnTo>
                    <a:pt x="260604" y="52577"/>
                  </a:lnTo>
                  <a:lnTo>
                    <a:pt x="243078" y="70103"/>
                  </a:lnTo>
                  <a:lnTo>
                    <a:pt x="0" y="70103"/>
                  </a:lnTo>
                  <a:lnTo>
                    <a:pt x="0" y="17525"/>
                  </a:lnTo>
                  <a:close/>
                </a:path>
                <a:path w="260985" h="70485">
                  <a:moveTo>
                    <a:pt x="0" y="17525"/>
                  </a:moveTo>
                  <a:lnTo>
                    <a:pt x="243078" y="17525"/>
                  </a:lnTo>
                  <a:lnTo>
                    <a:pt x="260604" y="0"/>
                  </a:lnTo>
                </a:path>
                <a:path w="260985" h="70485">
                  <a:moveTo>
                    <a:pt x="243078" y="17525"/>
                  </a:moveTo>
                  <a:lnTo>
                    <a:pt x="243078" y="70103"/>
                  </a:lnTo>
                </a:path>
              </a:pathLst>
            </a:custGeom>
            <a:ln w="6096">
              <a:solidFill>
                <a:srgbClr val="000000"/>
              </a:solidFill>
            </a:ln>
          </p:spPr>
          <p:txBody>
            <a:bodyPr wrap="square" lIns="0" tIns="0" rIns="0" bIns="0" rtlCol="0"/>
            <a:lstStyle/>
            <a:p>
              <a:endParaRPr/>
            </a:p>
          </p:txBody>
        </p:sp>
        <p:sp>
          <p:nvSpPr>
            <p:cNvPr id="14" name="object 14"/>
            <p:cNvSpPr/>
            <p:nvPr/>
          </p:nvSpPr>
          <p:spPr>
            <a:xfrm>
              <a:off x="1688591" y="2244851"/>
              <a:ext cx="44450" cy="24765"/>
            </a:xfrm>
            <a:custGeom>
              <a:avLst/>
              <a:gdLst/>
              <a:ahLst/>
              <a:cxnLst/>
              <a:rect l="l" t="t" r="r" b="b"/>
              <a:pathLst>
                <a:path w="44450" h="24764">
                  <a:moveTo>
                    <a:pt x="34289" y="0"/>
                  </a:moveTo>
                  <a:lnTo>
                    <a:pt x="9906" y="0"/>
                  </a:lnTo>
                  <a:lnTo>
                    <a:pt x="0" y="5461"/>
                  </a:lnTo>
                  <a:lnTo>
                    <a:pt x="0" y="12192"/>
                  </a:lnTo>
                  <a:lnTo>
                    <a:pt x="0" y="18923"/>
                  </a:lnTo>
                  <a:lnTo>
                    <a:pt x="9906" y="24383"/>
                  </a:lnTo>
                  <a:lnTo>
                    <a:pt x="34289" y="24383"/>
                  </a:lnTo>
                  <a:lnTo>
                    <a:pt x="44195" y="18923"/>
                  </a:lnTo>
                  <a:lnTo>
                    <a:pt x="44195" y="5461"/>
                  </a:lnTo>
                  <a:lnTo>
                    <a:pt x="34289" y="0"/>
                  </a:lnTo>
                  <a:close/>
                </a:path>
              </a:pathLst>
            </a:custGeom>
            <a:solidFill>
              <a:srgbClr val="FFFFFF"/>
            </a:solidFill>
          </p:spPr>
          <p:txBody>
            <a:bodyPr wrap="square" lIns="0" tIns="0" rIns="0" bIns="0" rtlCol="0"/>
            <a:lstStyle/>
            <a:p>
              <a:endParaRPr/>
            </a:p>
          </p:txBody>
        </p:sp>
        <p:sp>
          <p:nvSpPr>
            <p:cNvPr id="15" name="object 15"/>
            <p:cNvSpPr/>
            <p:nvPr/>
          </p:nvSpPr>
          <p:spPr>
            <a:xfrm>
              <a:off x="1688591" y="2244851"/>
              <a:ext cx="44450" cy="24765"/>
            </a:xfrm>
            <a:custGeom>
              <a:avLst/>
              <a:gdLst/>
              <a:ahLst/>
              <a:cxnLst/>
              <a:rect l="l" t="t" r="r" b="b"/>
              <a:pathLst>
                <a:path w="44450" h="24764">
                  <a:moveTo>
                    <a:pt x="0" y="12192"/>
                  </a:moveTo>
                  <a:lnTo>
                    <a:pt x="0" y="5461"/>
                  </a:lnTo>
                  <a:lnTo>
                    <a:pt x="9906" y="0"/>
                  </a:lnTo>
                  <a:lnTo>
                    <a:pt x="22097" y="0"/>
                  </a:lnTo>
                  <a:lnTo>
                    <a:pt x="34289" y="0"/>
                  </a:lnTo>
                  <a:lnTo>
                    <a:pt x="44195" y="5461"/>
                  </a:lnTo>
                  <a:lnTo>
                    <a:pt x="44195" y="12192"/>
                  </a:lnTo>
                  <a:lnTo>
                    <a:pt x="44195" y="18923"/>
                  </a:lnTo>
                  <a:lnTo>
                    <a:pt x="34289" y="24383"/>
                  </a:lnTo>
                  <a:lnTo>
                    <a:pt x="22097" y="24383"/>
                  </a:lnTo>
                  <a:lnTo>
                    <a:pt x="9906" y="24383"/>
                  </a:lnTo>
                  <a:lnTo>
                    <a:pt x="0" y="18923"/>
                  </a:lnTo>
                  <a:lnTo>
                    <a:pt x="0" y="12192"/>
                  </a:lnTo>
                  <a:close/>
                </a:path>
              </a:pathLst>
            </a:custGeom>
            <a:ln w="6096">
              <a:solidFill>
                <a:srgbClr val="000000"/>
              </a:solidFill>
            </a:ln>
          </p:spPr>
          <p:txBody>
            <a:bodyPr wrap="square" lIns="0" tIns="0" rIns="0" bIns="0" rtlCol="0"/>
            <a:lstStyle/>
            <a:p>
              <a:endParaRPr/>
            </a:p>
          </p:txBody>
        </p:sp>
        <p:pic>
          <p:nvPicPr>
            <p:cNvPr id="16" name="object 16"/>
            <p:cNvPicPr/>
            <p:nvPr/>
          </p:nvPicPr>
          <p:blipFill>
            <a:blip r:embed="rId2" cstate="print"/>
            <a:stretch>
              <a:fillRect/>
            </a:stretch>
          </p:blipFill>
          <p:spPr>
            <a:xfrm>
              <a:off x="1621536" y="2426208"/>
              <a:ext cx="190499" cy="88392"/>
            </a:xfrm>
            <a:prstGeom prst="rect">
              <a:avLst/>
            </a:prstGeom>
          </p:spPr>
        </p:pic>
        <p:pic>
          <p:nvPicPr>
            <p:cNvPr id="17" name="object 17"/>
            <p:cNvPicPr/>
            <p:nvPr/>
          </p:nvPicPr>
          <p:blipFill>
            <a:blip r:embed="rId3" cstate="print"/>
            <a:stretch>
              <a:fillRect/>
            </a:stretch>
          </p:blipFill>
          <p:spPr>
            <a:xfrm>
              <a:off x="2086355" y="2403347"/>
              <a:ext cx="173736" cy="171450"/>
            </a:xfrm>
            <a:prstGeom prst="rect">
              <a:avLst/>
            </a:prstGeom>
          </p:spPr>
        </p:pic>
        <p:sp>
          <p:nvSpPr>
            <p:cNvPr id="18" name="object 18"/>
            <p:cNvSpPr/>
            <p:nvPr/>
          </p:nvSpPr>
          <p:spPr>
            <a:xfrm>
              <a:off x="1930908" y="2250947"/>
              <a:ext cx="108585" cy="236854"/>
            </a:xfrm>
            <a:custGeom>
              <a:avLst/>
              <a:gdLst/>
              <a:ahLst/>
              <a:cxnLst/>
              <a:rect l="l" t="t" r="r" b="b"/>
              <a:pathLst>
                <a:path w="108585" h="236855">
                  <a:moveTo>
                    <a:pt x="91427" y="225552"/>
                  </a:moveTo>
                  <a:lnTo>
                    <a:pt x="0" y="225552"/>
                  </a:lnTo>
                  <a:lnTo>
                    <a:pt x="0" y="236232"/>
                  </a:lnTo>
                  <a:lnTo>
                    <a:pt x="91427" y="236232"/>
                  </a:lnTo>
                  <a:lnTo>
                    <a:pt x="91427" y="225552"/>
                  </a:lnTo>
                  <a:close/>
                </a:path>
                <a:path w="108585" h="236855">
                  <a:moveTo>
                    <a:pt x="108204" y="21336"/>
                  </a:moveTo>
                  <a:lnTo>
                    <a:pt x="106527" y="13030"/>
                  </a:lnTo>
                  <a:lnTo>
                    <a:pt x="101955" y="6248"/>
                  </a:lnTo>
                  <a:lnTo>
                    <a:pt x="95173" y="1676"/>
                  </a:lnTo>
                  <a:lnTo>
                    <a:pt x="86868" y="0"/>
                  </a:lnTo>
                  <a:lnTo>
                    <a:pt x="78549" y="1676"/>
                  </a:lnTo>
                  <a:lnTo>
                    <a:pt x="71767" y="6248"/>
                  </a:lnTo>
                  <a:lnTo>
                    <a:pt x="67195" y="13030"/>
                  </a:lnTo>
                  <a:lnTo>
                    <a:pt x="65532" y="21336"/>
                  </a:lnTo>
                  <a:lnTo>
                    <a:pt x="67195" y="29654"/>
                  </a:lnTo>
                  <a:lnTo>
                    <a:pt x="71767" y="36436"/>
                  </a:lnTo>
                  <a:lnTo>
                    <a:pt x="78549" y="41008"/>
                  </a:lnTo>
                  <a:lnTo>
                    <a:pt x="86868" y="42672"/>
                  </a:lnTo>
                  <a:lnTo>
                    <a:pt x="95173" y="41008"/>
                  </a:lnTo>
                  <a:lnTo>
                    <a:pt x="101955" y="36436"/>
                  </a:lnTo>
                  <a:lnTo>
                    <a:pt x="106527" y="29654"/>
                  </a:lnTo>
                  <a:lnTo>
                    <a:pt x="108204" y="21336"/>
                  </a:lnTo>
                  <a:close/>
                </a:path>
              </a:pathLst>
            </a:custGeom>
            <a:solidFill>
              <a:srgbClr val="FB0028"/>
            </a:solidFill>
          </p:spPr>
          <p:txBody>
            <a:bodyPr wrap="square" lIns="0" tIns="0" rIns="0" bIns="0" rtlCol="0"/>
            <a:lstStyle/>
            <a:p>
              <a:endParaRPr/>
            </a:p>
          </p:txBody>
        </p:sp>
        <p:sp>
          <p:nvSpPr>
            <p:cNvPr id="19" name="object 19"/>
            <p:cNvSpPr/>
            <p:nvPr/>
          </p:nvSpPr>
          <p:spPr>
            <a:xfrm>
              <a:off x="1996440" y="2250948"/>
              <a:ext cx="43180" cy="43180"/>
            </a:xfrm>
            <a:custGeom>
              <a:avLst/>
              <a:gdLst/>
              <a:ahLst/>
              <a:cxnLst/>
              <a:rect l="l" t="t" r="r" b="b"/>
              <a:pathLst>
                <a:path w="43180" h="43180">
                  <a:moveTo>
                    <a:pt x="0" y="21335"/>
                  </a:moveTo>
                  <a:lnTo>
                    <a:pt x="1672" y="13019"/>
                  </a:lnTo>
                  <a:lnTo>
                    <a:pt x="6238" y="6238"/>
                  </a:lnTo>
                  <a:lnTo>
                    <a:pt x="13019" y="1672"/>
                  </a:lnTo>
                  <a:lnTo>
                    <a:pt x="21336" y="0"/>
                  </a:lnTo>
                  <a:lnTo>
                    <a:pt x="29652" y="1672"/>
                  </a:lnTo>
                  <a:lnTo>
                    <a:pt x="36433" y="6238"/>
                  </a:lnTo>
                  <a:lnTo>
                    <a:pt x="40999" y="13019"/>
                  </a:lnTo>
                  <a:lnTo>
                    <a:pt x="42672" y="21335"/>
                  </a:lnTo>
                  <a:lnTo>
                    <a:pt x="40999" y="29652"/>
                  </a:lnTo>
                  <a:lnTo>
                    <a:pt x="36433" y="36433"/>
                  </a:lnTo>
                  <a:lnTo>
                    <a:pt x="29652" y="40999"/>
                  </a:lnTo>
                  <a:lnTo>
                    <a:pt x="21336" y="42672"/>
                  </a:lnTo>
                  <a:lnTo>
                    <a:pt x="13019" y="40999"/>
                  </a:lnTo>
                  <a:lnTo>
                    <a:pt x="6238" y="36433"/>
                  </a:lnTo>
                  <a:lnTo>
                    <a:pt x="1672" y="29652"/>
                  </a:lnTo>
                  <a:lnTo>
                    <a:pt x="0" y="21335"/>
                  </a:lnTo>
                  <a:close/>
                </a:path>
              </a:pathLst>
            </a:custGeom>
            <a:ln w="6096">
              <a:solidFill>
                <a:srgbClr val="000000"/>
              </a:solidFill>
            </a:ln>
          </p:spPr>
          <p:txBody>
            <a:bodyPr wrap="square" lIns="0" tIns="0" rIns="0" bIns="0" rtlCol="0"/>
            <a:lstStyle/>
            <a:p>
              <a:endParaRPr/>
            </a:p>
          </p:txBody>
        </p:sp>
        <p:sp>
          <p:nvSpPr>
            <p:cNvPr id="20" name="object 20"/>
            <p:cNvSpPr/>
            <p:nvPr/>
          </p:nvSpPr>
          <p:spPr>
            <a:xfrm>
              <a:off x="1929384" y="2311907"/>
              <a:ext cx="171450" cy="262890"/>
            </a:xfrm>
            <a:custGeom>
              <a:avLst/>
              <a:gdLst/>
              <a:ahLst/>
              <a:cxnLst/>
              <a:rect l="l" t="t" r="r" b="b"/>
              <a:pathLst>
                <a:path w="171450" h="262889">
                  <a:moveTo>
                    <a:pt x="76962" y="0"/>
                  </a:moveTo>
                  <a:lnTo>
                    <a:pt x="69850" y="0"/>
                  </a:lnTo>
                  <a:lnTo>
                    <a:pt x="66675" y="762"/>
                  </a:lnTo>
                  <a:lnTo>
                    <a:pt x="64262" y="1650"/>
                  </a:lnTo>
                  <a:lnTo>
                    <a:pt x="61087" y="2413"/>
                  </a:lnTo>
                  <a:lnTo>
                    <a:pt x="58674" y="3937"/>
                  </a:lnTo>
                  <a:lnTo>
                    <a:pt x="55499" y="5588"/>
                  </a:lnTo>
                  <a:lnTo>
                    <a:pt x="52324" y="10287"/>
                  </a:lnTo>
                  <a:lnTo>
                    <a:pt x="50800" y="11938"/>
                  </a:lnTo>
                  <a:lnTo>
                    <a:pt x="49149" y="15113"/>
                  </a:lnTo>
                  <a:lnTo>
                    <a:pt x="47625" y="16637"/>
                  </a:lnTo>
                  <a:lnTo>
                    <a:pt x="46863" y="19812"/>
                  </a:lnTo>
                  <a:lnTo>
                    <a:pt x="762" y="123063"/>
                  </a:lnTo>
                  <a:lnTo>
                    <a:pt x="762" y="124714"/>
                  </a:lnTo>
                  <a:lnTo>
                    <a:pt x="0" y="126238"/>
                  </a:lnTo>
                  <a:lnTo>
                    <a:pt x="0" y="133476"/>
                  </a:lnTo>
                  <a:lnTo>
                    <a:pt x="1524" y="138175"/>
                  </a:lnTo>
                  <a:lnTo>
                    <a:pt x="3937" y="142113"/>
                  </a:lnTo>
                  <a:lnTo>
                    <a:pt x="7112" y="145288"/>
                  </a:lnTo>
                  <a:lnTo>
                    <a:pt x="9525" y="146176"/>
                  </a:lnTo>
                  <a:lnTo>
                    <a:pt x="11049" y="147700"/>
                  </a:lnTo>
                  <a:lnTo>
                    <a:pt x="111887" y="147700"/>
                  </a:lnTo>
                  <a:lnTo>
                    <a:pt x="111887" y="262890"/>
                  </a:lnTo>
                  <a:lnTo>
                    <a:pt x="141224" y="262890"/>
                  </a:lnTo>
                  <a:lnTo>
                    <a:pt x="141224" y="124714"/>
                  </a:lnTo>
                  <a:lnTo>
                    <a:pt x="139700" y="121539"/>
                  </a:lnTo>
                  <a:lnTo>
                    <a:pt x="139700" y="120650"/>
                  </a:lnTo>
                  <a:lnTo>
                    <a:pt x="136525" y="117475"/>
                  </a:lnTo>
                  <a:lnTo>
                    <a:pt x="131699" y="115189"/>
                  </a:lnTo>
                  <a:lnTo>
                    <a:pt x="121412" y="115189"/>
                  </a:lnTo>
                  <a:lnTo>
                    <a:pt x="67437" y="112014"/>
                  </a:lnTo>
                  <a:lnTo>
                    <a:pt x="82550" y="66675"/>
                  </a:lnTo>
                  <a:lnTo>
                    <a:pt x="93599" y="82550"/>
                  </a:lnTo>
                  <a:lnTo>
                    <a:pt x="159512" y="82550"/>
                  </a:lnTo>
                  <a:lnTo>
                    <a:pt x="161163" y="81788"/>
                  </a:lnTo>
                  <a:lnTo>
                    <a:pt x="164338" y="81788"/>
                  </a:lnTo>
                  <a:lnTo>
                    <a:pt x="165862" y="80264"/>
                  </a:lnTo>
                  <a:lnTo>
                    <a:pt x="167513" y="79375"/>
                  </a:lnTo>
                  <a:lnTo>
                    <a:pt x="168275" y="77850"/>
                  </a:lnTo>
                  <a:lnTo>
                    <a:pt x="169799" y="77089"/>
                  </a:lnTo>
                  <a:lnTo>
                    <a:pt x="170688" y="75438"/>
                  </a:lnTo>
                  <a:lnTo>
                    <a:pt x="170688" y="73914"/>
                  </a:lnTo>
                  <a:lnTo>
                    <a:pt x="171450" y="72263"/>
                  </a:lnTo>
                  <a:lnTo>
                    <a:pt x="171450" y="67564"/>
                  </a:lnTo>
                  <a:lnTo>
                    <a:pt x="169037" y="62738"/>
                  </a:lnTo>
                  <a:lnTo>
                    <a:pt x="165100" y="58800"/>
                  </a:lnTo>
                  <a:lnTo>
                    <a:pt x="163449" y="57912"/>
                  </a:lnTo>
                  <a:lnTo>
                    <a:pt x="162687" y="57150"/>
                  </a:lnTo>
                  <a:lnTo>
                    <a:pt x="108712" y="57150"/>
                  </a:lnTo>
                  <a:lnTo>
                    <a:pt x="97663" y="38862"/>
                  </a:lnTo>
                  <a:lnTo>
                    <a:pt x="99187" y="37338"/>
                  </a:lnTo>
                  <a:lnTo>
                    <a:pt x="99949" y="34925"/>
                  </a:lnTo>
                  <a:lnTo>
                    <a:pt x="99949" y="32512"/>
                  </a:lnTo>
                  <a:lnTo>
                    <a:pt x="100838" y="30225"/>
                  </a:lnTo>
                  <a:lnTo>
                    <a:pt x="100838" y="21463"/>
                  </a:lnTo>
                  <a:lnTo>
                    <a:pt x="99187" y="16637"/>
                  </a:lnTo>
                  <a:lnTo>
                    <a:pt x="98425" y="15875"/>
                  </a:lnTo>
                  <a:lnTo>
                    <a:pt x="97663" y="13462"/>
                  </a:lnTo>
                  <a:lnTo>
                    <a:pt x="95250" y="9525"/>
                  </a:lnTo>
                  <a:lnTo>
                    <a:pt x="93599" y="8000"/>
                  </a:lnTo>
                  <a:lnTo>
                    <a:pt x="91313" y="6350"/>
                  </a:lnTo>
                  <a:lnTo>
                    <a:pt x="89662" y="4825"/>
                  </a:lnTo>
                  <a:lnTo>
                    <a:pt x="87249" y="3175"/>
                  </a:lnTo>
                  <a:lnTo>
                    <a:pt x="84963" y="2413"/>
                  </a:lnTo>
                  <a:lnTo>
                    <a:pt x="82550" y="762"/>
                  </a:lnTo>
                  <a:lnTo>
                    <a:pt x="79375" y="762"/>
                  </a:lnTo>
                  <a:lnTo>
                    <a:pt x="76962" y="0"/>
                  </a:lnTo>
                  <a:close/>
                </a:path>
              </a:pathLst>
            </a:custGeom>
            <a:solidFill>
              <a:srgbClr val="FB0028"/>
            </a:solidFill>
          </p:spPr>
          <p:txBody>
            <a:bodyPr wrap="square" lIns="0" tIns="0" rIns="0" bIns="0" rtlCol="0"/>
            <a:lstStyle/>
            <a:p>
              <a:endParaRPr/>
            </a:p>
          </p:txBody>
        </p:sp>
        <p:sp>
          <p:nvSpPr>
            <p:cNvPr id="21" name="object 21"/>
            <p:cNvSpPr/>
            <p:nvPr/>
          </p:nvSpPr>
          <p:spPr>
            <a:xfrm>
              <a:off x="1243584" y="2359520"/>
              <a:ext cx="252729" cy="252729"/>
            </a:xfrm>
            <a:custGeom>
              <a:avLst/>
              <a:gdLst/>
              <a:ahLst/>
              <a:cxnLst/>
              <a:rect l="l" t="t" r="r" b="b"/>
              <a:pathLst>
                <a:path w="252730" h="252730">
                  <a:moveTo>
                    <a:pt x="252615" y="0"/>
                  </a:moveTo>
                  <a:lnTo>
                    <a:pt x="0" y="0"/>
                  </a:lnTo>
                  <a:lnTo>
                    <a:pt x="0" y="252615"/>
                  </a:lnTo>
                  <a:lnTo>
                    <a:pt x="252615" y="252615"/>
                  </a:lnTo>
                  <a:lnTo>
                    <a:pt x="252615" y="0"/>
                  </a:lnTo>
                  <a:close/>
                </a:path>
              </a:pathLst>
            </a:custGeom>
            <a:solidFill>
              <a:srgbClr val="F6BE69"/>
            </a:solidFill>
          </p:spPr>
          <p:txBody>
            <a:bodyPr wrap="square" lIns="0" tIns="0" rIns="0" bIns="0" rtlCol="0"/>
            <a:lstStyle/>
            <a:p>
              <a:endParaRPr/>
            </a:p>
          </p:txBody>
        </p:sp>
        <p:sp>
          <p:nvSpPr>
            <p:cNvPr id="22" name="object 22"/>
            <p:cNvSpPr/>
            <p:nvPr/>
          </p:nvSpPr>
          <p:spPr>
            <a:xfrm>
              <a:off x="1496186" y="2275331"/>
              <a:ext cx="84455" cy="337185"/>
            </a:xfrm>
            <a:custGeom>
              <a:avLst/>
              <a:gdLst/>
              <a:ahLst/>
              <a:cxnLst/>
              <a:rect l="l" t="t" r="r" b="b"/>
              <a:pathLst>
                <a:path w="84455" h="337185">
                  <a:moveTo>
                    <a:pt x="84200" y="0"/>
                  </a:moveTo>
                  <a:lnTo>
                    <a:pt x="0" y="84200"/>
                  </a:lnTo>
                  <a:lnTo>
                    <a:pt x="0" y="336803"/>
                  </a:lnTo>
                  <a:lnTo>
                    <a:pt x="84200" y="252602"/>
                  </a:lnTo>
                  <a:lnTo>
                    <a:pt x="84200" y="0"/>
                  </a:lnTo>
                  <a:close/>
                </a:path>
              </a:pathLst>
            </a:custGeom>
            <a:solidFill>
              <a:srgbClr val="C59A53"/>
            </a:solidFill>
          </p:spPr>
          <p:txBody>
            <a:bodyPr wrap="square" lIns="0" tIns="0" rIns="0" bIns="0" rtlCol="0"/>
            <a:lstStyle/>
            <a:p>
              <a:endParaRPr/>
            </a:p>
          </p:txBody>
        </p:sp>
        <p:sp>
          <p:nvSpPr>
            <p:cNvPr id="23" name="object 23"/>
            <p:cNvSpPr/>
            <p:nvPr/>
          </p:nvSpPr>
          <p:spPr>
            <a:xfrm>
              <a:off x="1243584" y="2275331"/>
              <a:ext cx="337185" cy="84455"/>
            </a:xfrm>
            <a:custGeom>
              <a:avLst/>
              <a:gdLst/>
              <a:ahLst/>
              <a:cxnLst/>
              <a:rect l="l" t="t" r="r" b="b"/>
              <a:pathLst>
                <a:path w="337184" h="84455">
                  <a:moveTo>
                    <a:pt x="336803" y="0"/>
                  </a:moveTo>
                  <a:lnTo>
                    <a:pt x="84200" y="0"/>
                  </a:lnTo>
                  <a:lnTo>
                    <a:pt x="0" y="84200"/>
                  </a:lnTo>
                  <a:lnTo>
                    <a:pt x="252603" y="84200"/>
                  </a:lnTo>
                  <a:lnTo>
                    <a:pt x="336803" y="0"/>
                  </a:lnTo>
                  <a:close/>
                </a:path>
              </a:pathLst>
            </a:custGeom>
            <a:solidFill>
              <a:srgbClr val="F8CC85"/>
            </a:solidFill>
          </p:spPr>
          <p:txBody>
            <a:bodyPr wrap="square" lIns="0" tIns="0" rIns="0" bIns="0" rtlCol="0"/>
            <a:lstStyle/>
            <a:p>
              <a:endParaRPr/>
            </a:p>
          </p:txBody>
        </p:sp>
        <p:sp>
          <p:nvSpPr>
            <p:cNvPr id="24" name="object 24"/>
            <p:cNvSpPr/>
            <p:nvPr/>
          </p:nvSpPr>
          <p:spPr>
            <a:xfrm>
              <a:off x="1243584" y="2275331"/>
              <a:ext cx="337185" cy="337185"/>
            </a:xfrm>
            <a:custGeom>
              <a:avLst/>
              <a:gdLst/>
              <a:ahLst/>
              <a:cxnLst/>
              <a:rect l="l" t="t" r="r" b="b"/>
              <a:pathLst>
                <a:path w="337184" h="337185">
                  <a:moveTo>
                    <a:pt x="0" y="84200"/>
                  </a:moveTo>
                  <a:lnTo>
                    <a:pt x="84200" y="0"/>
                  </a:lnTo>
                  <a:lnTo>
                    <a:pt x="336803" y="0"/>
                  </a:lnTo>
                  <a:lnTo>
                    <a:pt x="336803" y="252602"/>
                  </a:lnTo>
                  <a:lnTo>
                    <a:pt x="252603" y="336803"/>
                  </a:lnTo>
                  <a:lnTo>
                    <a:pt x="0" y="336803"/>
                  </a:lnTo>
                  <a:lnTo>
                    <a:pt x="0" y="84200"/>
                  </a:lnTo>
                  <a:close/>
                </a:path>
                <a:path w="337184" h="337185">
                  <a:moveTo>
                    <a:pt x="0" y="84200"/>
                  </a:moveTo>
                  <a:lnTo>
                    <a:pt x="252603" y="84200"/>
                  </a:lnTo>
                  <a:lnTo>
                    <a:pt x="336803" y="0"/>
                  </a:lnTo>
                </a:path>
                <a:path w="337184" h="337185">
                  <a:moveTo>
                    <a:pt x="252603" y="84200"/>
                  </a:moveTo>
                  <a:lnTo>
                    <a:pt x="252603" y="336803"/>
                  </a:lnTo>
                </a:path>
              </a:pathLst>
            </a:custGeom>
            <a:ln w="6096">
              <a:solidFill>
                <a:srgbClr val="000000"/>
              </a:solidFill>
            </a:ln>
          </p:spPr>
          <p:txBody>
            <a:bodyPr wrap="square" lIns="0" tIns="0" rIns="0" bIns="0" rtlCol="0"/>
            <a:lstStyle/>
            <a:p>
              <a:endParaRPr/>
            </a:p>
          </p:txBody>
        </p:sp>
        <p:sp>
          <p:nvSpPr>
            <p:cNvPr id="25" name="object 25"/>
            <p:cNvSpPr/>
            <p:nvPr/>
          </p:nvSpPr>
          <p:spPr>
            <a:xfrm>
              <a:off x="1319784" y="2230370"/>
              <a:ext cx="243204" cy="52705"/>
            </a:xfrm>
            <a:custGeom>
              <a:avLst/>
              <a:gdLst/>
              <a:ahLst/>
              <a:cxnLst/>
              <a:rect l="l" t="t" r="r" b="b"/>
              <a:pathLst>
                <a:path w="243205" h="52705">
                  <a:moveTo>
                    <a:pt x="243078" y="0"/>
                  </a:moveTo>
                  <a:lnTo>
                    <a:pt x="0" y="0"/>
                  </a:lnTo>
                  <a:lnTo>
                    <a:pt x="0" y="52581"/>
                  </a:lnTo>
                  <a:lnTo>
                    <a:pt x="243078" y="52581"/>
                  </a:lnTo>
                  <a:lnTo>
                    <a:pt x="243078" y="0"/>
                  </a:lnTo>
                  <a:close/>
                </a:path>
              </a:pathLst>
            </a:custGeom>
            <a:solidFill>
              <a:srgbClr val="F6BE69"/>
            </a:solidFill>
          </p:spPr>
          <p:txBody>
            <a:bodyPr wrap="square" lIns="0" tIns="0" rIns="0" bIns="0" rtlCol="0"/>
            <a:lstStyle/>
            <a:p>
              <a:endParaRPr/>
            </a:p>
          </p:txBody>
        </p:sp>
        <p:sp>
          <p:nvSpPr>
            <p:cNvPr id="26" name="object 26"/>
            <p:cNvSpPr/>
            <p:nvPr/>
          </p:nvSpPr>
          <p:spPr>
            <a:xfrm>
              <a:off x="1562861" y="2212847"/>
              <a:ext cx="17780" cy="70485"/>
            </a:xfrm>
            <a:custGeom>
              <a:avLst/>
              <a:gdLst/>
              <a:ahLst/>
              <a:cxnLst/>
              <a:rect l="l" t="t" r="r" b="b"/>
              <a:pathLst>
                <a:path w="17780" h="70485">
                  <a:moveTo>
                    <a:pt x="17525" y="0"/>
                  </a:moveTo>
                  <a:lnTo>
                    <a:pt x="0" y="17525"/>
                  </a:lnTo>
                  <a:lnTo>
                    <a:pt x="0" y="70103"/>
                  </a:lnTo>
                  <a:lnTo>
                    <a:pt x="17525" y="52577"/>
                  </a:lnTo>
                  <a:lnTo>
                    <a:pt x="17525" y="0"/>
                  </a:lnTo>
                  <a:close/>
                </a:path>
              </a:pathLst>
            </a:custGeom>
            <a:solidFill>
              <a:srgbClr val="C59A53"/>
            </a:solidFill>
          </p:spPr>
          <p:txBody>
            <a:bodyPr wrap="square" lIns="0" tIns="0" rIns="0" bIns="0" rtlCol="0"/>
            <a:lstStyle/>
            <a:p>
              <a:endParaRPr/>
            </a:p>
          </p:txBody>
        </p:sp>
        <p:sp>
          <p:nvSpPr>
            <p:cNvPr id="27" name="object 27"/>
            <p:cNvSpPr/>
            <p:nvPr/>
          </p:nvSpPr>
          <p:spPr>
            <a:xfrm>
              <a:off x="1319784" y="2212847"/>
              <a:ext cx="260985" cy="17780"/>
            </a:xfrm>
            <a:custGeom>
              <a:avLst/>
              <a:gdLst/>
              <a:ahLst/>
              <a:cxnLst/>
              <a:rect l="l" t="t" r="r" b="b"/>
              <a:pathLst>
                <a:path w="260984" h="17780">
                  <a:moveTo>
                    <a:pt x="260603" y="0"/>
                  </a:moveTo>
                  <a:lnTo>
                    <a:pt x="17525" y="0"/>
                  </a:lnTo>
                  <a:lnTo>
                    <a:pt x="0" y="17525"/>
                  </a:lnTo>
                  <a:lnTo>
                    <a:pt x="243078" y="17525"/>
                  </a:lnTo>
                  <a:lnTo>
                    <a:pt x="260603" y="0"/>
                  </a:lnTo>
                  <a:close/>
                </a:path>
              </a:pathLst>
            </a:custGeom>
            <a:solidFill>
              <a:srgbClr val="F8CC85"/>
            </a:solidFill>
          </p:spPr>
          <p:txBody>
            <a:bodyPr wrap="square" lIns="0" tIns="0" rIns="0" bIns="0" rtlCol="0"/>
            <a:lstStyle/>
            <a:p>
              <a:endParaRPr/>
            </a:p>
          </p:txBody>
        </p:sp>
        <p:sp>
          <p:nvSpPr>
            <p:cNvPr id="28" name="object 28"/>
            <p:cNvSpPr/>
            <p:nvPr/>
          </p:nvSpPr>
          <p:spPr>
            <a:xfrm>
              <a:off x="1319784" y="2212847"/>
              <a:ext cx="260985" cy="70485"/>
            </a:xfrm>
            <a:custGeom>
              <a:avLst/>
              <a:gdLst/>
              <a:ahLst/>
              <a:cxnLst/>
              <a:rect l="l" t="t" r="r" b="b"/>
              <a:pathLst>
                <a:path w="260984" h="70485">
                  <a:moveTo>
                    <a:pt x="0" y="17525"/>
                  </a:moveTo>
                  <a:lnTo>
                    <a:pt x="17525" y="0"/>
                  </a:lnTo>
                  <a:lnTo>
                    <a:pt x="260603" y="0"/>
                  </a:lnTo>
                  <a:lnTo>
                    <a:pt x="260603" y="52577"/>
                  </a:lnTo>
                  <a:lnTo>
                    <a:pt x="243078" y="70103"/>
                  </a:lnTo>
                  <a:lnTo>
                    <a:pt x="0" y="70103"/>
                  </a:lnTo>
                  <a:lnTo>
                    <a:pt x="0" y="17525"/>
                  </a:lnTo>
                  <a:close/>
                </a:path>
                <a:path w="260984" h="70485">
                  <a:moveTo>
                    <a:pt x="0" y="17525"/>
                  </a:moveTo>
                  <a:lnTo>
                    <a:pt x="243078" y="17525"/>
                  </a:lnTo>
                  <a:lnTo>
                    <a:pt x="260603" y="0"/>
                  </a:lnTo>
                </a:path>
                <a:path w="260984" h="70485">
                  <a:moveTo>
                    <a:pt x="243078" y="17525"/>
                  </a:moveTo>
                  <a:lnTo>
                    <a:pt x="243078" y="70103"/>
                  </a:lnTo>
                </a:path>
              </a:pathLst>
            </a:custGeom>
            <a:ln w="6096">
              <a:solidFill>
                <a:srgbClr val="000000"/>
              </a:solidFill>
            </a:ln>
          </p:spPr>
          <p:txBody>
            <a:bodyPr wrap="square" lIns="0" tIns="0" rIns="0" bIns="0" rtlCol="0"/>
            <a:lstStyle/>
            <a:p>
              <a:endParaRPr/>
            </a:p>
          </p:txBody>
        </p:sp>
        <p:sp>
          <p:nvSpPr>
            <p:cNvPr id="29" name="object 29"/>
            <p:cNvSpPr/>
            <p:nvPr/>
          </p:nvSpPr>
          <p:spPr>
            <a:xfrm>
              <a:off x="1310640" y="2304288"/>
              <a:ext cx="177165" cy="26034"/>
            </a:xfrm>
            <a:custGeom>
              <a:avLst/>
              <a:gdLst/>
              <a:ahLst/>
              <a:cxnLst/>
              <a:rect l="l" t="t" r="r" b="b"/>
              <a:pathLst>
                <a:path w="177165" h="26035">
                  <a:moveTo>
                    <a:pt x="176784" y="0"/>
                  </a:moveTo>
                  <a:lnTo>
                    <a:pt x="45338" y="0"/>
                  </a:lnTo>
                  <a:lnTo>
                    <a:pt x="0" y="25907"/>
                  </a:lnTo>
                  <a:lnTo>
                    <a:pt x="131444" y="25907"/>
                  </a:lnTo>
                  <a:lnTo>
                    <a:pt x="176784" y="0"/>
                  </a:lnTo>
                  <a:close/>
                </a:path>
              </a:pathLst>
            </a:custGeom>
            <a:solidFill>
              <a:srgbClr val="F6BE69"/>
            </a:solidFill>
          </p:spPr>
          <p:txBody>
            <a:bodyPr wrap="square" lIns="0" tIns="0" rIns="0" bIns="0" rtlCol="0"/>
            <a:lstStyle/>
            <a:p>
              <a:endParaRPr/>
            </a:p>
          </p:txBody>
        </p:sp>
        <p:sp>
          <p:nvSpPr>
            <p:cNvPr id="30" name="object 30"/>
            <p:cNvSpPr/>
            <p:nvPr/>
          </p:nvSpPr>
          <p:spPr>
            <a:xfrm>
              <a:off x="1310640" y="2304288"/>
              <a:ext cx="177165" cy="26034"/>
            </a:xfrm>
            <a:custGeom>
              <a:avLst/>
              <a:gdLst/>
              <a:ahLst/>
              <a:cxnLst/>
              <a:rect l="l" t="t" r="r" b="b"/>
              <a:pathLst>
                <a:path w="177165" h="26035">
                  <a:moveTo>
                    <a:pt x="0" y="25907"/>
                  </a:moveTo>
                  <a:lnTo>
                    <a:pt x="45338" y="0"/>
                  </a:lnTo>
                  <a:lnTo>
                    <a:pt x="176784" y="0"/>
                  </a:lnTo>
                  <a:lnTo>
                    <a:pt x="131444" y="25907"/>
                  </a:lnTo>
                  <a:lnTo>
                    <a:pt x="0" y="25907"/>
                  </a:lnTo>
                  <a:close/>
                </a:path>
              </a:pathLst>
            </a:custGeom>
            <a:ln w="12192">
              <a:solidFill>
                <a:srgbClr val="000000"/>
              </a:solidFill>
            </a:ln>
          </p:spPr>
          <p:txBody>
            <a:bodyPr wrap="square" lIns="0" tIns="0" rIns="0" bIns="0" rtlCol="0"/>
            <a:lstStyle/>
            <a:p>
              <a:endParaRPr/>
            </a:p>
          </p:txBody>
        </p:sp>
        <p:sp>
          <p:nvSpPr>
            <p:cNvPr id="31" name="object 31"/>
            <p:cNvSpPr/>
            <p:nvPr/>
          </p:nvSpPr>
          <p:spPr>
            <a:xfrm>
              <a:off x="1504188" y="2244851"/>
              <a:ext cx="44450" cy="24765"/>
            </a:xfrm>
            <a:custGeom>
              <a:avLst/>
              <a:gdLst/>
              <a:ahLst/>
              <a:cxnLst/>
              <a:rect l="l" t="t" r="r" b="b"/>
              <a:pathLst>
                <a:path w="44450" h="24764">
                  <a:moveTo>
                    <a:pt x="34290" y="0"/>
                  </a:moveTo>
                  <a:lnTo>
                    <a:pt x="9906" y="0"/>
                  </a:lnTo>
                  <a:lnTo>
                    <a:pt x="0" y="5461"/>
                  </a:lnTo>
                  <a:lnTo>
                    <a:pt x="0" y="12192"/>
                  </a:lnTo>
                  <a:lnTo>
                    <a:pt x="0" y="18923"/>
                  </a:lnTo>
                  <a:lnTo>
                    <a:pt x="9906" y="24383"/>
                  </a:lnTo>
                  <a:lnTo>
                    <a:pt x="34290" y="24383"/>
                  </a:lnTo>
                  <a:lnTo>
                    <a:pt x="44196" y="18923"/>
                  </a:lnTo>
                  <a:lnTo>
                    <a:pt x="44196" y="5461"/>
                  </a:lnTo>
                  <a:lnTo>
                    <a:pt x="34290" y="0"/>
                  </a:lnTo>
                  <a:close/>
                </a:path>
              </a:pathLst>
            </a:custGeom>
            <a:solidFill>
              <a:srgbClr val="FFFFFF"/>
            </a:solidFill>
          </p:spPr>
          <p:txBody>
            <a:bodyPr wrap="square" lIns="0" tIns="0" rIns="0" bIns="0" rtlCol="0"/>
            <a:lstStyle/>
            <a:p>
              <a:endParaRPr/>
            </a:p>
          </p:txBody>
        </p:sp>
        <p:sp>
          <p:nvSpPr>
            <p:cNvPr id="32" name="object 32"/>
            <p:cNvSpPr/>
            <p:nvPr/>
          </p:nvSpPr>
          <p:spPr>
            <a:xfrm>
              <a:off x="1504188" y="2244851"/>
              <a:ext cx="44450" cy="24765"/>
            </a:xfrm>
            <a:custGeom>
              <a:avLst/>
              <a:gdLst/>
              <a:ahLst/>
              <a:cxnLst/>
              <a:rect l="l" t="t" r="r" b="b"/>
              <a:pathLst>
                <a:path w="44450" h="24764">
                  <a:moveTo>
                    <a:pt x="0" y="12192"/>
                  </a:moveTo>
                  <a:lnTo>
                    <a:pt x="0" y="5461"/>
                  </a:lnTo>
                  <a:lnTo>
                    <a:pt x="9906" y="0"/>
                  </a:lnTo>
                  <a:lnTo>
                    <a:pt x="22098" y="0"/>
                  </a:lnTo>
                  <a:lnTo>
                    <a:pt x="34290" y="0"/>
                  </a:lnTo>
                  <a:lnTo>
                    <a:pt x="44196" y="5461"/>
                  </a:lnTo>
                  <a:lnTo>
                    <a:pt x="44196" y="12192"/>
                  </a:lnTo>
                  <a:lnTo>
                    <a:pt x="44196" y="18923"/>
                  </a:lnTo>
                  <a:lnTo>
                    <a:pt x="34290" y="24383"/>
                  </a:lnTo>
                  <a:lnTo>
                    <a:pt x="22098" y="24383"/>
                  </a:lnTo>
                  <a:lnTo>
                    <a:pt x="9906" y="24383"/>
                  </a:lnTo>
                  <a:lnTo>
                    <a:pt x="0" y="18923"/>
                  </a:lnTo>
                  <a:lnTo>
                    <a:pt x="0" y="12192"/>
                  </a:lnTo>
                  <a:close/>
                </a:path>
              </a:pathLst>
            </a:custGeom>
            <a:ln w="6096">
              <a:solidFill>
                <a:srgbClr val="000000"/>
              </a:solidFill>
            </a:ln>
          </p:spPr>
          <p:txBody>
            <a:bodyPr wrap="square" lIns="0" tIns="0" rIns="0" bIns="0" rtlCol="0"/>
            <a:lstStyle/>
            <a:p>
              <a:endParaRPr/>
            </a:p>
          </p:txBody>
        </p:sp>
      </p:grpSp>
      <p:grpSp>
        <p:nvGrpSpPr>
          <p:cNvPr id="33" name="object 33"/>
          <p:cNvGrpSpPr/>
          <p:nvPr/>
        </p:nvGrpSpPr>
        <p:grpSpPr>
          <a:xfrm>
            <a:off x="2269235" y="2628900"/>
            <a:ext cx="1019810" cy="405765"/>
            <a:chOff x="2269235" y="2628900"/>
            <a:chExt cx="1019810" cy="405765"/>
          </a:xfrm>
        </p:grpSpPr>
        <p:sp>
          <p:nvSpPr>
            <p:cNvPr id="34" name="object 34"/>
            <p:cNvSpPr/>
            <p:nvPr/>
          </p:nvSpPr>
          <p:spPr>
            <a:xfrm>
              <a:off x="2615183" y="2778620"/>
              <a:ext cx="252729" cy="252729"/>
            </a:xfrm>
            <a:custGeom>
              <a:avLst/>
              <a:gdLst/>
              <a:ahLst/>
              <a:cxnLst/>
              <a:rect l="l" t="t" r="r" b="b"/>
              <a:pathLst>
                <a:path w="252730" h="252730">
                  <a:moveTo>
                    <a:pt x="252615" y="0"/>
                  </a:moveTo>
                  <a:lnTo>
                    <a:pt x="0" y="0"/>
                  </a:lnTo>
                  <a:lnTo>
                    <a:pt x="0" y="252615"/>
                  </a:lnTo>
                  <a:lnTo>
                    <a:pt x="252615" y="252615"/>
                  </a:lnTo>
                  <a:lnTo>
                    <a:pt x="252615" y="0"/>
                  </a:lnTo>
                  <a:close/>
                </a:path>
              </a:pathLst>
            </a:custGeom>
            <a:solidFill>
              <a:srgbClr val="A1C1FD"/>
            </a:solidFill>
          </p:spPr>
          <p:txBody>
            <a:bodyPr wrap="square" lIns="0" tIns="0" rIns="0" bIns="0" rtlCol="0"/>
            <a:lstStyle/>
            <a:p>
              <a:endParaRPr/>
            </a:p>
          </p:txBody>
        </p:sp>
        <p:sp>
          <p:nvSpPr>
            <p:cNvPr id="35" name="object 35"/>
            <p:cNvSpPr/>
            <p:nvPr/>
          </p:nvSpPr>
          <p:spPr>
            <a:xfrm>
              <a:off x="2867786" y="2694431"/>
              <a:ext cx="84455" cy="337185"/>
            </a:xfrm>
            <a:custGeom>
              <a:avLst/>
              <a:gdLst/>
              <a:ahLst/>
              <a:cxnLst/>
              <a:rect l="l" t="t" r="r" b="b"/>
              <a:pathLst>
                <a:path w="84455" h="337185">
                  <a:moveTo>
                    <a:pt x="84200" y="0"/>
                  </a:moveTo>
                  <a:lnTo>
                    <a:pt x="0" y="84200"/>
                  </a:lnTo>
                  <a:lnTo>
                    <a:pt x="0" y="336803"/>
                  </a:lnTo>
                  <a:lnTo>
                    <a:pt x="84200" y="252602"/>
                  </a:lnTo>
                  <a:lnTo>
                    <a:pt x="84200" y="0"/>
                  </a:lnTo>
                  <a:close/>
                </a:path>
              </a:pathLst>
            </a:custGeom>
            <a:solidFill>
              <a:srgbClr val="829BCC"/>
            </a:solidFill>
          </p:spPr>
          <p:txBody>
            <a:bodyPr wrap="square" lIns="0" tIns="0" rIns="0" bIns="0" rtlCol="0"/>
            <a:lstStyle/>
            <a:p>
              <a:endParaRPr/>
            </a:p>
          </p:txBody>
        </p:sp>
        <p:sp>
          <p:nvSpPr>
            <p:cNvPr id="36" name="object 36"/>
            <p:cNvSpPr/>
            <p:nvPr/>
          </p:nvSpPr>
          <p:spPr>
            <a:xfrm>
              <a:off x="2615183" y="2694431"/>
              <a:ext cx="337185" cy="84455"/>
            </a:xfrm>
            <a:custGeom>
              <a:avLst/>
              <a:gdLst/>
              <a:ahLst/>
              <a:cxnLst/>
              <a:rect l="l" t="t" r="r" b="b"/>
              <a:pathLst>
                <a:path w="337185" h="84455">
                  <a:moveTo>
                    <a:pt x="336804" y="0"/>
                  </a:moveTo>
                  <a:lnTo>
                    <a:pt x="84201" y="0"/>
                  </a:lnTo>
                  <a:lnTo>
                    <a:pt x="0" y="84200"/>
                  </a:lnTo>
                  <a:lnTo>
                    <a:pt x="252603" y="84200"/>
                  </a:lnTo>
                  <a:lnTo>
                    <a:pt x="336804" y="0"/>
                  </a:lnTo>
                  <a:close/>
                </a:path>
              </a:pathLst>
            </a:custGeom>
            <a:solidFill>
              <a:srgbClr val="B4CDFD"/>
            </a:solidFill>
          </p:spPr>
          <p:txBody>
            <a:bodyPr wrap="square" lIns="0" tIns="0" rIns="0" bIns="0" rtlCol="0"/>
            <a:lstStyle/>
            <a:p>
              <a:endParaRPr/>
            </a:p>
          </p:txBody>
        </p:sp>
        <p:sp>
          <p:nvSpPr>
            <p:cNvPr id="37" name="object 37"/>
            <p:cNvSpPr/>
            <p:nvPr/>
          </p:nvSpPr>
          <p:spPr>
            <a:xfrm>
              <a:off x="2615183" y="2694431"/>
              <a:ext cx="337185" cy="337185"/>
            </a:xfrm>
            <a:custGeom>
              <a:avLst/>
              <a:gdLst/>
              <a:ahLst/>
              <a:cxnLst/>
              <a:rect l="l" t="t" r="r" b="b"/>
              <a:pathLst>
                <a:path w="337185" h="337185">
                  <a:moveTo>
                    <a:pt x="0" y="84200"/>
                  </a:moveTo>
                  <a:lnTo>
                    <a:pt x="84201" y="0"/>
                  </a:lnTo>
                  <a:lnTo>
                    <a:pt x="336804" y="0"/>
                  </a:lnTo>
                  <a:lnTo>
                    <a:pt x="336804" y="252602"/>
                  </a:lnTo>
                  <a:lnTo>
                    <a:pt x="252603" y="336803"/>
                  </a:lnTo>
                  <a:lnTo>
                    <a:pt x="0" y="336803"/>
                  </a:lnTo>
                  <a:lnTo>
                    <a:pt x="0" y="84200"/>
                  </a:lnTo>
                  <a:close/>
                </a:path>
                <a:path w="337185" h="337185">
                  <a:moveTo>
                    <a:pt x="0" y="84200"/>
                  </a:moveTo>
                  <a:lnTo>
                    <a:pt x="252603" y="84200"/>
                  </a:lnTo>
                  <a:lnTo>
                    <a:pt x="336804" y="0"/>
                  </a:lnTo>
                </a:path>
                <a:path w="337185" h="337185">
                  <a:moveTo>
                    <a:pt x="252603" y="84200"/>
                  </a:moveTo>
                  <a:lnTo>
                    <a:pt x="252603" y="336803"/>
                  </a:lnTo>
                </a:path>
              </a:pathLst>
            </a:custGeom>
            <a:ln w="6096">
              <a:solidFill>
                <a:srgbClr val="000000"/>
              </a:solidFill>
            </a:ln>
          </p:spPr>
          <p:txBody>
            <a:bodyPr wrap="square" lIns="0" tIns="0" rIns="0" bIns="0" rtlCol="0"/>
            <a:lstStyle/>
            <a:p>
              <a:endParaRPr/>
            </a:p>
          </p:txBody>
        </p:sp>
        <p:sp>
          <p:nvSpPr>
            <p:cNvPr id="38" name="object 38"/>
            <p:cNvSpPr/>
            <p:nvPr/>
          </p:nvSpPr>
          <p:spPr>
            <a:xfrm>
              <a:off x="2691383" y="2649470"/>
              <a:ext cx="243204" cy="52705"/>
            </a:xfrm>
            <a:custGeom>
              <a:avLst/>
              <a:gdLst/>
              <a:ahLst/>
              <a:cxnLst/>
              <a:rect l="l" t="t" r="r" b="b"/>
              <a:pathLst>
                <a:path w="243205" h="52705">
                  <a:moveTo>
                    <a:pt x="243078" y="0"/>
                  </a:moveTo>
                  <a:lnTo>
                    <a:pt x="0" y="0"/>
                  </a:lnTo>
                  <a:lnTo>
                    <a:pt x="0" y="52581"/>
                  </a:lnTo>
                  <a:lnTo>
                    <a:pt x="243078" y="52581"/>
                  </a:lnTo>
                  <a:lnTo>
                    <a:pt x="243078" y="0"/>
                  </a:lnTo>
                  <a:close/>
                </a:path>
              </a:pathLst>
            </a:custGeom>
            <a:solidFill>
              <a:srgbClr val="A1C1FD"/>
            </a:solidFill>
          </p:spPr>
          <p:txBody>
            <a:bodyPr wrap="square" lIns="0" tIns="0" rIns="0" bIns="0" rtlCol="0"/>
            <a:lstStyle/>
            <a:p>
              <a:endParaRPr/>
            </a:p>
          </p:txBody>
        </p:sp>
        <p:sp>
          <p:nvSpPr>
            <p:cNvPr id="39" name="object 39"/>
            <p:cNvSpPr/>
            <p:nvPr/>
          </p:nvSpPr>
          <p:spPr>
            <a:xfrm>
              <a:off x="2934461" y="2631947"/>
              <a:ext cx="17780" cy="70485"/>
            </a:xfrm>
            <a:custGeom>
              <a:avLst/>
              <a:gdLst/>
              <a:ahLst/>
              <a:cxnLst/>
              <a:rect l="l" t="t" r="r" b="b"/>
              <a:pathLst>
                <a:path w="17780" h="70485">
                  <a:moveTo>
                    <a:pt x="17525" y="0"/>
                  </a:moveTo>
                  <a:lnTo>
                    <a:pt x="0" y="17525"/>
                  </a:lnTo>
                  <a:lnTo>
                    <a:pt x="0" y="70103"/>
                  </a:lnTo>
                  <a:lnTo>
                    <a:pt x="17525" y="52577"/>
                  </a:lnTo>
                  <a:lnTo>
                    <a:pt x="17525" y="0"/>
                  </a:lnTo>
                  <a:close/>
                </a:path>
              </a:pathLst>
            </a:custGeom>
            <a:solidFill>
              <a:srgbClr val="829BCC"/>
            </a:solidFill>
          </p:spPr>
          <p:txBody>
            <a:bodyPr wrap="square" lIns="0" tIns="0" rIns="0" bIns="0" rtlCol="0"/>
            <a:lstStyle/>
            <a:p>
              <a:endParaRPr/>
            </a:p>
          </p:txBody>
        </p:sp>
        <p:sp>
          <p:nvSpPr>
            <p:cNvPr id="40" name="object 40"/>
            <p:cNvSpPr/>
            <p:nvPr/>
          </p:nvSpPr>
          <p:spPr>
            <a:xfrm>
              <a:off x="2691383" y="2631947"/>
              <a:ext cx="260985" cy="17780"/>
            </a:xfrm>
            <a:custGeom>
              <a:avLst/>
              <a:gdLst/>
              <a:ahLst/>
              <a:cxnLst/>
              <a:rect l="l" t="t" r="r" b="b"/>
              <a:pathLst>
                <a:path w="260985" h="17780">
                  <a:moveTo>
                    <a:pt x="260604" y="0"/>
                  </a:moveTo>
                  <a:lnTo>
                    <a:pt x="17526" y="0"/>
                  </a:lnTo>
                  <a:lnTo>
                    <a:pt x="0" y="17525"/>
                  </a:lnTo>
                  <a:lnTo>
                    <a:pt x="243078" y="17525"/>
                  </a:lnTo>
                  <a:lnTo>
                    <a:pt x="260604" y="0"/>
                  </a:lnTo>
                  <a:close/>
                </a:path>
              </a:pathLst>
            </a:custGeom>
            <a:solidFill>
              <a:srgbClr val="B4CDFD"/>
            </a:solidFill>
          </p:spPr>
          <p:txBody>
            <a:bodyPr wrap="square" lIns="0" tIns="0" rIns="0" bIns="0" rtlCol="0"/>
            <a:lstStyle/>
            <a:p>
              <a:endParaRPr/>
            </a:p>
          </p:txBody>
        </p:sp>
        <p:sp>
          <p:nvSpPr>
            <p:cNvPr id="41" name="object 41"/>
            <p:cNvSpPr/>
            <p:nvPr/>
          </p:nvSpPr>
          <p:spPr>
            <a:xfrm>
              <a:off x="2691383" y="2631947"/>
              <a:ext cx="260985" cy="70485"/>
            </a:xfrm>
            <a:custGeom>
              <a:avLst/>
              <a:gdLst/>
              <a:ahLst/>
              <a:cxnLst/>
              <a:rect l="l" t="t" r="r" b="b"/>
              <a:pathLst>
                <a:path w="260985" h="70485">
                  <a:moveTo>
                    <a:pt x="0" y="17525"/>
                  </a:moveTo>
                  <a:lnTo>
                    <a:pt x="17526" y="0"/>
                  </a:lnTo>
                  <a:lnTo>
                    <a:pt x="260604" y="0"/>
                  </a:lnTo>
                  <a:lnTo>
                    <a:pt x="260604" y="52577"/>
                  </a:lnTo>
                  <a:lnTo>
                    <a:pt x="243078" y="70103"/>
                  </a:lnTo>
                  <a:lnTo>
                    <a:pt x="0" y="70103"/>
                  </a:lnTo>
                  <a:lnTo>
                    <a:pt x="0" y="17525"/>
                  </a:lnTo>
                  <a:close/>
                </a:path>
                <a:path w="260985" h="70485">
                  <a:moveTo>
                    <a:pt x="0" y="17525"/>
                  </a:moveTo>
                  <a:lnTo>
                    <a:pt x="243078" y="17525"/>
                  </a:lnTo>
                  <a:lnTo>
                    <a:pt x="260604" y="0"/>
                  </a:lnTo>
                </a:path>
                <a:path w="260985" h="70485">
                  <a:moveTo>
                    <a:pt x="243078" y="17525"/>
                  </a:moveTo>
                  <a:lnTo>
                    <a:pt x="243078" y="70103"/>
                  </a:lnTo>
                </a:path>
              </a:pathLst>
            </a:custGeom>
            <a:ln w="6096">
              <a:solidFill>
                <a:srgbClr val="000000"/>
              </a:solidFill>
            </a:ln>
          </p:spPr>
          <p:txBody>
            <a:bodyPr wrap="square" lIns="0" tIns="0" rIns="0" bIns="0" rtlCol="0"/>
            <a:lstStyle/>
            <a:p>
              <a:endParaRPr/>
            </a:p>
          </p:txBody>
        </p:sp>
        <p:sp>
          <p:nvSpPr>
            <p:cNvPr id="42" name="object 42"/>
            <p:cNvSpPr/>
            <p:nvPr/>
          </p:nvSpPr>
          <p:spPr>
            <a:xfrm>
              <a:off x="2717291" y="2663951"/>
              <a:ext cx="44450" cy="24765"/>
            </a:xfrm>
            <a:custGeom>
              <a:avLst/>
              <a:gdLst/>
              <a:ahLst/>
              <a:cxnLst/>
              <a:rect l="l" t="t" r="r" b="b"/>
              <a:pathLst>
                <a:path w="44450" h="24764">
                  <a:moveTo>
                    <a:pt x="34289" y="0"/>
                  </a:moveTo>
                  <a:lnTo>
                    <a:pt x="9906" y="0"/>
                  </a:lnTo>
                  <a:lnTo>
                    <a:pt x="0" y="5461"/>
                  </a:lnTo>
                  <a:lnTo>
                    <a:pt x="0" y="12192"/>
                  </a:lnTo>
                  <a:lnTo>
                    <a:pt x="0" y="18923"/>
                  </a:lnTo>
                  <a:lnTo>
                    <a:pt x="9906" y="24384"/>
                  </a:lnTo>
                  <a:lnTo>
                    <a:pt x="34289" y="24384"/>
                  </a:lnTo>
                  <a:lnTo>
                    <a:pt x="44195" y="18923"/>
                  </a:lnTo>
                  <a:lnTo>
                    <a:pt x="44195" y="5461"/>
                  </a:lnTo>
                  <a:lnTo>
                    <a:pt x="34289" y="0"/>
                  </a:lnTo>
                  <a:close/>
                </a:path>
              </a:pathLst>
            </a:custGeom>
            <a:solidFill>
              <a:srgbClr val="FFFFFF"/>
            </a:solidFill>
          </p:spPr>
          <p:txBody>
            <a:bodyPr wrap="square" lIns="0" tIns="0" rIns="0" bIns="0" rtlCol="0"/>
            <a:lstStyle/>
            <a:p>
              <a:endParaRPr/>
            </a:p>
          </p:txBody>
        </p:sp>
        <p:sp>
          <p:nvSpPr>
            <p:cNvPr id="43" name="object 43"/>
            <p:cNvSpPr/>
            <p:nvPr/>
          </p:nvSpPr>
          <p:spPr>
            <a:xfrm>
              <a:off x="2717291" y="2663951"/>
              <a:ext cx="44450" cy="24765"/>
            </a:xfrm>
            <a:custGeom>
              <a:avLst/>
              <a:gdLst/>
              <a:ahLst/>
              <a:cxnLst/>
              <a:rect l="l" t="t" r="r" b="b"/>
              <a:pathLst>
                <a:path w="44450" h="24764">
                  <a:moveTo>
                    <a:pt x="0" y="12192"/>
                  </a:moveTo>
                  <a:lnTo>
                    <a:pt x="0" y="5461"/>
                  </a:lnTo>
                  <a:lnTo>
                    <a:pt x="9906" y="0"/>
                  </a:lnTo>
                  <a:lnTo>
                    <a:pt x="22097" y="0"/>
                  </a:lnTo>
                  <a:lnTo>
                    <a:pt x="34289" y="0"/>
                  </a:lnTo>
                  <a:lnTo>
                    <a:pt x="44195" y="5461"/>
                  </a:lnTo>
                  <a:lnTo>
                    <a:pt x="44195" y="12192"/>
                  </a:lnTo>
                  <a:lnTo>
                    <a:pt x="44195" y="18923"/>
                  </a:lnTo>
                  <a:lnTo>
                    <a:pt x="34289" y="24384"/>
                  </a:lnTo>
                  <a:lnTo>
                    <a:pt x="22097" y="24384"/>
                  </a:lnTo>
                  <a:lnTo>
                    <a:pt x="9906" y="24384"/>
                  </a:lnTo>
                  <a:lnTo>
                    <a:pt x="0" y="18923"/>
                  </a:lnTo>
                  <a:lnTo>
                    <a:pt x="0" y="12192"/>
                  </a:lnTo>
                  <a:close/>
                </a:path>
              </a:pathLst>
            </a:custGeom>
            <a:ln w="6096">
              <a:solidFill>
                <a:srgbClr val="000000"/>
              </a:solidFill>
            </a:ln>
          </p:spPr>
          <p:txBody>
            <a:bodyPr wrap="square" lIns="0" tIns="0" rIns="0" bIns="0" rtlCol="0"/>
            <a:lstStyle/>
            <a:p>
              <a:endParaRPr/>
            </a:p>
          </p:txBody>
        </p:sp>
        <p:pic>
          <p:nvPicPr>
            <p:cNvPr id="44" name="object 44"/>
            <p:cNvPicPr/>
            <p:nvPr/>
          </p:nvPicPr>
          <p:blipFill>
            <a:blip r:embed="rId2" cstate="print"/>
            <a:stretch>
              <a:fillRect/>
            </a:stretch>
          </p:blipFill>
          <p:spPr>
            <a:xfrm>
              <a:off x="2650235" y="2845308"/>
              <a:ext cx="190499" cy="88392"/>
            </a:xfrm>
            <a:prstGeom prst="rect">
              <a:avLst/>
            </a:prstGeom>
          </p:spPr>
        </p:pic>
        <p:pic>
          <p:nvPicPr>
            <p:cNvPr id="45" name="object 45"/>
            <p:cNvPicPr/>
            <p:nvPr/>
          </p:nvPicPr>
          <p:blipFill>
            <a:blip r:embed="rId3" cstate="print"/>
            <a:stretch>
              <a:fillRect/>
            </a:stretch>
          </p:blipFill>
          <p:spPr>
            <a:xfrm>
              <a:off x="3115055" y="2822447"/>
              <a:ext cx="173735" cy="171450"/>
            </a:xfrm>
            <a:prstGeom prst="rect">
              <a:avLst/>
            </a:prstGeom>
          </p:spPr>
        </p:pic>
        <p:sp>
          <p:nvSpPr>
            <p:cNvPr id="46" name="object 46"/>
            <p:cNvSpPr/>
            <p:nvPr/>
          </p:nvSpPr>
          <p:spPr>
            <a:xfrm>
              <a:off x="2959608" y="2670047"/>
              <a:ext cx="108585" cy="236220"/>
            </a:xfrm>
            <a:custGeom>
              <a:avLst/>
              <a:gdLst/>
              <a:ahLst/>
              <a:cxnLst/>
              <a:rect l="l" t="t" r="r" b="b"/>
              <a:pathLst>
                <a:path w="108585" h="236219">
                  <a:moveTo>
                    <a:pt x="91427" y="225552"/>
                  </a:moveTo>
                  <a:lnTo>
                    <a:pt x="0" y="225552"/>
                  </a:lnTo>
                  <a:lnTo>
                    <a:pt x="0" y="236220"/>
                  </a:lnTo>
                  <a:lnTo>
                    <a:pt x="91427" y="236220"/>
                  </a:lnTo>
                  <a:lnTo>
                    <a:pt x="91427" y="225552"/>
                  </a:lnTo>
                  <a:close/>
                </a:path>
                <a:path w="108585" h="236219">
                  <a:moveTo>
                    <a:pt x="108204" y="21336"/>
                  </a:moveTo>
                  <a:lnTo>
                    <a:pt x="106527" y="13030"/>
                  </a:lnTo>
                  <a:lnTo>
                    <a:pt x="101955" y="6248"/>
                  </a:lnTo>
                  <a:lnTo>
                    <a:pt x="95173" y="1676"/>
                  </a:lnTo>
                  <a:lnTo>
                    <a:pt x="86868" y="0"/>
                  </a:lnTo>
                  <a:lnTo>
                    <a:pt x="78549" y="1676"/>
                  </a:lnTo>
                  <a:lnTo>
                    <a:pt x="71767" y="6248"/>
                  </a:lnTo>
                  <a:lnTo>
                    <a:pt x="67195" y="13030"/>
                  </a:lnTo>
                  <a:lnTo>
                    <a:pt x="65532" y="21336"/>
                  </a:lnTo>
                  <a:lnTo>
                    <a:pt x="67195" y="29654"/>
                  </a:lnTo>
                  <a:lnTo>
                    <a:pt x="71767" y="36436"/>
                  </a:lnTo>
                  <a:lnTo>
                    <a:pt x="78549" y="41008"/>
                  </a:lnTo>
                  <a:lnTo>
                    <a:pt x="86868" y="42672"/>
                  </a:lnTo>
                  <a:lnTo>
                    <a:pt x="95173" y="41008"/>
                  </a:lnTo>
                  <a:lnTo>
                    <a:pt x="101955" y="36436"/>
                  </a:lnTo>
                  <a:lnTo>
                    <a:pt x="106527" y="29654"/>
                  </a:lnTo>
                  <a:lnTo>
                    <a:pt x="108204" y="21336"/>
                  </a:lnTo>
                  <a:close/>
                </a:path>
              </a:pathLst>
            </a:custGeom>
            <a:solidFill>
              <a:srgbClr val="FB0028"/>
            </a:solidFill>
          </p:spPr>
          <p:txBody>
            <a:bodyPr wrap="square" lIns="0" tIns="0" rIns="0" bIns="0" rtlCol="0"/>
            <a:lstStyle/>
            <a:p>
              <a:endParaRPr/>
            </a:p>
          </p:txBody>
        </p:sp>
        <p:sp>
          <p:nvSpPr>
            <p:cNvPr id="47" name="object 47"/>
            <p:cNvSpPr/>
            <p:nvPr/>
          </p:nvSpPr>
          <p:spPr>
            <a:xfrm>
              <a:off x="3025139" y="2670048"/>
              <a:ext cx="43180" cy="43180"/>
            </a:xfrm>
            <a:custGeom>
              <a:avLst/>
              <a:gdLst/>
              <a:ahLst/>
              <a:cxnLst/>
              <a:rect l="l" t="t" r="r" b="b"/>
              <a:pathLst>
                <a:path w="43180" h="43180">
                  <a:moveTo>
                    <a:pt x="0" y="21336"/>
                  </a:moveTo>
                  <a:lnTo>
                    <a:pt x="1672" y="13019"/>
                  </a:lnTo>
                  <a:lnTo>
                    <a:pt x="6238" y="6238"/>
                  </a:lnTo>
                  <a:lnTo>
                    <a:pt x="13019" y="1672"/>
                  </a:lnTo>
                  <a:lnTo>
                    <a:pt x="21336" y="0"/>
                  </a:lnTo>
                  <a:lnTo>
                    <a:pt x="29652" y="1672"/>
                  </a:lnTo>
                  <a:lnTo>
                    <a:pt x="36433" y="6238"/>
                  </a:lnTo>
                  <a:lnTo>
                    <a:pt x="40999" y="13019"/>
                  </a:lnTo>
                  <a:lnTo>
                    <a:pt x="42672" y="21336"/>
                  </a:lnTo>
                  <a:lnTo>
                    <a:pt x="40999" y="29652"/>
                  </a:lnTo>
                  <a:lnTo>
                    <a:pt x="36433" y="36433"/>
                  </a:lnTo>
                  <a:lnTo>
                    <a:pt x="29652" y="40999"/>
                  </a:lnTo>
                  <a:lnTo>
                    <a:pt x="21336" y="42672"/>
                  </a:lnTo>
                  <a:lnTo>
                    <a:pt x="13019" y="40999"/>
                  </a:lnTo>
                  <a:lnTo>
                    <a:pt x="6238" y="36433"/>
                  </a:lnTo>
                  <a:lnTo>
                    <a:pt x="1672" y="29652"/>
                  </a:lnTo>
                  <a:lnTo>
                    <a:pt x="0" y="21336"/>
                  </a:lnTo>
                  <a:close/>
                </a:path>
              </a:pathLst>
            </a:custGeom>
            <a:ln w="6096">
              <a:solidFill>
                <a:srgbClr val="000000"/>
              </a:solidFill>
            </a:ln>
          </p:spPr>
          <p:txBody>
            <a:bodyPr wrap="square" lIns="0" tIns="0" rIns="0" bIns="0" rtlCol="0"/>
            <a:lstStyle/>
            <a:p>
              <a:endParaRPr/>
            </a:p>
          </p:txBody>
        </p:sp>
        <p:sp>
          <p:nvSpPr>
            <p:cNvPr id="48" name="object 48"/>
            <p:cNvSpPr/>
            <p:nvPr/>
          </p:nvSpPr>
          <p:spPr>
            <a:xfrm>
              <a:off x="2958083" y="2731007"/>
              <a:ext cx="171450" cy="262890"/>
            </a:xfrm>
            <a:custGeom>
              <a:avLst/>
              <a:gdLst/>
              <a:ahLst/>
              <a:cxnLst/>
              <a:rect l="l" t="t" r="r" b="b"/>
              <a:pathLst>
                <a:path w="171450" h="262889">
                  <a:moveTo>
                    <a:pt x="76962" y="0"/>
                  </a:moveTo>
                  <a:lnTo>
                    <a:pt x="69850" y="0"/>
                  </a:lnTo>
                  <a:lnTo>
                    <a:pt x="66675" y="762"/>
                  </a:lnTo>
                  <a:lnTo>
                    <a:pt x="64262" y="1650"/>
                  </a:lnTo>
                  <a:lnTo>
                    <a:pt x="61087" y="2412"/>
                  </a:lnTo>
                  <a:lnTo>
                    <a:pt x="58674" y="3937"/>
                  </a:lnTo>
                  <a:lnTo>
                    <a:pt x="55499" y="5587"/>
                  </a:lnTo>
                  <a:lnTo>
                    <a:pt x="52324" y="10287"/>
                  </a:lnTo>
                  <a:lnTo>
                    <a:pt x="50800" y="11937"/>
                  </a:lnTo>
                  <a:lnTo>
                    <a:pt x="49149" y="15112"/>
                  </a:lnTo>
                  <a:lnTo>
                    <a:pt x="47625" y="16637"/>
                  </a:lnTo>
                  <a:lnTo>
                    <a:pt x="46863" y="19812"/>
                  </a:lnTo>
                  <a:lnTo>
                    <a:pt x="762" y="123062"/>
                  </a:lnTo>
                  <a:lnTo>
                    <a:pt x="762" y="124713"/>
                  </a:lnTo>
                  <a:lnTo>
                    <a:pt x="0" y="126237"/>
                  </a:lnTo>
                  <a:lnTo>
                    <a:pt x="0" y="133476"/>
                  </a:lnTo>
                  <a:lnTo>
                    <a:pt x="1524" y="138175"/>
                  </a:lnTo>
                  <a:lnTo>
                    <a:pt x="3937" y="142112"/>
                  </a:lnTo>
                  <a:lnTo>
                    <a:pt x="7112" y="145287"/>
                  </a:lnTo>
                  <a:lnTo>
                    <a:pt x="9525" y="146176"/>
                  </a:lnTo>
                  <a:lnTo>
                    <a:pt x="11049" y="147700"/>
                  </a:lnTo>
                  <a:lnTo>
                    <a:pt x="111887" y="147700"/>
                  </a:lnTo>
                  <a:lnTo>
                    <a:pt x="111887" y="262889"/>
                  </a:lnTo>
                  <a:lnTo>
                    <a:pt x="141224" y="262889"/>
                  </a:lnTo>
                  <a:lnTo>
                    <a:pt x="141224" y="124713"/>
                  </a:lnTo>
                  <a:lnTo>
                    <a:pt x="139700" y="121538"/>
                  </a:lnTo>
                  <a:lnTo>
                    <a:pt x="139700" y="120650"/>
                  </a:lnTo>
                  <a:lnTo>
                    <a:pt x="136525" y="117475"/>
                  </a:lnTo>
                  <a:lnTo>
                    <a:pt x="131699" y="115188"/>
                  </a:lnTo>
                  <a:lnTo>
                    <a:pt x="121412" y="115188"/>
                  </a:lnTo>
                  <a:lnTo>
                    <a:pt x="67437" y="112013"/>
                  </a:lnTo>
                  <a:lnTo>
                    <a:pt x="82550" y="66675"/>
                  </a:lnTo>
                  <a:lnTo>
                    <a:pt x="93599" y="82550"/>
                  </a:lnTo>
                  <a:lnTo>
                    <a:pt x="159512" y="82550"/>
                  </a:lnTo>
                  <a:lnTo>
                    <a:pt x="161163" y="81787"/>
                  </a:lnTo>
                  <a:lnTo>
                    <a:pt x="164338" y="81787"/>
                  </a:lnTo>
                  <a:lnTo>
                    <a:pt x="165862" y="80263"/>
                  </a:lnTo>
                  <a:lnTo>
                    <a:pt x="167513" y="79375"/>
                  </a:lnTo>
                  <a:lnTo>
                    <a:pt x="168275" y="77850"/>
                  </a:lnTo>
                  <a:lnTo>
                    <a:pt x="169799" y="77088"/>
                  </a:lnTo>
                  <a:lnTo>
                    <a:pt x="170688" y="75437"/>
                  </a:lnTo>
                  <a:lnTo>
                    <a:pt x="170688" y="73913"/>
                  </a:lnTo>
                  <a:lnTo>
                    <a:pt x="171450" y="72262"/>
                  </a:lnTo>
                  <a:lnTo>
                    <a:pt x="171450" y="67563"/>
                  </a:lnTo>
                  <a:lnTo>
                    <a:pt x="169037" y="62737"/>
                  </a:lnTo>
                  <a:lnTo>
                    <a:pt x="165100" y="58800"/>
                  </a:lnTo>
                  <a:lnTo>
                    <a:pt x="163449" y="57912"/>
                  </a:lnTo>
                  <a:lnTo>
                    <a:pt x="162687" y="57150"/>
                  </a:lnTo>
                  <a:lnTo>
                    <a:pt x="108712" y="57150"/>
                  </a:lnTo>
                  <a:lnTo>
                    <a:pt x="97663" y="38862"/>
                  </a:lnTo>
                  <a:lnTo>
                    <a:pt x="99187" y="37337"/>
                  </a:lnTo>
                  <a:lnTo>
                    <a:pt x="99949" y="34925"/>
                  </a:lnTo>
                  <a:lnTo>
                    <a:pt x="99949" y="32512"/>
                  </a:lnTo>
                  <a:lnTo>
                    <a:pt x="100838" y="30225"/>
                  </a:lnTo>
                  <a:lnTo>
                    <a:pt x="100838" y="21462"/>
                  </a:lnTo>
                  <a:lnTo>
                    <a:pt x="99187" y="16637"/>
                  </a:lnTo>
                  <a:lnTo>
                    <a:pt x="98425" y="15875"/>
                  </a:lnTo>
                  <a:lnTo>
                    <a:pt x="97663" y="13462"/>
                  </a:lnTo>
                  <a:lnTo>
                    <a:pt x="95250" y="9525"/>
                  </a:lnTo>
                  <a:lnTo>
                    <a:pt x="93599" y="8000"/>
                  </a:lnTo>
                  <a:lnTo>
                    <a:pt x="91313" y="6350"/>
                  </a:lnTo>
                  <a:lnTo>
                    <a:pt x="89662" y="4825"/>
                  </a:lnTo>
                  <a:lnTo>
                    <a:pt x="87249" y="3175"/>
                  </a:lnTo>
                  <a:lnTo>
                    <a:pt x="84963" y="2412"/>
                  </a:lnTo>
                  <a:lnTo>
                    <a:pt x="82550" y="762"/>
                  </a:lnTo>
                  <a:lnTo>
                    <a:pt x="79375" y="762"/>
                  </a:lnTo>
                  <a:lnTo>
                    <a:pt x="76962" y="0"/>
                  </a:lnTo>
                  <a:close/>
                </a:path>
              </a:pathLst>
            </a:custGeom>
            <a:solidFill>
              <a:srgbClr val="FB0028"/>
            </a:solidFill>
          </p:spPr>
          <p:txBody>
            <a:bodyPr wrap="square" lIns="0" tIns="0" rIns="0" bIns="0" rtlCol="0"/>
            <a:lstStyle/>
            <a:p>
              <a:endParaRPr/>
            </a:p>
          </p:txBody>
        </p:sp>
        <p:sp>
          <p:nvSpPr>
            <p:cNvPr id="49" name="object 49"/>
            <p:cNvSpPr/>
            <p:nvPr/>
          </p:nvSpPr>
          <p:spPr>
            <a:xfrm>
              <a:off x="2272283" y="2778620"/>
              <a:ext cx="252729" cy="252729"/>
            </a:xfrm>
            <a:custGeom>
              <a:avLst/>
              <a:gdLst/>
              <a:ahLst/>
              <a:cxnLst/>
              <a:rect l="l" t="t" r="r" b="b"/>
              <a:pathLst>
                <a:path w="252730" h="252730">
                  <a:moveTo>
                    <a:pt x="252615" y="0"/>
                  </a:moveTo>
                  <a:lnTo>
                    <a:pt x="0" y="0"/>
                  </a:lnTo>
                  <a:lnTo>
                    <a:pt x="0" y="252615"/>
                  </a:lnTo>
                  <a:lnTo>
                    <a:pt x="252615" y="252615"/>
                  </a:lnTo>
                  <a:lnTo>
                    <a:pt x="252615" y="0"/>
                  </a:lnTo>
                  <a:close/>
                </a:path>
              </a:pathLst>
            </a:custGeom>
            <a:solidFill>
              <a:srgbClr val="F6BE69"/>
            </a:solidFill>
          </p:spPr>
          <p:txBody>
            <a:bodyPr wrap="square" lIns="0" tIns="0" rIns="0" bIns="0" rtlCol="0"/>
            <a:lstStyle/>
            <a:p>
              <a:endParaRPr/>
            </a:p>
          </p:txBody>
        </p:sp>
        <p:sp>
          <p:nvSpPr>
            <p:cNvPr id="50" name="object 50"/>
            <p:cNvSpPr/>
            <p:nvPr/>
          </p:nvSpPr>
          <p:spPr>
            <a:xfrm>
              <a:off x="2524886" y="2694431"/>
              <a:ext cx="84455" cy="337185"/>
            </a:xfrm>
            <a:custGeom>
              <a:avLst/>
              <a:gdLst/>
              <a:ahLst/>
              <a:cxnLst/>
              <a:rect l="l" t="t" r="r" b="b"/>
              <a:pathLst>
                <a:path w="84455" h="337185">
                  <a:moveTo>
                    <a:pt x="84200" y="0"/>
                  </a:moveTo>
                  <a:lnTo>
                    <a:pt x="0" y="84200"/>
                  </a:lnTo>
                  <a:lnTo>
                    <a:pt x="0" y="336803"/>
                  </a:lnTo>
                  <a:lnTo>
                    <a:pt x="84200" y="252602"/>
                  </a:lnTo>
                  <a:lnTo>
                    <a:pt x="84200" y="0"/>
                  </a:lnTo>
                  <a:close/>
                </a:path>
              </a:pathLst>
            </a:custGeom>
            <a:solidFill>
              <a:srgbClr val="C59A53"/>
            </a:solidFill>
          </p:spPr>
          <p:txBody>
            <a:bodyPr wrap="square" lIns="0" tIns="0" rIns="0" bIns="0" rtlCol="0"/>
            <a:lstStyle/>
            <a:p>
              <a:endParaRPr/>
            </a:p>
          </p:txBody>
        </p:sp>
        <p:sp>
          <p:nvSpPr>
            <p:cNvPr id="51" name="object 51"/>
            <p:cNvSpPr/>
            <p:nvPr/>
          </p:nvSpPr>
          <p:spPr>
            <a:xfrm>
              <a:off x="2272283" y="2694431"/>
              <a:ext cx="337185" cy="84455"/>
            </a:xfrm>
            <a:custGeom>
              <a:avLst/>
              <a:gdLst/>
              <a:ahLst/>
              <a:cxnLst/>
              <a:rect l="l" t="t" r="r" b="b"/>
              <a:pathLst>
                <a:path w="337185" h="84455">
                  <a:moveTo>
                    <a:pt x="336804" y="0"/>
                  </a:moveTo>
                  <a:lnTo>
                    <a:pt x="84201" y="0"/>
                  </a:lnTo>
                  <a:lnTo>
                    <a:pt x="0" y="84200"/>
                  </a:lnTo>
                  <a:lnTo>
                    <a:pt x="252603" y="84200"/>
                  </a:lnTo>
                  <a:lnTo>
                    <a:pt x="336804" y="0"/>
                  </a:lnTo>
                  <a:close/>
                </a:path>
              </a:pathLst>
            </a:custGeom>
            <a:solidFill>
              <a:srgbClr val="F8CC85"/>
            </a:solidFill>
          </p:spPr>
          <p:txBody>
            <a:bodyPr wrap="square" lIns="0" tIns="0" rIns="0" bIns="0" rtlCol="0"/>
            <a:lstStyle/>
            <a:p>
              <a:endParaRPr/>
            </a:p>
          </p:txBody>
        </p:sp>
        <p:sp>
          <p:nvSpPr>
            <p:cNvPr id="52" name="object 52"/>
            <p:cNvSpPr/>
            <p:nvPr/>
          </p:nvSpPr>
          <p:spPr>
            <a:xfrm>
              <a:off x="2272283" y="2694431"/>
              <a:ext cx="337185" cy="337185"/>
            </a:xfrm>
            <a:custGeom>
              <a:avLst/>
              <a:gdLst/>
              <a:ahLst/>
              <a:cxnLst/>
              <a:rect l="l" t="t" r="r" b="b"/>
              <a:pathLst>
                <a:path w="337185" h="337185">
                  <a:moveTo>
                    <a:pt x="0" y="84200"/>
                  </a:moveTo>
                  <a:lnTo>
                    <a:pt x="84201" y="0"/>
                  </a:lnTo>
                  <a:lnTo>
                    <a:pt x="336804" y="0"/>
                  </a:lnTo>
                  <a:lnTo>
                    <a:pt x="336804" y="252602"/>
                  </a:lnTo>
                  <a:lnTo>
                    <a:pt x="252603" y="336803"/>
                  </a:lnTo>
                  <a:lnTo>
                    <a:pt x="0" y="336803"/>
                  </a:lnTo>
                  <a:lnTo>
                    <a:pt x="0" y="84200"/>
                  </a:lnTo>
                  <a:close/>
                </a:path>
                <a:path w="337185" h="337185">
                  <a:moveTo>
                    <a:pt x="0" y="84200"/>
                  </a:moveTo>
                  <a:lnTo>
                    <a:pt x="252603" y="84200"/>
                  </a:lnTo>
                  <a:lnTo>
                    <a:pt x="336804" y="0"/>
                  </a:lnTo>
                </a:path>
                <a:path w="337185" h="337185">
                  <a:moveTo>
                    <a:pt x="252603" y="84200"/>
                  </a:moveTo>
                  <a:lnTo>
                    <a:pt x="252603" y="336803"/>
                  </a:lnTo>
                </a:path>
              </a:pathLst>
            </a:custGeom>
            <a:ln w="6096">
              <a:solidFill>
                <a:srgbClr val="000000"/>
              </a:solidFill>
            </a:ln>
          </p:spPr>
          <p:txBody>
            <a:bodyPr wrap="square" lIns="0" tIns="0" rIns="0" bIns="0" rtlCol="0"/>
            <a:lstStyle/>
            <a:p>
              <a:endParaRPr/>
            </a:p>
          </p:txBody>
        </p:sp>
        <p:sp>
          <p:nvSpPr>
            <p:cNvPr id="53" name="object 53"/>
            <p:cNvSpPr/>
            <p:nvPr/>
          </p:nvSpPr>
          <p:spPr>
            <a:xfrm>
              <a:off x="2348483" y="2649470"/>
              <a:ext cx="243204" cy="52705"/>
            </a:xfrm>
            <a:custGeom>
              <a:avLst/>
              <a:gdLst/>
              <a:ahLst/>
              <a:cxnLst/>
              <a:rect l="l" t="t" r="r" b="b"/>
              <a:pathLst>
                <a:path w="243205" h="52705">
                  <a:moveTo>
                    <a:pt x="243078" y="0"/>
                  </a:moveTo>
                  <a:lnTo>
                    <a:pt x="0" y="0"/>
                  </a:lnTo>
                  <a:lnTo>
                    <a:pt x="0" y="52581"/>
                  </a:lnTo>
                  <a:lnTo>
                    <a:pt x="243078" y="52581"/>
                  </a:lnTo>
                  <a:lnTo>
                    <a:pt x="243078" y="0"/>
                  </a:lnTo>
                  <a:close/>
                </a:path>
              </a:pathLst>
            </a:custGeom>
            <a:solidFill>
              <a:srgbClr val="F6BE69"/>
            </a:solidFill>
          </p:spPr>
          <p:txBody>
            <a:bodyPr wrap="square" lIns="0" tIns="0" rIns="0" bIns="0" rtlCol="0"/>
            <a:lstStyle/>
            <a:p>
              <a:endParaRPr/>
            </a:p>
          </p:txBody>
        </p:sp>
        <p:sp>
          <p:nvSpPr>
            <p:cNvPr id="54" name="object 54"/>
            <p:cNvSpPr/>
            <p:nvPr/>
          </p:nvSpPr>
          <p:spPr>
            <a:xfrm>
              <a:off x="2591561" y="2631947"/>
              <a:ext cx="17780" cy="70485"/>
            </a:xfrm>
            <a:custGeom>
              <a:avLst/>
              <a:gdLst/>
              <a:ahLst/>
              <a:cxnLst/>
              <a:rect l="l" t="t" r="r" b="b"/>
              <a:pathLst>
                <a:path w="17780" h="70485">
                  <a:moveTo>
                    <a:pt x="17525" y="0"/>
                  </a:moveTo>
                  <a:lnTo>
                    <a:pt x="0" y="17525"/>
                  </a:lnTo>
                  <a:lnTo>
                    <a:pt x="0" y="70103"/>
                  </a:lnTo>
                  <a:lnTo>
                    <a:pt x="17525" y="52577"/>
                  </a:lnTo>
                  <a:lnTo>
                    <a:pt x="17525" y="0"/>
                  </a:lnTo>
                  <a:close/>
                </a:path>
              </a:pathLst>
            </a:custGeom>
            <a:solidFill>
              <a:srgbClr val="C59A53"/>
            </a:solidFill>
          </p:spPr>
          <p:txBody>
            <a:bodyPr wrap="square" lIns="0" tIns="0" rIns="0" bIns="0" rtlCol="0"/>
            <a:lstStyle/>
            <a:p>
              <a:endParaRPr/>
            </a:p>
          </p:txBody>
        </p:sp>
        <p:sp>
          <p:nvSpPr>
            <p:cNvPr id="55" name="object 55"/>
            <p:cNvSpPr/>
            <p:nvPr/>
          </p:nvSpPr>
          <p:spPr>
            <a:xfrm>
              <a:off x="2348483" y="2631947"/>
              <a:ext cx="260985" cy="17780"/>
            </a:xfrm>
            <a:custGeom>
              <a:avLst/>
              <a:gdLst/>
              <a:ahLst/>
              <a:cxnLst/>
              <a:rect l="l" t="t" r="r" b="b"/>
              <a:pathLst>
                <a:path w="260985" h="17780">
                  <a:moveTo>
                    <a:pt x="260604" y="0"/>
                  </a:moveTo>
                  <a:lnTo>
                    <a:pt x="17526" y="0"/>
                  </a:lnTo>
                  <a:lnTo>
                    <a:pt x="0" y="17525"/>
                  </a:lnTo>
                  <a:lnTo>
                    <a:pt x="243078" y="17525"/>
                  </a:lnTo>
                  <a:lnTo>
                    <a:pt x="260604" y="0"/>
                  </a:lnTo>
                  <a:close/>
                </a:path>
              </a:pathLst>
            </a:custGeom>
            <a:solidFill>
              <a:srgbClr val="F8CC85"/>
            </a:solidFill>
          </p:spPr>
          <p:txBody>
            <a:bodyPr wrap="square" lIns="0" tIns="0" rIns="0" bIns="0" rtlCol="0"/>
            <a:lstStyle/>
            <a:p>
              <a:endParaRPr/>
            </a:p>
          </p:txBody>
        </p:sp>
        <p:sp>
          <p:nvSpPr>
            <p:cNvPr id="56" name="object 56"/>
            <p:cNvSpPr/>
            <p:nvPr/>
          </p:nvSpPr>
          <p:spPr>
            <a:xfrm>
              <a:off x="2348483" y="2631947"/>
              <a:ext cx="260985" cy="70485"/>
            </a:xfrm>
            <a:custGeom>
              <a:avLst/>
              <a:gdLst/>
              <a:ahLst/>
              <a:cxnLst/>
              <a:rect l="l" t="t" r="r" b="b"/>
              <a:pathLst>
                <a:path w="260985" h="70485">
                  <a:moveTo>
                    <a:pt x="0" y="17525"/>
                  </a:moveTo>
                  <a:lnTo>
                    <a:pt x="17526" y="0"/>
                  </a:lnTo>
                  <a:lnTo>
                    <a:pt x="260604" y="0"/>
                  </a:lnTo>
                  <a:lnTo>
                    <a:pt x="260604" y="52577"/>
                  </a:lnTo>
                  <a:lnTo>
                    <a:pt x="243078" y="70103"/>
                  </a:lnTo>
                  <a:lnTo>
                    <a:pt x="0" y="70103"/>
                  </a:lnTo>
                  <a:lnTo>
                    <a:pt x="0" y="17525"/>
                  </a:lnTo>
                  <a:close/>
                </a:path>
                <a:path w="260985" h="70485">
                  <a:moveTo>
                    <a:pt x="0" y="17525"/>
                  </a:moveTo>
                  <a:lnTo>
                    <a:pt x="243078" y="17525"/>
                  </a:lnTo>
                  <a:lnTo>
                    <a:pt x="260604" y="0"/>
                  </a:lnTo>
                </a:path>
                <a:path w="260985" h="70485">
                  <a:moveTo>
                    <a:pt x="243078" y="17525"/>
                  </a:moveTo>
                  <a:lnTo>
                    <a:pt x="243078" y="70103"/>
                  </a:lnTo>
                </a:path>
              </a:pathLst>
            </a:custGeom>
            <a:ln w="6096">
              <a:solidFill>
                <a:srgbClr val="000000"/>
              </a:solidFill>
            </a:ln>
          </p:spPr>
          <p:txBody>
            <a:bodyPr wrap="square" lIns="0" tIns="0" rIns="0" bIns="0" rtlCol="0"/>
            <a:lstStyle/>
            <a:p>
              <a:endParaRPr/>
            </a:p>
          </p:txBody>
        </p:sp>
        <p:sp>
          <p:nvSpPr>
            <p:cNvPr id="57" name="object 57"/>
            <p:cNvSpPr/>
            <p:nvPr/>
          </p:nvSpPr>
          <p:spPr>
            <a:xfrm>
              <a:off x="2339339" y="2723388"/>
              <a:ext cx="177165" cy="26034"/>
            </a:xfrm>
            <a:custGeom>
              <a:avLst/>
              <a:gdLst/>
              <a:ahLst/>
              <a:cxnLst/>
              <a:rect l="l" t="t" r="r" b="b"/>
              <a:pathLst>
                <a:path w="177164" h="26035">
                  <a:moveTo>
                    <a:pt x="176784" y="0"/>
                  </a:moveTo>
                  <a:lnTo>
                    <a:pt x="45339" y="0"/>
                  </a:lnTo>
                  <a:lnTo>
                    <a:pt x="0" y="25908"/>
                  </a:lnTo>
                  <a:lnTo>
                    <a:pt x="131445" y="25908"/>
                  </a:lnTo>
                  <a:lnTo>
                    <a:pt x="176784" y="0"/>
                  </a:lnTo>
                  <a:close/>
                </a:path>
              </a:pathLst>
            </a:custGeom>
            <a:solidFill>
              <a:srgbClr val="F6BE69"/>
            </a:solidFill>
          </p:spPr>
          <p:txBody>
            <a:bodyPr wrap="square" lIns="0" tIns="0" rIns="0" bIns="0" rtlCol="0"/>
            <a:lstStyle/>
            <a:p>
              <a:endParaRPr/>
            </a:p>
          </p:txBody>
        </p:sp>
        <p:sp>
          <p:nvSpPr>
            <p:cNvPr id="58" name="object 58"/>
            <p:cNvSpPr/>
            <p:nvPr/>
          </p:nvSpPr>
          <p:spPr>
            <a:xfrm>
              <a:off x="2339339" y="2723388"/>
              <a:ext cx="177165" cy="26034"/>
            </a:xfrm>
            <a:custGeom>
              <a:avLst/>
              <a:gdLst/>
              <a:ahLst/>
              <a:cxnLst/>
              <a:rect l="l" t="t" r="r" b="b"/>
              <a:pathLst>
                <a:path w="177164" h="26035">
                  <a:moveTo>
                    <a:pt x="0" y="25908"/>
                  </a:moveTo>
                  <a:lnTo>
                    <a:pt x="45339" y="0"/>
                  </a:lnTo>
                  <a:lnTo>
                    <a:pt x="176784" y="0"/>
                  </a:lnTo>
                  <a:lnTo>
                    <a:pt x="131445" y="25908"/>
                  </a:lnTo>
                  <a:lnTo>
                    <a:pt x="0" y="25908"/>
                  </a:lnTo>
                  <a:close/>
                </a:path>
              </a:pathLst>
            </a:custGeom>
            <a:ln w="12192">
              <a:solidFill>
                <a:srgbClr val="000000"/>
              </a:solidFill>
            </a:ln>
          </p:spPr>
          <p:txBody>
            <a:bodyPr wrap="square" lIns="0" tIns="0" rIns="0" bIns="0" rtlCol="0"/>
            <a:lstStyle/>
            <a:p>
              <a:endParaRPr/>
            </a:p>
          </p:txBody>
        </p:sp>
        <p:sp>
          <p:nvSpPr>
            <p:cNvPr id="59" name="object 59"/>
            <p:cNvSpPr/>
            <p:nvPr/>
          </p:nvSpPr>
          <p:spPr>
            <a:xfrm>
              <a:off x="2532887" y="2663951"/>
              <a:ext cx="44450" cy="24765"/>
            </a:xfrm>
            <a:custGeom>
              <a:avLst/>
              <a:gdLst/>
              <a:ahLst/>
              <a:cxnLst/>
              <a:rect l="l" t="t" r="r" b="b"/>
              <a:pathLst>
                <a:path w="44450" h="24764">
                  <a:moveTo>
                    <a:pt x="34289" y="0"/>
                  </a:moveTo>
                  <a:lnTo>
                    <a:pt x="9906" y="0"/>
                  </a:lnTo>
                  <a:lnTo>
                    <a:pt x="0" y="5461"/>
                  </a:lnTo>
                  <a:lnTo>
                    <a:pt x="0" y="12192"/>
                  </a:lnTo>
                  <a:lnTo>
                    <a:pt x="0" y="18923"/>
                  </a:lnTo>
                  <a:lnTo>
                    <a:pt x="9906" y="24384"/>
                  </a:lnTo>
                  <a:lnTo>
                    <a:pt x="34289" y="24384"/>
                  </a:lnTo>
                  <a:lnTo>
                    <a:pt x="44195" y="18923"/>
                  </a:lnTo>
                  <a:lnTo>
                    <a:pt x="44195" y="5461"/>
                  </a:lnTo>
                  <a:lnTo>
                    <a:pt x="34289" y="0"/>
                  </a:lnTo>
                  <a:close/>
                </a:path>
              </a:pathLst>
            </a:custGeom>
            <a:solidFill>
              <a:srgbClr val="FFFFFF"/>
            </a:solidFill>
          </p:spPr>
          <p:txBody>
            <a:bodyPr wrap="square" lIns="0" tIns="0" rIns="0" bIns="0" rtlCol="0"/>
            <a:lstStyle/>
            <a:p>
              <a:endParaRPr/>
            </a:p>
          </p:txBody>
        </p:sp>
        <p:sp>
          <p:nvSpPr>
            <p:cNvPr id="60" name="object 60"/>
            <p:cNvSpPr/>
            <p:nvPr/>
          </p:nvSpPr>
          <p:spPr>
            <a:xfrm>
              <a:off x="2532887" y="2663951"/>
              <a:ext cx="44450" cy="24765"/>
            </a:xfrm>
            <a:custGeom>
              <a:avLst/>
              <a:gdLst/>
              <a:ahLst/>
              <a:cxnLst/>
              <a:rect l="l" t="t" r="r" b="b"/>
              <a:pathLst>
                <a:path w="44450" h="24764">
                  <a:moveTo>
                    <a:pt x="0" y="12192"/>
                  </a:moveTo>
                  <a:lnTo>
                    <a:pt x="0" y="5461"/>
                  </a:lnTo>
                  <a:lnTo>
                    <a:pt x="9906" y="0"/>
                  </a:lnTo>
                  <a:lnTo>
                    <a:pt x="22098" y="0"/>
                  </a:lnTo>
                  <a:lnTo>
                    <a:pt x="34289" y="0"/>
                  </a:lnTo>
                  <a:lnTo>
                    <a:pt x="44195" y="5461"/>
                  </a:lnTo>
                  <a:lnTo>
                    <a:pt x="44195" y="12192"/>
                  </a:lnTo>
                  <a:lnTo>
                    <a:pt x="44195" y="18923"/>
                  </a:lnTo>
                  <a:lnTo>
                    <a:pt x="34289" y="24384"/>
                  </a:lnTo>
                  <a:lnTo>
                    <a:pt x="22098" y="24384"/>
                  </a:lnTo>
                  <a:lnTo>
                    <a:pt x="9906" y="24384"/>
                  </a:lnTo>
                  <a:lnTo>
                    <a:pt x="0" y="18923"/>
                  </a:lnTo>
                  <a:lnTo>
                    <a:pt x="0" y="12192"/>
                  </a:lnTo>
                  <a:close/>
                </a:path>
              </a:pathLst>
            </a:custGeom>
            <a:ln w="6096">
              <a:solidFill>
                <a:srgbClr val="000000"/>
              </a:solidFill>
            </a:ln>
          </p:spPr>
          <p:txBody>
            <a:bodyPr wrap="square" lIns="0" tIns="0" rIns="0" bIns="0" rtlCol="0"/>
            <a:lstStyle/>
            <a:p>
              <a:endParaRPr/>
            </a:p>
          </p:txBody>
        </p:sp>
      </p:grpSp>
      <p:grpSp>
        <p:nvGrpSpPr>
          <p:cNvPr id="61" name="object 61"/>
          <p:cNvGrpSpPr/>
          <p:nvPr/>
        </p:nvGrpSpPr>
        <p:grpSpPr>
          <a:xfrm>
            <a:off x="3259835" y="3086100"/>
            <a:ext cx="1019810" cy="405765"/>
            <a:chOff x="3259835" y="3086100"/>
            <a:chExt cx="1019810" cy="405765"/>
          </a:xfrm>
        </p:grpSpPr>
        <p:sp>
          <p:nvSpPr>
            <p:cNvPr id="62" name="object 62"/>
            <p:cNvSpPr/>
            <p:nvPr/>
          </p:nvSpPr>
          <p:spPr>
            <a:xfrm>
              <a:off x="3605783" y="3235820"/>
              <a:ext cx="252729" cy="252729"/>
            </a:xfrm>
            <a:custGeom>
              <a:avLst/>
              <a:gdLst/>
              <a:ahLst/>
              <a:cxnLst/>
              <a:rect l="l" t="t" r="r" b="b"/>
              <a:pathLst>
                <a:path w="252729" h="252729">
                  <a:moveTo>
                    <a:pt x="252615" y="0"/>
                  </a:moveTo>
                  <a:lnTo>
                    <a:pt x="0" y="0"/>
                  </a:lnTo>
                  <a:lnTo>
                    <a:pt x="0" y="252615"/>
                  </a:lnTo>
                  <a:lnTo>
                    <a:pt x="252615" y="252615"/>
                  </a:lnTo>
                  <a:lnTo>
                    <a:pt x="252615" y="0"/>
                  </a:lnTo>
                  <a:close/>
                </a:path>
              </a:pathLst>
            </a:custGeom>
            <a:solidFill>
              <a:srgbClr val="A1C1FD"/>
            </a:solidFill>
          </p:spPr>
          <p:txBody>
            <a:bodyPr wrap="square" lIns="0" tIns="0" rIns="0" bIns="0" rtlCol="0"/>
            <a:lstStyle/>
            <a:p>
              <a:endParaRPr/>
            </a:p>
          </p:txBody>
        </p:sp>
        <p:sp>
          <p:nvSpPr>
            <p:cNvPr id="63" name="object 63"/>
            <p:cNvSpPr/>
            <p:nvPr/>
          </p:nvSpPr>
          <p:spPr>
            <a:xfrm>
              <a:off x="3858386" y="3151631"/>
              <a:ext cx="84455" cy="337185"/>
            </a:xfrm>
            <a:custGeom>
              <a:avLst/>
              <a:gdLst/>
              <a:ahLst/>
              <a:cxnLst/>
              <a:rect l="l" t="t" r="r" b="b"/>
              <a:pathLst>
                <a:path w="84454" h="337185">
                  <a:moveTo>
                    <a:pt x="84200" y="0"/>
                  </a:moveTo>
                  <a:lnTo>
                    <a:pt x="0" y="84200"/>
                  </a:lnTo>
                  <a:lnTo>
                    <a:pt x="0" y="336803"/>
                  </a:lnTo>
                  <a:lnTo>
                    <a:pt x="84200" y="252602"/>
                  </a:lnTo>
                  <a:lnTo>
                    <a:pt x="84200" y="0"/>
                  </a:lnTo>
                  <a:close/>
                </a:path>
              </a:pathLst>
            </a:custGeom>
            <a:solidFill>
              <a:srgbClr val="829BCC"/>
            </a:solidFill>
          </p:spPr>
          <p:txBody>
            <a:bodyPr wrap="square" lIns="0" tIns="0" rIns="0" bIns="0" rtlCol="0"/>
            <a:lstStyle/>
            <a:p>
              <a:endParaRPr/>
            </a:p>
          </p:txBody>
        </p:sp>
        <p:sp>
          <p:nvSpPr>
            <p:cNvPr id="64" name="object 64"/>
            <p:cNvSpPr/>
            <p:nvPr/>
          </p:nvSpPr>
          <p:spPr>
            <a:xfrm>
              <a:off x="3605783" y="3151631"/>
              <a:ext cx="337185" cy="84455"/>
            </a:xfrm>
            <a:custGeom>
              <a:avLst/>
              <a:gdLst/>
              <a:ahLst/>
              <a:cxnLst/>
              <a:rect l="l" t="t" r="r" b="b"/>
              <a:pathLst>
                <a:path w="337185" h="84455">
                  <a:moveTo>
                    <a:pt x="336803" y="0"/>
                  </a:moveTo>
                  <a:lnTo>
                    <a:pt x="84200" y="0"/>
                  </a:lnTo>
                  <a:lnTo>
                    <a:pt x="0" y="84200"/>
                  </a:lnTo>
                  <a:lnTo>
                    <a:pt x="252602" y="84200"/>
                  </a:lnTo>
                  <a:lnTo>
                    <a:pt x="336803" y="0"/>
                  </a:lnTo>
                  <a:close/>
                </a:path>
              </a:pathLst>
            </a:custGeom>
            <a:solidFill>
              <a:srgbClr val="B4CDFD"/>
            </a:solidFill>
          </p:spPr>
          <p:txBody>
            <a:bodyPr wrap="square" lIns="0" tIns="0" rIns="0" bIns="0" rtlCol="0"/>
            <a:lstStyle/>
            <a:p>
              <a:endParaRPr/>
            </a:p>
          </p:txBody>
        </p:sp>
        <p:sp>
          <p:nvSpPr>
            <p:cNvPr id="65" name="object 65"/>
            <p:cNvSpPr/>
            <p:nvPr/>
          </p:nvSpPr>
          <p:spPr>
            <a:xfrm>
              <a:off x="3605783" y="3151631"/>
              <a:ext cx="337185" cy="337185"/>
            </a:xfrm>
            <a:custGeom>
              <a:avLst/>
              <a:gdLst/>
              <a:ahLst/>
              <a:cxnLst/>
              <a:rect l="l" t="t" r="r" b="b"/>
              <a:pathLst>
                <a:path w="337185" h="337185">
                  <a:moveTo>
                    <a:pt x="0" y="84200"/>
                  </a:moveTo>
                  <a:lnTo>
                    <a:pt x="84200" y="0"/>
                  </a:lnTo>
                  <a:lnTo>
                    <a:pt x="336803" y="0"/>
                  </a:lnTo>
                  <a:lnTo>
                    <a:pt x="336803" y="252602"/>
                  </a:lnTo>
                  <a:lnTo>
                    <a:pt x="252602" y="336803"/>
                  </a:lnTo>
                  <a:lnTo>
                    <a:pt x="0" y="336803"/>
                  </a:lnTo>
                  <a:lnTo>
                    <a:pt x="0" y="84200"/>
                  </a:lnTo>
                  <a:close/>
                </a:path>
                <a:path w="337185" h="337185">
                  <a:moveTo>
                    <a:pt x="0" y="84200"/>
                  </a:moveTo>
                  <a:lnTo>
                    <a:pt x="252602" y="84200"/>
                  </a:lnTo>
                  <a:lnTo>
                    <a:pt x="336803" y="0"/>
                  </a:lnTo>
                </a:path>
                <a:path w="337185" h="337185">
                  <a:moveTo>
                    <a:pt x="252602" y="84200"/>
                  </a:moveTo>
                  <a:lnTo>
                    <a:pt x="252602" y="336803"/>
                  </a:lnTo>
                </a:path>
              </a:pathLst>
            </a:custGeom>
            <a:ln w="6096">
              <a:solidFill>
                <a:srgbClr val="000000"/>
              </a:solidFill>
            </a:ln>
          </p:spPr>
          <p:txBody>
            <a:bodyPr wrap="square" lIns="0" tIns="0" rIns="0" bIns="0" rtlCol="0"/>
            <a:lstStyle/>
            <a:p>
              <a:endParaRPr/>
            </a:p>
          </p:txBody>
        </p:sp>
        <p:sp>
          <p:nvSpPr>
            <p:cNvPr id="66" name="object 66"/>
            <p:cNvSpPr/>
            <p:nvPr/>
          </p:nvSpPr>
          <p:spPr>
            <a:xfrm>
              <a:off x="3681983" y="3106670"/>
              <a:ext cx="243204" cy="52705"/>
            </a:xfrm>
            <a:custGeom>
              <a:avLst/>
              <a:gdLst/>
              <a:ahLst/>
              <a:cxnLst/>
              <a:rect l="l" t="t" r="r" b="b"/>
              <a:pathLst>
                <a:path w="243204" h="52705">
                  <a:moveTo>
                    <a:pt x="243077" y="0"/>
                  </a:moveTo>
                  <a:lnTo>
                    <a:pt x="0" y="0"/>
                  </a:lnTo>
                  <a:lnTo>
                    <a:pt x="0" y="52581"/>
                  </a:lnTo>
                  <a:lnTo>
                    <a:pt x="243077" y="52581"/>
                  </a:lnTo>
                  <a:lnTo>
                    <a:pt x="243077" y="0"/>
                  </a:lnTo>
                  <a:close/>
                </a:path>
              </a:pathLst>
            </a:custGeom>
            <a:solidFill>
              <a:srgbClr val="A1C1FD"/>
            </a:solidFill>
          </p:spPr>
          <p:txBody>
            <a:bodyPr wrap="square" lIns="0" tIns="0" rIns="0" bIns="0" rtlCol="0"/>
            <a:lstStyle/>
            <a:p>
              <a:endParaRPr/>
            </a:p>
          </p:txBody>
        </p:sp>
        <p:sp>
          <p:nvSpPr>
            <p:cNvPr id="67" name="object 67"/>
            <p:cNvSpPr/>
            <p:nvPr/>
          </p:nvSpPr>
          <p:spPr>
            <a:xfrm>
              <a:off x="3925061" y="3089147"/>
              <a:ext cx="17780" cy="70485"/>
            </a:xfrm>
            <a:custGeom>
              <a:avLst/>
              <a:gdLst/>
              <a:ahLst/>
              <a:cxnLst/>
              <a:rect l="l" t="t" r="r" b="b"/>
              <a:pathLst>
                <a:path w="17779" h="70485">
                  <a:moveTo>
                    <a:pt x="17525" y="0"/>
                  </a:moveTo>
                  <a:lnTo>
                    <a:pt x="0" y="17525"/>
                  </a:lnTo>
                  <a:lnTo>
                    <a:pt x="0" y="70103"/>
                  </a:lnTo>
                  <a:lnTo>
                    <a:pt x="17525" y="52577"/>
                  </a:lnTo>
                  <a:lnTo>
                    <a:pt x="17525" y="0"/>
                  </a:lnTo>
                  <a:close/>
                </a:path>
              </a:pathLst>
            </a:custGeom>
            <a:solidFill>
              <a:srgbClr val="829BCC"/>
            </a:solidFill>
          </p:spPr>
          <p:txBody>
            <a:bodyPr wrap="square" lIns="0" tIns="0" rIns="0" bIns="0" rtlCol="0"/>
            <a:lstStyle/>
            <a:p>
              <a:endParaRPr/>
            </a:p>
          </p:txBody>
        </p:sp>
        <p:sp>
          <p:nvSpPr>
            <p:cNvPr id="68" name="object 68"/>
            <p:cNvSpPr/>
            <p:nvPr/>
          </p:nvSpPr>
          <p:spPr>
            <a:xfrm>
              <a:off x="3681983" y="3089147"/>
              <a:ext cx="260985" cy="17780"/>
            </a:xfrm>
            <a:custGeom>
              <a:avLst/>
              <a:gdLst/>
              <a:ahLst/>
              <a:cxnLst/>
              <a:rect l="l" t="t" r="r" b="b"/>
              <a:pathLst>
                <a:path w="260985" h="17780">
                  <a:moveTo>
                    <a:pt x="260603" y="0"/>
                  </a:moveTo>
                  <a:lnTo>
                    <a:pt x="17525" y="0"/>
                  </a:lnTo>
                  <a:lnTo>
                    <a:pt x="0" y="17525"/>
                  </a:lnTo>
                  <a:lnTo>
                    <a:pt x="243077" y="17525"/>
                  </a:lnTo>
                  <a:lnTo>
                    <a:pt x="260603" y="0"/>
                  </a:lnTo>
                  <a:close/>
                </a:path>
              </a:pathLst>
            </a:custGeom>
            <a:solidFill>
              <a:srgbClr val="B4CDFD"/>
            </a:solidFill>
          </p:spPr>
          <p:txBody>
            <a:bodyPr wrap="square" lIns="0" tIns="0" rIns="0" bIns="0" rtlCol="0"/>
            <a:lstStyle/>
            <a:p>
              <a:endParaRPr/>
            </a:p>
          </p:txBody>
        </p:sp>
        <p:sp>
          <p:nvSpPr>
            <p:cNvPr id="69" name="object 69"/>
            <p:cNvSpPr/>
            <p:nvPr/>
          </p:nvSpPr>
          <p:spPr>
            <a:xfrm>
              <a:off x="3681983" y="3089147"/>
              <a:ext cx="260985" cy="70485"/>
            </a:xfrm>
            <a:custGeom>
              <a:avLst/>
              <a:gdLst/>
              <a:ahLst/>
              <a:cxnLst/>
              <a:rect l="l" t="t" r="r" b="b"/>
              <a:pathLst>
                <a:path w="260985" h="70485">
                  <a:moveTo>
                    <a:pt x="0" y="17525"/>
                  </a:moveTo>
                  <a:lnTo>
                    <a:pt x="17525" y="0"/>
                  </a:lnTo>
                  <a:lnTo>
                    <a:pt x="260603" y="0"/>
                  </a:lnTo>
                  <a:lnTo>
                    <a:pt x="260603" y="52577"/>
                  </a:lnTo>
                  <a:lnTo>
                    <a:pt x="243077" y="70103"/>
                  </a:lnTo>
                  <a:lnTo>
                    <a:pt x="0" y="70103"/>
                  </a:lnTo>
                  <a:lnTo>
                    <a:pt x="0" y="17525"/>
                  </a:lnTo>
                  <a:close/>
                </a:path>
                <a:path w="260985" h="70485">
                  <a:moveTo>
                    <a:pt x="0" y="17525"/>
                  </a:moveTo>
                  <a:lnTo>
                    <a:pt x="243077" y="17525"/>
                  </a:lnTo>
                  <a:lnTo>
                    <a:pt x="260603" y="0"/>
                  </a:lnTo>
                </a:path>
                <a:path w="260985" h="70485">
                  <a:moveTo>
                    <a:pt x="243077" y="17525"/>
                  </a:moveTo>
                  <a:lnTo>
                    <a:pt x="243077" y="70103"/>
                  </a:lnTo>
                </a:path>
              </a:pathLst>
            </a:custGeom>
            <a:ln w="6096">
              <a:solidFill>
                <a:srgbClr val="000000"/>
              </a:solidFill>
            </a:ln>
          </p:spPr>
          <p:txBody>
            <a:bodyPr wrap="square" lIns="0" tIns="0" rIns="0" bIns="0" rtlCol="0"/>
            <a:lstStyle/>
            <a:p>
              <a:endParaRPr/>
            </a:p>
          </p:txBody>
        </p:sp>
        <p:sp>
          <p:nvSpPr>
            <p:cNvPr id="70" name="object 70"/>
            <p:cNvSpPr/>
            <p:nvPr/>
          </p:nvSpPr>
          <p:spPr>
            <a:xfrm>
              <a:off x="3707891" y="3121151"/>
              <a:ext cx="44450" cy="24765"/>
            </a:xfrm>
            <a:custGeom>
              <a:avLst/>
              <a:gdLst/>
              <a:ahLst/>
              <a:cxnLst/>
              <a:rect l="l" t="t" r="r" b="b"/>
              <a:pathLst>
                <a:path w="44450" h="24764">
                  <a:moveTo>
                    <a:pt x="34290" y="0"/>
                  </a:moveTo>
                  <a:lnTo>
                    <a:pt x="9906" y="0"/>
                  </a:lnTo>
                  <a:lnTo>
                    <a:pt x="0" y="5461"/>
                  </a:lnTo>
                  <a:lnTo>
                    <a:pt x="0" y="12192"/>
                  </a:lnTo>
                  <a:lnTo>
                    <a:pt x="0" y="18923"/>
                  </a:lnTo>
                  <a:lnTo>
                    <a:pt x="9906" y="24384"/>
                  </a:lnTo>
                  <a:lnTo>
                    <a:pt x="34290" y="24384"/>
                  </a:lnTo>
                  <a:lnTo>
                    <a:pt x="44196" y="18923"/>
                  </a:lnTo>
                  <a:lnTo>
                    <a:pt x="44196" y="5461"/>
                  </a:lnTo>
                  <a:lnTo>
                    <a:pt x="34290" y="0"/>
                  </a:lnTo>
                  <a:close/>
                </a:path>
              </a:pathLst>
            </a:custGeom>
            <a:solidFill>
              <a:srgbClr val="FFFFFF"/>
            </a:solidFill>
          </p:spPr>
          <p:txBody>
            <a:bodyPr wrap="square" lIns="0" tIns="0" rIns="0" bIns="0" rtlCol="0"/>
            <a:lstStyle/>
            <a:p>
              <a:endParaRPr/>
            </a:p>
          </p:txBody>
        </p:sp>
        <p:sp>
          <p:nvSpPr>
            <p:cNvPr id="71" name="object 71"/>
            <p:cNvSpPr/>
            <p:nvPr/>
          </p:nvSpPr>
          <p:spPr>
            <a:xfrm>
              <a:off x="3707891" y="3121151"/>
              <a:ext cx="44450" cy="24765"/>
            </a:xfrm>
            <a:custGeom>
              <a:avLst/>
              <a:gdLst/>
              <a:ahLst/>
              <a:cxnLst/>
              <a:rect l="l" t="t" r="r" b="b"/>
              <a:pathLst>
                <a:path w="44450" h="24764">
                  <a:moveTo>
                    <a:pt x="0" y="12192"/>
                  </a:moveTo>
                  <a:lnTo>
                    <a:pt x="0" y="5461"/>
                  </a:lnTo>
                  <a:lnTo>
                    <a:pt x="9906" y="0"/>
                  </a:lnTo>
                  <a:lnTo>
                    <a:pt x="22098" y="0"/>
                  </a:lnTo>
                  <a:lnTo>
                    <a:pt x="34290" y="0"/>
                  </a:lnTo>
                  <a:lnTo>
                    <a:pt x="44196" y="5461"/>
                  </a:lnTo>
                  <a:lnTo>
                    <a:pt x="44196" y="12192"/>
                  </a:lnTo>
                  <a:lnTo>
                    <a:pt x="44196" y="18923"/>
                  </a:lnTo>
                  <a:lnTo>
                    <a:pt x="34290" y="24384"/>
                  </a:lnTo>
                  <a:lnTo>
                    <a:pt x="22098" y="24384"/>
                  </a:lnTo>
                  <a:lnTo>
                    <a:pt x="9906" y="24384"/>
                  </a:lnTo>
                  <a:lnTo>
                    <a:pt x="0" y="18923"/>
                  </a:lnTo>
                  <a:lnTo>
                    <a:pt x="0" y="12192"/>
                  </a:lnTo>
                  <a:close/>
                </a:path>
              </a:pathLst>
            </a:custGeom>
            <a:ln w="6096">
              <a:solidFill>
                <a:srgbClr val="000000"/>
              </a:solidFill>
            </a:ln>
          </p:spPr>
          <p:txBody>
            <a:bodyPr wrap="square" lIns="0" tIns="0" rIns="0" bIns="0" rtlCol="0"/>
            <a:lstStyle/>
            <a:p>
              <a:endParaRPr/>
            </a:p>
          </p:txBody>
        </p:sp>
        <p:pic>
          <p:nvPicPr>
            <p:cNvPr id="72" name="object 72"/>
            <p:cNvPicPr/>
            <p:nvPr/>
          </p:nvPicPr>
          <p:blipFill>
            <a:blip r:embed="rId2" cstate="print"/>
            <a:stretch>
              <a:fillRect/>
            </a:stretch>
          </p:blipFill>
          <p:spPr>
            <a:xfrm>
              <a:off x="3640835" y="3302508"/>
              <a:ext cx="190500" cy="88392"/>
            </a:xfrm>
            <a:prstGeom prst="rect">
              <a:avLst/>
            </a:prstGeom>
          </p:spPr>
        </p:pic>
        <p:pic>
          <p:nvPicPr>
            <p:cNvPr id="73" name="object 73"/>
            <p:cNvPicPr/>
            <p:nvPr/>
          </p:nvPicPr>
          <p:blipFill>
            <a:blip r:embed="rId3" cstate="print"/>
            <a:stretch>
              <a:fillRect/>
            </a:stretch>
          </p:blipFill>
          <p:spPr>
            <a:xfrm>
              <a:off x="4105655" y="3279647"/>
              <a:ext cx="173736" cy="171450"/>
            </a:xfrm>
            <a:prstGeom prst="rect">
              <a:avLst/>
            </a:prstGeom>
          </p:spPr>
        </p:pic>
        <p:sp>
          <p:nvSpPr>
            <p:cNvPr id="74" name="object 74"/>
            <p:cNvSpPr/>
            <p:nvPr/>
          </p:nvSpPr>
          <p:spPr>
            <a:xfrm>
              <a:off x="3950208" y="3127247"/>
              <a:ext cx="108585" cy="236220"/>
            </a:xfrm>
            <a:custGeom>
              <a:avLst/>
              <a:gdLst/>
              <a:ahLst/>
              <a:cxnLst/>
              <a:rect l="l" t="t" r="r" b="b"/>
              <a:pathLst>
                <a:path w="108585" h="236220">
                  <a:moveTo>
                    <a:pt x="91440" y="225552"/>
                  </a:moveTo>
                  <a:lnTo>
                    <a:pt x="0" y="225552"/>
                  </a:lnTo>
                  <a:lnTo>
                    <a:pt x="0" y="236220"/>
                  </a:lnTo>
                  <a:lnTo>
                    <a:pt x="91440" y="236220"/>
                  </a:lnTo>
                  <a:lnTo>
                    <a:pt x="91440" y="225552"/>
                  </a:lnTo>
                  <a:close/>
                </a:path>
                <a:path w="108585" h="236220">
                  <a:moveTo>
                    <a:pt x="108204" y="21336"/>
                  </a:moveTo>
                  <a:lnTo>
                    <a:pt x="106527" y="13030"/>
                  </a:lnTo>
                  <a:lnTo>
                    <a:pt x="101955" y="6248"/>
                  </a:lnTo>
                  <a:lnTo>
                    <a:pt x="95173" y="1676"/>
                  </a:lnTo>
                  <a:lnTo>
                    <a:pt x="86868" y="0"/>
                  </a:lnTo>
                  <a:lnTo>
                    <a:pt x="78549" y="1676"/>
                  </a:lnTo>
                  <a:lnTo>
                    <a:pt x="71767" y="6248"/>
                  </a:lnTo>
                  <a:lnTo>
                    <a:pt x="67195" y="13030"/>
                  </a:lnTo>
                  <a:lnTo>
                    <a:pt x="65532" y="21336"/>
                  </a:lnTo>
                  <a:lnTo>
                    <a:pt x="67195" y="29654"/>
                  </a:lnTo>
                  <a:lnTo>
                    <a:pt x="71767" y="36436"/>
                  </a:lnTo>
                  <a:lnTo>
                    <a:pt x="78549" y="41008"/>
                  </a:lnTo>
                  <a:lnTo>
                    <a:pt x="86868" y="42672"/>
                  </a:lnTo>
                  <a:lnTo>
                    <a:pt x="95173" y="41008"/>
                  </a:lnTo>
                  <a:lnTo>
                    <a:pt x="101955" y="36436"/>
                  </a:lnTo>
                  <a:lnTo>
                    <a:pt x="106527" y="29654"/>
                  </a:lnTo>
                  <a:lnTo>
                    <a:pt x="108204" y="21336"/>
                  </a:lnTo>
                  <a:close/>
                </a:path>
              </a:pathLst>
            </a:custGeom>
            <a:solidFill>
              <a:srgbClr val="FB0028"/>
            </a:solidFill>
          </p:spPr>
          <p:txBody>
            <a:bodyPr wrap="square" lIns="0" tIns="0" rIns="0" bIns="0" rtlCol="0"/>
            <a:lstStyle/>
            <a:p>
              <a:endParaRPr/>
            </a:p>
          </p:txBody>
        </p:sp>
        <p:sp>
          <p:nvSpPr>
            <p:cNvPr id="75" name="object 75"/>
            <p:cNvSpPr/>
            <p:nvPr/>
          </p:nvSpPr>
          <p:spPr>
            <a:xfrm>
              <a:off x="4015739" y="3127248"/>
              <a:ext cx="43180" cy="43180"/>
            </a:xfrm>
            <a:custGeom>
              <a:avLst/>
              <a:gdLst/>
              <a:ahLst/>
              <a:cxnLst/>
              <a:rect l="l" t="t" r="r" b="b"/>
              <a:pathLst>
                <a:path w="43179" h="43180">
                  <a:moveTo>
                    <a:pt x="0" y="21336"/>
                  </a:moveTo>
                  <a:lnTo>
                    <a:pt x="1672" y="13019"/>
                  </a:lnTo>
                  <a:lnTo>
                    <a:pt x="6238" y="6238"/>
                  </a:lnTo>
                  <a:lnTo>
                    <a:pt x="13019" y="1672"/>
                  </a:lnTo>
                  <a:lnTo>
                    <a:pt x="21336" y="0"/>
                  </a:lnTo>
                  <a:lnTo>
                    <a:pt x="29652" y="1672"/>
                  </a:lnTo>
                  <a:lnTo>
                    <a:pt x="36433" y="6238"/>
                  </a:lnTo>
                  <a:lnTo>
                    <a:pt x="40999" y="13019"/>
                  </a:lnTo>
                  <a:lnTo>
                    <a:pt x="42672" y="21336"/>
                  </a:lnTo>
                  <a:lnTo>
                    <a:pt x="40999" y="29652"/>
                  </a:lnTo>
                  <a:lnTo>
                    <a:pt x="36433" y="36433"/>
                  </a:lnTo>
                  <a:lnTo>
                    <a:pt x="29652" y="40999"/>
                  </a:lnTo>
                  <a:lnTo>
                    <a:pt x="21336" y="42672"/>
                  </a:lnTo>
                  <a:lnTo>
                    <a:pt x="13019" y="40999"/>
                  </a:lnTo>
                  <a:lnTo>
                    <a:pt x="6238" y="36433"/>
                  </a:lnTo>
                  <a:lnTo>
                    <a:pt x="1672" y="29652"/>
                  </a:lnTo>
                  <a:lnTo>
                    <a:pt x="0" y="21336"/>
                  </a:lnTo>
                  <a:close/>
                </a:path>
              </a:pathLst>
            </a:custGeom>
            <a:ln w="6096">
              <a:solidFill>
                <a:srgbClr val="000000"/>
              </a:solidFill>
            </a:ln>
          </p:spPr>
          <p:txBody>
            <a:bodyPr wrap="square" lIns="0" tIns="0" rIns="0" bIns="0" rtlCol="0"/>
            <a:lstStyle/>
            <a:p>
              <a:endParaRPr/>
            </a:p>
          </p:txBody>
        </p:sp>
        <p:sp>
          <p:nvSpPr>
            <p:cNvPr id="76" name="object 76"/>
            <p:cNvSpPr/>
            <p:nvPr/>
          </p:nvSpPr>
          <p:spPr>
            <a:xfrm>
              <a:off x="3948683" y="3188207"/>
              <a:ext cx="171450" cy="262890"/>
            </a:xfrm>
            <a:custGeom>
              <a:avLst/>
              <a:gdLst/>
              <a:ahLst/>
              <a:cxnLst/>
              <a:rect l="l" t="t" r="r" b="b"/>
              <a:pathLst>
                <a:path w="171450" h="262889">
                  <a:moveTo>
                    <a:pt x="76962" y="0"/>
                  </a:moveTo>
                  <a:lnTo>
                    <a:pt x="69850" y="0"/>
                  </a:lnTo>
                  <a:lnTo>
                    <a:pt x="66675" y="762"/>
                  </a:lnTo>
                  <a:lnTo>
                    <a:pt x="64262" y="1650"/>
                  </a:lnTo>
                  <a:lnTo>
                    <a:pt x="61087" y="2412"/>
                  </a:lnTo>
                  <a:lnTo>
                    <a:pt x="58674" y="3937"/>
                  </a:lnTo>
                  <a:lnTo>
                    <a:pt x="55499" y="5587"/>
                  </a:lnTo>
                  <a:lnTo>
                    <a:pt x="52324" y="10287"/>
                  </a:lnTo>
                  <a:lnTo>
                    <a:pt x="50800" y="11937"/>
                  </a:lnTo>
                  <a:lnTo>
                    <a:pt x="49149" y="15112"/>
                  </a:lnTo>
                  <a:lnTo>
                    <a:pt x="47625" y="16637"/>
                  </a:lnTo>
                  <a:lnTo>
                    <a:pt x="46862" y="19812"/>
                  </a:lnTo>
                  <a:lnTo>
                    <a:pt x="762" y="123062"/>
                  </a:lnTo>
                  <a:lnTo>
                    <a:pt x="762" y="124713"/>
                  </a:lnTo>
                  <a:lnTo>
                    <a:pt x="0" y="126237"/>
                  </a:lnTo>
                  <a:lnTo>
                    <a:pt x="0" y="133476"/>
                  </a:lnTo>
                  <a:lnTo>
                    <a:pt x="1524" y="138175"/>
                  </a:lnTo>
                  <a:lnTo>
                    <a:pt x="3937" y="142112"/>
                  </a:lnTo>
                  <a:lnTo>
                    <a:pt x="7112" y="145287"/>
                  </a:lnTo>
                  <a:lnTo>
                    <a:pt x="9525" y="146176"/>
                  </a:lnTo>
                  <a:lnTo>
                    <a:pt x="11049" y="147700"/>
                  </a:lnTo>
                  <a:lnTo>
                    <a:pt x="111887" y="147700"/>
                  </a:lnTo>
                  <a:lnTo>
                    <a:pt x="111887" y="262889"/>
                  </a:lnTo>
                  <a:lnTo>
                    <a:pt x="141224" y="262889"/>
                  </a:lnTo>
                  <a:lnTo>
                    <a:pt x="141224" y="124713"/>
                  </a:lnTo>
                  <a:lnTo>
                    <a:pt x="139700" y="121538"/>
                  </a:lnTo>
                  <a:lnTo>
                    <a:pt x="139700" y="120650"/>
                  </a:lnTo>
                  <a:lnTo>
                    <a:pt x="136525" y="117475"/>
                  </a:lnTo>
                  <a:lnTo>
                    <a:pt x="131699" y="115188"/>
                  </a:lnTo>
                  <a:lnTo>
                    <a:pt x="121412" y="115188"/>
                  </a:lnTo>
                  <a:lnTo>
                    <a:pt x="67437" y="112013"/>
                  </a:lnTo>
                  <a:lnTo>
                    <a:pt x="82550" y="66675"/>
                  </a:lnTo>
                  <a:lnTo>
                    <a:pt x="93599" y="82550"/>
                  </a:lnTo>
                  <a:lnTo>
                    <a:pt x="159512" y="82550"/>
                  </a:lnTo>
                  <a:lnTo>
                    <a:pt x="161162" y="81787"/>
                  </a:lnTo>
                  <a:lnTo>
                    <a:pt x="164337" y="81787"/>
                  </a:lnTo>
                  <a:lnTo>
                    <a:pt x="165862" y="80263"/>
                  </a:lnTo>
                  <a:lnTo>
                    <a:pt x="167512" y="79375"/>
                  </a:lnTo>
                  <a:lnTo>
                    <a:pt x="168275" y="77850"/>
                  </a:lnTo>
                  <a:lnTo>
                    <a:pt x="169799" y="77088"/>
                  </a:lnTo>
                  <a:lnTo>
                    <a:pt x="170687" y="75437"/>
                  </a:lnTo>
                  <a:lnTo>
                    <a:pt x="170687" y="73913"/>
                  </a:lnTo>
                  <a:lnTo>
                    <a:pt x="171450" y="72262"/>
                  </a:lnTo>
                  <a:lnTo>
                    <a:pt x="171450" y="67563"/>
                  </a:lnTo>
                  <a:lnTo>
                    <a:pt x="169037" y="62737"/>
                  </a:lnTo>
                  <a:lnTo>
                    <a:pt x="165100" y="58800"/>
                  </a:lnTo>
                  <a:lnTo>
                    <a:pt x="163449" y="57912"/>
                  </a:lnTo>
                  <a:lnTo>
                    <a:pt x="162687" y="57150"/>
                  </a:lnTo>
                  <a:lnTo>
                    <a:pt x="108712" y="57150"/>
                  </a:lnTo>
                  <a:lnTo>
                    <a:pt x="97662" y="38862"/>
                  </a:lnTo>
                  <a:lnTo>
                    <a:pt x="99187" y="37337"/>
                  </a:lnTo>
                  <a:lnTo>
                    <a:pt x="99949" y="34925"/>
                  </a:lnTo>
                  <a:lnTo>
                    <a:pt x="99949" y="32512"/>
                  </a:lnTo>
                  <a:lnTo>
                    <a:pt x="100837" y="30225"/>
                  </a:lnTo>
                  <a:lnTo>
                    <a:pt x="100837" y="21462"/>
                  </a:lnTo>
                  <a:lnTo>
                    <a:pt x="99187" y="16637"/>
                  </a:lnTo>
                  <a:lnTo>
                    <a:pt x="98425" y="15875"/>
                  </a:lnTo>
                  <a:lnTo>
                    <a:pt x="97662" y="13462"/>
                  </a:lnTo>
                  <a:lnTo>
                    <a:pt x="95250" y="9525"/>
                  </a:lnTo>
                  <a:lnTo>
                    <a:pt x="93599" y="8000"/>
                  </a:lnTo>
                  <a:lnTo>
                    <a:pt x="91312" y="6350"/>
                  </a:lnTo>
                  <a:lnTo>
                    <a:pt x="89662" y="4825"/>
                  </a:lnTo>
                  <a:lnTo>
                    <a:pt x="87249" y="3175"/>
                  </a:lnTo>
                  <a:lnTo>
                    <a:pt x="84962" y="2412"/>
                  </a:lnTo>
                  <a:lnTo>
                    <a:pt x="82550" y="762"/>
                  </a:lnTo>
                  <a:lnTo>
                    <a:pt x="79375" y="762"/>
                  </a:lnTo>
                  <a:lnTo>
                    <a:pt x="76962" y="0"/>
                  </a:lnTo>
                  <a:close/>
                </a:path>
              </a:pathLst>
            </a:custGeom>
            <a:solidFill>
              <a:srgbClr val="FB0028"/>
            </a:solidFill>
          </p:spPr>
          <p:txBody>
            <a:bodyPr wrap="square" lIns="0" tIns="0" rIns="0" bIns="0" rtlCol="0"/>
            <a:lstStyle/>
            <a:p>
              <a:endParaRPr/>
            </a:p>
          </p:txBody>
        </p:sp>
        <p:sp>
          <p:nvSpPr>
            <p:cNvPr id="77" name="object 77"/>
            <p:cNvSpPr/>
            <p:nvPr/>
          </p:nvSpPr>
          <p:spPr>
            <a:xfrm>
              <a:off x="3262883" y="3235820"/>
              <a:ext cx="252729" cy="252729"/>
            </a:xfrm>
            <a:custGeom>
              <a:avLst/>
              <a:gdLst/>
              <a:ahLst/>
              <a:cxnLst/>
              <a:rect l="l" t="t" r="r" b="b"/>
              <a:pathLst>
                <a:path w="252729" h="252729">
                  <a:moveTo>
                    <a:pt x="252615" y="0"/>
                  </a:moveTo>
                  <a:lnTo>
                    <a:pt x="0" y="0"/>
                  </a:lnTo>
                  <a:lnTo>
                    <a:pt x="0" y="252615"/>
                  </a:lnTo>
                  <a:lnTo>
                    <a:pt x="252615" y="252615"/>
                  </a:lnTo>
                  <a:lnTo>
                    <a:pt x="252615" y="0"/>
                  </a:lnTo>
                  <a:close/>
                </a:path>
              </a:pathLst>
            </a:custGeom>
            <a:solidFill>
              <a:srgbClr val="F6BE69"/>
            </a:solidFill>
          </p:spPr>
          <p:txBody>
            <a:bodyPr wrap="square" lIns="0" tIns="0" rIns="0" bIns="0" rtlCol="0"/>
            <a:lstStyle/>
            <a:p>
              <a:endParaRPr/>
            </a:p>
          </p:txBody>
        </p:sp>
        <p:sp>
          <p:nvSpPr>
            <p:cNvPr id="78" name="object 78"/>
            <p:cNvSpPr/>
            <p:nvPr/>
          </p:nvSpPr>
          <p:spPr>
            <a:xfrm>
              <a:off x="3515486" y="3151631"/>
              <a:ext cx="84455" cy="337185"/>
            </a:xfrm>
            <a:custGeom>
              <a:avLst/>
              <a:gdLst/>
              <a:ahLst/>
              <a:cxnLst/>
              <a:rect l="l" t="t" r="r" b="b"/>
              <a:pathLst>
                <a:path w="84454" h="337185">
                  <a:moveTo>
                    <a:pt x="84200" y="0"/>
                  </a:moveTo>
                  <a:lnTo>
                    <a:pt x="0" y="84200"/>
                  </a:lnTo>
                  <a:lnTo>
                    <a:pt x="0" y="336803"/>
                  </a:lnTo>
                  <a:lnTo>
                    <a:pt x="84200" y="252602"/>
                  </a:lnTo>
                  <a:lnTo>
                    <a:pt x="84200" y="0"/>
                  </a:lnTo>
                  <a:close/>
                </a:path>
              </a:pathLst>
            </a:custGeom>
            <a:solidFill>
              <a:srgbClr val="C59A53"/>
            </a:solidFill>
          </p:spPr>
          <p:txBody>
            <a:bodyPr wrap="square" lIns="0" tIns="0" rIns="0" bIns="0" rtlCol="0"/>
            <a:lstStyle/>
            <a:p>
              <a:endParaRPr/>
            </a:p>
          </p:txBody>
        </p:sp>
        <p:sp>
          <p:nvSpPr>
            <p:cNvPr id="79" name="object 79"/>
            <p:cNvSpPr/>
            <p:nvPr/>
          </p:nvSpPr>
          <p:spPr>
            <a:xfrm>
              <a:off x="3262883" y="3151631"/>
              <a:ext cx="337185" cy="84455"/>
            </a:xfrm>
            <a:custGeom>
              <a:avLst/>
              <a:gdLst/>
              <a:ahLst/>
              <a:cxnLst/>
              <a:rect l="l" t="t" r="r" b="b"/>
              <a:pathLst>
                <a:path w="337185" h="84455">
                  <a:moveTo>
                    <a:pt x="336803" y="0"/>
                  </a:moveTo>
                  <a:lnTo>
                    <a:pt x="84200" y="0"/>
                  </a:lnTo>
                  <a:lnTo>
                    <a:pt x="0" y="84200"/>
                  </a:lnTo>
                  <a:lnTo>
                    <a:pt x="252602" y="84200"/>
                  </a:lnTo>
                  <a:lnTo>
                    <a:pt x="336803" y="0"/>
                  </a:lnTo>
                  <a:close/>
                </a:path>
              </a:pathLst>
            </a:custGeom>
            <a:solidFill>
              <a:srgbClr val="F8CC85"/>
            </a:solidFill>
          </p:spPr>
          <p:txBody>
            <a:bodyPr wrap="square" lIns="0" tIns="0" rIns="0" bIns="0" rtlCol="0"/>
            <a:lstStyle/>
            <a:p>
              <a:endParaRPr/>
            </a:p>
          </p:txBody>
        </p:sp>
        <p:sp>
          <p:nvSpPr>
            <p:cNvPr id="80" name="object 80"/>
            <p:cNvSpPr/>
            <p:nvPr/>
          </p:nvSpPr>
          <p:spPr>
            <a:xfrm>
              <a:off x="3262883" y="3151631"/>
              <a:ext cx="337185" cy="337185"/>
            </a:xfrm>
            <a:custGeom>
              <a:avLst/>
              <a:gdLst/>
              <a:ahLst/>
              <a:cxnLst/>
              <a:rect l="l" t="t" r="r" b="b"/>
              <a:pathLst>
                <a:path w="337185" h="337185">
                  <a:moveTo>
                    <a:pt x="0" y="84200"/>
                  </a:moveTo>
                  <a:lnTo>
                    <a:pt x="84200" y="0"/>
                  </a:lnTo>
                  <a:lnTo>
                    <a:pt x="336803" y="0"/>
                  </a:lnTo>
                  <a:lnTo>
                    <a:pt x="336803" y="252602"/>
                  </a:lnTo>
                  <a:lnTo>
                    <a:pt x="252602" y="336803"/>
                  </a:lnTo>
                  <a:lnTo>
                    <a:pt x="0" y="336803"/>
                  </a:lnTo>
                  <a:lnTo>
                    <a:pt x="0" y="84200"/>
                  </a:lnTo>
                  <a:close/>
                </a:path>
                <a:path w="337185" h="337185">
                  <a:moveTo>
                    <a:pt x="0" y="84200"/>
                  </a:moveTo>
                  <a:lnTo>
                    <a:pt x="252602" y="84200"/>
                  </a:lnTo>
                  <a:lnTo>
                    <a:pt x="336803" y="0"/>
                  </a:lnTo>
                </a:path>
                <a:path w="337185" h="337185">
                  <a:moveTo>
                    <a:pt x="252602" y="84200"/>
                  </a:moveTo>
                  <a:lnTo>
                    <a:pt x="252602" y="336803"/>
                  </a:lnTo>
                </a:path>
              </a:pathLst>
            </a:custGeom>
            <a:ln w="6096">
              <a:solidFill>
                <a:srgbClr val="000000"/>
              </a:solidFill>
            </a:ln>
          </p:spPr>
          <p:txBody>
            <a:bodyPr wrap="square" lIns="0" tIns="0" rIns="0" bIns="0" rtlCol="0"/>
            <a:lstStyle/>
            <a:p>
              <a:endParaRPr/>
            </a:p>
          </p:txBody>
        </p:sp>
        <p:sp>
          <p:nvSpPr>
            <p:cNvPr id="81" name="object 81"/>
            <p:cNvSpPr/>
            <p:nvPr/>
          </p:nvSpPr>
          <p:spPr>
            <a:xfrm>
              <a:off x="3339083" y="3106670"/>
              <a:ext cx="243204" cy="52705"/>
            </a:xfrm>
            <a:custGeom>
              <a:avLst/>
              <a:gdLst/>
              <a:ahLst/>
              <a:cxnLst/>
              <a:rect l="l" t="t" r="r" b="b"/>
              <a:pathLst>
                <a:path w="243204" h="52705">
                  <a:moveTo>
                    <a:pt x="243077" y="0"/>
                  </a:moveTo>
                  <a:lnTo>
                    <a:pt x="0" y="0"/>
                  </a:lnTo>
                  <a:lnTo>
                    <a:pt x="0" y="52581"/>
                  </a:lnTo>
                  <a:lnTo>
                    <a:pt x="243077" y="52581"/>
                  </a:lnTo>
                  <a:lnTo>
                    <a:pt x="243077" y="0"/>
                  </a:lnTo>
                  <a:close/>
                </a:path>
              </a:pathLst>
            </a:custGeom>
            <a:solidFill>
              <a:srgbClr val="F6BE69"/>
            </a:solidFill>
          </p:spPr>
          <p:txBody>
            <a:bodyPr wrap="square" lIns="0" tIns="0" rIns="0" bIns="0" rtlCol="0"/>
            <a:lstStyle/>
            <a:p>
              <a:endParaRPr/>
            </a:p>
          </p:txBody>
        </p:sp>
        <p:sp>
          <p:nvSpPr>
            <p:cNvPr id="82" name="object 82"/>
            <p:cNvSpPr/>
            <p:nvPr/>
          </p:nvSpPr>
          <p:spPr>
            <a:xfrm>
              <a:off x="3582161" y="3089147"/>
              <a:ext cx="17780" cy="70485"/>
            </a:xfrm>
            <a:custGeom>
              <a:avLst/>
              <a:gdLst/>
              <a:ahLst/>
              <a:cxnLst/>
              <a:rect l="l" t="t" r="r" b="b"/>
              <a:pathLst>
                <a:path w="17779" h="70485">
                  <a:moveTo>
                    <a:pt x="17525" y="0"/>
                  </a:moveTo>
                  <a:lnTo>
                    <a:pt x="0" y="17525"/>
                  </a:lnTo>
                  <a:lnTo>
                    <a:pt x="0" y="70103"/>
                  </a:lnTo>
                  <a:lnTo>
                    <a:pt x="17525" y="52577"/>
                  </a:lnTo>
                  <a:lnTo>
                    <a:pt x="17525" y="0"/>
                  </a:lnTo>
                  <a:close/>
                </a:path>
              </a:pathLst>
            </a:custGeom>
            <a:solidFill>
              <a:srgbClr val="C59A53"/>
            </a:solidFill>
          </p:spPr>
          <p:txBody>
            <a:bodyPr wrap="square" lIns="0" tIns="0" rIns="0" bIns="0" rtlCol="0"/>
            <a:lstStyle/>
            <a:p>
              <a:endParaRPr/>
            </a:p>
          </p:txBody>
        </p:sp>
        <p:sp>
          <p:nvSpPr>
            <p:cNvPr id="83" name="object 83"/>
            <p:cNvSpPr/>
            <p:nvPr/>
          </p:nvSpPr>
          <p:spPr>
            <a:xfrm>
              <a:off x="3339083" y="3089147"/>
              <a:ext cx="260985" cy="17780"/>
            </a:xfrm>
            <a:custGeom>
              <a:avLst/>
              <a:gdLst/>
              <a:ahLst/>
              <a:cxnLst/>
              <a:rect l="l" t="t" r="r" b="b"/>
              <a:pathLst>
                <a:path w="260985" h="17780">
                  <a:moveTo>
                    <a:pt x="260603" y="0"/>
                  </a:moveTo>
                  <a:lnTo>
                    <a:pt x="17525" y="0"/>
                  </a:lnTo>
                  <a:lnTo>
                    <a:pt x="0" y="17525"/>
                  </a:lnTo>
                  <a:lnTo>
                    <a:pt x="243077" y="17525"/>
                  </a:lnTo>
                  <a:lnTo>
                    <a:pt x="260603" y="0"/>
                  </a:lnTo>
                  <a:close/>
                </a:path>
              </a:pathLst>
            </a:custGeom>
            <a:solidFill>
              <a:srgbClr val="F8CC85"/>
            </a:solidFill>
          </p:spPr>
          <p:txBody>
            <a:bodyPr wrap="square" lIns="0" tIns="0" rIns="0" bIns="0" rtlCol="0"/>
            <a:lstStyle/>
            <a:p>
              <a:endParaRPr/>
            </a:p>
          </p:txBody>
        </p:sp>
        <p:sp>
          <p:nvSpPr>
            <p:cNvPr id="84" name="object 84"/>
            <p:cNvSpPr/>
            <p:nvPr/>
          </p:nvSpPr>
          <p:spPr>
            <a:xfrm>
              <a:off x="3339083" y="3089147"/>
              <a:ext cx="260985" cy="70485"/>
            </a:xfrm>
            <a:custGeom>
              <a:avLst/>
              <a:gdLst/>
              <a:ahLst/>
              <a:cxnLst/>
              <a:rect l="l" t="t" r="r" b="b"/>
              <a:pathLst>
                <a:path w="260985" h="70485">
                  <a:moveTo>
                    <a:pt x="0" y="17525"/>
                  </a:moveTo>
                  <a:lnTo>
                    <a:pt x="17525" y="0"/>
                  </a:lnTo>
                  <a:lnTo>
                    <a:pt x="260603" y="0"/>
                  </a:lnTo>
                  <a:lnTo>
                    <a:pt x="260603" y="52577"/>
                  </a:lnTo>
                  <a:lnTo>
                    <a:pt x="243077" y="70103"/>
                  </a:lnTo>
                  <a:lnTo>
                    <a:pt x="0" y="70103"/>
                  </a:lnTo>
                  <a:lnTo>
                    <a:pt x="0" y="17525"/>
                  </a:lnTo>
                  <a:close/>
                </a:path>
                <a:path w="260985" h="70485">
                  <a:moveTo>
                    <a:pt x="0" y="17525"/>
                  </a:moveTo>
                  <a:lnTo>
                    <a:pt x="243077" y="17525"/>
                  </a:lnTo>
                  <a:lnTo>
                    <a:pt x="260603" y="0"/>
                  </a:lnTo>
                </a:path>
                <a:path w="260985" h="70485">
                  <a:moveTo>
                    <a:pt x="243077" y="17525"/>
                  </a:moveTo>
                  <a:lnTo>
                    <a:pt x="243077" y="70103"/>
                  </a:lnTo>
                </a:path>
              </a:pathLst>
            </a:custGeom>
            <a:ln w="6096">
              <a:solidFill>
                <a:srgbClr val="000000"/>
              </a:solidFill>
            </a:ln>
          </p:spPr>
          <p:txBody>
            <a:bodyPr wrap="square" lIns="0" tIns="0" rIns="0" bIns="0" rtlCol="0"/>
            <a:lstStyle/>
            <a:p>
              <a:endParaRPr/>
            </a:p>
          </p:txBody>
        </p:sp>
        <p:sp>
          <p:nvSpPr>
            <p:cNvPr id="85" name="object 85"/>
            <p:cNvSpPr/>
            <p:nvPr/>
          </p:nvSpPr>
          <p:spPr>
            <a:xfrm>
              <a:off x="3329939" y="3180588"/>
              <a:ext cx="177165" cy="26034"/>
            </a:xfrm>
            <a:custGeom>
              <a:avLst/>
              <a:gdLst/>
              <a:ahLst/>
              <a:cxnLst/>
              <a:rect l="l" t="t" r="r" b="b"/>
              <a:pathLst>
                <a:path w="177164" h="26035">
                  <a:moveTo>
                    <a:pt x="176784" y="0"/>
                  </a:moveTo>
                  <a:lnTo>
                    <a:pt x="45338" y="0"/>
                  </a:lnTo>
                  <a:lnTo>
                    <a:pt x="0" y="25908"/>
                  </a:lnTo>
                  <a:lnTo>
                    <a:pt x="131445" y="25908"/>
                  </a:lnTo>
                  <a:lnTo>
                    <a:pt x="176784" y="0"/>
                  </a:lnTo>
                  <a:close/>
                </a:path>
              </a:pathLst>
            </a:custGeom>
            <a:solidFill>
              <a:srgbClr val="F6BE69"/>
            </a:solidFill>
          </p:spPr>
          <p:txBody>
            <a:bodyPr wrap="square" lIns="0" tIns="0" rIns="0" bIns="0" rtlCol="0"/>
            <a:lstStyle/>
            <a:p>
              <a:endParaRPr/>
            </a:p>
          </p:txBody>
        </p:sp>
        <p:sp>
          <p:nvSpPr>
            <p:cNvPr id="86" name="object 86"/>
            <p:cNvSpPr/>
            <p:nvPr/>
          </p:nvSpPr>
          <p:spPr>
            <a:xfrm>
              <a:off x="3329939" y="3180588"/>
              <a:ext cx="177165" cy="26034"/>
            </a:xfrm>
            <a:custGeom>
              <a:avLst/>
              <a:gdLst/>
              <a:ahLst/>
              <a:cxnLst/>
              <a:rect l="l" t="t" r="r" b="b"/>
              <a:pathLst>
                <a:path w="177164" h="26035">
                  <a:moveTo>
                    <a:pt x="0" y="25908"/>
                  </a:moveTo>
                  <a:lnTo>
                    <a:pt x="45338" y="0"/>
                  </a:lnTo>
                  <a:lnTo>
                    <a:pt x="176784" y="0"/>
                  </a:lnTo>
                  <a:lnTo>
                    <a:pt x="131445" y="25908"/>
                  </a:lnTo>
                  <a:lnTo>
                    <a:pt x="0" y="25908"/>
                  </a:lnTo>
                  <a:close/>
                </a:path>
              </a:pathLst>
            </a:custGeom>
            <a:ln w="12192">
              <a:solidFill>
                <a:srgbClr val="000000"/>
              </a:solidFill>
            </a:ln>
          </p:spPr>
          <p:txBody>
            <a:bodyPr wrap="square" lIns="0" tIns="0" rIns="0" bIns="0" rtlCol="0"/>
            <a:lstStyle/>
            <a:p>
              <a:endParaRPr/>
            </a:p>
          </p:txBody>
        </p:sp>
        <p:sp>
          <p:nvSpPr>
            <p:cNvPr id="87" name="object 87"/>
            <p:cNvSpPr/>
            <p:nvPr/>
          </p:nvSpPr>
          <p:spPr>
            <a:xfrm>
              <a:off x="3523487" y="3121151"/>
              <a:ext cx="44450" cy="24765"/>
            </a:xfrm>
            <a:custGeom>
              <a:avLst/>
              <a:gdLst/>
              <a:ahLst/>
              <a:cxnLst/>
              <a:rect l="l" t="t" r="r" b="b"/>
              <a:pathLst>
                <a:path w="44450" h="24764">
                  <a:moveTo>
                    <a:pt x="34289" y="0"/>
                  </a:moveTo>
                  <a:lnTo>
                    <a:pt x="9906" y="0"/>
                  </a:lnTo>
                  <a:lnTo>
                    <a:pt x="0" y="5461"/>
                  </a:lnTo>
                  <a:lnTo>
                    <a:pt x="0" y="12192"/>
                  </a:lnTo>
                  <a:lnTo>
                    <a:pt x="0" y="18923"/>
                  </a:lnTo>
                  <a:lnTo>
                    <a:pt x="9906" y="24384"/>
                  </a:lnTo>
                  <a:lnTo>
                    <a:pt x="34289" y="24384"/>
                  </a:lnTo>
                  <a:lnTo>
                    <a:pt x="44196" y="18923"/>
                  </a:lnTo>
                  <a:lnTo>
                    <a:pt x="44196" y="5461"/>
                  </a:lnTo>
                  <a:lnTo>
                    <a:pt x="34289" y="0"/>
                  </a:lnTo>
                  <a:close/>
                </a:path>
              </a:pathLst>
            </a:custGeom>
            <a:solidFill>
              <a:srgbClr val="FFFFFF"/>
            </a:solidFill>
          </p:spPr>
          <p:txBody>
            <a:bodyPr wrap="square" lIns="0" tIns="0" rIns="0" bIns="0" rtlCol="0"/>
            <a:lstStyle/>
            <a:p>
              <a:endParaRPr/>
            </a:p>
          </p:txBody>
        </p:sp>
        <p:sp>
          <p:nvSpPr>
            <p:cNvPr id="88" name="object 88"/>
            <p:cNvSpPr/>
            <p:nvPr/>
          </p:nvSpPr>
          <p:spPr>
            <a:xfrm>
              <a:off x="3523487" y="3121151"/>
              <a:ext cx="44450" cy="24765"/>
            </a:xfrm>
            <a:custGeom>
              <a:avLst/>
              <a:gdLst/>
              <a:ahLst/>
              <a:cxnLst/>
              <a:rect l="l" t="t" r="r" b="b"/>
              <a:pathLst>
                <a:path w="44450" h="24764">
                  <a:moveTo>
                    <a:pt x="0" y="12192"/>
                  </a:moveTo>
                  <a:lnTo>
                    <a:pt x="0" y="5461"/>
                  </a:lnTo>
                  <a:lnTo>
                    <a:pt x="9906" y="0"/>
                  </a:lnTo>
                  <a:lnTo>
                    <a:pt x="22098" y="0"/>
                  </a:lnTo>
                  <a:lnTo>
                    <a:pt x="34289" y="0"/>
                  </a:lnTo>
                  <a:lnTo>
                    <a:pt x="44196" y="5461"/>
                  </a:lnTo>
                  <a:lnTo>
                    <a:pt x="44196" y="12192"/>
                  </a:lnTo>
                  <a:lnTo>
                    <a:pt x="44196" y="18923"/>
                  </a:lnTo>
                  <a:lnTo>
                    <a:pt x="34289" y="24384"/>
                  </a:lnTo>
                  <a:lnTo>
                    <a:pt x="22098" y="24384"/>
                  </a:lnTo>
                  <a:lnTo>
                    <a:pt x="9906" y="24384"/>
                  </a:lnTo>
                  <a:lnTo>
                    <a:pt x="0" y="18923"/>
                  </a:lnTo>
                  <a:lnTo>
                    <a:pt x="0" y="12192"/>
                  </a:lnTo>
                  <a:close/>
                </a:path>
              </a:pathLst>
            </a:custGeom>
            <a:ln w="6096">
              <a:solidFill>
                <a:srgbClr val="000000"/>
              </a:solidFill>
            </a:ln>
          </p:spPr>
          <p:txBody>
            <a:bodyPr wrap="square" lIns="0" tIns="0" rIns="0" bIns="0" rtlCol="0"/>
            <a:lstStyle/>
            <a:p>
              <a:endParaRPr/>
            </a:p>
          </p:txBody>
        </p:sp>
      </p:grpSp>
      <p:grpSp>
        <p:nvGrpSpPr>
          <p:cNvPr id="89" name="object 89"/>
          <p:cNvGrpSpPr/>
          <p:nvPr/>
        </p:nvGrpSpPr>
        <p:grpSpPr>
          <a:xfrm>
            <a:off x="4300728" y="3505200"/>
            <a:ext cx="1019810" cy="405765"/>
            <a:chOff x="4300728" y="3505200"/>
            <a:chExt cx="1019810" cy="405765"/>
          </a:xfrm>
        </p:grpSpPr>
        <p:sp>
          <p:nvSpPr>
            <p:cNvPr id="90" name="object 90"/>
            <p:cNvSpPr/>
            <p:nvPr/>
          </p:nvSpPr>
          <p:spPr>
            <a:xfrm>
              <a:off x="4646676" y="3654920"/>
              <a:ext cx="252729" cy="252729"/>
            </a:xfrm>
            <a:custGeom>
              <a:avLst/>
              <a:gdLst/>
              <a:ahLst/>
              <a:cxnLst/>
              <a:rect l="l" t="t" r="r" b="b"/>
              <a:pathLst>
                <a:path w="252729" h="252729">
                  <a:moveTo>
                    <a:pt x="252615" y="0"/>
                  </a:moveTo>
                  <a:lnTo>
                    <a:pt x="0" y="0"/>
                  </a:lnTo>
                  <a:lnTo>
                    <a:pt x="0" y="252615"/>
                  </a:lnTo>
                  <a:lnTo>
                    <a:pt x="252615" y="252615"/>
                  </a:lnTo>
                  <a:lnTo>
                    <a:pt x="252615" y="0"/>
                  </a:lnTo>
                  <a:close/>
                </a:path>
              </a:pathLst>
            </a:custGeom>
            <a:solidFill>
              <a:srgbClr val="A1C1FD"/>
            </a:solidFill>
          </p:spPr>
          <p:txBody>
            <a:bodyPr wrap="square" lIns="0" tIns="0" rIns="0" bIns="0" rtlCol="0"/>
            <a:lstStyle/>
            <a:p>
              <a:endParaRPr/>
            </a:p>
          </p:txBody>
        </p:sp>
        <p:sp>
          <p:nvSpPr>
            <p:cNvPr id="91" name="object 91"/>
            <p:cNvSpPr/>
            <p:nvPr/>
          </p:nvSpPr>
          <p:spPr>
            <a:xfrm>
              <a:off x="4899279" y="3570731"/>
              <a:ext cx="84455" cy="337185"/>
            </a:xfrm>
            <a:custGeom>
              <a:avLst/>
              <a:gdLst/>
              <a:ahLst/>
              <a:cxnLst/>
              <a:rect l="l" t="t" r="r" b="b"/>
              <a:pathLst>
                <a:path w="84454" h="337185">
                  <a:moveTo>
                    <a:pt x="84200" y="0"/>
                  </a:moveTo>
                  <a:lnTo>
                    <a:pt x="0" y="84200"/>
                  </a:lnTo>
                  <a:lnTo>
                    <a:pt x="0" y="336803"/>
                  </a:lnTo>
                  <a:lnTo>
                    <a:pt x="84200" y="252602"/>
                  </a:lnTo>
                  <a:lnTo>
                    <a:pt x="84200" y="0"/>
                  </a:lnTo>
                  <a:close/>
                </a:path>
              </a:pathLst>
            </a:custGeom>
            <a:solidFill>
              <a:srgbClr val="829BCC"/>
            </a:solidFill>
          </p:spPr>
          <p:txBody>
            <a:bodyPr wrap="square" lIns="0" tIns="0" rIns="0" bIns="0" rtlCol="0"/>
            <a:lstStyle/>
            <a:p>
              <a:endParaRPr/>
            </a:p>
          </p:txBody>
        </p:sp>
        <p:sp>
          <p:nvSpPr>
            <p:cNvPr id="92" name="object 92"/>
            <p:cNvSpPr/>
            <p:nvPr/>
          </p:nvSpPr>
          <p:spPr>
            <a:xfrm>
              <a:off x="4646676" y="3570731"/>
              <a:ext cx="337185" cy="84455"/>
            </a:xfrm>
            <a:custGeom>
              <a:avLst/>
              <a:gdLst/>
              <a:ahLst/>
              <a:cxnLst/>
              <a:rect l="l" t="t" r="r" b="b"/>
              <a:pathLst>
                <a:path w="337185" h="84454">
                  <a:moveTo>
                    <a:pt x="336803" y="0"/>
                  </a:moveTo>
                  <a:lnTo>
                    <a:pt x="84200" y="0"/>
                  </a:lnTo>
                  <a:lnTo>
                    <a:pt x="0" y="84200"/>
                  </a:lnTo>
                  <a:lnTo>
                    <a:pt x="252602" y="84200"/>
                  </a:lnTo>
                  <a:lnTo>
                    <a:pt x="336803" y="0"/>
                  </a:lnTo>
                  <a:close/>
                </a:path>
              </a:pathLst>
            </a:custGeom>
            <a:solidFill>
              <a:srgbClr val="B4CDFD"/>
            </a:solidFill>
          </p:spPr>
          <p:txBody>
            <a:bodyPr wrap="square" lIns="0" tIns="0" rIns="0" bIns="0" rtlCol="0"/>
            <a:lstStyle/>
            <a:p>
              <a:endParaRPr/>
            </a:p>
          </p:txBody>
        </p:sp>
        <p:sp>
          <p:nvSpPr>
            <p:cNvPr id="93" name="object 93"/>
            <p:cNvSpPr/>
            <p:nvPr/>
          </p:nvSpPr>
          <p:spPr>
            <a:xfrm>
              <a:off x="4646676" y="3570731"/>
              <a:ext cx="337185" cy="337185"/>
            </a:xfrm>
            <a:custGeom>
              <a:avLst/>
              <a:gdLst/>
              <a:ahLst/>
              <a:cxnLst/>
              <a:rect l="l" t="t" r="r" b="b"/>
              <a:pathLst>
                <a:path w="337185" h="337185">
                  <a:moveTo>
                    <a:pt x="0" y="84200"/>
                  </a:moveTo>
                  <a:lnTo>
                    <a:pt x="84200" y="0"/>
                  </a:lnTo>
                  <a:lnTo>
                    <a:pt x="336803" y="0"/>
                  </a:lnTo>
                  <a:lnTo>
                    <a:pt x="336803" y="252602"/>
                  </a:lnTo>
                  <a:lnTo>
                    <a:pt x="252602" y="336803"/>
                  </a:lnTo>
                  <a:lnTo>
                    <a:pt x="0" y="336803"/>
                  </a:lnTo>
                  <a:lnTo>
                    <a:pt x="0" y="84200"/>
                  </a:lnTo>
                  <a:close/>
                </a:path>
                <a:path w="337185" h="337185">
                  <a:moveTo>
                    <a:pt x="0" y="84200"/>
                  </a:moveTo>
                  <a:lnTo>
                    <a:pt x="252602" y="84200"/>
                  </a:lnTo>
                  <a:lnTo>
                    <a:pt x="336803" y="0"/>
                  </a:lnTo>
                </a:path>
                <a:path w="337185" h="337185">
                  <a:moveTo>
                    <a:pt x="252602" y="84200"/>
                  </a:moveTo>
                  <a:lnTo>
                    <a:pt x="252602" y="336803"/>
                  </a:lnTo>
                </a:path>
              </a:pathLst>
            </a:custGeom>
            <a:ln w="6096">
              <a:solidFill>
                <a:srgbClr val="000000"/>
              </a:solidFill>
            </a:ln>
          </p:spPr>
          <p:txBody>
            <a:bodyPr wrap="square" lIns="0" tIns="0" rIns="0" bIns="0" rtlCol="0"/>
            <a:lstStyle/>
            <a:p>
              <a:endParaRPr/>
            </a:p>
          </p:txBody>
        </p:sp>
        <p:sp>
          <p:nvSpPr>
            <p:cNvPr id="94" name="object 94"/>
            <p:cNvSpPr/>
            <p:nvPr/>
          </p:nvSpPr>
          <p:spPr>
            <a:xfrm>
              <a:off x="4722876" y="3525770"/>
              <a:ext cx="243204" cy="52705"/>
            </a:xfrm>
            <a:custGeom>
              <a:avLst/>
              <a:gdLst/>
              <a:ahLst/>
              <a:cxnLst/>
              <a:rect l="l" t="t" r="r" b="b"/>
              <a:pathLst>
                <a:path w="243204" h="52704">
                  <a:moveTo>
                    <a:pt x="243077" y="0"/>
                  </a:moveTo>
                  <a:lnTo>
                    <a:pt x="0" y="0"/>
                  </a:lnTo>
                  <a:lnTo>
                    <a:pt x="0" y="52581"/>
                  </a:lnTo>
                  <a:lnTo>
                    <a:pt x="243077" y="52581"/>
                  </a:lnTo>
                  <a:lnTo>
                    <a:pt x="243077" y="0"/>
                  </a:lnTo>
                  <a:close/>
                </a:path>
              </a:pathLst>
            </a:custGeom>
            <a:solidFill>
              <a:srgbClr val="A1C1FD"/>
            </a:solidFill>
          </p:spPr>
          <p:txBody>
            <a:bodyPr wrap="square" lIns="0" tIns="0" rIns="0" bIns="0" rtlCol="0"/>
            <a:lstStyle/>
            <a:p>
              <a:endParaRPr/>
            </a:p>
          </p:txBody>
        </p:sp>
        <p:sp>
          <p:nvSpPr>
            <p:cNvPr id="95" name="object 95"/>
            <p:cNvSpPr/>
            <p:nvPr/>
          </p:nvSpPr>
          <p:spPr>
            <a:xfrm>
              <a:off x="4965954" y="3508247"/>
              <a:ext cx="17780" cy="70485"/>
            </a:xfrm>
            <a:custGeom>
              <a:avLst/>
              <a:gdLst/>
              <a:ahLst/>
              <a:cxnLst/>
              <a:rect l="l" t="t" r="r" b="b"/>
              <a:pathLst>
                <a:path w="17779" h="70485">
                  <a:moveTo>
                    <a:pt x="17525" y="0"/>
                  </a:moveTo>
                  <a:lnTo>
                    <a:pt x="0" y="17525"/>
                  </a:lnTo>
                  <a:lnTo>
                    <a:pt x="0" y="70103"/>
                  </a:lnTo>
                  <a:lnTo>
                    <a:pt x="17525" y="52577"/>
                  </a:lnTo>
                  <a:lnTo>
                    <a:pt x="17525" y="0"/>
                  </a:lnTo>
                  <a:close/>
                </a:path>
              </a:pathLst>
            </a:custGeom>
            <a:solidFill>
              <a:srgbClr val="829BCC"/>
            </a:solidFill>
          </p:spPr>
          <p:txBody>
            <a:bodyPr wrap="square" lIns="0" tIns="0" rIns="0" bIns="0" rtlCol="0"/>
            <a:lstStyle/>
            <a:p>
              <a:endParaRPr/>
            </a:p>
          </p:txBody>
        </p:sp>
        <p:sp>
          <p:nvSpPr>
            <p:cNvPr id="96" name="object 96"/>
            <p:cNvSpPr/>
            <p:nvPr/>
          </p:nvSpPr>
          <p:spPr>
            <a:xfrm>
              <a:off x="4722876" y="3508247"/>
              <a:ext cx="260985" cy="17780"/>
            </a:xfrm>
            <a:custGeom>
              <a:avLst/>
              <a:gdLst/>
              <a:ahLst/>
              <a:cxnLst/>
              <a:rect l="l" t="t" r="r" b="b"/>
              <a:pathLst>
                <a:path w="260985" h="17779">
                  <a:moveTo>
                    <a:pt x="260603" y="0"/>
                  </a:moveTo>
                  <a:lnTo>
                    <a:pt x="17525" y="0"/>
                  </a:lnTo>
                  <a:lnTo>
                    <a:pt x="0" y="17525"/>
                  </a:lnTo>
                  <a:lnTo>
                    <a:pt x="243077" y="17525"/>
                  </a:lnTo>
                  <a:lnTo>
                    <a:pt x="260603" y="0"/>
                  </a:lnTo>
                  <a:close/>
                </a:path>
              </a:pathLst>
            </a:custGeom>
            <a:solidFill>
              <a:srgbClr val="B4CDFD"/>
            </a:solidFill>
          </p:spPr>
          <p:txBody>
            <a:bodyPr wrap="square" lIns="0" tIns="0" rIns="0" bIns="0" rtlCol="0"/>
            <a:lstStyle/>
            <a:p>
              <a:endParaRPr/>
            </a:p>
          </p:txBody>
        </p:sp>
        <p:sp>
          <p:nvSpPr>
            <p:cNvPr id="97" name="object 97"/>
            <p:cNvSpPr/>
            <p:nvPr/>
          </p:nvSpPr>
          <p:spPr>
            <a:xfrm>
              <a:off x="4722876" y="3508247"/>
              <a:ext cx="260985" cy="70485"/>
            </a:xfrm>
            <a:custGeom>
              <a:avLst/>
              <a:gdLst/>
              <a:ahLst/>
              <a:cxnLst/>
              <a:rect l="l" t="t" r="r" b="b"/>
              <a:pathLst>
                <a:path w="260985" h="70485">
                  <a:moveTo>
                    <a:pt x="0" y="17525"/>
                  </a:moveTo>
                  <a:lnTo>
                    <a:pt x="17525" y="0"/>
                  </a:lnTo>
                  <a:lnTo>
                    <a:pt x="260603" y="0"/>
                  </a:lnTo>
                  <a:lnTo>
                    <a:pt x="260603" y="52577"/>
                  </a:lnTo>
                  <a:lnTo>
                    <a:pt x="243077" y="70103"/>
                  </a:lnTo>
                  <a:lnTo>
                    <a:pt x="0" y="70103"/>
                  </a:lnTo>
                  <a:lnTo>
                    <a:pt x="0" y="17525"/>
                  </a:lnTo>
                  <a:close/>
                </a:path>
                <a:path w="260985" h="70485">
                  <a:moveTo>
                    <a:pt x="0" y="17525"/>
                  </a:moveTo>
                  <a:lnTo>
                    <a:pt x="243077" y="17525"/>
                  </a:lnTo>
                  <a:lnTo>
                    <a:pt x="260603" y="0"/>
                  </a:lnTo>
                </a:path>
                <a:path w="260985" h="70485">
                  <a:moveTo>
                    <a:pt x="243077" y="17525"/>
                  </a:moveTo>
                  <a:lnTo>
                    <a:pt x="243077" y="70103"/>
                  </a:lnTo>
                </a:path>
              </a:pathLst>
            </a:custGeom>
            <a:ln w="6096">
              <a:solidFill>
                <a:srgbClr val="000000"/>
              </a:solidFill>
            </a:ln>
          </p:spPr>
          <p:txBody>
            <a:bodyPr wrap="square" lIns="0" tIns="0" rIns="0" bIns="0" rtlCol="0"/>
            <a:lstStyle/>
            <a:p>
              <a:endParaRPr/>
            </a:p>
          </p:txBody>
        </p:sp>
        <p:sp>
          <p:nvSpPr>
            <p:cNvPr id="98" name="object 98"/>
            <p:cNvSpPr/>
            <p:nvPr/>
          </p:nvSpPr>
          <p:spPr>
            <a:xfrm>
              <a:off x="4747260" y="3540251"/>
              <a:ext cx="45720" cy="24765"/>
            </a:xfrm>
            <a:custGeom>
              <a:avLst/>
              <a:gdLst/>
              <a:ahLst/>
              <a:cxnLst/>
              <a:rect l="l" t="t" r="r" b="b"/>
              <a:pathLst>
                <a:path w="45720" h="24764">
                  <a:moveTo>
                    <a:pt x="22860" y="0"/>
                  </a:moveTo>
                  <a:lnTo>
                    <a:pt x="13983" y="958"/>
                  </a:lnTo>
                  <a:lnTo>
                    <a:pt x="6715" y="3571"/>
                  </a:lnTo>
                  <a:lnTo>
                    <a:pt x="1803" y="7447"/>
                  </a:lnTo>
                  <a:lnTo>
                    <a:pt x="0" y="12192"/>
                  </a:lnTo>
                  <a:lnTo>
                    <a:pt x="1803" y="16936"/>
                  </a:lnTo>
                  <a:lnTo>
                    <a:pt x="6715" y="20812"/>
                  </a:lnTo>
                  <a:lnTo>
                    <a:pt x="13983" y="23425"/>
                  </a:lnTo>
                  <a:lnTo>
                    <a:pt x="22860" y="24384"/>
                  </a:lnTo>
                  <a:lnTo>
                    <a:pt x="31736" y="23425"/>
                  </a:lnTo>
                  <a:lnTo>
                    <a:pt x="39004" y="20812"/>
                  </a:lnTo>
                  <a:lnTo>
                    <a:pt x="43916" y="16936"/>
                  </a:lnTo>
                  <a:lnTo>
                    <a:pt x="45719" y="12192"/>
                  </a:lnTo>
                  <a:lnTo>
                    <a:pt x="43916" y="7447"/>
                  </a:lnTo>
                  <a:lnTo>
                    <a:pt x="39004" y="3571"/>
                  </a:lnTo>
                  <a:lnTo>
                    <a:pt x="31736" y="958"/>
                  </a:lnTo>
                  <a:lnTo>
                    <a:pt x="22860" y="0"/>
                  </a:lnTo>
                  <a:close/>
                </a:path>
              </a:pathLst>
            </a:custGeom>
            <a:solidFill>
              <a:srgbClr val="FFFFFF"/>
            </a:solidFill>
          </p:spPr>
          <p:txBody>
            <a:bodyPr wrap="square" lIns="0" tIns="0" rIns="0" bIns="0" rtlCol="0"/>
            <a:lstStyle/>
            <a:p>
              <a:endParaRPr/>
            </a:p>
          </p:txBody>
        </p:sp>
        <p:sp>
          <p:nvSpPr>
            <p:cNvPr id="99" name="object 99"/>
            <p:cNvSpPr/>
            <p:nvPr/>
          </p:nvSpPr>
          <p:spPr>
            <a:xfrm>
              <a:off x="4747260" y="3540251"/>
              <a:ext cx="45720" cy="24765"/>
            </a:xfrm>
            <a:custGeom>
              <a:avLst/>
              <a:gdLst/>
              <a:ahLst/>
              <a:cxnLst/>
              <a:rect l="l" t="t" r="r" b="b"/>
              <a:pathLst>
                <a:path w="45720" h="24764">
                  <a:moveTo>
                    <a:pt x="0" y="12192"/>
                  </a:moveTo>
                  <a:lnTo>
                    <a:pt x="1803" y="7447"/>
                  </a:lnTo>
                  <a:lnTo>
                    <a:pt x="6715" y="3571"/>
                  </a:lnTo>
                  <a:lnTo>
                    <a:pt x="13983" y="958"/>
                  </a:lnTo>
                  <a:lnTo>
                    <a:pt x="22860" y="0"/>
                  </a:lnTo>
                  <a:lnTo>
                    <a:pt x="31736" y="958"/>
                  </a:lnTo>
                  <a:lnTo>
                    <a:pt x="39004" y="3571"/>
                  </a:lnTo>
                  <a:lnTo>
                    <a:pt x="43916" y="7447"/>
                  </a:lnTo>
                  <a:lnTo>
                    <a:pt x="45719" y="12192"/>
                  </a:lnTo>
                  <a:lnTo>
                    <a:pt x="43916" y="16936"/>
                  </a:lnTo>
                  <a:lnTo>
                    <a:pt x="39004" y="20812"/>
                  </a:lnTo>
                  <a:lnTo>
                    <a:pt x="31736" y="23425"/>
                  </a:lnTo>
                  <a:lnTo>
                    <a:pt x="22860" y="24384"/>
                  </a:lnTo>
                  <a:lnTo>
                    <a:pt x="13983" y="23425"/>
                  </a:lnTo>
                  <a:lnTo>
                    <a:pt x="6715" y="20812"/>
                  </a:lnTo>
                  <a:lnTo>
                    <a:pt x="1803" y="16936"/>
                  </a:lnTo>
                  <a:lnTo>
                    <a:pt x="0" y="12192"/>
                  </a:lnTo>
                  <a:close/>
                </a:path>
              </a:pathLst>
            </a:custGeom>
            <a:ln w="6096">
              <a:solidFill>
                <a:srgbClr val="000000"/>
              </a:solidFill>
            </a:ln>
          </p:spPr>
          <p:txBody>
            <a:bodyPr wrap="square" lIns="0" tIns="0" rIns="0" bIns="0" rtlCol="0"/>
            <a:lstStyle/>
            <a:p>
              <a:endParaRPr/>
            </a:p>
          </p:txBody>
        </p:sp>
        <p:pic>
          <p:nvPicPr>
            <p:cNvPr id="100" name="object 100"/>
            <p:cNvPicPr/>
            <p:nvPr/>
          </p:nvPicPr>
          <p:blipFill>
            <a:blip r:embed="rId4" cstate="print"/>
            <a:stretch>
              <a:fillRect/>
            </a:stretch>
          </p:blipFill>
          <p:spPr>
            <a:xfrm>
              <a:off x="4681728" y="3721608"/>
              <a:ext cx="188976" cy="88392"/>
            </a:xfrm>
            <a:prstGeom prst="rect">
              <a:avLst/>
            </a:prstGeom>
          </p:spPr>
        </p:pic>
        <p:pic>
          <p:nvPicPr>
            <p:cNvPr id="101" name="object 101"/>
            <p:cNvPicPr/>
            <p:nvPr/>
          </p:nvPicPr>
          <p:blipFill>
            <a:blip r:embed="rId5" cstate="print"/>
            <a:stretch>
              <a:fillRect/>
            </a:stretch>
          </p:blipFill>
          <p:spPr>
            <a:xfrm>
              <a:off x="5146548" y="3698747"/>
              <a:ext cx="173736" cy="171450"/>
            </a:xfrm>
            <a:prstGeom prst="rect">
              <a:avLst/>
            </a:prstGeom>
          </p:spPr>
        </p:pic>
        <p:sp>
          <p:nvSpPr>
            <p:cNvPr id="102" name="object 102"/>
            <p:cNvSpPr/>
            <p:nvPr/>
          </p:nvSpPr>
          <p:spPr>
            <a:xfrm>
              <a:off x="4991100" y="3546347"/>
              <a:ext cx="108585" cy="236220"/>
            </a:xfrm>
            <a:custGeom>
              <a:avLst/>
              <a:gdLst/>
              <a:ahLst/>
              <a:cxnLst/>
              <a:rect l="l" t="t" r="r" b="b"/>
              <a:pathLst>
                <a:path w="108585" h="236220">
                  <a:moveTo>
                    <a:pt x="91440" y="225552"/>
                  </a:moveTo>
                  <a:lnTo>
                    <a:pt x="0" y="225552"/>
                  </a:lnTo>
                  <a:lnTo>
                    <a:pt x="0" y="236220"/>
                  </a:lnTo>
                  <a:lnTo>
                    <a:pt x="91440" y="236220"/>
                  </a:lnTo>
                  <a:lnTo>
                    <a:pt x="91440" y="225552"/>
                  </a:lnTo>
                  <a:close/>
                </a:path>
                <a:path w="108585" h="236220">
                  <a:moveTo>
                    <a:pt x="108204" y="21336"/>
                  </a:moveTo>
                  <a:lnTo>
                    <a:pt x="106464" y="13030"/>
                  </a:lnTo>
                  <a:lnTo>
                    <a:pt x="101727" y="6248"/>
                  </a:lnTo>
                  <a:lnTo>
                    <a:pt x="94691" y="1676"/>
                  </a:lnTo>
                  <a:lnTo>
                    <a:pt x="86106" y="0"/>
                  </a:lnTo>
                  <a:lnTo>
                    <a:pt x="77508" y="1676"/>
                  </a:lnTo>
                  <a:lnTo>
                    <a:pt x="70485" y="6248"/>
                  </a:lnTo>
                  <a:lnTo>
                    <a:pt x="65735" y="13030"/>
                  </a:lnTo>
                  <a:lnTo>
                    <a:pt x="64008" y="21336"/>
                  </a:lnTo>
                  <a:lnTo>
                    <a:pt x="65735" y="29654"/>
                  </a:lnTo>
                  <a:lnTo>
                    <a:pt x="70485" y="36436"/>
                  </a:lnTo>
                  <a:lnTo>
                    <a:pt x="77508" y="41008"/>
                  </a:lnTo>
                  <a:lnTo>
                    <a:pt x="86106" y="42672"/>
                  </a:lnTo>
                  <a:lnTo>
                    <a:pt x="94691" y="41008"/>
                  </a:lnTo>
                  <a:lnTo>
                    <a:pt x="101727" y="36436"/>
                  </a:lnTo>
                  <a:lnTo>
                    <a:pt x="106464" y="29654"/>
                  </a:lnTo>
                  <a:lnTo>
                    <a:pt x="108204" y="21336"/>
                  </a:lnTo>
                  <a:close/>
                </a:path>
              </a:pathLst>
            </a:custGeom>
            <a:solidFill>
              <a:srgbClr val="FB0028"/>
            </a:solidFill>
          </p:spPr>
          <p:txBody>
            <a:bodyPr wrap="square" lIns="0" tIns="0" rIns="0" bIns="0" rtlCol="0"/>
            <a:lstStyle/>
            <a:p>
              <a:endParaRPr/>
            </a:p>
          </p:txBody>
        </p:sp>
        <p:sp>
          <p:nvSpPr>
            <p:cNvPr id="103" name="object 103"/>
            <p:cNvSpPr/>
            <p:nvPr/>
          </p:nvSpPr>
          <p:spPr>
            <a:xfrm>
              <a:off x="5055108" y="3546348"/>
              <a:ext cx="44450" cy="43180"/>
            </a:xfrm>
            <a:custGeom>
              <a:avLst/>
              <a:gdLst/>
              <a:ahLst/>
              <a:cxnLst/>
              <a:rect l="l" t="t" r="r" b="b"/>
              <a:pathLst>
                <a:path w="44450" h="43179">
                  <a:moveTo>
                    <a:pt x="0" y="21336"/>
                  </a:moveTo>
                  <a:lnTo>
                    <a:pt x="1738" y="13019"/>
                  </a:lnTo>
                  <a:lnTo>
                    <a:pt x="6476" y="6238"/>
                  </a:lnTo>
                  <a:lnTo>
                    <a:pt x="13501" y="1672"/>
                  </a:lnTo>
                  <a:lnTo>
                    <a:pt x="22097" y="0"/>
                  </a:lnTo>
                  <a:lnTo>
                    <a:pt x="30694" y="1672"/>
                  </a:lnTo>
                  <a:lnTo>
                    <a:pt x="37718" y="6238"/>
                  </a:lnTo>
                  <a:lnTo>
                    <a:pt x="42457" y="13019"/>
                  </a:lnTo>
                  <a:lnTo>
                    <a:pt x="44195" y="21336"/>
                  </a:lnTo>
                  <a:lnTo>
                    <a:pt x="42457" y="29652"/>
                  </a:lnTo>
                  <a:lnTo>
                    <a:pt x="37718" y="36433"/>
                  </a:lnTo>
                  <a:lnTo>
                    <a:pt x="30694" y="40999"/>
                  </a:lnTo>
                  <a:lnTo>
                    <a:pt x="22097" y="42672"/>
                  </a:lnTo>
                  <a:lnTo>
                    <a:pt x="13501" y="40999"/>
                  </a:lnTo>
                  <a:lnTo>
                    <a:pt x="6476" y="36433"/>
                  </a:lnTo>
                  <a:lnTo>
                    <a:pt x="1738" y="29652"/>
                  </a:lnTo>
                  <a:lnTo>
                    <a:pt x="0" y="21336"/>
                  </a:lnTo>
                  <a:close/>
                </a:path>
              </a:pathLst>
            </a:custGeom>
            <a:ln w="6096">
              <a:solidFill>
                <a:srgbClr val="000000"/>
              </a:solidFill>
            </a:ln>
          </p:spPr>
          <p:txBody>
            <a:bodyPr wrap="square" lIns="0" tIns="0" rIns="0" bIns="0" rtlCol="0"/>
            <a:lstStyle/>
            <a:p>
              <a:endParaRPr/>
            </a:p>
          </p:txBody>
        </p:sp>
        <p:sp>
          <p:nvSpPr>
            <p:cNvPr id="104" name="object 104"/>
            <p:cNvSpPr/>
            <p:nvPr/>
          </p:nvSpPr>
          <p:spPr>
            <a:xfrm>
              <a:off x="4989576" y="3607307"/>
              <a:ext cx="171450" cy="262890"/>
            </a:xfrm>
            <a:custGeom>
              <a:avLst/>
              <a:gdLst/>
              <a:ahLst/>
              <a:cxnLst/>
              <a:rect l="l" t="t" r="r" b="b"/>
              <a:pathLst>
                <a:path w="171450" h="262889">
                  <a:moveTo>
                    <a:pt x="76962" y="0"/>
                  </a:moveTo>
                  <a:lnTo>
                    <a:pt x="69850" y="0"/>
                  </a:lnTo>
                  <a:lnTo>
                    <a:pt x="66675" y="762"/>
                  </a:lnTo>
                  <a:lnTo>
                    <a:pt x="64262" y="1650"/>
                  </a:lnTo>
                  <a:lnTo>
                    <a:pt x="61087" y="2412"/>
                  </a:lnTo>
                  <a:lnTo>
                    <a:pt x="58674" y="3937"/>
                  </a:lnTo>
                  <a:lnTo>
                    <a:pt x="55499" y="5587"/>
                  </a:lnTo>
                  <a:lnTo>
                    <a:pt x="52324" y="10287"/>
                  </a:lnTo>
                  <a:lnTo>
                    <a:pt x="50800" y="11937"/>
                  </a:lnTo>
                  <a:lnTo>
                    <a:pt x="49149" y="15112"/>
                  </a:lnTo>
                  <a:lnTo>
                    <a:pt x="47625" y="16637"/>
                  </a:lnTo>
                  <a:lnTo>
                    <a:pt x="46862" y="19812"/>
                  </a:lnTo>
                  <a:lnTo>
                    <a:pt x="762" y="123062"/>
                  </a:lnTo>
                  <a:lnTo>
                    <a:pt x="762" y="124713"/>
                  </a:lnTo>
                  <a:lnTo>
                    <a:pt x="0" y="126237"/>
                  </a:lnTo>
                  <a:lnTo>
                    <a:pt x="0" y="133476"/>
                  </a:lnTo>
                  <a:lnTo>
                    <a:pt x="1524" y="138175"/>
                  </a:lnTo>
                  <a:lnTo>
                    <a:pt x="3937" y="142112"/>
                  </a:lnTo>
                  <a:lnTo>
                    <a:pt x="7112" y="145287"/>
                  </a:lnTo>
                  <a:lnTo>
                    <a:pt x="9525" y="146176"/>
                  </a:lnTo>
                  <a:lnTo>
                    <a:pt x="11049" y="147700"/>
                  </a:lnTo>
                  <a:lnTo>
                    <a:pt x="111887" y="147700"/>
                  </a:lnTo>
                  <a:lnTo>
                    <a:pt x="111887" y="262889"/>
                  </a:lnTo>
                  <a:lnTo>
                    <a:pt x="141224" y="262889"/>
                  </a:lnTo>
                  <a:lnTo>
                    <a:pt x="141224" y="124713"/>
                  </a:lnTo>
                  <a:lnTo>
                    <a:pt x="139700" y="121538"/>
                  </a:lnTo>
                  <a:lnTo>
                    <a:pt x="139700" y="120650"/>
                  </a:lnTo>
                  <a:lnTo>
                    <a:pt x="136525" y="117475"/>
                  </a:lnTo>
                  <a:lnTo>
                    <a:pt x="131699" y="115188"/>
                  </a:lnTo>
                  <a:lnTo>
                    <a:pt x="121412" y="115188"/>
                  </a:lnTo>
                  <a:lnTo>
                    <a:pt x="67437" y="112013"/>
                  </a:lnTo>
                  <a:lnTo>
                    <a:pt x="82550" y="66675"/>
                  </a:lnTo>
                  <a:lnTo>
                    <a:pt x="93599" y="82550"/>
                  </a:lnTo>
                  <a:lnTo>
                    <a:pt x="159512" y="82550"/>
                  </a:lnTo>
                  <a:lnTo>
                    <a:pt x="161162" y="81787"/>
                  </a:lnTo>
                  <a:lnTo>
                    <a:pt x="164337" y="81787"/>
                  </a:lnTo>
                  <a:lnTo>
                    <a:pt x="165862" y="80263"/>
                  </a:lnTo>
                  <a:lnTo>
                    <a:pt x="167512" y="79375"/>
                  </a:lnTo>
                  <a:lnTo>
                    <a:pt x="168275" y="77850"/>
                  </a:lnTo>
                  <a:lnTo>
                    <a:pt x="169799" y="77088"/>
                  </a:lnTo>
                  <a:lnTo>
                    <a:pt x="170687" y="75437"/>
                  </a:lnTo>
                  <a:lnTo>
                    <a:pt x="170687" y="73913"/>
                  </a:lnTo>
                  <a:lnTo>
                    <a:pt x="171450" y="72262"/>
                  </a:lnTo>
                  <a:lnTo>
                    <a:pt x="171450" y="67563"/>
                  </a:lnTo>
                  <a:lnTo>
                    <a:pt x="169037" y="62737"/>
                  </a:lnTo>
                  <a:lnTo>
                    <a:pt x="165100" y="58800"/>
                  </a:lnTo>
                  <a:lnTo>
                    <a:pt x="163449" y="57912"/>
                  </a:lnTo>
                  <a:lnTo>
                    <a:pt x="162687" y="57150"/>
                  </a:lnTo>
                  <a:lnTo>
                    <a:pt x="108712" y="57150"/>
                  </a:lnTo>
                  <a:lnTo>
                    <a:pt x="97662" y="38862"/>
                  </a:lnTo>
                  <a:lnTo>
                    <a:pt x="99187" y="37337"/>
                  </a:lnTo>
                  <a:lnTo>
                    <a:pt x="99949" y="34925"/>
                  </a:lnTo>
                  <a:lnTo>
                    <a:pt x="99949" y="32512"/>
                  </a:lnTo>
                  <a:lnTo>
                    <a:pt x="100837" y="30225"/>
                  </a:lnTo>
                  <a:lnTo>
                    <a:pt x="100837" y="21462"/>
                  </a:lnTo>
                  <a:lnTo>
                    <a:pt x="99187" y="16637"/>
                  </a:lnTo>
                  <a:lnTo>
                    <a:pt x="98425" y="15875"/>
                  </a:lnTo>
                  <a:lnTo>
                    <a:pt x="97662" y="13462"/>
                  </a:lnTo>
                  <a:lnTo>
                    <a:pt x="95250" y="9525"/>
                  </a:lnTo>
                  <a:lnTo>
                    <a:pt x="93599" y="8000"/>
                  </a:lnTo>
                  <a:lnTo>
                    <a:pt x="91312" y="6350"/>
                  </a:lnTo>
                  <a:lnTo>
                    <a:pt x="89662" y="4825"/>
                  </a:lnTo>
                  <a:lnTo>
                    <a:pt x="87249" y="3175"/>
                  </a:lnTo>
                  <a:lnTo>
                    <a:pt x="84962" y="2412"/>
                  </a:lnTo>
                  <a:lnTo>
                    <a:pt x="82550" y="762"/>
                  </a:lnTo>
                  <a:lnTo>
                    <a:pt x="79375" y="762"/>
                  </a:lnTo>
                  <a:lnTo>
                    <a:pt x="76962" y="0"/>
                  </a:lnTo>
                  <a:close/>
                </a:path>
              </a:pathLst>
            </a:custGeom>
            <a:solidFill>
              <a:srgbClr val="FB0028"/>
            </a:solidFill>
          </p:spPr>
          <p:txBody>
            <a:bodyPr wrap="square" lIns="0" tIns="0" rIns="0" bIns="0" rtlCol="0"/>
            <a:lstStyle/>
            <a:p>
              <a:endParaRPr/>
            </a:p>
          </p:txBody>
        </p:sp>
        <p:sp>
          <p:nvSpPr>
            <p:cNvPr id="105" name="object 105"/>
            <p:cNvSpPr/>
            <p:nvPr/>
          </p:nvSpPr>
          <p:spPr>
            <a:xfrm>
              <a:off x="4303776" y="3654920"/>
              <a:ext cx="252729" cy="252729"/>
            </a:xfrm>
            <a:custGeom>
              <a:avLst/>
              <a:gdLst/>
              <a:ahLst/>
              <a:cxnLst/>
              <a:rect l="l" t="t" r="r" b="b"/>
              <a:pathLst>
                <a:path w="252729" h="252729">
                  <a:moveTo>
                    <a:pt x="252615" y="0"/>
                  </a:moveTo>
                  <a:lnTo>
                    <a:pt x="0" y="0"/>
                  </a:lnTo>
                  <a:lnTo>
                    <a:pt x="0" y="252615"/>
                  </a:lnTo>
                  <a:lnTo>
                    <a:pt x="252615" y="252615"/>
                  </a:lnTo>
                  <a:lnTo>
                    <a:pt x="252615" y="0"/>
                  </a:lnTo>
                  <a:close/>
                </a:path>
              </a:pathLst>
            </a:custGeom>
            <a:solidFill>
              <a:srgbClr val="F6BE69"/>
            </a:solidFill>
          </p:spPr>
          <p:txBody>
            <a:bodyPr wrap="square" lIns="0" tIns="0" rIns="0" bIns="0" rtlCol="0"/>
            <a:lstStyle/>
            <a:p>
              <a:endParaRPr/>
            </a:p>
          </p:txBody>
        </p:sp>
        <p:sp>
          <p:nvSpPr>
            <p:cNvPr id="106" name="object 106"/>
            <p:cNvSpPr/>
            <p:nvPr/>
          </p:nvSpPr>
          <p:spPr>
            <a:xfrm>
              <a:off x="4556379" y="3570731"/>
              <a:ext cx="84455" cy="337185"/>
            </a:xfrm>
            <a:custGeom>
              <a:avLst/>
              <a:gdLst/>
              <a:ahLst/>
              <a:cxnLst/>
              <a:rect l="l" t="t" r="r" b="b"/>
              <a:pathLst>
                <a:path w="84454" h="337185">
                  <a:moveTo>
                    <a:pt x="84200" y="0"/>
                  </a:moveTo>
                  <a:lnTo>
                    <a:pt x="0" y="84200"/>
                  </a:lnTo>
                  <a:lnTo>
                    <a:pt x="0" y="336803"/>
                  </a:lnTo>
                  <a:lnTo>
                    <a:pt x="84200" y="252602"/>
                  </a:lnTo>
                  <a:lnTo>
                    <a:pt x="84200" y="0"/>
                  </a:lnTo>
                  <a:close/>
                </a:path>
              </a:pathLst>
            </a:custGeom>
            <a:solidFill>
              <a:srgbClr val="C59A53"/>
            </a:solidFill>
          </p:spPr>
          <p:txBody>
            <a:bodyPr wrap="square" lIns="0" tIns="0" rIns="0" bIns="0" rtlCol="0"/>
            <a:lstStyle/>
            <a:p>
              <a:endParaRPr/>
            </a:p>
          </p:txBody>
        </p:sp>
        <p:sp>
          <p:nvSpPr>
            <p:cNvPr id="107" name="object 107"/>
            <p:cNvSpPr/>
            <p:nvPr/>
          </p:nvSpPr>
          <p:spPr>
            <a:xfrm>
              <a:off x="4303776" y="3570731"/>
              <a:ext cx="337185" cy="84455"/>
            </a:xfrm>
            <a:custGeom>
              <a:avLst/>
              <a:gdLst/>
              <a:ahLst/>
              <a:cxnLst/>
              <a:rect l="l" t="t" r="r" b="b"/>
              <a:pathLst>
                <a:path w="337185" h="84454">
                  <a:moveTo>
                    <a:pt x="336803" y="0"/>
                  </a:moveTo>
                  <a:lnTo>
                    <a:pt x="84200" y="0"/>
                  </a:lnTo>
                  <a:lnTo>
                    <a:pt x="0" y="84200"/>
                  </a:lnTo>
                  <a:lnTo>
                    <a:pt x="252602" y="84200"/>
                  </a:lnTo>
                  <a:lnTo>
                    <a:pt x="336803" y="0"/>
                  </a:lnTo>
                  <a:close/>
                </a:path>
              </a:pathLst>
            </a:custGeom>
            <a:solidFill>
              <a:srgbClr val="F8CC85"/>
            </a:solidFill>
          </p:spPr>
          <p:txBody>
            <a:bodyPr wrap="square" lIns="0" tIns="0" rIns="0" bIns="0" rtlCol="0"/>
            <a:lstStyle/>
            <a:p>
              <a:endParaRPr/>
            </a:p>
          </p:txBody>
        </p:sp>
        <p:sp>
          <p:nvSpPr>
            <p:cNvPr id="108" name="object 108"/>
            <p:cNvSpPr/>
            <p:nvPr/>
          </p:nvSpPr>
          <p:spPr>
            <a:xfrm>
              <a:off x="4303776" y="3570731"/>
              <a:ext cx="337185" cy="337185"/>
            </a:xfrm>
            <a:custGeom>
              <a:avLst/>
              <a:gdLst/>
              <a:ahLst/>
              <a:cxnLst/>
              <a:rect l="l" t="t" r="r" b="b"/>
              <a:pathLst>
                <a:path w="337185" h="337185">
                  <a:moveTo>
                    <a:pt x="0" y="84200"/>
                  </a:moveTo>
                  <a:lnTo>
                    <a:pt x="84200" y="0"/>
                  </a:lnTo>
                  <a:lnTo>
                    <a:pt x="336803" y="0"/>
                  </a:lnTo>
                  <a:lnTo>
                    <a:pt x="336803" y="252602"/>
                  </a:lnTo>
                  <a:lnTo>
                    <a:pt x="252602" y="336803"/>
                  </a:lnTo>
                  <a:lnTo>
                    <a:pt x="0" y="336803"/>
                  </a:lnTo>
                  <a:lnTo>
                    <a:pt x="0" y="84200"/>
                  </a:lnTo>
                  <a:close/>
                </a:path>
                <a:path w="337185" h="337185">
                  <a:moveTo>
                    <a:pt x="0" y="84200"/>
                  </a:moveTo>
                  <a:lnTo>
                    <a:pt x="252602" y="84200"/>
                  </a:lnTo>
                  <a:lnTo>
                    <a:pt x="336803" y="0"/>
                  </a:lnTo>
                </a:path>
                <a:path w="337185" h="337185">
                  <a:moveTo>
                    <a:pt x="252602" y="84200"/>
                  </a:moveTo>
                  <a:lnTo>
                    <a:pt x="252602" y="336803"/>
                  </a:lnTo>
                </a:path>
              </a:pathLst>
            </a:custGeom>
            <a:ln w="6096">
              <a:solidFill>
                <a:srgbClr val="000000"/>
              </a:solidFill>
            </a:ln>
          </p:spPr>
          <p:txBody>
            <a:bodyPr wrap="square" lIns="0" tIns="0" rIns="0" bIns="0" rtlCol="0"/>
            <a:lstStyle/>
            <a:p>
              <a:endParaRPr/>
            </a:p>
          </p:txBody>
        </p:sp>
        <p:sp>
          <p:nvSpPr>
            <p:cNvPr id="109" name="object 109"/>
            <p:cNvSpPr/>
            <p:nvPr/>
          </p:nvSpPr>
          <p:spPr>
            <a:xfrm>
              <a:off x="4379976" y="3525770"/>
              <a:ext cx="243204" cy="52705"/>
            </a:xfrm>
            <a:custGeom>
              <a:avLst/>
              <a:gdLst/>
              <a:ahLst/>
              <a:cxnLst/>
              <a:rect l="l" t="t" r="r" b="b"/>
              <a:pathLst>
                <a:path w="243204" h="52704">
                  <a:moveTo>
                    <a:pt x="243077" y="0"/>
                  </a:moveTo>
                  <a:lnTo>
                    <a:pt x="0" y="0"/>
                  </a:lnTo>
                  <a:lnTo>
                    <a:pt x="0" y="52581"/>
                  </a:lnTo>
                  <a:lnTo>
                    <a:pt x="243077" y="52581"/>
                  </a:lnTo>
                  <a:lnTo>
                    <a:pt x="243077" y="0"/>
                  </a:lnTo>
                  <a:close/>
                </a:path>
              </a:pathLst>
            </a:custGeom>
            <a:solidFill>
              <a:srgbClr val="F6BE69"/>
            </a:solidFill>
          </p:spPr>
          <p:txBody>
            <a:bodyPr wrap="square" lIns="0" tIns="0" rIns="0" bIns="0" rtlCol="0"/>
            <a:lstStyle/>
            <a:p>
              <a:endParaRPr/>
            </a:p>
          </p:txBody>
        </p:sp>
        <p:sp>
          <p:nvSpPr>
            <p:cNvPr id="110" name="object 110"/>
            <p:cNvSpPr/>
            <p:nvPr/>
          </p:nvSpPr>
          <p:spPr>
            <a:xfrm>
              <a:off x="4623054" y="3508247"/>
              <a:ext cx="17780" cy="70485"/>
            </a:xfrm>
            <a:custGeom>
              <a:avLst/>
              <a:gdLst/>
              <a:ahLst/>
              <a:cxnLst/>
              <a:rect l="l" t="t" r="r" b="b"/>
              <a:pathLst>
                <a:path w="17779" h="70485">
                  <a:moveTo>
                    <a:pt x="17525" y="0"/>
                  </a:moveTo>
                  <a:lnTo>
                    <a:pt x="0" y="17525"/>
                  </a:lnTo>
                  <a:lnTo>
                    <a:pt x="0" y="70103"/>
                  </a:lnTo>
                  <a:lnTo>
                    <a:pt x="17525" y="52577"/>
                  </a:lnTo>
                  <a:lnTo>
                    <a:pt x="17525" y="0"/>
                  </a:lnTo>
                  <a:close/>
                </a:path>
              </a:pathLst>
            </a:custGeom>
            <a:solidFill>
              <a:srgbClr val="C59A53"/>
            </a:solidFill>
          </p:spPr>
          <p:txBody>
            <a:bodyPr wrap="square" lIns="0" tIns="0" rIns="0" bIns="0" rtlCol="0"/>
            <a:lstStyle/>
            <a:p>
              <a:endParaRPr/>
            </a:p>
          </p:txBody>
        </p:sp>
        <p:sp>
          <p:nvSpPr>
            <p:cNvPr id="111" name="object 111"/>
            <p:cNvSpPr/>
            <p:nvPr/>
          </p:nvSpPr>
          <p:spPr>
            <a:xfrm>
              <a:off x="4379976" y="3508247"/>
              <a:ext cx="260985" cy="17780"/>
            </a:xfrm>
            <a:custGeom>
              <a:avLst/>
              <a:gdLst/>
              <a:ahLst/>
              <a:cxnLst/>
              <a:rect l="l" t="t" r="r" b="b"/>
              <a:pathLst>
                <a:path w="260985" h="17779">
                  <a:moveTo>
                    <a:pt x="260603" y="0"/>
                  </a:moveTo>
                  <a:lnTo>
                    <a:pt x="17525" y="0"/>
                  </a:lnTo>
                  <a:lnTo>
                    <a:pt x="0" y="17525"/>
                  </a:lnTo>
                  <a:lnTo>
                    <a:pt x="243077" y="17525"/>
                  </a:lnTo>
                  <a:lnTo>
                    <a:pt x="260603" y="0"/>
                  </a:lnTo>
                  <a:close/>
                </a:path>
              </a:pathLst>
            </a:custGeom>
            <a:solidFill>
              <a:srgbClr val="F8CC85"/>
            </a:solidFill>
          </p:spPr>
          <p:txBody>
            <a:bodyPr wrap="square" lIns="0" tIns="0" rIns="0" bIns="0" rtlCol="0"/>
            <a:lstStyle/>
            <a:p>
              <a:endParaRPr/>
            </a:p>
          </p:txBody>
        </p:sp>
        <p:sp>
          <p:nvSpPr>
            <p:cNvPr id="112" name="object 112"/>
            <p:cNvSpPr/>
            <p:nvPr/>
          </p:nvSpPr>
          <p:spPr>
            <a:xfrm>
              <a:off x="4379976" y="3508247"/>
              <a:ext cx="260985" cy="70485"/>
            </a:xfrm>
            <a:custGeom>
              <a:avLst/>
              <a:gdLst/>
              <a:ahLst/>
              <a:cxnLst/>
              <a:rect l="l" t="t" r="r" b="b"/>
              <a:pathLst>
                <a:path w="260985" h="70485">
                  <a:moveTo>
                    <a:pt x="0" y="17525"/>
                  </a:moveTo>
                  <a:lnTo>
                    <a:pt x="17525" y="0"/>
                  </a:lnTo>
                  <a:lnTo>
                    <a:pt x="260603" y="0"/>
                  </a:lnTo>
                  <a:lnTo>
                    <a:pt x="260603" y="52577"/>
                  </a:lnTo>
                  <a:lnTo>
                    <a:pt x="243077" y="70103"/>
                  </a:lnTo>
                  <a:lnTo>
                    <a:pt x="0" y="70103"/>
                  </a:lnTo>
                  <a:lnTo>
                    <a:pt x="0" y="17525"/>
                  </a:lnTo>
                  <a:close/>
                </a:path>
                <a:path w="260985" h="70485">
                  <a:moveTo>
                    <a:pt x="0" y="17525"/>
                  </a:moveTo>
                  <a:lnTo>
                    <a:pt x="243077" y="17525"/>
                  </a:lnTo>
                  <a:lnTo>
                    <a:pt x="260603" y="0"/>
                  </a:lnTo>
                </a:path>
                <a:path w="260985" h="70485">
                  <a:moveTo>
                    <a:pt x="243077" y="17525"/>
                  </a:moveTo>
                  <a:lnTo>
                    <a:pt x="243077" y="70103"/>
                  </a:lnTo>
                </a:path>
              </a:pathLst>
            </a:custGeom>
            <a:ln w="6096">
              <a:solidFill>
                <a:srgbClr val="000000"/>
              </a:solidFill>
            </a:ln>
          </p:spPr>
          <p:txBody>
            <a:bodyPr wrap="square" lIns="0" tIns="0" rIns="0" bIns="0" rtlCol="0"/>
            <a:lstStyle/>
            <a:p>
              <a:endParaRPr/>
            </a:p>
          </p:txBody>
        </p:sp>
        <p:sp>
          <p:nvSpPr>
            <p:cNvPr id="113" name="object 113"/>
            <p:cNvSpPr/>
            <p:nvPr/>
          </p:nvSpPr>
          <p:spPr>
            <a:xfrm>
              <a:off x="4369308" y="3599688"/>
              <a:ext cx="178435" cy="26034"/>
            </a:xfrm>
            <a:custGeom>
              <a:avLst/>
              <a:gdLst/>
              <a:ahLst/>
              <a:cxnLst/>
              <a:rect l="l" t="t" r="r" b="b"/>
              <a:pathLst>
                <a:path w="178435" h="26035">
                  <a:moveTo>
                    <a:pt x="178307" y="0"/>
                  </a:moveTo>
                  <a:lnTo>
                    <a:pt x="45338" y="0"/>
                  </a:lnTo>
                  <a:lnTo>
                    <a:pt x="0" y="25908"/>
                  </a:lnTo>
                  <a:lnTo>
                    <a:pt x="132968" y="25908"/>
                  </a:lnTo>
                  <a:lnTo>
                    <a:pt x="178307" y="0"/>
                  </a:lnTo>
                  <a:close/>
                </a:path>
              </a:pathLst>
            </a:custGeom>
            <a:solidFill>
              <a:srgbClr val="F6BE69"/>
            </a:solidFill>
          </p:spPr>
          <p:txBody>
            <a:bodyPr wrap="square" lIns="0" tIns="0" rIns="0" bIns="0" rtlCol="0"/>
            <a:lstStyle/>
            <a:p>
              <a:endParaRPr/>
            </a:p>
          </p:txBody>
        </p:sp>
        <p:sp>
          <p:nvSpPr>
            <p:cNvPr id="114" name="object 114"/>
            <p:cNvSpPr/>
            <p:nvPr/>
          </p:nvSpPr>
          <p:spPr>
            <a:xfrm>
              <a:off x="4369308" y="3599688"/>
              <a:ext cx="178435" cy="26034"/>
            </a:xfrm>
            <a:custGeom>
              <a:avLst/>
              <a:gdLst/>
              <a:ahLst/>
              <a:cxnLst/>
              <a:rect l="l" t="t" r="r" b="b"/>
              <a:pathLst>
                <a:path w="178435" h="26035">
                  <a:moveTo>
                    <a:pt x="0" y="25908"/>
                  </a:moveTo>
                  <a:lnTo>
                    <a:pt x="45338" y="0"/>
                  </a:lnTo>
                  <a:lnTo>
                    <a:pt x="178307" y="0"/>
                  </a:lnTo>
                  <a:lnTo>
                    <a:pt x="132968" y="25908"/>
                  </a:lnTo>
                  <a:lnTo>
                    <a:pt x="0" y="25908"/>
                  </a:lnTo>
                  <a:close/>
                </a:path>
              </a:pathLst>
            </a:custGeom>
            <a:ln w="12192">
              <a:solidFill>
                <a:srgbClr val="000000"/>
              </a:solidFill>
            </a:ln>
          </p:spPr>
          <p:txBody>
            <a:bodyPr wrap="square" lIns="0" tIns="0" rIns="0" bIns="0" rtlCol="0"/>
            <a:lstStyle/>
            <a:p>
              <a:endParaRPr/>
            </a:p>
          </p:txBody>
        </p:sp>
        <p:sp>
          <p:nvSpPr>
            <p:cNvPr id="115" name="object 115"/>
            <p:cNvSpPr/>
            <p:nvPr/>
          </p:nvSpPr>
          <p:spPr>
            <a:xfrm>
              <a:off x="4564380" y="3540251"/>
              <a:ext cx="44450" cy="24765"/>
            </a:xfrm>
            <a:custGeom>
              <a:avLst/>
              <a:gdLst/>
              <a:ahLst/>
              <a:cxnLst/>
              <a:rect l="l" t="t" r="r" b="b"/>
              <a:pathLst>
                <a:path w="44450" h="24764">
                  <a:moveTo>
                    <a:pt x="34290" y="0"/>
                  </a:moveTo>
                  <a:lnTo>
                    <a:pt x="9906" y="0"/>
                  </a:lnTo>
                  <a:lnTo>
                    <a:pt x="0" y="5461"/>
                  </a:lnTo>
                  <a:lnTo>
                    <a:pt x="0" y="12192"/>
                  </a:lnTo>
                  <a:lnTo>
                    <a:pt x="0" y="18923"/>
                  </a:lnTo>
                  <a:lnTo>
                    <a:pt x="9906" y="24384"/>
                  </a:lnTo>
                  <a:lnTo>
                    <a:pt x="34290" y="24384"/>
                  </a:lnTo>
                  <a:lnTo>
                    <a:pt x="44196" y="18923"/>
                  </a:lnTo>
                  <a:lnTo>
                    <a:pt x="44196" y="5461"/>
                  </a:lnTo>
                  <a:lnTo>
                    <a:pt x="34290" y="0"/>
                  </a:lnTo>
                  <a:close/>
                </a:path>
              </a:pathLst>
            </a:custGeom>
            <a:solidFill>
              <a:srgbClr val="FFFFFF"/>
            </a:solidFill>
          </p:spPr>
          <p:txBody>
            <a:bodyPr wrap="square" lIns="0" tIns="0" rIns="0" bIns="0" rtlCol="0"/>
            <a:lstStyle/>
            <a:p>
              <a:endParaRPr/>
            </a:p>
          </p:txBody>
        </p:sp>
        <p:sp>
          <p:nvSpPr>
            <p:cNvPr id="116" name="object 116"/>
            <p:cNvSpPr/>
            <p:nvPr/>
          </p:nvSpPr>
          <p:spPr>
            <a:xfrm>
              <a:off x="4564380" y="3540251"/>
              <a:ext cx="44450" cy="24765"/>
            </a:xfrm>
            <a:custGeom>
              <a:avLst/>
              <a:gdLst/>
              <a:ahLst/>
              <a:cxnLst/>
              <a:rect l="l" t="t" r="r" b="b"/>
              <a:pathLst>
                <a:path w="44450" h="24764">
                  <a:moveTo>
                    <a:pt x="0" y="12192"/>
                  </a:moveTo>
                  <a:lnTo>
                    <a:pt x="0" y="5461"/>
                  </a:lnTo>
                  <a:lnTo>
                    <a:pt x="9906" y="0"/>
                  </a:lnTo>
                  <a:lnTo>
                    <a:pt x="22098" y="0"/>
                  </a:lnTo>
                  <a:lnTo>
                    <a:pt x="34290" y="0"/>
                  </a:lnTo>
                  <a:lnTo>
                    <a:pt x="44196" y="5461"/>
                  </a:lnTo>
                  <a:lnTo>
                    <a:pt x="44196" y="12192"/>
                  </a:lnTo>
                  <a:lnTo>
                    <a:pt x="44196" y="18923"/>
                  </a:lnTo>
                  <a:lnTo>
                    <a:pt x="34290" y="24384"/>
                  </a:lnTo>
                  <a:lnTo>
                    <a:pt x="22098" y="24384"/>
                  </a:lnTo>
                  <a:lnTo>
                    <a:pt x="9906" y="24384"/>
                  </a:lnTo>
                  <a:lnTo>
                    <a:pt x="0" y="18923"/>
                  </a:lnTo>
                  <a:lnTo>
                    <a:pt x="0" y="12192"/>
                  </a:lnTo>
                  <a:close/>
                </a:path>
              </a:pathLst>
            </a:custGeom>
            <a:ln w="6096">
              <a:solidFill>
                <a:srgbClr val="000000"/>
              </a:solidFill>
            </a:ln>
          </p:spPr>
          <p:txBody>
            <a:bodyPr wrap="square" lIns="0" tIns="0" rIns="0" bIns="0" rtlCol="0"/>
            <a:lstStyle/>
            <a:p>
              <a:endParaRPr/>
            </a:p>
          </p:txBody>
        </p:sp>
      </p:grpSp>
      <p:sp>
        <p:nvSpPr>
          <p:cNvPr id="117" name="object 117"/>
          <p:cNvSpPr/>
          <p:nvPr/>
        </p:nvSpPr>
        <p:spPr>
          <a:xfrm>
            <a:off x="773430" y="2251710"/>
            <a:ext cx="152400" cy="0"/>
          </a:xfrm>
          <a:custGeom>
            <a:avLst/>
            <a:gdLst/>
            <a:ahLst/>
            <a:cxnLst/>
            <a:rect l="l" t="t" r="r" b="b"/>
            <a:pathLst>
              <a:path w="152400">
                <a:moveTo>
                  <a:pt x="0" y="0"/>
                </a:moveTo>
                <a:lnTo>
                  <a:pt x="152400" y="0"/>
                </a:lnTo>
              </a:path>
            </a:pathLst>
          </a:custGeom>
          <a:ln w="4572">
            <a:solidFill>
              <a:srgbClr val="000000"/>
            </a:solidFill>
          </a:ln>
        </p:spPr>
        <p:txBody>
          <a:bodyPr wrap="square" lIns="0" tIns="0" rIns="0" bIns="0" rtlCol="0"/>
          <a:lstStyle/>
          <a:p>
            <a:endParaRPr/>
          </a:p>
        </p:txBody>
      </p:sp>
      <p:grpSp>
        <p:nvGrpSpPr>
          <p:cNvPr id="118" name="object 118"/>
          <p:cNvGrpSpPr/>
          <p:nvPr/>
        </p:nvGrpSpPr>
        <p:grpSpPr>
          <a:xfrm>
            <a:off x="1242060" y="1718310"/>
            <a:ext cx="4079240" cy="200660"/>
            <a:chOff x="1242060" y="1718310"/>
            <a:chExt cx="4079240" cy="200660"/>
          </a:xfrm>
        </p:grpSpPr>
        <p:sp>
          <p:nvSpPr>
            <p:cNvPr id="119" name="object 119"/>
            <p:cNvSpPr/>
            <p:nvPr/>
          </p:nvSpPr>
          <p:spPr>
            <a:xfrm>
              <a:off x="1244346" y="1718310"/>
              <a:ext cx="0" cy="152400"/>
            </a:xfrm>
            <a:custGeom>
              <a:avLst/>
              <a:gdLst/>
              <a:ahLst/>
              <a:cxnLst/>
              <a:rect l="l" t="t" r="r" b="b"/>
              <a:pathLst>
                <a:path h="152400">
                  <a:moveTo>
                    <a:pt x="0" y="152400"/>
                  </a:moveTo>
                  <a:lnTo>
                    <a:pt x="0" y="0"/>
                  </a:lnTo>
                </a:path>
              </a:pathLst>
            </a:custGeom>
            <a:ln w="4572">
              <a:solidFill>
                <a:srgbClr val="000000"/>
              </a:solidFill>
            </a:ln>
          </p:spPr>
          <p:txBody>
            <a:bodyPr wrap="square" lIns="0" tIns="0" rIns="0" bIns="0" rtlCol="0"/>
            <a:lstStyle/>
            <a:p>
              <a:endParaRPr/>
            </a:p>
          </p:txBody>
        </p:sp>
        <p:sp>
          <p:nvSpPr>
            <p:cNvPr id="120" name="object 120"/>
            <p:cNvSpPr/>
            <p:nvPr/>
          </p:nvSpPr>
          <p:spPr>
            <a:xfrm>
              <a:off x="1244346" y="1764792"/>
              <a:ext cx="4076700" cy="59690"/>
            </a:xfrm>
            <a:custGeom>
              <a:avLst/>
              <a:gdLst/>
              <a:ahLst/>
              <a:cxnLst/>
              <a:rect l="l" t="t" r="r" b="b"/>
              <a:pathLst>
                <a:path w="4076700" h="59689">
                  <a:moveTo>
                    <a:pt x="4017264" y="0"/>
                  </a:moveTo>
                  <a:lnTo>
                    <a:pt x="4017264" y="59435"/>
                  </a:lnTo>
                  <a:lnTo>
                    <a:pt x="4056887" y="39624"/>
                  </a:lnTo>
                  <a:lnTo>
                    <a:pt x="4027169" y="39624"/>
                  </a:lnTo>
                  <a:lnTo>
                    <a:pt x="4027169" y="19811"/>
                  </a:lnTo>
                  <a:lnTo>
                    <a:pt x="4056888" y="19811"/>
                  </a:lnTo>
                  <a:lnTo>
                    <a:pt x="4017264" y="0"/>
                  </a:lnTo>
                  <a:close/>
                </a:path>
                <a:path w="4076700" h="59689">
                  <a:moveTo>
                    <a:pt x="4017264" y="19811"/>
                  </a:moveTo>
                  <a:lnTo>
                    <a:pt x="0" y="19811"/>
                  </a:lnTo>
                  <a:lnTo>
                    <a:pt x="0" y="39624"/>
                  </a:lnTo>
                  <a:lnTo>
                    <a:pt x="4017264" y="39624"/>
                  </a:lnTo>
                  <a:lnTo>
                    <a:pt x="4017264" y="19811"/>
                  </a:lnTo>
                  <a:close/>
                </a:path>
                <a:path w="4076700" h="59689">
                  <a:moveTo>
                    <a:pt x="4056888" y="19811"/>
                  </a:moveTo>
                  <a:lnTo>
                    <a:pt x="4027169" y="19811"/>
                  </a:lnTo>
                  <a:lnTo>
                    <a:pt x="4027169" y="39624"/>
                  </a:lnTo>
                  <a:lnTo>
                    <a:pt x="4056887" y="39624"/>
                  </a:lnTo>
                  <a:lnTo>
                    <a:pt x="4076700" y="29717"/>
                  </a:lnTo>
                  <a:lnTo>
                    <a:pt x="4056888" y="19811"/>
                  </a:lnTo>
                  <a:close/>
                </a:path>
              </a:pathLst>
            </a:custGeom>
            <a:solidFill>
              <a:srgbClr val="000000"/>
            </a:solidFill>
          </p:spPr>
          <p:txBody>
            <a:bodyPr wrap="square" lIns="0" tIns="0" rIns="0" bIns="0" rtlCol="0"/>
            <a:lstStyle/>
            <a:p>
              <a:endParaRPr/>
            </a:p>
          </p:txBody>
        </p:sp>
        <p:sp>
          <p:nvSpPr>
            <p:cNvPr id="121" name="object 121"/>
            <p:cNvSpPr/>
            <p:nvPr/>
          </p:nvSpPr>
          <p:spPr>
            <a:xfrm>
              <a:off x="1244346" y="1908810"/>
              <a:ext cx="304800" cy="0"/>
            </a:xfrm>
            <a:custGeom>
              <a:avLst/>
              <a:gdLst/>
              <a:ahLst/>
              <a:cxnLst/>
              <a:rect l="l" t="t" r="r" b="b"/>
              <a:pathLst>
                <a:path w="304800">
                  <a:moveTo>
                    <a:pt x="0" y="0"/>
                  </a:moveTo>
                  <a:lnTo>
                    <a:pt x="304800" y="0"/>
                  </a:lnTo>
                </a:path>
              </a:pathLst>
            </a:custGeom>
            <a:ln w="19812">
              <a:solidFill>
                <a:srgbClr val="FF9933"/>
              </a:solidFill>
            </a:ln>
          </p:spPr>
          <p:txBody>
            <a:bodyPr wrap="square" lIns="0" tIns="0" rIns="0" bIns="0" rtlCol="0"/>
            <a:lstStyle/>
            <a:p>
              <a:endParaRPr/>
            </a:p>
          </p:txBody>
        </p:sp>
        <p:sp>
          <p:nvSpPr>
            <p:cNvPr id="122" name="object 122"/>
            <p:cNvSpPr/>
            <p:nvPr/>
          </p:nvSpPr>
          <p:spPr>
            <a:xfrm>
              <a:off x="1587246" y="1908810"/>
              <a:ext cx="304800" cy="0"/>
            </a:xfrm>
            <a:custGeom>
              <a:avLst/>
              <a:gdLst/>
              <a:ahLst/>
              <a:cxnLst/>
              <a:rect l="l" t="t" r="r" b="b"/>
              <a:pathLst>
                <a:path w="304800">
                  <a:moveTo>
                    <a:pt x="0" y="0"/>
                  </a:moveTo>
                  <a:lnTo>
                    <a:pt x="304799" y="0"/>
                  </a:lnTo>
                </a:path>
              </a:pathLst>
            </a:custGeom>
            <a:ln w="19812">
              <a:solidFill>
                <a:srgbClr val="3399FF"/>
              </a:solidFill>
            </a:ln>
          </p:spPr>
          <p:txBody>
            <a:bodyPr wrap="square" lIns="0" tIns="0" rIns="0" bIns="0" rtlCol="0"/>
            <a:lstStyle/>
            <a:p>
              <a:endParaRPr/>
            </a:p>
          </p:txBody>
        </p:sp>
        <p:sp>
          <p:nvSpPr>
            <p:cNvPr id="123" name="object 123"/>
            <p:cNvSpPr/>
            <p:nvPr/>
          </p:nvSpPr>
          <p:spPr>
            <a:xfrm>
              <a:off x="1930146" y="1908810"/>
              <a:ext cx="304800" cy="0"/>
            </a:xfrm>
            <a:custGeom>
              <a:avLst/>
              <a:gdLst/>
              <a:ahLst/>
              <a:cxnLst/>
              <a:rect l="l" t="t" r="r" b="b"/>
              <a:pathLst>
                <a:path w="304800">
                  <a:moveTo>
                    <a:pt x="0" y="0"/>
                  </a:moveTo>
                  <a:lnTo>
                    <a:pt x="304800" y="0"/>
                  </a:lnTo>
                </a:path>
              </a:pathLst>
            </a:custGeom>
            <a:ln w="19812">
              <a:solidFill>
                <a:srgbClr val="FF0000"/>
              </a:solidFill>
            </a:ln>
          </p:spPr>
          <p:txBody>
            <a:bodyPr wrap="square" lIns="0" tIns="0" rIns="0" bIns="0" rtlCol="0"/>
            <a:lstStyle/>
            <a:p>
              <a:endParaRPr/>
            </a:p>
          </p:txBody>
        </p:sp>
        <p:sp>
          <p:nvSpPr>
            <p:cNvPr id="124" name="object 124"/>
            <p:cNvSpPr/>
            <p:nvPr/>
          </p:nvSpPr>
          <p:spPr>
            <a:xfrm>
              <a:off x="2273046" y="1908810"/>
              <a:ext cx="304800" cy="0"/>
            </a:xfrm>
            <a:custGeom>
              <a:avLst/>
              <a:gdLst/>
              <a:ahLst/>
              <a:cxnLst/>
              <a:rect l="l" t="t" r="r" b="b"/>
              <a:pathLst>
                <a:path w="304800">
                  <a:moveTo>
                    <a:pt x="0" y="0"/>
                  </a:moveTo>
                  <a:lnTo>
                    <a:pt x="304800" y="0"/>
                  </a:lnTo>
                </a:path>
              </a:pathLst>
            </a:custGeom>
            <a:ln w="19812">
              <a:solidFill>
                <a:srgbClr val="FF9933"/>
              </a:solidFill>
            </a:ln>
          </p:spPr>
          <p:txBody>
            <a:bodyPr wrap="square" lIns="0" tIns="0" rIns="0" bIns="0" rtlCol="0"/>
            <a:lstStyle/>
            <a:p>
              <a:endParaRPr/>
            </a:p>
          </p:txBody>
        </p:sp>
        <p:sp>
          <p:nvSpPr>
            <p:cNvPr id="125" name="object 125"/>
            <p:cNvSpPr/>
            <p:nvPr/>
          </p:nvSpPr>
          <p:spPr>
            <a:xfrm>
              <a:off x="2615946" y="1908810"/>
              <a:ext cx="304800" cy="0"/>
            </a:xfrm>
            <a:custGeom>
              <a:avLst/>
              <a:gdLst/>
              <a:ahLst/>
              <a:cxnLst/>
              <a:rect l="l" t="t" r="r" b="b"/>
              <a:pathLst>
                <a:path w="304800">
                  <a:moveTo>
                    <a:pt x="0" y="0"/>
                  </a:moveTo>
                  <a:lnTo>
                    <a:pt x="304800" y="0"/>
                  </a:lnTo>
                </a:path>
              </a:pathLst>
            </a:custGeom>
            <a:ln w="19812">
              <a:solidFill>
                <a:srgbClr val="3399FF"/>
              </a:solidFill>
            </a:ln>
          </p:spPr>
          <p:txBody>
            <a:bodyPr wrap="square" lIns="0" tIns="0" rIns="0" bIns="0" rtlCol="0"/>
            <a:lstStyle/>
            <a:p>
              <a:endParaRPr/>
            </a:p>
          </p:txBody>
        </p:sp>
        <p:sp>
          <p:nvSpPr>
            <p:cNvPr id="126" name="object 126"/>
            <p:cNvSpPr/>
            <p:nvPr/>
          </p:nvSpPr>
          <p:spPr>
            <a:xfrm>
              <a:off x="2958845" y="1908810"/>
              <a:ext cx="304800" cy="0"/>
            </a:xfrm>
            <a:custGeom>
              <a:avLst/>
              <a:gdLst/>
              <a:ahLst/>
              <a:cxnLst/>
              <a:rect l="l" t="t" r="r" b="b"/>
              <a:pathLst>
                <a:path w="304800">
                  <a:moveTo>
                    <a:pt x="0" y="0"/>
                  </a:moveTo>
                  <a:lnTo>
                    <a:pt x="304800" y="0"/>
                  </a:lnTo>
                </a:path>
              </a:pathLst>
            </a:custGeom>
            <a:ln w="19812">
              <a:solidFill>
                <a:srgbClr val="FF0000"/>
              </a:solidFill>
            </a:ln>
          </p:spPr>
          <p:txBody>
            <a:bodyPr wrap="square" lIns="0" tIns="0" rIns="0" bIns="0" rtlCol="0"/>
            <a:lstStyle/>
            <a:p>
              <a:endParaRPr/>
            </a:p>
          </p:txBody>
        </p:sp>
        <p:sp>
          <p:nvSpPr>
            <p:cNvPr id="127" name="object 127"/>
            <p:cNvSpPr/>
            <p:nvPr/>
          </p:nvSpPr>
          <p:spPr>
            <a:xfrm>
              <a:off x="3301745" y="1908810"/>
              <a:ext cx="304800" cy="0"/>
            </a:xfrm>
            <a:custGeom>
              <a:avLst/>
              <a:gdLst/>
              <a:ahLst/>
              <a:cxnLst/>
              <a:rect l="l" t="t" r="r" b="b"/>
              <a:pathLst>
                <a:path w="304800">
                  <a:moveTo>
                    <a:pt x="0" y="0"/>
                  </a:moveTo>
                  <a:lnTo>
                    <a:pt x="304800" y="0"/>
                  </a:lnTo>
                </a:path>
              </a:pathLst>
            </a:custGeom>
            <a:ln w="19812">
              <a:solidFill>
                <a:srgbClr val="FF9933"/>
              </a:solidFill>
            </a:ln>
          </p:spPr>
          <p:txBody>
            <a:bodyPr wrap="square" lIns="0" tIns="0" rIns="0" bIns="0" rtlCol="0"/>
            <a:lstStyle/>
            <a:p>
              <a:endParaRPr/>
            </a:p>
          </p:txBody>
        </p:sp>
        <p:sp>
          <p:nvSpPr>
            <p:cNvPr id="128" name="object 128"/>
            <p:cNvSpPr/>
            <p:nvPr/>
          </p:nvSpPr>
          <p:spPr>
            <a:xfrm>
              <a:off x="3644645" y="1908810"/>
              <a:ext cx="304800" cy="0"/>
            </a:xfrm>
            <a:custGeom>
              <a:avLst/>
              <a:gdLst/>
              <a:ahLst/>
              <a:cxnLst/>
              <a:rect l="l" t="t" r="r" b="b"/>
              <a:pathLst>
                <a:path w="304800">
                  <a:moveTo>
                    <a:pt x="0" y="0"/>
                  </a:moveTo>
                  <a:lnTo>
                    <a:pt x="304800" y="0"/>
                  </a:lnTo>
                </a:path>
              </a:pathLst>
            </a:custGeom>
            <a:ln w="19812">
              <a:solidFill>
                <a:srgbClr val="3399FF"/>
              </a:solidFill>
            </a:ln>
          </p:spPr>
          <p:txBody>
            <a:bodyPr wrap="square" lIns="0" tIns="0" rIns="0" bIns="0" rtlCol="0"/>
            <a:lstStyle/>
            <a:p>
              <a:endParaRPr/>
            </a:p>
          </p:txBody>
        </p:sp>
        <p:sp>
          <p:nvSpPr>
            <p:cNvPr id="129" name="object 129"/>
            <p:cNvSpPr/>
            <p:nvPr/>
          </p:nvSpPr>
          <p:spPr>
            <a:xfrm>
              <a:off x="3987545" y="1908810"/>
              <a:ext cx="304800" cy="0"/>
            </a:xfrm>
            <a:custGeom>
              <a:avLst/>
              <a:gdLst/>
              <a:ahLst/>
              <a:cxnLst/>
              <a:rect l="l" t="t" r="r" b="b"/>
              <a:pathLst>
                <a:path w="304800">
                  <a:moveTo>
                    <a:pt x="0" y="0"/>
                  </a:moveTo>
                  <a:lnTo>
                    <a:pt x="304800" y="0"/>
                  </a:lnTo>
                </a:path>
              </a:pathLst>
            </a:custGeom>
            <a:ln w="19812">
              <a:solidFill>
                <a:srgbClr val="FF0000"/>
              </a:solidFill>
            </a:ln>
          </p:spPr>
          <p:txBody>
            <a:bodyPr wrap="square" lIns="0" tIns="0" rIns="0" bIns="0" rtlCol="0"/>
            <a:lstStyle/>
            <a:p>
              <a:endParaRPr/>
            </a:p>
          </p:txBody>
        </p:sp>
        <p:sp>
          <p:nvSpPr>
            <p:cNvPr id="130" name="object 130"/>
            <p:cNvSpPr/>
            <p:nvPr/>
          </p:nvSpPr>
          <p:spPr>
            <a:xfrm>
              <a:off x="4330445" y="1908810"/>
              <a:ext cx="304800" cy="0"/>
            </a:xfrm>
            <a:custGeom>
              <a:avLst/>
              <a:gdLst/>
              <a:ahLst/>
              <a:cxnLst/>
              <a:rect l="l" t="t" r="r" b="b"/>
              <a:pathLst>
                <a:path w="304800">
                  <a:moveTo>
                    <a:pt x="0" y="0"/>
                  </a:moveTo>
                  <a:lnTo>
                    <a:pt x="304800" y="0"/>
                  </a:lnTo>
                </a:path>
              </a:pathLst>
            </a:custGeom>
            <a:ln w="19812">
              <a:solidFill>
                <a:srgbClr val="FF9933"/>
              </a:solidFill>
            </a:ln>
          </p:spPr>
          <p:txBody>
            <a:bodyPr wrap="square" lIns="0" tIns="0" rIns="0" bIns="0" rtlCol="0"/>
            <a:lstStyle/>
            <a:p>
              <a:endParaRPr/>
            </a:p>
          </p:txBody>
        </p:sp>
        <p:sp>
          <p:nvSpPr>
            <p:cNvPr id="131" name="object 131"/>
            <p:cNvSpPr/>
            <p:nvPr/>
          </p:nvSpPr>
          <p:spPr>
            <a:xfrm>
              <a:off x="4673345" y="1908810"/>
              <a:ext cx="304800" cy="0"/>
            </a:xfrm>
            <a:custGeom>
              <a:avLst/>
              <a:gdLst/>
              <a:ahLst/>
              <a:cxnLst/>
              <a:rect l="l" t="t" r="r" b="b"/>
              <a:pathLst>
                <a:path w="304800">
                  <a:moveTo>
                    <a:pt x="0" y="0"/>
                  </a:moveTo>
                  <a:lnTo>
                    <a:pt x="304800" y="0"/>
                  </a:lnTo>
                </a:path>
              </a:pathLst>
            </a:custGeom>
            <a:ln w="19812">
              <a:solidFill>
                <a:srgbClr val="3399FF"/>
              </a:solidFill>
            </a:ln>
          </p:spPr>
          <p:txBody>
            <a:bodyPr wrap="square" lIns="0" tIns="0" rIns="0" bIns="0" rtlCol="0"/>
            <a:lstStyle/>
            <a:p>
              <a:endParaRPr/>
            </a:p>
          </p:txBody>
        </p:sp>
        <p:sp>
          <p:nvSpPr>
            <p:cNvPr id="132" name="object 132"/>
            <p:cNvSpPr/>
            <p:nvPr/>
          </p:nvSpPr>
          <p:spPr>
            <a:xfrm>
              <a:off x="5016245" y="1908810"/>
              <a:ext cx="304800" cy="0"/>
            </a:xfrm>
            <a:custGeom>
              <a:avLst/>
              <a:gdLst/>
              <a:ahLst/>
              <a:cxnLst/>
              <a:rect l="l" t="t" r="r" b="b"/>
              <a:pathLst>
                <a:path w="304800">
                  <a:moveTo>
                    <a:pt x="0" y="0"/>
                  </a:moveTo>
                  <a:lnTo>
                    <a:pt x="304800" y="0"/>
                  </a:lnTo>
                </a:path>
              </a:pathLst>
            </a:custGeom>
            <a:ln w="19812">
              <a:solidFill>
                <a:srgbClr val="FF0000"/>
              </a:solidFill>
            </a:ln>
          </p:spPr>
          <p:txBody>
            <a:bodyPr wrap="square" lIns="0" tIns="0" rIns="0" bIns="0" rtlCol="0"/>
            <a:lstStyle/>
            <a:p>
              <a:endParaRPr/>
            </a:p>
          </p:txBody>
        </p:sp>
      </p:grpSp>
      <p:sp>
        <p:nvSpPr>
          <p:cNvPr id="133" name="object 133"/>
          <p:cNvSpPr txBox="1"/>
          <p:nvPr/>
        </p:nvSpPr>
        <p:spPr>
          <a:xfrm>
            <a:off x="781304" y="1759711"/>
            <a:ext cx="4502150" cy="2021839"/>
          </a:xfrm>
          <a:prstGeom prst="rect">
            <a:avLst/>
          </a:prstGeom>
        </p:spPr>
        <p:txBody>
          <a:bodyPr vert="horz" wrap="square" lIns="0" tIns="12700" rIns="0" bIns="0" rtlCol="0">
            <a:spAutoFit/>
          </a:bodyPr>
          <a:lstStyle/>
          <a:p>
            <a:pPr marL="12700">
              <a:lnSpc>
                <a:spcPts val="1440"/>
              </a:lnSpc>
              <a:spcBef>
                <a:spcPts val="100"/>
              </a:spcBef>
            </a:pPr>
            <a:r>
              <a:rPr sz="1400" spc="-20" dirty="0">
                <a:latin typeface="Times New Roman"/>
                <a:cs typeface="Times New Roman"/>
              </a:rPr>
              <a:t>Time</a:t>
            </a:r>
            <a:endParaRPr sz="1400">
              <a:latin typeface="Times New Roman"/>
              <a:cs typeface="Times New Roman"/>
            </a:endParaRPr>
          </a:p>
          <a:p>
            <a:pPr marL="508000">
              <a:lnSpc>
                <a:spcPts val="1440"/>
              </a:lnSpc>
              <a:tabLst>
                <a:tab pos="862965" algn="l"/>
                <a:tab pos="1219200" algn="l"/>
                <a:tab pos="1557655" algn="l"/>
                <a:tab pos="1913255" algn="l"/>
                <a:tab pos="2269490" algn="l"/>
                <a:tab pos="2579370" algn="l"/>
                <a:tab pos="2934970" algn="l"/>
                <a:tab pos="3291840" algn="l"/>
                <a:tab pos="3642995" algn="l"/>
                <a:tab pos="3997960" algn="l"/>
                <a:tab pos="4309745" algn="l"/>
              </a:tabLst>
            </a:pPr>
            <a:r>
              <a:rPr sz="1400" spc="-25" dirty="0">
                <a:latin typeface="Times New Roman"/>
                <a:cs typeface="Times New Roman"/>
              </a:rPr>
              <a:t>30</a:t>
            </a:r>
            <a:r>
              <a:rPr sz="1400" dirty="0">
                <a:latin typeface="Times New Roman"/>
                <a:cs typeface="Times New Roman"/>
              </a:rPr>
              <a:t>	</a:t>
            </a: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20</a:t>
            </a:r>
            <a:r>
              <a:rPr sz="1400" dirty="0">
                <a:latin typeface="Times New Roman"/>
                <a:cs typeface="Times New Roman"/>
              </a:rPr>
              <a:t>	</a:t>
            </a:r>
            <a:r>
              <a:rPr sz="1400" spc="-25" dirty="0">
                <a:latin typeface="Times New Roman"/>
                <a:cs typeface="Times New Roman"/>
              </a:rPr>
              <a:t>30</a:t>
            </a:r>
            <a:r>
              <a:rPr sz="1400" dirty="0">
                <a:latin typeface="Times New Roman"/>
                <a:cs typeface="Times New Roman"/>
              </a:rPr>
              <a:t>	</a:t>
            </a: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20</a:t>
            </a:r>
            <a:r>
              <a:rPr sz="1400" dirty="0">
                <a:latin typeface="Times New Roman"/>
                <a:cs typeface="Times New Roman"/>
              </a:rPr>
              <a:t>	</a:t>
            </a:r>
            <a:r>
              <a:rPr sz="1400" spc="-25" dirty="0">
                <a:latin typeface="Times New Roman"/>
                <a:cs typeface="Times New Roman"/>
              </a:rPr>
              <a:t>30</a:t>
            </a:r>
            <a:r>
              <a:rPr sz="1400" dirty="0">
                <a:latin typeface="Times New Roman"/>
                <a:cs typeface="Times New Roman"/>
              </a:rPr>
              <a:t>	</a:t>
            </a: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20</a:t>
            </a:r>
            <a:r>
              <a:rPr sz="1400" dirty="0">
                <a:latin typeface="Times New Roman"/>
                <a:cs typeface="Times New Roman"/>
              </a:rPr>
              <a:t>	</a:t>
            </a:r>
            <a:r>
              <a:rPr sz="1400" spc="-25" dirty="0">
                <a:latin typeface="Times New Roman"/>
                <a:cs typeface="Times New Roman"/>
              </a:rPr>
              <a:t>30</a:t>
            </a:r>
            <a:r>
              <a:rPr sz="1400" dirty="0">
                <a:latin typeface="Times New Roman"/>
                <a:cs typeface="Times New Roman"/>
              </a:rPr>
              <a:t>	</a:t>
            </a: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20</a:t>
            </a:r>
            <a:endParaRPr sz="1400">
              <a:latin typeface="Times New Roman"/>
              <a:cs typeface="Times New Roman"/>
            </a:endParaRPr>
          </a:p>
          <a:p>
            <a:pPr marL="172085">
              <a:lnSpc>
                <a:spcPct val="100000"/>
              </a:lnSpc>
              <a:spcBef>
                <a:spcPts val="1315"/>
              </a:spcBef>
            </a:pPr>
            <a:r>
              <a:rPr sz="1600" b="1" spc="-50" dirty="0">
                <a:latin typeface="Times New Roman"/>
                <a:cs typeface="Times New Roman"/>
              </a:rPr>
              <a:t>A</a:t>
            </a:r>
            <a:endParaRPr sz="1600">
              <a:latin typeface="Times New Roman"/>
              <a:cs typeface="Times New Roman"/>
            </a:endParaRPr>
          </a:p>
          <a:p>
            <a:pPr marL="172085">
              <a:lnSpc>
                <a:spcPct val="100000"/>
              </a:lnSpc>
              <a:spcBef>
                <a:spcPts val="1380"/>
              </a:spcBef>
            </a:pPr>
            <a:r>
              <a:rPr sz="1600" b="1" spc="-50" dirty="0">
                <a:latin typeface="Times New Roman"/>
                <a:cs typeface="Times New Roman"/>
              </a:rPr>
              <a:t>B</a:t>
            </a:r>
            <a:endParaRPr sz="1600">
              <a:latin typeface="Times New Roman"/>
              <a:cs typeface="Times New Roman"/>
            </a:endParaRPr>
          </a:p>
          <a:p>
            <a:pPr marL="172085" marR="4175125">
              <a:lnSpc>
                <a:spcPct val="140600"/>
              </a:lnSpc>
              <a:spcBef>
                <a:spcPts val="900"/>
              </a:spcBef>
            </a:pPr>
            <a:r>
              <a:rPr sz="1600" b="1" spc="-50" dirty="0">
                <a:latin typeface="Times New Roman"/>
                <a:cs typeface="Times New Roman"/>
              </a:rPr>
              <a:t>C D</a:t>
            </a:r>
            <a:endParaRPr sz="1600">
              <a:latin typeface="Times New Roman"/>
              <a:cs typeface="Times New Roman"/>
            </a:endParaRPr>
          </a:p>
        </p:txBody>
      </p:sp>
      <p:sp>
        <p:nvSpPr>
          <p:cNvPr id="134" name="object 134"/>
          <p:cNvSpPr txBox="1"/>
          <p:nvPr/>
        </p:nvSpPr>
        <p:spPr>
          <a:xfrm>
            <a:off x="4650994" y="1531111"/>
            <a:ext cx="63563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006FC0"/>
                </a:solidFill>
                <a:latin typeface="Times New Roman"/>
                <a:cs typeface="Times New Roman"/>
              </a:rPr>
              <a:t>6</a:t>
            </a:r>
            <a:r>
              <a:rPr sz="1400" b="1" spc="5" dirty="0">
                <a:solidFill>
                  <a:srgbClr val="006FC0"/>
                </a:solidFill>
                <a:latin typeface="Times New Roman"/>
                <a:cs typeface="Times New Roman"/>
              </a:rPr>
              <a:t> </a:t>
            </a:r>
            <a:r>
              <a:rPr sz="1400" b="1" spc="-10" dirty="0">
                <a:solidFill>
                  <a:srgbClr val="006FC0"/>
                </a:solidFill>
                <a:latin typeface="Times New Roman"/>
                <a:cs typeface="Times New Roman"/>
              </a:rPr>
              <a:t>Hours</a:t>
            </a:r>
            <a:endParaRPr sz="1400">
              <a:latin typeface="Times New Roman"/>
              <a:cs typeface="Times New Roman"/>
            </a:endParaRPr>
          </a:p>
        </p:txBody>
      </p:sp>
      <p:grpSp>
        <p:nvGrpSpPr>
          <p:cNvPr id="135" name="object 135"/>
          <p:cNvGrpSpPr/>
          <p:nvPr/>
        </p:nvGrpSpPr>
        <p:grpSpPr>
          <a:xfrm>
            <a:off x="381000" y="4844796"/>
            <a:ext cx="6096000" cy="3429000"/>
            <a:chOff x="381000" y="4844796"/>
            <a:chExt cx="6096000" cy="3429000"/>
          </a:xfrm>
        </p:grpSpPr>
        <p:sp>
          <p:nvSpPr>
            <p:cNvPr id="136" name="object 136"/>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37" name="object 137"/>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138" name="object 138"/>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sp>
          <p:nvSpPr>
            <p:cNvPr id="139" name="object 139"/>
            <p:cNvSpPr/>
            <p:nvPr/>
          </p:nvSpPr>
          <p:spPr>
            <a:xfrm>
              <a:off x="812291" y="6339078"/>
              <a:ext cx="59690" cy="1638300"/>
            </a:xfrm>
            <a:custGeom>
              <a:avLst/>
              <a:gdLst/>
              <a:ahLst/>
              <a:cxnLst/>
              <a:rect l="l" t="t" r="r" b="b"/>
              <a:pathLst>
                <a:path w="59690" h="1638300">
                  <a:moveTo>
                    <a:pt x="19811" y="1578864"/>
                  </a:moveTo>
                  <a:lnTo>
                    <a:pt x="0" y="1578864"/>
                  </a:lnTo>
                  <a:lnTo>
                    <a:pt x="29717" y="1638300"/>
                  </a:lnTo>
                  <a:lnTo>
                    <a:pt x="54482" y="1588770"/>
                  </a:lnTo>
                  <a:lnTo>
                    <a:pt x="19811" y="1588770"/>
                  </a:lnTo>
                  <a:lnTo>
                    <a:pt x="19811" y="1578864"/>
                  </a:lnTo>
                  <a:close/>
                </a:path>
                <a:path w="59690" h="1638300">
                  <a:moveTo>
                    <a:pt x="39623" y="0"/>
                  </a:moveTo>
                  <a:lnTo>
                    <a:pt x="19811" y="0"/>
                  </a:lnTo>
                  <a:lnTo>
                    <a:pt x="19811" y="1588770"/>
                  </a:lnTo>
                  <a:lnTo>
                    <a:pt x="39623" y="1588770"/>
                  </a:lnTo>
                  <a:lnTo>
                    <a:pt x="39623" y="0"/>
                  </a:lnTo>
                  <a:close/>
                </a:path>
                <a:path w="59690" h="1638300">
                  <a:moveTo>
                    <a:pt x="59436" y="1578864"/>
                  </a:moveTo>
                  <a:lnTo>
                    <a:pt x="39623" y="1578864"/>
                  </a:lnTo>
                  <a:lnTo>
                    <a:pt x="39623" y="1588770"/>
                  </a:lnTo>
                  <a:lnTo>
                    <a:pt x="54482" y="1588770"/>
                  </a:lnTo>
                  <a:lnTo>
                    <a:pt x="59436" y="1578864"/>
                  </a:lnTo>
                  <a:close/>
                </a:path>
              </a:pathLst>
            </a:custGeom>
            <a:solidFill>
              <a:srgbClr val="000000"/>
            </a:solidFill>
          </p:spPr>
          <p:txBody>
            <a:bodyPr wrap="square" lIns="0" tIns="0" rIns="0" bIns="0" rtlCol="0"/>
            <a:lstStyle/>
            <a:p>
              <a:endParaRPr/>
            </a:p>
          </p:txBody>
        </p:sp>
      </p:grpSp>
      <p:sp>
        <p:nvSpPr>
          <p:cNvPr id="140" name="object 140"/>
          <p:cNvSpPr txBox="1"/>
          <p:nvPr/>
        </p:nvSpPr>
        <p:spPr>
          <a:xfrm>
            <a:off x="574723" y="6539230"/>
            <a:ext cx="223520" cy="819150"/>
          </a:xfrm>
          <a:prstGeom prst="rect">
            <a:avLst/>
          </a:prstGeom>
        </p:spPr>
        <p:txBody>
          <a:bodyPr vert="vert" wrap="square" lIns="0" tIns="0" rIns="0" bIns="0" rtlCol="0">
            <a:spAutoFit/>
          </a:bodyPr>
          <a:lstStyle/>
          <a:p>
            <a:pPr marL="12700">
              <a:lnSpc>
                <a:spcPts val="1635"/>
              </a:lnSpc>
            </a:pPr>
            <a:r>
              <a:rPr sz="1400" spc="-20" dirty="0">
                <a:latin typeface="Times New Roman"/>
                <a:cs typeface="Times New Roman"/>
              </a:rPr>
              <a:t>Task</a:t>
            </a:r>
            <a:r>
              <a:rPr sz="1400" spc="-45" dirty="0">
                <a:latin typeface="Times New Roman"/>
                <a:cs typeface="Times New Roman"/>
              </a:rPr>
              <a:t> </a:t>
            </a:r>
            <a:r>
              <a:rPr sz="1400" spc="-20" dirty="0">
                <a:latin typeface="Times New Roman"/>
                <a:cs typeface="Times New Roman"/>
              </a:rPr>
              <a:t>Order</a:t>
            </a:r>
            <a:endParaRPr sz="1400">
              <a:latin typeface="Times New Roman"/>
              <a:cs typeface="Times New Roman"/>
            </a:endParaRPr>
          </a:p>
        </p:txBody>
      </p:sp>
      <p:grpSp>
        <p:nvGrpSpPr>
          <p:cNvPr id="141" name="object 141"/>
          <p:cNvGrpSpPr/>
          <p:nvPr/>
        </p:nvGrpSpPr>
        <p:grpSpPr>
          <a:xfrm>
            <a:off x="773430" y="5686805"/>
            <a:ext cx="2494280" cy="2311400"/>
            <a:chOff x="773430" y="5686805"/>
            <a:chExt cx="2494280" cy="2311400"/>
          </a:xfrm>
        </p:grpSpPr>
        <p:pic>
          <p:nvPicPr>
            <p:cNvPr id="142" name="object 142"/>
            <p:cNvPicPr/>
            <p:nvPr/>
          </p:nvPicPr>
          <p:blipFill>
            <a:blip r:embed="rId6" cstate="print"/>
            <a:stretch>
              <a:fillRect/>
            </a:stretch>
          </p:blipFill>
          <p:spPr>
            <a:xfrm>
              <a:off x="1219200" y="6297168"/>
              <a:ext cx="2048255" cy="1700783"/>
            </a:xfrm>
            <a:prstGeom prst="rect">
              <a:avLst/>
            </a:prstGeom>
          </p:spPr>
        </p:pic>
        <p:sp>
          <p:nvSpPr>
            <p:cNvPr id="143" name="object 143"/>
            <p:cNvSpPr/>
            <p:nvPr/>
          </p:nvSpPr>
          <p:spPr>
            <a:xfrm>
              <a:off x="1223010" y="5686805"/>
              <a:ext cx="0" cy="152400"/>
            </a:xfrm>
            <a:custGeom>
              <a:avLst/>
              <a:gdLst/>
              <a:ahLst/>
              <a:cxnLst/>
              <a:rect l="l" t="t" r="r" b="b"/>
              <a:pathLst>
                <a:path h="152400">
                  <a:moveTo>
                    <a:pt x="0" y="152400"/>
                  </a:moveTo>
                  <a:lnTo>
                    <a:pt x="0" y="0"/>
                  </a:lnTo>
                </a:path>
              </a:pathLst>
            </a:custGeom>
            <a:ln w="4572">
              <a:solidFill>
                <a:srgbClr val="000000"/>
              </a:solidFill>
            </a:ln>
          </p:spPr>
          <p:txBody>
            <a:bodyPr wrap="square" lIns="0" tIns="0" rIns="0" bIns="0" rtlCol="0"/>
            <a:lstStyle/>
            <a:p>
              <a:endParaRPr/>
            </a:p>
          </p:txBody>
        </p:sp>
        <p:sp>
          <p:nvSpPr>
            <p:cNvPr id="144" name="object 144"/>
            <p:cNvSpPr/>
            <p:nvPr/>
          </p:nvSpPr>
          <p:spPr>
            <a:xfrm>
              <a:off x="1223010" y="5733287"/>
              <a:ext cx="2019300" cy="59690"/>
            </a:xfrm>
            <a:custGeom>
              <a:avLst/>
              <a:gdLst/>
              <a:ahLst/>
              <a:cxnLst/>
              <a:rect l="l" t="t" r="r" b="b"/>
              <a:pathLst>
                <a:path w="2019300" h="59689">
                  <a:moveTo>
                    <a:pt x="1959864" y="0"/>
                  </a:moveTo>
                  <a:lnTo>
                    <a:pt x="1959864" y="59436"/>
                  </a:lnTo>
                  <a:lnTo>
                    <a:pt x="1999488" y="39624"/>
                  </a:lnTo>
                  <a:lnTo>
                    <a:pt x="1969770" y="39624"/>
                  </a:lnTo>
                  <a:lnTo>
                    <a:pt x="1969770" y="19812"/>
                  </a:lnTo>
                  <a:lnTo>
                    <a:pt x="1999488" y="19812"/>
                  </a:lnTo>
                  <a:lnTo>
                    <a:pt x="1959864" y="0"/>
                  </a:lnTo>
                  <a:close/>
                </a:path>
                <a:path w="2019300" h="59689">
                  <a:moveTo>
                    <a:pt x="1959864" y="19812"/>
                  </a:moveTo>
                  <a:lnTo>
                    <a:pt x="0" y="19812"/>
                  </a:lnTo>
                  <a:lnTo>
                    <a:pt x="0" y="39624"/>
                  </a:lnTo>
                  <a:lnTo>
                    <a:pt x="1959864" y="39624"/>
                  </a:lnTo>
                  <a:lnTo>
                    <a:pt x="1959864" y="19812"/>
                  </a:lnTo>
                  <a:close/>
                </a:path>
                <a:path w="2019300" h="59689">
                  <a:moveTo>
                    <a:pt x="1999488" y="19812"/>
                  </a:moveTo>
                  <a:lnTo>
                    <a:pt x="1969770" y="19812"/>
                  </a:lnTo>
                  <a:lnTo>
                    <a:pt x="1969770" y="39624"/>
                  </a:lnTo>
                  <a:lnTo>
                    <a:pt x="1999488" y="39624"/>
                  </a:lnTo>
                  <a:lnTo>
                    <a:pt x="2019300" y="29717"/>
                  </a:lnTo>
                  <a:lnTo>
                    <a:pt x="1999488" y="19812"/>
                  </a:lnTo>
                  <a:close/>
                </a:path>
              </a:pathLst>
            </a:custGeom>
            <a:solidFill>
              <a:srgbClr val="000000"/>
            </a:solidFill>
          </p:spPr>
          <p:txBody>
            <a:bodyPr wrap="square" lIns="0" tIns="0" rIns="0" bIns="0" rtlCol="0"/>
            <a:lstStyle/>
            <a:p>
              <a:endParaRPr/>
            </a:p>
          </p:txBody>
        </p:sp>
        <p:sp>
          <p:nvSpPr>
            <p:cNvPr id="145" name="object 145"/>
            <p:cNvSpPr/>
            <p:nvPr/>
          </p:nvSpPr>
          <p:spPr>
            <a:xfrm>
              <a:off x="773430" y="6339077"/>
              <a:ext cx="152400" cy="0"/>
            </a:xfrm>
            <a:custGeom>
              <a:avLst/>
              <a:gdLst/>
              <a:ahLst/>
              <a:cxnLst/>
              <a:rect l="l" t="t" r="r" b="b"/>
              <a:pathLst>
                <a:path w="152400">
                  <a:moveTo>
                    <a:pt x="0" y="0"/>
                  </a:moveTo>
                  <a:lnTo>
                    <a:pt x="152400" y="0"/>
                  </a:lnTo>
                </a:path>
              </a:pathLst>
            </a:custGeom>
            <a:ln w="4572">
              <a:solidFill>
                <a:srgbClr val="000000"/>
              </a:solidFill>
            </a:ln>
          </p:spPr>
          <p:txBody>
            <a:bodyPr wrap="square" lIns="0" tIns="0" rIns="0" bIns="0" rtlCol="0"/>
            <a:lstStyle/>
            <a:p>
              <a:endParaRPr/>
            </a:p>
          </p:txBody>
        </p:sp>
        <p:sp>
          <p:nvSpPr>
            <p:cNvPr id="146" name="object 146"/>
            <p:cNvSpPr/>
            <p:nvPr/>
          </p:nvSpPr>
          <p:spPr>
            <a:xfrm>
              <a:off x="1223010" y="5877305"/>
              <a:ext cx="304800" cy="0"/>
            </a:xfrm>
            <a:custGeom>
              <a:avLst/>
              <a:gdLst/>
              <a:ahLst/>
              <a:cxnLst/>
              <a:rect l="l" t="t" r="r" b="b"/>
              <a:pathLst>
                <a:path w="304800">
                  <a:moveTo>
                    <a:pt x="0" y="0"/>
                  </a:moveTo>
                  <a:lnTo>
                    <a:pt x="304800" y="0"/>
                  </a:lnTo>
                </a:path>
              </a:pathLst>
            </a:custGeom>
            <a:ln w="19812">
              <a:solidFill>
                <a:srgbClr val="FF9933"/>
              </a:solidFill>
            </a:ln>
          </p:spPr>
          <p:txBody>
            <a:bodyPr wrap="square" lIns="0" tIns="0" rIns="0" bIns="0" rtlCol="0"/>
            <a:lstStyle/>
            <a:p>
              <a:endParaRPr/>
            </a:p>
          </p:txBody>
        </p:sp>
        <p:sp>
          <p:nvSpPr>
            <p:cNvPr id="147" name="object 147"/>
            <p:cNvSpPr/>
            <p:nvPr/>
          </p:nvSpPr>
          <p:spPr>
            <a:xfrm>
              <a:off x="1565910" y="5877305"/>
              <a:ext cx="1333500" cy="0"/>
            </a:xfrm>
            <a:custGeom>
              <a:avLst/>
              <a:gdLst/>
              <a:ahLst/>
              <a:cxnLst/>
              <a:rect l="l" t="t" r="r" b="b"/>
              <a:pathLst>
                <a:path w="1333500">
                  <a:moveTo>
                    <a:pt x="0" y="0"/>
                  </a:moveTo>
                  <a:lnTo>
                    <a:pt x="304800" y="0"/>
                  </a:lnTo>
                </a:path>
                <a:path w="1333500">
                  <a:moveTo>
                    <a:pt x="1028700" y="0"/>
                  </a:moveTo>
                  <a:lnTo>
                    <a:pt x="1333500" y="0"/>
                  </a:lnTo>
                </a:path>
              </a:pathLst>
            </a:custGeom>
            <a:ln w="19812">
              <a:solidFill>
                <a:srgbClr val="3399FF"/>
              </a:solidFill>
            </a:ln>
          </p:spPr>
          <p:txBody>
            <a:bodyPr wrap="square" lIns="0" tIns="0" rIns="0" bIns="0" rtlCol="0"/>
            <a:lstStyle/>
            <a:p>
              <a:endParaRPr/>
            </a:p>
          </p:txBody>
        </p:sp>
        <p:sp>
          <p:nvSpPr>
            <p:cNvPr id="148" name="object 148"/>
            <p:cNvSpPr/>
            <p:nvPr/>
          </p:nvSpPr>
          <p:spPr>
            <a:xfrm>
              <a:off x="2594609" y="5839205"/>
              <a:ext cx="647700" cy="38100"/>
            </a:xfrm>
            <a:custGeom>
              <a:avLst/>
              <a:gdLst/>
              <a:ahLst/>
              <a:cxnLst/>
              <a:rect l="l" t="t" r="r" b="b"/>
              <a:pathLst>
                <a:path w="647700" h="38100">
                  <a:moveTo>
                    <a:pt x="342900" y="38100"/>
                  </a:moveTo>
                  <a:lnTo>
                    <a:pt x="647700" y="38100"/>
                  </a:lnTo>
                </a:path>
                <a:path w="647700" h="38100">
                  <a:moveTo>
                    <a:pt x="0" y="0"/>
                  </a:moveTo>
                  <a:lnTo>
                    <a:pt x="304800" y="0"/>
                  </a:lnTo>
                </a:path>
              </a:pathLst>
            </a:custGeom>
            <a:ln w="19812">
              <a:solidFill>
                <a:srgbClr val="FF0000"/>
              </a:solidFill>
            </a:ln>
          </p:spPr>
          <p:txBody>
            <a:bodyPr wrap="square" lIns="0" tIns="0" rIns="0" bIns="0" rtlCol="0"/>
            <a:lstStyle/>
            <a:p>
              <a:endParaRPr/>
            </a:p>
          </p:txBody>
        </p:sp>
        <p:sp>
          <p:nvSpPr>
            <p:cNvPr id="149" name="object 149"/>
            <p:cNvSpPr/>
            <p:nvPr/>
          </p:nvSpPr>
          <p:spPr>
            <a:xfrm>
              <a:off x="1908810" y="5877305"/>
              <a:ext cx="647700" cy="0"/>
            </a:xfrm>
            <a:custGeom>
              <a:avLst/>
              <a:gdLst/>
              <a:ahLst/>
              <a:cxnLst/>
              <a:rect l="l" t="t" r="r" b="b"/>
              <a:pathLst>
                <a:path w="647700">
                  <a:moveTo>
                    <a:pt x="0" y="0"/>
                  </a:moveTo>
                  <a:lnTo>
                    <a:pt x="304800" y="0"/>
                  </a:lnTo>
                </a:path>
                <a:path w="647700">
                  <a:moveTo>
                    <a:pt x="342900" y="0"/>
                  </a:moveTo>
                  <a:lnTo>
                    <a:pt x="647700" y="0"/>
                  </a:lnTo>
                </a:path>
              </a:pathLst>
            </a:custGeom>
            <a:ln w="19812">
              <a:solidFill>
                <a:srgbClr val="3399FF"/>
              </a:solidFill>
            </a:ln>
          </p:spPr>
          <p:txBody>
            <a:bodyPr wrap="square" lIns="0" tIns="0" rIns="0" bIns="0" rtlCol="0"/>
            <a:lstStyle/>
            <a:p>
              <a:endParaRPr/>
            </a:p>
          </p:txBody>
        </p:sp>
        <p:sp>
          <p:nvSpPr>
            <p:cNvPr id="150" name="object 150"/>
            <p:cNvSpPr/>
            <p:nvPr/>
          </p:nvSpPr>
          <p:spPr>
            <a:xfrm>
              <a:off x="1565910" y="5839205"/>
              <a:ext cx="647700" cy="0"/>
            </a:xfrm>
            <a:custGeom>
              <a:avLst/>
              <a:gdLst/>
              <a:ahLst/>
              <a:cxnLst/>
              <a:rect l="l" t="t" r="r" b="b"/>
              <a:pathLst>
                <a:path w="647700">
                  <a:moveTo>
                    <a:pt x="0" y="0"/>
                  </a:moveTo>
                  <a:lnTo>
                    <a:pt x="304800" y="0"/>
                  </a:lnTo>
                </a:path>
                <a:path w="647700">
                  <a:moveTo>
                    <a:pt x="342900" y="0"/>
                  </a:moveTo>
                  <a:lnTo>
                    <a:pt x="647700" y="0"/>
                  </a:lnTo>
                </a:path>
              </a:pathLst>
            </a:custGeom>
            <a:ln w="19812">
              <a:solidFill>
                <a:srgbClr val="FF9933"/>
              </a:solidFill>
            </a:ln>
          </p:spPr>
          <p:txBody>
            <a:bodyPr wrap="square" lIns="0" tIns="0" rIns="0" bIns="0" rtlCol="0"/>
            <a:lstStyle/>
            <a:p>
              <a:endParaRPr/>
            </a:p>
          </p:txBody>
        </p:sp>
        <p:sp>
          <p:nvSpPr>
            <p:cNvPr id="151" name="object 151"/>
            <p:cNvSpPr/>
            <p:nvPr/>
          </p:nvSpPr>
          <p:spPr>
            <a:xfrm>
              <a:off x="1908810" y="5801105"/>
              <a:ext cx="647700" cy="0"/>
            </a:xfrm>
            <a:custGeom>
              <a:avLst/>
              <a:gdLst/>
              <a:ahLst/>
              <a:cxnLst/>
              <a:rect l="l" t="t" r="r" b="b"/>
              <a:pathLst>
                <a:path w="647700">
                  <a:moveTo>
                    <a:pt x="0" y="0"/>
                  </a:moveTo>
                  <a:lnTo>
                    <a:pt x="304800" y="0"/>
                  </a:lnTo>
                </a:path>
                <a:path w="647700">
                  <a:moveTo>
                    <a:pt x="342900" y="0"/>
                  </a:moveTo>
                  <a:lnTo>
                    <a:pt x="647700" y="0"/>
                  </a:lnTo>
                </a:path>
              </a:pathLst>
            </a:custGeom>
            <a:ln w="19812">
              <a:solidFill>
                <a:srgbClr val="FF0000"/>
              </a:solidFill>
            </a:ln>
          </p:spPr>
          <p:txBody>
            <a:bodyPr wrap="square" lIns="0" tIns="0" rIns="0" bIns="0" rtlCol="0"/>
            <a:lstStyle/>
            <a:p>
              <a:endParaRPr/>
            </a:p>
          </p:txBody>
        </p:sp>
        <p:sp>
          <p:nvSpPr>
            <p:cNvPr id="152" name="object 152"/>
            <p:cNvSpPr/>
            <p:nvPr/>
          </p:nvSpPr>
          <p:spPr>
            <a:xfrm>
              <a:off x="2251710" y="5839205"/>
              <a:ext cx="304800" cy="0"/>
            </a:xfrm>
            <a:custGeom>
              <a:avLst/>
              <a:gdLst/>
              <a:ahLst/>
              <a:cxnLst/>
              <a:rect l="l" t="t" r="r" b="b"/>
              <a:pathLst>
                <a:path w="304800">
                  <a:moveTo>
                    <a:pt x="0" y="0"/>
                  </a:moveTo>
                  <a:lnTo>
                    <a:pt x="304800" y="0"/>
                  </a:lnTo>
                </a:path>
              </a:pathLst>
            </a:custGeom>
            <a:ln w="19812">
              <a:solidFill>
                <a:srgbClr val="FF9933"/>
              </a:solidFill>
            </a:ln>
          </p:spPr>
          <p:txBody>
            <a:bodyPr wrap="square" lIns="0" tIns="0" rIns="0" bIns="0" rtlCol="0"/>
            <a:lstStyle/>
            <a:p>
              <a:endParaRPr/>
            </a:p>
          </p:txBody>
        </p:sp>
      </p:grpSp>
      <p:sp>
        <p:nvSpPr>
          <p:cNvPr id="153" name="object 153"/>
          <p:cNvSpPr txBox="1"/>
          <p:nvPr/>
        </p:nvSpPr>
        <p:spPr>
          <a:xfrm>
            <a:off x="496823" y="4966715"/>
            <a:ext cx="5862955" cy="3190240"/>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Pipelined</a:t>
            </a:r>
            <a:r>
              <a:rPr sz="2200" spc="-125" dirty="0">
                <a:latin typeface="Georgia"/>
                <a:cs typeface="Georgia"/>
              </a:rPr>
              <a:t> </a:t>
            </a:r>
            <a:r>
              <a:rPr sz="2200" spc="-10" dirty="0">
                <a:latin typeface="Georgia"/>
                <a:cs typeface="Georgia"/>
              </a:rPr>
              <a:t>Laundry</a:t>
            </a:r>
            <a:endParaRPr sz="2200">
              <a:latin typeface="Georgia"/>
              <a:cs typeface="Georgia"/>
            </a:endParaRPr>
          </a:p>
          <a:p>
            <a:pPr marL="2261235">
              <a:lnSpc>
                <a:spcPct val="100000"/>
              </a:lnSpc>
              <a:spcBef>
                <a:spcPts val="765"/>
              </a:spcBef>
            </a:pPr>
            <a:r>
              <a:rPr sz="1400" b="1" dirty="0">
                <a:solidFill>
                  <a:srgbClr val="006FC0"/>
                </a:solidFill>
                <a:latin typeface="Times New Roman"/>
                <a:cs typeface="Times New Roman"/>
              </a:rPr>
              <a:t>4</a:t>
            </a:r>
            <a:r>
              <a:rPr sz="1400" b="1" spc="5" dirty="0">
                <a:solidFill>
                  <a:srgbClr val="006FC0"/>
                </a:solidFill>
                <a:latin typeface="Times New Roman"/>
                <a:cs typeface="Times New Roman"/>
              </a:rPr>
              <a:t> </a:t>
            </a:r>
            <a:r>
              <a:rPr sz="1400" b="1" spc="-10" dirty="0">
                <a:solidFill>
                  <a:srgbClr val="006FC0"/>
                </a:solidFill>
                <a:latin typeface="Times New Roman"/>
                <a:cs typeface="Times New Roman"/>
              </a:rPr>
              <a:t>Hours</a:t>
            </a:r>
            <a:endParaRPr sz="1400">
              <a:latin typeface="Times New Roman"/>
              <a:cs typeface="Times New Roman"/>
            </a:endParaRPr>
          </a:p>
          <a:p>
            <a:pPr marL="276225">
              <a:lnSpc>
                <a:spcPts val="1575"/>
              </a:lnSpc>
              <a:spcBef>
                <a:spcPts val="120"/>
              </a:spcBef>
            </a:pPr>
            <a:r>
              <a:rPr sz="1400" spc="-20" dirty="0">
                <a:latin typeface="Times New Roman"/>
                <a:cs typeface="Times New Roman"/>
              </a:rPr>
              <a:t>Time</a:t>
            </a:r>
            <a:endParaRPr sz="1400">
              <a:latin typeface="Times New Roman"/>
              <a:cs typeface="Times New Roman"/>
            </a:endParaRPr>
          </a:p>
          <a:p>
            <a:pPr marL="792480">
              <a:lnSpc>
                <a:spcPts val="1575"/>
              </a:lnSpc>
              <a:tabLst>
                <a:tab pos="1147445" algn="l"/>
                <a:tab pos="1503680" algn="l"/>
                <a:tab pos="1813560" algn="l"/>
                <a:tab pos="2168525" algn="l"/>
                <a:tab pos="2524760" algn="l"/>
              </a:tabLst>
            </a:pP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40</a:t>
            </a:r>
            <a:endParaRPr sz="1400">
              <a:latin typeface="Times New Roman"/>
              <a:cs typeface="Times New Roman"/>
            </a:endParaRPr>
          </a:p>
          <a:p>
            <a:pPr>
              <a:lnSpc>
                <a:spcPct val="100000"/>
              </a:lnSpc>
              <a:spcBef>
                <a:spcPts val="355"/>
              </a:spcBef>
            </a:pPr>
            <a:endParaRPr sz="1400">
              <a:latin typeface="Times New Roman"/>
              <a:cs typeface="Times New Roman"/>
            </a:endParaRPr>
          </a:p>
          <a:p>
            <a:pPr marL="435609">
              <a:lnSpc>
                <a:spcPct val="100000"/>
              </a:lnSpc>
              <a:spcBef>
                <a:spcPts val="5"/>
              </a:spcBef>
            </a:pPr>
            <a:r>
              <a:rPr sz="1600" b="1" spc="-50" dirty="0">
                <a:latin typeface="Times New Roman"/>
                <a:cs typeface="Times New Roman"/>
              </a:rPr>
              <a:t>A</a:t>
            </a:r>
            <a:endParaRPr sz="1600">
              <a:latin typeface="Times New Roman"/>
              <a:cs typeface="Times New Roman"/>
            </a:endParaRPr>
          </a:p>
          <a:p>
            <a:pPr marL="435609">
              <a:lnSpc>
                <a:spcPct val="100000"/>
              </a:lnSpc>
              <a:spcBef>
                <a:spcPts val="1380"/>
              </a:spcBef>
            </a:pPr>
            <a:r>
              <a:rPr sz="1600" b="1" spc="-50" dirty="0">
                <a:latin typeface="Times New Roman"/>
                <a:cs typeface="Times New Roman"/>
              </a:rPr>
              <a:t>B</a:t>
            </a:r>
            <a:endParaRPr sz="1600">
              <a:latin typeface="Times New Roman"/>
              <a:cs typeface="Times New Roman"/>
            </a:endParaRPr>
          </a:p>
          <a:p>
            <a:pPr marL="435609" marR="5272405">
              <a:lnSpc>
                <a:spcPct val="140600"/>
              </a:lnSpc>
              <a:spcBef>
                <a:spcPts val="900"/>
              </a:spcBef>
            </a:pPr>
            <a:r>
              <a:rPr sz="1600" b="1" spc="-50" dirty="0">
                <a:latin typeface="Times New Roman"/>
                <a:cs typeface="Times New Roman"/>
              </a:rPr>
              <a:t>C D</a:t>
            </a:r>
            <a:endParaRPr sz="16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12291" y="2362961"/>
            <a:ext cx="59690" cy="1638300"/>
          </a:xfrm>
          <a:custGeom>
            <a:avLst/>
            <a:gdLst/>
            <a:ahLst/>
            <a:cxnLst/>
            <a:rect l="l" t="t" r="r" b="b"/>
            <a:pathLst>
              <a:path w="59690" h="1638300">
                <a:moveTo>
                  <a:pt x="19811" y="1578864"/>
                </a:moveTo>
                <a:lnTo>
                  <a:pt x="0" y="1578864"/>
                </a:lnTo>
                <a:lnTo>
                  <a:pt x="29717" y="1638300"/>
                </a:lnTo>
                <a:lnTo>
                  <a:pt x="54482" y="1588770"/>
                </a:lnTo>
                <a:lnTo>
                  <a:pt x="19811" y="1588770"/>
                </a:lnTo>
                <a:lnTo>
                  <a:pt x="19811" y="1578864"/>
                </a:lnTo>
                <a:close/>
              </a:path>
              <a:path w="59690" h="1638300">
                <a:moveTo>
                  <a:pt x="39623" y="0"/>
                </a:moveTo>
                <a:lnTo>
                  <a:pt x="19811" y="0"/>
                </a:lnTo>
                <a:lnTo>
                  <a:pt x="19811" y="1588770"/>
                </a:lnTo>
                <a:lnTo>
                  <a:pt x="39623" y="1588770"/>
                </a:lnTo>
                <a:lnTo>
                  <a:pt x="39623" y="0"/>
                </a:lnTo>
                <a:close/>
              </a:path>
              <a:path w="59690" h="1638300">
                <a:moveTo>
                  <a:pt x="59436" y="1578864"/>
                </a:moveTo>
                <a:lnTo>
                  <a:pt x="39623" y="1578864"/>
                </a:lnTo>
                <a:lnTo>
                  <a:pt x="39623" y="1588770"/>
                </a:lnTo>
                <a:lnTo>
                  <a:pt x="54482" y="1588770"/>
                </a:lnTo>
                <a:lnTo>
                  <a:pt x="59436" y="1578864"/>
                </a:lnTo>
                <a:close/>
              </a:path>
            </a:pathLst>
          </a:custGeom>
          <a:solidFill>
            <a:srgbClr val="000000"/>
          </a:solidFill>
        </p:spPr>
        <p:txBody>
          <a:bodyPr wrap="square" lIns="0" tIns="0" rIns="0" bIns="0" rtlCol="0"/>
          <a:lstStyle/>
          <a:p>
            <a:endParaRPr/>
          </a:p>
        </p:txBody>
      </p:sp>
      <p:sp>
        <p:nvSpPr>
          <p:cNvPr id="3" name="object 3"/>
          <p:cNvSpPr txBox="1"/>
          <p:nvPr/>
        </p:nvSpPr>
        <p:spPr>
          <a:xfrm>
            <a:off x="574723" y="2562605"/>
            <a:ext cx="223520" cy="819150"/>
          </a:xfrm>
          <a:prstGeom prst="rect">
            <a:avLst/>
          </a:prstGeom>
        </p:spPr>
        <p:txBody>
          <a:bodyPr vert="vert" wrap="square" lIns="0" tIns="0" rIns="0" bIns="0" rtlCol="0">
            <a:spAutoFit/>
          </a:bodyPr>
          <a:lstStyle/>
          <a:p>
            <a:pPr marL="12700">
              <a:lnSpc>
                <a:spcPts val="1635"/>
              </a:lnSpc>
            </a:pPr>
            <a:r>
              <a:rPr sz="1400" spc="-20" dirty="0">
                <a:latin typeface="Times New Roman"/>
                <a:cs typeface="Times New Roman"/>
              </a:rPr>
              <a:t>Task</a:t>
            </a:r>
            <a:r>
              <a:rPr sz="1400" spc="-45" dirty="0">
                <a:latin typeface="Times New Roman"/>
                <a:cs typeface="Times New Roman"/>
              </a:rPr>
              <a:t> </a:t>
            </a:r>
            <a:r>
              <a:rPr sz="1400" spc="-20" dirty="0">
                <a:latin typeface="Times New Roman"/>
                <a:cs typeface="Times New Roman"/>
              </a:rPr>
              <a:t>Order</a:t>
            </a:r>
            <a:endParaRPr sz="1400">
              <a:latin typeface="Times New Roman"/>
              <a:cs typeface="Times New Roman"/>
            </a:endParaRPr>
          </a:p>
        </p:txBody>
      </p:sp>
      <p:sp>
        <p:nvSpPr>
          <p:cNvPr id="4" name="object 4"/>
          <p:cNvSpPr txBox="1"/>
          <p:nvPr/>
        </p:nvSpPr>
        <p:spPr>
          <a:xfrm>
            <a:off x="919988" y="2404110"/>
            <a:ext cx="172085" cy="269240"/>
          </a:xfrm>
          <a:prstGeom prst="rect">
            <a:avLst/>
          </a:prstGeom>
        </p:spPr>
        <p:txBody>
          <a:bodyPr vert="horz" wrap="square" lIns="0" tIns="12065" rIns="0" bIns="0" rtlCol="0">
            <a:spAutoFit/>
          </a:bodyPr>
          <a:lstStyle/>
          <a:p>
            <a:pPr marL="12700">
              <a:lnSpc>
                <a:spcPct val="100000"/>
              </a:lnSpc>
              <a:spcBef>
                <a:spcPts val="95"/>
              </a:spcBef>
            </a:pPr>
            <a:r>
              <a:rPr sz="1600" b="1" spc="-50" dirty="0">
                <a:latin typeface="Times New Roman"/>
                <a:cs typeface="Times New Roman"/>
              </a:rPr>
              <a:t>A</a:t>
            </a:r>
            <a:endParaRPr sz="1600">
              <a:latin typeface="Times New Roman"/>
              <a:cs typeface="Times New Roman"/>
            </a:endParaRPr>
          </a:p>
        </p:txBody>
      </p:sp>
      <p:pic>
        <p:nvPicPr>
          <p:cNvPr id="5" name="object 5"/>
          <p:cNvPicPr/>
          <p:nvPr/>
        </p:nvPicPr>
        <p:blipFill>
          <a:blip r:embed="rId2" cstate="print"/>
          <a:stretch>
            <a:fillRect/>
          </a:stretch>
        </p:blipFill>
        <p:spPr>
          <a:xfrm>
            <a:off x="1219200" y="2321051"/>
            <a:ext cx="2048255" cy="1700784"/>
          </a:xfrm>
          <a:prstGeom prst="rect">
            <a:avLst/>
          </a:prstGeom>
        </p:spPr>
      </p:pic>
      <p:sp>
        <p:nvSpPr>
          <p:cNvPr id="6" name="object 6"/>
          <p:cNvSpPr/>
          <p:nvPr/>
        </p:nvSpPr>
        <p:spPr>
          <a:xfrm>
            <a:off x="773430" y="2362961"/>
            <a:ext cx="152400" cy="0"/>
          </a:xfrm>
          <a:custGeom>
            <a:avLst/>
            <a:gdLst/>
            <a:ahLst/>
            <a:cxnLst/>
            <a:rect l="l" t="t" r="r" b="b"/>
            <a:pathLst>
              <a:path w="152400">
                <a:moveTo>
                  <a:pt x="0" y="0"/>
                </a:moveTo>
                <a:lnTo>
                  <a:pt x="152400" y="0"/>
                </a:lnTo>
              </a:path>
            </a:pathLst>
          </a:custGeom>
          <a:ln w="4572">
            <a:solidFill>
              <a:srgbClr val="000000"/>
            </a:solidFill>
          </a:ln>
        </p:spPr>
        <p:txBody>
          <a:bodyPr wrap="square" lIns="0" tIns="0" rIns="0" bIns="0" rtlCol="0"/>
          <a:lstStyle/>
          <a:p>
            <a:endParaRPr/>
          </a:p>
        </p:txBody>
      </p:sp>
      <p:grpSp>
        <p:nvGrpSpPr>
          <p:cNvPr id="7" name="object 7"/>
          <p:cNvGrpSpPr/>
          <p:nvPr/>
        </p:nvGrpSpPr>
        <p:grpSpPr>
          <a:xfrm>
            <a:off x="1212850" y="1708150"/>
            <a:ext cx="2039620" cy="203200"/>
            <a:chOff x="1212850" y="1708150"/>
            <a:chExt cx="2039620" cy="203200"/>
          </a:xfrm>
        </p:grpSpPr>
        <p:sp>
          <p:nvSpPr>
            <p:cNvPr id="8" name="object 8"/>
            <p:cNvSpPr/>
            <p:nvPr/>
          </p:nvSpPr>
          <p:spPr>
            <a:xfrm>
              <a:off x="1223010" y="1710690"/>
              <a:ext cx="0" cy="152400"/>
            </a:xfrm>
            <a:custGeom>
              <a:avLst/>
              <a:gdLst/>
              <a:ahLst/>
              <a:cxnLst/>
              <a:rect l="l" t="t" r="r" b="b"/>
              <a:pathLst>
                <a:path h="152400">
                  <a:moveTo>
                    <a:pt x="0" y="152400"/>
                  </a:moveTo>
                  <a:lnTo>
                    <a:pt x="0" y="0"/>
                  </a:lnTo>
                </a:path>
              </a:pathLst>
            </a:custGeom>
            <a:ln w="4572">
              <a:solidFill>
                <a:srgbClr val="000000"/>
              </a:solidFill>
            </a:ln>
          </p:spPr>
          <p:txBody>
            <a:bodyPr wrap="square" lIns="0" tIns="0" rIns="0" bIns="0" rtlCol="0"/>
            <a:lstStyle/>
            <a:p>
              <a:endParaRPr/>
            </a:p>
          </p:txBody>
        </p:sp>
        <p:sp>
          <p:nvSpPr>
            <p:cNvPr id="9" name="object 9"/>
            <p:cNvSpPr/>
            <p:nvPr/>
          </p:nvSpPr>
          <p:spPr>
            <a:xfrm>
              <a:off x="1223010" y="1757171"/>
              <a:ext cx="2019300" cy="59690"/>
            </a:xfrm>
            <a:custGeom>
              <a:avLst/>
              <a:gdLst/>
              <a:ahLst/>
              <a:cxnLst/>
              <a:rect l="l" t="t" r="r" b="b"/>
              <a:pathLst>
                <a:path w="2019300" h="59689">
                  <a:moveTo>
                    <a:pt x="1959864" y="0"/>
                  </a:moveTo>
                  <a:lnTo>
                    <a:pt x="1959864" y="59435"/>
                  </a:lnTo>
                  <a:lnTo>
                    <a:pt x="1999488" y="39624"/>
                  </a:lnTo>
                  <a:lnTo>
                    <a:pt x="1969770" y="39624"/>
                  </a:lnTo>
                  <a:lnTo>
                    <a:pt x="1969770" y="19811"/>
                  </a:lnTo>
                  <a:lnTo>
                    <a:pt x="1999487" y="19811"/>
                  </a:lnTo>
                  <a:lnTo>
                    <a:pt x="1959864" y="0"/>
                  </a:lnTo>
                  <a:close/>
                </a:path>
                <a:path w="2019300" h="59689">
                  <a:moveTo>
                    <a:pt x="1959864" y="19811"/>
                  </a:moveTo>
                  <a:lnTo>
                    <a:pt x="0" y="19811"/>
                  </a:lnTo>
                  <a:lnTo>
                    <a:pt x="0" y="39624"/>
                  </a:lnTo>
                  <a:lnTo>
                    <a:pt x="1959864" y="39624"/>
                  </a:lnTo>
                  <a:lnTo>
                    <a:pt x="1959864" y="19811"/>
                  </a:lnTo>
                  <a:close/>
                </a:path>
                <a:path w="2019300" h="59689">
                  <a:moveTo>
                    <a:pt x="1999487" y="19811"/>
                  </a:moveTo>
                  <a:lnTo>
                    <a:pt x="1969770" y="19811"/>
                  </a:lnTo>
                  <a:lnTo>
                    <a:pt x="1969770" y="39624"/>
                  </a:lnTo>
                  <a:lnTo>
                    <a:pt x="1999488" y="39624"/>
                  </a:lnTo>
                  <a:lnTo>
                    <a:pt x="2019300" y="29718"/>
                  </a:lnTo>
                  <a:lnTo>
                    <a:pt x="1999487" y="19811"/>
                  </a:lnTo>
                  <a:close/>
                </a:path>
              </a:pathLst>
            </a:custGeom>
            <a:solidFill>
              <a:srgbClr val="000000"/>
            </a:solidFill>
          </p:spPr>
          <p:txBody>
            <a:bodyPr wrap="square" lIns="0" tIns="0" rIns="0" bIns="0" rtlCol="0"/>
            <a:lstStyle/>
            <a:p>
              <a:endParaRPr/>
            </a:p>
          </p:txBody>
        </p:sp>
        <p:sp>
          <p:nvSpPr>
            <p:cNvPr id="10" name="object 10"/>
            <p:cNvSpPr/>
            <p:nvPr/>
          </p:nvSpPr>
          <p:spPr>
            <a:xfrm>
              <a:off x="1223010" y="1901189"/>
              <a:ext cx="304800" cy="0"/>
            </a:xfrm>
            <a:custGeom>
              <a:avLst/>
              <a:gdLst/>
              <a:ahLst/>
              <a:cxnLst/>
              <a:rect l="l" t="t" r="r" b="b"/>
              <a:pathLst>
                <a:path w="304800">
                  <a:moveTo>
                    <a:pt x="0" y="0"/>
                  </a:moveTo>
                  <a:lnTo>
                    <a:pt x="304800" y="0"/>
                  </a:lnTo>
                </a:path>
              </a:pathLst>
            </a:custGeom>
            <a:ln w="19812">
              <a:solidFill>
                <a:srgbClr val="FF9933"/>
              </a:solidFill>
            </a:ln>
          </p:spPr>
          <p:txBody>
            <a:bodyPr wrap="square" lIns="0" tIns="0" rIns="0" bIns="0" rtlCol="0"/>
            <a:lstStyle/>
            <a:p>
              <a:endParaRPr/>
            </a:p>
          </p:txBody>
        </p:sp>
        <p:sp>
          <p:nvSpPr>
            <p:cNvPr id="11" name="object 11"/>
            <p:cNvSpPr/>
            <p:nvPr/>
          </p:nvSpPr>
          <p:spPr>
            <a:xfrm>
              <a:off x="1565909" y="1901189"/>
              <a:ext cx="1333500" cy="0"/>
            </a:xfrm>
            <a:custGeom>
              <a:avLst/>
              <a:gdLst/>
              <a:ahLst/>
              <a:cxnLst/>
              <a:rect l="l" t="t" r="r" b="b"/>
              <a:pathLst>
                <a:path w="1333500">
                  <a:moveTo>
                    <a:pt x="0" y="0"/>
                  </a:moveTo>
                  <a:lnTo>
                    <a:pt x="304800" y="0"/>
                  </a:lnTo>
                </a:path>
                <a:path w="1333500">
                  <a:moveTo>
                    <a:pt x="1028700" y="0"/>
                  </a:moveTo>
                  <a:lnTo>
                    <a:pt x="1333500" y="0"/>
                  </a:lnTo>
                </a:path>
              </a:pathLst>
            </a:custGeom>
            <a:ln w="19812">
              <a:solidFill>
                <a:srgbClr val="3399FF"/>
              </a:solidFill>
            </a:ln>
          </p:spPr>
          <p:txBody>
            <a:bodyPr wrap="square" lIns="0" tIns="0" rIns="0" bIns="0" rtlCol="0"/>
            <a:lstStyle/>
            <a:p>
              <a:endParaRPr/>
            </a:p>
          </p:txBody>
        </p:sp>
        <p:sp>
          <p:nvSpPr>
            <p:cNvPr id="12" name="object 12"/>
            <p:cNvSpPr/>
            <p:nvPr/>
          </p:nvSpPr>
          <p:spPr>
            <a:xfrm>
              <a:off x="2937510" y="1901189"/>
              <a:ext cx="304800" cy="0"/>
            </a:xfrm>
            <a:custGeom>
              <a:avLst/>
              <a:gdLst/>
              <a:ahLst/>
              <a:cxnLst/>
              <a:rect l="l" t="t" r="r" b="b"/>
              <a:pathLst>
                <a:path w="304800">
                  <a:moveTo>
                    <a:pt x="0" y="0"/>
                  </a:moveTo>
                  <a:lnTo>
                    <a:pt x="304800" y="0"/>
                  </a:lnTo>
                </a:path>
              </a:pathLst>
            </a:custGeom>
            <a:ln w="19812">
              <a:solidFill>
                <a:srgbClr val="FF0000"/>
              </a:solidFill>
            </a:ln>
          </p:spPr>
          <p:txBody>
            <a:bodyPr wrap="square" lIns="0" tIns="0" rIns="0" bIns="0" rtlCol="0"/>
            <a:lstStyle/>
            <a:p>
              <a:endParaRPr/>
            </a:p>
          </p:txBody>
        </p:sp>
      </p:grpSp>
      <p:sp>
        <p:nvSpPr>
          <p:cNvPr id="13" name="object 13"/>
          <p:cNvSpPr txBox="1"/>
          <p:nvPr/>
        </p:nvSpPr>
        <p:spPr>
          <a:xfrm>
            <a:off x="919988" y="2823210"/>
            <a:ext cx="160655" cy="269240"/>
          </a:xfrm>
          <a:prstGeom prst="rect">
            <a:avLst/>
          </a:prstGeom>
        </p:spPr>
        <p:txBody>
          <a:bodyPr vert="horz" wrap="square" lIns="0" tIns="12065" rIns="0" bIns="0" rtlCol="0">
            <a:spAutoFit/>
          </a:bodyPr>
          <a:lstStyle/>
          <a:p>
            <a:pPr marL="12700">
              <a:lnSpc>
                <a:spcPct val="100000"/>
              </a:lnSpc>
              <a:spcBef>
                <a:spcPts val="95"/>
              </a:spcBef>
            </a:pPr>
            <a:r>
              <a:rPr sz="1600" b="1" spc="-50" dirty="0">
                <a:latin typeface="Times New Roman"/>
                <a:cs typeface="Times New Roman"/>
              </a:rPr>
              <a:t>B</a:t>
            </a:r>
            <a:endParaRPr sz="1600">
              <a:latin typeface="Times New Roman"/>
              <a:cs typeface="Times New Roman"/>
            </a:endParaRPr>
          </a:p>
        </p:txBody>
      </p:sp>
      <p:sp>
        <p:nvSpPr>
          <p:cNvPr id="14" name="object 14"/>
          <p:cNvSpPr txBox="1"/>
          <p:nvPr/>
        </p:nvSpPr>
        <p:spPr>
          <a:xfrm>
            <a:off x="919988" y="3180994"/>
            <a:ext cx="172085" cy="711200"/>
          </a:xfrm>
          <a:prstGeom prst="rect">
            <a:avLst/>
          </a:prstGeom>
        </p:spPr>
        <p:txBody>
          <a:bodyPr vert="horz" wrap="square" lIns="0" tIns="12700" rIns="0" bIns="0" rtlCol="0">
            <a:spAutoFit/>
          </a:bodyPr>
          <a:lstStyle/>
          <a:p>
            <a:pPr marL="12700" marR="5080">
              <a:lnSpc>
                <a:spcPct val="140600"/>
              </a:lnSpc>
              <a:spcBef>
                <a:spcPts val="100"/>
              </a:spcBef>
            </a:pPr>
            <a:r>
              <a:rPr sz="1600" b="1" spc="-50" dirty="0">
                <a:latin typeface="Times New Roman"/>
                <a:cs typeface="Times New Roman"/>
              </a:rPr>
              <a:t>C D</a:t>
            </a:r>
            <a:endParaRPr sz="1600">
              <a:latin typeface="Times New Roman"/>
              <a:cs typeface="Times New Roman"/>
            </a:endParaRPr>
          </a:p>
        </p:txBody>
      </p:sp>
      <p:sp>
        <p:nvSpPr>
          <p:cNvPr id="15" name="object 15"/>
          <p:cNvSpPr txBox="1"/>
          <p:nvPr/>
        </p:nvSpPr>
        <p:spPr>
          <a:xfrm>
            <a:off x="760577" y="1752726"/>
            <a:ext cx="392430" cy="239395"/>
          </a:xfrm>
          <a:prstGeom prst="rect">
            <a:avLst/>
          </a:prstGeom>
        </p:spPr>
        <p:txBody>
          <a:bodyPr vert="horz" wrap="square" lIns="0" tIns="12700" rIns="0" bIns="0" rtlCol="0">
            <a:spAutoFit/>
          </a:bodyPr>
          <a:lstStyle/>
          <a:p>
            <a:pPr marL="12700">
              <a:lnSpc>
                <a:spcPct val="100000"/>
              </a:lnSpc>
              <a:spcBef>
                <a:spcPts val="100"/>
              </a:spcBef>
            </a:pPr>
            <a:r>
              <a:rPr sz="1400" spc="-20" dirty="0">
                <a:latin typeface="Times New Roman"/>
                <a:cs typeface="Times New Roman"/>
              </a:rPr>
              <a:t>Time</a:t>
            </a:r>
            <a:endParaRPr sz="1400">
              <a:latin typeface="Times New Roman"/>
              <a:cs typeface="Times New Roman"/>
            </a:endParaRPr>
          </a:p>
        </p:txBody>
      </p:sp>
      <p:sp>
        <p:nvSpPr>
          <p:cNvPr id="16" name="object 16"/>
          <p:cNvSpPr txBox="1"/>
          <p:nvPr/>
        </p:nvSpPr>
        <p:spPr>
          <a:xfrm>
            <a:off x="1276858" y="1524126"/>
            <a:ext cx="2104390" cy="655320"/>
          </a:xfrm>
          <a:prstGeom prst="rect">
            <a:avLst/>
          </a:prstGeom>
        </p:spPr>
        <p:txBody>
          <a:bodyPr vert="horz" wrap="square" lIns="0" tIns="12700" rIns="0" bIns="0" rtlCol="0">
            <a:spAutoFit/>
          </a:bodyPr>
          <a:lstStyle/>
          <a:p>
            <a:pPr marR="5080" algn="r">
              <a:lnSpc>
                <a:spcPct val="100000"/>
              </a:lnSpc>
              <a:spcBef>
                <a:spcPts val="100"/>
              </a:spcBef>
            </a:pPr>
            <a:r>
              <a:rPr sz="1400" b="1" dirty="0">
                <a:solidFill>
                  <a:srgbClr val="006FC0"/>
                </a:solidFill>
                <a:latin typeface="Times New Roman"/>
                <a:cs typeface="Times New Roman"/>
              </a:rPr>
              <a:t>4</a:t>
            </a:r>
            <a:r>
              <a:rPr sz="1400" b="1" spc="5" dirty="0">
                <a:solidFill>
                  <a:srgbClr val="006FC0"/>
                </a:solidFill>
                <a:latin typeface="Times New Roman"/>
                <a:cs typeface="Times New Roman"/>
              </a:rPr>
              <a:t> </a:t>
            </a:r>
            <a:r>
              <a:rPr sz="1400" b="1" spc="-10" dirty="0">
                <a:solidFill>
                  <a:srgbClr val="006FC0"/>
                </a:solidFill>
                <a:latin typeface="Times New Roman"/>
                <a:cs typeface="Times New Roman"/>
              </a:rPr>
              <a:t>Hours</a:t>
            </a:r>
            <a:endParaRPr sz="1400">
              <a:latin typeface="Times New Roman"/>
              <a:cs typeface="Times New Roman"/>
            </a:endParaRPr>
          </a:p>
          <a:p>
            <a:pPr marL="12700">
              <a:lnSpc>
                <a:spcPct val="100000"/>
              </a:lnSpc>
              <a:spcBef>
                <a:spcPts val="1595"/>
              </a:spcBef>
              <a:tabLst>
                <a:tab pos="367030" algn="l"/>
                <a:tab pos="723265" algn="l"/>
                <a:tab pos="1033780" algn="l"/>
                <a:tab pos="1388745" algn="l"/>
                <a:tab pos="1744345" algn="l"/>
              </a:tabLst>
            </a:pP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40</a:t>
            </a:r>
            <a:r>
              <a:rPr sz="1400" dirty="0">
                <a:latin typeface="Times New Roman"/>
                <a:cs typeface="Times New Roman"/>
              </a:rPr>
              <a:t>	</a:t>
            </a:r>
            <a:r>
              <a:rPr sz="1400" spc="-25" dirty="0">
                <a:latin typeface="Times New Roman"/>
                <a:cs typeface="Times New Roman"/>
              </a:rPr>
              <a:t>40</a:t>
            </a:r>
            <a:endParaRPr sz="1400">
              <a:latin typeface="Times New Roman"/>
              <a:cs typeface="Times New Roman"/>
            </a:endParaRPr>
          </a:p>
        </p:txBody>
      </p:sp>
      <p:grpSp>
        <p:nvGrpSpPr>
          <p:cNvPr id="17" name="object 17"/>
          <p:cNvGrpSpPr/>
          <p:nvPr/>
        </p:nvGrpSpPr>
        <p:grpSpPr>
          <a:xfrm>
            <a:off x="1565910" y="1815083"/>
            <a:ext cx="1333500" cy="96520"/>
            <a:chOff x="1565910" y="1815083"/>
            <a:chExt cx="1333500" cy="96520"/>
          </a:xfrm>
        </p:grpSpPr>
        <p:sp>
          <p:nvSpPr>
            <p:cNvPr id="18" name="object 18"/>
            <p:cNvSpPr/>
            <p:nvPr/>
          </p:nvSpPr>
          <p:spPr>
            <a:xfrm>
              <a:off x="2594610" y="1863089"/>
              <a:ext cx="304800" cy="0"/>
            </a:xfrm>
            <a:custGeom>
              <a:avLst/>
              <a:gdLst/>
              <a:ahLst/>
              <a:cxnLst/>
              <a:rect l="l" t="t" r="r" b="b"/>
              <a:pathLst>
                <a:path w="304800">
                  <a:moveTo>
                    <a:pt x="0" y="0"/>
                  </a:moveTo>
                  <a:lnTo>
                    <a:pt x="304800" y="0"/>
                  </a:lnTo>
                </a:path>
              </a:pathLst>
            </a:custGeom>
            <a:ln w="19812">
              <a:solidFill>
                <a:srgbClr val="FF0000"/>
              </a:solidFill>
            </a:ln>
          </p:spPr>
          <p:txBody>
            <a:bodyPr wrap="square" lIns="0" tIns="0" rIns="0" bIns="0" rtlCol="0"/>
            <a:lstStyle/>
            <a:p>
              <a:endParaRPr/>
            </a:p>
          </p:txBody>
        </p:sp>
        <p:sp>
          <p:nvSpPr>
            <p:cNvPr id="19" name="object 19"/>
            <p:cNvSpPr/>
            <p:nvPr/>
          </p:nvSpPr>
          <p:spPr>
            <a:xfrm>
              <a:off x="1908810" y="1901189"/>
              <a:ext cx="647700" cy="0"/>
            </a:xfrm>
            <a:custGeom>
              <a:avLst/>
              <a:gdLst/>
              <a:ahLst/>
              <a:cxnLst/>
              <a:rect l="l" t="t" r="r" b="b"/>
              <a:pathLst>
                <a:path w="647700">
                  <a:moveTo>
                    <a:pt x="0" y="0"/>
                  </a:moveTo>
                  <a:lnTo>
                    <a:pt x="304800" y="0"/>
                  </a:lnTo>
                </a:path>
                <a:path w="647700">
                  <a:moveTo>
                    <a:pt x="342900" y="0"/>
                  </a:moveTo>
                  <a:lnTo>
                    <a:pt x="647700" y="0"/>
                  </a:lnTo>
                </a:path>
              </a:pathLst>
            </a:custGeom>
            <a:ln w="19812">
              <a:solidFill>
                <a:srgbClr val="3399FF"/>
              </a:solidFill>
            </a:ln>
          </p:spPr>
          <p:txBody>
            <a:bodyPr wrap="square" lIns="0" tIns="0" rIns="0" bIns="0" rtlCol="0"/>
            <a:lstStyle/>
            <a:p>
              <a:endParaRPr/>
            </a:p>
          </p:txBody>
        </p:sp>
        <p:sp>
          <p:nvSpPr>
            <p:cNvPr id="20" name="object 20"/>
            <p:cNvSpPr/>
            <p:nvPr/>
          </p:nvSpPr>
          <p:spPr>
            <a:xfrm>
              <a:off x="1565910" y="1863089"/>
              <a:ext cx="647700" cy="0"/>
            </a:xfrm>
            <a:custGeom>
              <a:avLst/>
              <a:gdLst/>
              <a:ahLst/>
              <a:cxnLst/>
              <a:rect l="l" t="t" r="r" b="b"/>
              <a:pathLst>
                <a:path w="647700">
                  <a:moveTo>
                    <a:pt x="0" y="0"/>
                  </a:moveTo>
                  <a:lnTo>
                    <a:pt x="304800" y="0"/>
                  </a:lnTo>
                </a:path>
                <a:path w="647700">
                  <a:moveTo>
                    <a:pt x="342900" y="0"/>
                  </a:moveTo>
                  <a:lnTo>
                    <a:pt x="647700" y="0"/>
                  </a:lnTo>
                </a:path>
              </a:pathLst>
            </a:custGeom>
            <a:ln w="19812">
              <a:solidFill>
                <a:srgbClr val="FF9933"/>
              </a:solidFill>
            </a:ln>
          </p:spPr>
          <p:txBody>
            <a:bodyPr wrap="square" lIns="0" tIns="0" rIns="0" bIns="0" rtlCol="0"/>
            <a:lstStyle/>
            <a:p>
              <a:endParaRPr/>
            </a:p>
          </p:txBody>
        </p:sp>
        <p:sp>
          <p:nvSpPr>
            <p:cNvPr id="21" name="object 21"/>
            <p:cNvSpPr/>
            <p:nvPr/>
          </p:nvSpPr>
          <p:spPr>
            <a:xfrm>
              <a:off x="1908810" y="1824989"/>
              <a:ext cx="647700" cy="0"/>
            </a:xfrm>
            <a:custGeom>
              <a:avLst/>
              <a:gdLst/>
              <a:ahLst/>
              <a:cxnLst/>
              <a:rect l="l" t="t" r="r" b="b"/>
              <a:pathLst>
                <a:path w="647700">
                  <a:moveTo>
                    <a:pt x="0" y="0"/>
                  </a:moveTo>
                  <a:lnTo>
                    <a:pt x="304800" y="0"/>
                  </a:lnTo>
                </a:path>
                <a:path w="647700">
                  <a:moveTo>
                    <a:pt x="342900" y="0"/>
                  </a:moveTo>
                  <a:lnTo>
                    <a:pt x="647700" y="0"/>
                  </a:lnTo>
                </a:path>
              </a:pathLst>
            </a:custGeom>
            <a:ln w="19812">
              <a:solidFill>
                <a:srgbClr val="FF0000"/>
              </a:solidFill>
            </a:ln>
          </p:spPr>
          <p:txBody>
            <a:bodyPr wrap="square" lIns="0" tIns="0" rIns="0" bIns="0" rtlCol="0"/>
            <a:lstStyle/>
            <a:p>
              <a:endParaRPr/>
            </a:p>
          </p:txBody>
        </p:sp>
        <p:sp>
          <p:nvSpPr>
            <p:cNvPr id="22" name="object 22"/>
            <p:cNvSpPr/>
            <p:nvPr/>
          </p:nvSpPr>
          <p:spPr>
            <a:xfrm>
              <a:off x="2251710" y="1863089"/>
              <a:ext cx="304800" cy="0"/>
            </a:xfrm>
            <a:custGeom>
              <a:avLst/>
              <a:gdLst/>
              <a:ahLst/>
              <a:cxnLst/>
              <a:rect l="l" t="t" r="r" b="b"/>
              <a:pathLst>
                <a:path w="304800">
                  <a:moveTo>
                    <a:pt x="0" y="0"/>
                  </a:moveTo>
                  <a:lnTo>
                    <a:pt x="304800" y="0"/>
                  </a:lnTo>
                </a:path>
              </a:pathLst>
            </a:custGeom>
            <a:ln w="19812">
              <a:solidFill>
                <a:srgbClr val="FF9933"/>
              </a:solidFill>
            </a:ln>
          </p:spPr>
          <p:txBody>
            <a:bodyPr wrap="square" lIns="0" tIns="0" rIns="0" bIns="0" rtlCol="0"/>
            <a:lstStyle/>
            <a:p>
              <a:endParaRPr/>
            </a:p>
          </p:txBody>
        </p:sp>
      </p:grpSp>
      <p:grpSp>
        <p:nvGrpSpPr>
          <p:cNvPr id="23" name="object 23"/>
          <p:cNvGrpSpPr/>
          <p:nvPr/>
        </p:nvGrpSpPr>
        <p:grpSpPr>
          <a:xfrm>
            <a:off x="1175003" y="2200655"/>
            <a:ext cx="1772920" cy="1849120"/>
            <a:chOff x="1175003" y="2200655"/>
            <a:chExt cx="1772920" cy="1849120"/>
          </a:xfrm>
        </p:grpSpPr>
        <p:sp>
          <p:nvSpPr>
            <p:cNvPr id="24" name="object 24"/>
            <p:cNvSpPr/>
            <p:nvPr/>
          </p:nvSpPr>
          <p:spPr>
            <a:xfrm>
              <a:off x="1184909" y="2286761"/>
              <a:ext cx="1752600" cy="1752600"/>
            </a:xfrm>
            <a:custGeom>
              <a:avLst/>
              <a:gdLst/>
              <a:ahLst/>
              <a:cxnLst/>
              <a:rect l="l" t="t" r="r" b="b"/>
              <a:pathLst>
                <a:path w="1752600" h="1752600">
                  <a:moveTo>
                    <a:pt x="1409700" y="1352550"/>
                  </a:moveTo>
                  <a:lnTo>
                    <a:pt x="1414182" y="1330279"/>
                  </a:lnTo>
                  <a:lnTo>
                    <a:pt x="1426416" y="1312116"/>
                  </a:lnTo>
                  <a:lnTo>
                    <a:pt x="1444579" y="1299882"/>
                  </a:lnTo>
                  <a:lnTo>
                    <a:pt x="1466850" y="1295400"/>
                  </a:lnTo>
                  <a:lnTo>
                    <a:pt x="1695450" y="1295400"/>
                  </a:lnTo>
                  <a:lnTo>
                    <a:pt x="1717720" y="1299882"/>
                  </a:lnTo>
                  <a:lnTo>
                    <a:pt x="1735883" y="1312116"/>
                  </a:lnTo>
                  <a:lnTo>
                    <a:pt x="1748117" y="1330279"/>
                  </a:lnTo>
                  <a:lnTo>
                    <a:pt x="1752600" y="1352550"/>
                  </a:lnTo>
                  <a:lnTo>
                    <a:pt x="1752600" y="1695450"/>
                  </a:lnTo>
                  <a:lnTo>
                    <a:pt x="1748117" y="1717720"/>
                  </a:lnTo>
                  <a:lnTo>
                    <a:pt x="1735883" y="1735883"/>
                  </a:lnTo>
                  <a:lnTo>
                    <a:pt x="1717720" y="1748117"/>
                  </a:lnTo>
                  <a:lnTo>
                    <a:pt x="1695450" y="1752600"/>
                  </a:lnTo>
                  <a:lnTo>
                    <a:pt x="1466850" y="1752600"/>
                  </a:lnTo>
                  <a:lnTo>
                    <a:pt x="1444579" y="1748117"/>
                  </a:lnTo>
                  <a:lnTo>
                    <a:pt x="1426416" y="1735883"/>
                  </a:lnTo>
                  <a:lnTo>
                    <a:pt x="1414182" y="1717720"/>
                  </a:lnTo>
                  <a:lnTo>
                    <a:pt x="1409700" y="1695450"/>
                  </a:lnTo>
                  <a:lnTo>
                    <a:pt x="1409700" y="1352550"/>
                  </a:lnTo>
                  <a:close/>
                </a:path>
                <a:path w="1752600" h="1752600">
                  <a:moveTo>
                    <a:pt x="0" y="76200"/>
                  </a:moveTo>
                  <a:lnTo>
                    <a:pt x="5987" y="46559"/>
                  </a:lnTo>
                  <a:lnTo>
                    <a:pt x="22317" y="22336"/>
                  </a:lnTo>
                  <a:lnTo>
                    <a:pt x="46537" y="5994"/>
                  </a:lnTo>
                  <a:lnTo>
                    <a:pt x="76200" y="0"/>
                  </a:lnTo>
                  <a:lnTo>
                    <a:pt x="1028700" y="0"/>
                  </a:lnTo>
                  <a:lnTo>
                    <a:pt x="1058340" y="5994"/>
                  </a:lnTo>
                  <a:lnTo>
                    <a:pt x="1082563" y="22336"/>
                  </a:lnTo>
                  <a:lnTo>
                    <a:pt x="1098905" y="46559"/>
                  </a:lnTo>
                  <a:lnTo>
                    <a:pt x="1104900" y="76200"/>
                  </a:lnTo>
                  <a:lnTo>
                    <a:pt x="1104900" y="381000"/>
                  </a:lnTo>
                  <a:lnTo>
                    <a:pt x="1098905" y="410640"/>
                  </a:lnTo>
                  <a:lnTo>
                    <a:pt x="1082563" y="434863"/>
                  </a:lnTo>
                  <a:lnTo>
                    <a:pt x="1058340" y="451205"/>
                  </a:lnTo>
                  <a:lnTo>
                    <a:pt x="1028700" y="457200"/>
                  </a:lnTo>
                  <a:lnTo>
                    <a:pt x="76200" y="457200"/>
                  </a:lnTo>
                  <a:lnTo>
                    <a:pt x="46537" y="451205"/>
                  </a:lnTo>
                  <a:lnTo>
                    <a:pt x="22317" y="434863"/>
                  </a:lnTo>
                  <a:lnTo>
                    <a:pt x="5987" y="410640"/>
                  </a:lnTo>
                  <a:lnTo>
                    <a:pt x="0" y="381000"/>
                  </a:lnTo>
                  <a:lnTo>
                    <a:pt x="0" y="76200"/>
                  </a:lnTo>
                  <a:close/>
                </a:path>
              </a:pathLst>
            </a:custGeom>
            <a:ln w="19812">
              <a:solidFill>
                <a:srgbClr val="00CC00"/>
              </a:solidFill>
            </a:ln>
          </p:spPr>
          <p:txBody>
            <a:bodyPr wrap="square" lIns="0" tIns="0" rIns="0" bIns="0" rtlCol="0"/>
            <a:lstStyle/>
            <a:p>
              <a:endParaRPr/>
            </a:p>
          </p:txBody>
        </p:sp>
        <p:sp>
          <p:nvSpPr>
            <p:cNvPr id="25" name="object 25"/>
            <p:cNvSpPr/>
            <p:nvPr/>
          </p:nvSpPr>
          <p:spPr>
            <a:xfrm>
              <a:off x="1337309" y="2561843"/>
              <a:ext cx="381000" cy="59690"/>
            </a:xfrm>
            <a:custGeom>
              <a:avLst/>
              <a:gdLst/>
              <a:ahLst/>
              <a:cxnLst/>
              <a:rect l="l" t="t" r="r" b="b"/>
              <a:pathLst>
                <a:path w="381000" h="59689">
                  <a:moveTo>
                    <a:pt x="321564" y="0"/>
                  </a:moveTo>
                  <a:lnTo>
                    <a:pt x="321564" y="59435"/>
                  </a:lnTo>
                  <a:lnTo>
                    <a:pt x="361187" y="39624"/>
                  </a:lnTo>
                  <a:lnTo>
                    <a:pt x="331470" y="39624"/>
                  </a:lnTo>
                  <a:lnTo>
                    <a:pt x="331470" y="19811"/>
                  </a:lnTo>
                  <a:lnTo>
                    <a:pt x="361188" y="19811"/>
                  </a:lnTo>
                  <a:lnTo>
                    <a:pt x="321564" y="0"/>
                  </a:lnTo>
                  <a:close/>
                </a:path>
                <a:path w="381000" h="59689">
                  <a:moveTo>
                    <a:pt x="321564" y="19811"/>
                  </a:moveTo>
                  <a:lnTo>
                    <a:pt x="0" y="19811"/>
                  </a:lnTo>
                  <a:lnTo>
                    <a:pt x="0" y="39624"/>
                  </a:lnTo>
                  <a:lnTo>
                    <a:pt x="321564" y="39624"/>
                  </a:lnTo>
                  <a:lnTo>
                    <a:pt x="321564" y="19811"/>
                  </a:lnTo>
                  <a:close/>
                </a:path>
                <a:path w="381000" h="59689">
                  <a:moveTo>
                    <a:pt x="361188" y="19811"/>
                  </a:moveTo>
                  <a:lnTo>
                    <a:pt x="331470" y="19811"/>
                  </a:lnTo>
                  <a:lnTo>
                    <a:pt x="331470" y="39624"/>
                  </a:lnTo>
                  <a:lnTo>
                    <a:pt x="361187" y="39624"/>
                  </a:lnTo>
                  <a:lnTo>
                    <a:pt x="381000" y="29717"/>
                  </a:lnTo>
                  <a:lnTo>
                    <a:pt x="361188" y="19811"/>
                  </a:lnTo>
                  <a:close/>
                </a:path>
              </a:pathLst>
            </a:custGeom>
            <a:solidFill>
              <a:srgbClr val="00CC00"/>
            </a:solidFill>
          </p:spPr>
          <p:txBody>
            <a:bodyPr wrap="square" lIns="0" tIns="0" rIns="0" bIns="0" rtlCol="0"/>
            <a:lstStyle/>
            <a:p>
              <a:endParaRPr/>
            </a:p>
          </p:txBody>
        </p:sp>
        <p:sp>
          <p:nvSpPr>
            <p:cNvPr id="26" name="object 26"/>
            <p:cNvSpPr/>
            <p:nvPr/>
          </p:nvSpPr>
          <p:spPr>
            <a:xfrm>
              <a:off x="1870709" y="2210561"/>
              <a:ext cx="419100" cy="1447800"/>
            </a:xfrm>
            <a:custGeom>
              <a:avLst/>
              <a:gdLst/>
              <a:ahLst/>
              <a:cxnLst/>
              <a:rect l="l" t="t" r="r" b="b"/>
              <a:pathLst>
                <a:path w="419100" h="1447800">
                  <a:moveTo>
                    <a:pt x="0" y="69850"/>
                  </a:moveTo>
                  <a:lnTo>
                    <a:pt x="5484" y="42648"/>
                  </a:lnTo>
                  <a:lnTo>
                    <a:pt x="20446" y="20447"/>
                  </a:lnTo>
                  <a:lnTo>
                    <a:pt x="42648" y="5484"/>
                  </a:lnTo>
                  <a:lnTo>
                    <a:pt x="69850" y="0"/>
                  </a:lnTo>
                  <a:lnTo>
                    <a:pt x="349250" y="0"/>
                  </a:lnTo>
                  <a:lnTo>
                    <a:pt x="376451" y="5484"/>
                  </a:lnTo>
                  <a:lnTo>
                    <a:pt x="398652" y="20447"/>
                  </a:lnTo>
                  <a:lnTo>
                    <a:pt x="413615" y="42648"/>
                  </a:lnTo>
                  <a:lnTo>
                    <a:pt x="419100" y="69850"/>
                  </a:lnTo>
                  <a:lnTo>
                    <a:pt x="419100" y="1377950"/>
                  </a:lnTo>
                  <a:lnTo>
                    <a:pt x="413615" y="1405151"/>
                  </a:lnTo>
                  <a:lnTo>
                    <a:pt x="398653" y="1427353"/>
                  </a:lnTo>
                  <a:lnTo>
                    <a:pt x="376451" y="1442315"/>
                  </a:lnTo>
                  <a:lnTo>
                    <a:pt x="349250" y="1447800"/>
                  </a:lnTo>
                  <a:lnTo>
                    <a:pt x="69850" y="1447800"/>
                  </a:lnTo>
                  <a:lnTo>
                    <a:pt x="42648" y="1442315"/>
                  </a:lnTo>
                  <a:lnTo>
                    <a:pt x="20447" y="1427353"/>
                  </a:lnTo>
                  <a:lnTo>
                    <a:pt x="5484" y="1405151"/>
                  </a:lnTo>
                  <a:lnTo>
                    <a:pt x="0" y="1377950"/>
                  </a:lnTo>
                  <a:lnTo>
                    <a:pt x="0" y="69850"/>
                  </a:lnTo>
                  <a:close/>
                </a:path>
              </a:pathLst>
            </a:custGeom>
            <a:ln w="19812">
              <a:solidFill>
                <a:srgbClr val="00CC00"/>
              </a:solidFill>
            </a:ln>
          </p:spPr>
          <p:txBody>
            <a:bodyPr wrap="square" lIns="0" tIns="0" rIns="0" bIns="0" rtlCol="0"/>
            <a:lstStyle/>
            <a:p>
              <a:endParaRPr/>
            </a:p>
          </p:txBody>
        </p:sp>
      </p:grpSp>
      <p:sp>
        <p:nvSpPr>
          <p:cNvPr id="27" name="object 27"/>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2200" dirty="0"/>
              <a:t>Pipelined</a:t>
            </a:r>
            <a:r>
              <a:rPr sz="2200" spc="-125" dirty="0"/>
              <a:t> </a:t>
            </a:r>
            <a:r>
              <a:rPr sz="2200" spc="-10" dirty="0"/>
              <a:t>Laundry</a:t>
            </a:r>
            <a:endParaRPr sz="2200"/>
          </a:p>
        </p:txBody>
      </p:sp>
      <p:sp>
        <p:nvSpPr>
          <p:cNvPr id="28" name="object 28"/>
          <p:cNvSpPr txBox="1"/>
          <p:nvPr/>
        </p:nvSpPr>
        <p:spPr>
          <a:xfrm>
            <a:off x="3812794" y="1655444"/>
            <a:ext cx="1059815" cy="208279"/>
          </a:xfrm>
          <a:prstGeom prst="rect">
            <a:avLst/>
          </a:prstGeom>
        </p:spPr>
        <p:txBody>
          <a:bodyPr vert="horz" wrap="square" lIns="0" tIns="12700" rIns="0" bIns="0" rtlCol="0">
            <a:spAutoFit/>
          </a:bodyPr>
          <a:lstStyle/>
          <a:p>
            <a:pPr marL="182245" indent="-169545">
              <a:lnSpc>
                <a:spcPct val="100000"/>
              </a:lnSpc>
              <a:spcBef>
                <a:spcPts val="100"/>
              </a:spcBef>
              <a:buFont typeface="Wingdings"/>
              <a:buChar char=""/>
              <a:tabLst>
                <a:tab pos="182245" algn="l"/>
              </a:tabLst>
            </a:pPr>
            <a:r>
              <a:rPr sz="1200" b="1" u="sng" spc="-10" dirty="0">
                <a:solidFill>
                  <a:srgbClr val="3E762B"/>
                </a:solidFill>
                <a:uFill>
                  <a:solidFill>
                    <a:srgbClr val="3E762B"/>
                  </a:solidFill>
                </a:uFill>
                <a:latin typeface="Times New Roman"/>
                <a:cs typeface="Times New Roman"/>
              </a:rPr>
              <a:t>Observations</a:t>
            </a:r>
            <a:endParaRPr sz="1200">
              <a:latin typeface="Times New Roman"/>
              <a:cs typeface="Times New Roman"/>
            </a:endParaRPr>
          </a:p>
        </p:txBody>
      </p:sp>
      <p:sp>
        <p:nvSpPr>
          <p:cNvPr id="29" name="object 29"/>
          <p:cNvSpPr txBox="1"/>
          <p:nvPr/>
        </p:nvSpPr>
        <p:spPr>
          <a:xfrm>
            <a:off x="4041394" y="1838324"/>
            <a:ext cx="2055495" cy="2052955"/>
          </a:xfrm>
          <a:prstGeom prst="rect">
            <a:avLst/>
          </a:prstGeom>
        </p:spPr>
        <p:txBody>
          <a:bodyPr vert="horz" wrap="square" lIns="0" tIns="88900" rIns="0" bIns="0" rtlCol="0">
            <a:spAutoFit/>
          </a:bodyPr>
          <a:lstStyle/>
          <a:p>
            <a:pPr marL="184150" indent="-171450">
              <a:lnSpc>
                <a:spcPct val="100000"/>
              </a:lnSpc>
              <a:spcBef>
                <a:spcPts val="700"/>
              </a:spcBef>
              <a:buFont typeface="Wingdings"/>
              <a:buChar char=""/>
              <a:tabLst>
                <a:tab pos="184150"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task</a:t>
            </a:r>
            <a:r>
              <a:rPr sz="1200" spc="-20" dirty="0">
                <a:latin typeface="Times New Roman"/>
                <a:cs typeface="Times New Roman"/>
              </a:rPr>
              <a:t> </a:t>
            </a:r>
            <a:r>
              <a:rPr sz="1200" dirty="0">
                <a:latin typeface="Times New Roman"/>
                <a:cs typeface="Times New Roman"/>
              </a:rPr>
              <a:t>has</a:t>
            </a:r>
            <a:r>
              <a:rPr sz="1200" spc="-1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series</a:t>
            </a:r>
            <a:r>
              <a:rPr sz="1200" spc="-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10" dirty="0">
                <a:latin typeface="Times New Roman"/>
                <a:cs typeface="Times New Roman"/>
              </a:rPr>
              <a:t>stages</a:t>
            </a:r>
            <a:endParaRPr sz="1200">
              <a:latin typeface="Times New Roman"/>
              <a:cs typeface="Times New Roman"/>
            </a:endParaRPr>
          </a:p>
          <a:p>
            <a:pPr marL="183515" marR="70485" indent="-171450">
              <a:lnSpc>
                <a:spcPct val="100000"/>
              </a:lnSpc>
              <a:spcBef>
                <a:spcPts val="600"/>
              </a:spcBef>
              <a:buFont typeface="Wingdings"/>
              <a:buChar char=""/>
              <a:tabLst>
                <a:tab pos="184785" algn="l"/>
              </a:tabLst>
            </a:pPr>
            <a:r>
              <a:rPr sz="1200" dirty="0">
                <a:latin typeface="Times New Roman"/>
                <a:cs typeface="Times New Roman"/>
              </a:rPr>
              <a:t>Stage</a:t>
            </a:r>
            <a:r>
              <a:rPr sz="1200" spc="-55" dirty="0">
                <a:latin typeface="Times New Roman"/>
                <a:cs typeface="Times New Roman"/>
              </a:rPr>
              <a:t> </a:t>
            </a:r>
            <a:r>
              <a:rPr sz="1200" dirty="0">
                <a:latin typeface="Times New Roman"/>
                <a:cs typeface="Times New Roman"/>
              </a:rPr>
              <a:t>dependency:</a:t>
            </a:r>
            <a:r>
              <a:rPr sz="1200" spc="-20" dirty="0">
                <a:latin typeface="Times New Roman"/>
                <a:cs typeface="Times New Roman"/>
              </a:rPr>
              <a:t> </a:t>
            </a:r>
            <a:r>
              <a:rPr sz="1200" dirty="0">
                <a:latin typeface="Times New Roman"/>
                <a:cs typeface="Times New Roman"/>
              </a:rPr>
              <a:t>e.g.,</a:t>
            </a:r>
            <a:r>
              <a:rPr sz="1200" spc="-45" dirty="0">
                <a:latin typeface="Times New Roman"/>
                <a:cs typeface="Times New Roman"/>
              </a:rPr>
              <a:t> </a:t>
            </a:r>
            <a:r>
              <a:rPr sz="1200" spc="-20" dirty="0">
                <a:latin typeface="Times New Roman"/>
                <a:cs typeface="Times New Roman"/>
              </a:rPr>
              <a:t>wash 	</a:t>
            </a:r>
            <a:r>
              <a:rPr sz="1200" dirty="0">
                <a:latin typeface="Times New Roman"/>
                <a:cs typeface="Times New Roman"/>
              </a:rPr>
              <a:t>before</a:t>
            </a:r>
            <a:r>
              <a:rPr sz="1200" spc="-45" dirty="0">
                <a:latin typeface="Times New Roman"/>
                <a:cs typeface="Times New Roman"/>
              </a:rPr>
              <a:t> </a:t>
            </a:r>
            <a:r>
              <a:rPr sz="1200" spc="-25" dirty="0">
                <a:latin typeface="Times New Roman"/>
                <a:cs typeface="Times New Roman"/>
              </a:rPr>
              <a:t>dry</a:t>
            </a:r>
            <a:endParaRPr sz="1200">
              <a:latin typeface="Times New Roman"/>
              <a:cs typeface="Times New Roman"/>
            </a:endParaRPr>
          </a:p>
          <a:p>
            <a:pPr marL="184785" marR="56515" indent="-172720">
              <a:lnSpc>
                <a:spcPct val="100000"/>
              </a:lnSpc>
              <a:spcBef>
                <a:spcPts val="600"/>
              </a:spcBef>
              <a:buFont typeface="Wingdings"/>
              <a:buChar char=""/>
              <a:tabLst>
                <a:tab pos="184785" algn="l"/>
                <a:tab pos="222885" algn="l"/>
              </a:tabLst>
            </a:pPr>
            <a:r>
              <a:rPr sz="1200" dirty="0">
                <a:latin typeface="Times New Roman"/>
                <a:cs typeface="Times New Roman"/>
              </a:rPr>
              <a:t>	</a:t>
            </a:r>
            <a:r>
              <a:rPr sz="1200" spc="-10" dirty="0">
                <a:latin typeface="Times New Roman"/>
                <a:cs typeface="Times New Roman"/>
              </a:rPr>
              <a:t>Multi-</a:t>
            </a:r>
            <a:r>
              <a:rPr sz="1200" dirty="0">
                <a:latin typeface="Times New Roman"/>
                <a:cs typeface="Times New Roman"/>
              </a:rPr>
              <a:t>tasks</a:t>
            </a:r>
            <a:r>
              <a:rPr sz="1200" spc="-20" dirty="0">
                <a:latin typeface="Times New Roman"/>
                <a:cs typeface="Times New Roman"/>
              </a:rPr>
              <a:t> </a:t>
            </a:r>
            <a:r>
              <a:rPr sz="1200" dirty="0">
                <a:latin typeface="Times New Roman"/>
                <a:cs typeface="Times New Roman"/>
              </a:rPr>
              <a:t>with </a:t>
            </a:r>
            <a:r>
              <a:rPr sz="1200" spc="-10" dirty="0">
                <a:latin typeface="Times New Roman"/>
                <a:cs typeface="Times New Roman"/>
              </a:rPr>
              <a:t>overlapping stages</a:t>
            </a:r>
            <a:endParaRPr sz="1200">
              <a:latin typeface="Times New Roman"/>
              <a:cs typeface="Times New Roman"/>
            </a:endParaRPr>
          </a:p>
          <a:p>
            <a:pPr marL="183515" marR="116839" indent="-171450">
              <a:lnSpc>
                <a:spcPct val="100000"/>
              </a:lnSpc>
              <a:spcBef>
                <a:spcPts val="600"/>
              </a:spcBef>
              <a:buFont typeface="Wingdings"/>
              <a:buChar char=""/>
              <a:tabLst>
                <a:tab pos="184785" algn="l"/>
              </a:tabLst>
            </a:pPr>
            <a:r>
              <a:rPr sz="1200" spc="-10" dirty="0">
                <a:latin typeface="Times New Roman"/>
                <a:cs typeface="Times New Roman"/>
              </a:rPr>
              <a:t>Simultaneously</a:t>
            </a:r>
            <a:r>
              <a:rPr sz="1200" dirty="0">
                <a:latin typeface="Times New Roman"/>
                <a:cs typeface="Times New Roman"/>
              </a:rPr>
              <a:t> use</a:t>
            </a:r>
            <a:r>
              <a:rPr sz="1200" spc="45" dirty="0">
                <a:latin typeface="Times New Roman"/>
                <a:cs typeface="Times New Roman"/>
              </a:rPr>
              <a:t> </a:t>
            </a:r>
            <a:r>
              <a:rPr sz="1200" spc="-10" dirty="0">
                <a:latin typeface="Times New Roman"/>
                <a:cs typeface="Times New Roman"/>
              </a:rPr>
              <a:t>different 	</a:t>
            </a:r>
            <a:r>
              <a:rPr sz="1200" dirty="0">
                <a:latin typeface="Times New Roman"/>
                <a:cs typeface="Times New Roman"/>
              </a:rPr>
              <a:t>resources</a:t>
            </a:r>
            <a:r>
              <a:rPr sz="1200" spc="-2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speed</a:t>
            </a:r>
            <a:r>
              <a:rPr sz="1200" spc="-25" dirty="0">
                <a:latin typeface="Times New Roman"/>
                <a:cs typeface="Times New Roman"/>
              </a:rPr>
              <a:t> up</a:t>
            </a:r>
            <a:endParaRPr sz="1200">
              <a:latin typeface="Times New Roman"/>
              <a:cs typeface="Times New Roman"/>
            </a:endParaRPr>
          </a:p>
          <a:p>
            <a:pPr marL="183515" marR="5080" indent="-171450">
              <a:lnSpc>
                <a:spcPct val="100000"/>
              </a:lnSpc>
              <a:spcBef>
                <a:spcPts val="600"/>
              </a:spcBef>
              <a:buFont typeface="Wingdings"/>
              <a:buChar char=""/>
              <a:tabLst>
                <a:tab pos="184785" algn="l"/>
              </a:tabLst>
            </a:pPr>
            <a:r>
              <a:rPr sz="1200" b="1" dirty="0">
                <a:latin typeface="Times New Roman"/>
                <a:cs typeface="Times New Roman"/>
              </a:rPr>
              <a:t>Slowest</a:t>
            </a:r>
            <a:r>
              <a:rPr sz="1200" b="1" spc="-50" dirty="0">
                <a:latin typeface="Times New Roman"/>
                <a:cs typeface="Times New Roman"/>
              </a:rPr>
              <a:t> </a:t>
            </a:r>
            <a:r>
              <a:rPr sz="1200" b="1" dirty="0">
                <a:latin typeface="Times New Roman"/>
                <a:cs typeface="Times New Roman"/>
              </a:rPr>
              <a:t>stage</a:t>
            </a:r>
            <a:r>
              <a:rPr sz="1200" b="1" spc="-35" dirty="0">
                <a:latin typeface="Times New Roman"/>
                <a:cs typeface="Times New Roman"/>
              </a:rPr>
              <a:t> </a:t>
            </a:r>
            <a:r>
              <a:rPr sz="1200" b="1" dirty="0">
                <a:latin typeface="Times New Roman"/>
                <a:cs typeface="Times New Roman"/>
              </a:rPr>
              <a:t>determines</a:t>
            </a:r>
            <a:r>
              <a:rPr sz="1200" b="1" spc="-15" dirty="0">
                <a:latin typeface="Times New Roman"/>
                <a:cs typeface="Times New Roman"/>
              </a:rPr>
              <a:t> </a:t>
            </a:r>
            <a:r>
              <a:rPr sz="1200" b="1" spc="-25" dirty="0">
                <a:latin typeface="Times New Roman"/>
                <a:cs typeface="Times New Roman"/>
              </a:rPr>
              <a:t>the 	</a:t>
            </a:r>
            <a:r>
              <a:rPr sz="1200" b="1" dirty="0">
                <a:latin typeface="Times New Roman"/>
                <a:cs typeface="Times New Roman"/>
              </a:rPr>
              <a:t>finish</a:t>
            </a:r>
            <a:r>
              <a:rPr sz="1200" b="1" spc="-15" dirty="0">
                <a:latin typeface="Times New Roman"/>
                <a:cs typeface="Times New Roman"/>
              </a:rPr>
              <a:t> </a:t>
            </a:r>
            <a:r>
              <a:rPr sz="1200" b="1" spc="-20" dirty="0">
                <a:latin typeface="Times New Roman"/>
                <a:cs typeface="Times New Roman"/>
              </a:rPr>
              <a:t>time</a:t>
            </a:r>
            <a:endParaRPr sz="1200">
              <a:latin typeface="Times New Roman"/>
              <a:cs typeface="Times New Roman"/>
            </a:endParaRPr>
          </a:p>
        </p:txBody>
      </p:sp>
      <p:grpSp>
        <p:nvGrpSpPr>
          <p:cNvPr id="30" name="object 30"/>
          <p:cNvGrpSpPr/>
          <p:nvPr/>
        </p:nvGrpSpPr>
        <p:grpSpPr>
          <a:xfrm>
            <a:off x="381000" y="4844796"/>
            <a:ext cx="6096000" cy="3429000"/>
            <a:chOff x="381000" y="4844796"/>
            <a:chExt cx="6096000" cy="3429000"/>
          </a:xfrm>
        </p:grpSpPr>
        <p:sp>
          <p:nvSpPr>
            <p:cNvPr id="31" name="object 31"/>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32" name="object 32"/>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33" name="object 33"/>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34" name="object 34"/>
          <p:cNvSpPr txBox="1"/>
          <p:nvPr/>
        </p:nvSpPr>
        <p:spPr>
          <a:xfrm>
            <a:off x="496823" y="4966715"/>
            <a:ext cx="5862955" cy="3190240"/>
          </a:xfrm>
          <a:prstGeom prst="rect">
            <a:avLst/>
          </a:prstGeom>
        </p:spPr>
        <p:txBody>
          <a:bodyPr vert="horz" wrap="square" lIns="0" tIns="114935" rIns="0" bIns="0" rtlCol="0">
            <a:spAutoFit/>
          </a:bodyPr>
          <a:lstStyle/>
          <a:p>
            <a:pPr marL="228600">
              <a:lnSpc>
                <a:spcPct val="100000"/>
              </a:lnSpc>
              <a:spcBef>
                <a:spcPts val="905"/>
              </a:spcBef>
            </a:pPr>
            <a:r>
              <a:rPr sz="2200" spc="-10" dirty="0">
                <a:latin typeface="Georgia"/>
                <a:cs typeface="Georgia"/>
              </a:rPr>
              <a:t>Pipelining</a:t>
            </a:r>
            <a:endParaRPr sz="2200">
              <a:latin typeface="Georgia"/>
              <a:cs typeface="Georgia"/>
            </a:endParaRPr>
          </a:p>
          <a:p>
            <a:pPr marL="435609" indent="-173355">
              <a:lnSpc>
                <a:spcPct val="100000"/>
              </a:lnSpc>
              <a:spcBef>
                <a:spcPts val="1370"/>
              </a:spcBef>
              <a:buClr>
                <a:srgbClr val="3E762B"/>
              </a:buClr>
              <a:buFont typeface="Wingdings"/>
              <a:buChar char=""/>
              <a:tabLst>
                <a:tab pos="435609" algn="l"/>
              </a:tabLst>
            </a:pPr>
            <a:r>
              <a:rPr sz="1200" dirty="0">
                <a:latin typeface="Times New Roman"/>
                <a:cs typeface="Times New Roman"/>
              </a:rPr>
              <a:t>Improve </a:t>
            </a:r>
            <a:r>
              <a:rPr sz="1200" spc="-10" dirty="0">
                <a:latin typeface="Times New Roman"/>
                <a:cs typeface="Times New Roman"/>
              </a:rPr>
              <a:t>performance</a:t>
            </a:r>
            <a:r>
              <a:rPr sz="1200" spc="-2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increasing</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b="1" dirty="0">
                <a:latin typeface="Times New Roman"/>
                <a:cs typeface="Times New Roman"/>
              </a:rPr>
              <a:t>throughput</a:t>
            </a:r>
            <a:r>
              <a:rPr sz="1200" b="1" spc="-35" dirty="0">
                <a:latin typeface="Times New Roman"/>
                <a:cs typeface="Times New Roman"/>
              </a:rPr>
              <a:t> </a:t>
            </a:r>
            <a:r>
              <a:rPr sz="1200" b="1" dirty="0">
                <a:latin typeface="Times New Roman"/>
                <a:cs typeface="Times New Roman"/>
              </a:rPr>
              <a:t>(the</a:t>
            </a:r>
            <a:r>
              <a:rPr sz="1200" b="1" spc="-15" dirty="0">
                <a:latin typeface="Times New Roman"/>
                <a:cs typeface="Times New Roman"/>
              </a:rPr>
              <a:t> </a:t>
            </a:r>
            <a:r>
              <a:rPr sz="1200" b="1" dirty="0">
                <a:latin typeface="Times New Roman"/>
                <a:cs typeface="Times New Roman"/>
              </a:rPr>
              <a:t>number</a:t>
            </a:r>
            <a:r>
              <a:rPr sz="1200" b="1" spc="-45" dirty="0">
                <a:latin typeface="Times New Roman"/>
                <a:cs typeface="Times New Roman"/>
              </a:rPr>
              <a:t> </a:t>
            </a:r>
            <a:r>
              <a:rPr sz="1200" b="1" dirty="0">
                <a:latin typeface="Times New Roman"/>
                <a:cs typeface="Times New Roman"/>
              </a:rPr>
              <a:t>of</a:t>
            </a:r>
            <a:r>
              <a:rPr sz="1200" b="1" spc="-15" dirty="0">
                <a:latin typeface="Times New Roman"/>
                <a:cs typeface="Times New Roman"/>
              </a:rPr>
              <a:t> </a:t>
            </a:r>
            <a:r>
              <a:rPr sz="1200" b="1" dirty="0">
                <a:latin typeface="Times New Roman"/>
                <a:cs typeface="Times New Roman"/>
              </a:rPr>
              <a:t>tasks</a:t>
            </a:r>
            <a:r>
              <a:rPr sz="1200" b="1" spc="-20" dirty="0">
                <a:latin typeface="Times New Roman"/>
                <a:cs typeface="Times New Roman"/>
              </a:rPr>
              <a:t> </a:t>
            </a:r>
            <a:r>
              <a:rPr sz="1200" b="1" spc="-25" dirty="0">
                <a:latin typeface="Times New Roman"/>
                <a:cs typeface="Times New Roman"/>
              </a:rPr>
              <a:t>per</a:t>
            </a:r>
            <a:endParaRPr sz="1200">
              <a:latin typeface="Times New Roman"/>
              <a:cs typeface="Times New Roman"/>
            </a:endParaRPr>
          </a:p>
          <a:p>
            <a:pPr marL="436245">
              <a:lnSpc>
                <a:spcPct val="100000"/>
              </a:lnSpc>
              <a:spcBef>
                <a:spcPts val="5"/>
              </a:spcBef>
            </a:pPr>
            <a:r>
              <a:rPr sz="1200" b="1" spc="-10" dirty="0">
                <a:latin typeface="Times New Roman"/>
                <a:cs typeface="Times New Roman"/>
              </a:rPr>
              <a:t>second).</a:t>
            </a:r>
            <a:endParaRPr sz="1200">
              <a:latin typeface="Times New Roman"/>
              <a:cs typeface="Times New Roman"/>
            </a:endParaRPr>
          </a:p>
          <a:p>
            <a:pPr>
              <a:lnSpc>
                <a:spcPct val="100000"/>
              </a:lnSpc>
              <a:spcBef>
                <a:spcPts val="420"/>
              </a:spcBef>
            </a:pPr>
            <a:endParaRPr sz="1200">
              <a:latin typeface="Times New Roman"/>
              <a:cs typeface="Times New Roman"/>
            </a:endParaRPr>
          </a:p>
          <a:p>
            <a:pPr marL="431800" indent="-169545">
              <a:lnSpc>
                <a:spcPct val="100000"/>
              </a:lnSpc>
              <a:buClr>
                <a:srgbClr val="3E762B"/>
              </a:buClr>
              <a:buFont typeface="Wingdings"/>
              <a:buChar char=""/>
              <a:tabLst>
                <a:tab pos="431800" algn="l"/>
              </a:tabLst>
            </a:pPr>
            <a:r>
              <a:rPr sz="1200" dirty="0">
                <a:latin typeface="Times New Roman"/>
                <a:cs typeface="Times New Roman"/>
              </a:rPr>
              <a:t>No</a:t>
            </a:r>
            <a:r>
              <a:rPr sz="1200" spc="-15" dirty="0">
                <a:latin typeface="Times New Roman"/>
                <a:cs typeface="Times New Roman"/>
              </a:rPr>
              <a:t> </a:t>
            </a:r>
            <a:r>
              <a:rPr sz="1200" spc="-10" dirty="0">
                <a:latin typeface="Times New Roman"/>
                <a:cs typeface="Times New Roman"/>
              </a:rPr>
              <a:t>speed-</a:t>
            </a:r>
            <a:r>
              <a:rPr sz="1200" dirty="0">
                <a:latin typeface="Times New Roman"/>
                <a:cs typeface="Times New Roman"/>
              </a:rPr>
              <a:t>up</a:t>
            </a:r>
            <a:r>
              <a:rPr sz="1200" spc="-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individual</a:t>
            </a:r>
            <a:r>
              <a:rPr sz="1200" spc="-30" dirty="0">
                <a:latin typeface="Times New Roman"/>
                <a:cs typeface="Times New Roman"/>
              </a:rPr>
              <a:t> </a:t>
            </a:r>
            <a:r>
              <a:rPr sz="1200" dirty="0">
                <a:latin typeface="Times New Roman"/>
                <a:cs typeface="Times New Roman"/>
              </a:rPr>
              <a:t>task,</a:t>
            </a:r>
            <a:r>
              <a:rPr sz="1200" spc="-25" dirty="0">
                <a:latin typeface="Times New Roman"/>
                <a:cs typeface="Times New Roman"/>
              </a:rPr>
              <a:t> </a:t>
            </a:r>
            <a:r>
              <a:rPr sz="1200" spc="-10" dirty="0">
                <a:latin typeface="Times New Roman"/>
                <a:cs typeface="Times New Roman"/>
              </a:rPr>
              <a:t>Conversely</a:t>
            </a:r>
            <a:endParaRPr sz="1200">
              <a:latin typeface="Times New Roman"/>
              <a:cs typeface="Times New Roman"/>
            </a:endParaRPr>
          </a:p>
          <a:p>
            <a:pPr marL="719455">
              <a:lnSpc>
                <a:spcPct val="100000"/>
              </a:lnSpc>
              <a:spcBef>
                <a:spcPts val="700"/>
              </a:spcBef>
            </a:pPr>
            <a:r>
              <a:rPr sz="1100" spc="-10" dirty="0">
                <a:latin typeface="Times New Roman"/>
                <a:cs typeface="Times New Roman"/>
              </a:rPr>
              <a:t>e.g.,</a:t>
            </a:r>
            <a:r>
              <a:rPr sz="1100" spc="-60" dirty="0">
                <a:latin typeface="Times New Roman"/>
                <a:cs typeface="Times New Roman"/>
              </a:rPr>
              <a:t> </a:t>
            </a:r>
            <a:r>
              <a:rPr sz="1100" spc="-10" dirty="0">
                <a:latin typeface="Times New Roman"/>
                <a:cs typeface="Times New Roman"/>
              </a:rPr>
              <a:t>A</a:t>
            </a:r>
            <a:r>
              <a:rPr sz="1100" spc="-60" dirty="0">
                <a:latin typeface="Times New Roman"/>
                <a:cs typeface="Times New Roman"/>
              </a:rPr>
              <a:t> </a:t>
            </a:r>
            <a:r>
              <a:rPr sz="1100" dirty="0">
                <a:latin typeface="Times New Roman"/>
                <a:cs typeface="Times New Roman"/>
              </a:rPr>
              <a:t>takes</a:t>
            </a:r>
            <a:r>
              <a:rPr sz="1100" spc="-5" dirty="0">
                <a:latin typeface="Times New Roman"/>
                <a:cs typeface="Times New Roman"/>
              </a:rPr>
              <a:t> </a:t>
            </a:r>
            <a:r>
              <a:rPr sz="1100" dirty="0">
                <a:latin typeface="Times New Roman"/>
                <a:cs typeface="Times New Roman"/>
              </a:rPr>
              <a:t>40</a:t>
            </a:r>
            <a:r>
              <a:rPr sz="1100" spc="5"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3</a:t>
            </a:r>
            <a:r>
              <a:rPr sz="1100" spc="5"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120</a:t>
            </a:r>
            <a:r>
              <a:rPr sz="1100" spc="-5" dirty="0">
                <a:latin typeface="Times New Roman"/>
                <a:cs typeface="Times New Roman"/>
              </a:rPr>
              <a:t> </a:t>
            </a:r>
            <a:r>
              <a:rPr sz="1100" spc="-25" dirty="0">
                <a:latin typeface="Times New Roman"/>
                <a:cs typeface="Times New Roman"/>
              </a:rPr>
              <a:t>min</a:t>
            </a:r>
            <a:endParaRPr sz="1100">
              <a:latin typeface="Times New Roman"/>
              <a:cs typeface="Times New Roman"/>
            </a:endParaRPr>
          </a:p>
          <a:p>
            <a:pPr marL="490855">
              <a:lnSpc>
                <a:spcPct val="100000"/>
              </a:lnSpc>
              <a:spcBef>
                <a:spcPts val="620"/>
              </a:spcBef>
            </a:pP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perfect</a:t>
            </a:r>
            <a:r>
              <a:rPr sz="1200" spc="-20" dirty="0">
                <a:latin typeface="Times New Roman"/>
                <a:cs typeface="Times New Roman"/>
              </a:rPr>
              <a:t> </a:t>
            </a:r>
            <a:r>
              <a:rPr sz="1200" dirty="0">
                <a:latin typeface="Times New Roman"/>
                <a:cs typeface="Times New Roman"/>
              </a:rPr>
              <a:t>case,</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task</a:t>
            </a:r>
            <a:r>
              <a:rPr sz="1200" spc="-30" dirty="0">
                <a:latin typeface="Times New Roman"/>
                <a:cs typeface="Times New Roman"/>
              </a:rPr>
              <a:t> </a:t>
            </a:r>
            <a:r>
              <a:rPr sz="1200" dirty="0">
                <a:latin typeface="Times New Roman"/>
                <a:cs typeface="Times New Roman"/>
              </a:rPr>
              <a:t>will</a:t>
            </a:r>
            <a:r>
              <a:rPr sz="1200" spc="-35" dirty="0">
                <a:latin typeface="Times New Roman"/>
                <a:cs typeface="Times New Roman"/>
              </a:rPr>
              <a:t> </a:t>
            </a:r>
            <a:r>
              <a:rPr sz="1200" dirty="0">
                <a:latin typeface="Times New Roman"/>
                <a:cs typeface="Times New Roman"/>
              </a:rPr>
              <a:t>take</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same</a:t>
            </a:r>
            <a:r>
              <a:rPr sz="1200" spc="-30"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a:lnSpc>
                <a:spcPct val="100000"/>
              </a:lnSpc>
              <a:spcBef>
                <a:spcPts val="420"/>
              </a:spcBef>
            </a:pPr>
            <a:endParaRPr sz="1200">
              <a:latin typeface="Times New Roman"/>
              <a:cs typeface="Times New Roman"/>
            </a:endParaRPr>
          </a:p>
          <a:p>
            <a:pPr marL="431800" indent="-169545">
              <a:lnSpc>
                <a:spcPct val="100000"/>
              </a:lnSpc>
              <a:buClr>
                <a:srgbClr val="3E762B"/>
              </a:buClr>
              <a:buFont typeface="Wingdings"/>
              <a:buChar char=""/>
              <a:tabLst>
                <a:tab pos="431800" algn="l"/>
              </a:tabLst>
            </a:pPr>
            <a:r>
              <a:rPr sz="1200" dirty="0">
                <a:latin typeface="Times New Roman"/>
                <a:cs typeface="Times New Roman"/>
              </a:rPr>
              <a:t>But</a:t>
            </a:r>
            <a:r>
              <a:rPr sz="1200" spc="-25" dirty="0">
                <a:latin typeface="Times New Roman"/>
                <a:cs typeface="Times New Roman"/>
              </a:rPr>
              <a:t> </a:t>
            </a:r>
            <a:r>
              <a:rPr sz="1200" dirty="0">
                <a:latin typeface="Times New Roman"/>
                <a:cs typeface="Times New Roman"/>
              </a:rPr>
              <a:t>speed</a:t>
            </a:r>
            <a:r>
              <a:rPr sz="1200" spc="-15" dirty="0">
                <a:latin typeface="Times New Roman"/>
                <a:cs typeface="Times New Roman"/>
              </a:rPr>
              <a:t> </a:t>
            </a:r>
            <a:r>
              <a:rPr sz="1200" dirty="0">
                <a:latin typeface="Times New Roman"/>
                <a:cs typeface="Times New Roman"/>
              </a:rPr>
              <a:t>up</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overall</a:t>
            </a:r>
            <a:r>
              <a:rPr sz="1200" spc="-25" dirty="0">
                <a:latin typeface="Times New Roman"/>
                <a:cs typeface="Times New Roman"/>
              </a:rPr>
              <a:t> </a:t>
            </a:r>
            <a:r>
              <a:rPr sz="1200" dirty="0">
                <a:latin typeface="Times New Roman"/>
                <a:cs typeface="Times New Roman"/>
              </a:rPr>
              <a:t>tasks</a:t>
            </a:r>
            <a:r>
              <a:rPr sz="1200" spc="-20" dirty="0">
                <a:latin typeface="Times New Roman"/>
                <a:cs typeface="Times New Roman"/>
              </a:rPr>
              <a:t> </a:t>
            </a:r>
            <a:r>
              <a:rPr sz="1200" dirty="0">
                <a:latin typeface="Times New Roman"/>
                <a:cs typeface="Times New Roman"/>
              </a:rPr>
              <a:t>time</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b="1" dirty="0">
                <a:latin typeface="Times New Roman"/>
                <a:cs typeface="Times New Roman"/>
              </a:rPr>
              <a:t>average</a:t>
            </a:r>
            <a:r>
              <a:rPr sz="1200" b="1" spc="-20" dirty="0">
                <a:latin typeface="Times New Roman"/>
                <a:cs typeface="Times New Roman"/>
              </a:rPr>
              <a:t> </a:t>
            </a:r>
            <a:r>
              <a:rPr sz="1200" b="1" dirty="0">
                <a:latin typeface="Times New Roman"/>
                <a:cs typeface="Times New Roman"/>
              </a:rPr>
              <a:t>task</a:t>
            </a:r>
            <a:r>
              <a:rPr sz="1200" b="1" spc="-20" dirty="0">
                <a:latin typeface="Times New Roman"/>
                <a:cs typeface="Times New Roman"/>
              </a:rPr>
              <a:t> </a:t>
            </a:r>
            <a:r>
              <a:rPr sz="1200" b="1" dirty="0">
                <a:latin typeface="Times New Roman"/>
                <a:cs typeface="Times New Roman"/>
              </a:rPr>
              <a:t>execution</a:t>
            </a:r>
            <a:r>
              <a:rPr sz="1200" b="1" spc="-25" dirty="0">
                <a:latin typeface="Times New Roman"/>
                <a:cs typeface="Times New Roman"/>
              </a:rPr>
              <a:t> </a:t>
            </a:r>
            <a:r>
              <a:rPr sz="1200" b="1" spc="-10" dirty="0">
                <a:latin typeface="Times New Roman"/>
                <a:cs typeface="Times New Roman"/>
              </a:rPr>
              <a:t>time</a:t>
            </a:r>
            <a:r>
              <a:rPr sz="1200" spc="-10" dirty="0">
                <a:latin typeface="Times New Roman"/>
                <a:cs typeface="Times New Roman"/>
              </a:rPr>
              <a:t>:</a:t>
            </a:r>
            <a:endParaRPr sz="1200">
              <a:latin typeface="Times New Roman"/>
              <a:cs typeface="Times New Roman"/>
            </a:endParaRPr>
          </a:p>
          <a:p>
            <a:pPr marL="718820" lvl="1" indent="-144145">
              <a:lnSpc>
                <a:spcPct val="100000"/>
              </a:lnSpc>
              <a:spcBef>
                <a:spcPts val="600"/>
              </a:spcBef>
              <a:buClr>
                <a:srgbClr val="3E762B"/>
              </a:buClr>
              <a:buFont typeface="Wingdings"/>
              <a:buChar char=""/>
              <a:tabLst>
                <a:tab pos="718820" algn="l"/>
              </a:tabLst>
            </a:pPr>
            <a:r>
              <a:rPr sz="1200" dirty="0">
                <a:latin typeface="Times New Roman"/>
                <a:cs typeface="Times New Roman"/>
              </a:rPr>
              <a:t>Speed</a:t>
            </a:r>
            <a:r>
              <a:rPr sz="1200" spc="-5" dirty="0">
                <a:latin typeface="Times New Roman"/>
                <a:cs typeface="Times New Roman"/>
              </a:rPr>
              <a:t> </a:t>
            </a:r>
            <a:r>
              <a:rPr sz="1200" dirty="0">
                <a:latin typeface="Times New Roman"/>
                <a:cs typeface="Times New Roman"/>
              </a:rPr>
              <a:t>up</a:t>
            </a:r>
            <a:r>
              <a:rPr sz="1200" spc="-5" dirty="0">
                <a:latin typeface="Times New Roman"/>
                <a:cs typeface="Times New Roman"/>
              </a:rPr>
              <a:t> </a:t>
            </a:r>
            <a:r>
              <a:rPr sz="1200" dirty="0">
                <a:latin typeface="Times New Roman"/>
                <a:cs typeface="Times New Roman"/>
              </a:rPr>
              <a:t>= 6</a:t>
            </a:r>
            <a:r>
              <a:rPr sz="1200" spc="-5" dirty="0">
                <a:latin typeface="Times New Roman"/>
                <a:cs typeface="Times New Roman"/>
              </a:rPr>
              <a:t> </a:t>
            </a:r>
            <a:r>
              <a:rPr sz="1200" dirty="0">
                <a:latin typeface="Times New Roman"/>
                <a:cs typeface="Times New Roman"/>
              </a:rPr>
              <a:t>hrs</a:t>
            </a:r>
            <a:r>
              <a:rPr sz="1200" spc="-10" dirty="0">
                <a:latin typeface="Times New Roman"/>
                <a:cs typeface="Times New Roman"/>
              </a:rPr>
              <a:t> </a:t>
            </a:r>
            <a:r>
              <a:rPr sz="1200" dirty="0">
                <a:latin typeface="Times New Roman"/>
                <a:cs typeface="Times New Roman"/>
              </a:rPr>
              <a:t>/4</a:t>
            </a:r>
            <a:r>
              <a:rPr sz="1200" spc="-5" dirty="0">
                <a:latin typeface="Times New Roman"/>
                <a:cs typeface="Times New Roman"/>
              </a:rPr>
              <a:t> </a:t>
            </a:r>
            <a:r>
              <a:rPr sz="1200" dirty="0">
                <a:latin typeface="Times New Roman"/>
                <a:cs typeface="Times New Roman"/>
              </a:rPr>
              <a:t>hrs</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spc="-25" dirty="0">
                <a:latin typeface="Times New Roman"/>
                <a:cs typeface="Times New Roman"/>
              </a:rPr>
              <a:t>1.5</a:t>
            </a:r>
            <a:endParaRPr sz="1200">
              <a:latin typeface="Times New Roman"/>
              <a:cs typeface="Times New Roman"/>
            </a:endParaRPr>
          </a:p>
          <a:p>
            <a:pPr marL="718820" lvl="1" indent="-144145">
              <a:lnSpc>
                <a:spcPct val="100000"/>
              </a:lnSpc>
              <a:spcBef>
                <a:spcPts val="600"/>
              </a:spcBef>
              <a:buClr>
                <a:srgbClr val="3E762B"/>
              </a:buClr>
              <a:buFont typeface="Wingdings"/>
              <a:buChar char=""/>
              <a:tabLst>
                <a:tab pos="718820" algn="l"/>
              </a:tabLst>
            </a:pPr>
            <a:r>
              <a:rPr sz="1200" spc="-10" dirty="0">
                <a:latin typeface="Times New Roman"/>
                <a:cs typeface="Times New Roman"/>
              </a:rPr>
              <a:t>Average</a:t>
            </a:r>
            <a:r>
              <a:rPr sz="1200" dirty="0">
                <a:latin typeface="Times New Roman"/>
                <a:cs typeface="Times New Roman"/>
              </a:rPr>
              <a:t> task</a:t>
            </a:r>
            <a:r>
              <a:rPr sz="1200" spc="-15" dirty="0">
                <a:latin typeface="Times New Roman"/>
                <a:cs typeface="Times New Roman"/>
              </a:rPr>
              <a:t> </a:t>
            </a:r>
            <a:r>
              <a:rPr sz="1200" dirty="0">
                <a:latin typeface="Times New Roman"/>
                <a:cs typeface="Times New Roman"/>
              </a:rPr>
              <a:t>execution</a:t>
            </a:r>
            <a:r>
              <a:rPr sz="1200" spc="-30" dirty="0">
                <a:latin typeface="Times New Roman"/>
                <a:cs typeface="Times New Roman"/>
              </a:rPr>
              <a:t> </a:t>
            </a:r>
            <a:r>
              <a:rPr sz="1200" dirty="0">
                <a:latin typeface="Times New Roman"/>
                <a:cs typeface="Times New Roman"/>
              </a:rPr>
              <a:t>time</a:t>
            </a:r>
            <a:r>
              <a:rPr sz="1200" spc="-30"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4</a:t>
            </a:r>
            <a:r>
              <a:rPr sz="1200" spc="-5" dirty="0">
                <a:latin typeface="Times New Roman"/>
                <a:cs typeface="Times New Roman"/>
              </a:rPr>
              <a:t> </a:t>
            </a:r>
            <a:r>
              <a:rPr sz="1200" dirty="0">
                <a:latin typeface="Times New Roman"/>
                <a:cs typeface="Times New Roman"/>
              </a:rPr>
              <a:t>hrs</a:t>
            </a:r>
            <a:r>
              <a:rPr sz="1200" spc="-1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4</a:t>
            </a:r>
            <a:r>
              <a:rPr sz="1200" spc="-15" dirty="0">
                <a:latin typeface="Times New Roman"/>
                <a:cs typeface="Times New Roman"/>
              </a:rPr>
              <a:t> </a:t>
            </a:r>
            <a:r>
              <a:rPr sz="1200" dirty="0">
                <a:latin typeface="Times New Roman"/>
                <a:cs typeface="Times New Roman"/>
              </a:rPr>
              <a:t>tasks</a:t>
            </a:r>
            <a:r>
              <a:rPr sz="1200" spc="-15"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1</a:t>
            </a:r>
            <a:r>
              <a:rPr sz="1200" spc="-10" dirty="0">
                <a:latin typeface="Times New Roman"/>
                <a:cs typeface="Times New Roman"/>
              </a:rPr>
              <a:t> hr/task</a:t>
            </a:r>
            <a:endParaRPr sz="120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2200" dirty="0"/>
              <a:t>Automotive</a:t>
            </a:r>
            <a:r>
              <a:rPr sz="2200" spc="-105" dirty="0"/>
              <a:t> </a:t>
            </a:r>
            <a:r>
              <a:rPr sz="2200" dirty="0"/>
              <a:t>Assembly</a:t>
            </a:r>
            <a:r>
              <a:rPr sz="2200" spc="-95" dirty="0"/>
              <a:t> </a:t>
            </a:r>
            <a:r>
              <a:rPr sz="2200" spc="-20" dirty="0"/>
              <a:t>Line</a:t>
            </a:r>
            <a:endParaRPr sz="2200"/>
          </a:p>
        </p:txBody>
      </p:sp>
      <p:pic>
        <p:nvPicPr>
          <p:cNvPr id="3" name="object 3"/>
          <p:cNvPicPr/>
          <p:nvPr/>
        </p:nvPicPr>
        <p:blipFill>
          <a:blip r:embed="rId2" cstate="print"/>
          <a:stretch>
            <a:fillRect/>
          </a:stretch>
        </p:blipFill>
        <p:spPr>
          <a:xfrm>
            <a:off x="1952244" y="1440180"/>
            <a:ext cx="4480559" cy="2814827"/>
          </a:xfrm>
          <a:prstGeom prst="rect">
            <a:avLst/>
          </a:prstGeom>
        </p:spPr>
      </p:pic>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90240"/>
          </a:xfrm>
          <a:prstGeom prst="rect">
            <a:avLst/>
          </a:prstGeom>
        </p:spPr>
        <p:txBody>
          <a:bodyPr vert="horz" wrap="square" lIns="0" tIns="114935" rIns="0" bIns="0" rtlCol="0">
            <a:spAutoFit/>
          </a:bodyPr>
          <a:lstStyle/>
          <a:p>
            <a:pPr marL="228600">
              <a:lnSpc>
                <a:spcPct val="100000"/>
              </a:lnSpc>
              <a:spcBef>
                <a:spcPts val="905"/>
              </a:spcBef>
            </a:pPr>
            <a:r>
              <a:rPr sz="2200" spc="-10" dirty="0">
                <a:latin typeface="Georgia"/>
                <a:cs typeface="Georgia"/>
              </a:rPr>
              <a:t>Pipelining</a:t>
            </a:r>
            <a:endParaRPr sz="2200">
              <a:latin typeface="Georgia"/>
              <a:cs typeface="Georgia"/>
            </a:endParaRPr>
          </a:p>
          <a:p>
            <a:pPr marL="434975" indent="-172720">
              <a:lnSpc>
                <a:spcPct val="100000"/>
              </a:lnSpc>
              <a:spcBef>
                <a:spcPts val="1775"/>
              </a:spcBef>
              <a:buClr>
                <a:srgbClr val="3E762B"/>
              </a:buClr>
              <a:buFont typeface="Wingdings"/>
              <a:buChar char=""/>
              <a:tabLst>
                <a:tab pos="434975" algn="l"/>
              </a:tabLst>
            </a:pP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name</a:t>
            </a:r>
            <a:r>
              <a:rPr sz="1100" spc="5" dirty="0">
                <a:latin typeface="Times New Roman"/>
                <a:cs typeface="Times New Roman"/>
              </a:rPr>
              <a:t> </a:t>
            </a:r>
            <a:r>
              <a:rPr sz="1100" dirty="0">
                <a:latin typeface="Times New Roman"/>
                <a:cs typeface="Times New Roman"/>
              </a:rPr>
              <a:t>"pipeline"</a:t>
            </a:r>
            <a:r>
              <a:rPr sz="1100" spc="-35" dirty="0">
                <a:latin typeface="Times New Roman"/>
                <a:cs typeface="Times New Roman"/>
              </a:rPr>
              <a:t> </a:t>
            </a:r>
            <a:r>
              <a:rPr sz="1100" dirty="0">
                <a:latin typeface="Times New Roman"/>
                <a:cs typeface="Times New Roman"/>
              </a:rPr>
              <a:t>implies</a:t>
            </a:r>
            <a:r>
              <a:rPr sz="1100" spc="-5"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dirty="0">
                <a:latin typeface="Times New Roman"/>
                <a:cs typeface="Times New Roman"/>
              </a:rPr>
              <a:t>flow</a:t>
            </a:r>
            <a:r>
              <a:rPr sz="1100" spc="5"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information </a:t>
            </a:r>
            <a:r>
              <a:rPr sz="1100" b="1" dirty="0">
                <a:latin typeface="Times New Roman"/>
                <a:cs typeface="Times New Roman"/>
              </a:rPr>
              <a:t>similar</a:t>
            </a:r>
            <a:r>
              <a:rPr sz="1100" b="1" spc="-45" dirty="0">
                <a:latin typeface="Times New Roman"/>
                <a:cs typeface="Times New Roman"/>
              </a:rPr>
              <a:t> </a:t>
            </a:r>
            <a:r>
              <a:rPr sz="1100" b="1" dirty="0">
                <a:latin typeface="Times New Roman"/>
                <a:cs typeface="Times New Roman"/>
              </a:rPr>
              <a:t>to</a:t>
            </a:r>
            <a:r>
              <a:rPr sz="1100" b="1" spc="-10" dirty="0">
                <a:latin typeface="Times New Roman"/>
                <a:cs typeface="Times New Roman"/>
              </a:rPr>
              <a:t> </a:t>
            </a:r>
            <a:r>
              <a:rPr sz="1100" b="1" dirty="0">
                <a:latin typeface="Times New Roman"/>
                <a:cs typeface="Times New Roman"/>
              </a:rPr>
              <a:t>an</a:t>
            </a:r>
            <a:r>
              <a:rPr sz="1100" b="1" spc="5" dirty="0">
                <a:latin typeface="Times New Roman"/>
                <a:cs typeface="Times New Roman"/>
              </a:rPr>
              <a:t> </a:t>
            </a:r>
            <a:r>
              <a:rPr sz="1100" b="1" dirty="0">
                <a:latin typeface="Times New Roman"/>
                <a:cs typeface="Times New Roman"/>
              </a:rPr>
              <a:t>industrial</a:t>
            </a:r>
            <a:r>
              <a:rPr sz="1100" b="1" spc="-25" dirty="0">
                <a:latin typeface="Times New Roman"/>
                <a:cs typeface="Times New Roman"/>
              </a:rPr>
              <a:t> </a:t>
            </a:r>
            <a:r>
              <a:rPr sz="1100" b="1" dirty="0">
                <a:latin typeface="Times New Roman"/>
                <a:cs typeface="Times New Roman"/>
              </a:rPr>
              <a:t>assembly</a:t>
            </a:r>
            <a:r>
              <a:rPr sz="1100" b="1" spc="-30" dirty="0">
                <a:latin typeface="Times New Roman"/>
                <a:cs typeface="Times New Roman"/>
              </a:rPr>
              <a:t> </a:t>
            </a:r>
            <a:r>
              <a:rPr sz="1100" b="1" spc="-10" dirty="0">
                <a:latin typeface="Times New Roman"/>
                <a:cs typeface="Times New Roman"/>
              </a:rPr>
              <a:t>line</a:t>
            </a:r>
            <a:r>
              <a:rPr sz="1100" spc="-10" dirty="0">
                <a:latin typeface="Times New Roman"/>
                <a:cs typeface="Times New Roman"/>
              </a:rPr>
              <a:t>.</a:t>
            </a:r>
            <a:endParaRPr sz="1100">
              <a:latin typeface="Times New Roman"/>
              <a:cs typeface="Times New Roman"/>
            </a:endParaRPr>
          </a:p>
          <a:p>
            <a:pPr>
              <a:lnSpc>
                <a:spcPct val="100000"/>
              </a:lnSpc>
              <a:spcBef>
                <a:spcPts val="95"/>
              </a:spcBef>
              <a:buClr>
                <a:srgbClr val="3E762B"/>
              </a:buClr>
              <a:buFont typeface="Wingdings"/>
              <a:buChar char=""/>
            </a:pPr>
            <a:endParaRPr sz="1100">
              <a:latin typeface="Times New Roman"/>
              <a:cs typeface="Times New Roman"/>
            </a:endParaRPr>
          </a:p>
          <a:p>
            <a:pPr marL="434975" indent="-172720">
              <a:lnSpc>
                <a:spcPct val="100000"/>
              </a:lnSpc>
              <a:buClr>
                <a:srgbClr val="3E762B"/>
              </a:buClr>
              <a:buFont typeface="Wingdings"/>
              <a:buChar char=""/>
              <a:tabLst>
                <a:tab pos="434975" algn="l"/>
              </a:tabLst>
            </a:pPr>
            <a:r>
              <a:rPr sz="1100" dirty="0">
                <a:latin typeface="Times New Roman"/>
                <a:cs typeface="Times New Roman"/>
              </a:rPr>
              <a:t>Several</a:t>
            </a:r>
            <a:r>
              <a:rPr sz="1100" spc="-10" dirty="0">
                <a:latin typeface="Times New Roman"/>
                <a:cs typeface="Times New Roman"/>
              </a:rPr>
              <a:t> </a:t>
            </a:r>
            <a:r>
              <a:rPr sz="1100" dirty="0">
                <a:latin typeface="Times New Roman"/>
                <a:cs typeface="Times New Roman"/>
              </a:rPr>
              <a:t>computations</a:t>
            </a:r>
            <a:r>
              <a:rPr sz="1100" spc="-20" dirty="0">
                <a:latin typeface="Times New Roman"/>
                <a:cs typeface="Times New Roman"/>
              </a:rPr>
              <a:t> </a:t>
            </a:r>
            <a:r>
              <a:rPr sz="1100" dirty="0">
                <a:latin typeface="Times New Roman"/>
                <a:cs typeface="Times New Roman"/>
              </a:rPr>
              <a:t>can</a:t>
            </a:r>
            <a:r>
              <a:rPr sz="1100" spc="-15" dirty="0">
                <a:latin typeface="Times New Roman"/>
                <a:cs typeface="Times New Roman"/>
              </a:rPr>
              <a:t> </a:t>
            </a:r>
            <a:r>
              <a:rPr sz="1100" dirty="0">
                <a:latin typeface="Times New Roman"/>
                <a:cs typeface="Times New Roman"/>
              </a:rPr>
              <a:t>be</a:t>
            </a:r>
            <a:r>
              <a:rPr sz="1100" spc="-10" dirty="0">
                <a:latin typeface="Times New Roman"/>
                <a:cs typeface="Times New Roman"/>
              </a:rPr>
              <a:t> </a:t>
            </a:r>
            <a:r>
              <a:rPr sz="1100" dirty="0">
                <a:latin typeface="Times New Roman"/>
                <a:cs typeface="Times New Roman"/>
              </a:rPr>
              <a:t>in</a:t>
            </a:r>
            <a:r>
              <a:rPr sz="1100" spc="-10" dirty="0">
                <a:latin typeface="Times New Roman"/>
                <a:cs typeface="Times New Roman"/>
              </a:rPr>
              <a:t> </a:t>
            </a:r>
            <a:r>
              <a:rPr sz="1100" dirty="0">
                <a:latin typeface="Times New Roman"/>
                <a:cs typeface="Times New Roman"/>
              </a:rPr>
              <a:t>progress</a:t>
            </a:r>
            <a:r>
              <a:rPr sz="1100" spc="-10" dirty="0">
                <a:latin typeface="Times New Roman"/>
                <a:cs typeface="Times New Roman"/>
              </a:rPr>
              <a:t> </a:t>
            </a:r>
            <a:r>
              <a:rPr sz="1100" dirty="0">
                <a:latin typeface="Times New Roman"/>
                <a:cs typeface="Times New Roman"/>
              </a:rPr>
              <a:t>in</a:t>
            </a:r>
            <a:r>
              <a:rPr sz="1100" spc="-15" dirty="0">
                <a:latin typeface="Times New Roman"/>
                <a:cs typeface="Times New Roman"/>
              </a:rPr>
              <a:t> </a:t>
            </a:r>
            <a:r>
              <a:rPr sz="1100" dirty="0">
                <a:latin typeface="Times New Roman"/>
                <a:cs typeface="Times New Roman"/>
              </a:rPr>
              <a:t>distinct</a:t>
            </a:r>
            <a:r>
              <a:rPr sz="1100" spc="-30" dirty="0">
                <a:latin typeface="Times New Roman"/>
                <a:cs typeface="Times New Roman"/>
              </a:rPr>
              <a:t> </a:t>
            </a:r>
            <a:r>
              <a:rPr sz="1100" dirty="0">
                <a:latin typeface="Times New Roman"/>
                <a:cs typeface="Times New Roman"/>
              </a:rPr>
              <a:t>segments</a:t>
            </a:r>
            <a:r>
              <a:rPr sz="1100" spc="-5" dirty="0">
                <a:latin typeface="Times New Roman"/>
                <a:cs typeface="Times New Roman"/>
              </a:rPr>
              <a:t> </a:t>
            </a:r>
            <a:r>
              <a:rPr sz="1100" dirty="0">
                <a:latin typeface="Times New Roman"/>
                <a:cs typeface="Times New Roman"/>
              </a:rPr>
              <a:t>at</a:t>
            </a:r>
            <a:r>
              <a:rPr sz="1100" spc="-10"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same </a:t>
            </a:r>
            <a:r>
              <a:rPr sz="1100" spc="-10" dirty="0">
                <a:latin typeface="Times New Roman"/>
                <a:cs typeface="Times New Roman"/>
              </a:rPr>
              <a:t>time.</a:t>
            </a:r>
            <a:endParaRPr sz="1100">
              <a:latin typeface="Times New Roman"/>
              <a:cs typeface="Times New Roman"/>
            </a:endParaRPr>
          </a:p>
          <a:p>
            <a:pPr marL="434975" marR="455295" indent="-172720">
              <a:lnSpc>
                <a:spcPct val="150000"/>
              </a:lnSpc>
              <a:spcBef>
                <a:spcPts val="695"/>
              </a:spcBef>
              <a:buClr>
                <a:srgbClr val="3E762B"/>
              </a:buClr>
              <a:buFont typeface="Wingdings"/>
              <a:buChar char=""/>
              <a:tabLst>
                <a:tab pos="436245" algn="l"/>
              </a:tabLst>
            </a:pP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overlapping</a:t>
            </a:r>
            <a:r>
              <a:rPr sz="1100" spc="-20"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dirty="0">
                <a:latin typeface="Times New Roman"/>
                <a:cs typeface="Times New Roman"/>
              </a:rPr>
              <a:t>computation</a:t>
            </a:r>
            <a:r>
              <a:rPr sz="1100" spc="-20" dirty="0">
                <a:latin typeface="Times New Roman"/>
                <a:cs typeface="Times New Roman"/>
              </a:rPr>
              <a:t> </a:t>
            </a:r>
            <a:r>
              <a:rPr sz="1100" dirty="0">
                <a:latin typeface="Times New Roman"/>
                <a:cs typeface="Times New Roman"/>
              </a:rPr>
              <a:t>is</a:t>
            </a:r>
            <a:r>
              <a:rPr sz="1100" spc="-10" dirty="0">
                <a:latin typeface="Times New Roman"/>
                <a:cs typeface="Times New Roman"/>
              </a:rPr>
              <a:t> </a:t>
            </a:r>
            <a:r>
              <a:rPr sz="1100" dirty="0">
                <a:latin typeface="Times New Roman"/>
                <a:cs typeface="Times New Roman"/>
              </a:rPr>
              <a:t>made</a:t>
            </a:r>
            <a:r>
              <a:rPr sz="1100" spc="15" dirty="0">
                <a:latin typeface="Times New Roman"/>
                <a:cs typeface="Times New Roman"/>
              </a:rPr>
              <a:t> </a:t>
            </a:r>
            <a:r>
              <a:rPr sz="1100" dirty="0">
                <a:latin typeface="Times New Roman"/>
                <a:cs typeface="Times New Roman"/>
              </a:rPr>
              <a:t>possible</a:t>
            </a:r>
            <a:r>
              <a:rPr sz="1100" spc="-50" dirty="0">
                <a:latin typeface="Times New Roman"/>
                <a:cs typeface="Times New Roman"/>
              </a:rPr>
              <a:t> </a:t>
            </a:r>
            <a:r>
              <a:rPr sz="1100" dirty="0">
                <a:latin typeface="Times New Roman"/>
                <a:cs typeface="Times New Roman"/>
              </a:rPr>
              <a:t>by associating</a:t>
            </a:r>
            <a:r>
              <a:rPr sz="1100" spc="-40"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dirty="0">
                <a:latin typeface="Times New Roman"/>
                <a:cs typeface="Times New Roman"/>
              </a:rPr>
              <a:t>register</a:t>
            </a:r>
            <a:r>
              <a:rPr sz="1100" spc="-20" dirty="0">
                <a:latin typeface="Times New Roman"/>
                <a:cs typeface="Times New Roman"/>
              </a:rPr>
              <a:t> </a:t>
            </a:r>
            <a:r>
              <a:rPr sz="1100" dirty="0">
                <a:latin typeface="Times New Roman"/>
                <a:cs typeface="Times New Roman"/>
              </a:rPr>
              <a:t>with</a:t>
            </a:r>
            <a:r>
              <a:rPr sz="1100" spc="-10" dirty="0">
                <a:latin typeface="Times New Roman"/>
                <a:cs typeface="Times New Roman"/>
              </a:rPr>
              <a:t> </a:t>
            </a:r>
            <a:r>
              <a:rPr sz="1100" spc="-20" dirty="0">
                <a:latin typeface="Times New Roman"/>
                <a:cs typeface="Times New Roman"/>
              </a:rPr>
              <a:t>each 	</a:t>
            </a:r>
            <a:r>
              <a:rPr sz="1100" dirty="0">
                <a:latin typeface="Times New Roman"/>
                <a:cs typeface="Times New Roman"/>
              </a:rPr>
              <a:t>segment in</a:t>
            </a:r>
            <a:r>
              <a:rPr sz="1100" spc="-15"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pipeline.</a:t>
            </a:r>
            <a:r>
              <a:rPr sz="1100" spc="-25" dirty="0">
                <a:latin typeface="Times New Roman"/>
                <a:cs typeface="Times New Roman"/>
              </a:rPr>
              <a:t> </a:t>
            </a:r>
            <a:r>
              <a:rPr sz="1100" b="1" dirty="0">
                <a:latin typeface="Times New Roman"/>
                <a:cs typeface="Times New Roman"/>
              </a:rPr>
              <a:t>The registers</a:t>
            </a:r>
            <a:r>
              <a:rPr sz="1100" b="1" spc="-35" dirty="0">
                <a:latin typeface="Times New Roman"/>
                <a:cs typeface="Times New Roman"/>
              </a:rPr>
              <a:t> </a:t>
            </a:r>
            <a:r>
              <a:rPr sz="1100" b="1" dirty="0">
                <a:latin typeface="Times New Roman"/>
                <a:cs typeface="Times New Roman"/>
              </a:rPr>
              <a:t>provide</a:t>
            </a:r>
            <a:r>
              <a:rPr sz="1100" b="1" spc="-25" dirty="0">
                <a:latin typeface="Times New Roman"/>
                <a:cs typeface="Times New Roman"/>
              </a:rPr>
              <a:t> </a:t>
            </a:r>
            <a:r>
              <a:rPr sz="1100" b="1" dirty="0">
                <a:latin typeface="Times New Roman"/>
                <a:cs typeface="Times New Roman"/>
              </a:rPr>
              <a:t>isolation</a:t>
            </a:r>
            <a:r>
              <a:rPr sz="1100" b="1" spc="-30" dirty="0">
                <a:latin typeface="Times New Roman"/>
                <a:cs typeface="Times New Roman"/>
              </a:rPr>
              <a:t> </a:t>
            </a:r>
            <a:r>
              <a:rPr sz="1100" b="1" dirty="0">
                <a:latin typeface="Times New Roman"/>
                <a:cs typeface="Times New Roman"/>
              </a:rPr>
              <a:t>between</a:t>
            </a:r>
            <a:r>
              <a:rPr sz="1100" b="1" spc="-40" dirty="0">
                <a:latin typeface="Times New Roman"/>
                <a:cs typeface="Times New Roman"/>
              </a:rPr>
              <a:t> </a:t>
            </a:r>
            <a:r>
              <a:rPr sz="1100" b="1" dirty="0">
                <a:latin typeface="Times New Roman"/>
                <a:cs typeface="Times New Roman"/>
              </a:rPr>
              <a:t>each</a:t>
            </a:r>
            <a:r>
              <a:rPr sz="1100" b="1" spc="-15" dirty="0">
                <a:latin typeface="Times New Roman"/>
                <a:cs typeface="Times New Roman"/>
              </a:rPr>
              <a:t> </a:t>
            </a:r>
            <a:r>
              <a:rPr sz="1100" b="1" dirty="0">
                <a:latin typeface="Times New Roman"/>
                <a:cs typeface="Times New Roman"/>
              </a:rPr>
              <a:t>segment</a:t>
            </a:r>
            <a:r>
              <a:rPr sz="1100" b="1" spc="-20" dirty="0">
                <a:latin typeface="Times New Roman"/>
                <a:cs typeface="Times New Roman"/>
              </a:rPr>
              <a:t> </a:t>
            </a:r>
            <a:r>
              <a:rPr sz="1100" b="1" dirty="0">
                <a:latin typeface="Times New Roman"/>
                <a:cs typeface="Times New Roman"/>
              </a:rPr>
              <a:t>so</a:t>
            </a:r>
            <a:r>
              <a:rPr sz="1100" b="1" spc="-10" dirty="0">
                <a:latin typeface="Times New Roman"/>
                <a:cs typeface="Times New Roman"/>
              </a:rPr>
              <a:t> </a:t>
            </a:r>
            <a:r>
              <a:rPr sz="1100" b="1" spc="-20" dirty="0">
                <a:latin typeface="Times New Roman"/>
                <a:cs typeface="Times New Roman"/>
              </a:rPr>
              <a:t>that 	</a:t>
            </a:r>
            <a:r>
              <a:rPr sz="1100" b="1" dirty="0">
                <a:latin typeface="Times New Roman"/>
                <a:cs typeface="Times New Roman"/>
              </a:rPr>
              <a:t>each</a:t>
            </a:r>
            <a:r>
              <a:rPr sz="1100" b="1" spc="-15" dirty="0">
                <a:latin typeface="Times New Roman"/>
                <a:cs typeface="Times New Roman"/>
              </a:rPr>
              <a:t> </a:t>
            </a:r>
            <a:r>
              <a:rPr sz="1100" b="1" dirty="0">
                <a:latin typeface="Times New Roman"/>
                <a:cs typeface="Times New Roman"/>
              </a:rPr>
              <a:t>can</a:t>
            </a:r>
            <a:r>
              <a:rPr sz="1100" b="1" spc="-15" dirty="0">
                <a:latin typeface="Times New Roman"/>
                <a:cs typeface="Times New Roman"/>
              </a:rPr>
              <a:t> </a:t>
            </a:r>
            <a:r>
              <a:rPr sz="1100" b="1" dirty="0">
                <a:latin typeface="Times New Roman"/>
                <a:cs typeface="Times New Roman"/>
              </a:rPr>
              <a:t>operate</a:t>
            </a:r>
            <a:r>
              <a:rPr sz="1100" b="1" spc="-5" dirty="0">
                <a:latin typeface="Times New Roman"/>
                <a:cs typeface="Times New Roman"/>
              </a:rPr>
              <a:t> </a:t>
            </a:r>
            <a:r>
              <a:rPr sz="1100" b="1" dirty="0">
                <a:latin typeface="Times New Roman"/>
                <a:cs typeface="Times New Roman"/>
              </a:rPr>
              <a:t>on</a:t>
            </a:r>
            <a:r>
              <a:rPr sz="1100" b="1" spc="-15" dirty="0">
                <a:latin typeface="Times New Roman"/>
                <a:cs typeface="Times New Roman"/>
              </a:rPr>
              <a:t> </a:t>
            </a:r>
            <a:r>
              <a:rPr sz="1100" b="1" dirty="0">
                <a:latin typeface="Times New Roman"/>
                <a:cs typeface="Times New Roman"/>
              </a:rPr>
              <a:t>distinct</a:t>
            </a:r>
            <a:r>
              <a:rPr sz="1100" b="1" spc="-15" dirty="0">
                <a:latin typeface="Times New Roman"/>
                <a:cs typeface="Times New Roman"/>
              </a:rPr>
              <a:t> </a:t>
            </a:r>
            <a:r>
              <a:rPr sz="1100" b="1" dirty="0">
                <a:latin typeface="Times New Roman"/>
                <a:cs typeface="Times New Roman"/>
              </a:rPr>
              <a:t>data</a:t>
            </a:r>
            <a:r>
              <a:rPr sz="1100" b="1" spc="-10" dirty="0">
                <a:latin typeface="Times New Roman"/>
                <a:cs typeface="Times New Roman"/>
              </a:rPr>
              <a:t> simultaneously</a:t>
            </a:r>
            <a:r>
              <a:rPr sz="1100" spc="-10" dirty="0">
                <a:latin typeface="Times New Roman"/>
                <a:cs typeface="Times New Roman"/>
              </a:rPr>
              <a:t>.</a:t>
            </a:r>
            <a:endParaRPr sz="11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12723" y="1108074"/>
            <a:ext cx="5177790"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Georgia"/>
                <a:cs typeface="Georgia"/>
              </a:rPr>
              <a:t>Implementation</a:t>
            </a:r>
            <a:r>
              <a:rPr sz="2000" spc="-65" dirty="0">
                <a:latin typeface="Georgia"/>
                <a:cs typeface="Georgia"/>
              </a:rPr>
              <a:t> </a:t>
            </a:r>
            <a:r>
              <a:rPr sz="2000" dirty="0">
                <a:latin typeface="Georgia"/>
                <a:cs typeface="Georgia"/>
              </a:rPr>
              <a:t>Technique</a:t>
            </a:r>
            <a:r>
              <a:rPr sz="2000" spc="-45" dirty="0">
                <a:latin typeface="Georgia"/>
                <a:cs typeface="Georgia"/>
              </a:rPr>
              <a:t> </a:t>
            </a:r>
            <a:r>
              <a:rPr sz="2000" dirty="0">
                <a:latin typeface="Georgia"/>
                <a:cs typeface="Georgia"/>
              </a:rPr>
              <a:t>in</a:t>
            </a:r>
            <a:r>
              <a:rPr sz="2000" spc="-40" dirty="0">
                <a:latin typeface="Georgia"/>
                <a:cs typeface="Georgia"/>
              </a:rPr>
              <a:t> </a:t>
            </a:r>
            <a:r>
              <a:rPr sz="2000" dirty="0">
                <a:latin typeface="Georgia"/>
                <a:cs typeface="Georgia"/>
              </a:rPr>
              <a:t>Digital</a:t>
            </a:r>
            <a:r>
              <a:rPr sz="2000" spc="-40" dirty="0">
                <a:latin typeface="Georgia"/>
                <a:cs typeface="Georgia"/>
              </a:rPr>
              <a:t> </a:t>
            </a:r>
            <a:r>
              <a:rPr sz="2000" spc="-10" dirty="0">
                <a:latin typeface="Georgia"/>
                <a:cs typeface="Georgia"/>
              </a:rPr>
              <a:t>Systems</a:t>
            </a:r>
            <a:endParaRPr sz="2000">
              <a:latin typeface="Georgia"/>
              <a:cs typeface="Georgia"/>
            </a:endParaRPr>
          </a:p>
        </p:txBody>
      </p:sp>
      <p:sp>
        <p:nvSpPr>
          <p:cNvPr id="3" name="object 3"/>
          <p:cNvSpPr txBox="1"/>
          <p:nvPr/>
        </p:nvSpPr>
        <p:spPr>
          <a:xfrm>
            <a:off x="746861" y="1616202"/>
            <a:ext cx="5435600" cy="1997075"/>
          </a:xfrm>
          <a:prstGeom prst="rect">
            <a:avLst/>
          </a:prstGeom>
        </p:spPr>
        <p:txBody>
          <a:bodyPr vert="horz" wrap="square" lIns="0" tIns="12700" rIns="0" bIns="0" rtlCol="0">
            <a:spAutoFit/>
          </a:bodyPr>
          <a:lstStyle/>
          <a:p>
            <a:pPr marL="241300" indent="-228600">
              <a:lnSpc>
                <a:spcPct val="100000"/>
              </a:lnSpc>
              <a:spcBef>
                <a:spcPts val="100"/>
              </a:spcBef>
              <a:buClr>
                <a:srgbClr val="3E762B"/>
              </a:buClr>
              <a:buAutoNum type="arabicPeriod"/>
              <a:tabLst>
                <a:tab pos="241300" algn="l"/>
              </a:tabLst>
            </a:pPr>
            <a:r>
              <a:rPr sz="1200" spc="-10" dirty="0">
                <a:latin typeface="Times New Roman"/>
                <a:cs typeface="Times New Roman"/>
              </a:rPr>
              <a:t>Determine</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number</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pipeline</a:t>
            </a:r>
            <a:r>
              <a:rPr sz="1200" spc="-35" dirty="0">
                <a:latin typeface="Times New Roman"/>
                <a:cs typeface="Times New Roman"/>
              </a:rPr>
              <a:t> </a:t>
            </a:r>
            <a:r>
              <a:rPr sz="1200" b="1" dirty="0">
                <a:latin typeface="Times New Roman"/>
                <a:cs typeface="Times New Roman"/>
              </a:rPr>
              <a:t>segments</a:t>
            </a:r>
            <a:r>
              <a:rPr sz="1200" b="1" spc="-10" dirty="0">
                <a:latin typeface="Times New Roman"/>
                <a:cs typeface="Times New Roman"/>
              </a:rPr>
              <a:t> </a:t>
            </a:r>
            <a:r>
              <a:rPr sz="1200" dirty="0">
                <a:latin typeface="Times New Roman"/>
                <a:cs typeface="Times New Roman"/>
              </a:rPr>
              <a:t>(pipeline</a:t>
            </a:r>
            <a:r>
              <a:rPr sz="1200" spc="-35" dirty="0">
                <a:latin typeface="Times New Roman"/>
                <a:cs typeface="Times New Roman"/>
              </a:rPr>
              <a:t> </a:t>
            </a:r>
            <a:r>
              <a:rPr sz="1200" b="1" spc="-10" dirty="0">
                <a:latin typeface="Times New Roman"/>
                <a:cs typeface="Times New Roman"/>
              </a:rPr>
              <a:t>stages</a:t>
            </a:r>
            <a:r>
              <a:rPr sz="1200" spc="-10" dirty="0">
                <a:latin typeface="Times New Roman"/>
                <a:cs typeface="Times New Roman"/>
              </a:rPr>
              <a:t>)</a:t>
            </a:r>
            <a:endParaRPr sz="1200">
              <a:latin typeface="Times New Roman"/>
              <a:cs typeface="Times New Roman"/>
            </a:endParaRPr>
          </a:p>
          <a:p>
            <a:pPr marL="119380" marR="1881505" lvl="1" indent="-119380" algn="r">
              <a:lnSpc>
                <a:spcPct val="100000"/>
              </a:lnSpc>
              <a:spcBef>
                <a:spcPts val="890"/>
              </a:spcBef>
              <a:buClr>
                <a:srgbClr val="3E762B"/>
              </a:buClr>
              <a:buFont typeface="Arial MT"/>
              <a:buChar char="•"/>
              <a:tabLst>
                <a:tab pos="119380" algn="l"/>
              </a:tabLst>
            </a:pPr>
            <a:r>
              <a:rPr sz="1150" dirty="0">
                <a:latin typeface="Times New Roman"/>
                <a:cs typeface="Times New Roman"/>
              </a:rPr>
              <a:t>Try</a:t>
            </a:r>
            <a:r>
              <a:rPr sz="1150" spc="-45" dirty="0">
                <a:latin typeface="Times New Roman"/>
                <a:cs typeface="Times New Roman"/>
              </a:rPr>
              <a:t> </a:t>
            </a:r>
            <a:r>
              <a:rPr sz="1150" dirty="0">
                <a:latin typeface="Times New Roman"/>
                <a:cs typeface="Times New Roman"/>
              </a:rPr>
              <a:t>to</a:t>
            </a:r>
            <a:r>
              <a:rPr sz="1150" spc="-45" dirty="0">
                <a:latin typeface="Times New Roman"/>
                <a:cs typeface="Times New Roman"/>
              </a:rPr>
              <a:t> </a:t>
            </a:r>
            <a:r>
              <a:rPr sz="1150" dirty="0">
                <a:latin typeface="Times New Roman"/>
                <a:cs typeface="Times New Roman"/>
              </a:rPr>
              <a:t>balance</a:t>
            </a:r>
            <a:r>
              <a:rPr sz="1150" spc="-50" dirty="0">
                <a:latin typeface="Times New Roman"/>
                <a:cs typeface="Times New Roman"/>
              </a:rPr>
              <a:t> </a:t>
            </a:r>
            <a:r>
              <a:rPr sz="1150" dirty="0">
                <a:latin typeface="Times New Roman"/>
                <a:cs typeface="Times New Roman"/>
              </a:rPr>
              <a:t>the</a:t>
            </a:r>
            <a:r>
              <a:rPr sz="1150" spc="-40" dirty="0">
                <a:latin typeface="Times New Roman"/>
                <a:cs typeface="Times New Roman"/>
              </a:rPr>
              <a:t> </a:t>
            </a:r>
            <a:r>
              <a:rPr sz="1150" dirty="0">
                <a:latin typeface="Times New Roman"/>
                <a:cs typeface="Times New Roman"/>
              </a:rPr>
              <a:t>pipeline</a:t>
            </a:r>
            <a:r>
              <a:rPr sz="1150" spc="-50" dirty="0">
                <a:latin typeface="Times New Roman"/>
                <a:cs typeface="Times New Roman"/>
              </a:rPr>
              <a:t> </a:t>
            </a:r>
            <a:r>
              <a:rPr sz="1150" dirty="0">
                <a:latin typeface="Times New Roman"/>
                <a:cs typeface="Times New Roman"/>
              </a:rPr>
              <a:t>(Equal-length</a:t>
            </a:r>
            <a:r>
              <a:rPr sz="1150" spc="-50" dirty="0">
                <a:latin typeface="Times New Roman"/>
                <a:cs typeface="Times New Roman"/>
              </a:rPr>
              <a:t> </a:t>
            </a:r>
            <a:r>
              <a:rPr sz="1150" dirty="0">
                <a:latin typeface="Times New Roman"/>
                <a:cs typeface="Times New Roman"/>
              </a:rPr>
              <a:t>pipe</a:t>
            </a:r>
            <a:r>
              <a:rPr sz="1150" spc="-40" dirty="0">
                <a:latin typeface="Times New Roman"/>
                <a:cs typeface="Times New Roman"/>
              </a:rPr>
              <a:t> </a:t>
            </a:r>
            <a:r>
              <a:rPr sz="1150" spc="-10" dirty="0">
                <a:latin typeface="Times New Roman"/>
                <a:cs typeface="Times New Roman"/>
              </a:rPr>
              <a:t>stages)</a:t>
            </a:r>
            <a:endParaRPr sz="1150">
              <a:latin typeface="Times New Roman"/>
              <a:cs typeface="Times New Roman"/>
            </a:endParaRPr>
          </a:p>
          <a:p>
            <a:pPr lvl="1">
              <a:lnSpc>
                <a:spcPct val="100000"/>
              </a:lnSpc>
              <a:spcBef>
                <a:spcPts val="869"/>
              </a:spcBef>
              <a:buClr>
                <a:srgbClr val="3E762B"/>
              </a:buClr>
              <a:buFont typeface="Arial MT"/>
              <a:buChar char="•"/>
            </a:pPr>
            <a:endParaRPr sz="1150">
              <a:latin typeface="Times New Roman"/>
              <a:cs typeface="Times New Roman"/>
            </a:endParaRPr>
          </a:p>
          <a:p>
            <a:pPr marL="228600" marR="1894839" indent="-228600" algn="r">
              <a:lnSpc>
                <a:spcPct val="100000"/>
              </a:lnSpc>
              <a:buClr>
                <a:srgbClr val="3E762B"/>
              </a:buClr>
              <a:buAutoNum type="arabicPeriod"/>
              <a:tabLst>
                <a:tab pos="228600" algn="l"/>
              </a:tabLst>
            </a:pPr>
            <a:r>
              <a:rPr sz="1200" dirty="0">
                <a:latin typeface="Times New Roman"/>
                <a:cs typeface="Times New Roman"/>
              </a:rPr>
              <a:t>Save</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output</a:t>
            </a:r>
            <a:r>
              <a:rPr sz="1200" spc="-3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segment</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avoid</a:t>
            </a:r>
            <a:r>
              <a:rPr sz="1200" spc="-25"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spc="-10" dirty="0">
                <a:latin typeface="Times New Roman"/>
                <a:cs typeface="Times New Roman"/>
              </a:rPr>
              <a:t>overlap</a:t>
            </a:r>
            <a:endParaRPr sz="1200">
              <a:latin typeface="Times New Roman"/>
              <a:cs typeface="Times New Roman"/>
            </a:endParaRPr>
          </a:p>
          <a:p>
            <a:pPr marL="469900">
              <a:lnSpc>
                <a:spcPct val="100000"/>
              </a:lnSpc>
              <a:spcBef>
                <a:spcPts val="890"/>
              </a:spcBef>
            </a:pPr>
            <a:r>
              <a:rPr sz="1150" dirty="0">
                <a:latin typeface="Wingdings"/>
                <a:cs typeface="Wingdings"/>
              </a:rPr>
              <a:t></a:t>
            </a:r>
            <a:r>
              <a:rPr sz="1150" spc="-15" dirty="0">
                <a:latin typeface="Times New Roman"/>
                <a:cs typeface="Times New Roman"/>
              </a:rPr>
              <a:t> </a:t>
            </a:r>
            <a:r>
              <a:rPr sz="1150" b="1" dirty="0">
                <a:latin typeface="Times New Roman"/>
                <a:cs typeface="Times New Roman"/>
              </a:rPr>
              <a:t>use</a:t>
            </a:r>
            <a:r>
              <a:rPr sz="1150" b="1" spc="-10" dirty="0">
                <a:latin typeface="Times New Roman"/>
                <a:cs typeface="Times New Roman"/>
              </a:rPr>
              <a:t> registers</a:t>
            </a:r>
            <a:r>
              <a:rPr sz="1150" b="1" spc="-35" dirty="0">
                <a:latin typeface="Times New Roman"/>
                <a:cs typeface="Times New Roman"/>
              </a:rPr>
              <a:t> </a:t>
            </a:r>
            <a:r>
              <a:rPr sz="1150" b="1" dirty="0">
                <a:latin typeface="Times New Roman"/>
                <a:cs typeface="Times New Roman"/>
              </a:rPr>
              <a:t>between</a:t>
            </a:r>
            <a:r>
              <a:rPr sz="1150" b="1" spc="-30" dirty="0">
                <a:latin typeface="Times New Roman"/>
                <a:cs typeface="Times New Roman"/>
              </a:rPr>
              <a:t> </a:t>
            </a:r>
            <a:r>
              <a:rPr sz="1150" b="1" dirty="0">
                <a:latin typeface="Times New Roman"/>
                <a:cs typeface="Times New Roman"/>
              </a:rPr>
              <a:t>pipeline</a:t>
            </a:r>
            <a:r>
              <a:rPr sz="1150" b="1" spc="-35" dirty="0">
                <a:latin typeface="Times New Roman"/>
                <a:cs typeface="Times New Roman"/>
              </a:rPr>
              <a:t> </a:t>
            </a:r>
            <a:r>
              <a:rPr sz="1150" b="1" spc="-10" dirty="0">
                <a:latin typeface="Times New Roman"/>
                <a:cs typeface="Times New Roman"/>
              </a:rPr>
              <a:t>segments/stages</a:t>
            </a:r>
            <a:endParaRPr sz="1150">
              <a:latin typeface="Times New Roman"/>
              <a:cs typeface="Times New Roman"/>
            </a:endParaRPr>
          </a:p>
          <a:p>
            <a:pPr>
              <a:lnSpc>
                <a:spcPct val="100000"/>
              </a:lnSpc>
              <a:spcBef>
                <a:spcPts val="875"/>
              </a:spcBef>
            </a:pPr>
            <a:endParaRPr sz="1150">
              <a:latin typeface="Times New Roman"/>
              <a:cs typeface="Times New Roman"/>
            </a:endParaRPr>
          </a:p>
          <a:p>
            <a:pPr marL="241300" indent="-228600">
              <a:lnSpc>
                <a:spcPct val="100000"/>
              </a:lnSpc>
              <a:buClr>
                <a:srgbClr val="3E762B"/>
              </a:buClr>
              <a:buAutoNum type="arabicPeriod" startAt="3"/>
              <a:tabLst>
                <a:tab pos="241300" algn="l"/>
              </a:tabLst>
            </a:pPr>
            <a:r>
              <a:rPr sz="1200" spc="-10" dirty="0">
                <a:latin typeface="Times New Roman"/>
                <a:cs typeface="Times New Roman"/>
              </a:rPr>
              <a:t>Determine</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stage</a:t>
            </a:r>
            <a:r>
              <a:rPr sz="1200" spc="-25" dirty="0">
                <a:latin typeface="Times New Roman"/>
                <a:cs typeface="Times New Roman"/>
              </a:rPr>
              <a:t> </a:t>
            </a:r>
            <a:r>
              <a:rPr sz="1200" dirty="0">
                <a:latin typeface="Times New Roman"/>
                <a:cs typeface="Times New Roman"/>
              </a:rPr>
              <a:t>period.</a:t>
            </a:r>
            <a:r>
              <a:rPr sz="1200" spc="-25" dirty="0">
                <a:latin typeface="Times New Roman"/>
                <a:cs typeface="Times New Roman"/>
              </a:rPr>
              <a:t> </a:t>
            </a:r>
            <a:r>
              <a:rPr sz="1200" dirty="0">
                <a:latin typeface="Times New Roman"/>
                <a:cs typeface="Times New Roman"/>
              </a:rPr>
              <a:t>It</a:t>
            </a:r>
            <a:r>
              <a:rPr sz="1200" spc="-5" dirty="0">
                <a:latin typeface="Times New Roman"/>
                <a:cs typeface="Times New Roman"/>
              </a:rPr>
              <a:t> </a:t>
            </a:r>
            <a:r>
              <a:rPr sz="1200" dirty="0">
                <a:latin typeface="Times New Roman"/>
                <a:cs typeface="Times New Roman"/>
              </a:rPr>
              <a:t>specifies</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clock</a:t>
            </a:r>
            <a:r>
              <a:rPr sz="1200" spc="-25" dirty="0">
                <a:latin typeface="Times New Roman"/>
                <a:cs typeface="Times New Roman"/>
              </a:rPr>
              <a:t> </a:t>
            </a:r>
            <a:r>
              <a:rPr sz="1200" dirty="0">
                <a:latin typeface="Times New Roman"/>
                <a:cs typeface="Times New Roman"/>
              </a:rPr>
              <a:t>period</a:t>
            </a:r>
            <a:r>
              <a:rPr sz="1200" spc="-3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maximum</a:t>
            </a:r>
            <a:r>
              <a:rPr sz="1200" spc="-50" dirty="0">
                <a:latin typeface="Times New Roman"/>
                <a:cs typeface="Times New Roman"/>
              </a:rPr>
              <a:t> </a:t>
            </a:r>
            <a:r>
              <a:rPr sz="1200" spc="-10" dirty="0">
                <a:latin typeface="Times New Roman"/>
                <a:cs typeface="Times New Roman"/>
              </a:rPr>
              <a:t>frequency</a:t>
            </a:r>
            <a:endParaRPr sz="1200">
              <a:latin typeface="Times New Roman"/>
              <a:cs typeface="Times New Roman"/>
            </a:endParaRPr>
          </a:p>
          <a:p>
            <a:pPr marL="469900">
              <a:lnSpc>
                <a:spcPct val="100000"/>
              </a:lnSpc>
              <a:spcBef>
                <a:spcPts val="890"/>
              </a:spcBef>
            </a:pPr>
            <a:r>
              <a:rPr sz="1150" dirty="0">
                <a:latin typeface="Wingdings"/>
                <a:cs typeface="Wingdings"/>
              </a:rPr>
              <a:t></a:t>
            </a:r>
            <a:r>
              <a:rPr sz="1150" spc="-15" dirty="0">
                <a:latin typeface="Times New Roman"/>
                <a:cs typeface="Times New Roman"/>
              </a:rPr>
              <a:t> </a:t>
            </a:r>
            <a:r>
              <a:rPr sz="1150" b="1" dirty="0">
                <a:latin typeface="Times New Roman"/>
                <a:cs typeface="Times New Roman"/>
              </a:rPr>
              <a:t>Longest</a:t>
            </a:r>
            <a:r>
              <a:rPr sz="1150" b="1" spc="-15" dirty="0">
                <a:latin typeface="Times New Roman"/>
                <a:cs typeface="Times New Roman"/>
              </a:rPr>
              <a:t> </a:t>
            </a:r>
            <a:r>
              <a:rPr sz="1150" b="1" spc="-10" dirty="0">
                <a:latin typeface="Times New Roman"/>
                <a:cs typeface="Times New Roman"/>
              </a:rPr>
              <a:t>segment</a:t>
            </a:r>
            <a:endParaRPr sz="1150">
              <a:latin typeface="Times New Roman"/>
              <a:cs typeface="Times New Roman"/>
            </a:endParaRPr>
          </a:p>
        </p:txBody>
      </p:sp>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725423" y="5069586"/>
            <a:ext cx="5383530" cy="2026920"/>
          </a:xfrm>
          <a:prstGeom prst="rect">
            <a:avLst/>
          </a:prstGeom>
        </p:spPr>
        <p:txBody>
          <a:bodyPr vert="horz" wrap="square" lIns="0" tIns="12065" rIns="0" bIns="0" rtlCol="0">
            <a:spAutoFit/>
          </a:bodyPr>
          <a:lstStyle/>
          <a:p>
            <a:pPr>
              <a:lnSpc>
                <a:spcPct val="100000"/>
              </a:lnSpc>
              <a:spcBef>
                <a:spcPts val="95"/>
              </a:spcBef>
            </a:pPr>
            <a:r>
              <a:rPr sz="2200" spc="-10" dirty="0">
                <a:latin typeface="Georgia"/>
                <a:cs typeface="Georgia"/>
              </a:rPr>
              <a:t>Pipelining</a:t>
            </a:r>
            <a:endParaRPr sz="2200">
              <a:latin typeface="Georgia"/>
              <a:cs typeface="Georgia"/>
            </a:endParaRPr>
          </a:p>
          <a:p>
            <a:pPr marL="206375" marR="5080" indent="-172720">
              <a:lnSpc>
                <a:spcPct val="100000"/>
              </a:lnSpc>
              <a:spcBef>
                <a:spcPts val="1355"/>
              </a:spcBef>
              <a:buClr>
                <a:srgbClr val="3E762B"/>
              </a:buClr>
              <a:buFont typeface="Wingdings"/>
              <a:buChar char=""/>
              <a:tabLst>
                <a:tab pos="207645" algn="l"/>
              </a:tabLst>
            </a:pP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simplest</a:t>
            </a:r>
            <a:r>
              <a:rPr sz="1100" spc="-15" dirty="0">
                <a:latin typeface="Times New Roman"/>
                <a:cs typeface="Times New Roman"/>
              </a:rPr>
              <a:t> </a:t>
            </a:r>
            <a:r>
              <a:rPr sz="1100" dirty="0">
                <a:latin typeface="Times New Roman"/>
                <a:cs typeface="Times New Roman"/>
              </a:rPr>
              <a:t>way</a:t>
            </a:r>
            <a:r>
              <a:rPr sz="1100" spc="-5" dirty="0">
                <a:latin typeface="Times New Roman"/>
                <a:cs typeface="Times New Roman"/>
              </a:rPr>
              <a:t> </a:t>
            </a:r>
            <a:r>
              <a:rPr sz="1100" dirty="0">
                <a:latin typeface="Times New Roman"/>
                <a:cs typeface="Times New Roman"/>
              </a:rPr>
              <a:t>of viewing</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pipeline</a:t>
            </a:r>
            <a:r>
              <a:rPr sz="1100" spc="-30" dirty="0">
                <a:latin typeface="Times New Roman"/>
                <a:cs typeface="Times New Roman"/>
              </a:rPr>
              <a:t> </a:t>
            </a:r>
            <a:r>
              <a:rPr sz="1100" dirty="0">
                <a:latin typeface="Times New Roman"/>
                <a:cs typeface="Times New Roman"/>
              </a:rPr>
              <a:t>structure</a:t>
            </a:r>
            <a:r>
              <a:rPr sz="1100" spc="-35" dirty="0">
                <a:latin typeface="Times New Roman"/>
                <a:cs typeface="Times New Roman"/>
              </a:rPr>
              <a:t> </a:t>
            </a:r>
            <a:r>
              <a:rPr sz="1100" dirty="0">
                <a:latin typeface="Times New Roman"/>
                <a:cs typeface="Times New Roman"/>
              </a:rPr>
              <a:t>is</a:t>
            </a:r>
            <a:r>
              <a:rPr sz="1100" spc="-5" dirty="0">
                <a:latin typeface="Times New Roman"/>
                <a:cs typeface="Times New Roman"/>
              </a:rPr>
              <a:t> </a:t>
            </a:r>
            <a:r>
              <a:rPr sz="1100" dirty="0">
                <a:latin typeface="Times New Roman"/>
                <a:cs typeface="Times New Roman"/>
              </a:rPr>
              <a:t>to</a:t>
            </a:r>
            <a:r>
              <a:rPr sz="1100" spc="-10" dirty="0">
                <a:latin typeface="Times New Roman"/>
                <a:cs typeface="Times New Roman"/>
              </a:rPr>
              <a:t> </a:t>
            </a:r>
            <a:r>
              <a:rPr sz="1100" dirty="0">
                <a:latin typeface="Times New Roman"/>
                <a:cs typeface="Times New Roman"/>
              </a:rPr>
              <a:t>imagine that</a:t>
            </a:r>
            <a:r>
              <a:rPr sz="1100" spc="30" dirty="0">
                <a:latin typeface="Times New Roman"/>
                <a:cs typeface="Times New Roman"/>
              </a:rPr>
              <a:t> </a:t>
            </a:r>
            <a:r>
              <a:rPr sz="1100" b="1" dirty="0">
                <a:latin typeface="Times New Roman"/>
                <a:cs typeface="Times New Roman"/>
              </a:rPr>
              <a:t>each</a:t>
            </a:r>
            <a:r>
              <a:rPr sz="1100" b="1" spc="-10" dirty="0">
                <a:latin typeface="Times New Roman"/>
                <a:cs typeface="Times New Roman"/>
              </a:rPr>
              <a:t> </a:t>
            </a:r>
            <a:r>
              <a:rPr sz="1100" b="1" dirty="0">
                <a:latin typeface="Times New Roman"/>
                <a:cs typeface="Times New Roman"/>
              </a:rPr>
              <a:t>segment</a:t>
            </a:r>
            <a:r>
              <a:rPr sz="1100" b="1" spc="-30" dirty="0">
                <a:latin typeface="Times New Roman"/>
                <a:cs typeface="Times New Roman"/>
              </a:rPr>
              <a:t> </a:t>
            </a:r>
            <a:r>
              <a:rPr sz="1100" b="1" spc="-10" dirty="0">
                <a:latin typeface="Times New Roman"/>
                <a:cs typeface="Times New Roman"/>
              </a:rPr>
              <a:t>consists 	</a:t>
            </a:r>
            <a:r>
              <a:rPr sz="1100" b="1" dirty="0">
                <a:latin typeface="Times New Roman"/>
                <a:cs typeface="Times New Roman"/>
              </a:rPr>
              <a:t>of</a:t>
            </a:r>
            <a:r>
              <a:rPr sz="1100" b="1" spc="-10" dirty="0">
                <a:latin typeface="Times New Roman"/>
                <a:cs typeface="Times New Roman"/>
              </a:rPr>
              <a:t> </a:t>
            </a:r>
            <a:r>
              <a:rPr sz="1100" b="1" dirty="0">
                <a:latin typeface="Times New Roman"/>
                <a:cs typeface="Times New Roman"/>
              </a:rPr>
              <a:t>an input</a:t>
            </a:r>
            <a:r>
              <a:rPr sz="1100" b="1" spc="5" dirty="0">
                <a:latin typeface="Times New Roman"/>
                <a:cs typeface="Times New Roman"/>
              </a:rPr>
              <a:t> </a:t>
            </a:r>
            <a:r>
              <a:rPr sz="1100" b="1" dirty="0">
                <a:latin typeface="Times New Roman"/>
                <a:cs typeface="Times New Roman"/>
              </a:rPr>
              <a:t>register</a:t>
            </a:r>
            <a:r>
              <a:rPr sz="1100" b="1" spc="-60" dirty="0">
                <a:latin typeface="Times New Roman"/>
                <a:cs typeface="Times New Roman"/>
              </a:rPr>
              <a:t> </a:t>
            </a:r>
            <a:r>
              <a:rPr sz="1100" b="1" dirty="0">
                <a:latin typeface="Times New Roman"/>
                <a:cs typeface="Times New Roman"/>
              </a:rPr>
              <a:t>followed</a:t>
            </a:r>
            <a:r>
              <a:rPr sz="1100" b="1" spc="-35" dirty="0">
                <a:latin typeface="Times New Roman"/>
                <a:cs typeface="Times New Roman"/>
              </a:rPr>
              <a:t> </a:t>
            </a:r>
            <a:r>
              <a:rPr sz="1100" b="1" dirty="0">
                <a:latin typeface="Times New Roman"/>
                <a:cs typeface="Times New Roman"/>
              </a:rPr>
              <a:t>by a</a:t>
            </a:r>
            <a:r>
              <a:rPr sz="1100" b="1" spc="5" dirty="0">
                <a:latin typeface="Times New Roman"/>
                <a:cs typeface="Times New Roman"/>
              </a:rPr>
              <a:t> </a:t>
            </a:r>
            <a:r>
              <a:rPr sz="1100" b="1" dirty="0">
                <a:latin typeface="Times New Roman"/>
                <a:cs typeface="Times New Roman"/>
              </a:rPr>
              <a:t>combinational</a:t>
            </a:r>
            <a:r>
              <a:rPr sz="1100" b="1" spc="-35" dirty="0">
                <a:latin typeface="Times New Roman"/>
                <a:cs typeface="Times New Roman"/>
              </a:rPr>
              <a:t> </a:t>
            </a:r>
            <a:r>
              <a:rPr sz="1100" b="1" dirty="0">
                <a:latin typeface="Times New Roman"/>
                <a:cs typeface="Times New Roman"/>
              </a:rPr>
              <a:t>circuit. </a:t>
            </a:r>
            <a:r>
              <a:rPr sz="1100" dirty="0">
                <a:latin typeface="Times New Roman"/>
                <a:cs typeface="Times New Roman"/>
              </a:rPr>
              <a:t>The</a:t>
            </a:r>
            <a:r>
              <a:rPr sz="1100" spc="-25" dirty="0">
                <a:latin typeface="Times New Roman"/>
                <a:cs typeface="Times New Roman"/>
              </a:rPr>
              <a:t> </a:t>
            </a:r>
            <a:r>
              <a:rPr sz="1100" dirty="0">
                <a:latin typeface="Times New Roman"/>
                <a:cs typeface="Times New Roman"/>
              </a:rPr>
              <a:t>register</a:t>
            </a:r>
            <a:r>
              <a:rPr sz="1100" spc="-20" dirty="0">
                <a:latin typeface="Times New Roman"/>
                <a:cs typeface="Times New Roman"/>
              </a:rPr>
              <a:t> </a:t>
            </a:r>
            <a:r>
              <a:rPr sz="1100" dirty="0">
                <a:latin typeface="Times New Roman"/>
                <a:cs typeface="Times New Roman"/>
              </a:rPr>
              <a:t>holds</a:t>
            </a:r>
            <a:r>
              <a:rPr sz="1100" spc="-5" dirty="0">
                <a:latin typeface="Times New Roman"/>
                <a:cs typeface="Times New Roman"/>
              </a:rPr>
              <a:t> </a:t>
            </a:r>
            <a:r>
              <a:rPr sz="1100" dirty="0">
                <a:latin typeface="Times New Roman"/>
                <a:cs typeface="Times New Roman"/>
              </a:rPr>
              <a:t>the</a:t>
            </a:r>
            <a:r>
              <a:rPr sz="1100" spc="-25" dirty="0">
                <a:latin typeface="Times New Roman"/>
                <a:cs typeface="Times New Roman"/>
              </a:rPr>
              <a:t> </a:t>
            </a:r>
            <a:r>
              <a:rPr sz="1100" dirty="0">
                <a:latin typeface="Times New Roman"/>
                <a:cs typeface="Times New Roman"/>
              </a:rPr>
              <a:t>data</a:t>
            </a:r>
            <a:r>
              <a:rPr sz="1100" spc="-5" dirty="0">
                <a:latin typeface="Times New Roman"/>
                <a:cs typeface="Times New Roman"/>
              </a:rPr>
              <a:t> </a:t>
            </a:r>
            <a:r>
              <a:rPr sz="1100" spc="-25" dirty="0">
                <a:latin typeface="Times New Roman"/>
                <a:cs typeface="Times New Roman"/>
              </a:rPr>
              <a:t>and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combinational</a:t>
            </a:r>
            <a:r>
              <a:rPr sz="1100" spc="-25" dirty="0">
                <a:latin typeface="Times New Roman"/>
                <a:cs typeface="Times New Roman"/>
              </a:rPr>
              <a:t> </a:t>
            </a:r>
            <a:r>
              <a:rPr sz="1100" dirty="0">
                <a:latin typeface="Times New Roman"/>
                <a:cs typeface="Times New Roman"/>
              </a:rPr>
              <a:t>circuit</a:t>
            </a:r>
            <a:r>
              <a:rPr sz="1100" spc="-10" dirty="0">
                <a:latin typeface="Times New Roman"/>
                <a:cs typeface="Times New Roman"/>
              </a:rPr>
              <a:t> </a:t>
            </a:r>
            <a:r>
              <a:rPr sz="1100" dirty="0">
                <a:latin typeface="Times New Roman"/>
                <a:cs typeface="Times New Roman"/>
              </a:rPr>
              <a:t>performs</a:t>
            </a:r>
            <a:r>
              <a:rPr sz="1100" spc="-5" dirty="0">
                <a:latin typeface="Times New Roman"/>
                <a:cs typeface="Times New Roman"/>
              </a:rPr>
              <a:t> </a:t>
            </a:r>
            <a:r>
              <a:rPr sz="1100" dirty="0">
                <a:latin typeface="Times New Roman"/>
                <a:cs typeface="Times New Roman"/>
              </a:rPr>
              <a:t>the sub-operation</a:t>
            </a:r>
            <a:r>
              <a:rPr sz="1100" spc="-20" dirty="0">
                <a:latin typeface="Times New Roman"/>
                <a:cs typeface="Times New Roman"/>
              </a:rPr>
              <a:t> </a:t>
            </a:r>
            <a:r>
              <a:rPr sz="1100" dirty="0">
                <a:latin typeface="Times New Roman"/>
                <a:cs typeface="Times New Roman"/>
              </a:rPr>
              <a:t>in</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particular</a:t>
            </a:r>
            <a:r>
              <a:rPr sz="1100" spc="-40" dirty="0">
                <a:latin typeface="Times New Roman"/>
                <a:cs typeface="Times New Roman"/>
              </a:rPr>
              <a:t> </a:t>
            </a:r>
            <a:r>
              <a:rPr sz="1100" dirty="0">
                <a:latin typeface="Times New Roman"/>
                <a:cs typeface="Times New Roman"/>
              </a:rPr>
              <a:t>segment.</a:t>
            </a:r>
            <a:r>
              <a:rPr sz="1100" spc="-5" dirty="0">
                <a:latin typeface="Times New Roman"/>
                <a:cs typeface="Times New Roman"/>
              </a:rPr>
              <a:t> </a:t>
            </a:r>
            <a:r>
              <a:rPr sz="1100" dirty="0">
                <a:latin typeface="Times New Roman"/>
                <a:cs typeface="Times New Roman"/>
              </a:rPr>
              <a:t>The</a:t>
            </a:r>
            <a:r>
              <a:rPr sz="1100" spc="-20" dirty="0">
                <a:latin typeface="Times New Roman"/>
                <a:cs typeface="Times New Roman"/>
              </a:rPr>
              <a:t> </a:t>
            </a:r>
            <a:r>
              <a:rPr sz="1100" spc="-10" dirty="0">
                <a:latin typeface="Times New Roman"/>
                <a:cs typeface="Times New Roman"/>
              </a:rPr>
              <a:t>output</a:t>
            </a:r>
            <a:r>
              <a:rPr sz="1100" spc="500"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combinational</a:t>
            </a:r>
            <a:r>
              <a:rPr sz="1100" spc="-15" dirty="0">
                <a:latin typeface="Times New Roman"/>
                <a:cs typeface="Times New Roman"/>
              </a:rPr>
              <a:t> </a:t>
            </a:r>
            <a:r>
              <a:rPr sz="1100" dirty="0">
                <a:latin typeface="Times New Roman"/>
                <a:cs typeface="Times New Roman"/>
              </a:rPr>
              <a:t>circuit</a:t>
            </a:r>
            <a:r>
              <a:rPr sz="1100" spc="-35" dirty="0">
                <a:latin typeface="Times New Roman"/>
                <a:cs typeface="Times New Roman"/>
              </a:rPr>
              <a:t> </a:t>
            </a:r>
            <a:r>
              <a:rPr sz="1100" dirty="0">
                <a:latin typeface="Times New Roman"/>
                <a:cs typeface="Times New Roman"/>
              </a:rPr>
              <a:t>in</a:t>
            </a:r>
            <a:r>
              <a:rPr sz="1100" spc="-10"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dirty="0">
                <a:latin typeface="Times New Roman"/>
                <a:cs typeface="Times New Roman"/>
              </a:rPr>
              <a:t>given</a:t>
            </a:r>
            <a:r>
              <a:rPr sz="1100" spc="5" dirty="0">
                <a:latin typeface="Times New Roman"/>
                <a:cs typeface="Times New Roman"/>
              </a:rPr>
              <a:t> </a:t>
            </a:r>
            <a:r>
              <a:rPr sz="1100" dirty="0">
                <a:latin typeface="Times New Roman"/>
                <a:cs typeface="Times New Roman"/>
              </a:rPr>
              <a:t>segment</a:t>
            </a:r>
            <a:r>
              <a:rPr sz="1100" spc="20" dirty="0">
                <a:latin typeface="Times New Roman"/>
                <a:cs typeface="Times New Roman"/>
              </a:rPr>
              <a:t> </a:t>
            </a:r>
            <a:r>
              <a:rPr sz="1100" dirty="0">
                <a:latin typeface="Times New Roman"/>
                <a:cs typeface="Times New Roman"/>
              </a:rPr>
              <a:t>is</a:t>
            </a:r>
            <a:r>
              <a:rPr sz="1100" spc="-20" dirty="0">
                <a:latin typeface="Times New Roman"/>
                <a:cs typeface="Times New Roman"/>
              </a:rPr>
              <a:t> </a:t>
            </a:r>
            <a:r>
              <a:rPr sz="1100" dirty="0">
                <a:latin typeface="Times New Roman"/>
                <a:cs typeface="Times New Roman"/>
              </a:rPr>
              <a:t>applied</a:t>
            </a:r>
            <a:r>
              <a:rPr sz="1100" spc="-20" dirty="0">
                <a:latin typeface="Times New Roman"/>
                <a:cs typeface="Times New Roman"/>
              </a:rPr>
              <a:t> </a:t>
            </a:r>
            <a:r>
              <a:rPr sz="1100" dirty="0">
                <a:latin typeface="Times New Roman"/>
                <a:cs typeface="Times New Roman"/>
              </a:rPr>
              <a:t>to</a:t>
            </a:r>
            <a:r>
              <a:rPr sz="1100" spc="-10"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input</a:t>
            </a:r>
            <a:r>
              <a:rPr sz="1100" spc="-5" dirty="0">
                <a:latin typeface="Times New Roman"/>
                <a:cs typeface="Times New Roman"/>
              </a:rPr>
              <a:t> </a:t>
            </a:r>
            <a:r>
              <a:rPr sz="1100" dirty="0">
                <a:latin typeface="Times New Roman"/>
                <a:cs typeface="Times New Roman"/>
              </a:rPr>
              <a:t>register</a:t>
            </a:r>
            <a:r>
              <a:rPr sz="1100" spc="-15"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spc="-20" dirty="0">
                <a:latin typeface="Times New Roman"/>
                <a:cs typeface="Times New Roman"/>
              </a:rPr>
              <a:t>next 	</a:t>
            </a:r>
            <a:r>
              <a:rPr sz="1100" spc="-10" dirty="0">
                <a:latin typeface="Times New Roman"/>
                <a:cs typeface="Times New Roman"/>
              </a:rPr>
              <a:t>segment.</a:t>
            </a:r>
            <a:endParaRPr sz="1100">
              <a:latin typeface="Times New Roman"/>
              <a:cs typeface="Times New Roman"/>
            </a:endParaRPr>
          </a:p>
          <a:p>
            <a:pPr marL="206375" marR="53975" indent="-172720">
              <a:lnSpc>
                <a:spcPct val="100000"/>
              </a:lnSpc>
              <a:spcBef>
                <a:spcPts val="605"/>
              </a:spcBef>
              <a:buClr>
                <a:srgbClr val="3E762B"/>
              </a:buClr>
              <a:buFont typeface="Wingdings"/>
              <a:buChar char=""/>
              <a:tabLst>
                <a:tab pos="207645" algn="l"/>
              </a:tabLst>
            </a:pPr>
            <a:r>
              <a:rPr sz="1100" b="1" spc="-10" dirty="0">
                <a:latin typeface="Times New Roman"/>
                <a:cs typeface="Times New Roman"/>
              </a:rPr>
              <a:t>A</a:t>
            </a:r>
            <a:r>
              <a:rPr sz="1100" b="1" spc="-60" dirty="0">
                <a:latin typeface="Times New Roman"/>
                <a:cs typeface="Times New Roman"/>
              </a:rPr>
              <a:t> </a:t>
            </a:r>
            <a:r>
              <a:rPr sz="1100" b="1" dirty="0">
                <a:latin typeface="Times New Roman"/>
                <a:cs typeface="Times New Roman"/>
              </a:rPr>
              <a:t>clock</a:t>
            </a:r>
            <a:r>
              <a:rPr sz="1100" b="1" spc="-5" dirty="0">
                <a:latin typeface="Times New Roman"/>
                <a:cs typeface="Times New Roman"/>
              </a:rPr>
              <a:t> </a:t>
            </a:r>
            <a:r>
              <a:rPr sz="1100" b="1" dirty="0">
                <a:latin typeface="Times New Roman"/>
                <a:cs typeface="Times New Roman"/>
              </a:rPr>
              <a:t>is</a:t>
            </a:r>
            <a:r>
              <a:rPr sz="1100" b="1" spc="-15" dirty="0">
                <a:latin typeface="Times New Roman"/>
                <a:cs typeface="Times New Roman"/>
              </a:rPr>
              <a:t> </a:t>
            </a:r>
            <a:r>
              <a:rPr sz="1100" b="1" dirty="0">
                <a:latin typeface="Times New Roman"/>
                <a:cs typeface="Times New Roman"/>
              </a:rPr>
              <a:t>applied</a:t>
            </a:r>
            <a:r>
              <a:rPr sz="1100" b="1" spc="-5" dirty="0">
                <a:latin typeface="Times New Roman"/>
                <a:cs typeface="Times New Roman"/>
              </a:rPr>
              <a:t> </a:t>
            </a:r>
            <a:r>
              <a:rPr sz="1100" b="1" dirty="0">
                <a:latin typeface="Times New Roman"/>
                <a:cs typeface="Times New Roman"/>
              </a:rPr>
              <a:t>to</a:t>
            </a:r>
            <a:r>
              <a:rPr sz="1100" b="1" spc="-5" dirty="0">
                <a:latin typeface="Times New Roman"/>
                <a:cs typeface="Times New Roman"/>
              </a:rPr>
              <a:t> </a:t>
            </a:r>
            <a:r>
              <a:rPr sz="1100" b="1" dirty="0">
                <a:latin typeface="Times New Roman"/>
                <a:cs typeface="Times New Roman"/>
              </a:rPr>
              <a:t>all</a:t>
            </a:r>
            <a:r>
              <a:rPr sz="1100" b="1" spc="-5" dirty="0">
                <a:latin typeface="Times New Roman"/>
                <a:cs typeface="Times New Roman"/>
              </a:rPr>
              <a:t> </a:t>
            </a:r>
            <a:r>
              <a:rPr sz="1100" b="1" dirty="0">
                <a:latin typeface="Times New Roman"/>
                <a:cs typeface="Times New Roman"/>
              </a:rPr>
              <a:t>registers</a:t>
            </a:r>
            <a:r>
              <a:rPr sz="1100" b="1" spc="-25" dirty="0">
                <a:latin typeface="Times New Roman"/>
                <a:cs typeface="Times New Roman"/>
              </a:rPr>
              <a:t> </a:t>
            </a:r>
            <a:r>
              <a:rPr sz="1100" b="1" dirty="0">
                <a:latin typeface="Times New Roman"/>
                <a:cs typeface="Times New Roman"/>
              </a:rPr>
              <a:t>after</a:t>
            </a:r>
            <a:r>
              <a:rPr sz="1100" b="1" spc="-40" dirty="0">
                <a:latin typeface="Times New Roman"/>
                <a:cs typeface="Times New Roman"/>
              </a:rPr>
              <a:t> </a:t>
            </a:r>
            <a:r>
              <a:rPr sz="1100" b="1" dirty="0">
                <a:latin typeface="Times New Roman"/>
                <a:cs typeface="Times New Roman"/>
              </a:rPr>
              <a:t>enough</a:t>
            </a:r>
            <a:r>
              <a:rPr sz="1100" b="1" spc="-5" dirty="0">
                <a:latin typeface="Times New Roman"/>
                <a:cs typeface="Times New Roman"/>
              </a:rPr>
              <a:t> </a:t>
            </a:r>
            <a:r>
              <a:rPr sz="1100" b="1" dirty="0">
                <a:latin typeface="Times New Roman"/>
                <a:cs typeface="Times New Roman"/>
              </a:rPr>
              <a:t>time</a:t>
            </a:r>
            <a:r>
              <a:rPr sz="1100" b="1" spc="-15" dirty="0">
                <a:latin typeface="Times New Roman"/>
                <a:cs typeface="Times New Roman"/>
              </a:rPr>
              <a:t> </a:t>
            </a:r>
            <a:r>
              <a:rPr sz="1100" b="1" dirty="0">
                <a:latin typeface="Times New Roman"/>
                <a:cs typeface="Times New Roman"/>
              </a:rPr>
              <a:t>has</a:t>
            </a:r>
            <a:r>
              <a:rPr sz="1100" b="1" spc="5" dirty="0">
                <a:latin typeface="Times New Roman"/>
                <a:cs typeface="Times New Roman"/>
              </a:rPr>
              <a:t> </a:t>
            </a:r>
            <a:r>
              <a:rPr sz="1100" b="1" dirty="0">
                <a:latin typeface="Times New Roman"/>
                <a:cs typeface="Times New Roman"/>
              </a:rPr>
              <a:t>elapsed</a:t>
            </a:r>
            <a:r>
              <a:rPr sz="1100" b="1" spc="-15" dirty="0">
                <a:latin typeface="Times New Roman"/>
                <a:cs typeface="Times New Roman"/>
              </a:rPr>
              <a:t> </a:t>
            </a:r>
            <a:r>
              <a:rPr sz="1100" b="1" dirty="0">
                <a:latin typeface="Times New Roman"/>
                <a:cs typeface="Times New Roman"/>
              </a:rPr>
              <a:t>to</a:t>
            </a:r>
            <a:r>
              <a:rPr sz="1100" b="1" spc="-5" dirty="0">
                <a:latin typeface="Times New Roman"/>
                <a:cs typeface="Times New Roman"/>
              </a:rPr>
              <a:t> </a:t>
            </a:r>
            <a:r>
              <a:rPr sz="1100" b="1" dirty="0">
                <a:latin typeface="Times New Roman"/>
                <a:cs typeface="Times New Roman"/>
              </a:rPr>
              <a:t>perform</a:t>
            </a:r>
            <a:r>
              <a:rPr sz="1100" b="1" spc="-25" dirty="0">
                <a:latin typeface="Times New Roman"/>
                <a:cs typeface="Times New Roman"/>
              </a:rPr>
              <a:t> </a:t>
            </a:r>
            <a:r>
              <a:rPr sz="1100" b="1" dirty="0">
                <a:latin typeface="Times New Roman"/>
                <a:cs typeface="Times New Roman"/>
              </a:rPr>
              <a:t>all </a:t>
            </a:r>
            <a:r>
              <a:rPr sz="1100" b="1" spc="-10" dirty="0">
                <a:latin typeface="Times New Roman"/>
                <a:cs typeface="Times New Roman"/>
              </a:rPr>
              <a:t>segment 	activity.</a:t>
            </a:r>
            <a:endParaRPr sz="1100">
              <a:latin typeface="Times New Roman"/>
              <a:cs typeface="Times New Roman"/>
            </a:endParaRPr>
          </a:p>
          <a:p>
            <a:pPr marL="206375" indent="-172720">
              <a:lnSpc>
                <a:spcPct val="100000"/>
              </a:lnSpc>
              <a:spcBef>
                <a:spcPts val="600"/>
              </a:spcBef>
              <a:buClr>
                <a:srgbClr val="3E762B"/>
              </a:buClr>
              <a:buFont typeface="Wingdings"/>
              <a:buChar char=""/>
              <a:tabLst>
                <a:tab pos="206375" algn="l"/>
              </a:tabLst>
            </a:pPr>
            <a:r>
              <a:rPr sz="1100" dirty="0">
                <a:latin typeface="Times New Roman"/>
                <a:cs typeface="Times New Roman"/>
              </a:rPr>
              <a:t>In</a:t>
            </a:r>
            <a:r>
              <a:rPr sz="1100" spc="10" dirty="0">
                <a:latin typeface="Times New Roman"/>
                <a:cs typeface="Times New Roman"/>
              </a:rPr>
              <a:t> </a:t>
            </a:r>
            <a:r>
              <a:rPr sz="1100" dirty="0">
                <a:latin typeface="Times New Roman"/>
                <a:cs typeface="Times New Roman"/>
              </a:rPr>
              <a:t>this</a:t>
            </a:r>
            <a:r>
              <a:rPr sz="1100" spc="-10" dirty="0">
                <a:latin typeface="Times New Roman"/>
                <a:cs typeface="Times New Roman"/>
              </a:rPr>
              <a:t> </a:t>
            </a:r>
            <a:r>
              <a:rPr sz="1100" dirty="0">
                <a:latin typeface="Times New Roman"/>
                <a:cs typeface="Times New Roman"/>
              </a:rPr>
              <a:t>way</a:t>
            </a:r>
            <a:r>
              <a:rPr sz="1100" spc="-5"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information</a:t>
            </a:r>
            <a:r>
              <a:rPr sz="1100" spc="-20" dirty="0">
                <a:latin typeface="Times New Roman"/>
                <a:cs typeface="Times New Roman"/>
              </a:rPr>
              <a:t> </a:t>
            </a:r>
            <a:r>
              <a:rPr sz="1100" dirty="0">
                <a:latin typeface="Times New Roman"/>
                <a:cs typeface="Times New Roman"/>
              </a:rPr>
              <a:t>flows</a:t>
            </a:r>
            <a:r>
              <a:rPr sz="1100" spc="-10" dirty="0">
                <a:latin typeface="Times New Roman"/>
                <a:cs typeface="Times New Roman"/>
              </a:rPr>
              <a:t> </a:t>
            </a:r>
            <a:r>
              <a:rPr sz="1100" dirty="0">
                <a:latin typeface="Times New Roman"/>
                <a:cs typeface="Times New Roman"/>
              </a:rPr>
              <a:t>through</a:t>
            </a:r>
            <a:r>
              <a:rPr sz="1100" spc="-10"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pipeline</a:t>
            </a:r>
            <a:r>
              <a:rPr sz="1100" spc="-35" dirty="0">
                <a:latin typeface="Times New Roman"/>
                <a:cs typeface="Times New Roman"/>
              </a:rPr>
              <a:t> </a:t>
            </a:r>
            <a:r>
              <a:rPr sz="1100" dirty="0">
                <a:latin typeface="Times New Roman"/>
                <a:cs typeface="Times New Roman"/>
              </a:rPr>
              <a:t>one</a:t>
            </a:r>
            <a:r>
              <a:rPr sz="1100" spc="5" dirty="0">
                <a:latin typeface="Times New Roman"/>
                <a:cs typeface="Times New Roman"/>
              </a:rPr>
              <a:t> </a:t>
            </a:r>
            <a:r>
              <a:rPr sz="1100" dirty="0">
                <a:latin typeface="Times New Roman"/>
                <a:cs typeface="Times New Roman"/>
              </a:rPr>
              <a:t>step</a:t>
            </a:r>
            <a:r>
              <a:rPr sz="1100" spc="-25" dirty="0">
                <a:latin typeface="Times New Roman"/>
                <a:cs typeface="Times New Roman"/>
              </a:rPr>
              <a:t> </a:t>
            </a:r>
            <a:r>
              <a:rPr sz="1100" dirty="0">
                <a:latin typeface="Times New Roman"/>
                <a:cs typeface="Times New Roman"/>
              </a:rPr>
              <a:t>at</a:t>
            </a:r>
            <a:r>
              <a:rPr sz="1100" spc="-5" dirty="0">
                <a:latin typeface="Times New Roman"/>
                <a:cs typeface="Times New Roman"/>
              </a:rPr>
              <a:t> </a:t>
            </a:r>
            <a:r>
              <a:rPr sz="1100" dirty="0">
                <a:latin typeface="Times New Roman"/>
                <a:cs typeface="Times New Roman"/>
              </a:rPr>
              <a:t>a </a:t>
            </a:r>
            <a:r>
              <a:rPr sz="1100" spc="-10" dirty="0">
                <a:latin typeface="Times New Roman"/>
                <a:cs typeface="Times New Roman"/>
              </a:rPr>
              <a:t>time.</a:t>
            </a:r>
            <a:endParaRPr sz="1100">
              <a:latin typeface="Times New Roman"/>
              <a:cs typeface="Times New Roman"/>
            </a:endParaRPr>
          </a:p>
        </p:txBody>
      </p:sp>
      <p:grpSp>
        <p:nvGrpSpPr>
          <p:cNvPr id="9" name="object 9"/>
          <p:cNvGrpSpPr/>
          <p:nvPr/>
        </p:nvGrpSpPr>
        <p:grpSpPr>
          <a:xfrm>
            <a:off x="1462658" y="7100061"/>
            <a:ext cx="4731385" cy="1017269"/>
            <a:chOff x="1462658" y="7100061"/>
            <a:chExt cx="4731385" cy="1017269"/>
          </a:xfrm>
        </p:grpSpPr>
        <p:pic>
          <p:nvPicPr>
            <p:cNvPr id="10" name="object 10"/>
            <p:cNvPicPr/>
            <p:nvPr/>
          </p:nvPicPr>
          <p:blipFill>
            <a:blip r:embed="rId2" cstate="print"/>
            <a:stretch>
              <a:fillRect/>
            </a:stretch>
          </p:blipFill>
          <p:spPr>
            <a:xfrm>
              <a:off x="1462658" y="7223759"/>
              <a:ext cx="4730877" cy="861059"/>
            </a:xfrm>
            <a:prstGeom prst="rect">
              <a:avLst/>
            </a:prstGeom>
          </p:spPr>
        </p:pic>
        <p:sp>
          <p:nvSpPr>
            <p:cNvPr id="11" name="object 11"/>
            <p:cNvSpPr/>
            <p:nvPr/>
          </p:nvSpPr>
          <p:spPr>
            <a:xfrm>
              <a:off x="1937765" y="7110221"/>
              <a:ext cx="3368040" cy="996950"/>
            </a:xfrm>
            <a:custGeom>
              <a:avLst/>
              <a:gdLst/>
              <a:ahLst/>
              <a:cxnLst/>
              <a:rect l="l" t="t" r="r" b="b"/>
              <a:pathLst>
                <a:path w="3368040" h="996950">
                  <a:moveTo>
                    <a:pt x="0" y="487679"/>
                  </a:moveTo>
                  <a:lnTo>
                    <a:pt x="2407" y="440708"/>
                  </a:lnTo>
                  <a:lnTo>
                    <a:pt x="9482" y="395001"/>
                  </a:lnTo>
                  <a:lnTo>
                    <a:pt x="21005" y="350762"/>
                  </a:lnTo>
                  <a:lnTo>
                    <a:pt x="36754" y="308196"/>
                  </a:lnTo>
                  <a:lnTo>
                    <a:pt x="56510" y="267508"/>
                  </a:lnTo>
                  <a:lnTo>
                    <a:pt x="80051" y="228900"/>
                  </a:lnTo>
                  <a:lnTo>
                    <a:pt x="107157" y="192578"/>
                  </a:lnTo>
                  <a:lnTo>
                    <a:pt x="137608" y="158746"/>
                  </a:lnTo>
                  <a:lnTo>
                    <a:pt x="171183" y="127607"/>
                  </a:lnTo>
                  <a:lnTo>
                    <a:pt x="207661" y="99367"/>
                  </a:lnTo>
                  <a:lnTo>
                    <a:pt x="246822" y="74230"/>
                  </a:lnTo>
                  <a:lnTo>
                    <a:pt x="288446" y="52400"/>
                  </a:lnTo>
                  <a:lnTo>
                    <a:pt x="332311" y="34080"/>
                  </a:lnTo>
                  <a:lnTo>
                    <a:pt x="378198" y="19476"/>
                  </a:lnTo>
                  <a:lnTo>
                    <a:pt x="425885" y="8792"/>
                  </a:lnTo>
                  <a:lnTo>
                    <a:pt x="475152" y="2232"/>
                  </a:lnTo>
                  <a:lnTo>
                    <a:pt x="525779" y="0"/>
                  </a:lnTo>
                  <a:lnTo>
                    <a:pt x="576407" y="2232"/>
                  </a:lnTo>
                  <a:lnTo>
                    <a:pt x="625674" y="8792"/>
                  </a:lnTo>
                  <a:lnTo>
                    <a:pt x="673361" y="19476"/>
                  </a:lnTo>
                  <a:lnTo>
                    <a:pt x="719248" y="34080"/>
                  </a:lnTo>
                  <a:lnTo>
                    <a:pt x="763113" y="52400"/>
                  </a:lnTo>
                  <a:lnTo>
                    <a:pt x="804737" y="74230"/>
                  </a:lnTo>
                  <a:lnTo>
                    <a:pt x="843898" y="99367"/>
                  </a:lnTo>
                  <a:lnTo>
                    <a:pt x="880376" y="127607"/>
                  </a:lnTo>
                  <a:lnTo>
                    <a:pt x="913951" y="158746"/>
                  </a:lnTo>
                  <a:lnTo>
                    <a:pt x="944402" y="192578"/>
                  </a:lnTo>
                  <a:lnTo>
                    <a:pt x="971508" y="228900"/>
                  </a:lnTo>
                  <a:lnTo>
                    <a:pt x="995049" y="267508"/>
                  </a:lnTo>
                  <a:lnTo>
                    <a:pt x="1014805" y="308196"/>
                  </a:lnTo>
                  <a:lnTo>
                    <a:pt x="1030554" y="350762"/>
                  </a:lnTo>
                  <a:lnTo>
                    <a:pt x="1042077" y="395001"/>
                  </a:lnTo>
                  <a:lnTo>
                    <a:pt x="1049152" y="440708"/>
                  </a:lnTo>
                  <a:lnTo>
                    <a:pt x="1051559" y="487679"/>
                  </a:lnTo>
                  <a:lnTo>
                    <a:pt x="1049152" y="534651"/>
                  </a:lnTo>
                  <a:lnTo>
                    <a:pt x="1042077" y="580358"/>
                  </a:lnTo>
                  <a:lnTo>
                    <a:pt x="1030554" y="624597"/>
                  </a:lnTo>
                  <a:lnTo>
                    <a:pt x="1014805" y="667163"/>
                  </a:lnTo>
                  <a:lnTo>
                    <a:pt x="995049" y="707851"/>
                  </a:lnTo>
                  <a:lnTo>
                    <a:pt x="971508" y="746459"/>
                  </a:lnTo>
                  <a:lnTo>
                    <a:pt x="944402" y="782781"/>
                  </a:lnTo>
                  <a:lnTo>
                    <a:pt x="913951" y="816613"/>
                  </a:lnTo>
                  <a:lnTo>
                    <a:pt x="880376" y="847752"/>
                  </a:lnTo>
                  <a:lnTo>
                    <a:pt x="843898" y="875992"/>
                  </a:lnTo>
                  <a:lnTo>
                    <a:pt x="804737" y="901129"/>
                  </a:lnTo>
                  <a:lnTo>
                    <a:pt x="763113" y="922959"/>
                  </a:lnTo>
                  <a:lnTo>
                    <a:pt x="719248" y="941279"/>
                  </a:lnTo>
                  <a:lnTo>
                    <a:pt x="673361" y="955883"/>
                  </a:lnTo>
                  <a:lnTo>
                    <a:pt x="625674" y="966567"/>
                  </a:lnTo>
                  <a:lnTo>
                    <a:pt x="576407" y="973127"/>
                  </a:lnTo>
                  <a:lnTo>
                    <a:pt x="525779" y="975359"/>
                  </a:lnTo>
                  <a:lnTo>
                    <a:pt x="475152" y="973127"/>
                  </a:lnTo>
                  <a:lnTo>
                    <a:pt x="425885" y="966567"/>
                  </a:lnTo>
                  <a:lnTo>
                    <a:pt x="378198" y="955883"/>
                  </a:lnTo>
                  <a:lnTo>
                    <a:pt x="332311" y="941279"/>
                  </a:lnTo>
                  <a:lnTo>
                    <a:pt x="288446" y="922959"/>
                  </a:lnTo>
                  <a:lnTo>
                    <a:pt x="246822" y="901129"/>
                  </a:lnTo>
                  <a:lnTo>
                    <a:pt x="207661" y="875992"/>
                  </a:lnTo>
                  <a:lnTo>
                    <a:pt x="171183" y="847752"/>
                  </a:lnTo>
                  <a:lnTo>
                    <a:pt x="137608" y="816613"/>
                  </a:lnTo>
                  <a:lnTo>
                    <a:pt x="107157" y="782781"/>
                  </a:lnTo>
                  <a:lnTo>
                    <a:pt x="80051" y="746459"/>
                  </a:lnTo>
                  <a:lnTo>
                    <a:pt x="56510" y="707851"/>
                  </a:lnTo>
                  <a:lnTo>
                    <a:pt x="36754" y="667163"/>
                  </a:lnTo>
                  <a:lnTo>
                    <a:pt x="21005" y="624597"/>
                  </a:lnTo>
                  <a:lnTo>
                    <a:pt x="9482" y="580358"/>
                  </a:lnTo>
                  <a:lnTo>
                    <a:pt x="2407" y="534651"/>
                  </a:lnTo>
                  <a:lnTo>
                    <a:pt x="0" y="487679"/>
                  </a:lnTo>
                  <a:close/>
                </a:path>
                <a:path w="3368040" h="996950">
                  <a:moveTo>
                    <a:pt x="1110995" y="492251"/>
                  </a:moveTo>
                  <a:lnTo>
                    <a:pt x="1113237" y="447858"/>
                  </a:lnTo>
                  <a:lnTo>
                    <a:pt x="1119834" y="404583"/>
                  </a:lnTo>
                  <a:lnTo>
                    <a:pt x="1130592" y="362597"/>
                  </a:lnTo>
                  <a:lnTo>
                    <a:pt x="1145318" y="322073"/>
                  </a:lnTo>
                  <a:lnTo>
                    <a:pt x="1163817" y="283182"/>
                  </a:lnTo>
                  <a:lnTo>
                    <a:pt x="1185897" y="246097"/>
                  </a:lnTo>
                  <a:lnTo>
                    <a:pt x="1211364" y="210990"/>
                  </a:lnTo>
                  <a:lnTo>
                    <a:pt x="1240023" y="178034"/>
                  </a:lnTo>
                  <a:lnTo>
                    <a:pt x="1271682" y="147399"/>
                  </a:lnTo>
                  <a:lnTo>
                    <a:pt x="1306147" y="119258"/>
                  </a:lnTo>
                  <a:lnTo>
                    <a:pt x="1343224" y="93784"/>
                  </a:lnTo>
                  <a:lnTo>
                    <a:pt x="1382719" y="71148"/>
                  </a:lnTo>
                  <a:lnTo>
                    <a:pt x="1424439" y="51522"/>
                  </a:lnTo>
                  <a:lnTo>
                    <a:pt x="1468191" y="35079"/>
                  </a:lnTo>
                  <a:lnTo>
                    <a:pt x="1513780" y="21990"/>
                  </a:lnTo>
                  <a:lnTo>
                    <a:pt x="1561012" y="12428"/>
                  </a:lnTo>
                  <a:lnTo>
                    <a:pt x="1609696" y="6564"/>
                  </a:lnTo>
                  <a:lnTo>
                    <a:pt x="1659635" y="4571"/>
                  </a:lnTo>
                  <a:lnTo>
                    <a:pt x="1709575" y="6564"/>
                  </a:lnTo>
                  <a:lnTo>
                    <a:pt x="1758259" y="12428"/>
                  </a:lnTo>
                  <a:lnTo>
                    <a:pt x="1805491" y="21990"/>
                  </a:lnTo>
                  <a:lnTo>
                    <a:pt x="1851080" y="35079"/>
                  </a:lnTo>
                  <a:lnTo>
                    <a:pt x="1894832" y="51522"/>
                  </a:lnTo>
                  <a:lnTo>
                    <a:pt x="1936552" y="71148"/>
                  </a:lnTo>
                  <a:lnTo>
                    <a:pt x="1976047" y="93784"/>
                  </a:lnTo>
                  <a:lnTo>
                    <a:pt x="2013124" y="119258"/>
                  </a:lnTo>
                  <a:lnTo>
                    <a:pt x="2047589" y="147399"/>
                  </a:lnTo>
                  <a:lnTo>
                    <a:pt x="2079248" y="178034"/>
                  </a:lnTo>
                  <a:lnTo>
                    <a:pt x="2107907" y="210990"/>
                  </a:lnTo>
                  <a:lnTo>
                    <a:pt x="2133374" y="246097"/>
                  </a:lnTo>
                  <a:lnTo>
                    <a:pt x="2155454" y="283182"/>
                  </a:lnTo>
                  <a:lnTo>
                    <a:pt x="2173953" y="322073"/>
                  </a:lnTo>
                  <a:lnTo>
                    <a:pt x="2188679" y="362597"/>
                  </a:lnTo>
                  <a:lnTo>
                    <a:pt x="2199437" y="404583"/>
                  </a:lnTo>
                  <a:lnTo>
                    <a:pt x="2206034" y="447858"/>
                  </a:lnTo>
                  <a:lnTo>
                    <a:pt x="2208275" y="492251"/>
                  </a:lnTo>
                  <a:lnTo>
                    <a:pt x="2206034" y="536645"/>
                  </a:lnTo>
                  <a:lnTo>
                    <a:pt x="2199437" y="579920"/>
                  </a:lnTo>
                  <a:lnTo>
                    <a:pt x="2188679" y="621906"/>
                  </a:lnTo>
                  <a:lnTo>
                    <a:pt x="2173953" y="662430"/>
                  </a:lnTo>
                  <a:lnTo>
                    <a:pt x="2155454" y="701321"/>
                  </a:lnTo>
                  <a:lnTo>
                    <a:pt x="2133374" y="738406"/>
                  </a:lnTo>
                  <a:lnTo>
                    <a:pt x="2107907" y="773513"/>
                  </a:lnTo>
                  <a:lnTo>
                    <a:pt x="2079248" y="806469"/>
                  </a:lnTo>
                  <a:lnTo>
                    <a:pt x="2047589" y="837104"/>
                  </a:lnTo>
                  <a:lnTo>
                    <a:pt x="2013124" y="865245"/>
                  </a:lnTo>
                  <a:lnTo>
                    <a:pt x="1976047" y="890719"/>
                  </a:lnTo>
                  <a:lnTo>
                    <a:pt x="1936552" y="913355"/>
                  </a:lnTo>
                  <a:lnTo>
                    <a:pt x="1894832" y="932981"/>
                  </a:lnTo>
                  <a:lnTo>
                    <a:pt x="1851080" y="949424"/>
                  </a:lnTo>
                  <a:lnTo>
                    <a:pt x="1805491" y="962513"/>
                  </a:lnTo>
                  <a:lnTo>
                    <a:pt x="1758259" y="972075"/>
                  </a:lnTo>
                  <a:lnTo>
                    <a:pt x="1709575" y="977939"/>
                  </a:lnTo>
                  <a:lnTo>
                    <a:pt x="1659635" y="979931"/>
                  </a:lnTo>
                  <a:lnTo>
                    <a:pt x="1609696" y="977939"/>
                  </a:lnTo>
                  <a:lnTo>
                    <a:pt x="1561012" y="972075"/>
                  </a:lnTo>
                  <a:lnTo>
                    <a:pt x="1513780" y="962513"/>
                  </a:lnTo>
                  <a:lnTo>
                    <a:pt x="1468191" y="949424"/>
                  </a:lnTo>
                  <a:lnTo>
                    <a:pt x="1424439" y="932981"/>
                  </a:lnTo>
                  <a:lnTo>
                    <a:pt x="1382719" y="913355"/>
                  </a:lnTo>
                  <a:lnTo>
                    <a:pt x="1343224" y="890719"/>
                  </a:lnTo>
                  <a:lnTo>
                    <a:pt x="1306147" y="865245"/>
                  </a:lnTo>
                  <a:lnTo>
                    <a:pt x="1271682" y="837104"/>
                  </a:lnTo>
                  <a:lnTo>
                    <a:pt x="1240023" y="806469"/>
                  </a:lnTo>
                  <a:lnTo>
                    <a:pt x="1211364" y="773513"/>
                  </a:lnTo>
                  <a:lnTo>
                    <a:pt x="1185897" y="738406"/>
                  </a:lnTo>
                  <a:lnTo>
                    <a:pt x="1163817" y="701321"/>
                  </a:lnTo>
                  <a:lnTo>
                    <a:pt x="1145318" y="662430"/>
                  </a:lnTo>
                  <a:lnTo>
                    <a:pt x="1130592" y="621906"/>
                  </a:lnTo>
                  <a:lnTo>
                    <a:pt x="1119834" y="579920"/>
                  </a:lnTo>
                  <a:lnTo>
                    <a:pt x="1113237" y="536645"/>
                  </a:lnTo>
                  <a:lnTo>
                    <a:pt x="1110995" y="492251"/>
                  </a:lnTo>
                  <a:close/>
                </a:path>
                <a:path w="3368040" h="996950">
                  <a:moveTo>
                    <a:pt x="2270760" y="509015"/>
                  </a:moveTo>
                  <a:lnTo>
                    <a:pt x="2273001" y="464622"/>
                  </a:lnTo>
                  <a:lnTo>
                    <a:pt x="2279598" y="421347"/>
                  </a:lnTo>
                  <a:lnTo>
                    <a:pt x="2290356" y="379361"/>
                  </a:lnTo>
                  <a:lnTo>
                    <a:pt x="2305082" y="338837"/>
                  </a:lnTo>
                  <a:lnTo>
                    <a:pt x="2323581" y="299946"/>
                  </a:lnTo>
                  <a:lnTo>
                    <a:pt x="2345661" y="262861"/>
                  </a:lnTo>
                  <a:lnTo>
                    <a:pt x="2371128" y="227754"/>
                  </a:lnTo>
                  <a:lnTo>
                    <a:pt x="2399787" y="194798"/>
                  </a:lnTo>
                  <a:lnTo>
                    <a:pt x="2431446" y="164163"/>
                  </a:lnTo>
                  <a:lnTo>
                    <a:pt x="2465911" y="136022"/>
                  </a:lnTo>
                  <a:lnTo>
                    <a:pt x="2502988" y="110548"/>
                  </a:lnTo>
                  <a:lnTo>
                    <a:pt x="2542483" y="87912"/>
                  </a:lnTo>
                  <a:lnTo>
                    <a:pt x="2584203" y="68286"/>
                  </a:lnTo>
                  <a:lnTo>
                    <a:pt x="2627955" y="51843"/>
                  </a:lnTo>
                  <a:lnTo>
                    <a:pt x="2673544" y="38754"/>
                  </a:lnTo>
                  <a:lnTo>
                    <a:pt x="2720776" y="29192"/>
                  </a:lnTo>
                  <a:lnTo>
                    <a:pt x="2769460" y="23328"/>
                  </a:lnTo>
                  <a:lnTo>
                    <a:pt x="2819399" y="21335"/>
                  </a:lnTo>
                  <a:lnTo>
                    <a:pt x="2869339" y="23328"/>
                  </a:lnTo>
                  <a:lnTo>
                    <a:pt x="2918023" y="29192"/>
                  </a:lnTo>
                  <a:lnTo>
                    <a:pt x="2965255" y="38754"/>
                  </a:lnTo>
                  <a:lnTo>
                    <a:pt x="3010844" y="51843"/>
                  </a:lnTo>
                  <a:lnTo>
                    <a:pt x="3054596" y="68286"/>
                  </a:lnTo>
                  <a:lnTo>
                    <a:pt x="3096316" y="87912"/>
                  </a:lnTo>
                  <a:lnTo>
                    <a:pt x="3135811" y="110548"/>
                  </a:lnTo>
                  <a:lnTo>
                    <a:pt x="3172888" y="136022"/>
                  </a:lnTo>
                  <a:lnTo>
                    <a:pt x="3207353" y="164163"/>
                  </a:lnTo>
                  <a:lnTo>
                    <a:pt x="3239012" y="194798"/>
                  </a:lnTo>
                  <a:lnTo>
                    <a:pt x="3267671" y="227754"/>
                  </a:lnTo>
                  <a:lnTo>
                    <a:pt x="3293138" y="262861"/>
                  </a:lnTo>
                  <a:lnTo>
                    <a:pt x="3315218" y="299946"/>
                  </a:lnTo>
                  <a:lnTo>
                    <a:pt x="3333717" y="338837"/>
                  </a:lnTo>
                  <a:lnTo>
                    <a:pt x="3348443" y="379361"/>
                  </a:lnTo>
                  <a:lnTo>
                    <a:pt x="3359201" y="421347"/>
                  </a:lnTo>
                  <a:lnTo>
                    <a:pt x="3365798" y="464622"/>
                  </a:lnTo>
                  <a:lnTo>
                    <a:pt x="3368039" y="509015"/>
                  </a:lnTo>
                  <a:lnTo>
                    <a:pt x="3365798" y="553405"/>
                  </a:lnTo>
                  <a:lnTo>
                    <a:pt x="3359201" y="596677"/>
                  </a:lnTo>
                  <a:lnTo>
                    <a:pt x="3348443" y="638661"/>
                  </a:lnTo>
                  <a:lnTo>
                    <a:pt x="3333717" y="679184"/>
                  </a:lnTo>
                  <a:lnTo>
                    <a:pt x="3315218" y="718074"/>
                  </a:lnTo>
                  <a:lnTo>
                    <a:pt x="3293138" y="755158"/>
                  </a:lnTo>
                  <a:lnTo>
                    <a:pt x="3267671" y="790265"/>
                  </a:lnTo>
                  <a:lnTo>
                    <a:pt x="3239012" y="823223"/>
                  </a:lnTo>
                  <a:lnTo>
                    <a:pt x="3207353" y="853859"/>
                  </a:lnTo>
                  <a:lnTo>
                    <a:pt x="3172888" y="882000"/>
                  </a:lnTo>
                  <a:lnTo>
                    <a:pt x="3135811" y="907476"/>
                  </a:lnTo>
                  <a:lnTo>
                    <a:pt x="3096316" y="930114"/>
                  </a:lnTo>
                  <a:lnTo>
                    <a:pt x="3054596" y="949741"/>
                  </a:lnTo>
                  <a:lnTo>
                    <a:pt x="3010844" y="966185"/>
                  </a:lnTo>
                  <a:lnTo>
                    <a:pt x="2965255" y="979275"/>
                  </a:lnTo>
                  <a:lnTo>
                    <a:pt x="2918023" y="988838"/>
                  </a:lnTo>
                  <a:lnTo>
                    <a:pt x="2869339" y="994703"/>
                  </a:lnTo>
                  <a:lnTo>
                    <a:pt x="2819399" y="996695"/>
                  </a:lnTo>
                  <a:lnTo>
                    <a:pt x="2769460" y="994703"/>
                  </a:lnTo>
                  <a:lnTo>
                    <a:pt x="2720776" y="988838"/>
                  </a:lnTo>
                  <a:lnTo>
                    <a:pt x="2673544" y="979275"/>
                  </a:lnTo>
                  <a:lnTo>
                    <a:pt x="2627955" y="966185"/>
                  </a:lnTo>
                  <a:lnTo>
                    <a:pt x="2584203" y="949741"/>
                  </a:lnTo>
                  <a:lnTo>
                    <a:pt x="2542483" y="930114"/>
                  </a:lnTo>
                  <a:lnTo>
                    <a:pt x="2502988" y="907476"/>
                  </a:lnTo>
                  <a:lnTo>
                    <a:pt x="2465911" y="882000"/>
                  </a:lnTo>
                  <a:lnTo>
                    <a:pt x="2431446" y="853859"/>
                  </a:lnTo>
                  <a:lnTo>
                    <a:pt x="2399787" y="823223"/>
                  </a:lnTo>
                  <a:lnTo>
                    <a:pt x="2371128" y="790265"/>
                  </a:lnTo>
                  <a:lnTo>
                    <a:pt x="2345661" y="755158"/>
                  </a:lnTo>
                  <a:lnTo>
                    <a:pt x="2323581" y="718074"/>
                  </a:lnTo>
                  <a:lnTo>
                    <a:pt x="2305082" y="679184"/>
                  </a:lnTo>
                  <a:lnTo>
                    <a:pt x="2290356" y="638661"/>
                  </a:lnTo>
                  <a:lnTo>
                    <a:pt x="2279598" y="596677"/>
                  </a:lnTo>
                  <a:lnTo>
                    <a:pt x="2273001" y="553405"/>
                  </a:lnTo>
                  <a:lnTo>
                    <a:pt x="2270760" y="509015"/>
                  </a:lnTo>
                  <a:close/>
                </a:path>
              </a:pathLst>
            </a:custGeom>
            <a:ln w="19812">
              <a:solidFill>
                <a:srgbClr val="3A7327"/>
              </a:solidFill>
            </a:ln>
          </p:spPr>
          <p:txBody>
            <a:bodyPr wrap="square" lIns="0" tIns="0" rIns="0" bIns="0" rtlCol="0"/>
            <a:lstStyle/>
            <a:p>
              <a:endParaRPr/>
            </a:p>
          </p:txBody>
        </p:sp>
      </p:grpSp>
      <p:sp>
        <p:nvSpPr>
          <p:cNvPr id="12" name="object 12"/>
          <p:cNvSpPr txBox="1"/>
          <p:nvPr/>
        </p:nvSpPr>
        <p:spPr>
          <a:xfrm>
            <a:off x="2208529" y="7161403"/>
            <a:ext cx="2828925" cy="162560"/>
          </a:xfrm>
          <a:prstGeom prst="rect">
            <a:avLst/>
          </a:prstGeom>
        </p:spPr>
        <p:txBody>
          <a:bodyPr vert="horz" wrap="square" lIns="0" tIns="12700" rIns="0" bIns="0" rtlCol="0">
            <a:spAutoFit/>
          </a:bodyPr>
          <a:lstStyle/>
          <a:p>
            <a:pPr>
              <a:lnSpc>
                <a:spcPct val="100000"/>
              </a:lnSpc>
              <a:spcBef>
                <a:spcPts val="100"/>
              </a:spcBef>
              <a:tabLst>
                <a:tab pos="1142365" algn="l"/>
                <a:tab pos="2286000" algn="l"/>
              </a:tabLst>
            </a:pPr>
            <a:r>
              <a:rPr sz="900" b="1" dirty="0">
                <a:solidFill>
                  <a:srgbClr val="3E762B"/>
                </a:solidFill>
                <a:latin typeface="Corbel"/>
                <a:cs typeface="Corbel"/>
              </a:rPr>
              <a:t>Segment</a:t>
            </a:r>
            <a:r>
              <a:rPr sz="900" b="1" spc="-45" dirty="0">
                <a:solidFill>
                  <a:srgbClr val="3E762B"/>
                </a:solidFill>
                <a:latin typeface="Corbel"/>
                <a:cs typeface="Corbel"/>
              </a:rPr>
              <a:t> </a:t>
            </a:r>
            <a:r>
              <a:rPr sz="900" b="1" spc="-50" dirty="0">
                <a:solidFill>
                  <a:srgbClr val="3E762B"/>
                </a:solidFill>
                <a:latin typeface="Corbel"/>
                <a:cs typeface="Corbel"/>
              </a:rPr>
              <a:t>1</a:t>
            </a:r>
            <a:r>
              <a:rPr sz="900" b="1" dirty="0">
                <a:solidFill>
                  <a:srgbClr val="3E762B"/>
                </a:solidFill>
                <a:latin typeface="Corbel"/>
                <a:cs typeface="Corbel"/>
              </a:rPr>
              <a:t>	Segment</a:t>
            </a:r>
            <a:r>
              <a:rPr sz="900" b="1" spc="-45" dirty="0">
                <a:solidFill>
                  <a:srgbClr val="3E762B"/>
                </a:solidFill>
                <a:latin typeface="Corbel"/>
                <a:cs typeface="Corbel"/>
              </a:rPr>
              <a:t> </a:t>
            </a:r>
            <a:r>
              <a:rPr sz="900" b="1" spc="-50" dirty="0">
                <a:solidFill>
                  <a:srgbClr val="3E762B"/>
                </a:solidFill>
                <a:latin typeface="Corbel"/>
                <a:cs typeface="Corbel"/>
              </a:rPr>
              <a:t>2</a:t>
            </a:r>
            <a:r>
              <a:rPr sz="900" b="1" dirty="0">
                <a:solidFill>
                  <a:srgbClr val="3E762B"/>
                </a:solidFill>
                <a:latin typeface="Corbel"/>
                <a:cs typeface="Corbel"/>
              </a:rPr>
              <a:t>	</a:t>
            </a:r>
            <a:r>
              <a:rPr sz="1350" b="1" baseline="3086" dirty="0">
                <a:solidFill>
                  <a:srgbClr val="3E762B"/>
                </a:solidFill>
                <a:latin typeface="Corbel"/>
                <a:cs typeface="Corbel"/>
              </a:rPr>
              <a:t>Segment</a:t>
            </a:r>
            <a:r>
              <a:rPr sz="1350" b="1" spc="-67" baseline="3086" dirty="0">
                <a:solidFill>
                  <a:srgbClr val="3E762B"/>
                </a:solidFill>
                <a:latin typeface="Corbel"/>
                <a:cs typeface="Corbel"/>
              </a:rPr>
              <a:t> </a:t>
            </a:r>
            <a:r>
              <a:rPr sz="1350" b="1" spc="-75" baseline="3086" dirty="0">
                <a:solidFill>
                  <a:srgbClr val="3E762B"/>
                </a:solidFill>
                <a:latin typeface="Corbel"/>
                <a:cs typeface="Corbel"/>
              </a:rPr>
              <a:t>3</a:t>
            </a:r>
            <a:endParaRPr sz="1350" baseline="3086">
              <a:latin typeface="Corbel"/>
              <a:cs typeface="Corbel"/>
            </a:endParaRPr>
          </a:p>
        </p:txBody>
      </p:sp>
      <p:sp>
        <p:nvSpPr>
          <p:cNvPr id="13" name="object 13"/>
          <p:cNvSpPr/>
          <p:nvPr/>
        </p:nvSpPr>
        <p:spPr>
          <a:xfrm>
            <a:off x="5334761" y="7131557"/>
            <a:ext cx="868680" cy="975360"/>
          </a:xfrm>
          <a:custGeom>
            <a:avLst/>
            <a:gdLst/>
            <a:ahLst/>
            <a:cxnLst/>
            <a:rect l="l" t="t" r="r" b="b"/>
            <a:pathLst>
              <a:path w="868679" h="975359">
                <a:moveTo>
                  <a:pt x="0" y="487680"/>
                </a:moveTo>
                <a:lnTo>
                  <a:pt x="2242" y="437812"/>
                </a:lnTo>
                <a:lnTo>
                  <a:pt x="8823" y="389387"/>
                </a:lnTo>
                <a:lnTo>
                  <a:pt x="19525" y="342648"/>
                </a:lnTo>
                <a:lnTo>
                  <a:pt x="34129" y="297840"/>
                </a:lnTo>
                <a:lnTo>
                  <a:pt x="52417" y="255210"/>
                </a:lnTo>
                <a:lnTo>
                  <a:pt x="74172" y="215000"/>
                </a:lnTo>
                <a:lnTo>
                  <a:pt x="99174" y="177458"/>
                </a:lnTo>
                <a:lnTo>
                  <a:pt x="127206" y="142827"/>
                </a:lnTo>
                <a:lnTo>
                  <a:pt x="158049" y="111353"/>
                </a:lnTo>
                <a:lnTo>
                  <a:pt x="191485" y="83280"/>
                </a:lnTo>
                <a:lnTo>
                  <a:pt x="227297" y="58854"/>
                </a:lnTo>
                <a:lnTo>
                  <a:pt x="265265" y="38320"/>
                </a:lnTo>
                <a:lnTo>
                  <a:pt x="305171" y="21922"/>
                </a:lnTo>
                <a:lnTo>
                  <a:pt x="346798" y="9906"/>
                </a:lnTo>
                <a:lnTo>
                  <a:pt x="389927" y="2517"/>
                </a:lnTo>
                <a:lnTo>
                  <a:pt x="434339" y="0"/>
                </a:lnTo>
                <a:lnTo>
                  <a:pt x="478752" y="2517"/>
                </a:lnTo>
                <a:lnTo>
                  <a:pt x="521881" y="9906"/>
                </a:lnTo>
                <a:lnTo>
                  <a:pt x="563508" y="21922"/>
                </a:lnTo>
                <a:lnTo>
                  <a:pt x="603414" y="38320"/>
                </a:lnTo>
                <a:lnTo>
                  <a:pt x="641382" y="58854"/>
                </a:lnTo>
                <a:lnTo>
                  <a:pt x="677194" y="83280"/>
                </a:lnTo>
                <a:lnTo>
                  <a:pt x="710630" y="111353"/>
                </a:lnTo>
                <a:lnTo>
                  <a:pt x="741473" y="142827"/>
                </a:lnTo>
                <a:lnTo>
                  <a:pt x="769505" y="177458"/>
                </a:lnTo>
                <a:lnTo>
                  <a:pt x="794507" y="215000"/>
                </a:lnTo>
                <a:lnTo>
                  <a:pt x="816262" y="255210"/>
                </a:lnTo>
                <a:lnTo>
                  <a:pt x="834550" y="297840"/>
                </a:lnTo>
                <a:lnTo>
                  <a:pt x="849154" y="342648"/>
                </a:lnTo>
                <a:lnTo>
                  <a:pt x="859856" y="389387"/>
                </a:lnTo>
                <a:lnTo>
                  <a:pt x="866437" y="437812"/>
                </a:lnTo>
                <a:lnTo>
                  <a:pt x="868679" y="487680"/>
                </a:lnTo>
                <a:lnTo>
                  <a:pt x="866437" y="537543"/>
                </a:lnTo>
                <a:lnTo>
                  <a:pt x="859856" y="585965"/>
                </a:lnTo>
                <a:lnTo>
                  <a:pt x="849154" y="632702"/>
                </a:lnTo>
                <a:lnTo>
                  <a:pt x="834550" y="677508"/>
                </a:lnTo>
                <a:lnTo>
                  <a:pt x="816262" y="720138"/>
                </a:lnTo>
                <a:lnTo>
                  <a:pt x="794507" y="760348"/>
                </a:lnTo>
                <a:lnTo>
                  <a:pt x="769505" y="797891"/>
                </a:lnTo>
                <a:lnTo>
                  <a:pt x="741473" y="832523"/>
                </a:lnTo>
                <a:lnTo>
                  <a:pt x="710630" y="863998"/>
                </a:lnTo>
                <a:lnTo>
                  <a:pt x="677194" y="892072"/>
                </a:lnTo>
                <a:lnTo>
                  <a:pt x="641382" y="916500"/>
                </a:lnTo>
                <a:lnTo>
                  <a:pt x="603414" y="937036"/>
                </a:lnTo>
                <a:lnTo>
                  <a:pt x="563508" y="953435"/>
                </a:lnTo>
                <a:lnTo>
                  <a:pt x="521881" y="965452"/>
                </a:lnTo>
                <a:lnTo>
                  <a:pt x="478752" y="972842"/>
                </a:lnTo>
                <a:lnTo>
                  <a:pt x="434339" y="975360"/>
                </a:lnTo>
                <a:lnTo>
                  <a:pt x="389927" y="972842"/>
                </a:lnTo>
                <a:lnTo>
                  <a:pt x="346798" y="965452"/>
                </a:lnTo>
                <a:lnTo>
                  <a:pt x="305171" y="953435"/>
                </a:lnTo>
                <a:lnTo>
                  <a:pt x="265265" y="937036"/>
                </a:lnTo>
                <a:lnTo>
                  <a:pt x="227297" y="916500"/>
                </a:lnTo>
                <a:lnTo>
                  <a:pt x="191485" y="892072"/>
                </a:lnTo>
                <a:lnTo>
                  <a:pt x="158049" y="863998"/>
                </a:lnTo>
                <a:lnTo>
                  <a:pt x="127206" y="832523"/>
                </a:lnTo>
                <a:lnTo>
                  <a:pt x="99174" y="797891"/>
                </a:lnTo>
                <a:lnTo>
                  <a:pt x="74172" y="760348"/>
                </a:lnTo>
                <a:lnTo>
                  <a:pt x="52417" y="720138"/>
                </a:lnTo>
                <a:lnTo>
                  <a:pt x="34129" y="677508"/>
                </a:lnTo>
                <a:lnTo>
                  <a:pt x="19525" y="632702"/>
                </a:lnTo>
                <a:lnTo>
                  <a:pt x="8823" y="585965"/>
                </a:lnTo>
                <a:lnTo>
                  <a:pt x="2242" y="537543"/>
                </a:lnTo>
                <a:lnTo>
                  <a:pt x="0" y="487680"/>
                </a:lnTo>
                <a:close/>
              </a:path>
            </a:pathLst>
          </a:custGeom>
          <a:ln w="19812">
            <a:solidFill>
              <a:srgbClr val="3A7327"/>
            </a:solidFill>
          </a:ln>
        </p:spPr>
        <p:txBody>
          <a:bodyPr wrap="square" lIns="0" tIns="0" rIns="0" bIns="0" rtlCol="0"/>
          <a:lstStyle/>
          <a:p>
            <a:endParaRPr/>
          </a:p>
        </p:txBody>
      </p:sp>
      <p:sp>
        <p:nvSpPr>
          <p:cNvPr id="14" name="object 14"/>
          <p:cNvSpPr txBox="1"/>
          <p:nvPr/>
        </p:nvSpPr>
        <p:spPr>
          <a:xfrm>
            <a:off x="5517769" y="7210425"/>
            <a:ext cx="547370" cy="162560"/>
          </a:xfrm>
          <a:prstGeom prst="rect">
            <a:avLst/>
          </a:prstGeom>
        </p:spPr>
        <p:txBody>
          <a:bodyPr vert="horz" wrap="square" lIns="0" tIns="12700" rIns="0" bIns="0" rtlCol="0">
            <a:spAutoFit/>
          </a:bodyPr>
          <a:lstStyle/>
          <a:p>
            <a:pPr>
              <a:lnSpc>
                <a:spcPct val="100000"/>
              </a:lnSpc>
              <a:spcBef>
                <a:spcPts val="100"/>
              </a:spcBef>
            </a:pPr>
            <a:r>
              <a:rPr sz="900" b="1" dirty="0">
                <a:solidFill>
                  <a:srgbClr val="3E762B"/>
                </a:solidFill>
                <a:latin typeface="Corbel"/>
                <a:cs typeface="Corbel"/>
              </a:rPr>
              <a:t>Segment</a:t>
            </a:r>
            <a:r>
              <a:rPr sz="900" b="1" spc="-45" dirty="0">
                <a:solidFill>
                  <a:srgbClr val="3E762B"/>
                </a:solidFill>
                <a:latin typeface="Corbel"/>
                <a:cs typeface="Corbel"/>
              </a:rPr>
              <a:t> </a:t>
            </a:r>
            <a:r>
              <a:rPr sz="900" b="1" spc="-50" dirty="0">
                <a:solidFill>
                  <a:srgbClr val="3E762B"/>
                </a:solidFill>
                <a:latin typeface="Corbel"/>
                <a:cs typeface="Corbel"/>
              </a:rPr>
              <a:t>4</a:t>
            </a:r>
            <a:endParaRPr sz="900">
              <a:latin typeface="Corbel"/>
              <a:cs typeface="Corbe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2200" spc="-25" dirty="0"/>
              <a:t>Speed-up</a:t>
            </a:r>
            <a:endParaRPr sz="2200"/>
          </a:p>
        </p:txBody>
      </p:sp>
      <p:sp>
        <p:nvSpPr>
          <p:cNvPr id="3" name="object 3"/>
          <p:cNvSpPr txBox="1"/>
          <p:nvPr/>
        </p:nvSpPr>
        <p:spPr>
          <a:xfrm>
            <a:off x="2347848" y="1972817"/>
            <a:ext cx="845819" cy="180975"/>
          </a:xfrm>
          <a:prstGeom prst="rect">
            <a:avLst/>
          </a:prstGeom>
        </p:spPr>
        <p:txBody>
          <a:bodyPr vert="horz" wrap="square" lIns="0" tIns="15240" rIns="0" bIns="0" rtlCol="0">
            <a:spAutoFit/>
          </a:bodyPr>
          <a:lstStyle/>
          <a:p>
            <a:pPr marL="38100">
              <a:lnSpc>
                <a:spcPct val="100000"/>
              </a:lnSpc>
              <a:spcBef>
                <a:spcPts val="120"/>
              </a:spcBef>
            </a:pPr>
            <a:r>
              <a:rPr sz="1500" spc="-15" baseline="11111" dirty="0">
                <a:latin typeface="Cambria Math"/>
                <a:cs typeface="Cambria Math"/>
              </a:rPr>
              <a:t>𝑪𝑷𝑼</a:t>
            </a:r>
            <a:r>
              <a:rPr sz="850" spc="-10" dirty="0">
                <a:latin typeface="Cambria Math"/>
                <a:cs typeface="Cambria Math"/>
              </a:rPr>
              <a:t>𝒑𝒊𝒑𝒆𝒍𝒊𝒏𝒆𝒅</a:t>
            </a:r>
            <a:endParaRPr sz="850">
              <a:latin typeface="Cambria Math"/>
              <a:cs typeface="Cambria Math"/>
            </a:endParaRPr>
          </a:p>
        </p:txBody>
      </p:sp>
      <p:sp>
        <p:nvSpPr>
          <p:cNvPr id="4" name="object 4"/>
          <p:cNvSpPr txBox="1"/>
          <p:nvPr/>
        </p:nvSpPr>
        <p:spPr>
          <a:xfrm>
            <a:off x="1434719" y="1765553"/>
            <a:ext cx="2050414" cy="287020"/>
          </a:xfrm>
          <a:prstGeom prst="rect">
            <a:avLst/>
          </a:prstGeom>
        </p:spPr>
        <p:txBody>
          <a:bodyPr vert="horz" wrap="square" lIns="0" tIns="15240" rIns="0" bIns="0" rtlCol="0">
            <a:spAutoFit/>
          </a:bodyPr>
          <a:lstStyle/>
          <a:p>
            <a:pPr marL="810895">
              <a:lnSpc>
                <a:spcPts val="660"/>
              </a:lnSpc>
              <a:spcBef>
                <a:spcPts val="120"/>
              </a:spcBef>
            </a:pPr>
            <a:r>
              <a:rPr sz="1500" spc="-15" baseline="11111" dirty="0">
                <a:latin typeface="Cambria Math"/>
                <a:cs typeface="Cambria Math"/>
              </a:rPr>
              <a:t>𝑪𝑷𝑼</a:t>
            </a:r>
            <a:r>
              <a:rPr sz="850" spc="-10" dirty="0">
                <a:latin typeface="Cambria Math"/>
                <a:cs typeface="Cambria Math"/>
              </a:rPr>
              <a:t>𝒏𝒐𝒏</a:t>
            </a:r>
            <a:r>
              <a:rPr sz="850" u="sng" spc="-10" dirty="0">
                <a:uFill>
                  <a:solidFill>
                    <a:srgbClr val="000000"/>
                  </a:solidFill>
                </a:uFill>
                <a:latin typeface="Cambria Math"/>
                <a:cs typeface="Cambria Math"/>
              </a:rPr>
              <a:t>−</a:t>
            </a:r>
            <a:r>
              <a:rPr sz="850" spc="-10" dirty="0">
                <a:latin typeface="Cambria Math"/>
                <a:cs typeface="Cambria Math"/>
              </a:rPr>
              <a:t>𝒑</a:t>
            </a:r>
            <a:r>
              <a:rPr sz="850" u="sng" spc="-10" dirty="0">
                <a:uFill>
                  <a:solidFill>
                    <a:srgbClr val="000000"/>
                  </a:solidFill>
                </a:uFill>
                <a:latin typeface="Cambria Math"/>
                <a:cs typeface="Cambria Math"/>
              </a:rPr>
              <a:t>𝒊</a:t>
            </a:r>
            <a:r>
              <a:rPr sz="850" spc="-10" dirty="0">
                <a:latin typeface="Cambria Math"/>
                <a:cs typeface="Cambria Math"/>
              </a:rPr>
              <a:t>𝒑𝒆</a:t>
            </a:r>
            <a:r>
              <a:rPr sz="850" u="sng" spc="-10" dirty="0">
                <a:uFill>
                  <a:solidFill>
                    <a:srgbClr val="000000"/>
                  </a:solidFill>
                </a:uFill>
                <a:latin typeface="Cambria Math"/>
                <a:cs typeface="Cambria Math"/>
              </a:rPr>
              <a:t>𝒍𝒊</a:t>
            </a:r>
            <a:r>
              <a:rPr sz="850" spc="-10" dirty="0">
                <a:latin typeface="Cambria Math"/>
                <a:cs typeface="Cambria Math"/>
              </a:rPr>
              <a:t>𝒏𝒆</a:t>
            </a:r>
            <a:r>
              <a:rPr sz="850" u="sng" spc="-10" dirty="0">
                <a:uFill>
                  <a:solidFill>
                    <a:srgbClr val="000000"/>
                  </a:solidFill>
                </a:uFill>
                <a:latin typeface="Cambria Math"/>
                <a:cs typeface="Cambria Math"/>
              </a:rPr>
              <a:t>𝒅</a:t>
            </a:r>
            <a:endParaRPr sz="850">
              <a:latin typeface="Cambria Math"/>
              <a:cs typeface="Cambria Math"/>
            </a:endParaRPr>
          </a:p>
          <a:p>
            <a:pPr marL="38100">
              <a:lnSpc>
                <a:spcPts val="1380"/>
              </a:lnSpc>
              <a:tabLst>
                <a:tab pos="1896110" algn="l"/>
              </a:tabLst>
            </a:pPr>
            <a:r>
              <a:rPr sz="1200" b="1" spc="-10" dirty="0">
                <a:latin typeface="Times New Roman"/>
                <a:cs typeface="Times New Roman"/>
              </a:rPr>
              <a:t>Speed-</a:t>
            </a:r>
            <a:r>
              <a:rPr sz="1200" b="1" dirty="0">
                <a:latin typeface="Times New Roman"/>
                <a:cs typeface="Times New Roman"/>
              </a:rPr>
              <a:t>up</a:t>
            </a:r>
            <a:r>
              <a:rPr sz="1200" b="1" spc="35" dirty="0">
                <a:latin typeface="Times New Roman"/>
                <a:cs typeface="Times New Roman"/>
              </a:rPr>
              <a:t> </a:t>
            </a:r>
            <a:r>
              <a:rPr sz="1200" b="1" spc="-50" dirty="0">
                <a:latin typeface="Times New Roman"/>
                <a:cs typeface="Times New Roman"/>
              </a:rPr>
              <a:t>=</a:t>
            </a:r>
            <a:r>
              <a:rPr sz="1200" b="1" dirty="0">
                <a:latin typeface="Times New Roman"/>
                <a:cs typeface="Times New Roman"/>
              </a:rPr>
              <a:t>	</a:t>
            </a:r>
            <a:r>
              <a:rPr sz="1600" b="1" spc="-50" dirty="0">
                <a:latin typeface="Times New Roman"/>
                <a:cs typeface="Times New Roman"/>
              </a:rPr>
              <a:t>=</a:t>
            </a:r>
            <a:endParaRPr sz="1600">
              <a:latin typeface="Times New Roman"/>
              <a:cs typeface="Times New Roman"/>
            </a:endParaRPr>
          </a:p>
        </p:txBody>
      </p:sp>
      <p:sp>
        <p:nvSpPr>
          <p:cNvPr id="5" name="object 5"/>
          <p:cNvSpPr/>
          <p:nvPr/>
        </p:nvSpPr>
        <p:spPr>
          <a:xfrm>
            <a:off x="4341495" y="1991360"/>
            <a:ext cx="514350" cy="120014"/>
          </a:xfrm>
          <a:custGeom>
            <a:avLst/>
            <a:gdLst/>
            <a:ahLst/>
            <a:cxnLst/>
            <a:rect l="l" t="t" r="r" b="b"/>
            <a:pathLst>
              <a:path w="514350" h="120014">
                <a:moveTo>
                  <a:pt x="475868" y="0"/>
                </a:moveTo>
                <a:lnTo>
                  <a:pt x="474090" y="4953"/>
                </a:lnTo>
                <a:lnTo>
                  <a:pt x="481042" y="7927"/>
                </a:lnTo>
                <a:lnTo>
                  <a:pt x="487029" y="12080"/>
                </a:lnTo>
                <a:lnTo>
                  <a:pt x="502704" y="49067"/>
                </a:lnTo>
                <a:lnTo>
                  <a:pt x="502723" y="49200"/>
                </a:lnTo>
                <a:lnTo>
                  <a:pt x="503174" y="59436"/>
                </a:lnTo>
                <a:lnTo>
                  <a:pt x="502723" y="70006"/>
                </a:lnTo>
                <a:lnTo>
                  <a:pt x="501380" y="79613"/>
                </a:lnTo>
                <a:lnTo>
                  <a:pt x="481202" y="112137"/>
                </a:lnTo>
                <a:lnTo>
                  <a:pt x="474344" y="115189"/>
                </a:lnTo>
                <a:lnTo>
                  <a:pt x="475868" y="120015"/>
                </a:lnTo>
                <a:lnTo>
                  <a:pt x="508523" y="90556"/>
                </a:lnTo>
                <a:lnTo>
                  <a:pt x="514095" y="60071"/>
                </a:lnTo>
                <a:lnTo>
                  <a:pt x="513484" y="49200"/>
                </a:lnTo>
                <a:lnTo>
                  <a:pt x="513476" y="49067"/>
                </a:lnTo>
                <a:lnTo>
                  <a:pt x="498711" y="13698"/>
                </a:lnTo>
                <a:lnTo>
                  <a:pt x="484562" y="3169"/>
                </a:lnTo>
                <a:lnTo>
                  <a:pt x="475868" y="0"/>
                </a:lnTo>
                <a:close/>
              </a:path>
              <a:path w="514350" h="120014">
                <a:moveTo>
                  <a:pt x="38226" y="0"/>
                </a:moveTo>
                <a:lnTo>
                  <a:pt x="5572" y="29585"/>
                </a:lnTo>
                <a:lnTo>
                  <a:pt x="35" y="59436"/>
                </a:lnTo>
                <a:lnTo>
                  <a:pt x="0" y="60071"/>
                </a:lnTo>
                <a:lnTo>
                  <a:pt x="9905" y="99060"/>
                </a:lnTo>
                <a:lnTo>
                  <a:pt x="38226" y="120015"/>
                </a:lnTo>
                <a:lnTo>
                  <a:pt x="39750" y="115189"/>
                </a:lnTo>
                <a:lnTo>
                  <a:pt x="32964" y="112137"/>
                </a:lnTo>
                <a:lnTo>
                  <a:pt x="27082" y="107918"/>
                </a:lnTo>
                <a:lnTo>
                  <a:pt x="11372" y="70006"/>
                </a:lnTo>
                <a:lnTo>
                  <a:pt x="10949" y="60071"/>
                </a:lnTo>
                <a:lnTo>
                  <a:pt x="10921" y="59436"/>
                </a:lnTo>
                <a:lnTo>
                  <a:pt x="22109" y="17400"/>
                </a:lnTo>
                <a:lnTo>
                  <a:pt x="40004" y="4953"/>
                </a:lnTo>
                <a:lnTo>
                  <a:pt x="38226" y="0"/>
                </a:lnTo>
                <a:close/>
              </a:path>
            </a:pathLst>
          </a:custGeom>
          <a:solidFill>
            <a:srgbClr val="000000"/>
          </a:solidFill>
        </p:spPr>
        <p:txBody>
          <a:bodyPr wrap="square" lIns="0" tIns="0" rIns="0" bIns="0" rtlCol="0"/>
          <a:lstStyle/>
          <a:p>
            <a:endParaRPr/>
          </a:p>
        </p:txBody>
      </p:sp>
      <p:sp>
        <p:nvSpPr>
          <p:cNvPr id="6" name="object 6"/>
          <p:cNvSpPr txBox="1"/>
          <p:nvPr/>
        </p:nvSpPr>
        <p:spPr>
          <a:xfrm>
            <a:off x="3520694" y="1728977"/>
            <a:ext cx="2085339" cy="398780"/>
          </a:xfrm>
          <a:prstGeom prst="rect">
            <a:avLst/>
          </a:prstGeom>
        </p:spPr>
        <p:txBody>
          <a:bodyPr vert="horz" wrap="square" lIns="0" tIns="12700" rIns="0" bIns="0" rtlCol="0">
            <a:spAutoFit/>
          </a:bodyPr>
          <a:lstStyle/>
          <a:p>
            <a:pPr marL="61594">
              <a:lnSpc>
                <a:spcPct val="100000"/>
              </a:lnSpc>
              <a:spcBef>
                <a:spcPts val="100"/>
              </a:spcBef>
            </a:pPr>
            <a:r>
              <a:rPr sz="1500" baseline="11111" dirty="0">
                <a:latin typeface="Cambria Math"/>
                <a:cs typeface="Cambria Math"/>
              </a:rPr>
              <a:t>𝒕</a:t>
            </a:r>
            <a:r>
              <a:rPr sz="850" u="sng" dirty="0">
                <a:uFill>
                  <a:solidFill>
                    <a:srgbClr val="000000"/>
                  </a:solidFill>
                </a:uFill>
                <a:latin typeface="Cambria Math"/>
                <a:cs typeface="Cambria Math"/>
              </a:rPr>
              <a:t>𝒏</a:t>
            </a:r>
            <a:r>
              <a:rPr sz="850" spc="229" dirty="0">
                <a:latin typeface="Cambria Math"/>
                <a:cs typeface="Cambria Math"/>
              </a:rPr>
              <a:t> </a:t>
            </a:r>
            <a:r>
              <a:rPr sz="2100" baseline="-23809" dirty="0">
                <a:latin typeface="Cambria Math"/>
                <a:cs typeface="Cambria Math"/>
              </a:rPr>
              <a:t>=</a:t>
            </a:r>
            <a:r>
              <a:rPr sz="2100" spc="120" baseline="-23809" dirty="0">
                <a:latin typeface="Cambria Math"/>
                <a:cs typeface="Cambria Math"/>
              </a:rPr>
              <a:t> </a:t>
            </a:r>
            <a:r>
              <a:rPr sz="1500" baseline="16666" dirty="0">
                <a:latin typeface="Cambria Math"/>
                <a:cs typeface="Cambria Math"/>
              </a:rPr>
              <a:t>𝒏</a:t>
            </a:r>
            <a:r>
              <a:rPr sz="1500" spc="7" baseline="16666" dirty="0">
                <a:latin typeface="Cambria Math"/>
                <a:cs typeface="Cambria Math"/>
              </a:rPr>
              <a:t> </a:t>
            </a:r>
            <a:r>
              <a:rPr sz="1500" u="sng" baseline="16666" dirty="0">
                <a:uFill>
                  <a:solidFill>
                    <a:srgbClr val="000000"/>
                  </a:solidFill>
                </a:uFill>
                <a:latin typeface="Cambria Math"/>
                <a:cs typeface="Cambria Math"/>
              </a:rPr>
              <a:t>×</a:t>
            </a:r>
            <a:r>
              <a:rPr sz="1500" u="sng" spc="15" baseline="16666" dirty="0">
                <a:uFill>
                  <a:solidFill>
                    <a:srgbClr val="000000"/>
                  </a:solidFill>
                </a:uFill>
                <a:latin typeface="Cambria Math"/>
                <a:cs typeface="Cambria Math"/>
              </a:rPr>
              <a:t> </a:t>
            </a:r>
            <a:r>
              <a:rPr sz="1500" spc="-15" baseline="16666" dirty="0">
                <a:latin typeface="Cambria Math"/>
                <a:cs typeface="Cambria Math"/>
              </a:rPr>
              <a:t>𝑻</a:t>
            </a:r>
            <a:r>
              <a:rPr sz="1275" spc="-15" baseline="6535" dirty="0">
                <a:latin typeface="Cambria Math"/>
                <a:cs typeface="Cambria Math"/>
              </a:rPr>
              <a:t>𝒏𝒐𝒏</a:t>
            </a:r>
            <a:r>
              <a:rPr sz="1275" u="sng" spc="-15" baseline="6535" dirty="0">
                <a:uFill>
                  <a:solidFill>
                    <a:srgbClr val="000000"/>
                  </a:solidFill>
                </a:uFill>
                <a:latin typeface="Cambria Math"/>
                <a:cs typeface="Cambria Math"/>
              </a:rPr>
              <a:t>−</a:t>
            </a:r>
            <a:r>
              <a:rPr sz="1275" spc="-15" baseline="6535" dirty="0">
                <a:latin typeface="Cambria Math"/>
                <a:cs typeface="Cambria Math"/>
              </a:rPr>
              <a:t>𝒑</a:t>
            </a:r>
            <a:r>
              <a:rPr sz="1275" u="sng" spc="-15" baseline="6535" dirty="0">
                <a:uFill>
                  <a:solidFill>
                    <a:srgbClr val="000000"/>
                  </a:solidFill>
                </a:uFill>
                <a:latin typeface="Cambria Math"/>
                <a:cs typeface="Cambria Math"/>
              </a:rPr>
              <a:t>𝒊</a:t>
            </a:r>
            <a:r>
              <a:rPr sz="1275" spc="-15" baseline="6535" dirty="0">
                <a:latin typeface="Cambria Math"/>
                <a:cs typeface="Cambria Math"/>
              </a:rPr>
              <a:t>𝒑𝒆</a:t>
            </a:r>
            <a:r>
              <a:rPr sz="1275" u="sng" spc="-15" baseline="6535" dirty="0">
                <a:uFill>
                  <a:solidFill>
                    <a:srgbClr val="000000"/>
                  </a:solidFill>
                </a:uFill>
                <a:latin typeface="Cambria Math"/>
                <a:cs typeface="Cambria Math"/>
              </a:rPr>
              <a:t>𝒍𝒊</a:t>
            </a:r>
            <a:r>
              <a:rPr sz="1275" spc="-15" baseline="6535" dirty="0">
                <a:latin typeface="Cambria Math"/>
                <a:cs typeface="Cambria Math"/>
              </a:rPr>
              <a:t>𝒏𝒆𝒅</a:t>
            </a:r>
            <a:r>
              <a:rPr sz="1275" u="sng" spc="-15" baseline="6535" dirty="0">
                <a:uFill>
                  <a:solidFill>
                    <a:srgbClr val="000000"/>
                  </a:solidFill>
                </a:uFill>
                <a:latin typeface="Cambria Math"/>
                <a:cs typeface="Cambria Math"/>
              </a:rPr>
              <a:t>/</a:t>
            </a:r>
            <a:r>
              <a:rPr sz="1275" spc="-15" baseline="6535" dirty="0">
                <a:latin typeface="Cambria Math"/>
                <a:cs typeface="Cambria Math"/>
              </a:rPr>
              <a:t>𝒐𝒏𝒆</a:t>
            </a:r>
            <a:r>
              <a:rPr sz="1275" u="sng" spc="-15" baseline="6535" dirty="0">
                <a:uFill>
                  <a:solidFill>
                    <a:srgbClr val="000000"/>
                  </a:solidFill>
                </a:uFill>
                <a:latin typeface="Cambria Math"/>
                <a:cs typeface="Cambria Math"/>
              </a:rPr>
              <a:t>_</a:t>
            </a:r>
            <a:r>
              <a:rPr sz="1275" spc="-15" baseline="6535" dirty="0">
                <a:latin typeface="Cambria Math"/>
                <a:cs typeface="Cambria Math"/>
              </a:rPr>
              <a:t>𝒕𝒂</a:t>
            </a:r>
            <a:r>
              <a:rPr sz="1275" u="sng" spc="-15" baseline="6535" dirty="0">
                <a:uFill>
                  <a:solidFill>
                    <a:srgbClr val="000000"/>
                  </a:solidFill>
                </a:uFill>
                <a:latin typeface="Cambria Math"/>
                <a:cs typeface="Cambria Math"/>
              </a:rPr>
              <a:t>𝒔</a:t>
            </a:r>
            <a:r>
              <a:rPr sz="1275" spc="-15" baseline="6535" dirty="0">
                <a:latin typeface="Cambria Math"/>
                <a:cs typeface="Cambria Math"/>
              </a:rPr>
              <a:t>𝒌</a:t>
            </a:r>
            <a:endParaRPr sz="1275" baseline="6535">
              <a:latin typeface="Cambria Math"/>
              <a:cs typeface="Cambria Math"/>
            </a:endParaRPr>
          </a:p>
          <a:p>
            <a:pPr marL="63500">
              <a:lnSpc>
                <a:spcPct val="100000"/>
              </a:lnSpc>
              <a:spcBef>
                <a:spcPts val="55"/>
              </a:spcBef>
              <a:tabLst>
                <a:tab pos="863600" algn="l"/>
              </a:tabLst>
            </a:pPr>
            <a:r>
              <a:rPr sz="1000" spc="-25" dirty="0">
                <a:latin typeface="Cambria Math"/>
                <a:cs typeface="Cambria Math"/>
              </a:rPr>
              <a:t>𝒕</a:t>
            </a:r>
            <a:r>
              <a:rPr sz="1275" spc="-37" baseline="-13071" dirty="0">
                <a:latin typeface="Cambria Math"/>
                <a:cs typeface="Cambria Math"/>
              </a:rPr>
              <a:t>𝒑</a:t>
            </a:r>
            <a:r>
              <a:rPr sz="1275" baseline="-13071" dirty="0">
                <a:latin typeface="Cambria Math"/>
                <a:cs typeface="Cambria Math"/>
              </a:rPr>
              <a:t>	</a:t>
            </a:r>
            <a:r>
              <a:rPr sz="1000" dirty="0">
                <a:latin typeface="Cambria Math"/>
                <a:cs typeface="Cambria Math"/>
              </a:rPr>
              <a:t>𝒌+𝒏−𝟏</a:t>
            </a:r>
            <a:r>
              <a:rPr sz="1000" spc="195" dirty="0">
                <a:latin typeface="Cambria Math"/>
                <a:cs typeface="Cambria Math"/>
              </a:rPr>
              <a:t> </a:t>
            </a:r>
            <a:r>
              <a:rPr sz="1000" spc="-20" dirty="0">
                <a:latin typeface="Cambria Math"/>
                <a:cs typeface="Cambria Math"/>
              </a:rPr>
              <a:t>×𝒕</a:t>
            </a:r>
            <a:r>
              <a:rPr sz="1275" spc="-30" baseline="-13071" dirty="0">
                <a:latin typeface="Cambria Math"/>
                <a:cs typeface="Cambria Math"/>
              </a:rPr>
              <a:t>𝐜𝐥𝐤</a:t>
            </a:r>
            <a:endParaRPr sz="1275" baseline="-13071">
              <a:latin typeface="Cambria Math"/>
              <a:cs typeface="Cambria Math"/>
            </a:endParaRPr>
          </a:p>
        </p:txBody>
      </p:sp>
      <p:sp>
        <p:nvSpPr>
          <p:cNvPr id="7" name="object 7"/>
          <p:cNvSpPr txBox="1"/>
          <p:nvPr/>
        </p:nvSpPr>
        <p:spPr>
          <a:xfrm>
            <a:off x="746861" y="2255011"/>
            <a:ext cx="4807585" cy="1003935"/>
          </a:xfrm>
          <a:prstGeom prst="rect">
            <a:avLst/>
          </a:prstGeom>
        </p:spPr>
        <p:txBody>
          <a:bodyPr vert="horz" wrap="square" lIns="0" tIns="12700" rIns="0" bIns="0" rtlCol="0">
            <a:spAutoFit/>
          </a:bodyPr>
          <a:lstStyle/>
          <a:p>
            <a:pPr marL="358140">
              <a:lnSpc>
                <a:spcPct val="100000"/>
              </a:lnSpc>
              <a:spcBef>
                <a:spcPts val="100"/>
              </a:spcBef>
            </a:pP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k</a:t>
            </a:r>
            <a:r>
              <a:rPr sz="1200" spc="-2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no.</a:t>
            </a:r>
            <a:r>
              <a:rPr sz="1200" spc="-20" dirty="0">
                <a:latin typeface="Times New Roman"/>
                <a:cs typeface="Times New Roman"/>
              </a:rPr>
              <a:t> </a:t>
            </a:r>
            <a:r>
              <a:rPr sz="1200" dirty="0">
                <a:latin typeface="Times New Roman"/>
                <a:cs typeface="Times New Roman"/>
              </a:rPr>
              <a:t>pipeline</a:t>
            </a:r>
            <a:r>
              <a:rPr sz="1200" spc="-30" dirty="0">
                <a:latin typeface="Times New Roman"/>
                <a:cs typeface="Times New Roman"/>
              </a:rPr>
              <a:t> </a:t>
            </a:r>
            <a:r>
              <a:rPr sz="1200" dirty="0">
                <a:latin typeface="Times New Roman"/>
                <a:cs typeface="Times New Roman"/>
              </a:rPr>
              <a:t>segments</a:t>
            </a:r>
            <a:r>
              <a:rPr sz="1200" spc="-10" dirty="0">
                <a:latin typeface="Times New Roman"/>
                <a:cs typeface="Times New Roman"/>
              </a:rPr>
              <a:t> </a:t>
            </a:r>
            <a:r>
              <a:rPr sz="1200" dirty="0">
                <a:latin typeface="Times New Roman"/>
                <a:cs typeface="Times New Roman"/>
              </a:rPr>
              <a:t>(stages),</a:t>
            </a:r>
            <a:r>
              <a:rPr sz="1200" spc="5" dirty="0">
                <a:latin typeface="Times New Roman"/>
                <a:cs typeface="Times New Roman"/>
              </a:rPr>
              <a:t> </a:t>
            </a:r>
            <a:r>
              <a:rPr sz="1200" dirty="0">
                <a:latin typeface="Times New Roman"/>
                <a:cs typeface="Times New Roman"/>
              </a:rPr>
              <a:t>n</a:t>
            </a:r>
            <a:r>
              <a:rPr sz="1200" spc="-20" dirty="0">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no.</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tasks</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20"/>
              </a:spcBef>
            </a:pPr>
            <a:endParaRPr sz="1200">
              <a:latin typeface="Times New Roman"/>
              <a:cs typeface="Times New Roman"/>
            </a:endParaRPr>
          </a:p>
          <a:p>
            <a:pPr marL="182245" indent="-169545">
              <a:lnSpc>
                <a:spcPct val="100000"/>
              </a:lnSpc>
              <a:spcBef>
                <a:spcPts val="5"/>
              </a:spcBef>
              <a:buFont typeface="Wingdings"/>
              <a:buChar char=""/>
              <a:tabLst>
                <a:tab pos="182245" algn="l"/>
              </a:tabLst>
            </a:pPr>
            <a:r>
              <a:rPr sz="1200" b="1" u="sng" dirty="0">
                <a:solidFill>
                  <a:srgbClr val="3E762B"/>
                </a:solidFill>
                <a:uFill>
                  <a:solidFill>
                    <a:srgbClr val="3E762B"/>
                  </a:solidFill>
                </a:uFill>
                <a:latin typeface="Times New Roman"/>
                <a:cs typeface="Times New Roman"/>
              </a:rPr>
              <a:t>Best</a:t>
            </a:r>
            <a:r>
              <a:rPr sz="1200" b="1" u="sng" spc="-15" dirty="0">
                <a:solidFill>
                  <a:srgbClr val="3E762B"/>
                </a:solidFill>
                <a:uFill>
                  <a:solidFill>
                    <a:srgbClr val="3E762B"/>
                  </a:solidFill>
                </a:uFill>
                <a:latin typeface="Times New Roman"/>
                <a:cs typeface="Times New Roman"/>
              </a:rPr>
              <a:t> </a:t>
            </a:r>
            <a:r>
              <a:rPr sz="1200" b="1" u="sng" spc="-10" dirty="0">
                <a:solidFill>
                  <a:srgbClr val="3E762B"/>
                </a:solidFill>
                <a:uFill>
                  <a:solidFill>
                    <a:srgbClr val="3E762B"/>
                  </a:solidFill>
                </a:uFill>
                <a:latin typeface="Times New Roman"/>
                <a:cs typeface="Times New Roman"/>
              </a:rPr>
              <a:t>Case:</a:t>
            </a:r>
            <a:endParaRPr sz="1200">
              <a:latin typeface="Times New Roman"/>
              <a:cs typeface="Times New Roman"/>
            </a:endParaRPr>
          </a:p>
          <a:p>
            <a:pPr marL="241300">
              <a:lnSpc>
                <a:spcPct val="100000"/>
              </a:lnSpc>
              <a:spcBef>
                <a:spcPts val="600"/>
              </a:spcBef>
            </a:pP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large</a:t>
            </a:r>
            <a:r>
              <a:rPr sz="1200" spc="-20" dirty="0">
                <a:latin typeface="Times New Roman"/>
                <a:cs typeface="Times New Roman"/>
              </a:rPr>
              <a:t> </a:t>
            </a:r>
            <a:r>
              <a:rPr sz="1200" dirty="0">
                <a:latin typeface="Times New Roman"/>
                <a:cs typeface="Times New Roman"/>
              </a:rPr>
              <a:t>number</a:t>
            </a:r>
            <a:r>
              <a:rPr sz="1200" spc="-4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instructions</a:t>
            </a:r>
            <a:r>
              <a:rPr sz="1200" spc="-45" dirty="0">
                <a:latin typeface="Times New Roman"/>
                <a:cs typeface="Times New Roman"/>
              </a:rPr>
              <a:t> </a:t>
            </a:r>
            <a:r>
              <a:rPr sz="1200" dirty="0">
                <a:latin typeface="Times New Roman"/>
                <a:cs typeface="Times New Roman"/>
              </a:rPr>
              <a:t>(i.e.</a:t>
            </a:r>
            <a:r>
              <a:rPr sz="1200" spc="-45" dirty="0">
                <a:latin typeface="Times New Roman"/>
                <a:cs typeface="Times New Roman"/>
              </a:rPr>
              <a:t> </a:t>
            </a:r>
            <a:r>
              <a:rPr sz="1200" spc="-10" dirty="0">
                <a:latin typeface="Times New Roman"/>
                <a:cs typeface="Times New Roman"/>
              </a:rPr>
              <a:t>Tasks)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best</a:t>
            </a:r>
            <a:r>
              <a:rPr sz="1200" spc="-35" dirty="0">
                <a:latin typeface="Times New Roman"/>
                <a:cs typeface="Times New Roman"/>
              </a:rPr>
              <a:t> </a:t>
            </a:r>
            <a:r>
              <a:rPr sz="1200" dirty="0">
                <a:latin typeface="Times New Roman"/>
                <a:cs typeface="Times New Roman"/>
              </a:rPr>
              <a:t>pipeline</a:t>
            </a:r>
            <a:r>
              <a:rPr sz="1200" spc="-35" dirty="0">
                <a:latin typeface="Times New Roman"/>
                <a:cs typeface="Times New Roman"/>
              </a:rPr>
              <a:t> </a:t>
            </a:r>
            <a:r>
              <a:rPr sz="1200" spc="-10" dirty="0">
                <a:latin typeface="Times New Roman"/>
                <a:cs typeface="Times New Roman"/>
              </a:rPr>
              <a:t>balance</a:t>
            </a:r>
            <a:endParaRPr sz="1200">
              <a:latin typeface="Times New Roman"/>
              <a:cs typeface="Times New Roman"/>
            </a:endParaRPr>
          </a:p>
        </p:txBody>
      </p:sp>
      <p:sp>
        <p:nvSpPr>
          <p:cNvPr id="8" name="object 8"/>
          <p:cNvSpPr txBox="1"/>
          <p:nvPr/>
        </p:nvSpPr>
        <p:spPr>
          <a:xfrm>
            <a:off x="1684401" y="3612896"/>
            <a:ext cx="64643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ambria Math"/>
                <a:cs typeface="Cambria Math"/>
              </a:rPr>
              <a:t>𝐒𝐩𝐞𝐞𝐝𝐮𝐩</a:t>
            </a:r>
            <a:endParaRPr sz="1200">
              <a:latin typeface="Cambria Math"/>
              <a:cs typeface="Cambria Math"/>
            </a:endParaRPr>
          </a:p>
        </p:txBody>
      </p:sp>
      <p:sp>
        <p:nvSpPr>
          <p:cNvPr id="9" name="object 9"/>
          <p:cNvSpPr txBox="1"/>
          <p:nvPr/>
        </p:nvSpPr>
        <p:spPr>
          <a:xfrm>
            <a:off x="2304669" y="3684523"/>
            <a:ext cx="283210" cy="159385"/>
          </a:xfrm>
          <a:prstGeom prst="rect">
            <a:avLst/>
          </a:prstGeom>
        </p:spPr>
        <p:txBody>
          <a:bodyPr vert="horz" wrap="square" lIns="0" tIns="15875" rIns="0" bIns="0" rtlCol="0">
            <a:spAutoFit/>
          </a:bodyPr>
          <a:lstStyle/>
          <a:p>
            <a:pPr marL="12700">
              <a:lnSpc>
                <a:spcPct val="100000"/>
              </a:lnSpc>
              <a:spcBef>
                <a:spcPts val="125"/>
              </a:spcBef>
            </a:pPr>
            <a:r>
              <a:rPr sz="850" spc="-20" dirty="0">
                <a:latin typeface="Cambria Math"/>
                <a:cs typeface="Cambria Math"/>
              </a:rPr>
              <a:t>𝒎𝒂𝒙.</a:t>
            </a:r>
            <a:endParaRPr sz="850">
              <a:latin typeface="Cambria Math"/>
              <a:cs typeface="Cambria Math"/>
            </a:endParaRPr>
          </a:p>
        </p:txBody>
      </p:sp>
      <p:sp>
        <p:nvSpPr>
          <p:cNvPr id="10" name="object 10"/>
          <p:cNvSpPr/>
          <p:nvPr/>
        </p:nvSpPr>
        <p:spPr>
          <a:xfrm>
            <a:off x="3415665" y="3725671"/>
            <a:ext cx="1602105" cy="10795"/>
          </a:xfrm>
          <a:custGeom>
            <a:avLst/>
            <a:gdLst/>
            <a:ahLst/>
            <a:cxnLst/>
            <a:rect l="l" t="t" r="r" b="b"/>
            <a:pathLst>
              <a:path w="1602104" h="10795">
                <a:moveTo>
                  <a:pt x="1601724" y="0"/>
                </a:moveTo>
                <a:lnTo>
                  <a:pt x="0" y="0"/>
                </a:lnTo>
                <a:lnTo>
                  <a:pt x="0" y="10667"/>
                </a:lnTo>
                <a:lnTo>
                  <a:pt x="1601724" y="10667"/>
                </a:lnTo>
                <a:lnTo>
                  <a:pt x="1601724" y="0"/>
                </a:lnTo>
                <a:close/>
              </a:path>
            </a:pathLst>
          </a:custGeom>
          <a:solidFill>
            <a:srgbClr val="000000"/>
          </a:solidFill>
        </p:spPr>
        <p:txBody>
          <a:bodyPr wrap="square" lIns="0" tIns="0" rIns="0" bIns="0" rtlCol="0"/>
          <a:lstStyle/>
          <a:p>
            <a:endParaRPr/>
          </a:p>
        </p:txBody>
      </p:sp>
      <p:sp>
        <p:nvSpPr>
          <p:cNvPr id="11" name="object 11"/>
          <p:cNvSpPr txBox="1"/>
          <p:nvPr/>
        </p:nvSpPr>
        <p:spPr>
          <a:xfrm>
            <a:off x="3024377" y="3727195"/>
            <a:ext cx="1875789" cy="170180"/>
          </a:xfrm>
          <a:prstGeom prst="rect">
            <a:avLst/>
          </a:prstGeom>
        </p:spPr>
        <p:txBody>
          <a:bodyPr vert="horz" wrap="square" lIns="0" tIns="12065" rIns="0" bIns="0" rtlCol="0">
            <a:spAutoFit/>
          </a:bodyPr>
          <a:lstStyle/>
          <a:p>
            <a:pPr marL="50800">
              <a:lnSpc>
                <a:spcPct val="100000"/>
              </a:lnSpc>
              <a:spcBef>
                <a:spcPts val="95"/>
              </a:spcBef>
              <a:tabLst>
                <a:tab pos="547370" algn="l"/>
              </a:tabLst>
            </a:pPr>
            <a:r>
              <a:rPr sz="950" spc="55" dirty="0">
                <a:latin typeface="Cambria Math"/>
                <a:cs typeface="Cambria Math"/>
              </a:rPr>
              <a:t>𝑡</a:t>
            </a:r>
            <a:r>
              <a:rPr sz="1125" spc="82" baseline="-14814" dirty="0">
                <a:latin typeface="Cambria Math"/>
                <a:cs typeface="Cambria Math"/>
              </a:rPr>
              <a:t>𝑝</a:t>
            </a:r>
            <a:r>
              <a:rPr sz="1125" baseline="-14814" dirty="0">
                <a:latin typeface="Cambria Math"/>
                <a:cs typeface="Cambria Math"/>
              </a:rPr>
              <a:t>	</a:t>
            </a:r>
            <a:r>
              <a:rPr sz="950" spc="50" dirty="0">
                <a:latin typeface="Cambria Math"/>
                <a:cs typeface="Cambria Math"/>
              </a:rPr>
              <a:t>pipelined</a:t>
            </a:r>
            <a:r>
              <a:rPr sz="950" spc="100" dirty="0">
                <a:latin typeface="Cambria Math"/>
                <a:cs typeface="Cambria Math"/>
              </a:rPr>
              <a:t> </a:t>
            </a:r>
            <a:r>
              <a:rPr sz="950" spc="10" dirty="0">
                <a:latin typeface="Cambria Math"/>
                <a:cs typeface="Cambria Math"/>
              </a:rPr>
              <a:t>clock</a:t>
            </a:r>
            <a:r>
              <a:rPr sz="950" spc="105" dirty="0">
                <a:latin typeface="Cambria Math"/>
                <a:cs typeface="Cambria Math"/>
              </a:rPr>
              <a:t> </a:t>
            </a:r>
            <a:r>
              <a:rPr sz="950" spc="45" dirty="0">
                <a:latin typeface="Cambria Math"/>
                <a:cs typeface="Cambria Math"/>
              </a:rPr>
              <a:t>period</a:t>
            </a:r>
            <a:endParaRPr sz="950">
              <a:latin typeface="Cambria Math"/>
              <a:cs typeface="Cambria Math"/>
            </a:endParaRPr>
          </a:p>
        </p:txBody>
      </p:sp>
      <p:sp>
        <p:nvSpPr>
          <p:cNvPr id="12" name="object 12"/>
          <p:cNvSpPr/>
          <p:nvPr/>
        </p:nvSpPr>
        <p:spPr>
          <a:xfrm>
            <a:off x="5177409" y="3728720"/>
            <a:ext cx="155575" cy="10795"/>
          </a:xfrm>
          <a:custGeom>
            <a:avLst/>
            <a:gdLst/>
            <a:ahLst/>
            <a:cxnLst/>
            <a:rect l="l" t="t" r="r" b="b"/>
            <a:pathLst>
              <a:path w="155575" h="10795">
                <a:moveTo>
                  <a:pt x="155448" y="0"/>
                </a:moveTo>
                <a:lnTo>
                  <a:pt x="0" y="0"/>
                </a:lnTo>
                <a:lnTo>
                  <a:pt x="0" y="10667"/>
                </a:lnTo>
                <a:lnTo>
                  <a:pt x="155448" y="10667"/>
                </a:lnTo>
                <a:lnTo>
                  <a:pt x="155448" y="0"/>
                </a:lnTo>
                <a:close/>
              </a:path>
            </a:pathLst>
          </a:custGeom>
          <a:solidFill>
            <a:srgbClr val="000000"/>
          </a:solidFill>
        </p:spPr>
        <p:txBody>
          <a:bodyPr wrap="square" lIns="0" tIns="0" rIns="0" bIns="0" rtlCol="0"/>
          <a:lstStyle/>
          <a:p>
            <a:endParaRPr/>
          </a:p>
        </p:txBody>
      </p:sp>
      <p:sp>
        <p:nvSpPr>
          <p:cNvPr id="13" name="object 13"/>
          <p:cNvSpPr txBox="1"/>
          <p:nvPr/>
        </p:nvSpPr>
        <p:spPr>
          <a:xfrm>
            <a:off x="2585592" y="3510788"/>
            <a:ext cx="2778125" cy="223520"/>
          </a:xfrm>
          <a:prstGeom prst="rect">
            <a:avLst/>
          </a:prstGeom>
        </p:spPr>
        <p:txBody>
          <a:bodyPr vert="horz" wrap="square" lIns="0" tIns="12065" rIns="0" bIns="0" rtlCol="0">
            <a:spAutoFit/>
          </a:bodyPr>
          <a:lstStyle/>
          <a:p>
            <a:pPr marL="38100">
              <a:lnSpc>
                <a:spcPct val="100000"/>
              </a:lnSpc>
              <a:spcBef>
                <a:spcPts val="95"/>
              </a:spcBef>
            </a:pPr>
            <a:r>
              <a:rPr sz="1800" spc="15" baseline="-32407" dirty="0">
                <a:latin typeface="Cambria Math"/>
                <a:cs typeface="Cambria Math"/>
              </a:rPr>
              <a:t>=</a:t>
            </a:r>
            <a:r>
              <a:rPr sz="1800" spc="112" baseline="-32407" dirty="0">
                <a:latin typeface="Cambria Math"/>
                <a:cs typeface="Cambria Math"/>
              </a:rPr>
              <a:t> </a:t>
            </a:r>
            <a:r>
              <a:rPr sz="1800" spc="15" baseline="-32407" dirty="0">
                <a:latin typeface="Cambria Math"/>
                <a:cs typeface="Cambria Math"/>
              </a:rPr>
              <a:t>𝒌</a:t>
            </a:r>
            <a:r>
              <a:rPr sz="1800" spc="75" baseline="-32407" dirty="0">
                <a:latin typeface="Cambria Math"/>
                <a:cs typeface="Cambria Math"/>
              </a:rPr>
              <a:t> </a:t>
            </a:r>
            <a:r>
              <a:rPr sz="1800" b="1" spc="15" baseline="-32407" dirty="0">
                <a:latin typeface="Times New Roman"/>
                <a:cs typeface="Times New Roman"/>
              </a:rPr>
              <a:t>=</a:t>
            </a:r>
            <a:r>
              <a:rPr sz="1800" b="1" spc="502" baseline="-32407" dirty="0">
                <a:latin typeface="Times New Roman"/>
                <a:cs typeface="Times New Roman"/>
              </a:rPr>
              <a:t> </a:t>
            </a:r>
            <a:r>
              <a:rPr sz="1425" spc="120" baseline="2923" dirty="0">
                <a:latin typeface="Cambria Math"/>
                <a:cs typeface="Cambria Math"/>
              </a:rPr>
              <a:t>𝑡</a:t>
            </a:r>
            <a:r>
              <a:rPr sz="1125" u="sng" spc="120" baseline="-11111" dirty="0">
                <a:uFill>
                  <a:solidFill>
                    <a:srgbClr val="000000"/>
                  </a:solidFill>
                </a:uFill>
                <a:latin typeface="Cambria Math"/>
                <a:cs typeface="Cambria Math"/>
              </a:rPr>
              <a:t>𝑛</a:t>
            </a:r>
            <a:r>
              <a:rPr sz="1125" spc="367" baseline="-11111" dirty="0">
                <a:latin typeface="Cambria Math"/>
                <a:cs typeface="Cambria Math"/>
              </a:rPr>
              <a:t> </a:t>
            </a:r>
            <a:r>
              <a:rPr sz="1950" spc="15" baseline="-29914" dirty="0">
                <a:latin typeface="Cambria Math"/>
                <a:cs typeface="Cambria Math"/>
              </a:rPr>
              <a:t>=</a:t>
            </a:r>
            <a:r>
              <a:rPr sz="1950" spc="142" baseline="-29914" dirty="0">
                <a:latin typeface="Cambria Math"/>
                <a:cs typeface="Cambria Math"/>
              </a:rPr>
              <a:t> </a:t>
            </a:r>
            <a:r>
              <a:rPr sz="1425" spc="67" baseline="2923" dirty="0">
                <a:latin typeface="Cambria Math"/>
                <a:cs typeface="Cambria Math"/>
              </a:rPr>
              <a:t>non−pipelined</a:t>
            </a:r>
            <a:r>
              <a:rPr sz="1425" spc="7" baseline="2923" dirty="0">
                <a:latin typeface="Cambria Math"/>
                <a:cs typeface="Cambria Math"/>
              </a:rPr>
              <a:t> </a:t>
            </a:r>
            <a:r>
              <a:rPr sz="1425" spc="15" baseline="2923" dirty="0">
                <a:latin typeface="Cambria Math"/>
                <a:cs typeface="Cambria Math"/>
              </a:rPr>
              <a:t>clock</a:t>
            </a:r>
            <a:r>
              <a:rPr sz="1425" baseline="2923" dirty="0">
                <a:latin typeface="Cambria Math"/>
                <a:cs typeface="Cambria Math"/>
              </a:rPr>
              <a:t> </a:t>
            </a:r>
            <a:r>
              <a:rPr sz="1425" spc="82" baseline="2923" dirty="0">
                <a:latin typeface="Cambria Math"/>
                <a:cs typeface="Cambria Math"/>
              </a:rPr>
              <a:t>period</a:t>
            </a:r>
            <a:r>
              <a:rPr sz="1425" spc="172" baseline="2923" dirty="0">
                <a:latin typeface="Cambria Math"/>
                <a:cs typeface="Cambria Math"/>
              </a:rPr>
              <a:t> </a:t>
            </a:r>
            <a:r>
              <a:rPr sz="1800" spc="15" baseline="-32407" dirty="0">
                <a:latin typeface="Times New Roman"/>
                <a:cs typeface="Times New Roman"/>
              </a:rPr>
              <a:t>=</a:t>
            </a:r>
            <a:r>
              <a:rPr sz="1800" spc="375" baseline="-32407" dirty="0">
                <a:latin typeface="Times New Roman"/>
                <a:cs typeface="Times New Roman"/>
              </a:rPr>
              <a:t> </a:t>
            </a:r>
            <a:r>
              <a:rPr sz="850" spc="-25" dirty="0">
                <a:latin typeface="Cambria Math"/>
                <a:cs typeface="Cambria Math"/>
              </a:rPr>
              <a:t>𝑇</a:t>
            </a:r>
            <a:r>
              <a:rPr sz="1050" spc="-37" baseline="-15873" dirty="0">
                <a:latin typeface="Cambria Math"/>
                <a:cs typeface="Cambria Math"/>
              </a:rPr>
              <a:t>𝑛</a:t>
            </a:r>
            <a:endParaRPr sz="1050" baseline="-15873">
              <a:latin typeface="Cambria Math"/>
              <a:cs typeface="Cambria Math"/>
            </a:endParaRPr>
          </a:p>
        </p:txBody>
      </p:sp>
      <p:sp>
        <p:nvSpPr>
          <p:cNvPr id="14" name="object 14"/>
          <p:cNvSpPr txBox="1"/>
          <p:nvPr/>
        </p:nvSpPr>
        <p:spPr>
          <a:xfrm>
            <a:off x="5164835" y="3693667"/>
            <a:ext cx="203835" cy="269240"/>
          </a:xfrm>
          <a:prstGeom prst="rect">
            <a:avLst/>
          </a:prstGeom>
        </p:spPr>
        <p:txBody>
          <a:bodyPr vert="horz" wrap="square" lIns="0" tIns="27305" rIns="0" bIns="0" rtlCol="0">
            <a:spAutoFit/>
          </a:bodyPr>
          <a:lstStyle/>
          <a:p>
            <a:pPr algn="ctr">
              <a:lnSpc>
                <a:spcPct val="100000"/>
              </a:lnSpc>
              <a:spcBef>
                <a:spcPts val="215"/>
              </a:spcBef>
            </a:pPr>
            <a:r>
              <a:rPr sz="700" spc="65" dirty="0">
                <a:latin typeface="Cambria Math"/>
                <a:cs typeface="Cambria Math"/>
              </a:rPr>
              <a:t>𝑇</a:t>
            </a:r>
            <a:r>
              <a:rPr sz="1050" u="sng" spc="97" baseline="-11904" dirty="0">
                <a:uFill>
                  <a:solidFill>
                    <a:srgbClr val="000000"/>
                  </a:solidFill>
                </a:uFill>
                <a:latin typeface="Cambria Math"/>
                <a:cs typeface="Cambria Math"/>
              </a:rPr>
              <a:t>𝑛</a:t>
            </a:r>
            <a:endParaRPr sz="1050" baseline="-11904">
              <a:latin typeface="Cambria Math"/>
              <a:cs typeface="Cambria Math"/>
            </a:endParaRPr>
          </a:p>
          <a:p>
            <a:pPr marL="1270" algn="ctr">
              <a:lnSpc>
                <a:spcPct val="100000"/>
              </a:lnSpc>
              <a:spcBef>
                <a:spcPts val="120"/>
              </a:spcBef>
            </a:pPr>
            <a:r>
              <a:rPr sz="700" spc="20" dirty="0">
                <a:latin typeface="Cambria Math"/>
                <a:cs typeface="Cambria Math"/>
              </a:rPr>
              <a:t>𝑘</a:t>
            </a:r>
            <a:endParaRPr sz="700">
              <a:latin typeface="Cambria Math"/>
              <a:cs typeface="Cambria Math"/>
            </a:endParaRPr>
          </a:p>
        </p:txBody>
      </p:sp>
      <p:grpSp>
        <p:nvGrpSpPr>
          <p:cNvPr id="15" name="object 15"/>
          <p:cNvGrpSpPr/>
          <p:nvPr/>
        </p:nvGrpSpPr>
        <p:grpSpPr>
          <a:xfrm>
            <a:off x="381000" y="4844796"/>
            <a:ext cx="6096000" cy="3429000"/>
            <a:chOff x="381000" y="4844796"/>
            <a:chExt cx="6096000" cy="3429000"/>
          </a:xfrm>
        </p:grpSpPr>
        <p:sp>
          <p:nvSpPr>
            <p:cNvPr id="16" name="object 16"/>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7" name="object 17"/>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18" name="object 18"/>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9" name="object 19"/>
          <p:cNvSpPr txBox="1"/>
          <p:nvPr/>
        </p:nvSpPr>
        <p:spPr>
          <a:xfrm>
            <a:off x="496823" y="4966715"/>
            <a:ext cx="5862955" cy="3190240"/>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Pipelining</a:t>
            </a:r>
            <a:r>
              <a:rPr sz="2200" spc="-125" dirty="0">
                <a:latin typeface="Georgia"/>
                <a:cs typeface="Georgia"/>
              </a:rPr>
              <a:t> </a:t>
            </a:r>
            <a:r>
              <a:rPr sz="2200" spc="-10" dirty="0">
                <a:latin typeface="Georgia"/>
                <a:cs typeface="Georgia"/>
              </a:rPr>
              <a:t>Types</a:t>
            </a:r>
            <a:endParaRPr sz="2200">
              <a:latin typeface="Georgia"/>
              <a:cs typeface="Georgia"/>
            </a:endParaRPr>
          </a:p>
          <a:p>
            <a:pPr marL="431800" indent="-169545">
              <a:lnSpc>
                <a:spcPct val="100000"/>
              </a:lnSpc>
              <a:spcBef>
                <a:spcPts val="1975"/>
              </a:spcBef>
              <a:buFont typeface="Wingdings"/>
              <a:buChar char=""/>
              <a:tabLst>
                <a:tab pos="431800" algn="l"/>
              </a:tabLst>
            </a:pPr>
            <a:r>
              <a:rPr sz="1200" b="1" dirty="0">
                <a:solidFill>
                  <a:srgbClr val="3E762B"/>
                </a:solidFill>
                <a:latin typeface="Times New Roman"/>
                <a:cs typeface="Times New Roman"/>
              </a:rPr>
              <a:t>Arithmetic</a:t>
            </a:r>
            <a:r>
              <a:rPr sz="1200" b="1" spc="-65" dirty="0">
                <a:solidFill>
                  <a:srgbClr val="3E762B"/>
                </a:solidFill>
                <a:latin typeface="Times New Roman"/>
                <a:cs typeface="Times New Roman"/>
              </a:rPr>
              <a:t> </a:t>
            </a:r>
            <a:r>
              <a:rPr sz="1200" b="1" spc="-10" dirty="0">
                <a:solidFill>
                  <a:srgbClr val="3E762B"/>
                </a:solidFill>
                <a:latin typeface="Times New Roman"/>
                <a:cs typeface="Times New Roman"/>
              </a:rPr>
              <a:t>Pipeline</a:t>
            </a: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spcBef>
                <a:spcPts val="240"/>
              </a:spcBef>
              <a:buClr>
                <a:srgbClr val="3E762B"/>
              </a:buClr>
              <a:buFont typeface="Wingdings"/>
              <a:buChar char=""/>
            </a:pPr>
            <a:endParaRPr sz="1200">
              <a:latin typeface="Times New Roman"/>
              <a:cs typeface="Times New Roman"/>
            </a:endParaRPr>
          </a:p>
          <a:p>
            <a:pPr marL="431800" indent="-169545">
              <a:lnSpc>
                <a:spcPct val="100000"/>
              </a:lnSpc>
              <a:buFont typeface="Wingdings"/>
              <a:buChar char=""/>
              <a:tabLst>
                <a:tab pos="431800" algn="l"/>
              </a:tabLst>
            </a:pPr>
            <a:r>
              <a:rPr sz="1200" b="1" dirty="0">
                <a:solidFill>
                  <a:srgbClr val="3E762B"/>
                </a:solidFill>
                <a:latin typeface="Times New Roman"/>
                <a:cs typeface="Times New Roman"/>
              </a:rPr>
              <a:t>Instruction</a:t>
            </a:r>
            <a:r>
              <a:rPr sz="1200" b="1" spc="-35" dirty="0">
                <a:solidFill>
                  <a:srgbClr val="3E762B"/>
                </a:solidFill>
                <a:latin typeface="Times New Roman"/>
                <a:cs typeface="Times New Roman"/>
              </a:rPr>
              <a:t> </a:t>
            </a:r>
            <a:r>
              <a:rPr sz="1200" b="1" spc="-10" dirty="0">
                <a:solidFill>
                  <a:srgbClr val="3E762B"/>
                </a:solidFill>
                <a:latin typeface="Times New Roman"/>
                <a:cs typeface="Times New Roman"/>
              </a:rPr>
              <a:t>Pipeline</a:t>
            </a:r>
            <a:endParaRPr sz="120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12723" y="1118108"/>
            <a:ext cx="3200400" cy="314960"/>
          </a:xfrm>
          <a:prstGeom prst="rect">
            <a:avLst/>
          </a:prstGeom>
        </p:spPr>
        <p:txBody>
          <a:bodyPr vert="horz" wrap="square" lIns="0" tIns="12065" rIns="0" bIns="0" rtlCol="0">
            <a:spAutoFit/>
          </a:bodyPr>
          <a:lstStyle/>
          <a:p>
            <a:pPr marL="12700">
              <a:lnSpc>
                <a:spcPct val="100000"/>
              </a:lnSpc>
              <a:spcBef>
                <a:spcPts val="95"/>
              </a:spcBef>
            </a:pPr>
            <a:r>
              <a:rPr sz="1900" dirty="0">
                <a:latin typeface="Georgia"/>
                <a:cs typeface="Georgia"/>
              </a:rPr>
              <a:t>Arithmetic</a:t>
            </a:r>
            <a:r>
              <a:rPr sz="1900" spc="-100" dirty="0">
                <a:latin typeface="Georgia"/>
                <a:cs typeface="Georgia"/>
              </a:rPr>
              <a:t> </a:t>
            </a:r>
            <a:r>
              <a:rPr sz="1900" dirty="0">
                <a:latin typeface="Georgia"/>
                <a:cs typeface="Georgia"/>
              </a:rPr>
              <a:t>Pipeline</a:t>
            </a:r>
            <a:r>
              <a:rPr sz="1900" spc="-80" dirty="0">
                <a:latin typeface="Georgia"/>
                <a:cs typeface="Georgia"/>
              </a:rPr>
              <a:t> </a:t>
            </a:r>
            <a:r>
              <a:rPr sz="1900" spc="-10" dirty="0">
                <a:latin typeface="Georgia"/>
                <a:cs typeface="Georgia"/>
              </a:rPr>
              <a:t>Example1</a:t>
            </a:r>
            <a:endParaRPr sz="1900">
              <a:latin typeface="Georgia"/>
              <a:cs typeface="Georgia"/>
            </a:endParaRPr>
          </a:p>
        </p:txBody>
      </p:sp>
      <p:sp>
        <p:nvSpPr>
          <p:cNvPr id="3" name="object 3"/>
          <p:cNvSpPr txBox="1"/>
          <p:nvPr/>
        </p:nvSpPr>
        <p:spPr>
          <a:xfrm>
            <a:off x="746861" y="1620138"/>
            <a:ext cx="4819015" cy="747395"/>
          </a:xfrm>
          <a:prstGeom prst="rect">
            <a:avLst/>
          </a:prstGeom>
        </p:spPr>
        <p:txBody>
          <a:bodyPr vert="horz" wrap="square" lIns="0" tIns="12700" rIns="0" bIns="0" rtlCol="0">
            <a:spAutoFit/>
          </a:bodyPr>
          <a:lstStyle/>
          <a:p>
            <a:pPr marL="184785" marR="5080" indent="-172720">
              <a:lnSpc>
                <a:spcPct val="100000"/>
              </a:lnSpc>
              <a:spcBef>
                <a:spcPts val="100"/>
              </a:spcBef>
              <a:buClr>
                <a:srgbClr val="3E762B"/>
              </a:buClr>
              <a:buFont typeface="Wingdings"/>
              <a:buChar char=""/>
              <a:tabLst>
                <a:tab pos="186055" algn="l"/>
              </a:tabLst>
            </a:pPr>
            <a:r>
              <a:rPr sz="1100" dirty="0">
                <a:latin typeface="Times New Roman"/>
                <a:cs typeface="Times New Roman"/>
              </a:rPr>
              <a:t>Suppose</a:t>
            </a:r>
            <a:r>
              <a:rPr sz="1100" spc="-20" dirty="0">
                <a:latin typeface="Times New Roman"/>
                <a:cs typeface="Times New Roman"/>
              </a:rPr>
              <a:t> </a:t>
            </a:r>
            <a:r>
              <a:rPr sz="1100" dirty="0">
                <a:latin typeface="Times New Roman"/>
                <a:cs typeface="Times New Roman"/>
              </a:rPr>
              <a:t>that</a:t>
            </a:r>
            <a:r>
              <a:rPr sz="1100" spc="-10" dirty="0">
                <a:latin typeface="Times New Roman"/>
                <a:cs typeface="Times New Roman"/>
              </a:rPr>
              <a:t> </a:t>
            </a:r>
            <a:r>
              <a:rPr sz="1100" dirty="0">
                <a:latin typeface="Times New Roman"/>
                <a:cs typeface="Times New Roman"/>
              </a:rPr>
              <a:t>we</a:t>
            </a:r>
            <a:r>
              <a:rPr sz="1100" spc="-5" dirty="0">
                <a:latin typeface="Times New Roman"/>
                <a:cs typeface="Times New Roman"/>
              </a:rPr>
              <a:t> </a:t>
            </a:r>
            <a:r>
              <a:rPr sz="1100" dirty="0">
                <a:latin typeface="Times New Roman"/>
                <a:cs typeface="Times New Roman"/>
              </a:rPr>
              <a:t>want</a:t>
            </a:r>
            <a:r>
              <a:rPr sz="1100" spc="-10" dirty="0">
                <a:latin typeface="Times New Roman"/>
                <a:cs typeface="Times New Roman"/>
              </a:rPr>
              <a:t> </a:t>
            </a:r>
            <a:r>
              <a:rPr sz="1100" dirty="0">
                <a:latin typeface="Times New Roman"/>
                <a:cs typeface="Times New Roman"/>
              </a:rPr>
              <a:t>to perform</a:t>
            </a:r>
            <a:r>
              <a:rPr sz="1100" spc="-15" dirty="0">
                <a:latin typeface="Times New Roman"/>
                <a:cs typeface="Times New Roman"/>
              </a:rPr>
              <a:t> </a:t>
            </a:r>
            <a:r>
              <a:rPr sz="1100" dirty="0">
                <a:latin typeface="Times New Roman"/>
                <a:cs typeface="Times New Roman"/>
              </a:rPr>
              <a:t>the</a:t>
            </a:r>
            <a:r>
              <a:rPr sz="1100" spc="-25" dirty="0">
                <a:latin typeface="Times New Roman"/>
                <a:cs typeface="Times New Roman"/>
              </a:rPr>
              <a:t> </a:t>
            </a:r>
            <a:r>
              <a:rPr sz="1100" dirty="0">
                <a:latin typeface="Times New Roman"/>
                <a:cs typeface="Times New Roman"/>
              </a:rPr>
              <a:t>combined multiply</a:t>
            </a:r>
            <a:r>
              <a:rPr sz="1100" spc="-10" dirty="0">
                <a:latin typeface="Times New Roman"/>
                <a:cs typeface="Times New Roman"/>
              </a:rPr>
              <a:t> </a:t>
            </a:r>
            <a:r>
              <a:rPr sz="1100" dirty="0">
                <a:latin typeface="Times New Roman"/>
                <a:cs typeface="Times New Roman"/>
              </a:rPr>
              <a:t>and</a:t>
            </a:r>
            <a:r>
              <a:rPr sz="1100" spc="-10" dirty="0">
                <a:latin typeface="Times New Roman"/>
                <a:cs typeface="Times New Roman"/>
              </a:rPr>
              <a:t> </a:t>
            </a:r>
            <a:r>
              <a:rPr sz="1100" dirty="0">
                <a:latin typeface="Times New Roman"/>
                <a:cs typeface="Times New Roman"/>
              </a:rPr>
              <a:t>add</a:t>
            </a:r>
            <a:r>
              <a:rPr sz="1100" spc="-10" dirty="0">
                <a:latin typeface="Times New Roman"/>
                <a:cs typeface="Times New Roman"/>
              </a:rPr>
              <a:t> </a:t>
            </a:r>
            <a:r>
              <a:rPr sz="1100" dirty="0">
                <a:latin typeface="Times New Roman"/>
                <a:cs typeface="Times New Roman"/>
              </a:rPr>
              <a:t>operations</a:t>
            </a:r>
            <a:r>
              <a:rPr sz="1100" spc="-30" dirty="0">
                <a:latin typeface="Times New Roman"/>
                <a:cs typeface="Times New Roman"/>
              </a:rPr>
              <a:t> </a:t>
            </a:r>
            <a:r>
              <a:rPr sz="1100" dirty="0">
                <a:latin typeface="Times New Roman"/>
                <a:cs typeface="Times New Roman"/>
              </a:rPr>
              <a:t>with</a:t>
            </a:r>
            <a:r>
              <a:rPr sz="1100" spc="-15" dirty="0">
                <a:latin typeface="Times New Roman"/>
                <a:cs typeface="Times New Roman"/>
              </a:rPr>
              <a:t> </a:t>
            </a:r>
            <a:r>
              <a:rPr sz="1100" spc="-50" dirty="0">
                <a:latin typeface="Times New Roman"/>
                <a:cs typeface="Times New Roman"/>
              </a:rPr>
              <a:t>a 	</a:t>
            </a:r>
            <a:r>
              <a:rPr sz="1100" dirty="0">
                <a:latin typeface="Times New Roman"/>
                <a:cs typeface="Times New Roman"/>
              </a:rPr>
              <a:t>stream</a:t>
            </a:r>
            <a:r>
              <a:rPr sz="1100" spc="-20"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spc="-10" dirty="0">
                <a:latin typeface="Times New Roman"/>
                <a:cs typeface="Times New Roman"/>
              </a:rPr>
              <a:t>numbers.</a:t>
            </a:r>
            <a:endParaRPr sz="1100">
              <a:latin typeface="Times New Roman"/>
              <a:cs typeface="Times New Roman"/>
            </a:endParaRPr>
          </a:p>
          <a:p>
            <a:pPr>
              <a:lnSpc>
                <a:spcPct val="100000"/>
              </a:lnSpc>
              <a:spcBef>
                <a:spcPts val="455"/>
              </a:spcBef>
              <a:buClr>
                <a:srgbClr val="3E762B"/>
              </a:buClr>
              <a:buFont typeface="Wingdings"/>
              <a:buChar char=""/>
            </a:pPr>
            <a:endParaRPr sz="1100">
              <a:latin typeface="Times New Roman"/>
              <a:cs typeface="Times New Roman"/>
            </a:endParaRPr>
          </a:p>
          <a:p>
            <a:pPr marL="356235" lvl="1" indent="-170180">
              <a:lnSpc>
                <a:spcPct val="100000"/>
              </a:lnSpc>
              <a:buClr>
                <a:srgbClr val="3E762B"/>
              </a:buClr>
              <a:buFont typeface="Wingdings"/>
              <a:buChar char=""/>
              <a:tabLst>
                <a:tab pos="356235" algn="l"/>
              </a:tabLst>
            </a:pPr>
            <a:r>
              <a:rPr sz="1100" dirty="0">
                <a:latin typeface="Times New Roman"/>
                <a:cs typeface="Times New Roman"/>
              </a:rPr>
              <a:t>List</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contents</a:t>
            </a:r>
            <a:r>
              <a:rPr sz="1100" spc="-30" dirty="0">
                <a:latin typeface="Times New Roman"/>
                <a:cs typeface="Times New Roman"/>
              </a:rPr>
              <a:t> </a:t>
            </a:r>
            <a:r>
              <a:rPr sz="1100" dirty="0">
                <a:latin typeface="Times New Roman"/>
                <a:cs typeface="Times New Roman"/>
              </a:rPr>
              <a:t>of all</a:t>
            </a:r>
            <a:r>
              <a:rPr sz="1100" spc="-5" dirty="0">
                <a:latin typeface="Times New Roman"/>
                <a:cs typeface="Times New Roman"/>
              </a:rPr>
              <a:t> </a:t>
            </a:r>
            <a:r>
              <a:rPr sz="1100" dirty="0">
                <a:latin typeface="Times New Roman"/>
                <a:cs typeface="Times New Roman"/>
              </a:rPr>
              <a:t>registers</a:t>
            </a:r>
            <a:r>
              <a:rPr sz="1100" spc="-30" dirty="0">
                <a:latin typeface="Times New Roman"/>
                <a:cs typeface="Times New Roman"/>
              </a:rPr>
              <a:t> </a:t>
            </a:r>
            <a:r>
              <a:rPr sz="1100" dirty="0">
                <a:latin typeface="Times New Roman"/>
                <a:cs typeface="Times New Roman"/>
              </a:rPr>
              <a:t>in</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pipeline</a:t>
            </a:r>
            <a:r>
              <a:rPr sz="1100" spc="-30" dirty="0">
                <a:latin typeface="Times New Roman"/>
                <a:cs typeface="Times New Roman"/>
              </a:rPr>
              <a:t> </a:t>
            </a:r>
            <a:r>
              <a:rPr sz="1100" dirty="0">
                <a:latin typeface="Times New Roman"/>
                <a:cs typeface="Times New Roman"/>
              </a:rPr>
              <a:t>for</a:t>
            </a:r>
            <a:r>
              <a:rPr sz="1100" spc="35" dirty="0">
                <a:latin typeface="Times New Roman"/>
                <a:cs typeface="Times New Roman"/>
              </a:rPr>
              <a:t> </a:t>
            </a:r>
            <a:r>
              <a:rPr sz="1100" dirty="0">
                <a:latin typeface="Times New Roman"/>
                <a:cs typeface="Times New Roman"/>
              </a:rPr>
              <a:t>i</a:t>
            </a:r>
            <a:r>
              <a:rPr sz="1100" spc="-5"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1 through</a:t>
            </a:r>
            <a:r>
              <a:rPr sz="1100" spc="5" dirty="0">
                <a:latin typeface="Times New Roman"/>
                <a:cs typeface="Times New Roman"/>
              </a:rPr>
              <a:t> </a:t>
            </a:r>
            <a:r>
              <a:rPr sz="1100" spc="-50" dirty="0">
                <a:latin typeface="Times New Roman"/>
                <a:cs typeface="Times New Roman"/>
              </a:rPr>
              <a:t>7</a:t>
            </a:r>
            <a:endParaRPr sz="1100">
              <a:latin typeface="Times New Roman"/>
              <a:cs typeface="Times New Roman"/>
            </a:endParaRPr>
          </a:p>
        </p:txBody>
      </p:sp>
      <p:pic>
        <p:nvPicPr>
          <p:cNvPr id="4" name="object 4"/>
          <p:cNvPicPr/>
          <p:nvPr/>
        </p:nvPicPr>
        <p:blipFill>
          <a:blip r:embed="rId2" cstate="print"/>
          <a:stretch>
            <a:fillRect/>
          </a:stretch>
        </p:blipFill>
        <p:spPr>
          <a:xfrm>
            <a:off x="2093976" y="1862327"/>
            <a:ext cx="1920239" cy="199644"/>
          </a:xfrm>
          <a:prstGeom prst="rect">
            <a:avLst/>
          </a:prstGeom>
        </p:spPr>
      </p:pic>
      <p:pic>
        <p:nvPicPr>
          <p:cNvPr id="5" name="object 5"/>
          <p:cNvPicPr/>
          <p:nvPr/>
        </p:nvPicPr>
        <p:blipFill>
          <a:blip r:embed="rId3" cstate="print"/>
          <a:stretch>
            <a:fillRect/>
          </a:stretch>
        </p:blipFill>
        <p:spPr>
          <a:xfrm>
            <a:off x="3968496" y="2552700"/>
            <a:ext cx="2328672" cy="1485900"/>
          </a:xfrm>
          <a:prstGeom prst="rect">
            <a:avLst/>
          </a:prstGeom>
        </p:spPr>
      </p:pic>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213859" y="5931408"/>
              <a:ext cx="2077212" cy="1325880"/>
            </a:xfrm>
            <a:prstGeom prst="rect">
              <a:avLst/>
            </a:prstGeom>
          </p:spPr>
        </p:pic>
        <p:pic>
          <p:nvPicPr>
            <p:cNvPr id="11" name="object 11"/>
            <p:cNvPicPr/>
            <p:nvPr/>
          </p:nvPicPr>
          <p:blipFill>
            <a:blip r:embed="rId4" cstate="print"/>
            <a:stretch>
              <a:fillRect/>
            </a:stretch>
          </p:blipFill>
          <p:spPr>
            <a:xfrm>
              <a:off x="691438" y="5530596"/>
              <a:ext cx="3427984" cy="2112264"/>
            </a:xfrm>
            <a:prstGeom prst="rect">
              <a:avLst/>
            </a:prstGeom>
          </p:spPr>
        </p:pic>
      </p:grpSp>
      <p:sp>
        <p:nvSpPr>
          <p:cNvPr id="12" name="object 12"/>
          <p:cNvSpPr txBox="1"/>
          <p:nvPr/>
        </p:nvSpPr>
        <p:spPr>
          <a:xfrm>
            <a:off x="496823" y="4966715"/>
            <a:ext cx="5862955" cy="3190240"/>
          </a:xfrm>
          <a:prstGeom prst="rect">
            <a:avLst/>
          </a:prstGeom>
        </p:spPr>
        <p:txBody>
          <a:bodyPr vert="horz" wrap="square" lIns="0" tIns="140335" rIns="0" bIns="0" rtlCol="0">
            <a:spAutoFit/>
          </a:bodyPr>
          <a:lstStyle/>
          <a:p>
            <a:pPr marL="228600">
              <a:lnSpc>
                <a:spcPct val="100000"/>
              </a:lnSpc>
              <a:spcBef>
                <a:spcPts val="1105"/>
              </a:spcBef>
            </a:pPr>
            <a:r>
              <a:rPr sz="1900" dirty="0">
                <a:latin typeface="Georgia"/>
                <a:cs typeface="Georgia"/>
              </a:rPr>
              <a:t>Arithmetic</a:t>
            </a:r>
            <a:r>
              <a:rPr sz="1900" spc="-100" dirty="0">
                <a:latin typeface="Georgia"/>
                <a:cs typeface="Georgia"/>
              </a:rPr>
              <a:t> </a:t>
            </a:r>
            <a:r>
              <a:rPr sz="1900" dirty="0">
                <a:latin typeface="Georgia"/>
                <a:cs typeface="Georgia"/>
              </a:rPr>
              <a:t>Pipeline</a:t>
            </a:r>
            <a:r>
              <a:rPr sz="1900" spc="-80" dirty="0">
                <a:latin typeface="Georgia"/>
                <a:cs typeface="Georgia"/>
              </a:rPr>
              <a:t> </a:t>
            </a:r>
            <a:r>
              <a:rPr sz="1900" spc="-10" dirty="0">
                <a:latin typeface="Georgia"/>
                <a:cs typeface="Georgia"/>
              </a:rPr>
              <a:t>Example1</a:t>
            </a:r>
            <a:endParaRPr sz="1900">
              <a:latin typeface="Georgia"/>
              <a:cs typeface="Georgia"/>
            </a:endParaRPr>
          </a:p>
          <a:p>
            <a:pPr>
              <a:lnSpc>
                <a:spcPct val="100000"/>
              </a:lnSpc>
            </a:pPr>
            <a:endParaRPr sz="1900">
              <a:latin typeface="Georgia"/>
              <a:cs typeface="Georgia"/>
            </a:endParaRPr>
          </a:p>
          <a:p>
            <a:pPr>
              <a:lnSpc>
                <a:spcPct val="100000"/>
              </a:lnSpc>
              <a:spcBef>
                <a:spcPts val="1030"/>
              </a:spcBef>
            </a:pPr>
            <a:endParaRPr sz="1900">
              <a:latin typeface="Georgia"/>
              <a:cs typeface="Georgia"/>
            </a:endParaRPr>
          </a:p>
          <a:p>
            <a:pPr marL="1536065">
              <a:lnSpc>
                <a:spcPct val="100000"/>
              </a:lnSpc>
            </a:pPr>
            <a:r>
              <a:rPr sz="850" b="1" i="1" spc="-25" dirty="0">
                <a:latin typeface="Times New Roman"/>
                <a:cs typeface="Times New Roman"/>
              </a:rPr>
              <a:t>R6</a:t>
            </a:r>
            <a:endParaRPr sz="850">
              <a:latin typeface="Times New Roman"/>
              <a:cs typeface="Times New Roman"/>
            </a:endParaRPr>
          </a:p>
          <a:p>
            <a:pPr>
              <a:lnSpc>
                <a:spcPct val="100000"/>
              </a:lnSpc>
              <a:spcBef>
                <a:spcPts val="65"/>
              </a:spcBef>
            </a:pPr>
            <a:endParaRPr sz="850">
              <a:latin typeface="Times New Roman"/>
              <a:cs typeface="Times New Roman"/>
            </a:endParaRPr>
          </a:p>
          <a:p>
            <a:pPr marL="1536065" marR="4193540" algn="just">
              <a:lnSpc>
                <a:spcPct val="109800"/>
              </a:lnSpc>
            </a:pPr>
            <a:r>
              <a:rPr sz="850" b="1" i="1" spc="-25" dirty="0">
                <a:latin typeface="Times New Roman"/>
                <a:cs typeface="Times New Roman"/>
              </a:rPr>
              <a:t>C1</a:t>
            </a:r>
            <a:r>
              <a:rPr sz="850" b="1" i="1" spc="500" dirty="0">
                <a:latin typeface="Times New Roman"/>
                <a:cs typeface="Times New Roman"/>
              </a:rPr>
              <a:t> </a:t>
            </a:r>
            <a:r>
              <a:rPr sz="850" b="1" i="1" spc="-25" dirty="0">
                <a:latin typeface="Times New Roman"/>
                <a:cs typeface="Times New Roman"/>
              </a:rPr>
              <a:t>C2</a:t>
            </a:r>
            <a:r>
              <a:rPr sz="850" b="1" i="1" spc="500" dirty="0">
                <a:latin typeface="Times New Roman"/>
                <a:cs typeface="Times New Roman"/>
              </a:rPr>
              <a:t> </a:t>
            </a:r>
            <a:r>
              <a:rPr sz="850" b="1" i="1" spc="-25" dirty="0">
                <a:latin typeface="Times New Roman"/>
                <a:cs typeface="Times New Roman"/>
              </a:rPr>
              <a:t>C3</a:t>
            </a:r>
            <a:r>
              <a:rPr sz="850" b="1" i="1" spc="500" dirty="0">
                <a:latin typeface="Times New Roman"/>
                <a:cs typeface="Times New Roman"/>
              </a:rPr>
              <a:t> </a:t>
            </a:r>
            <a:r>
              <a:rPr sz="850" b="1" i="1" spc="-25" dirty="0">
                <a:latin typeface="Times New Roman"/>
                <a:cs typeface="Times New Roman"/>
              </a:rPr>
              <a:t>C4</a:t>
            </a:r>
            <a:r>
              <a:rPr sz="850" b="1" i="1" spc="500" dirty="0">
                <a:latin typeface="Times New Roman"/>
                <a:cs typeface="Times New Roman"/>
              </a:rPr>
              <a:t> </a:t>
            </a:r>
            <a:r>
              <a:rPr sz="850" b="1" i="1" spc="-25" dirty="0">
                <a:latin typeface="Times New Roman"/>
                <a:cs typeface="Times New Roman"/>
              </a:rPr>
              <a:t>C5</a:t>
            </a:r>
            <a:r>
              <a:rPr sz="850" b="1" i="1" spc="500" dirty="0">
                <a:latin typeface="Times New Roman"/>
                <a:cs typeface="Times New Roman"/>
              </a:rPr>
              <a:t> </a:t>
            </a:r>
            <a:r>
              <a:rPr sz="850" b="1" i="1" spc="-25" dirty="0">
                <a:latin typeface="Times New Roman"/>
                <a:cs typeface="Times New Roman"/>
              </a:rPr>
              <a:t>C6</a:t>
            </a:r>
            <a:r>
              <a:rPr sz="850" b="1" i="1" spc="500" dirty="0">
                <a:latin typeface="Times New Roman"/>
                <a:cs typeface="Times New Roman"/>
              </a:rPr>
              <a:t> </a:t>
            </a:r>
            <a:r>
              <a:rPr sz="850" b="1" i="1" spc="-25" dirty="0">
                <a:latin typeface="Times New Roman"/>
                <a:cs typeface="Times New Roman"/>
              </a:rPr>
              <a:t>C7</a:t>
            </a:r>
            <a:endParaRPr sz="850">
              <a:latin typeface="Times New Roman"/>
              <a:cs typeface="Times New Roman"/>
            </a:endParaRPr>
          </a:p>
          <a:p>
            <a:pPr marL="1581785">
              <a:lnSpc>
                <a:spcPct val="100000"/>
              </a:lnSpc>
              <a:spcBef>
                <a:spcPts val="105"/>
              </a:spcBef>
            </a:pPr>
            <a:r>
              <a:rPr sz="850" b="1" i="1" spc="-50" dirty="0">
                <a:latin typeface="Times New Roman"/>
                <a:cs typeface="Times New Roman"/>
              </a:rPr>
              <a:t>-</a:t>
            </a:r>
            <a:endParaRPr sz="850">
              <a:latin typeface="Times New Roman"/>
              <a:cs typeface="Times New Roman"/>
            </a:endParaRPr>
          </a:p>
          <a:p>
            <a:pPr marL="1581785">
              <a:lnSpc>
                <a:spcPct val="100000"/>
              </a:lnSpc>
              <a:spcBef>
                <a:spcPts val="100"/>
              </a:spcBef>
            </a:pPr>
            <a:r>
              <a:rPr sz="850" b="1" i="1" spc="-50" dirty="0">
                <a:latin typeface="Times New Roman"/>
                <a:cs typeface="Times New Roman"/>
              </a:rPr>
              <a:t>-</a:t>
            </a:r>
            <a:endParaRPr sz="850">
              <a:latin typeface="Times New Roman"/>
              <a:cs typeface="Times New Roman"/>
            </a:endParaRPr>
          </a:p>
        </p:txBody>
      </p:sp>
      <p:sp>
        <p:nvSpPr>
          <p:cNvPr id="13" name="object 13"/>
          <p:cNvSpPr txBox="1"/>
          <p:nvPr/>
        </p:nvSpPr>
        <p:spPr>
          <a:xfrm>
            <a:off x="1852422" y="7828026"/>
            <a:ext cx="3154680" cy="213360"/>
          </a:xfrm>
          <a:prstGeom prst="rect">
            <a:avLst/>
          </a:prstGeom>
          <a:solidFill>
            <a:srgbClr val="FFFFFF"/>
          </a:solidFill>
          <a:ln w="13716">
            <a:solidFill>
              <a:srgbClr val="3E762B"/>
            </a:solidFill>
          </a:ln>
        </p:spPr>
        <p:txBody>
          <a:bodyPr vert="horz" wrap="square" lIns="0" tIns="635" rIns="0" bIns="0" rtlCol="0">
            <a:spAutoFit/>
          </a:bodyPr>
          <a:lstStyle/>
          <a:p>
            <a:pPr marL="106045">
              <a:lnSpc>
                <a:spcPct val="100000"/>
              </a:lnSpc>
              <a:spcBef>
                <a:spcPts val="5"/>
              </a:spcBef>
            </a:pPr>
            <a:r>
              <a:rPr sz="1200" dirty="0">
                <a:latin typeface="Times New Roman"/>
                <a:cs typeface="Times New Roman"/>
              </a:rPr>
              <a:t>3</a:t>
            </a:r>
            <a:r>
              <a:rPr sz="1200" spc="-10" dirty="0">
                <a:latin typeface="Times New Roman"/>
                <a:cs typeface="Times New Roman"/>
              </a:rPr>
              <a:t> </a:t>
            </a:r>
            <a:r>
              <a:rPr sz="1200" dirty="0">
                <a:latin typeface="Times New Roman"/>
                <a:cs typeface="Times New Roman"/>
              </a:rPr>
              <a:t>segment ,</a:t>
            </a:r>
            <a:r>
              <a:rPr sz="1200" spc="-5" dirty="0">
                <a:latin typeface="Times New Roman"/>
                <a:cs typeface="Times New Roman"/>
              </a:rPr>
              <a:t> </a:t>
            </a:r>
            <a:r>
              <a:rPr sz="1200" dirty="0">
                <a:latin typeface="Times New Roman"/>
                <a:cs typeface="Times New Roman"/>
              </a:rPr>
              <a:t>7</a:t>
            </a:r>
            <a:r>
              <a:rPr sz="1200" spc="-5" dirty="0">
                <a:latin typeface="Times New Roman"/>
                <a:cs typeface="Times New Roman"/>
              </a:rPr>
              <a:t> </a:t>
            </a:r>
            <a:r>
              <a:rPr sz="1200" dirty="0">
                <a:latin typeface="Times New Roman"/>
                <a:cs typeface="Times New Roman"/>
              </a:rPr>
              <a:t>tasks</a:t>
            </a:r>
            <a:r>
              <a:rPr sz="1200" spc="-10" dirty="0">
                <a:latin typeface="Times New Roman"/>
                <a:cs typeface="Times New Roman"/>
              </a:rPr>
              <a:t> </a:t>
            </a:r>
            <a:r>
              <a:rPr sz="1200" dirty="0">
                <a:latin typeface="Wingdings"/>
                <a:cs typeface="Wingdings"/>
              </a:rPr>
              <a:t></a:t>
            </a:r>
            <a:r>
              <a:rPr sz="1200" spc="-5" dirty="0">
                <a:latin typeface="Times New Roman"/>
                <a:cs typeface="Times New Roman"/>
              </a:rPr>
              <a:t> </a:t>
            </a:r>
            <a:r>
              <a:rPr sz="1200" dirty="0">
                <a:latin typeface="Times New Roman"/>
                <a:cs typeface="Times New Roman"/>
              </a:rPr>
              <a:t>3</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(7-</a:t>
            </a:r>
            <a:r>
              <a:rPr sz="1200" dirty="0">
                <a:latin typeface="Times New Roman"/>
                <a:cs typeface="Times New Roman"/>
              </a:rPr>
              <a:t>1)</a:t>
            </a:r>
            <a:r>
              <a:rPr sz="1200" spc="-5"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9</a:t>
            </a:r>
            <a:r>
              <a:rPr sz="1200" spc="-10" dirty="0">
                <a:latin typeface="Times New Roman"/>
                <a:cs typeface="Times New Roman"/>
              </a:rPr>
              <a:t> </a:t>
            </a:r>
            <a:r>
              <a:rPr sz="1200" dirty="0">
                <a:latin typeface="Times New Roman"/>
                <a:cs typeface="Times New Roman"/>
              </a:rPr>
              <a:t>clock</a:t>
            </a:r>
            <a:r>
              <a:rPr sz="1200" spc="-5" dirty="0">
                <a:latin typeface="Times New Roman"/>
                <a:cs typeface="Times New Roman"/>
              </a:rPr>
              <a:t> </a:t>
            </a:r>
            <a:r>
              <a:rPr sz="1200" spc="-10" dirty="0">
                <a:latin typeface="Times New Roman"/>
                <a:cs typeface="Times New Roman"/>
              </a:rPr>
              <a:t>cycles</a:t>
            </a:r>
            <a:endParaRPr sz="120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700271" y="1932432"/>
            <a:ext cx="2645664" cy="2148839"/>
          </a:xfrm>
          <a:prstGeom prst="rect">
            <a:avLst/>
          </a:prstGeom>
        </p:spPr>
      </p:pic>
      <p:sp>
        <p:nvSpPr>
          <p:cNvPr id="3" name="object 3"/>
          <p:cNvSpPr txBox="1"/>
          <p:nvPr/>
        </p:nvSpPr>
        <p:spPr>
          <a:xfrm>
            <a:off x="712723" y="1118108"/>
            <a:ext cx="3231515" cy="314960"/>
          </a:xfrm>
          <a:prstGeom prst="rect">
            <a:avLst/>
          </a:prstGeom>
        </p:spPr>
        <p:txBody>
          <a:bodyPr vert="horz" wrap="square" lIns="0" tIns="12065" rIns="0" bIns="0" rtlCol="0">
            <a:spAutoFit/>
          </a:bodyPr>
          <a:lstStyle/>
          <a:p>
            <a:pPr marL="12700">
              <a:lnSpc>
                <a:spcPct val="100000"/>
              </a:lnSpc>
              <a:spcBef>
                <a:spcPts val="95"/>
              </a:spcBef>
            </a:pPr>
            <a:r>
              <a:rPr sz="1900" dirty="0">
                <a:latin typeface="Georgia"/>
                <a:cs typeface="Georgia"/>
              </a:rPr>
              <a:t>Arithmetic</a:t>
            </a:r>
            <a:r>
              <a:rPr sz="1900" spc="-100" dirty="0">
                <a:latin typeface="Georgia"/>
                <a:cs typeface="Georgia"/>
              </a:rPr>
              <a:t> </a:t>
            </a:r>
            <a:r>
              <a:rPr sz="1900" dirty="0">
                <a:latin typeface="Georgia"/>
                <a:cs typeface="Georgia"/>
              </a:rPr>
              <a:t>Pipeline</a:t>
            </a:r>
            <a:r>
              <a:rPr sz="1900" spc="-80" dirty="0">
                <a:latin typeface="Georgia"/>
                <a:cs typeface="Georgia"/>
              </a:rPr>
              <a:t> </a:t>
            </a:r>
            <a:r>
              <a:rPr sz="1900" spc="-10" dirty="0">
                <a:latin typeface="Georgia"/>
                <a:cs typeface="Georgia"/>
              </a:rPr>
              <a:t>Example2</a:t>
            </a:r>
            <a:endParaRPr sz="1900">
              <a:latin typeface="Georgia"/>
              <a:cs typeface="Georgia"/>
            </a:endParaRPr>
          </a:p>
        </p:txBody>
      </p:sp>
      <p:sp>
        <p:nvSpPr>
          <p:cNvPr id="4" name="object 4"/>
          <p:cNvSpPr txBox="1"/>
          <p:nvPr/>
        </p:nvSpPr>
        <p:spPr>
          <a:xfrm>
            <a:off x="721461" y="1543685"/>
            <a:ext cx="3383279" cy="2498725"/>
          </a:xfrm>
          <a:prstGeom prst="rect">
            <a:avLst/>
          </a:prstGeom>
        </p:spPr>
        <p:txBody>
          <a:bodyPr vert="horz" wrap="square" lIns="0" tIns="12700" rIns="0" bIns="0" rtlCol="0">
            <a:spAutoFit/>
          </a:bodyPr>
          <a:lstStyle/>
          <a:p>
            <a:pPr marL="207645" marR="30480" indent="-169545">
              <a:lnSpc>
                <a:spcPct val="141800"/>
              </a:lnSpc>
              <a:spcBef>
                <a:spcPts val="100"/>
              </a:spcBef>
              <a:buClr>
                <a:srgbClr val="3E762B"/>
              </a:buClr>
              <a:buFont typeface="Wingdings"/>
              <a:buChar char=""/>
              <a:tabLst>
                <a:tab pos="495300" algn="l"/>
              </a:tabLst>
            </a:pPr>
            <a:r>
              <a:rPr sz="1200" dirty="0">
                <a:latin typeface="Times New Roman"/>
                <a:cs typeface="Times New Roman"/>
              </a:rPr>
              <a:t>Pipeline</a:t>
            </a:r>
            <a:r>
              <a:rPr sz="1200" spc="-3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spc="-10" dirty="0">
                <a:latin typeface="Times New Roman"/>
                <a:cs typeface="Times New Roman"/>
              </a:rPr>
              <a:t>floating-</a:t>
            </a:r>
            <a:r>
              <a:rPr sz="1200" dirty="0">
                <a:latin typeface="Times New Roman"/>
                <a:cs typeface="Times New Roman"/>
              </a:rPr>
              <a:t>point</a:t>
            </a:r>
            <a:r>
              <a:rPr sz="1200" spc="-20" dirty="0">
                <a:latin typeface="Times New Roman"/>
                <a:cs typeface="Times New Roman"/>
              </a:rPr>
              <a:t> </a:t>
            </a:r>
            <a:r>
              <a:rPr sz="1200" dirty="0">
                <a:latin typeface="Times New Roman"/>
                <a:cs typeface="Times New Roman"/>
              </a:rPr>
              <a:t>addition</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subtraction. 	</a:t>
            </a:r>
            <a:r>
              <a:rPr sz="1200" dirty="0">
                <a:latin typeface="Times New Roman"/>
                <a:cs typeface="Times New Roman"/>
              </a:rPr>
              <a:t>X</a:t>
            </a:r>
            <a:r>
              <a:rPr sz="1200" spc="-10" dirty="0">
                <a:latin typeface="Times New Roman"/>
                <a:cs typeface="Times New Roman"/>
              </a:rPr>
              <a:t> </a:t>
            </a:r>
            <a:r>
              <a:rPr sz="1200" dirty="0">
                <a:latin typeface="Times New Roman"/>
                <a:cs typeface="Times New Roman"/>
              </a:rPr>
              <a:t>=</a:t>
            </a:r>
            <a:r>
              <a:rPr sz="1200" spc="-70" dirty="0">
                <a:latin typeface="Times New Roman"/>
                <a:cs typeface="Times New Roman"/>
              </a:rPr>
              <a:t> </a:t>
            </a:r>
            <a:r>
              <a:rPr sz="1200" dirty="0">
                <a:latin typeface="Times New Roman"/>
                <a:cs typeface="Times New Roman"/>
              </a:rPr>
              <a:t>A</a:t>
            </a:r>
            <a:r>
              <a:rPr sz="1200" spc="-65" dirty="0">
                <a:latin typeface="Times New Roman"/>
                <a:cs typeface="Times New Roman"/>
              </a:rPr>
              <a:t> </a:t>
            </a:r>
            <a:r>
              <a:rPr sz="1200" dirty="0">
                <a:latin typeface="Times New Roman"/>
                <a:cs typeface="Times New Roman"/>
              </a:rPr>
              <a:t>* </a:t>
            </a:r>
            <a:r>
              <a:rPr sz="1200" spc="-25" dirty="0">
                <a:latin typeface="Times New Roman"/>
                <a:cs typeface="Times New Roman"/>
              </a:rPr>
              <a:t>2</a:t>
            </a:r>
            <a:r>
              <a:rPr sz="1350" spc="-37" baseline="24691" dirty="0">
                <a:latin typeface="Times New Roman"/>
                <a:cs typeface="Times New Roman"/>
              </a:rPr>
              <a:t>a</a:t>
            </a:r>
            <a:endParaRPr sz="1350" baseline="24691" dirty="0">
              <a:latin typeface="Times New Roman"/>
              <a:cs typeface="Times New Roman"/>
            </a:endParaRPr>
          </a:p>
          <a:p>
            <a:pPr marL="495300">
              <a:lnSpc>
                <a:spcPct val="100000"/>
              </a:lnSpc>
              <a:spcBef>
                <a:spcPts val="600"/>
              </a:spcBef>
            </a:pPr>
            <a:r>
              <a:rPr sz="1200" dirty="0">
                <a:latin typeface="Times New Roman"/>
                <a:cs typeface="Times New Roman"/>
              </a:rPr>
              <a:t>Y</a:t>
            </a:r>
            <a:r>
              <a:rPr sz="1200" spc="-40"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B * </a:t>
            </a:r>
            <a:r>
              <a:rPr sz="1200" spc="-25" dirty="0">
                <a:latin typeface="Times New Roman"/>
                <a:cs typeface="Times New Roman"/>
              </a:rPr>
              <a:t>2</a:t>
            </a:r>
            <a:r>
              <a:rPr sz="1350" spc="-37" baseline="24691" dirty="0">
                <a:latin typeface="Times New Roman"/>
                <a:cs typeface="Times New Roman"/>
              </a:rPr>
              <a:t>b</a:t>
            </a:r>
            <a:endParaRPr sz="1350" baseline="24691" dirty="0">
              <a:latin typeface="Times New Roman"/>
              <a:cs typeface="Times New Roman"/>
            </a:endParaRPr>
          </a:p>
          <a:p>
            <a:pPr marL="207645" indent="-169545">
              <a:lnSpc>
                <a:spcPct val="100000"/>
              </a:lnSpc>
              <a:spcBef>
                <a:spcPts val="600"/>
              </a:spcBef>
              <a:buFont typeface="Wingdings"/>
              <a:buChar char=""/>
              <a:tabLst>
                <a:tab pos="207645" algn="l"/>
              </a:tabLst>
            </a:pPr>
            <a:r>
              <a:rPr sz="1200" b="1" spc="-20" dirty="0">
                <a:solidFill>
                  <a:srgbClr val="3E762B"/>
                </a:solidFill>
                <a:latin typeface="Times New Roman"/>
                <a:cs typeface="Times New Roman"/>
              </a:rPr>
              <a:t>i.e.</a:t>
            </a:r>
            <a:endParaRPr sz="1200" dirty="0">
              <a:latin typeface="Times New Roman"/>
              <a:cs typeface="Times New Roman"/>
            </a:endParaRPr>
          </a:p>
          <a:p>
            <a:pPr marL="495300">
              <a:lnSpc>
                <a:spcPct val="100000"/>
              </a:lnSpc>
              <a:spcBef>
                <a:spcPts val="590"/>
              </a:spcBef>
            </a:pPr>
            <a:r>
              <a:rPr sz="1200" dirty="0">
                <a:latin typeface="Times New Roman"/>
                <a:cs typeface="Times New Roman"/>
              </a:rPr>
              <a:t>X</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100010</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2</a:t>
            </a:r>
            <a:r>
              <a:rPr sz="1350" baseline="24691" dirty="0">
                <a:latin typeface="Times New Roman"/>
                <a:cs typeface="Times New Roman"/>
              </a:rPr>
              <a:t>101</a:t>
            </a:r>
            <a:r>
              <a:rPr sz="1350" spc="187" baseline="24691" dirty="0">
                <a:latin typeface="Times New Roman"/>
                <a:cs typeface="Times New Roman"/>
              </a:rPr>
              <a:t> </a:t>
            </a:r>
            <a:r>
              <a:rPr sz="1400" dirty="0">
                <a:latin typeface="Times New Roman"/>
                <a:cs typeface="Times New Roman"/>
              </a:rPr>
              <a:t>, </a:t>
            </a:r>
            <a:r>
              <a:rPr sz="1200" dirty="0">
                <a:latin typeface="Times New Roman"/>
                <a:cs typeface="Times New Roman"/>
              </a:rPr>
              <a:t>Y</a:t>
            </a:r>
            <a:r>
              <a:rPr sz="1200" spc="-35" dirty="0">
                <a:latin typeface="Times New Roman"/>
                <a:cs typeface="Times New Roman"/>
              </a:rPr>
              <a:t> </a:t>
            </a:r>
            <a:r>
              <a:rPr sz="1200" dirty="0">
                <a:latin typeface="Times New Roman"/>
                <a:cs typeface="Times New Roman"/>
              </a:rPr>
              <a:t>= 10100</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spc="-20" dirty="0">
                <a:latin typeface="Times New Roman"/>
                <a:cs typeface="Times New Roman"/>
              </a:rPr>
              <a:t>2</a:t>
            </a:r>
            <a:r>
              <a:rPr sz="1350" spc="-30" baseline="24691" dirty="0">
                <a:latin typeface="Times New Roman"/>
                <a:cs typeface="Times New Roman"/>
              </a:rPr>
              <a:t>111</a:t>
            </a:r>
            <a:endParaRPr sz="1350" baseline="24691" dirty="0">
              <a:latin typeface="Times New Roman"/>
              <a:cs typeface="Times New Roman"/>
            </a:endParaRPr>
          </a:p>
          <a:p>
            <a:pPr marL="495300">
              <a:lnSpc>
                <a:spcPct val="100000"/>
              </a:lnSpc>
              <a:spcBef>
                <a:spcPts val="600"/>
              </a:spcBef>
            </a:pPr>
            <a:r>
              <a:rPr sz="1200" dirty="0">
                <a:latin typeface="Times New Roman"/>
                <a:cs typeface="Times New Roman"/>
              </a:rPr>
              <a:t>X</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100010</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2</a:t>
            </a:r>
            <a:r>
              <a:rPr sz="1350" baseline="24691" dirty="0">
                <a:latin typeface="Times New Roman"/>
                <a:cs typeface="Times New Roman"/>
              </a:rPr>
              <a:t>101</a:t>
            </a:r>
            <a:r>
              <a:rPr sz="1350" spc="187" baseline="24691" dirty="0">
                <a:latin typeface="Times New Roman"/>
                <a:cs typeface="Times New Roman"/>
              </a:rPr>
              <a:t> </a:t>
            </a:r>
            <a:r>
              <a:rPr sz="1400" dirty="0">
                <a:latin typeface="Times New Roman"/>
                <a:cs typeface="Times New Roman"/>
              </a:rPr>
              <a:t>, </a:t>
            </a:r>
            <a:r>
              <a:rPr sz="1200" dirty="0">
                <a:latin typeface="Times New Roman"/>
                <a:cs typeface="Times New Roman"/>
              </a:rPr>
              <a:t>Y</a:t>
            </a:r>
            <a:r>
              <a:rPr sz="1200" spc="-35" dirty="0">
                <a:latin typeface="Times New Roman"/>
                <a:cs typeface="Times New Roman"/>
              </a:rPr>
              <a:t> </a:t>
            </a:r>
            <a:r>
              <a:rPr sz="1200" dirty="0">
                <a:latin typeface="Times New Roman"/>
                <a:cs typeface="Times New Roman"/>
              </a:rPr>
              <a:t>= 1010000</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spc="-20" dirty="0">
                <a:latin typeface="Times New Roman"/>
                <a:cs typeface="Times New Roman"/>
              </a:rPr>
              <a:t>2</a:t>
            </a:r>
            <a:r>
              <a:rPr sz="1350" spc="-30" baseline="24691" dirty="0">
                <a:latin typeface="Times New Roman"/>
                <a:cs typeface="Times New Roman"/>
              </a:rPr>
              <a:t>101</a:t>
            </a:r>
            <a:endParaRPr sz="1350" baseline="24691" dirty="0">
              <a:latin typeface="Times New Roman"/>
              <a:cs typeface="Times New Roman"/>
            </a:endParaRPr>
          </a:p>
          <a:p>
            <a:pPr marL="2057400">
              <a:lnSpc>
                <a:spcPct val="100000"/>
              </a:lnSpc>
              <a:spcBef>
                <a:spcPts val="610"/>
              </a:spcBef>
            </a:pPr>
            <a:r>
              <a:rPr sz="1200" spc="-10" dirty="0">
                <a:latin typeface="Times New Roman"/>
                <a:cs typeface="Times New Roman"/>
              </a:rPr>
              <a:t>shifting</a:t>
            </a:r>
            <a:endParaRPr sz="1200" dirty="0">
              <a:latin typeface="Times New Roman"/>
              <a:cs typeface="Times New Roman"/>
            </a:endParaRPr>
          </a:p>
          <a:p>
            <a:pPr marL="495300">
              <a:lnSpc>
                <a:spcPct val="100000"/>
              </a:lnSpc>
              <a:spcBef>
                <a:spcPts val="790"/>
              </a:spcBef>
            </a:pPr>
            <a:r>
              <a:rPr sz="1200" dirty="0">
                <a:latin typeface="Times New Roman"/>
                <a:cs typeface="Times New Roman"/>
              </a:rPr>
              <a:t>X</a:t>
            </a:r>
            <a:r>
              <a:rPr sz="1200" spc="-25" dirty="0">
                <a:latin typeface="Times New Roman"/>
                <a:cs typeface="Times New Roman"/>
              </a:rPr>
              <a:t> </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Y</a:t>
            </a:r>
            <a:r>
              <a:rPr sz="1200" spc="-4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spc="-10" dirty="0">
                <a:latin typeface="Times New Roman"/>
                <a:cs typeface="Times New Roman"/>
              </a:rPr>
              <a:t>1110010 </a:t>
            </a:r>
            <a:r>
              <a:rPr sz="1200" dirty="0">
                <a:latin typeface="Times New Roman"/>
                <a:cs typeface="Times New Roman"/>
              </a:rPr>
              <a:t>*</a:t>
            </a:r>
            <a:r>
              <a:rPr sz="1200" spc="-10" dirty="0">
                <a:latin typeface="Times New Roman"/>
                <a:cs typeface="Times New Roman"/>
              </a:rPr>
              <a:t> </a:t>
            </a:r>
            <a:r>
              <a:rPr sz="1200" spc="-20" dirty="0">
                <a:latin typeface="Times New Roman"/>
                <a:cs typeface="Times New Roman"/>
              </a:rPr>
              <a:t>2</a:t>
            </a:r>
            <a:r>
              <a:rPr sz="1350" spc="-30" baseline="24691" dirty="0">
                <a:latin typeface="Times New Roman"/>
                <a:cs typeface="Times New Roman"/>
              </a:rPr>
              <a:t>101</a:t>
            </a:r>
            <a:endParaRPr sz="1350" baseline="24691" dirty="0">
              <a:latin typeface="Times New Roman"/>
              <a:cs typeface="Times New Roman"/>
            </a:endParaRPr>
          </a:p>
          <a:p>
            <a:pPr marL="495300">
              <a:lnSpc>
                <a:spcPct val="100000"/>
              </a:lnSpc>
              <a:spcBef>
                <a:spcPts val="1035"/>
              </a:spcBef>
            </a:pPr>
            <a:r>
              <a:rPr sz="1200" dirty="0">
                <a:latin typeface="Times New Roman"/>
                <a:cs typeface="Times New Roman"/>
              </a:rPr>
              <a:t>X</a:t>
            </a:r>
            <a:r>
              <a:rPr sz="1200" spc="-20" dirty="0">
                <a:latin typeface="Times New Roman"/>
                <a:cs typeface="Times New Roman"/>
              </a:rPr>
              <a:t> </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Y</a:t>
            </a:r>
            <a:r>
              <a:rPr sz="1200" spc="-4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spc="-10" dirty="0">
                <a:latin typeface="Times New Roman"/>
                <a:cs typeface="Times New Roman"/>
              </a:rPr>
              <a:t>111001</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spc="-20" dirty="0">
                <a:latin typeface="Times New Roman"/>
                <a:cs typeface="Times New Roman"/>
              </a:rPr>
              <a:t>2</a:t>
            </a:r>
            <a:r>
              <a:rPr sz="1350" spc="-30" baseline="24691" dirty="0">
                <a:latin typeface="Times New Roman"/>
                <a:cs typeface="Times New Roman"/>
              </a:rPr>
              <a:t>110</a:t>
            </a:r>
            <a:endParaRPr sz="1350" baseline="24691" dirty="0">
              <a:latin typeface="Times New Roman"/>
              <a:cs typeface="Times New Roman"/>
            </a:endParaRPr>
          </a:p>
        </p:txBody>
      </p:sp>
      <p:grpSp>
        <p:nvGrpSpPr>
          <p:cNvPr id="5" name="object 5"/>
          <p:cNvGrpSpPr/>
          <p:nvPr/>
        </p:nvGrpSpPr>
        <p:grpSpPr>
          <a:xfrm>
            <a:off x="2769107" y="2735833"/>
            <a:ext cx="2600960" cy="1240155"/>
            <a:chOff x="2769107" y="2735833"/>
            <a:chExt cx="2600960" cy="1240155"/>
          </a:xfrm>
        </p:grpSpPr>
        <p:sp>
          <p:nvSpPr>
            <p:cNvPr id="6" name="object 6"/>
            <p:cNvSpPr/>
            <p:nvPr/>
          </p:nvSpPr>
          <p:spPr>
            <a:xfrm>
              <a:off x="2771393" y="3152393"/>
              <a:ext cx="502920" cy="91440"/>
            </a:xfrm>
            <a:custGeom>
              <a:avLst/>
              <a:gdLst/>
              <a:ahLst/>
              <a:cxnLst/>
              <a:rect l="l" t="t" r="r" b="b"/>
              <a:pathLst>
                <a:path w="502920" h="91439">
                  <a:moveTo>
                    <a:pt x="502919" y="0"/>
                  </a:moveTo>
                  <a:lnTo>
                    <a:pt x="502318" y="17805"/>
                  </a:lnTo>
                  <a:lnTo>
                    <a:pt x="500681" y="32337"/>
                  </a:lnTo>
                  <a:lnTo>
                    <a:pt x="498258" y="42130"/>
                  </a:lnTo>
                  <a:lnTo>
                    <a:pt x="495300" y="45719"/>
                  </a:lnTo>
                  <a:lnTo>
                    <a:pt x="259080" y="45719"/>
                  </a:lnTo>
                  <a:lnTo>
                    <a:pt x="256121" y="49309"/>
                  </a:lnTo>
                  <a:lnTo>
                    <a:pt x="253698" y="59102"/>
                  </a:lnTo>
                  <a:lnTo>
                    <a:pt x="252061" y="73634"/>
                  </a:lnTo>
                  <a:lnTo>
                    <a:pt x="251460" y="91439"/>
                  </a:lnTo>
                  <a:lnTo>
                    <a:pt x="250858" y="73634"/>
                  </a:lnTo>
                  <a:lnTo>
                    <a:pt x="249221" y="59102"/>
                  </a:lnTo>
                  <a:lnTo>
                    <a:pt x="246798" y="49309"/>
                  </a:lnTo>
                  <a:lnTo>
                    <a:pt x="243839" y="45719"/>
                  </a:lnTo>
                  <a:lnTo>
                    <a:pt x="7619" y="45719"/>
                  </a:lnTo>
                  <a:lnTo>
                    <a:pt x="4661" y="42130"/>
                  </a:lnTo>
                  <a:lnTo>
                    <a:pt x="2238" y="32337"/>
                  </a:lnTo>
                  <a:lnTo>
                    <a:pt x="601" y="17805"/>
                  </a:lnTo>
                  <a:lnTo>
                    <a:pt x="0" y="0"/>
                  </a:lnTo>
                </a:path>
              </a:pathLst>
            </a:custGeom>
            <a:ln w="4572">
              <a:solidFill>
                <a:srgbClr val="539E39"/>
              </a:solidFill>
            </a:ln>
          </p:spPr>
          <p:txBody>
            <a:bodyPr wrap="square" lIns="0" tIns="0" rIns="0" bIns="0" rtlCol="0"/>
            <a:lstStyle/>
            <a:p>
              <a:endParaRPr/>
            </a:p>
          </p:txBody>
        </p:sp>
        <p:sp>
          <p:nvSpPr>
            <p:cNvPr id="7" name="object 7"/>
            <p:cNvSpPr/>
            <p:nvPr/>
          </p:nvSpPr>
          <p:spPr>
            <a:xfrm>
              <a:off x="2944749" y="2735833"/>
              <a:ext cx="2425065" cy="1240155"/>
            </a:xfrm>
            <a:custGeom>
              <a:avLst/>
              <a:gdLst/>
              <a:ahLst/>
              <a:cxnLst/>
              <a:rect l="l" t="t" r="r" b="b"/>
              <a:pathLst>
                <a:path w="2425065" h="1240154">
                  <a:moveTo>
                    <a:pt x="2387638" y="566508"/>
                  </a:moveTo>
                  <a:lnTo>
                    <a:pt x="2386774" y="560158"/>
                  </a:lnTo>
                  <a:lnTo>
                    <a:pt x="0" y="880745"/>
                  </a:lnTo>
                  <a:lnTo>
                    <a:pt x="762" y="886968"/>
                  </a:lnTo>
                  <a:lnTo>
                    <a:pt x="2387638" y="566508"/>
                  </a:lnTo>
                  <a:close/>
                </a:path>
                <a:path w="2425065" h="1240154">
                  <a:moveTo>
                    <a:pt x="2424430" y="11176"/>
                  </a:moveTo>
                  <a:lnTo>
                    <a:pt x="2383282" y="0"/>
                  </a:lnTo>
                  <a:lnTo>
                    <a:pt x="2386406" y="15595"/>
                  </a:lnTo>
                  <a:lnTo>
                    <a:pt x="664210" y="361315"/>
                  </a:lnTo>
                  <a:lnTo>
                    <a:pt x="665480" y="367538"/>
                  </a:lnTo>
                  <a:lnTo>
                    <a:pt x="2387650" y="21818"/>
                  </a:lnTo>
                  <a:lnTo>
                    <a:pt x="2390775" y="37338"/>
                  </a:lnTo>
                  <a:lnTo>
                    <a:pt x="2420340" y="14351"/>
                  </a:lnTo>
                  <a:lnTo>
                    <a:pt x="2424430" y="11176"/>
                  </a:lnTo>
                  <a:close/>
                </a:path>
                <a:path w="2425065" h="1240154">
                  <a:moveTo>
                    <a:pt x="2424938" y="1084072"/>
                  </a:moveTo>
                  <a:lnTo>
                    <a:pt x="2422220" y="1082929"/>
                  </a:lnTo>
                  <a:lnTo>
                    <a:pt x="2385695" y="1067562"/>
                  </a:lnTo>
                  <a:lnTo>
                    <a:pt x="2386660" y="1082929"/>
                  </a:lnTo>
                  <a:lnTo>
                    <a:pt x="2386685" y="1083348"/>
                  </a:lnTo>
                  <a:lnTo>
                    <a:pt x="76327" y="1233297"/>
                  </a:lnTo>
                  <a:lnTo>
                    <a:pt x="76835" y="1239647"/>
                  </a:lnTo>
                  <a:lnTo>
                    <a:pt x="2387092" y="1089698"/>
                  </a:lnTo>
                  <a:lnTo>
                    <a:pt x="2386990" y="1088237"/>
                  </a:lnTo>
                  <a:lnTo>
                    <a:pt x="2387066" y="1089279"/>
                  </a:lnTo>
                  <a:lnTo>
                    <a:pt x="2387092" y="1089698"/>
                  </a:lnTo>
                  <a:lnTo>
                    <a:pt x="2388108" y="1105535"/>
                  </a:lnTo>
                  <a:lnTo>
                    <a:pt x="2424938" y="1084072"/>
                  </a:lnTo>
                  <a:close/>
                </a:path>
                <a:path w="2425065" h="1240154">
                  <a:moveTo>
                    <a:pt x="2424938" y="558292"/>
                  </a:moveTo>
                  <a:lnTo>
                    <a:pt x="2384679" y="544449"/>
                  </a:lnTo>
                  <a:lnTo>
                    <a:pt x="2386673" y="559308"/>
                  </a:lnTo>
                  <a:lnTo>
                    <a:pt x="2386774" y="560158"/>
                  </a:lnTo>
                  <a:lnTo>
                    <a:pt x="2387523" y="565658"/>
                  </a:lnTo>
                  <a:lnTo>
                    <a:pt x="2387638" y="566508"/>
                  </a:lnTo>
                  <a:lnTo>
                    <a:pt x="2389759" y="582295"/>
                  </a:lnTo>
                  <a:lnTo>
                    <a:pt x="2423439" y="559308"/>
                  </a:lnTo>
                  <a:lnTo>
                    <a:pt x="2424938" y="558292"/>
                  </a:lnTo>
                  <a:close/>
                </a:path>
              </a:pathLst>
            </a:custGeom>
            <a:solidFill>
              <a:srgbClr val="539E39"/>
            </a:solidFill>
          </p:spPr>
          <p:txBody>
            <a:bodyPr wrap="square" lIns="0" tIns="0" rIns="0" bIns="0" rtlCol="0"/>
            <a:lstStyle/>
            <a:p>
              <a:endParaRPr/>
            </a:p>
          </p:txBody>
        </p:sp>
      </p:grpSp>
      <p:grpSp>
        <p:nvGrpSpPr>
          <p:cNvPr id="8" name="object 8"/>
          <p:cNvGrpSpPr/>
          <p:nvPr/>
        </p:nvGrpSpPr>
        <p:grpSpPr>
          <a:xfrm>
            <a:off x="381000" y="4844796"/>
            <a:ext cx="6096000" cy="3429000"/>
            <a:chOff x="381000" y="4844796"/>
            <a:chExt cx="6096000" cy="3429000"/>
          </a:xfrm>
        </p:grpSpPr>
        <p:sp>
          <p:nvSpPr>
            <p:cNvPr id="9" name="object 9"/>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0" name="object 10"/>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11" name="object 11"/>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12" name="object 12"/>
            <p:cNvPicPr/>
            <p:nvPr/>
          </p:nvPicPr>
          <p:blipFill>
            <a:blip r:embed="rId3" cstate="print"/>
            <a:stretch>
              <a:fillRect/>
            </a:stretch>
          </p:blipFill>
          <p:spPr>
            <a:xfrm>
              <a:off x="3700271" y="5908548"/>
              <a:ext cx="2645664" cy="2148840"/>
            </a:xfrm>
            <a:prstGeom prst="rect">
              <a:avLst/>
            </a:prstGeom>
          </p:spPr>
        </p:pic>
      </p:grpSp>
      <p:sp>
        <p:nvSpPr>
          <p:cNvPr id="13" name="object 13"/>
          <p:cNvSpPr txBox="1"/>
          <p:nvPr/>
        </p:nvSpPr>
        <p:spPr>
          <a:xfrm>
            <a:off x="700023" y="5094859"/>
            <a:ext cx="3404235" cy="969644"/>
          </a:xfrm>
          <a:prstGeom prst="rect">
            <a:avLst/>
          </a:prstGeom>
        </p:spPr>
        <p:txBody>
          <a:bodyPr vert="horz" wrap="square" lIns="0" tIns="12065" rIns="0" bIns="0" rtlCol="0">
            <a:spAutoFit/>
          </a:bodyPr>
          <a:lstStyle/>
          <a:p>
            <a:pPr marL="25400">
              <a:lnSpc>
                <a:spcPct val="100000"/>
              </a:lnSpc>
              <a:spcBef>
                <a:spcPts val="95"/>
              </a:spcBef>
            </a:pPr>
            <a:r>
              <a:rPr sz="1900" dirty="0">
                <a:latin typeface="Georgia"/>
                <a:cs typeface="Georgia"/>
              </a:rPr>
              <a:t>Arithmetic</a:t>
            </a:r>
            <a:r>
              <a:rPr sz="1900" spc="-100" dirty="0">
                <a:latin typeface="Georgia"/>
                <a:cs typeface="Georgia"/>
              </a:rPr>
              <a:t> </a:t>
            </a:r>
            <a:r>
              <a:rPr sz="1900" dirty="0">
                <a:latin typeface="Georgia"/>
                <a:cs typeface="Georgia"/>
              </a:rPr>
              <a:t>Pipeline</a:t>
            </a:r>
            <a:r>
              <a:rPr sz="1900" spc="-80" dirty="0">
                <a:latin typeface="Georgia"/>
                <a:cs typeface="Georgia"/>
              </a:rPr>
              <a:t> </a:t>
            </a:r>
            <a:r>
              <a:rPr sz="1900" spc="-10" dirty="0">
                <a:latin typeface="Georgia"/>
                <a:cs typeface="Georgia"/>
              </a:rPr>
              <a:t>Example2</a:t>
            </a:r>
            <a:endParaRPr sz="1900">
              <a:latin typeface="Georgia"/>
              <a:cs typeface="Georgia"/>
            </a:endParaRPr>
          </a:p>
          <a:p>
            <a:pPr marL="228600" marR="30480" indent="-169545">
              <a:lnSpc>
                <a:spcPct val="141700"/>
              </a:lnSpc>
              <a:spcBef>
                <a:spcPts val="1080"/>
              </a:spcBef>
              <a:buClr>
                <a:srgbClr val="3E762B"/>
              </a:buClr>
              <a:buFont typeface="Wingdings"/>
              <a:buChar char=""/>
              <a:tabLst>
                <a:tab pos="516255" algn="l"/>
              </a:tabLst>
            </a:pPr>
            <a:r>
              <a:rPr sz="1200" dirty="0">
                <a:latin typeface="Times New Roman"/>
                <a:cs typeface="Times New Roman"/>
              </a:rPr>
              <a:t>Pipeline</a:t>
            </a:r>
            <a:r>
              <a:rPr sz="1200" spc="-3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spc="-10" dirty="0">
                <a:latin typeface="Times New Roman"/>
                <a:cs typeface="Times New Roman"/>
              </a:rPr>
              <a:t>floating-</a:t>
            </a:r>
            <a:r>
              <a:rPr sz="1200" dirty="0">
                <a:latin typeface="Times New Roman"/>
                <a:cs typeface="Times New Roman"/>
              </a:rPr>
              <a:t>point</a:t>
            </a:r>
            <a:r>
              <a:rPr sz="1200" spc="-20" dirty="0">
                <a:latin typeface="Times New Roman"/>
                <a:cs typeface="Times New Roman"/>
              </a:rPr>
              <a:t> </a:t>
            </a:r>
            <a:r>
              <a:rPr sz="1200" dirty="0">
                <a:latin typeface="Times New Roman"/>
                <a:cs typeface="Times New Roman"/>
              </a:rPr>
              <a:t>addition</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subtraction. 	</a:t>
            </a:r>
            <a:r>
              <a:rPr sz="1200" dirty="0">
                <a:latin typeface="Times New Roman"/>
                <a:cs typeface="Times New Roman"/>
              </a:rPr>
              <a:t>X</a:t>
            </a:r>
            <a:r>
              <a:rPr sz="1200" spc="-10" dirty="0">
                <a:latin typeface="Times New Roman"/>
                <a:cs typeface="Times New Roman"/>
              </a:rPr>
              <a:t> </a:t>
            </a:r>
            <a:r>
              <a:rPr sz="1200" dirty="0">
                <a:latin typeface="Times New Roman"/>
                <a:cs typeface="Times New Roman"/>
              </a:rPr>
              <a:t>=</a:t>
            </a:r>
            <a:r>
              <a:rPr sz="1200" spc="-70" dirty="0">
                <a:latin typeface="Times New Roman"/>
                <a:cs typeface="Times New Roman"/>
              </a:rPr>
              <a:t> </a:t>
            </a:r>
            <a:r>
              <a:rPr sz="1200" dirty="0">
                <a:latin typeface="Times New Roman"/>
                <a:cs typeface="Times New Roman"/>
              </a:rPr>
              <a:t>A</a:t>
            </a:r>
            <a:r>
              <a:rPr sz="1200" spc="-65" dirty="0">
                <a:latin typeface="Times New Roman"/>
                <a:cs typeface="Times New Roman"/>
              </a:rPr>
              <a:t> </a:t>
            </a:r>
            <a:r>
              <a:rPr sz="1200" dirty="0">
                <a:latin typeface="Times New Roman"/>
                <a:cs typeface="Times New Roman"/>
              </a:rPr>
              <a:t>* </a:t>
            </a:r>
            <a:r>
              <a:rPr sz="1200" spc="-25" dirty="0">
                <a:latin typeface="Times New Roman"/>
                <a:cs typeface="Times New Roman"/>
              </a:rPr>
              <a:t>2</a:t>
            </a:r>
            <a:r>
              <a:rPr sz="1350" spc="-37" baseline="24691" dirty="0">
                <a:latin typeface="Times New Roman"/>
                <a:cs typeface="Times New Roman"/>
              </a:rPr>
              <a:t>a</a:t>
            </a:r>
            <a:endParaRPr sz="1350" baseline="24691">
              <a:latin typeface="Times New Roman"/>
              <a:cs typeface="Times New Roman"/>
            </a:endParaRPr>
          </a:p>
        </p:txBody>
      </p:sp>
      <p:sp>
        <p:nvSpPr>
          <p:cNvPr id="14" name="object 14"/>
          <p:cNvSpPr txBox="1"/>
          <p:nvPr/>
        </p:nvSpPr>
        <p:spPr>
          <a:xfrm>
            <a:off x="1191361" y="6115304"/>
            <a:ext cx="720725" cy="208279"/>
          </a:xfrm>
          <a:prstGeom prst="rect">
            <a:avLst/>
          </a:prstGeom>
        </p:spPr>
        <p:txBody>
          <a:bodyPr vert="horz" wrap="square" lIns="0" tIns="12700" rIns="0" bIns="0" rtlCol="0">
            <a:spAutoFit/>
          </a:bodyPr>
          <a:lstStyle/>
          <a:p>
            <a:pPr marL="25400">
              <a:lnSpc>
                <a:spcPct val="100000"/>
              </a:lnSpc>
              <a:spcBef>
                <a:spcPts val="100"/>
              </a:spcBef>
            </a:pPr>
            <a:r>
              <a:rPr sz="1200" dirty="0">
                <a:latin typeface="Times New Roman"/>
                <a:cs typeface="Times New Roman"/>
              </a:rPr>
              <a:t>Y</a:t>
            </a:r>
            <a:r>
              <a:rPr sz="1200" spc="-40"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B * </a:t>
            </a:r>
            <a:r>
              <a:rPr sz="1200" spc="-25" dirty="0">
                <a:latin typeface="Times New Roman"/>
                <a:cs typeface="Times New Roman"/>
              </a:rPr>
              <a:t>2</a:t>
            </a:r>
            <a:r>
              <a:rPr sz="1350" spc="-37" baseline="24691" dirty="0">
                <a:latin typeface="Times New Roman"/>
                <a:cs typeface="Times New Roman"/>
              </a:rPr>
              <a:t>b</a:t>
            </a:r>
            <a:endParaRPr sz="1350" baseline="24691">
              <a:latin typeface="Times New Roman"/>
              <a:cs typeface="Times New Roman"/>
            </a:endParaRPr>
          </a:p>
        </p:txBody>
      </p:sp>
      <p:sp>
        <p:nvSpPr>
          <p:cNvPr id="15" name="object 15"/>
          <p:cNvSpPr txBox="1"/>
          <p:nvPr/>
        </p:nvSpPr>
        <p:spPr>
          <a:xfrm>
            <a:off x="759561" y="6851395"/>
            <a:ext cx="1219835" cy="208279"/>
          </a:xfrm>
          <a:prstGeom prst="rect">
            <a:avLst/>
          </a:prstGeom>
        </p:spPr>
        <p:txBody>
          <a:bodyPr vert="horz" wrap="square" lIns="0" tIns="12700" rIns="0" bIns="0" rtlCol="0">
            <a:spAutoFit/>
          </a:bodyPr>
          <a:lstStyle/>
          <a:p>
            <a:pPr>
              <a:lnSpc>
                <a:spcPct val="100000"/>
              </a:lnSpc>
              <a:spcBef>
                <a:spcPts val="100"/>
              </a:spcBef>
            </a:pPr>
            <a:r>
              <a:rPr sz="1200" dirty="0">
                <a:latin typeface="Times New Roman"/>
                <a:cs typeface="Times New Roman"/>
              </a:rPr>
              <a:t>Min.</a:t>
            </a:r>
            <a:r>
              <a:rPr sz="1200" spc="-10" dirty="0">
                <a:latin typeface="Times New Roman"/>
                <a:cs typeface="Times New Roman"/>
              </a:rPr>
              <a:t> </a:t>
            </a:r>
            <a:r>
              <a:rPr sz="1200" dirty="0">
                <a:latin typeface="Times New Roman"/>
                <a:cs typeface="Times New Roman"/>
              </a:rPr>
              <a:t>period</a:t>
            </a:r>
            <a:r>
              <a:rPr sz="1200" spc="-10" dirty="0">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62</a:t>
            </a:r>
            <a:r>
              <a:rPr sz="1200" spc="-10" dirty="0">
                <a:latin typeface="Times New Roman"/>
                <a:cs typeface="Times New Roman"/>
              </a:rPr>
              <a:t> </a:t>
            </a:r>
            <a:r>
              <a:rPr sz="1200" spc="-25" dirty="0">
                <a:latin typeface="Times New Roman"/>
                <a:cs typeface="Times New Roman"/>
              </a:rPr>
              <a:t>ns</a:t>
            </a:r>
            <a:endParaRPr sz="1200">
              <a:latin typeface="Times New Roman"/>
              <a:cs typeface="Times New Roman"/>
            </a:endParaRPr>
          </a:p>
        </p:txBody>
      </p:sp>
      <p:sp>
        <p:nvSpPr>
          <p:cNvPr id="16" name="object 16"/>
          <p:cNvSpPr txBox="1"/>
          <p:nvPr/>
        </p:nvSpPr>
        <p:spPr>
          <a:xfrm>
            <a:off x="3559809" y="6213728"/>
            <a:ext cx="290830" cy="177800"/>
          </a:xfrm>
          <a:prstGeom prst="rect">
            <a:avLst/>
          </a:prstGeom>
        </p:spPr>
        <p:txBody>
          <a:bodyPr vert="horz" wrap="square" lIns="0" tIns="12065" rIns="0" bIns="0" rtlCol="0">
            <a:spAutoFit/>
          </a:bodyPr>
          <a:lstStyle/>
          <a:p>
            <a:pPr>
              <a:lnSpc>
                <a:spcPct val="100000"/>
              </a:lnSpc>
              <a:spcBef>
                <a:spcPts val="95"/>
              </a:spcBef>
            </a:pPr>
            <a:r>
              <a:rPr sz="1000" b="1" dirty="0">
                <a:solidFill>
                  <a:srgbClr val="FF0000"/>
                </a:solidFill>
                <a:latin typeface="Times New Roman"/>
                <a:cs typeface="Times New Roman"/>
              </a:rPr>
              <a:t>20</a:t>
            </a:r>
            <a:r>
              <a:rPr sz="1000" b="1" spc="-10" dirty="0">
                <a:solidFill>
                  <a:srgbClr val="FF0000"/>
                </a:solidFill>
                <a:latin typeface="Times New Roman"/>
                <a:cs typeface="Times New Roman"/>
              </a:rPr>
              <a:t> </a:t>
            </a:r>
            <a:r>
              <a:rPr sz="1000" b="1" spc="-25" dirty="0">
                <a:solidFill>
                  <a:srgbClr val="FF0000"/>
                </a:solidFill>
                <a:latin typeface="Times New Roman"/>
                <a:cs typeface="Times New Roman"/>
              </a:rPr>
              <a:t>ns</a:t>
            </a:r>
            <a:endParaRPr sz="1000">
              <a:latin typeface="Times New Roman"/>
              <a:cs typeface="Times New Roman"/>
            </a:endParaRPr>
          </a:p>
        </p:txBody>
      </p:sp>
      <p:sp>
        <p:nvSpPr>
          <p:cNvPr id="17" name="object 17"/>
          <p:cNvSpPr txBox="1"/>
          <p:nvPr/>
        </p:nvSpPr>
        <p:spPr>
          <a:xfrm>
            <a:off x="5240146" y="6334505"/>
            <a:ext cx="228600" cy="177800"/>
          </a:xfrm>
          <a:prstGeom prst="rect">
            <a:avLst/>
          </a:prstGeom>
        </p:spPr>
        <p:txBody>
          <a:bodyPr vert="horz" wrap="square" lIns="0" tIns="12065" rIns="0" bIns="0" rtlCol="0">
            <a:spAutoFit/>
          </a:bodyPr>
          <a:lstStyle/>
          <a:p>
            <a:pPr>
              <a:lnSpc>
                <a:spcPct val="100000"/>
              </a:lnSpc>
              <a:spcBef>
                <a:spcPts val="95"/>
              </a:spcBef>
            </a:pPr>
            <a:r>
              <a:rPr sz="1000" b="1" dirty="0">
                <a:solidFill>
                  <a:srgbClr val="FF0000"/>
                </a:solidFill>
                <a:latin typeface="Times New Roman"/>
                <a:cs typeface="Times New Roman"/>
              </a:rPr>
              <a:t>5 </a:t>
            </a:r>
            <a:r>
              <a:rPr sz="1000" b="1" spc="-25" dirty="0">
                <a:solidFill>
                  <a:srgbClr val="FF0000"/>
                </a:solidFill>
                <a:latin typeface="Times New Roman"/>
                <a:cs typeface="Times New Roman"/>
              </a:rPr>
              <a:t>ns</a:t>
            </a:r>
            <a:endParaRPr sz="1000">
              <a:latin typeface="Times New Roman"/>
              <a:cs typeface="Times New Roman"/>
            </a:endParaRPr>
          </a:p>
        </p:txBody>
      </p:sp>
      <p:sp>
        <p:nvSpPr>
          <p:cNvPr id="18" name="object 18"/>
          <p:cNvSpPr txBox="1"/>
          <p:nvPr/>
        </p:nvSpPr>
        <p:spPr>
          <a:xfrm>
            <a:off x="3475354" y="6994017"/>
            <a:ext cx="228600" cy="177800"/>
          </a:xfrm>
          <a:prstGeom prst="rect">
            <a:avLst/>
          </a:prstGeom>
        </p:spPr>
        <p:txBody>
          <a:bodyPr vert="horz" wrap="square" lIns="0" tIns="12065" rIns="0" bIns="0" rtlCol="0">
            <a:spAutoFit/>
          </a:bodyPr>
          <a:lstStyle/>
          <a:p>
            <a:pPr>
              <a:lnSpc>
                <a:spcPct val="100000"/>
              </a:lnSpc>
              <a:spcBef>
                <a:spcPts val="95"/>
              </a:spcBef>
            </a:pPr>
            <a:r>
              <a:rPr sz="1000" b="1" dirty="0">
                <a:solidFill>
                  <a:srgbClr val="FF0000"/>
                </a:solidFill>
                <a:latin typeface="Times New Roman"/>
                <a:cs typeface="Times New Roman"/>
              </a:rPr>
              <a:t>2 </a:t>
            </a:r>
            <a:r>
              <a:rPr sz="1000" b="1" spc="-25" dirty="0">
                <a:solidFill>
                  <a:srgbClr val="FF0000"/>
                </a:solidFill>
                <a:latin typeface="Times New Roman"/>
                <a:cs typeface="Times New Roman"/>
              </a:rPr>
              <a:t>ns</a:t>
            </a:r>
            <a:endParaRPr sz="1000">
              <a:latin typeface="Times New Roman"/>
              <a:cs typeface="Times New Roman"/>
            </a:endParaRPr>
          </a:p>
        </p:txBody>
      </p:sp>
      <p:sp>
        <p:nvSpPr>
          <p:cNvPr id="19" name="object 19"/>
          <p:cNvSpPr txBox="1"/>
          <p:nvPr/>
        </p:nvSpPr>
        <p:spPr>
          <a:xfrm>
            <a:off x="5211445" y="6994017"/>
            <a:ext cx="290830" cy="177800"/>
          </a:xfrm>
          <a:prstGeom prst="rect">
            <a:avLst/>
          </a:prstGeom>
        </p:spPr>
        <p:txBody>
          <a:bodyPr vert="horz" wrap="square" lIns="0" tIns="12065" rIns="0" bIns="0" rtlCol="0">
            <a:spAutoFit/>
          </a:bodyPr>
          <a:lstStyle/>
          <a:p>
            <a:pPr>
              <a:lnSpc>
                <a:spcPct val="100000"/>
              </a:lnSpc>
              <a:spcBef>
                <a:spcPts val="95"/>
              </a:spcBef>
            </a:pPr>
            <a:r>
              <a:rPr sz="1000" b="1" dirty="0">
                <a:solidFill>
                  <a:srgbClr val="FF0000"/>
                </a:solidFill>
                <a:latin typeface="Times New Roman"/>
                <a:cs typeface="Times New Roman"/>
              </a:rPr>
              <a:t>20</a:t>
            </a:r>
            <a:r>
              <a:rPr sz="1000" b="1" spc="-10" dirty="0">
                <a:solidFill>
                  <a:srgbClr val="FF0000"/>
                </a:solidFill>
                <a:latin typeface="Times New Roman"/>
                <a:cs typeface="Times New Roman"/>
              </a:rPr>
              <a:t> </a:t>
            </a:r>
            <a:r>
              <a:rPr sz="1000" b="1" spc="-25" dirty="0">
                <a:solidFill>
                  <a:srgbClr val="FF0000"/>
                </a:solidFill>
                <a:latin typeface="Times New Roman"/>
                <a:cs typeface="Times New Roman"/>
              </a:rPr>
              <a:t>ns</a:t>
            </a:r>
            <a:endParaRPr sz="1000">
              <a:latin typeface="Times New Roman"/>
              <a:cs typeface="Times New Roman"/>
            </a:endParaRPr>
          </a:p>
        </p:txBody>
      </p:sp>
      <p:sp>
        <p:nvSpPr>
          <p:cNvPr id="20" name="object 20"/>
          <p:cNvSpPr txBox="1"/>
          <p:nvPr/>
        </p:nvSpPr>
        <p:spPr>
          <a:xfrm>
            <a:off x="5208142" y="7674102"/>
            <a:ext cx="290830" cy="177800"/>
          </a:xfrm>
          <a:prstGeom prst="rect">
            <a:avLst/>
          </a:prstGeom>
        </p:spPr>
        <p:txBody>
          <a:bodyPr vert="horz" wrap="square" lIns="0" tIns="12065" rIns="0" bIns="0" rtlCol="0">
            <a:spAutoFit/>
          </a:bodyPr>
          <a:lstStyle/>
          <a:p>
            <a:pPr>
              <a:lnSpc>
                <a:spcPct val="100000"/>
              </a:lnSpc>
              <a:spcBef>
                <a:spcPts val="95"/>
              </a:spcBef>
            </a:pPr>
            <a:r>
              <a:rPr sz="1000" b="1" dirty="0">
                <a:solidFill>
                  <a:srgbClr val="FF0000"/>
                </a:solidFill>
                <a:latin typeface="Times New Roman"/>
                <a:cs typeface="Times New Roman"/>
              </a:rPr>
              <a:t>15</a:t>
            </a:r>
            <a:r>
              <a:rPr sz="1000" b="1" spc="-10" dirty="0">
                <a:solidFill>
                  <a:srgbClr val="FF0000"/>
                </a:solidFill>
                <a:latin typeface="Times New Roman"/>
                <a:cs typeface="Times New Roman"/>
              </a:rPr>
              <a:t> </a:t>
            </a:r>
            <a:r>
              <a:rPr sz="1000" b="1" spc="-25" dirty="0">
                <a:solidFill>
                  <a:srgbClr val="FF0000"/>
                </a:solidFill>
                <a:latin typeface="Times New Roman"/>
                <a:cs typeface="Times New Roman"/>
              </a:rPr>
              <a:t>ns</a:t>
            </a:r>
            <a:endParaRPr sz="1000">
              <a:latin typeface="Times New Roman"/>
              <a:cs typeface="Times New Roman"/>
            </a:endParaRPr>
          </a:p>
        </p:txBody>
      </p:sp>
      <p:sp>
        <p:nvSpPr>
          <p:cNvPr id="21" name="object 21"/>
          <p:cNvSpPr txBox="1"/>
          <p:nvPr/>
        </p:nvSpPr>
        <p:spPr>
          <a:xfrm>
            <a:off x="3515233" y="7674102"/>
            <a:ext cx="228600" cy="177800"/>
          </a:xfrm>
          <a:prstGeom prst="rect">
            <a:avLst/>
          </a:prstGeom>
        </p:spPr>
        <p:txBody>
          <a:bodyPr vert="horz" wrap="square" lIns="0" tIns="12065" rIns="0" bIns="0" rtlCol="0">
            <a:spAutoFit/>
          </a:bodyPr>
          <a:lstStyle/>
          <a:p>
            <a:pPr>
              <a:lnSpc>
                <a:spcPct val="100000"/>
              </a:lnSpc>
              <a:spcBef>
                <a:spcPts val="95"/>
              </a:spcBef>
            </a:pPr>
            <a:r>
              <a:rPr sz="1000" b="1" dirty="0">
                <a:solidFill>
                  <a:srgbClr val="FF0000"/>
                </a:solidFill>
                <a:latin typeface="Times New Roman"/>
                <a:cs typeface="Times New Roman"/>
              </a:rPr>
              <a:t>2 </a:t>
            </a:r>
            <a:r>
              <a:rPr sz="1000" b="1" spc="-25" dirty="0">
                <a:solidFill>
                  <a:srgbClr val="FF0000"/>
                </a:solidFill>
                <a:latin typeface="Times New Roman"/>
                <a:cs typeface="Times New Roman"/>
              </a:rPr>
              <a:t>ns</a:t>
            </a:r>
            <a:endParaRPr sz="10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12723" y="1118108"/>
            <a:ext cx="3231515" cy="314960"/>
          </a:xfrm>
          <a:prstGeom prst="rect">
            <a:avLst/>
          </a:prstGeom>
        </p:spPr>
        <p:txBody>
          <a:bodyPr vert="horz" wrap="square" lIns="0" tIns="12065" rIns="0" bIns="0" rtlCol="0">
            <a:spAutoFit/>
          </a:bodyPr>
          <a:lstStyle/>
          <a:p>
            <a:pPr marL="12700">
              <a:lnSpc>
                <a:spcPct val="100000"/>
              </a:lnSpc>
              <a:spcBef>
                <a:spcPts val="95"/>
              </a:spcBef>
            </a:pPr>
            <a:r>
              <a:rPr sz="1900" dirty="0">
                <a:latin typeface="Georgia"/>
                <a:cs typeface="Georgia"/>
              </a:rPr>
              <a:t>Arithmetic</a:t>
            </a:r>
            <a:r>
              <a:rPr sz="1900" spc="-100" dirty="0">
                <a:latin typeface="Georgia"/>
                <a:cs typeface="Georgia"/>
              </a:rPr>
              <a:t> </a:t>
            </a:r>
            <a:r>
              <a:rPr sz="1900" dirty="0">
                <a:latin typeface="Georgia"/>
                <a:cs typeface="Georgia"/>
              </a:rPr>
              <a:t>Pipeline</a:t>
            </a:r>
            <a:r>
              <a:rPr sz="1900" spc="-80" dirty="0">
                <a:latin typeface="Georgia"/>
                <a:cs typeface="Georgia"/>
              </a:rPr>
              <a:t> </a:t>
            </a:r>
            <a:r>
              <a:rPr sz="1900" spc="-10" dirty="0">
                <a:latin typeface="Georgia"/>
                <a:cs typeface="Georgia"/>
              </a:rPr>
              <a:t>Example2</a:t>
            </a:r>
            <a:endParaRPr sz="1900">
              <a:latin typeface="Georgia"/>
              <a:cs typeface="Georgia"/>
            </a:endParaRPr>
          </a:p>
        </p:txBody>
      </p:sp>
      <p:sp>
        <p:nvSpPr>
          <p:cNvPr id="3" name="object 3"/>
          <p:cNvSpPr txBox="1"/>
          <p:nvPr/>
        </p:nvSpPr>
        <p:spPr>
          <a:xfrm>
            <a:off x="746861" y="1620138"/>
            <a:ext cx="3080385" cy="193675"/>
          </a:xfrm>
          <a:prstGeom prst="rect">
            <a:avLst/>
          </a:prstGeom>
        </p:spPr>
        <p:txBody>
          <a:bodyPr vert="horz" wrap="square" lIns="0" tIns="12700" rIns="0" bIns="0" rtlCol="0">
            <a:spAutoFit/>
          </a:bodyPr>
          <a:lstStyle/>
          <a:p>
            <a:pPr marL="182880" indent="-170180">
              <a:lnSpc>
                <a:spcPct val="100000"/>
              </a:lnSpc>
              <a:spcBef>
                <a:spcPts val="100"/>
              </a:spcBef>
              <a:buClr>
                <a:srgbClr val="3E762B"/>
              </a:buClr>
              <a:buFont typeface="Wingdings"/>
              <a:buChar char=""/>
              <a:tabLst>
                <a:tab pos="182880" algn="l"/>
              </a:tabLst>
            </a:pPr>
            <a:r>
              <a:rPr sz="1100" dirty="0">
                <a:latin typeface="Times New Roman"/>
                <a:cs typeface="Times New Roman"/>
              </a:rPr>
              <a:t>Pipeline</a:t>
            </a:r>
            <a:r>
              <a:rPr sz="1100" spc="-15" dirty="0">
                <a:latin typeface="Times New Roman"/>
                <a:cs typeface="Times New Roman"/>
              </a:rPr>
              <a:t> </a:t>
            </a:r>
            <a:r>
              <a:rPr sz="1100" dirty="0">
                <a:latin typeface="Times New Roman"/>
                <a:cs typeface="Times New Roman"/>
              </a:rPr>
              <a:t>for</a:t>
            </a:r>
            <a:r>
              <a:rPr sz="1100" spc="30" dirty="0">
                <a:latin typeface="Times New Roman"/>
                <a:cs typeface="Times New Roman"/>
              </a:rPr>
              <a:t> </a:t>
            </a:r>
            <a:r>
              <a:rPr sz="1100" spc="-10" dirty="0">
                <a:latin typeface="Times New Roman"/>
                <a:cs typeface="Times New Roman"/>
              </a:rPr>
              <a:t>floating-</a:t>
            </a:r>
            <a:r>
              <a:rPr sz="1100" dirty="0">
                <a:latin typeface="Times New Roman"/>
                <a:cs typeface="Times New Roman"/>
              </a:rPr>
              <a:t>point</a:t>
            </a:r>
            <a:r>
              <a:rPr sz="1100" spc="5" dirty="0">
                <a:latin typeface="Times New Roman"/>
                <a:cs typeface="Times New Roman"/>
              </a:rPr>
              <a:t> </a:t>
            </a:r>
            <a:r>
              <a:rPr sz="1100" dirty="0">
                <a:latin typeface="Times New Roman"/>
                <a:cs typeface="Times New Roman"/>
              </a:rPr>
              <a:t>addition and</a:t>
            </a:r>
            <a:r>
              <a:rPr sz="1100" spc="20" dirty="0">
                <a:latin typeface="Times New Roman"/>
                <a:cs typeface="Times New Roman"/>
              </a:rPr>
              <a:t> </a:t>
            </a:r>
            <a:r>
              <a:rPr sz="1100" spc="-10" dirty="0">
                <a:latin typeface="Times New Roman"/>
                <a:cs typeface="Times New Roman"/>
              </a:rPr>
              <a:t>subtraction.</a:t>
            </a:r>
            <a:endParaRPr sz="1100">
              <a:latin typeface="Times New Roman"/>
              <a:cs typeface="Times New Roman"/>
            </a:endParaRPr>
          </a:p>
        </p:txBody>
      </p:sp>
      <p:pic>
        <p:nvPicPr>
          <p:cNvPr id="4" name="object 4"/>
          <p:cNvPicPr/>
          <p:nvPr/>
        </p:nvPicPr>
        <p:blipFill>
          <a:blip r:embed="rId2" cstate="print"/>
          <a:stretch>
            <a:fillRect/>
          </a:stretch>
        </p:blipFill>
        <p:spPr>
          <a:xfrm>
            <a:off x="1455419" y="2337816"/>
            <a:ext cx="2028444" cy="1623059"/>
          </a:xfrm>
          <a:prstGeom prst="rect">
            <a:avLst/>
          </a:prstGeom>
        </p:spPr>
      </p:pic>
      <p:grpSp>
        <p:nvGrpSpPr>
          <p:cNvPr id="5" name="object 5"/>
          <p:cNvGrpSpPr/>
          <p:nvPr/>
        </p:nvGrpSpPr>
        <p:grpSpPr>
          <a:xfrm>
            <a:off x="3977640" y="1289303"/>
            <a:ext cx="2382520" cy="2910840"/>
            <a:chOff x="3977640" y="1289303"/>
            <a:chExt cx="2382520" cy="2910840"/>
          </a:xfrm>
        </p:grpSpPr>
        <p:pic>
          <p:nvPicPr>
            <p:cNvPr id="6" name="object 6"/>
            <p:cNvPicPr/>
            <p:nvPr/>
          </p:nvPicPr>
          <p:blipFill>
            <a:blip r:embed="rId3" cstate="print"/>
            <a:stretch>
              <a:fillRect/>
            </a:stretch>
          </p:blipFill>
          <p:spPr>
            <a:xfrm>
              <a:off x="3977640" y="1289303"/>
              <a:ext cx="2382012" cy="2910840"/>
            </a:xfrm>
            <a:prstGeom prst="rect">
              <a:avLst/>
            </a:prstGeom>
          </p:spPr>
        </p:pic>
        <p:sp>
          <p:nvSpPr>
            <p:cNvPr id="7" name="object 7"/>
            <p:cNvSpPr/>
            <p:nvPr/>
          </p:nvSpPr>
          <p:spPr>
            <a:xfrm>
              <a:off x="4277868" y="1668779"/>
              <a:ext cx="137160" cy="2414270"/>
            </a:xfrm>
            <a:custGeom>
              <a:avLst/>
              <a:gdLst/>
              <a:ahLst/>
              <a:cxnLst/>
              <a:rect l="l" t="t" r="r" b="b"/>
              <a:pathLst>
                <a:path w="137160" h="2414270">
                  <a:moveTo>
                    <a:pt x="114300" y="707136"/>
                  </a:moveTo>
                  <a:lnTo>
                    <a:pt x="92029" y="706379"/>
                  </a:lnTo>
                  <a:lnTo>
                    <a:pt x="73866" y="704326"/>
                  </a:lnTo>
                  <a:lnTo>
                    <a:pt x="61632" y="701295"/>
                  </a:lnTo>
                  <a:lnTo>
                    <a:pt x="57150" y="697611"/>
                  </a:lnTo>
                  <a:lnTo>
                    <a:pt x="57150" y="363093"/>
                  </a:lnTo>
                  <a:lnTo>
                    <a:pt x="52667" y="359408"/>
                  </a:lnTo>
                  <a:lnTo>
                    <a:pt x="40433" y="356377"/>
                  </a:lnTo>
                  <a:lnTo>
                    <a:pt x="22270" y="354324"/>
                  </a:lnTo>
                  <a:lnTo>
                    <a:pt x="0" y="353568"/>
                  </a:lnTo>
                  <a:lnTo>
                    <a:pt x="22270" y="352811"/>
                  </a:lnTo>
                  <a:lnTo>
                    <a:pt x="40433" y="350758"/>
                  </a:lnTo>
                  <a:lnTo>
                    <a:pt x="52667" y="347727"/>
                  </a:lnTo>
                  <a:lnTo>
                    <a:pt x="57150" y="344043"/>
                  </a:lnTo>
                  <a:lnTo>
                    <a:pt x="57150" y="9525"/>
                  </a:lnTo>
                  <a:lnTo>
                    <a:pt x="61632" y="5840"/>
                  </a:lnTo>
                  <a:lnTo>
                    <a:pt x="73866" y="2809"/>
                  </a:lnTo>
                  <a:lnTo>
                    <a:pt x="92029" y="756"/>
                  </a:lnTo>
                  <a:lnTo>
                    <a:pt x="114300" y="0"/>
                  </a:lnTo>
                </a:path>
                <a:path w="137160" h="2414270">
                  <a:moveTo>
                    <a:pt x="114300" y="1435608"/>
                  </a:moveTo>
                  <a:lnTo>
                    <a:pt x="92029" y="1434851"/>
                  </a:lnTo>
                  <a:lnTo>
                    <a:pt x="73866" y="1432798"/>
                  </a:lnTo>
                  <a:lnTo>
                    <a:pt x="61632" y="1429767"/>
                  </a:lnTo>
                  <a:lnTo>
                    <a:pt x="57150" y="1426083"/>
                  </a:lnTo>
                  <a:lnTo>
                    <a:pt x="57150" y="1102233"/>
                  </a:lnTo>
                  <a:lnTo>
                    <a:pt x="52667" y="1098548"/>
                  </a:lnTo>
                  <a:lnTo>
                    <a:pt x="40433" y="1095517"/>
                  </a:lnTo>
                  <a:lnTo>
                    <a:pt x="22270" y="1093464"/>
                  </a:lnTo>
                  <a:lnTo>
                    <a:pt x="0" y="1092708"/>
                  </a:lnTo>
                  <a:lnTo>
                    <a:pt x="22270" y="1091951"/>
                  </a:lnTo>
                  <a:lnTo>
                    <a:pt x="40433" y="1089898"/>
                  </a:lnTo>
                  <a:lnTo>
                    <a:pt x="52667" y="1086867"/>
                  </a:lnTo>
                  <a:lnTo>
                    <a:pt x="57150" y="1083183"/>
                  </a:lnTo>
                  <a:lnTo>
                    <a:pt x="57150" y="759333"/>
                  </a:lnTo>
                  <a:lnTo>
                    <a:pt x="61632" y="755648"/>
                  </a:lnTo>
                  <a:lnTo>
                    <a:pt x="73866" y="752617"/>
                  </a:lnTo>
                  <a:lnTo>
                    <a:pt x="92029" y="750564"/>
                  </a:lnTo>
                  <a:lnTo>
                    <a:pt x="114300" y="749808"/>
                  </a:lnTo>
                </a:path>
                <a:path w="137160" h="2414270">
                  <a:moveTo>
                    <a:pt x="114300" y="2074164"/>
                  </a:moveTo>
                  <a:lnTo>
                    <a:pt x="92029" y="2073407"/>
                  </a:lnTo>
                  <a:lnTo>
                    <a:pt x="73866" y="2071354"/>
                  </a:lnTo>
                  <a:lnTo>
                    <a:pt x="61632" y="2068323"/>
                  </a:lnTo>
                  <a:lnTo>
                    <a:pt x="57150" y="2064639"/>
                  </a:lnTo>
                  <a:lnTo>
                    <a:pt x="57150" y="1786509"/>
                  </a:lnTo>
                  <a:lnTo>
                    <a:pt x="52667" y="1782824"/>
                  </a:lnTo>
                  <a:lnTo>
                    <a:pt x="40433" y="1779793"/>
                  </a:lnTo>
                  <a:lnTo>
                    <a:pt x="22270" y="1777740"/>
                  </a:lnTo>
                  <a:lnTo>
                    <a:pt x="0" y="1776984"/>
                  </a:lnTo>
                  <a:lnTo>
                    <a:pt x="22270" y="1776227"/>
                  </a:lnTo>
                  <a:lnTo>
                    <a:pt x="40433" y="1774174"/>
                  </a:lnTo>
                  <a:lnTo>
                    <a:pt x="52667" y="1771143"/>
                  </a:lnTo>
                  <a:lnTo>
                    <a:pt x="57150" y="1767459"/>
                  </a:lnTo>
                  <a:lnTo>
                    <a:pt x="57150" y="1489329"/>
                  </a:lnTo>
                  <a:lnTo>
                    <a:pt x="61632" y="1485644"/>
                  </a:lnTo>
                  <a:lnTo>
                    <a:pt x="73866" y="1482613"/>
                  </a:lnTo>
                  <a:lnTo>
                    <a:pt x="92029" y="1480560"/>
                  </a:lnTo>
                  <a:lnTo>
                    <a:pt x="114300" y="1479804"/>
                  </a:lnTo>
                </a:path>
                <a:path w="137160" h="2414270">
                  <a:moveTo>
                    <a:pt x="137160" y="2414016"/>
                  </a:moveTo>
                  <a:lnTo>
                    <a:pt x="110478" y="2413123"/>
                  </a:lnTo>
                  <a:lnTo>
                    <a:pt x="88677" y="2410682"/>
                  </a:lnTo>
                  <a:lnTo>
                    <a:pt x="73973" y="2407050"/>
                  </a:lnTo>
                  <a:lnTo>
                    <a:pt x="68580" y="2402586"/>
                  </a:lnTo>
                  <a:lnTo>
                    <a:pt x="68580" y="2288286"/>
                  </a:lnTo>
                  <a:lnTo>
                    <a:pt x="63186" y="2283821"/>
                  </a:lnTo>
                  <a:lnTo>
                    <a:pt x="48482" y="2280189"/>
                  </a:lnTo>
                  <a:lnTo>
                    <a:pt x="26681" y="2277748"/>
                  </a:lnTo>
                  <a:lnTo>
                    <a:pt x="0" y="2276856"/>
                  </a:lnTo>
                  <a:lnTo>
                    <a:pt x="26681" y="2275963"/>
                  </a:lnTo>
                  <a:lnTo>
                    <a:pt x="48482" y="2273522"/>
                  </a:lnTo>
                  <a:lnTo>
                    <a:pt x="63186" y="2269890"/>
                  </a:lnTo>
                  <a:lnTo>
                    <a:pt x="68580" y="2265426"/>
                  </a:lnTo>
                  <a:lnTo>
                    <a:pt x="68580" y="2151126"/>
                  </a:lnTo>
                  <a:lnTo>
                    <a:pt x="73973" y="2146661"/>
                  </a:lnTo>
                  <a:lnTo>
                    <a:pt x="88677" y="2143029"/>
                  </a:lnTo>
                  <a:lnTo>
                    <a:pt x="110478" y="2140588"/>
                  </a:lnTo>
                  <a:lnTo>
                    <a:pt x="137160" y="2139696"/>
                  </a:lnTo>
                </a:path>
              </a:pathLst>
            </a:custGeom>
            <a:ln w="9144">
              <a:solidFill>
                <a:srgbClr val="539E39"/>
              </a:solidFill>
            </a:ln>
          </p:spPr>
          <p:txBody>
            <a:bodyPr wrap="square" lIns="0" tIns="0" rIns="0" bIns="0" rtlCol="0"/>
            <a:lstStyle/>
            <a:p>
              <a:endParaRPr/>
            </a:p>
          </p:txBody>
        </p:sp>
      </p:grpSp>
      <p:grpSp>
        <p:nvGrpSpPr>
          <p:cNvPr id="8" name="object 8"/>
          <p:cNvGrpSpPr/>
          <p:nvPr/>
        </p:nvGrpSpPr>
        <p:grpSpPr>
          <a:xfrm>
            <a:off x="381000" y="4844796"/>
            <a:ext cx="6096000" cy="3429000"/>
            <a:chOff x="381000" y="4844796"/>
            <a:chExt cx="6096000" cy="3429000"/>
          </a:xfrm>
        </p:grpSpPr>
        <p:sp>
          <p:nvSpPr>
            <p:cNvPr id="9" name="object 9"/>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0" name="object 10"/>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11" name="object 11"/>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2" name="object 12"/>
          <p:cNvSpPr txBox="1"/>
          <p:nvPr/>
        </p:nvSpPr>
        <p:spPr>
          <a:xfrm>
            <a:off x="725423" y="5094859"/>
            <a:ext cx="3218815" cy="679450"/>
          </a:xfrm>
          <a:prstGeom prst="rect">
            <a:avLst/>
          </a:prstGeom>
        </p:spPr>
        <p:txBody>
          <a:bodyPr vert="horz" wrap="square" lIns="0" tIns="12065" rIns="0" bIns="0" rtlCol="0">
            <a:spAutoFit/>
          </a:bodyPr>
          <a:lstStyle/>
          <a:p>
            <a:pPr>
              <a:lnSpc>
                <a:spcPct val="100000"/>
              </a:lnSpc>
              <a:spcBef>
                <a:spcPts val="95"/>
              </a:spcBef>
            </a:pPr>
            <a:r>
              <a:rPr sz="1900" dirty="0">
                <a:latin typeface="Georgia"/>
                <a:cs typeface="Georgia"/>
              </a:rPr>
              <a:t>Arithmetic</a:t>
            </a:r>
            <a:r>
              <a:rPr sz="1900" spc="-100" dirty="0">
                <a:latin typeface="Georgia"/>
                <a:cs typeface="Georgia"/>
              </a:rPr>
              <a:t> </a:t>
            </a:r>
            <a:r>
              <a:rPr sz="1900" dirty="0">
                <a:latin typeface="Georgia"/>
                <a:cs typeface="Georgia"/>
              </a:rPr>
              <a:t>Pipeline</a:t>
            </a:r>
            <a:r>
              <a:rPr sz="1900" spc="-80" dirty="0">
                <a:latin typeface="Georgia"/>
                <a:cs typeface="Georgia"/>
              </a:rPr>
              <a:t> </a:t>
            </a:r>
            <a:r>
              <a:rPr sz="1900" spc="-10" dirty="0">
                <a:latin typeface="Georgia"/>
                <a:cs typeface="Georgia"/>
              </a:rPr>
              <a:t>Example2</a:t>
            </a:r>
            <a:endParaRPr sz="1900">
              <a:latin typeface="Georgia"/>
              <a:cs typeface="Georgia"/>
            </a:endParaRPr>
          </a:p>
          <a:p>
            <a:pPr marL="203835" indent="-170180">
              <a:lnSpc>
                <a:spcPct val="100000"/>
              </a:lnSpc>
              <a:spcBef>
                <a:spcPts val="1550"/>
              </a:spcBef>
              <a:buClr>
                <a:srgbClr val="3E762B"/>
              </a:buClr>
              <a:buFont typeface="Wingdings"/>
              <a:buChar char=""/>
              <a:tabLst>
                <a:tab pos="203835" algn="l"/>
              </a:tabLst>
            </a:pPr>
            <a:r>
              <a:rPr sz="1100" dirty="0">
                <a:latin typeface="Times New Roman"/>
                <a:cs typeface="Times New Roman"/>
              </a:rPr>
              <a:t>Determine</a:t>
            </a:r>
            <a:r>
              <a:rPr sz="1100" spc="-20" dirty="0">
                <a:latin typeface="Times New Roman"/>
                <a:cs typeface="Times New Roman"/>
              </a:rPr>
              <a:t> </a:t>
            </a:r>
            <a:r>
              <a:rPr sz="1100" dirty="0">
                <a:latin typeface="Times New Roman"/>
                <a:cs typeface="Times New Roman"/>
              </a:rPr>
              <a:t>the</a:t>
            </a:r>
            <a:r>
              <a:rPr sz="1100" spc="-15" dirty="0">
                <a:latin typeface="Times New Roman"/>
                <a:cs typeface="Times New Roman"/>
              </a:rPr>
              <a:t> </a:t>
            </a:r>
            <a:r>
              <a:rPr sz="1100" dirty="0">
                <a:latin typeface="Times New Roman"/>
                <a:cs typeface="Times New Roman"/>
              </a:rPr>
              <a:t>maximum</a:t>
            </a:r>
            <a:r>
              <a:rPr sz="1100" spc="10" dirty="0">
                <a:latin typeface="Times New Roman"/>
                <a:cs typeface="Times New Roman"/>
              </a:rPr>
              <a:t> </a:t>
            </a:r>
            <a:r>
              <a:rPr sz="1100" spc="-10" dirty="0">
                <a:latin typeface="Times New Roman"/>
                <a:cs typeface="Times New Roman"/>
              </a:rPr>
              <a:t>frequency:</a:t>
            </a:r>
            <a:endParaRPr sz="1100">
              <a:latin typeface="Times New Roman"/>
              <a:cs typeface="Times New Roman"/>
            </a:endParaRPr>
          </a:p>
        </p:txBody>
      </p:sp>
      <p:sp>
        <p:nvSpPr>
          <p:cNvPr id="13" name="object 13"/>
          <p:cNvSpPr txBox="1"/>
          <p:nvPr/>
        </p:nvSpPr>
        <p:spPr>
          <a:xfrm>
            <a:off x="759561" y="6186932"/>
            <a:ext cx="1988820" cy="497205"/>
          </a:xfrm>
          <a:prstGeom prst="rect">
            <a:avLst/>
          </a:prstGeom>
        </p:spPr>
        <p:txBody>
          <a:bodyPr vert="horz" wrap="square" lIns="0" tIns="12700" rIns="0" bIns="0" rtlCol="0">
            <a:spAutoFit/>
          </a:bodyPr>
          <a:lstStyle/>
          <a:p>
            <a:pPr>
              <a:lnSpc>
                <a:spcPct val="100000"/>
              </a:lnSpc>
              <a:spcBef>
                <a:spcPts val="100"/>
              </a:spcBef>
            </a:pPr>
            <a:r>
              <a:rPr sz="1100" dirty="0">
                <a:latin typeface="Times New Roman"/>
                <a:cs typeface="Times New Roman"/>
              </a:rPr>
              <a:t>Segment</a:t>
            </a:r>
            <a:r>
              <a:rPr sz="1100" spc="-15" dirty="0">
                <a:latin typeface="Times New Roman"/>
                <a:cs typeface="Times New Roman"/>
              </a:rPr>
              <a:t> </a:t>
            </a:r>
            <a:r>
              <a:rPr sz="1100" spc="-10" dirty="0">
                <a:latin typeface="Times New Roman"/>
                <a:cs typeface="Times New Roman"/>
              </a:rPr>
              <a:t>timing:</a:t>
            </a:r>
            <a:endParaRPr sz="1100">
              <a:latin typeface="Times New Roman"/>
              <a:cs typeface="Times New Roman"/>
            </a:endParaRPr>
          </a:p>
          <a:p>
            <a:pPr marL="457200">
              <a:lnSpc>
                <a:spcPct val="100000"/>
              </a:lnSpc>
              <a:spcBef>
                <a:spcPts val="1070"/>
              </a:spcBef>
            </a:pPr>
            <a:r>
              <a:rPr sz="1100" dirty="0">
                <a:latin typeface="Times New Roman"/>
                <a:cs typeface="Times New Roman"/>
              </a:rPr>
              <a:t>Compare</a:t>
            </a:r>
            <a:r>
              <a:rPr sz="1100" spc="-30" dirty="0">
                <a:latin typeface="Times New Roman"/>
                <a:cs typeface="Times New Roman"/>
              </a:rPr>
              <a:t> </a:t>
            </a:r>
            <a:r>
              <a:rPr sz="1100" dirty="0">
                <a:latin typeface="Times New Roman"/>
                <a:cs typeface="Times New Roman"/>
              </a:rPr>
              <a:t>Exp.+</a:t>
            </a:r>
            <a:r>
              <a:rPr sz="1100" spc="-75" dirty="0">
                <a:latin typeface="Times New Roman"/>
                <a:cs typeface="Times New Roman"/>
              </a:rPr>
              <a:t> </a:t>
            </a:r>
            <a:r>
              <a:rPr sz="1100" dirty="0">
                <a:latin typeface="Times New Roman"/>
                <a:cs typeface="Times New Roman"/>
              </a:rPr>
              <a:t>Align</a:t>
            </a:r>
            <a:r>
              <a:rPr sz="1100" spc="-15"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spc="-25" dirty="0">
                <a:latin typeface="Times New Roman"/>
                <a:cs typeface="Times New Roman"/>
              </a:rPr>
              <a:t>25</a:t>
            </a:r>
            <a:endParaRPr sz="1100">
              <a:latin typeface="Times New Roman"/>
              <a:cs typeface="Times New Roman"/>
            </a:endParaRPr>
          </a:p>
        </p:txBody>
      </p:sp>
      <p:sp>
        <p:nvSpPr>
          <p:cNvPr id="14" name="object 14"/>
          <p:cNvSpPr txBox="1"/>
          <p:nvPr/>
        </p:nvSpPr>
        <p:spPr>
          <a:xfrm>
            <a:off x="1216761" y="6793483"/>
            <a:ext cx="1878964" cy="497205"/>
          </a:xfrm>
          <a:prstGeom prst="rect">
            <a:avLst/>
          </a:prstGeom>
        </p:spPr>
        <p:txBody>
          <a:bodyPr vert="horz" wrap="square" lIns="0" tIns="12700" rIns="0" bIns="0" rtlCol="0">
            <a:spAutoFit/>
          </a:bodyPr>
          <a:lstStyle/>
          <a:p>
            <a:pPr>
              <a:lnSpc>
                <a:spcPct val="100000"/>
              </a:lnSpc>
              <a:spcBef>
                <a:spcPts val="100"/>
              </a:spcBef>
            </a:pPr>
            <a:r>
              <a:rPr sz="1100" dirty="0">
                <a:latin typeface="Times New Roman"/>
                <a:cs typeface="Times New Roman"/>
              </a:rPr>
              <a:t>Choose</a:t>
            </a:r>
            <a:r>
              <a:rPr sz="1100" spc="-30" dirty="0">
                <a:latin typeface="Times New Roman"/>
                <a:cs typeface="Times New Roman"/>
              </a:rPr>
              <a:t> </a:t>
            </a:r>
            <a:r>
              <a:rPr sz="1100" dirty="0">
                <a:latin typeface="Times New Roman"/>
                <a:cs typeface="Times New Roman"/>
              </a:rPr>
              <a:t>exponent</a:t>
            </a:r>
            <a:r>
              <a:rPr sz="1100" spc="-20" dirty="0">
                <a:latin typeface="Times New Roman"/>
                <a:cs typeface="Times New Roman"/>
              </a:rPr>
              <a:t> </a:t>
            </a:r>
            <a:r>
              <a:rPr sz="1100" dirty="0">
                <a:latin typeface="Times New Roman"/>
                <a:cs typeface="Times New Roman"/>
              </a:rPr>
              <a:t>//</a:t>
            </a:r>
            <a:r>
              <a:rPr sz="1100" spc="-70" dirty="0">
                <a:latin typeface="Times New Roman"/>
                <a:cs typeface="Times New Roman"/>
              </a:rPr>
              <a:t> </a:t>
            </a:r>
            <a:r>
              <a:rPr sz="1100" dirty="0">
                <a:latin typeface="Times New Roman"/>
                <a:cs typeface="Times New Roman"/>
              </a:rPr>
              <a:t>Add/sub</a:t>
            </a:r>
            <a:r>
              <a:rPr sz="1100" spc="-25"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spc="-25" dirty="0">
                <a:latin typeface="Times New Roman"/>
                <a:cs typeface="Times New Roman"/>
              </a:rPr>
              <a:t>20</a:t>
            </a:r>
            <a:endParaRPr sz="1100">
              <a:latin typeface="Times New Roman"/>
              <a:cs typeface="Times New Roman"/>
            </a:endParaRPr>
          </a:p>
          <a:p>
            <a:pPr>
              <a:lnSpc>
                <a:spcPct val="100000"/>
              </a:lnSpc>
              <a:spcBef>
                <a:spcPts val="1070"/>
              </a:spcBef>
            </a:pPr>
            <a:r>
              <a:rPr sz="1100" dirty="0">
                <a:latin typeface="Times New Roman"/>
                <a:cs typeface="Times New Roman"/>
              </a:rPr>
              <a:t>Adjust</a:t>
            </a:r>
            <a:r>
              <a:rPr sz="1100" spc="-35" dirty="0">
                <a:latin typeface="Times New Roman"/>
                <a:cs typeface="Times New Roman"/>
              </a:rPr>
              <a:t> </a:t>
            </a:r>
            <a:r>
              <a:rPr sz="1100" dirty="0">
                <a:latin typeface="Times New Roman"/>
                <a:cs typeface="Times New Roman"/>
              </a:rPr>
              <a:t>+ Normalize</a:t>
            </a:r>
            <a:r>
              <a:rPr sz="1100" spc="-5" dirty="0">
                <a:latin typeface="Times New Roman"/>
                <a:cs typeface="Times New Roman"/>
              </a:rPr>
              <a:t> </a:t>
            </a:r>
            <a:r>
              <a:rPr sz="1100" dirty="0">
                <a:latin typeface="Times New Roman"/>
                <a:cs typeface="Times New Roman"/>
              </a:rPr>
              <a:t>=</a:t>
            </a:r>
            <a:r>
              <a:rPr sz="1100" spc="-10" dirty="0">
                <a:latin typeface="Times New Roman"/>
                <a:cs typeface="Times New Roman"/>
              </a:rPr>
              <a:t> </a:t>
            </a:r>
            <a:r>
              <a:rPr sz="1100" spc="-25" dirty="0">
                <a:latin typeface="Times New Roman"/>
                <a:cs typeface="Times New Roman"/>
              </a:rPr>
              <a:t>17</a:t>
            </a:r>
            <a:endParaRPr sz="1100">
              <a:latin typeface="Times New Roman"/>
              <a:cs typeface="Times New Roman"/>
            </a:endParaRPr>
          </a:p>
        </p:txBody>
      </p:sp>
      <p:sp>
        <p:nvSpPr>
          <p:cNvPr id="15" name="object 15"/>
          <p:cNvSpPr txBox="1"/>
          <p:nvPr/>
        </p:nvSpPr>
        <p:spPr>
          <a:xfrm>
            <a:off x="759561" y="7473442"/>
            <a:ext cx="1846580" cy="554355"/>
          </a:xfrm>
          <a:prstGeom prst="rect">
            <a:avLst/>
          </a:prstGeom>
        </p:spPr>
        <p:txBody>
          <a:bodyPr vert="horz" wrap="square" lIns="0" tIns="12700" rIns="0" bIns="0" rtlCol="0">
            <a:spAutoFit/>
          </a:bodyPr>
          <a:lstStyle/>
          <a:p>
            <a:pPr marL="169545" indent="-169545">
              <a:lnSpc>
                <a:spcPct val="100000"/>
              </a:lnSpc>
              <a:spcBef>
                <a:spcPts val="100"/>
              </a:spcBef>
              <a:buClr>
                <a:srgbClr val="3E762B"/>
              </a:buClr>
              <a:buFont typeface="Wingdings"/>
              <a:buChar char=""/>
              <a:tabLst>
                <a:tab pos="169545" algn="l"/>
              </a:tabLst>
            </a:pPr>
            <a:r>
              <a:rPr sz="1200" dirty="0">
                <a:latin typeface="Times New Roman"/>
                <a:cs typeface="Times New Roman"/>
              </a:rPr>
              <a:t>Min.</a:t>
            </a:r>
            <a:r>
              <a:rPr sz="1200" spc="-10" dirty="0">
                <a:latin typeface="Times New Roman"/>
                <a:cs typeface="Times New Roman"/>
              </a:rPr>
              <a:t> </a:t>
            </a:r>
            <a:r>
              <a:rPr sz="1200" dirty="0">
                <a:latin typeface="Times New Roman"/>
                <a:cs typeface="Times New Roman"/>
              </a:rPr>
              <a:t>period</a:t>
            </a:r>
            <a:r>
              <a:rPr sz="1200" spc="-10" dirty="0">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25</a:t>
            </a:r>
            <a:r>
              <a:rPr sz="1200" spc="-10" dirty="0">
                <a:latin typeface="Times New Roman"/>
                <a:cs typeface="Times New Roman"/>
              </a:rPr>
              <a:t> </a:t>
            </a:r>
            <a:r>
              <a:rPr sz="1200" spc="-25" dirty="0">
                <a:latin typeface="Times New Roman"/>
                <a:cs typeface="Times New Roman"/>
              </a:rPr>
              <a:t>ns</a:t>
            </a:r>
            <a:endParaRPr sz="1200">
              <a:latin typeface="Times New Roman"/>
              <a:cs typeface="Times New Roman"/>
            </a:endParaRPr>
          </a:p>
          <a:p>
            <a:pPr marL="169545" indent="-169545">
              <a:lnSpc>
                <a:spcPct val="100000"/>
              </a:lnSpc>
              <a:spcBef>
                <a:spcPts val="1285"/>
              </a:spcBef>
              <a:buClr>
                <a:srgbClr val="3E762B"/>
              </a:buClr>
              <a:buFont typeface="Wingdings"/>
              <a:buChar char=""/>
              <a:tabLst>
                <a:tab pos="169545" algn="l"/>
              </a:tabLst>
            </a:pPr>
            <a:r>
              <a:rPr sz="1200" dirty="0">
                <a:latin typeface="Times New Roman"/>
                <a:cs typeface="Times New Roman"/>
              </a:rPr>
              <a:t>Max.</a:t>
            </a:r>
            <a:r>
              <a:rPr sz="1200" spc="-35" dirty="0">
                <a:latin typeface="Times New Roman"/>
                <a:cs typeface="Times New Roman"/>
              </a:rPr>
              <a:t> </a:t>
            </a:r>
            <a:r>
              <a:rPr sz="1200" dirty="0">
                <a:latin typeface="Times New Roman"/>
                <a:cs typeface="Times New Roman"/>
              </a:rPr>
              <a:t>Frequency =</a:t>
            </a:r>
            <a:r>
              <a:rPr sz="1200" spc="-25" dirty="0">
                <a:latin typeface="Times New Roman"/>
                <a:cs typeface="Times New Roman"/>
              </a:rPr>
              <a:t> </a:t>
            </a:r>
            <a:r>
              <a:rPr sz="1200" dirty="0">
                <a:latin typeface="Times New Roman"/>
                <a:cs typeface="Times New Roman"/>
              </a:rPr>
              <a:t>40</a:t>
            </a:r>
            <a:r>
              <a:rPr sz="1200" spc="-20" dirty="0">
                <a:latin typeface="Times New Roman"/>
                <a:cs typeface="Times New Roman"/>
              </a:rPr>
              <a:t> </a:t>
            </a:r>
            <a:r>
              <a:rPr sz="1200" spc="-25" dirty="0">
                <a:latin typeface="Times New Roman"/>
                <a:cs typeface="Times New Roman"/>
              </a:rPr>
              <a:t>MHz</a:t>
            </a:r>
            <a:endParaRPr sz="1200">
              <a:latin typeface="Times New Roman"/>
              <a:cs typeface="Times New Roman"/>
            </a:endParaRPr>
          </a:p>
        </p:txBody>
      </p:sp>
      <p:grpSp>
        <p:nvGrpSpPr>
          <p:cNvPr id="16" name="object 16"/>
          <p:cNvGrpSpPr/>
          <p:nvPr/>
        </p:nvGrpSpPr>
        <p:grpSpPr>
          <a:xfrm>
            <a:off x="3977640" y="5265420"/>
            <a:ext cx="2382520" cy="2910840"/>
            <a:chOff x="3977640" y="5265420"/>
            <a:chExt cx="2382520" cy="2910840"/>
          </a:xfrm>
        </p:grpSpPr>
        <p:pic>
          <p:nvPicPr>
            <p:cNvPr id="17" name="object 17"/>
            <p:cNvPicPr/>
            <p:nvPr/>
          </p:nvPicPr>
          <p:blipFill>
            <a:blip r:embed="rId3" cstate="print"/>
            <a:stretch>
              <a:fillRect/>
            </a:stretch>
          </p:blipFill>
          <p:spPr>
            <a:xfrm>
              <a:off x="3977640" y="5265420"/>
              <a:ext cx="2382012" cy="2910840"/>
            </a:xfrm>
            <a:prstGeom prst="rect">
              <a:avLst/>
            </a:prstGeom>
          </p:spPr>
        </p:pic>
        <p:sp>
          <p:nvSpPr>
            <p:cNvPr id="18" name="object 18"/>
            <p:cNvSpPr/>
            <p:nvPr/>
          </p:nvSpPr>
          <p:spPr>
            <a:xfrm>
              <a:off x="4277868" y="5644896"/>
              <a:ext cx="137160" cy="2414270"/>
            </a:xfrm>
            <a:custGeom>
              <a:avLst/>
              <a:gdLst/>
              <a:ahLst/>
              <a:cxnLst/>
              <a:rect l="l" t="t" r="r" b="b"/>
              <a:pathLst>
                <a:path w="137160" h="2414270">
                  <a:moveTo>
                    <a:pt x="114300" y="707135"/>
                  </a:moveTo>
                  <a:lnTo>
                    <a:pt x="92029" y="706379"/>
                  </a:lnTo>
                  <a:lnTo>
                    <a:pt x="73866" y="704326"/>
                  </a:lnTo>
                  <a:lnTo>
                    <a:pt x="61632" y="701295"/>
                  </a:lnTo>
                  <a:lnTo>
                    <a:pt x="57150" y="697610"/>
                  </a:lnTo>
                  <a:lnTo>
                    <a:pt x="57150" y="363092"/>
                  </a:lnTo>
                  <a:lnTo>
                    <a:pt x="52667" y="359408"/>
                  </a:lnTo>
                  <a:lnTo>
                    <a:pt x="40433" y="356377"/>
                  </a:lnTo>
                  <a:lnTo>
                    <a:pt x="22270" y="354324"/>
                  </a:lnTo>
                  <a:lnTo>
                    <a:pt x="0" y="353567"/>
                  </a:lnTo>
                  <a:lnTo>
                    <a:pt x="22270" y="352811"/>
                  </a:lnTo>
                  <a:lnTo>
                    <a:pt x="40433" y="350758"/>
                  </a:lnTo>
                  <a:lnTo>
                    <a:pt x="52667" y="347727"/>
                  </a:lnTo>
                  <a:lnTo>
                    <a:pt x="57150" y="344042"/>
                  </a:lnTo>
                  <a:lnTo>
                    <a:pt x="57150" y="9525"/>
                  </a:lnTo>
                  <a:lnTo>
                    <a:pt x="61632" y="5840"/>
                  </a:lnTo>
                  <a:lnTo>
                    <a:pt x="73866" y="2809"/>
                  </a:lnTo>
                  <a:lnTo>
                    <a:pt x="92029" y="756"/>
                  </a:lnTo>
                  <a:lnTo>
                    <a:pt x="114300" y="0"/>
                  </a:lnTo>
                </a:path>
                <a:path w="137160" h="2414270">
                  <a:moveTo>
                    <a:pt x="114300" y="1435608"/>
                  </a:moveTo>
                  <a:lnTo>
                    <a:pt x="92029" y="1434851"/>
                  </a:lnTo>
                  <a:lnTo>
                    <a:pt x="73866" y="1432798"/>
                  </a:lnTo>
                  <a:lnTo>
                    <a:pt x="61632" y="1429767"/>
                  </a:lnTo>
                  <a:lnTo>
                    <a:pt x="57150" y="1426083"/>
                  </a:lnTo>
                  <a:lnTo>
                    <a:pt x="57150" y="1102233"/>
                  </a:lnTo>
                  <a:lnTo>
                    <a:pt x="52667" y="1098548"/>
                  </a:lnTo>
                  <a:lnTo>
                    <a:pt x="40433" y="1095517"/>
                  </a:lnTo>
                  <a:lnTo>
                    <a:pt x="22270" y="1093464"/>
                  </a:lnTo>
                  <a:lnTo>
                    <a:pt x="0" y="1092708"/>
                  </a:lnTo>
                  <a:lnTo>
                    <a:pt x="22270" y="1091951"/>
                  </a:lnTo>
                  <a:lnTo>
                    <a:pt x="40433" y="1089898"/>
                  </a:lnTo>
                  <a:lnTo>
                    <a:pt x="52667" y="1086867"/>
                  </a:lnTo>
                  <a:lnTo>
                    <a:pt x="57150" y="1083183"/>
                  </a:lnTo>
                  <a:lnTo>
                    <a:pt x="57150" y="759332"/>
                  </a:lnTo>
                  <a:lnTo>
                    <a:pt x="61632" y="755648"/>
                  </a:lnTo>
                  <a:lnTo>
                    <a:pt x="73866" y="752617"/>
                  </a:lnTo>
                  <a:lnTo>
                    <a:pt x="92029" y="750564"/>
                  </a:lnTo>
                  <a:lnTo>
                    <a:pt x="114300" y="749807"/>
                  </a:lnTo>
                </a:path>
                <a:path w="137160" h="2414270">
                  <a:moveTo>
                    <a:pt x="114300" y="2074164"/>
                  </a:moveTo>
                  <a:lnTo>
                    <a:pt x="92029" y="2073407"/>
                  </a:lnTo>
                  <a:lnTo>
                    <a:pt x="73866" y="2071354"/>
                  </a:lnTo>
                  <a:lnTo>
                    <a:pt x="61632" y="2068323"/>
                  </a:lnTo>
                  <a:lnTo>
                    <a:pt x="57150" y="2064639"/>
                  </a:lnTo>
                  <a:lnTo>
                    <a:pt x="57150" y="1786508"/>
                  </a:lnTo>
                  <a:lnTo>
                    <a:pt x="52667" y="1782824"/>
                  </a:lnTo>
                  <a:lnTo>
                    <a:pt x="40433" y="1779793"/>
                  </a:lnTo>
                  <a:lnTo>
                    <a:pt x="22270" y="1777740"/>
                  </a:lnTo>
                  <a:lnTo>
                    <a:pt x="0" y="1776983"/>
                  </a:lnTo>
                  <a:lnTo>
                    <a:pt x="22270" y="1776227"/>
                  </a:lnTo>
                  <a:lnTo>
                    <a:pt x="40433" y="1774174"/>
                  </a:lnTo>
                  <a:lnTo>
                    <a:pt x="52667" y="1771143"/>
                  </a:lnTo>
                  <a:lnTo>
                    <a:pt x="57150" y="1767458"/>
                  </a:lnTo>
                  <a:lnTo>
                    <a:pt x="57150" y="1489328"/>
                  </a:lnTo>
                  <a:lnTo>
                    <a:pt x="61632" y="1485644"/>
                  </a:lnTo>
                  <a:lnTo>
                    <a:pt x="73866" y="1482613"/>
                  </a:lnTo>
                  <a:lnTo>
                    <a:pt x="92029" y="1480560"/>
                  </a:lnTo>
                  <a:lnTo>
                    <a:pt x="114300" y="1479803"/>
                  </a:lnTo>
                </a:path>
                <a:path w="137160" h="2414270">
                  <a:moveTo>
                    <a:pt x="137160" y="2414016"/>
                  </a:moveTo>
                  <a:lnTo>
                    <a:pt x="110478" y="2413117"/>
                  </a:lnTo>
                  <a:lnTo>
                    <a:pt x="88677" y="2410667"/>
                  </a:lnTo>
                  <a:lnTo>
                    <a:pt x="73973" y="2407034"/>
                  </a:lnTo>
                  <a:lnTo>
                    <a:pt x="68580" y="2402585"/>
                  </a:lnTo>
                  <a:lnTo>
                    <a:pt x="68580" y="2288285"/>
                  </a:lnTo>
                  <a:lnTo>
                    <a:pt x="63186" y="2283837"/>
                  </a:lnTo>
                  <a:lnTo>
                    <a:pt x="48482" y="2280204"/>
                  </a:lnTo>
                  <a:lnTo>
                    <a:pt x="26681" y="2277754"/>
                  </a:lnTo>
                  <a:lnTo>
                    <a:pt x="0" y="2276855"/>
                  </a:lnTo>
                  <a:lnTo>
                    <a:pt x="26681" y="2275957"/>
                  </a:lnTo>
                  <a:lnTo>
                    <a:pt x="48482" y="2273507"/>
                  </a:lnTo>
                  <a:lnTo>
                    <a:pt x="63186" y="2269874"/>
                  </a:lnTo>
                  <a:lnTo>
                    <a:pt x="68580" y="2265426"/>
                  </a:lnTo>
                  <a:lnTo>
                    <a:pt x="68580" y="2151126"/>
                  </a:lnTo>
                  <a:lnTo>
                    <a:pt x="73973" y="2146661"/>
                  </a:lnTo>
                  <a:lnTo>
                    <a:pt x="88677" y="2143029"/>
                  </a:lnTo>
                  <a:lnTo>
                    <a:pt x="110478" y="2140588"/>
                  </a:lnTo>
                  <a:lnTo>
                    <a:pt x="137160" y="2139695"/>
                  </a:lnTo>
                </a:path>
              </a:pathLst>
            </a:custGeom>
            <a:ln w="9144">
              <a:solidFill>
                <a:srgbClr val="539E39"/>
              </a:solidFill>
            </a:ln>
          </p:spPr>
          <p:txBody>
            <a:bodyPr wrap="square" lIns="0" tIns="0" rIns="0" bIns="0" rtlCol="0"/>
            <a:lstStyle/>
            <a:p>
              <a:endParaRPr/>
            </a:p>
          </p:txBody>
        </p:sp>
      </p:grpSp>
      <p:sp>
        <p:nvSpPr>
          <p:cNvPr id="19" name="object 19"/>
          <p:cNvSpPr txBox="1"/>
          <p:nvPr/>
        </p:nvSpPr>
        <p:spPr>
          <a:xfrm>
            <a:off x="4801489" y="5863590"/>
            <a:ext cx="290830" cy="177800"/>
          </a:xfrm>
          <a:prstGeom prst="rect">
            <a:avLst/>
          </a:prstGeom>
        </p:spPr>
        <p:txBody>
          <a:bodyPr vert="horz" wrap="square" lIns="0" tIns="12065" rIns="0" bIns="0" rtlCol="0">
            <a:spAutoFit/>
          </a:bodyPr>
          <a:lstStyle/>
          <a:p>
            <a:pPr>
              <a:lnSpc>
                <a:spcPct val="100000"/>
              </a:lnSpc>
              <a:spcBef>
                <a:spcPts val="95"/>
              </a:spcBef>
            </a:pPr>
            <a:r>
              <a:rPr sz="1000" b="1" dirty="0">
                <a:solidFill>
                  <a:srgbClr val="FF0000"/>
                </a:solidFill>
                <a:latin typeface="Times New Roman"/>
                <a:cs typeface="Times New Roman"/>
              </a:rPr>
              <a:t>20</a:t>
            </a:r>
            <a:r>
              <a:rPr sz="1000" b="1" spc="-10" dirty="0">
                <a:solidFill>
                  <a:srgbClr val="FF0000"/>
                </a:solidFill>
                <a:latin typeface="Times New Roman"/>
                <a:cs typeface="Times New Roman"/>
              </a:rPr>
              <a:t> </a:t>
            </a:r>
            <a:r>
              <a:rPr sz="1000" b="1" spc="-25" dirty="0">
                <a:solidFill>
                  <a:srgbClr val="FF0000"/>
                </a:solidFill>
                <a:latin typeface="Times New Roman"/>
                <a:cs typeface="Times New Roman"/>
              </a:rPr>
              <a:t>ns</a:t>
            </a:r>
            <a:endParaRPr sz="1000">
              <a:latin typeface="Times New Roman"/>
              <a:cs typeface="Times New Roman"/>
            </a:endParaRPr>
          </a:p>
        </p:txBody>
      </p:sp>
      <p:sp>
        <p:nvSpPr>
          <p:cNvPr id="20" name="object 20"/>
          <p:cNvSpPr txBox="1"/>
          <p:nvPr/>
        </p:nvSpPr>
        <p:spPr>
          <a:xfrm>
            <a:off x="6053328" y="5984494"/>
            <a:ext cx="228600" cy="177800"/>
          </a:xfrm>
          <a:prstGeom prst="rect">
            <a:avLst/>
          </a:prstGeom>
        </p:spPr>
        <p:txBody>
          <a:bodyPr vert="horz" wrap="square" lIns="0" tIns="12065" rIns="0" bIns="0" rtlCol="0">
            <a:spAutoFit/>
          </a:bodyPr>
          <a:lstStyle/>
          <a:p>
            <a:pPr>
              <a:lnSpc>
                <a:spcPct val="100000"/>
              </a:lnSpc>
              <a:spcBef>
                <a:spcPts val="95"/>
              </a:spcBef>
            </a:pPr>
            <a:r>
              <a:rPr sz="1000" b="1" dirty="0">
                <a:solidFill>
                  <a:srgbClr val="FF0000"/>
                </a:solidFill>
                <a:latin typeface="Times New Roman"/>
                <a:cs typeface="Times New Roman"/>
              </a:rPr>
              <a:t>5 </a:t>
            </a:r>
            <a:r>
              <a:rPr sz="1000" b="1" spc="-25" dirty="0">
                <a:solidFill>
                  <a:srgbClr val="FF0000"/>
                </a:solidFill>
                <a:latin typeface="Times New Roman"/>
                <a:cs typeface="Times New Roman"/>
              </a:rPr>
              <a:t>ns</a:t>
            </a:r>
            <a:endParaRPr sz="1000">
              <a:latin typeface="Times New Roman"/>
              <a:cs typeface="Times New Roman"/>
            </a:endParaRPr>
          </a:p>
        </p:txBody>
      </p:sp>
      <p:sp>
        <p:nvSpPr>
          <p:cNvPr id="21" name="object 21"/>
          <p:cNvSpPr txBox="1"/>
          <p:nvPr/>
        </p:nvSpPr>
        <p:spPr>
          <a:xfrm>
            <a:off x="4812157" y="6643878"/>
            <a:ext cx="228600" cy="177800"/>
          </a:xfrm>
          <a:prstGeom prst="rect">
            <a:avLst/>
          </a:prstGeom>
        </p:spPr>
        <p:txBody>
          <a:bodyPr vert="horz" wrap="square" lIns="0" tIns="12065" rIns="0" bIns="0" rtlCol="0">
            <a:spAutoFit/>
          </a:bodyPr>
          <a:lstStyle/>
          <a:p>
            <a:pPr>
              <a:lnSpc>
                <a:spcPct val="100000"/>
              </a:lnSpc>
              <a:spcBef>
                <a:spcPts val="95"/>
              </a:spcBef>
            </a:pPr>
            <a:r>
              <a:rPr sz="1000" b="1" dirty="0">
                <a:solidFill>
                  <a:srgbClr val="FF0000"/>
                </a:solidFill>
                <a:latin typeface="Times New Roman"/>
                <a:cs typeface="Times New Roman"/>
              </a:rPr>
              <a:t>2 </a:t>
            </a:r>
            <a:r>
              <a:rPr sz="1000" b="1" spc="-25" dirty="0">
                <a:solidFill>
                  <a:srgbClr val="FF0000"/>
                </a:solidFill>
                <a:latin typeface="Times New Roman"/>
                <a:cs typeface="Times New Roman"/>
              </a:rPr>
              <a:t>ns</a:t>
            </a:r>
            <a:endParaRPr sz="1000">
              <a:latin typeface="Times New Roman"/>
              <a:cs typeface="Times New Roman"/>
            </a:endParaRPr>
          </a:p>
        </p:txBody>
      </p:sp>
      <p:sp>
        <p:nvSpPr>
          <p:cNvPr id="22" name="object 22"/>
          <p:cNvSpPr txBox="1"/>
          <p:nvPr/>
        </p:nvSpPr>
        <p:spPr>
          <a:xfrm>
            <a:off x="6024626" y="6643878"/>
            <a:ext cx="290830" cy="177800"/>
          </a:xfrm>
          <a:prstGeom prst="rect">
            <a:avLst/>
          </a:prstGeom>
        </p:spPr>
        <p:txBody>
          <a:bodyPr vert="horz" wrap="square" lIns="0" tIns="12065" rIns="0" bIns="0" rtlCol="0">
            <a:spAutoFit/>
          </a:bodyPr>
          <a:lstStyle/>
          <a:p>
            <a:pPr>
              <a:lnSpc>
                <a:spcPct val="100000"/>
              </a:lnSpc>
              <a:spcBef>
                <a:spcPts val="95"/>
              </a:spcBef>
            </a:pPr>
            <a:r>
              <a:rPr sz="1000" b="1" dirty="0">
                <a:solidFill>
                  <a:srgbClr val="FF0000"/>
                </a:solidFill>
                <a:latin typeface="Times New Roman"/>
                <a:cs typeface="Times New Roman"/>
              </a:rPr>
              <a:t>20</a:t>
            </a:r>
            <a:r>
              <a:rPr sz="1000" b="1" spc="-10" dirty="0">
                <a:solidFill>
                  <a:srgbClr val="FF0000"/>
                </a:solidFill>
                <a:latin typeface="Times New Roman"/>
                <a:cs typeface="Times New Roman"/>
              </a:rPr>
              <a:t> </a:t>
            </a:r>
            <a:r>
              <a:rPr sz="1000" b="1" spc="-25" dirty="0">
                <a:solidFill>
                  <a:srgbClr val="FF0000"/>
                </a:solidFill>
                <a:latin typeface="Times New Roman"/>
                <a:cs typeface="Times New Roman"/>
              </a:rPr>
              <a:t>ns</a:t>
            </a:r>
            <a:endParaRPr sz="1000">
              <a:latin typeface="Times New Roman"/>
              <a:cs typeface="Times New Roman"/>
            </a:endParaRPr>
          </a:p>
        </p:txBody>
      </p:sp>
      <p:sp>
        <p:nvSpPr>
          <p:cNvPr id="23" name="object 23"/>
          <p:cNvSpPr txBox="1"/>
          <p:nvPr/>
        </p:nvSpPr>
        <p:spPr>
          <a:xfrm>
            <a:off x="6021323" y="7324090"/>
            <a:ext cx="290830" cy="177800"/>
          </a:xfrm>
          <a:prstGeom prst="rect">
            <a:avLst/>
          </a:prstGeom>
        </p:spPr>
        <p:txBody>
          <a:bodyPr vert="horz" wrap="square" lIns="0" tIns="12065" rIns="0" bIns="0" rtlCol="0">
            <a:spAutoFit/>
          </a:bodyPr>
          <a:lstStyle/>
          <a:p>
            <a:pPr>
              <a:lnSpc>
                <a:spcPct val="100000"/>
              </a:lnSpc>
              <a:spcBef>
                <a:spcPts val="95"/>
              </a:spcBef>
            </a:pPr>
            <a:r>
              <a:rPr sz="1000" b="1" dirty="0">
                <a:solidFill>
                  <a:srgbClr val="FF0000"/>
                </a:solidFill>
                <a:latin typeface="Times New Roman"/>
                <a:cs typeface="Times New Roman"/>
              </a:rPr>
              <a:t>15</a:t>
            </a:r>
            <a:r>
              <a:rPr sz="1000" b="1" spc="-10" dirty="0">
                <a:solidFill>
                  <a:srgbClr val="FF0000"/>
                </a:solidFill>
                <a:latin typeface="Times New Roman"/>
                <a:cs typeface="Times New Roman"/>
              </a:rPr>
              <a:t> </a:t>
            </a:r>
            <a:r>
              <a:rPr sz="1000" b="1" spc="-25" dirty="0">
                <a:solidFill>
                  <a:srgbClr val="FF0000"/>
                </a:solidFill>
                <a:latin typeface="Times New Roman"/>
                <a:cs typeface="Times New Roman"/>
              </a:rPr>
              <a:t>ns</a:t>
            </a:r>
            <a:endParaRPr sz="1000">
              <a:latin typeface="Times New Roman"/>
              <a:cs typeface="Times New Roman"/>
            </a:endParaRPr>
          </a:p>
        </p:txBody>
      </p:sp>
      <p:sp>
        <p:nvSpPr>
          <p:cNvPr id="24" name="object 24"/>
          <p:cNvSpPr txBox="1"/>
          <p:nvPr/>
        </p:nvSpPr>
        <p:spPr>
          <a:xfrm>
            <a:off x="4757292" y="7323531"/>
            <a:ext cx="228600" cy="177800"/>
          </a:xfrm>
          <a:prstGeom prst="rect">
            <a:avLst/>
          </a:prstGeom>
        </p:spPr>
        <p:txBody>
          <a:bodyPr vert="horz" wrap="square" lIns="0" tIns="12065" rIns="0" bIns="0" rtlCol="0">
            <a:spAutoFit/>
          </a:bodyPr>
          <a:lstStyle/>
          <a:p>
            <a:pPr>
              <a:lnSpc>
                <a:spcPct val="100000"/>
              </a:lnSpc>
              <a:spcBef>
                <a:spcPts val="95"/>
              </a:spcBef>
            </a:pPr>
            <a:r>
              <a:rPr sz="1000" b="1" dirty="0">
                <a:solidFill>
                  <a:srgbClr val="FF0000"/>
                </a:solidFill>
                <a:latin typeface="Times New Roman"/>
                <a:cs typeface="Times New Roman"/>
              </a:rPr>
              <a:t>2</a:t>
            </a:r>
            <a:r>
              <a:rPr sz="1000" b="1" spc="-5" dirty="0">
                <a:solidFill>
                  <a:srgbClr val="FF0000"/>
                </a:solidFill>
                <a:latin typeface="Times New Roman"/>
                <a:cs typeface="Times New Roman"/>
              </a:rPr>
              <a:t> </a:t>
            </a:r>
            <a:r>
              <a:rPr sz="1000" b="1" spc="-25" dirty="0">
                <a:solidFill>
                  <a:srgbClr val="FF0000"/>
                </a:solidFill>
                <a:latin typeface="Times New Roman"/>
                <a:cs typeface="Times New Roman"/>
              </a:rPr>
              <a:t>ns</a:t>
            </a:r>
            <a:endParaRPr sz="100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12723" y="1092835"/>
            <a:ext cx="3637915" cy="360680"/>
          </a:xfrm>
          <a:prstGeom prst="rect">
            <a:avLst/>
          </a:prstGeom>
        </p:spPr>
        <p:txBody>
          <a:bodyPr vert="horz" wrap="square" lIns="0" tIns="12065" rIns="0" bIns="0" rtlCol="0">
            <a:spAutoFit/>
          </a:bodyPr>
          <a:lstStyle/>
          <a:p>
            <a:pPr marL="12700">
              <a:lnSpc>
                <a:spcPct val="100000"/>
              </a:lnSpc>
              <a:spcBef>
                <a:spcPts val="95"/>
              </a:spcBef>
            </a:pPr>
            <a:r>
              <a:rPr sz="2200" spc="-10" dirty="0">
                <a:latin typeface="Georgia"/>
                <a:cs typeface="Georgia"/>
              </a:rPr>
              <a:t>Instruction</a:t>
            </a:r>
            <a:r>
              <a:rPr sz="2200" spc="-55" dirty="0">
                <a:latin typeface="Georgia"/>
                <a:cs typeface="Georgia"/>
              </a:rPr>
              <a:t> </a:t>
            </a:r>
            <a:r>
              <a:rPr sz="2200" dirty="0">
                <a:latin typeface="Georgia"/>
                <a:cs typeface="Georgia"/>
              </a:rPr>
              <a:t>Pipeline</a:t>
            </a:r>
            <a:r>
              <a:rPr sz="2200" spc="-75" dirty="0">
                <a:latin typeface="Georgia"/>
                <a:cs typeface="Georgia"/>
              </a:rPr>
              <a:t> </a:t>
            </a:r>
            <a:r>
              <a:rPr sz="2200" spc="-10" dirty="0">
                <a:latin typeface="Georgia"/>
                <a:cs typeface="Georgia"/>
              </a:rPr>
              <a:t>Example</a:t>
            </a:r>
            <a:endParaRPr sz="2200">
              <a:latin typeface="Georgia"/>
              <a:cs typeface="Georgia"/>
            </a:endParaRPr>
          </a:p>
        </p:txBody>
      </p:sp>
      <p:pic>
        <p:nvPicPr>
          <p:cNvPr id="3" name="object 3"/>
          <p:cNvPicPr/>
          <p:nvPr/>
        </p:nvPicPr>
        <p:blipFill>
          <a:blip r:embed="rId2" cstate="print"/>
          <a:stretch>
            <a:fillRect/>
          </a:stretch>
        </p:blipFill>
        <p:spPr>
          <a:xfrm>
            <a:off x="1623060" y="2183892"/>
            <a:ext cx="3712464" cy="976883"/>
          </a:xfrm>
          <a:prstGeom prst="rect">
            <a:avLst/>
          </a:prstGeom>
        </p:spPr>
      </p:pic>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1370838" y="6712458"/>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7" name="object 7"/>
          <p:cNvSpPr txBox="1"/>
          <p:nvPr/>
        </p:nvSpPr>
        <p:spPr>
          <a:xfrm>
            <a:off x="496823" y="4966715"/>
            <a:ext cx="5862955" cy="3190240"/>
          </a:xfrm>
          <a:prstGeom prst="rect">
            <a:avLst/>
          </a:prstGeom>
          <a:ln w="6096">
            <a:solidFill>
              <a:srgbClr val="FFFFFF"/>
            </a:solidFill>
          </a:ln>
        </p:spPr>
        <p:txBody>
          <a:bodyPr vert="horz" wrap="square" lIns="0" tIns="360045" rIns="0" bIns="0" rtlCol="0">
            <a:spAutoFit/>
          </a:bodyPr>
          <a:lstStyle/>
          <a:p>
            <a:pPr>
              <a:lnSpc>
                <a:spcPct val="100000"/>
              </a:lnSpc>
              <a:spcBef>
                <a:spcPts val="2835"/>
              </a:spcBef>
            </a:pPr>
            <a:endParaRPr sz="3250">
              <a:latin typeface="Times New Roman"/>
              <a:cs typeface="Times New Roman"/>
            </a:endParaRPr>
          </a:p>
          <a:p>
            <a:pPr marL="935990" marR="927735" algn="ctr">
              <a:lnSpc>
                <a:spcPct val="91500"/>
              </a:lnSpc>
            </a:pPr>
            <a:r>
              <a:rPr sz="3250" b="1" spc="-75" dirty="0">
                <a:solidFill>
                  <a:srgbClr val="FFFFFF"/>
                </a:solidFill>
                <a:latin typeface="Times New Roman"/>
                <a:cs typeface="Times New Roman"/>
              </a:rPr>
              <a:t>RISC</a:t>
            </a:r>
            <a:r>
              <a:rPr sz="3250" b="1" spc="-80" dirty="0">
                <a:solidFill>
                  <a:srgbClr val="FFFFFF"/>
                </a:solidFill>
                <a:latin typeface="Times New Roman"/>
                <a:cs typeface="Times New Roman"/>
              </a:rPr>
              <a:t> </a:t>
            </a:r>
            <a:r>
              <a:rPr sz="3250" b="1" dirty="0">
                <a:solidFill>
                  <a:srgbClr val="FFFFFF"/>
                </a:solidFill>
                <a:latin typeface="Times New Roman"/>
                <a:cs typeface="Times New Roman"/>
              </a:rPr>
              <a:t>and</a:t>
            </a:r>
            <a:r>
              <a:rPr sz="3250" b="1" spc="-55" dirty="0">
                <a:solidFill>
                  <a:srgbClr val="FFFFFF"/>
                </a:solidFill>
                <a:latin typeface="Times New Roman"/>
                <a:cs typeface="Times New Roman"/>
              </a:rPr>
              <a:t> </a:t>
            </a:r>
            <a:r>
              <a:rPr sz="3250" b="1" dirty="0">
                <a:solidFill>
                  <a:srgbClr val="FFFFFF"/>
                </a:solidFill>
                <a:latin typeface="Times New Roman"/>
                <a:cs typeface="Times New Roman"/>
              </a:rPr>
              <a:t>its</a:t>
            </a:r>
            <a:r>
              <a:rPr sz="3250" b="1" spc="-60" dirty="0">
                <a:solidFill>
                  <a:srgbClr val="FFFFFF"/>
                </a:solidFill>
                <a:latin typeface="Times New Roman"/>
                <a:cs typeface="Times New Roman"/>
              </a:rPr>
              <a:t> </a:t>
            </a:r>
            <a:r>
              <a:rPr sz="3250" b="1" spc="-70" dirty="0">
                <a:solidFill>
                  <a:srgbClr val="FFFFFF"/>
                </a:solidFill>
                <a:latin typeface="Times New Roman"/>
                <a:cs typeface="Times New Roman"/>
              </a:rPr>
              <a:t>five-</a:t>
            </a:r>
            <a:r>
              <a:rPr sz="3250" b="1" spc="-10" dirty="0">
                <a:solidFill>
                  <a:srgbClr val="FFFFFF"/>
                </a:solidFill>
                <a:latin typeface="Times New Roman"/>
                <a:cs typeface="Times New Roman"/>
              </a:rPr>
              <a:t>stage </a:t>
            </a:r>
            <a:r>
              <a:rPr sz="3250" b="1" dirty="0">
                <a:solidFill>
                  <a:srgbClr val="FFFFFF"/>
                </a:solidFill>
                <a:latin typeface="Times New Roman"/>
                <a:cs typeface="Times New Roman"/>
              </a:rPr>
              <a:t>Pipeline</a:t>
            </a:r>
            <a:r>
              <a:rPr sz="3250" b="1" spc="40" dirty="0">
                <a:solidFill>
                  <a:srgbClr val="FFFFFF"/>
                </a:solidFill>
                <a:latin typeface="Times New Roman"/>
                <a:cs typeface="Times New Roman"/>
              </a:rPr>
              <a:t> </a:t>
            </a:r>
            <a:r>
              <a:rPr sz="3250" b="1" spc="-10" dirty="0">
                <a:solidFill>
                  <a:srgbClr val="FFFFFF"/>
                </a:solidFill>
                <a:latin typeface="Times New Roman"/>
                <a:cs typeface="Times New Roman"/>
              </a:rPr>
              <a:t>Architecture </a:t>
            </a:r>
            <a:r>
              <a:rPr sz="3250" b="1" dirty="0">
                <a:solidFill>
                  <a:srgbClr val="FFFFFF"/>
                </a:solidFill>
                <a:latin typeface="Times New Roman"/>
                <a:cs typeface="Times New Roman"/>
              </a:rPr>
              <a:t>(Instruction</a:t>
            </a:r>
            <a:r>
              <a:rPr sz="3250" b="1" spc="-165" dirty="0">
                <a:solidFill>
                  <a:srgbClr val="FFFFFF"/>
                </a:solidFill>
                <a:latin typeface="Times New Roman"/>
                <a:cs typeface="Times New Roman"/>
              </a:rPr>
              <a:t> </a:t>
            </a:r>
            <a:r>
              <a:rPr sz="3250" b="1" spc="-10" dirty="0">
                <a:solidFill>
                  <a:srgbClr val="FFFFFF"/>
                </a:solidFill>
                <a:latin typeface="Times New Roman"/>
                <a:cs typeface="Times New Roman"/>
              </a:rPr>
              <a:t>Pipeline)</a:t>
            </a:r>
            <a:endParaRPr sz="325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RISC:</a:t>
            </a:r>
            <a:r>
              <a:rPr spc="-25" dirty="0"/>
              <a:t> </a:t>
            </a:r>
            <a:r>
              <a:rPr dirty="0"/>
              <a:t>Reduced</a:t>
            </a:r>
            <a:r>
              <a:rPr spc="-20" dirty="0"/>
              <a:t> </a:t>
            </a:r>
            <a:r>
              <a:rPr dirty="0"/>
              <a:t>Instruction</a:t>
            </a:r>
            <a:r>
              <a:rPr spc="-45" dirty="0"/>
              <a:t> </a:t>
            </a:r>
            <a:r>
              <a:rPr dirty="0"/>
              <a:t>Set</a:t>
            </a:r>
            <a:r>
              <a:rPr spc="-15" dirty="0"/>
              <a:t> </a:t>
            </a:r>
            <a:r>
              <a:rPr spc="-10" dirty="0"/>
              <a:t>Computer</a:t>
            </a:r>
          </a:p>
        </p:txBody>
      </p:sp>
      <p:sp>
        <p:nvSpPr>
          <p:cNvPr id="3" name="object 3"/>
          <p:cNvSpPr txBox="1"/>
          <p:nvPr/>
        </p:nvSpPr>
        <p:spPr>
          <a:xfrm>
            <a:off x="746861" y="2255901"/>
            <a:ext cx="4366260" cy="1800225"/>
          </a:xfrm>
          <a:prstGeom prst="rect">
            <a:avLst/>
          </a:prstGeom>
        </p:spPr>
        <p:txBody>
          <a:bodyPr vert="horz" wrap="square" lIns="0" tIns="82550" rIns="0" bIns="0" rtlCol="0">
            <a:spAutoFit/>
          </a:bodyPr>
          <a:lstStyle/>
          <a:p>
            <a:pPr marL="182245" indent="-169545">
              <a:lnSpc>
                <a:spcPct val="100000"/>
              </a:lnSpc>
              <a:spcBef>
                <a:spcPts val="650"/>
              </a:spcBef>
              <a:buClr>
                <a:srgbClr val="3E762B"/>
              </a:buClr>
              <a:buFont typeface="Wingdings"/>
              <a:buChar char=""/>
              <a:tabLst>
                <a:tab pos="182245" algn="l"/>
              </a:tabLst>
            </a:pPr>
            <a:r>
              <a:rPr sz="1200" b="1" dirty="0">
                <a:latin typeface="Times New Roman"/>
                <a:cs typeface="Times New Roman"/>
              </a:rPr>
              <a:t>I</a:t>
            </a:r>
            <a:r>
              <a:rPr sz="1200" dirty="0">
                <a:latin typeface="Times New Roman"/>
                <a:cs typeface="Times New Roman"/>
              </a:rPr>
              <a:t>nstruction</a:t>
            </a:r>
            <a:r>
              <a:rPr sz="1200" spc="-60" dirty="0">
                <a:latin typeface="Times New Roman"/>
                <a:cs typeface="Times New Roman"/>
              </a:rPr>
              <a:t> </a:t>
            </a:r>
            <a:r>
              <a:rPr sz="1200" b="1" dirty="0">
                <a:latin typeface="Times New Roman"/>
                <a:cs typeface="Times New Roman"/>
              </a:rPr>
              <a:t>F</a:t>
            </a:r>
            <a:r>
              <a:rPr sz="1200" dirty="0">
                <a:latin typeface="Times New Roman"/>
                <a:cs typeface="Times New Roman"/>
              </a:rPr>
              <a:t>etch</a:t>
            </a:r>
            <a:r>
              <a:rPr sz="1200" spc="-55" dirty="0">
                <a:latin typeface="Times New Roman"/>
                <a:cs typeface="Times New Roman"/>
              </a:rPr>
              <a:t> </a:t>
            </a:r>
            <a:r>
              <a:rPr sz="1200" dirty="0">
                <a:latin typeface="Times New Roman"/>
                <a:cs typeface="Times New Roman"/>
              </a:rPr>
              <a:t>cycle:</a:t>
            </a:r>
            <a:r>
              <a:rPr sz="1200" spc="-30" dirty="0">
                <a:latin typeface="Times New Roman"/>
                <a:cs typeface="Times New Roman"/>
              </a:rPr>
              <a:t> </a:t>
            </a:r>
            <a:r>
              <a:rPr sz="1200" b="1" spc="-25" dirty="0">
                <a:solidFill>
                  <a:srgbClr val="3E762B"/>
                </a:solidFill>
                <a:latin typeface="Times New Roman"/>
                <a:cs typeface="Times New Roman"/>
              </a:rPr>
              <a:t>IF</a:t>
            </a:r>
            <a:endParaRPr sz="1200" dirty="0">
              <a:latin typeface="Times New Roman"/>
              <a:cs typeface="Times New Roman"/>
            </a:endParaRPr>
          </a:p>
          <a:p>
            <a:pPr marL="557530" lvl="1" indent="-87630">
              <a:lnSpc>
                <a:spcPct val="100000"/>
              </a:lnSpc>
              <a:spcBef>
                <a:spcPts val="550"/>
              </a:spcBef>
              <a:buChar char="-"/>
              <a:tabLst>
                <a:tab pos="557530" algn="l"/>
              </a:tabLst>
            </a:pPr>
            <a:r>
              <a:rPr sz="1200" dirty="0">
                <a:latin typeface="Times New Roman"/>
                <a:cs typeface="Times New Roman"/>
              </a:rPr>
              <a:t>send</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PC</a:t>
            </a:r>
            <a:r>
              <a:rPr sz="1200" spc="-20" dirty="0">
                <a:latin typeface="Times New Roman"/>
                <a:cs typeface="Times New Roman"/>
              </a:rPr>
              <a:t> </a:t>
            </a:r>
            <a:r>
              <a:rPr sz="1200" dirty="0">
                <a:latin typeface="Times New Roman"/>
                <a:cs typeface="Times New Roman"/>
              </a:rPr>
              <a:t>to</a:t>
            </a:r>
            <a:r>
              <a:rPr sz="1200" spc="-10" dirty="0">
                <a:latin typeface="Times New Roman"/>
                <a:cs typeface="Times New Roman"/>
              </a:rPr>
              <a:t> memory</a:t>
            </a:r>
            <a:endParaRPr sz="1200" dirty="0">
              <a:latin typeface="Times New Roman"/>
              <a:cs typeface="Times New Roman"/>
            </a:endParaRPr>
          </a:p>
          <a:p>
            <a:pPr marL="557530" lvl="1" indent="-87630">
              <a:lnSpc>
                <a:spcPct val="100000"/>
              </a:lnSpc>
              <a:spcBef>
                <a:spcPts val="570"/>
              </a:spcBef>
              <a:buChar char="-"/>
              <a:tabLst>
                <a:tab pos="557530" algn="l"/>
              </a:tabLst>
            </a:pPr>
            <a:r>
              <a:rPr sz="1200" dirty="0">
                <a:latin typeface="Times New Roman"/>
                <a:cs typeface="Times New Roman"/>
              </a:rPr>
              <a:t>fetch</a:t>
            </a:r>
            <a:r>
              <a:rPr sz="1200" spc="-4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current</a:t>
            </a:r>
            <a:r>
              <a:rPr sz="1200" spc="-35" dirty="0">
                <a:latin typeface="Times New Roman"/>
                <a:cs typeface="Times New Roman"/>
              </a:rPr>
              <a:t> </a:t>
            </a:r>
            <a:r>
              <a:rPr sz="1200" dirty="0">
                <a:latin typeface="Times New Roman"/>
                <a:cs typeface="Times New Roman"/>
              </a:rPr>
              <a:t>instruction</a:t>
            </a:r>
            <a:r>
              <a:rPr sz="1200" spc="-50" dirty="0">
                <a:latin typeface="Times New Roman"/>
                <a:cs typeface="Times New Roman"/>
              </a:rPr>
              <a:t> </a:t>
            </a:r>
            <a:r>
              <a:rPr sz="1200" dirty="0">
                <a:latin typeface="Times New Roman"/>
                <a:cs typeface="Times New Roman"/>
              </a:rPr>
              <a:t>from</a:t>
            </a:r>
            <a:r>
              <a:rPr sz="1200" spc="-40" dirty="0">
                <a:latin typeface="Times New Roman"/>
                <a:cs typeface="Times New Roman"/>
              </a:rPr>
              <a:t> </a:t>
            </a:r>
            <a:r>
              <a:rPr sz="1200" spc="-20" dirty="0">
                <a:latin typeface="Times New Roman"/>
                <a:cs typeface="Times New Roman"/>
              </a:rPr>
              <a:t>mem;</a:t>
            </a:r>
            <a:endParaRPr sz="1200" dirty="0">
              <a:latin typeface="Times New Roman"/>
              <a:cs typeface="Times New Roman"/>
            </a:endParaRPr>
          </a:p>
          <a:p>
            <a:pPr marL="557530" lvl="1" indent="-87630">
              <a:lnSpc>
                <a:spcPct val="100000"/>
              </a:lnSpc>
              <a:spcBef>
                <a:spcPts val="550"/>
              </a:spcBef>
              <a:buChar char="-"/>
              <a:tabLst>
                <a:tab pos="557530" algn="l"/>
              </a:tabLst>
            </a:pPr>
            <a:r>
              <a:rPr sz="1200" dirty="0">
                <a:latin typeface="Times New Roman"/>
                <a:cs typeface="Times New Roman"/>
              </a:rPr>
              <a:t>PC</a:t>
            </a:r>
            <a:r>
              <a:rPr sz="1200" spc="-1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PC</a:t>
            </a:r>
            <a:r>
              <a:rPr sz="1200" spc="-2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4;</a:t>
            </a:r>
            <a:r>
              <a:rPr sz="1200" spc="-25" dirty="0">
                <a:latin typeface="Times New Roman"/>
                <a:cs typeface="Times New Roman"/>
              </a:rPr>
              <a:t> </a:t>
            </a:r>
            <a:r>
              <a:rPr sz="1200" dirty="0">
                <a:latin typeface="Times New Roman"/>
                <a:cs typeface="Times New Roman"/>
              </a:rPr>
              <a:t>//each</a:t>
            </a:r>
            <a:r>
              <a:rPr sz="1200" spc="-10" dirty="0">
                <a:latin typeface="Times New Roman"/>
                <a:cs typeface="Times New Roman"/>
              </a:rPr>
              <a:t> </a:t>
            </a:r>
            <a:r>
              <a:rPr sz="1200" dirty="0">
                <a:latin typeface="Times New Roman"/>
                <a:cs typeface="Times New Roman"/>
              </a:rPr>
              <a:t>instruction</a:t>
            </a:r>
            <a:r>
              <a:rPr sz="1200" spc="-30"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4</a:t>
            </a:r>
            <a:r>
              <a:rPr sz="1200" spc="-15" dirty="0">
                <a:latin typeface="Times New Roman"/>
                <a:cs typeface="Times New Roman"/>
              </a:rPr>
              <a:t> </a:t>
            </a:r>
            <a:r>
              <a:rPr sz="1200" spc="-10" dirty="0">
                <a:latin typeface="Times New Roman"/>
                <a:cs typeface="Times New Roman"/>
              </a:rPr>
              <a:t>bytes</a:t>
            </a:r>
            <a:endParaRPr sz="1200" dirty="0">
              <a:latin typeface="Times New Roman"/>
              <a:cs typeface="Times New Roman"/>
            </a:endParaRPr>
          </a:p>
          <a:p>
            <a:pPr marL="182245" indent="-169545">
              <a:lnSpc>
                <a:spcPct val="100000"/>
              </a:lnSpc>
              <a:spcBef>
                <a:spcPts val="555"/>
              </a:spcBef>
              <a:buClr>
                <a:srgbClr val="3E762B"/>
              </a:buClr>
              <a:buFont typeface="Wingdings"/>
              <a:buChar char=""/>
              <a:tabLst>
                <a:tab pos="182245" algn="l"/>
              </a:tabLst>
            </a:pPr>
            <a:r>
              <a:rPr sz="1200" b="1" dirty="0">
                <a:latin typeface="Times New Roman"/>
                <a:cs typeface="Times New Roman"/>
              </a:rPr>
              <a:t>I</a:t>
            </a:r>
            <a:r>
              <a:rPr sz="1200" dirty="0">
                <a:latin typeface="Times New Roman"/>
                <a:cs typeface="Times New Roman"/>
              </a:rPr>
              <a:t>nstruction</a:t>
            </a:r>
            <a:r>
              <a:rPr sz="1200" spc="-35" dirty="0">
                <a:latin typeface="Times New Roman"/>
                <a:cs typeface="Times New Roman"/>
              </a:rPr>
              <a:t> </a:t>
            </a:r>
            <a:r>
              <a:rPr sz="1200" b="1" spc="-10" dirty="0">
                <a:latin typeface="Times New Roman"/>
                <a:cs typeface="Times New Roman"/>
              </a:rPr>
              <a:t>D</a:t>
            </a:r>
            <a:r>
              <a:rPr sz="1200" spc="-10" dirty="0">
                <a:latin typeface="Times New Roman"/>
                <a:cs typeface="Times New Roman"/>
              </a:rPr>
              <a:t>ecode/register</a:t>
            </a:r>
            <a:r>
              <a:rPr sz="1200" spc="-20" dirty="0">
                <a:latin typeface="Times New Roman"/>
                <a:cs typeface="Times New Roman"/>
              </a:rPr>
              <a:t> </a:t>
            </a:r>
            <a:r>
              <a:rPr sz="1200" dirty="0">
                <a:latin typeface="Times New Roman"/>
                <a:cs typeface="Times New Roman"/>
              </a:rPr>
              <a:t>fetch</a:t>
            </a:r>
            <a:r>
              <a:rPr sz="1200" spc="-30" dirty="0">
                <a:latin typeface="Times New Roman"/>
                <a:cs typeface="Times New Roman"/>
              </a:rPr>
              <a:t> </a:t>
            </a:r>
            <a:r>
              <a:rPr sz="1200" dirty="0">
                <a:latin typeface="Times New Roman"/>
                <a:cs typeface="Times New Roman"/>
              </a:rPr>
              <a:t>cycle:</a:t>
            </a:r>
            <a:r>
              <a:rPr sz="1200" spc="5" dirty="0">
                <a:latin typeface="Times New Roman"/>
                <a:cs typeface="Times New Roman"/>
              </a:rPr>
              <a:t> </a:t>
            </a:r>
            <a:r>
              <a:rPr sz="1200" b="1" spc="-25" dirty="0">
                <a:solidFill>
                  <a:srgbClr val="3E762B"/>
                </a:solidFill>
                <a:latin typeface="Times New Roman"/>
                <a:cs typeface="Times New Roman"/>
              </a:rPr>
              <a:t>ID</a:t>
            </a:r>
            <a:endParaRPr sz="1200" dirty="0">
              <a:latin typeface="Times New Roman"/>
              <a:cs typeface="Times New Roman"/>
            </a:endParaRPr>
          </a:p>
          <a:p>
            <a:pPr marL="557530" lvl="1" indent="-87630">
              <a:lnSpc>
                <a:spcPct val="100000"/>
              </a:lnSpc>
              <a:spcBef>
                <a:spcPts val="560"/>
              </a:spcBef>
              <a:buChar char="-"/>
              <a:tabLst>
                <a:tab pos="557530" algn="l"/>
              </a:tabLst>
            </a:pPr>
            <a:r>
              <a:rPr sz="1200" dirty="0">
                <a:latin typeface="Times New Roman"/>
                <a:cs typeface="Times New Roman"/>
              </a:rPr>
              <a:t>decode</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instruction</a:t>
            </a:r>
            <a:endParaRPr sz="1200" dirty="0">
              <a:latin typeface="Times New Roman"/>
              <a:cs typeface="Times New Roman"/>
            </a:endParaRPr>
          </a:p>
          <a:p>
            <a:pPr marL="557530" lvl="1" indent="-87630">
              <a:lnSpc>
                <a:spcPct val="100000"/>
              </a:lnSpc>
              <a:spcBef>
                <a:spcPts val="555"/>
              </a:spcBef>
              <a:buChar char="-"/>
              <a:tabLst>
                <a:tab pos="557530" algn="l"/>
              </a:tabLst>
            </a:pPr>
            <a:r>
              <a:rPr sz="1200" dirty="0">
                <a:latin typeface="Times New Roman"/>
                <a:cs typeface="Times New Roman"/>
              </a:rPr>
              <a:t>read</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registers</a:t>
            </a:r>
            <a:r>
              <a:rPr sz="1200" spc="-20" dirty="0">
                <a:latin typeface="Times New Roman"/>
                <a:cs typeface="Times New Roman"/>
              </a:rPr>
              <a:t> </a:t>
            </a:r>
            <a:r>
              <a:rPr sz="1200" dirty="0">
                <a:latin typeface="Times New Roman"/>
                <a:cs typeface="Times New Roman"/>
              </a:rPr>
              <a:t>(corresponding</a:t>
            </a:r>
            <a:r>
              <a:rPr sz="1200" spc="-3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register</a:t>
            </a:r>
            <a:r>
              <a:rPr sz="1200" spc="-25" dirty="0">
                <a:latin typeface="Times New Roman"/>
                <a:cs typeface="Times New Roman"/>
              </a:rPr>
              <a:t> </a:t>
            </a:r>
            <a:r>
              <a:rPr sz="1200" dirty="0">
                <a:latin typeface="Times New Roman"/>
                <a:cs typeface="Times New Roman"/>
              </a:rPr>
              <a:t>source</a:t>
            </a:r>
            <a:r>
              <a:rPr sz="1200" spc="-35" dirty="0">
                <a:latin typeface="Times New Roman"/>
                <a:cs typeface="Times New Roman"/>
              </a:rPr>
              <a:t> </a:t>
            </a:r>
            <a:r>
              <a:rPr sz="1200" spc="-10" dirty="0">
                <a:latin typeface="Times New Roman"/>
                <a:cs typeface="Times New Roman"/>
              </a:rPr>
              <a:t>specifiers).</a:t>
            </a:r>
            <a:endParaRPr sz="1200" dirty="0">
              <a:latin typeface="Times New Roman"/>
              <a:cs typeface="Times New Roman"/>
            </a:endParaRPr>
          </a:p>
        </p:txBody>
      </p:sp>
      <p:sp>
        <p:nvSpPr>
          <p:cNvPr id="4" name="object 4"/>
          <p:cNvSpPr txBox="1"/>
          <p:nvPr/>
        </p:nvSpPr>
        <p:spPr>
          <a:xfrm>
            <a:off x="1718310" y="1587246"/>
            <a:ext cx="2272665" cy="520065"/>
          </a:xfrm>
          <a:prstGeom prst="rect">
            <a:avLst/>
          </a:prstGeom>
          <a:solidFill>
            <a:srgbClr val="FFFFFF"/>
          </a:solidFill>
          <a:ln w="13716">
            <a:solidFill>
              <a:srgbClr val="3E762B"/>
            </a:solidFill>
          </a:ln>
        </p:spPr>
        <p:txBody>
          <a:bodyPr vert="horz" wrap="square" lIns="0" tIns="17145" rIns="0" bIns="0" rtlCol="0">
            <a:spAutoFit/>
          </a:bodyPr>
          <a:lstStyle/>
          <a:p>
            <a:pPr marL="141605">
              <a:lnSpc>
                <a:spcPct val="100000"/>
              </a:lnSpc>
              <a:spcBef>
                <a:spcPts val="135"/>
              </a:spcBef>
            </a:pPr>
            <a:r>
              <a:rPr sz="1400" b="1" dirty="0">
                <a:latin typeface="Times New Roman"/>
                <a:cs typeface="Times New Roman"/>
              </a:rPr>
              <a:t>5</a:t>
            </a:r>
            <a:r>
              <a:rPr sz="1400" b="1" spc="-10" dirty="0">
                <a:latin typeface="Times New Roman"/>
                <a:cs typeface="Times New Roman"/>
              </a:rPr>
              <a:t> </a:t>
            </a:r>
            <a:r>
              <a:rPr sz="1400" dirty="0">
                <a:latin typeface="Times New Roman"/>
                <a:cs typeface="Times New Roman"/>
              </a:rPr>
              <a:t>clock</a:t>
            </a:r>
            <a:r>
              <a:rPr sz="1400" spc="-45" dirty="0">
                <a:latin typeface="Times New Roman"/>
                <a:cs typeface="Times New Roman"/>
              </a:rPr>
              <a:t> </a:t>
            </a:r>
            <a:r>
              <a:rPr sz="1400" dirty="0">
                <a:latin typeface="Times New Roman"/>
                <a:cs typeface="Times New Roman"/>
              </a:rPr>
              <a:t>cycles</a:t>
            </a:r>
            <a:r>
              <a:rPr sz="1400" spc="-15" dirty="0">
                <a:latin typeface="Times New Roman"/>
                <a:cs typeface="Times New Roman"/>
              </a:rPr>
              <a:t> </a:t>
            </a:r>
            <a:r>
              <a:rPr sz="1400" dirty="0">
                <a:latin typeface="Times New Roman"/>
                <a:cs typeface="Times New Roman"/>
              </a:rPr>
              <a:t>per</a:t>
            </a:r>
            <a:r>
              <a:rPr sz="1400" spc="-25" dirty="0">
                <a:latin typeface="Times New Roman"/>
                <a:cs typeface="Times New Roman"/>
              </a:rPr>
              <a:t> </a:t>
            </a:r>
            <a:r>
              <a:rPr sz="1400" spc="-10" dirty="0">
                <a:latin typeface="Times New Roman"/>
                <a:cs typeface="Times New Roman"/>
              </a:rPr>
              <a:t>instruction</a:t>
            </a:r>
            <a:endParaRPr sz="1400">
              <a:latin typeface="Times New Roman"/>
              <a:cs typeface="Times New Roman"/>
            </a:endParaRPr>
          </a:p>
          <a:p>
            <a:pPr marL="365760">
              <a:lnSpc>
                <a:spcPct val="100000"/>
              </a:lnSpc>
              <a:spcBef>
                <a:spcPts val="335"/>
              </a:spcBef>
            </a:pPr>
            <a:r>
              <a:rPr sz="1400" b="1" dirty="0">
                <a:solidFill>
                  <a:srgbClr val="3E762B"/>
                </a:solidFill>
                <a:latin typeface="Times New Roman"/>
                <a:cs typeface="Times New Roman"/>
              </a:rPr>
              <a:t>IF</a:t>
            </a:r>
            <a:r>
              <a:rPr sz="1400" b="1" spc="-70" dirty="0">
                <a:solidFill>
                  <a:srgbClr val="3E762B"/>
                </a:solidFill>
                <a:latin typeface="Times New Roman"/>
                <a:cs typeface="Times New Roman"/>
              </a:rPr>
              <a:t> </a:t>
            </a:r>
            <a:r>
              <a:rPr sz="1400" b="1" dirty="0">
                <a:solidFill>
                  <a:srgbClr val="3E762B"/>
                </a:solidFill>
                <a:latin typeface="Times New Roman"/>
                <a:cs typeface="Times New Roman"/>
              </a:rPr>
              <a:t>ID</a:t>
            </a:r>
            <a:r>
              <a:rPr sz="1400" b="1" spc="-35" dirty="0">
                <a:solidFill>
                  <a:srgbClr val="3E762B"/>
                </a:solidFill>
                <a:latin typeface="Times New Roman"/>
                <a:cs typeface="Times New Roman"/>
              </a:rPr>
              <a:t> </a:t>
            </a:r>
            <a:r>
              <a:rPr sz="1400" b="1" dirty="0">
                <a:solidFill>
                  <a:srgbClr val="3E762B"/>
                </a:solidFill>
                <a:latin typeface="Times New Roman"/>
                <a:cs typeface="Times New Roman"/>
              </a:rPr>
              <a:t>EX</a:t>
            </a:r>
            <a:r>
              <a:rPr sz="1400" b="1" spc="-15" dirty="0">
                <a:solidFill>
                  <a:srgbClr val="3E762B"/>
                </a:solidFill>
                <a:latin typeface="Times New Roman"/>
                <a:cs typeface="Times New Roman"/>
              </a:rPr>
              <a:t> </a:t>
            </a:r>
            <a:r>
              <a:rPr sz="1400" b="1" dirty="0">
                <a:solidFill>
                  <a:srgbClr val="3E762B"/>
                </a:solidFill>
                <a:latin typeface="Times New Roman"/>
                <a:cs typeface="Times New Roman"/>
              </a:rPr>
              <a:t>MEM</a:t>
            </a:r>
            <a:r>
              <a:rPr sz="1400" b="1" spc="-55" dirty="0">
                <a:solidFill>
                  <a:srgbClr val="3E762B"/>
                </a:solidFill>
                <a:latin typeface="Times New Roman"/>
                <a:cs typeface="Times New Roman"/>
              </a:rPr>
              <a:t> </a:t>
            </a:r>
            <a:r>
              <a:rPr sz="1400" b="1" spc="-25" dirty="0">
                <a:solidFill>
                  <a:srgbClr val="3E762B"/>
                </a:solidFill>
                <a:latin typeface="Times New Roman"/>
                <a:cs typeface="Times New Roman"/>
              </a:rPr>
              <a:t>WB</a:t>
            </a:r>
            <a:endParaRPr sz="1400">
              <a:latin typeface="Times New Roman"/>
              <a:cs typeface="Times New Roman"/>
            </a:endParaRPr>
          </a:p>
        </p:txBody>
      </p:sp>
      <p:grpSp>
        <p:nvGrpSpPr>
          <p:cNvPr id="5" name="object 5"/>
          <p:cNvGrpSpPr/>
          <p:nvPr/>
        </p:nvGrpSpPr>
        <p:grpSpPr>
          <a:xfrm>
            <a:off x="381000" y="4844796"/>
            <a:ext cx="6096000" cy="3429000"/>
            <a:chOff x="381000" y="4844796"/>
            <a:chExt cx="6096000" cy="3429000"/>
          </a:xfrm>
        </p:grpSpPr>
        <p:sp>
          <p:nvSpPr>
            <p:cNvPr id="6" name="object 6"/>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7" name="object 7"/>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8" name="object 8"/>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9" name="object 9"/>
            <p:cNvPicPr/>
            <p:nvPr/>
          </p:nvPicPr>
          <p:blipFill>
            <a:blip r:embed="rId2" cstate="print"/>
            <a:stretch>
              <a:fillRect/>
            </a:stretch>
          </p:blipFill>
          <p:spPr>
            <a:xfrm>
              <a:off x="1135380" y="6748259"/>
              <a:ext cx="1328166" cy="339102"/>
            </a:xfrm>
            <a:prstGeom prst="rect">
              <a:avLst/>
            </a:prstGeom>
          </p:spPr>
        </p:pic>
        <p:pic>
          <p:nvPicPr>
            <p:cNvPr id="10" name="object 10"/>
            <p:cNvPicPr/>
            <p:nvPr/>
          </p:nvPicPr>
          <p:blipFill>
            <a:blip r:embed="rId3" cstate="print"/>
            <a:stretch>
              <a:fillRect/>
            </a:stretch>
          </p:blipFill>
          <p:spPr>
            <a:xfrm>
              <a:off x="1135380" y="7045439"/>
              <a:ext cx="704850" cy="339102"/>
            </a:xfrm>
            <a:prstGeom prst="rect">
              <a:avLst/>
            </a:prstGeom>
          </p:spPr>
        </p:pic>
        <p:pic>
          <p:nvPicPr>
            <p:cNvPr id="11" name="object 11"/>
            <p:cNvPicPr/>
            <p:nvPr/>
          </p:nvPicPr>
          <p:blipFill>
            <a:blip r:embed="rId4" cstate="print"/>
            <a:stretch>
              <a:fillRect/>
            </a:stretch>
          </p:blipFill>
          <p:spPr>
            <a:xfrm>
              <a:off x="1638300" y="7045439"/>
              <a:ext cx="252234" cy="339102"/>
            </a:xfrm>
            <a:prstGeom prst="rect">
              <a:avLst/>
            </a:prstGeom>
          </p:spPr>
        </p:pic>
        <p:pic>
          <p:nvPicPr>
            <p:cNvPr id="12" name="object 12"/>
            <p:cNvPicPr/>
            <p:nvPr/>
          </p:nvPicPr>
          <p:blipFill>
            <a:blip r:embed="rId5" cstate="print"/>
            <a:stretch>
              <a:fillRect/>
            </a:stretch>
          </p:blipFill>
          <p:spPr>
            <a:xfrm>
              <a:off x="1688591" y="7045439"/>
              <a:ext cx="1745742" cy="339102"/>
            </a:xfrm>
            <a:prstGeom prst="rect">
              <a:avLst/>
            </a:prstGeom>
          </p:spPr>
        </p:pic>
        <p:pic>
          <p:nvPicPr>
            <p:cNvPr id="13" name="object 13"/>
            <p:cNvPicPr/>
            <p:nvPr/>
          </p:nvPicPr>
          <p:blipFill>
            <a:blip r:embed="rId3" cstate="print"/>
            <a:stretch>
              <a:fillRect/>
            </a:stretch>
          </p:blipFill>
          <p:spPr>
            <a:xfrm>
              <a:off x="1135380" y="7525499"/>
              <a:ext cx="704850" cy="339102"/>
            </a:xfrm>
            <a:prstGeom prst="rect">
              <a:avLst/>
            </a:prstGeom>
          </p:spPr>
        </p:pic>
        <p:pic>
          <p:nvPicPr>
            <p:cNvPr id="14" name="object 14"/>
            <p:cNvPicPr/>
            <p:nvPr/>
          </p:nvPicPr>
          <p:blipFill>
            <a:blip r:embed="rId4" cstate="print"/>
            <a:stretch>
              <a:fillRect/>
            </a:stretch>
          </p:blipFill>
          <p:spPr>
            <a:xfrm>
              <a:off x="1638300" y="7525499"/>
              <a:ext cx="252234" cy="339102"/>
            </a:xfrm>
            <a:prstGeom prst="rect">
              <a:avLst/>
            </a:prstGeom>
          </p:spPr>
        </p:pic>
        <p:pic>
          <p:nvPicPr>
            <p:cNvPr id="15" name="object 15"/>
            <p:cNvPicPr/>
            <p:nvPr/>
          </p:nvPicPr>
          <p:blipFill>
            <a:blip r:embed="rId6" cstate="print"/>
            <a:stretch>
              <a:fillRect/>
            </a:stretch>
          </p:blipFill>
          <p:spPr>
            <a:xfrm>
              <a:off x="1688591" y="7525499"/>
              <a:ext cx="1966722" cy="339102"/>
            </a:xfrm>
            <a:prstGeom prst="rect">
              <a:avLst/>
            </a:prstGeom>
          </p:spPr>
        </p:pic>
      </p:grpSp>
      <p:sp>
        <p:nvSpPr>
          <p:cNvPr id="16" name="object 16"/>
          <p:cNvSpPr txBox="1"/>
          <p:nvPr/>
        </p:nvSpPr>
        <p:spPr>
          <a:xfrm>
            <a:off x="496823" y="4966715"/>
            <a:ext cx="5862955" cy="3190240"/>
          </a:xfrm>
          <a:prstGeom prst="rect">
            <a:avLst/>
          </a:prstGeom>
        </p:spPr>
        <p:txBody>
          <a:bodyPr vert="horz" wrap="square" lIns="0" tIns="131445" rIns="0" bIns="0" rtlCol="0">
            <a:spAutoFit/>
          </a:bodyPr>
          <a:lstStyle/>
          <a:p>
            <a:pPr marL="228600">
              <a:lnSpc>
                <a:spcPct val="100000"/>
              </a:lnSpc>
              <a:spcBef>
                <a:spcPts val="1035"/>
              </a:spcBef>
            </a:pPr>
            <a:r>
              <a:rPr sz="2000" dirty="0">
                <a:latin typeface="Georgia"/>
                <a:cs typeface="Georgia"/>
              </a:rPr>
              <a:t>RISC:</a:t>
            </a:r>
            <a:r>
              <a:rPr sz="2000" spc="-25" dirty="0">
                <a:latin typeface="Georgia"/>
                <a:cs typeface="Georgia"/>
              </a:rPr>
              <a:t> </a:t>
            </a:r>
            <a:r>
              <a:rPr sz="2000" dirty="0">
                <a:latin typeface="Georgia"/>
                <a:cs typeface="Georgia"/>
              </a:rPr>
              <a:t>Reduced</a:t>
            </a:r>
            <a:r>
              <a:rPr sz="2000" spc="-20" dirty="0">
                <a:latin typeface="Georgia"/>
                <a:cs typeface="Georgia"/>
              </a:rPr>
              <a:t> </a:t>
            </a:r>
            <a:r>
              <a:rPr sz="2000" dirty="0">
                <a:latin typeface="Georgia"/>
                <a:cs typeface="Georgia"/>
              </a:rPr>
              <a:t>Instruction</a:t>
            </a:r>
            <a:r>
              <a:rPr sz="2000" spc="-45" dirty="0">
                <a:latin typeface="Georgia"/>
                <a:cs typeface="Georgia"/>
              </a:rPr>
              <a:t> </a:t>
            </a:r>
            <a:r>
              <a:rPr sz="2000" dirty="0">
                <a:latin typeface="Georgia"/>
                <a:cs typeface="Georgia"/>
              </a:rPr>
              <a:t>Set</a:t>
            </a:r>
            <a:r>
              <a:rPr sz="2000" spc="-15" dirty="0">
                <a:latin typeface="Georgia"/>
                <a:cs typeface="Georgia"/>
              </a:rPr>
              <a:t> </a:t>
            </a:r>
            <a:r>
              <a:rPr sz="2000" spc="-10" dirty="0">
                <a:latin typeface="Georgia"/>
                <a:cs typeface="Georgia"/>
              </a:rPr>
              <a:t>Computer</a:t>
            </a:r>
            <a:endParaRPr sz="2000" dirty="0">
              <a:latin typeface="Georgia"/>
              <a:cs typeface="Georgia"/>
            </a:endParaRPr>
          </a:p>
          <a:p>
            <a:pPr>
              <a:lnSpc>
                <a:spcPct val="100000"/>
              </a:lnSpc>
            </a:pPr>
            <a:endParaRPr sz="2000" dirty="0">
              <a:latin typeface="Georgia"/>
              <a:cs typeface="Georgia"/>
            </a:endParaRPr>
          </a:p>
          <a:p>
            <a:pPr>
              <a:lnSpc>
                <a:spcPct val="100000"/>
              </a:lnSpc>
            </a:pPr>
            <a:endParaRPr sz="2000" dirty="0">
              <a:latin typeface="Georgia"/>
              <a:cs typeface="Georgia"/>
            </a:endParaRPr>
          </a:p>
          <a:p>
            <a:pPr>
              <a:lnSpc>
                <a:spcPct val="100000"/>
              </a:lnSpc>
              <a:spcBef>
                <a:spcPts val="95"/>
              </a:spcBef>
            </a:pPr>
            <a:endParaRPr sz="2000" dirty="0">
              <a:latin typeface="Georgia"/>
              <a:cs typeface="Georgia"/>
            </a:endParaRPr>
          </a:p>
          <a:p>
            <a:pPr marL="281940" indent="-169545">
              <a:lnSpc>
                <a:spcPct val="100000"/>
              </a:lnSpc>
              <a:buClr>
                <a:srgbClr val="3E762B"/>
              </a:buClr>
              <a:buFont typeface="Wingdings"/>
              <a:buChar char=""/>
              <a:tabLst>
                <a:tab pos="281940" algn="l"/>
              </a:tabLst>
            </a:pPr>
            <a:r>
              <a:rPr sz="1200" b="1" spc="-10" dirty="0">
                <a:latin typeface="Times New Roman"/>
                <a:cs typeface="Times New Roman"/>
              </a:rPr>
              <a:t>Ex</a:t>
            </a:r>
            <a:r>
              <a:rPr sz="1200" spc="-10" dirty="0">
                <a:latin typeface="Times New Roman"/>
                <a:cs typeface="Times New Roman"/>
              </a:rPr>
              <a:t>ecution/effective</a:t>
            </a:r>
            <a:r>
              <a:rPr sz="1200" spc="-30" dirty="0">
                <a:latin typeface="Times New Roman"/>
                <a:cs typeface="Times New Roman"/>
              </a:rPr>
              <a:t> </a:t>
            </a:r>
            <a:r>
              <a:rPr sz="1200" dirty="0">
                <a:latin typeface="Times New Roman"/>
                <a:cs typeface="Times New Roman"/>
              </a:rPr>
              <a:t>address</a:t>
            </a:r>
            <a:r>
              <a:rPr sz="1200" spc="-20" dirty="0">
                <a:latin typeface="Times New Roman"/>
                <a:cs typeface="Times New Roman"/>
              </a:rPr>
              <a:t> </a:t>
            </a:r>
            <a:r>
              <a:rPr sz="1200" dirty="0">
                <a:latin typeface="Times New Roman"/>
                <a:cs typeface="Times New Roman"/>
              </a:rPr>
              <a:t>cycle:</a:t>
            </a:r>
            <a:r>
              <a:rPr sz="1200" spc="20" dirty="0">
                <a:latin typeface="Times New Roman"/>
                <a:cs typeface="Times New Roman"/>
              </a:rPr>
              <a:t> </a:t>
            </a:r>
            <a:r>
              <a:rPr sz="1200" b="1" spc="-25" dirty="0">
                <a:solidFill>
                  <a:srgbClr val="3E762B"/>
                </a:solidFill>
                <a:latin typeface="Times New Roman"/>
                <a:cs typeface="Times New Roman"/>
              </a:rPr>
              <a:t>EX</a:t>
            </a:r>
            <a:endParaRPr sz="1200" dirty="0">
              <a:latin typeface="Times New Roman"/>
              <a:cs typeface="Times New Roman"/>
            </a:endParaRPr>
          </a:p>
          <a:p>
            <a:pPr marL="283210">
              <a:lnSpc>
                <a:spcPct val="100000"/>
              </a:lnSpc>
              <a:spcBef>
                <a:spcPts val="550"/>
              </a:spcBef>
            </a:pPr>
            <a:r>
              <a:rPr sz="1200" dirty="0">
                <a:latin typeface="Times New Roman"/>
                <a:cs typeface="Times New Roman"/>
              </a:rPr>
              <a:t>ALU</a:t>
            </a:r>
            <a:r>
              <a:rPr sz="1200" spc="-5" dirty="0">
                <a:latin typeface="Times New Roman"/>
                <a:cs typeface="Times New Roman"/>
              </a:rPr>
              <a:t> </a:t>
            </a:r>
            <a:r>
              <a:rPr sz="1200" dirty="0">
                <a:latin typeface="Times New Roman"/>
                <a:cs typeface="Times New Roman"/>
              </a:rPr>
              <a:t>operates</a:t>
            </a:r>
            <a:r>
              <a:rPr sz="1200" spc="-25"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operands</a:t>
            </a:r>
            <a:r>
              <a:rPr sz="1200" spc="-25" dirty="0">
                <a:latin typeface="Times New Roman"/>
                <a:cs typeface="Times New Roman"/>
              </a:rPr>
              <a:t> </a:t>
            </a:r>
            <a:r>
              <a:rPr sz="1200" dirty="0">
                <a:latin typeface="Times New Roman"/>
                <a:cs typeface="Times New Roman"/>
              </a:rPr>
              <a:t>from</a:t>
            </a:r>
            <a:r>
              <a:rPr sz="1200" spc="-20" dirty="0">
                <a:latin typeface="Times New Roman"/>
                <a:cs typeface="Times New Roman"/>
              </a:rPr>
              <a:t> </a:t>
            </a:r>
            <a:r>
              <a:rPr sz="1200" dirty="0">
                <a:latin typeface="Times New Roman"/>
                <a:cs typeface="Times New Roman"/>
              </a:rPr>
              <a:t>ID,</a:t>
            </a:r>
            <a:r>
              <a:rPr sz="1200" spc="-10" dirty="0">
                <a:latin typeface="Times New Roman"/>
                <a:cs typeface="Times New Roman"/>
              </a:rPr>
              <a:t> </a:t>
            </a:r>
            <a:r>
              <a:rPr sz="1200" dirty="0">
                <a:latin typeface="Times New Roman"/>
                <a:cs typeface="Times New Roman"/>
              </a:rPr>
              <a:t>3</a:t>
            </a:r>
            <a:r>
              <a:rPr sz="1200" spc="-35" dirty="0">
                <a:latin typeface="Times New Roman"/>
                <a:cs typeface="Times New Roman"/>
              </a:rPr>
              <a:t> </a:t>
            </a:r>
            <a:r>
              <a:rPr sz="1200" dirty="0">
                <a:latin typeface="Times New Roman"/>
                <a:cs typeface="Times New Roman"/>
              </a:rPr>
              <a:t>functions</a:t>
            </a:r>
            <a:r>
              <a:rPr sz="1200" spc="-30" dirty="0">
                <a:latin typeface="Times New Roman"/>
                <a:cs typeface="Times New Roman"/>
              </a:rPr>
              <a:t> </a:t>
            </a:r>
            <a:r>
              <a:rPr sz="1200" dirty="0">
                <a:latin typeface="Times New Roman"/>
                <a:cs typeface="Times New Roman"/>
              </a:rPr>
              <a:t>depending</a:t>
            </a:r>
            <a:r>
              <a:rPr sz="1200" spc="-30"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instruction</a:t>
            </a:r>
            <a:r>
              <a:rPr sz="1200" spc="-45" dirty="0">
                <a:latin typeface="Times New Roman"/>
                <a:cs typeface="Times New Roman"/>
              </a:rPr>
              <a:t> </a:t>
            </a:r>
            <a:r>
              <a:rPr sz="1200" spc="-20" dirty="0">
                <a:latin typeface="Times New Roman"/>
                <a:cs typeface="Times New Roman"/>
              </a:rPr>
              <a:t>type</a:t>
            </a:r>
            <a:endParaRPr sz="1200" dirty="0">
              <a:latin typeface="Times New Roman"/>
              <a:cs typeface="Times New Roman"/>
            </a:endParaRPr>
          </a:p>
          <a:p>
            <a:pPr marL="733425" lvl="1" indent="-163830">
              <a:lnSpc>
                <a:spcPct val="100000"/>
              </a:lnSpc>
              <a:spcBef>
                <a:spcPts val="600"/>
              </a:spcBef>
              <a:buAutoNum type="arabicPlain"/>
              <a:tabLst>
                <a:tab pos="733425" algn="l"/>
              </a:tabLst>
            </a:pPr>
            <a:r>
              <a:rPr sz="1200" dirty="0">
                <a:latin typeface="Times New Roman"/>
                <a:cs typeface="Times New Roman"/>
              </a:rPr>
              <a:t>Memory</a:t>
            </a:r>
            <a:r>
              <a:rPr sz="1200" spc="-35" dirty="0">
                <a:latin typeface="Times New Roman"/>
                <a:cs typeface="Times New Roman"/>
              </a:rPr>
              <a:t> </a:t>
            </a:r>
            <a:r>
              <a:rPr sz="1200" dirty="0">
                <a:latin typeface="Times New Roman"/>
                <a:cs typeface="Times New Roman"/>
              </a:rPr>
              <a:t>reference:</a:t>
            </a:r>
            <a:r>
              <a:rPr sz="1200" spc="-15" dirty="0">
                <a:latin typeface="Times New Roman"/>
                <a:cs typeface="Times New Roman"/>
              </a:rPr>
              <a:t> </a:t>
            </a:r>
            <a:r>
              <a:rPr sz="1200" b="1" dirty="0">
                <a:latin typeface="Times New Roman"/>
                <a:cs typeface="Times New Roman"/>
              </a:rPr>
              <a:t>ALU</a:t>
            </a:r>
            <a:r>
              <a:rPr sz="1200" b="1" spc="-35" dirty="0">
                <a:latin typeface="Times New Roman"/>
                <a:cs typeface="Times New Roman"/>
              </a:rPr>
              <a:t> </a:t>
            </a:r>
            <a:r>
              <a:rPr sz="1200" dirty="0">
                <a:latin typeface="Times New Roman"/>
                <a:cs typeface="Times New Roman"/>
              </a:rPr>
              <a:t>adds</a:t>
            </a:r>
            <a:r>
              <a:rPr sz="1200" spc="-35" dirty="0">
                <a:latin typeface="Times New Roman"/>
                <a:cs typeface="Times New Roman"/>
              </a:rPr>
              <a:t> </a:t>
            </a:r>
            <a:r>
              <a:rPr sz="1200" dirty="0">
                <a:latin typeface="Times New Roman"/>
                <a:cs typeface="Times New Roman"/>
              </a:rPr>
              <a:t>base</a:t>
            </a:r>
            <a:r>
              <a:rPr sz="1200" spc="-35" dirty="0">
                <a:latin typeface="Times New Roman"/>
                <a:cs typeface="Times New Roman"/>
              </a:rPr>
              <a:t> </a:t>
            </a:r>
            <a:r>
              <a:rPr sz="1200" dirty="0">
                <a:latin typeface="Times New Roman"/>
                <a:cs typeface="Times New Roman"/>
              </a:rPr>
              <a:t>register</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offset</a:t>
            </a:r>
            <a:r>
              <a:rPr sz="1200" spc="-2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form</a:t>
            </a:r>
            <a:r>
              <a:rPr sz="1200" spc="-30" dirty="0">
                <a:latin typeface="Times New Roman"/>
                <a:cs typeface="Times New Roman"/>
              </a:rPr>
              <a:t> </a:t>
            </a:r>
            <a:r>
              <a:rPr sz="1200" b="1" dirty="0">
                <a:latin typeface="Times New Roman"/>
                <a:cs typeface="Times New Roman"/>
              </a:rPr>
              <a:t>effective</a:t>
            </a:r>
            <a:r>
              <a:rPr sz="1200" b="1" spc="-45" dirty="0">
                <a:latin typeface="Times New Roman"/>
                <a:cs typeface="Times New Roman"/>
              </a:rPr>
              <a:t> </a:t>
            </a:r>
            <a:r>
              <a:rPr sz="1200" b="1" spc="-10" dirty="0">
                <a:latin typeface="Times New Roman"/>
                <a:cs typeface="Times New Roman"/>
              </a:rPr>
              <a:t>address</a:t>
            </a:r>
            <a:endParaRPr sz="1200" dirty="0">
              <a:latin typeface="Times New Roman"/>
              <a:cs typeface="Times New Roman"/>
            </a:endParaRPr>
          </a:p>
          <a:p>
            <a:pPr marL="732790" marR="420370" lvl="1" indent="-163830">
              <a:lnSpc>
                <a:spcPct val="100000"/>
              </a:lnSpc>
              <a:spcBef>
                <a:spcPts val="900"/>
              </a:spcBef>
              <a:buAutoNum type="arabicPlain"/>
              <a:tabLst>
                <a:tab pos="743585" algn="l"/>
              </a:tabLst>
            </a:pPr>
            <a:r>
              <a:rPr sz="1200" spc="-10" dirty="0">
                <a:latin typeface="Times New Roman"/>
                <a:cs typeface="Times New Roman"/>
              </a:rPr>
              <a:t>Register-Register</a:t>
            </a:r>
            <a:r>
              <a:rPr sz="1200" spc="-55" dirty="0">
                <a:latin typeface="Times New Roman"/>
                <a:cs typeface="Times New Roman"/>
              </a:rPr>
              <a:t> </a:t>
            </a:r>
            <a:r>
              <a:rPr sz="1200" dirty="0">
                <a:latin typeface="Times New Roman"/>
                <a:cs typeface="Times New Roman"/>
              </a:rPr>
              <a:t>ALU</a:t>
            </a:r>
            <a:r>
              <a:rPr sz="1200" spc="15" dirty="0">
                <a:latin typeface="Times New Roman"/>
                <a:cs typeface="Times New Roman"/>
              </a:rPr>
              <a:t> </a:t>
            </a:r>
            <a:r>
              <a:rPr sz="1200" spc="-10" dirty="0">
                <a:latin typeface="Times New Roman"/>
                <a:cs typeface="Times New Roman"/>
              </a:rPr>
              <a:t>instruction:</a:t>
            </a:r>
            <a:r>
              <a:rPr sz="1200" spc="-35" dirty="0">
                <a:latin typeface="Times New Roman"/>
                <a:cs typeface="Times New Roman"/>
              </a:rPr>
              <a:t> </a:t>
            </a:r>
            <a:r>
              <a:rPr sz="1200" b="1" dirty="0">
                <a:latin typeface="Times New Roman"/>
                <a:cs typeface="Times New Roman"/>
              </a:rPr>
              <a:t>ALU</a:t>
            </a:r>
            <a:r>
              <a:rPr sz="1200" b="1" spc="-5" dirty="0">
                <a:latin typeface="Times New Roman"/>
                <a:cs typeface="Times New Roman"/>
              </a:rPr>
              <a:t> </a:t>
            </a:r>
            <a:r>
              <a:rPr sz="1200" dirty="0">
                <a:latin typeface="Times New Roman"/>
                <a:cs typeface="Times New Roman"/>
              </a:rPr>
              <a:t>performs the</a:t>
            </a:r>
            <a:r>
              <a:rPr sz="1200" spc="-30" dirty="0">
                <a:latin typeface="Times New Roman"/>
                <a:cs typeface="Times New Roman"/>
              </a:rPr>
              <a:t> </a:t>
            </a:r>
            <a:r>
              <a:rPr sz="1200" dirty="0">
                <a:latin typeface="Times New Roman"/>
                <a:cs typeface="Times New Roman"/>
              </a:rPr>
              <a:t>operation specified</a:t>
            </a:r>
            <a:r>
              <a:rPr sz="1200" spc="-15" dirty="0">
                <a:latin typeface="Times New Roman"/>
                <a:cs typeface="Times New Roman"/>
              </a:rPr>
              <a:t> </a:t>
            </a:r>
            <a:r>
              <a:rPr sz="1200" spc="-25" dirty="0">
                <a:latin typeface="Times New Roman"/>
                <a:cs typeface="Times New Roman"/>
              </a:rPr>
              <a:t>by 	</a:t>
            </a:r>
            <a:r>
              <a:rPr sz="1200" dirty="0">
                <a:latin typeface="Times New Roman"/>
                <a:cs typeface="Times New Roman"/>
              </a:rPr>
              <a:t>opcode</a:t>
            </a:r>
            <a:r>
              <a:rPr sz="1200" spc="-2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values</a:t>
            </a:r>
            <a:r>
              <a:rPr sz="1200" spc="-20" dirty="0">
                <a:latin typeface="Times New Roman"/>
                <a:cs typeface="Times New Roman"/>
              </a:rPr>
              <a:t> </a:t>
            </a:r>
            <a:r>
              <a:rPr sz="1200" dirty="0">
                <a:latin typeface="Times New Roman"/>
                <a:cs typeface="Times New Roman"/>
              </a:rPr>
              <a:t>read</a:t>
            </a:r>
            <a:r>
              <a:rPr sz="1200" spc="-10" dirty="0">
                <a:latin typeface="Times New Roman"/>
                <a:cs typeface="Times New Roman"/>
              </a:rPr>
              <a:t> </a:t>
            </a:r>
            <a:r>
              <a:rPr sz="1200" dirty="0">
                <a:latin typeface="Times New Roman"/>
                <a:cs typeface="Times New Roman"/>
              </a:rPr>
              <a:t>from</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b="1" spc="-10" dirty="0">
                <a:latin typeface="Times New Roman"/>
                <a:cs typeface="Times New Roman"/>
              </a:rPr>
              <a:t>register</a:t>
            </a:r>
            <a:r>
              <a:rPr sz="1200" b="1" spc="-40" dirty="0">
                <a:latin typeface="Times New Roman"/>
                <a:cs typeface="Times New Roman"/>
              </a:rPr>
              <a:t> </a:t>
            </a:r>
            <a:r>
              <a:rPr sz="1200" b="1" spc="-20" dirty="0">
                <a:latin typeface="Times New Roman"/>
                <a:cs typeface="Times New Roman"/>
              </a:rPr>
              <a:t>file.</a:t>
            </a:r>
            <a:endParaRPr sz="1200" dirty="0">
              <a:latin typeface="Times New Roman"/>
              <a:cs typeface="Times New Roman"/>
            </a:endParaRPr>
          </a:p>
          <a:p>
            <a:pPr marL="733425" lvl="1" indent="-163830">
              <a:lnSpc>
                <a:spcPct val="100000"/>
              </a:lnSpc>
              <a:spcBef>
                <a:spcPts val="900"/>
              </a:spcBef>
              <a:buAutoNum type="arabicPlain"/>
              <a:tabLst>
                <a:tab pos="733425" algn="l"/>
              </a:tabLst>
            </a:pPr>
            <a:r>
              <a:rPr sz="1200" spc="-10" dirty="0">
                <a:latin typeface="Times New Roman"/>
                <a:cs typeface="Times New Roman"/>
              </a:rPr>
              <a:t>Register-Immediate</a:t>
            </a:r>
            <a:r>
              <a:rPr sz="1200" spc="-55" dirty="0">
                <a:latin typeface="Times New Roman"/>
                <a:cs typeface="Times New Roman"/>
              </a:rPr>
              <a:t> </a:t>
            </a:r>
            <a:r>
              <a:rPr sz="1200" dirty="0">
                <a:latin typeface="Times New Roman"/>
                <a:cs typeface="Times New Roman"/>
              </a:rPr>
              <a:t>ALU</a:t>
            </a:r>
            <a:r>
              <a:rPr sz="1200" spc="-10" dirty="0">
                <a:latin typeface="Times New Roman"/>
                <a:cs typeface="Times New Roman"/>
              </a:rPr>
              <a:t> </a:t>
            </a:r>
            <a:r>
              <a:rPr sz="1200" dirty="0">
                <a:latin typeface="Times New Roman"/>
                <a:cs typeface="Times New Roman"/>
              </a:rPr>
              <a:t>instruction:</a:t>
            </a:r>
            <a:r>
              <a:rPr sz="1200" spc="-25" dirty="0">
                <a:latin typeface="Times New Roman"/>
                <a:cs typeface="Times New Roman"/>
              </a:rPr>
              <a:t> </a:t>
            </a:r>
            <a:r>
              <a:rPr sz="1200" b="1" dirty="0">
                <a:latin typeface="Times New Roman"/>
                <a:cs typeface="Times New Roman"/>
              </a:rPr>
              <a:t>ALU</a:t>
            </a:r>
            <a:r>
              <a:rPr sz="1200" b="1" spc="-30" dirty="0">
                <a:latin typeface="Times New Roman"/>
                <a:cs typeface="Times New Roman"/>
              </a:rPr>
              <a:t> </a:t>
            </a:r>
            <a:r>
              <a:rPr sz="1200" dirty="0">
                <a:latin typeface="Times New Roman"/>
                <a:cs typeface="Times New Roman"/>
              </a:rPr>
              <a:t>operates</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first</a:t>
            </a:r>
            <a:r>
              <a:rPr sz="1200" spc="-30" dirty="0">
                <a:latin typeface="Times New Roman"/>
                <a:cs typeface="Times New Roman"/>
              </a:rPr>
              <a:t> </a:t>
            </a:r>
            <a:r>
              <a:rPr sz="1200" dirty="0">
                <a:latin typeface="Times New Roman"/>
                <a:cs typeface="Times New Roman"/>
              </a:rPr>
              <a:t>value</a:t>
            </a:r>
            <a:r>
              <a:rPr sz="1200" spc="-30" dirty="0">
                <a:latin typeface="Times New Roman"/>
                <a:cs typeface="Times New Roman"/>
              </a:rPr>
              <a:t> </a:t>
            </a:r>
            <a:r>
              <a:rPr sz="1200" dirty="0">
                <a:latin typeface="Times New Roman"/>
                <a:cs typeface="Times New Roman"/>
              </a:rPr>
              <a:t>read</a:t>
            </a:r>
            <a:r>
              <a:rPr sz="1200" spc="-15" dirty="0">
                <a:latin typeface="Times New Roman"/>
                <a:cs typeface="Times New Roman"/>
              </a:rPr>
              <a:t> </a:t>
            </a:r>
            <a:r>
              <a:rPr sz="1200" spc="-20" dirty="0">
                <a:latin typeface="Times New Roman"/>
                <a:cs typeface="Times New Roman"/>
              </a:rPr>
              <a:t>from</a:t>
            </a:r>
            <a:endParaRPr sz="1200" dirty="0">
              <a:latin typeface="Times New Roman"/>
              <a:cs typeface="Times New Roman"/>
            </a:endParaRPr>
          </a:p>
          <a:p>
            <a:pPr marL="743585">
              <a:lnSpc>
                <a:spcPct val="100000"/>
              </a:lnSpc>
            </a:pPr>
            <a:r>
              <a:rPr sz="1200" dirty="0">
                <a:latin typeface="Times New Roman"/>
                <a:cs typeface="Times New Roman"/>
              </a:rPr>
              <a:t>the</a:t>
            </a:r>
            <a:r>
              <a:rPr sz="1200" spc="-25" dirty="0">
                <a:latin typeface="Times New Roman"/>
                <a:cs typeface="Times New Roman"/>
              </a:rPr>
              <a:t> </a:t>
            </a:r>
            <a:r>
              <a:rPr sz="1200" b="1" spc="-10" dirty="0">
                <a:latin typeface="Times New Roman"/>
                <a:cs typeface="Times New Roman"/>
              </a:rPr>
              <a:t>register</a:t>
            </a:r>
            <a:r>
              <a:rPr sz="1200" b="1" spc="-35" dirty="0">
                <a:latin typeface="Times New Roman"/>
                <a:cs typeface="Times New Roman"/>
              </a:rPr>
              <a:t> </a:t>
            </a:r>
            <a:r>
              <a:rPr sz="1200" b="1" dirty="0">
                <a:latin typeface="Times New Roman"/>
                <a:cs typeface="Times New Roman"/>
              </a:rPr>
              <a:t>file</a:t>
            </a:r>
            <a:r>
              <a:rPr sz="1200" b="1"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sign-</a:t>
            </a:r>
            <a:r>
              <a:rPr sz="1200" dirty="0">
                <a:latin typeface="Times New Roman"/>
                <a:cs typeface="Times New Roman"/>
              </a:rPr>
              <a:t>extended</a:t>
            </a:r>
            <a:r>
              <a:rPr sz="1200" spc="-5" dirty="0">
                <a:latin typeface="Times New Roman"/>
                <a:cs typeface="Times New Roman"/>
              </a:rPr>
              <a:t> </a:t>
            </a:r>
            <a:r>
              <a:rPr sz="1200" b="1" spc="-10" dirty="0">
                <a:latin typeface="Times New Roman"/>
                <a:cs typeface="Times New Roman"/>
              </a:rPr>
              <a:t>immediate</a:t>
            </a:r>
            <a:r>
              <a:rPr sz="1200" spc="-10" dirty="0">
                <a:latin typeface="Times New Roman"/>
                <a:cs typeface="Times New Roman"/>
              </a:rPr>
              <a:t>.</a:t>
            </a:r>
            <a:endParaRPr sz="1200" dirty="0">
              <a:latin typeface="Times New Roman"/>
              <a:cs typeface="Times New Roman"/>
            </a:endParaRPr>
          </a:p>
        </p:txBody>
      </p:sp>
      <p:sp>
        <p:nvSpPr>
          <p:cNvPr id="17" name="object 17"/>
          <p:cNvSpPr txBox="1"/>
          <p:nvPr/>
        </p:nvSpPr>
        <p:spPr>
          <a:xfrm>
            <a:off x="1718310" y="5563361"/>
            <a:ext cx="2272665" cy="520065"/>
          </a:xfrm>
          <a:prstGeom prst="rect">
            <a:avLst/>
          </a:prstGeom>
          <a:solidFill>
            <a:srgbClr val="FFFFFF"/>
          </a:solidFill>
          <a:ln w="13716">
            <a:solidFill>
              <a:srgbClr val="3E762B"/>
            </a:solidFill>
          </a:ln>
        </p:spPr>
        <p:txBody>
          <a:bodyPr vert="horz" wrap="square" lIns="0" tIns="17780" rIns="0" bIns="0" rtlCol="0">
            <a:spAutoFit/>
          </a:bodyPr>
          <a:lstStyle/>
          <a:p>
            <a:pPr algn="ctr">
              <a:lnSpc>
                <a:spcPct val="100000"/>
              </a:lnSpc>
              <a:spcBef>
                <a:spcPts val="140"/>
              </a:spcBef>
            </a:pPr>
            <a:r>
              <a:rPr sz="1400" b="1" dirty="0">
                <a:latin typeface="Times New Roman"/>
                <a:cs typeface="Times New Roman"/>
              </a:rPr>
              <a:t>5</a:t>
            </a:r>
            <a:r>
              <a:rPr sz="1400" b="1" spc="-10" dirty="0">
                <a:latin typeface="Times New Roman"/>
                <a:cs typeface="Times New Roman"/>
              </a:rPr>
              <a:t> </a:t>
            </a:r>
            <a:r>
              <a:rPr sz="1400" dirty="0">
                <a:latin typeface="Times New Roman"/>
                <a:cs typeface="Times New Roman"/>
              </a:rPr>
              <a:t>clock</a:t>
            </a:r>
            <a:r>
              <a:rPr sz="1400" spc="-45" dirty="0">
                <a:latin typeface="Times New Roman"/>
                <a:cs typeface="Times New Roman"/>
              </a:rPr>
              <a:t> </a:t>
            </a:r>
            <a:r>
              <a:rPr sz="1400" dirty="0">
                <a:latin typeface="Times New Roman"/>
                <a:cs typeface="Times New Roman"/>
              </a:rPr>
              <a:t>cycles</a:t>
            </a:r>
            <a:r>
              <a:rPr sz="1400" spc="-15" dirty="0">
                <a:latin typeface="Times New Roman"/>
                <a:cs typeface="Times New Roman"/>
              </a:rPr>
              <a:t> </a:t>
            </a:r>
            <a:r>
              <a:rPr sz="1400" dirty="0">
                <a:latin typeface="Times New Roman"/>
                <a:cs typeface="Times New Roman"/>
              </a:rPr>
              <a:t>per</a:t>
            </a:r>
            <a:r>
              <a:rPr sz="1400" spc="-25" dirty="0">
                <a:latin typeface="Times New Roman"/>
                <a:cs typeface="Times New Roman"/>
              </a:rPr>
              <a:t> </a:t>
            </a:r>
            <a:r>
              <a:rPr sz="1400" spc="-10" dirty="0">
                <a:latin typeface="Times New Roman"/>
                <a:cs typeface="Times New Roman"/>
              </a:rPr>
              <a:t>instruction</a:t>
            </a:r>
            <a:endParaRPr sz="1400">
              <a:latin typeface="Times New Roman"/>
              <a:cs typeface="Times New Roman"/>
            </a:endParaRPr>
          </a:p>
          <a:p>
            <a:pPr algn="ctr">
              <a:lnSpc>
                <a:spcPct val="100000"/>
              </a:lnSpc>
              <a:spcBef>
                <a:spcPts val="335"/>
              </a:spcBef>
            </a:pPr>
            <a:r>
              <a:rPr sz="1400" b="1" dirty="0">
                <a:solidFill>
                  <a:srgbClr val="3E762B"/>
                </a:solidFill>
                <a:latin typeface="Times New Roman"/>
                <a:cs typeface="Times New Roman"/>
              </a:rPr>
              <a:t>IF</a:t>
            </a:r>
            <a:r>
              <a:rPr sz="1400" b="1" spc="-70" dirty="0">
                <a:solidFill>
                  <a:srgbClr val="3E762B"/>
                </a:solidFill>
                <a:latin typeface="Times New Roman"/>
                <a:cs typeface="Times New Roman"/>
              </a:rPr>
              <a:t> </a:t>
            </a:r>
            <a:r>
              <a:rPr sz="1400" b="1" dirty="0">
                <a:solidFill>
                  <a:srgbClr val="3E762B"/>
                </a:solidFill>
                <a:latin typeface="Times New Roman"/>
                <a:cs typeface="Times New Roman"/>
              </a:rPr>
              <a:t>ID</a:t>
            </a:r>
            <a:r>
              <a:rPr sz="1400" b="1" spc="-35" dirty="0">
                <a:solidFill>
                  <a:srgbClr val="3E762B"/>
                </a:solidFill>
                <a:latin typeface="Times New Roman"/>
                <a:cs typeface="Times New Roman"/>
              </a:rPr>
              <a:t> </a:t>
            </a:r>
            <a:r>
              <a:rPr sz="1400" b="1" dirty="0">
                <a:solidFill>
                  <a:srgbClr val="3E762B"/>
                </a:solidFill>
                <a:latin typeface="Times New Roman"/>
                <a:cs typeface="Times New Roman"/>
              </a:rPr>
              <a:t>EX</a:t>
            </a:r>
            <a:r>
              <a:rPr sz="1400" b="1" spc="-15" dirty="0">
                <a:solidFill>
                  <a:srgbClr val="3E762B"/>
                </a:solidFill>
                <a:latin typeface="Times New Roman"/>
                <a:cs typeface="Times New Roman"/>
              </a:rPr>
              <a:t> </a:t>
            </a:r>
            <a:r>
              <a:rPr sz="1400" b="1" dirty="0">
                <a:solidFill>
                  <a:srgbClr val="3E762B"/>
                </a:solidFill>
                <a:latin typeface="Times New Roman"/>
                <a:cs typeface="Times New Roman"/>
              </a:rPr>
              <a:t>MEM</a:t>
            </a:r>
            <a:r>
              <a:rPr sz="1400" b="1" spc="-55" dirty="0">
                <a:solidFill>
                  <a:srgbClr val="3E762B"/>
                </a:solidFill>
                <a:latin typeface="Times New Roman"/>
                <a:cs typeface="Times New Roman"/>
              </a:rPr>
              <a:t> </a:t>
            </a:r>
            <a:r>
              <a:rPr sz="1400" b="1" spc="-25" dirty="0">
                <a:solidFill>
                  <a:srgbClr val="3E762B"/>
                </a:solidFill>
                <a:latin typeface="Times New Roman"/>
                <a:cs typeface="Times New Roman"/>
              </a:rPr>
              <a:t>WB</a:t>
            </a:r>
            <a:endParaRPr sz="140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RISC:</a:t>
            </a:r>
            <a:r>
              <a:rPr spc="-25" dirty="0"/>
              <a:t> </a:t>
            </a:r>
            <a:r>
              <a:rPr dirty="0"/>
              <a:t>Reduced</a:t>
            </a:r>
            <a:r>
              <a:rPr spc="-20" dirty="0"/>
              <a:t> </a:t>
            </a:r>
            <a:r>
              <a:rPr dirty="0"/>
              <a:t>Instruction</a:t>
            </a:r>
            <a:r>
              <a:rPr spc="-45" dirty="0"/>
              <a:t> </a:t>
            </a:r>
            <a:r>
              <a:rPr dirty="0"/>
              <a:t>Set</a:t>
            </a:r>
            <a:r>
              <a:rPr spc="-15" dirty="0"/>
              <a:t> </a:t>
            </a:r>
            <a:r>
              <a:rPr spc="-10" dirty="0"/>
              <a:t>Computer</a:t>
            </a:r>
          </a:p>
        </p:txBody>
      </p:sp>
      <p:grpSp>
        <p:nvGrpSpPr>
          <p:cNvPr id="3" name="object 3"/>
          <p:cNvGrpSpPr/>
          <p:nvPr/>
        </p:nvGrpSpPr>
        <p:grpSpPr>
          <a:xfrm>
            <a:off x="1408175" y="2432291"/>
            <a:ext cx="1096645" cy="558800"/>
            <a:chOff x="1408175" y="2432291"/>
            <a:chExt cx="1096645" cy="558800"/>
          </a:xfrm>
        </p:grpSpPr>
        <p:pic>
          <p:nvPicPr>
            <p:cNvPr id="4" name="object 4"/>
            <p:cNvPicPr/>
            <p:nvPr/>
          </p:nvPicPr>
          <p:blipFill>
            <a:blip r:embed="rId3" cstate="print"/>
            <a:stretch>
              <a:fillRect/>
            </a:stretch>
          </p:blipFill>
          <p:spPr>
            <a:xfrm>
              <a:off x="1408175" y="2432291"/>
              <a:ext cx="1064514" cy="311670"/>
            </a:xfrm>
            <a:prstGeom prst="rect">
              <a:avLst/>
            </a:prstGeom>
          </p:spPr>
        </p:pic>
        <p:pic>
          <p:nvPicPr>
            <p:cNvPr id="5" name="object 5"/>
            <p:cNvPicPr/>
            <p:nvPr/>
          </p:nvPicPr>
          <p:blipFill>
            <a:blip r:embed="rId4" cstate="print"/>
            <a:stretch>
              <a:fillRect/>
            </a:stretch>
          </p:blipFill>
          <p:spPr>
            <a:xfrm>
              <a:off x="1409699" y="2677667"/>
              <a:ext cx="1094994" cy="313182"/>
            </a:xfrm>
            <a:prstGeom prst="rect">
              <a:avLst/>
            </a:prstGeom>
          </p:spPr>
        </p:pic>
      </p:grpSp>
      <p:sp>
        <p:nvSpPr>
          <p:cNvPr id="6" name="object 6"/>
          <p:cNvSpPr txBox="1"/>
          <p:nvPr/>
        </p:nvSpPr>
        <p:spPr>
          <a:xfrm>
            <a:off x="746861" y="2091717"/>
            <a:ext cx="5307330" cy="2020570"/>
          </a:xfrm>
          <a:prstGeom prst="rect">
            <a:avLst/>
          </a:prstGeom>
        </p:spPr>
        <p:txBody>
          <a:bodyPr vert="horz" wrap="square" lIns="0" tIns="109220" rIns="0" bIns="0" rtlCol="0">
            <a:spAutoFit/>
          </a:bodyPr>
          <a:lstStyle/>
          <a:p>
            <a:pPr marL="182245" indent="-169545">
              <a:lnSpc>
                <a:spcPct val="100000"/>
              </a:lnSpc>
              <a:spcBef>
                <a:spcPts val="860"/>
              </a:spcBef>
              <a:buClr>
                <a:srgbClr val="3E762B"/>
              </a:buClr>
              <a:buFont typeface="Wingdings"/>
              <a:buChar char=""/>
              <a:tabLst>
                <a:tab pos="182245" algn="l"/>
              </a:tabLst>
            </a:pPr>
            <a:r>
              <a:rPr sz="1200" b="1" dirty="0">
                <a:latin typeface="Times New Roman"/>
                <a:cs typeface="Times New Roman"/>
              </a:rPr>
              <a:t>MEM</a:t>
            </a:r>
            <a:r>
              <a:rPr sz="1200" dirty="0">
                <a:latin typeface="Times New Roman"/>
                <a:cs typeface="Times New Roman"/>
              </a:rPr>
              <a:t>ory</a:t>
            </a:r>
            <a:r>
              <a:rPr sz="1200" spc="-40" dirty="0">
                <a:latin typeface="Times New Roman"/>
                <a:cs typeface="Times New Roman"/>
              </a:rPr>
              <a:t> </a:t>
            </a:r>
            <a:r>
              <a:rPr sz="1200" dirty="0">
                <a:latin typeface="Times New Roman"/>
                <a:cs typeface="Times New Roman"/>
              </a:rPr>
              <a:t>access</a:t>
            </a:r>
            <a:r>
              <a:rPr sz="1200" spc="-35" dirty="0">
                <a:latin typeface="Times New Roman"/>
                <a:cs typeface="Times New Roman"/>
              </a:rPr>
              <a:t> </a:t>
            </a:r>
            <a:r>
              <a:rPr sz="1200" b="1" spc="-25" dirty="0">
                <a:solidFill>
                  <a:srgbClr val="3E762B"/>
                </a:solidFill>
                <a:latin typeface="Times New Roman"/>
                <a:cs typeface="Times New Roman"/>
              </a:rPr>
              <a:t>MEM</a:t>
            </a:r>
            <a:endParaRPr sz="1200" dirty="0">
              <a:latin typeface="Times New Roman"/>
              <a:cs typeface="Times New Roman"/>
            </a:endParaRPr>
          </a:p>
          <a:p>
            <a:pPr marL="551815" lvl="1" indent="-81915">
              <a:lnSpc>
                <a:spcPct val="100000"/>
              </a:lnSpc>
              <a:spcBef>
                <a:spcPts val="700"/>
              </a:spcBef>
              <a:buChar char="-"/>
              <a:tabLst>
                <a:tab pos="551815" algn="l"/>
              </a:tabLst>
            </a:pPr>
            <a:r>
              <a:rPr sz="1100" dirty="0">
                <a:latin typeface="Times New Roman"/>
                <a:cs typeface="Times New Roman"/>
              </a:rPr>
              <a:t>for</a:t>
            </a:r>
            <a:r>
              <a:rPr sz="1100" spc="-5" dirty="0">
                <a:latin typeface="Times New Roman"/>
                <a:cs typeface="Times New Roman"/>
              </a:rPr>
              <a:t> </a:t>
            </a:r>
            <a:r>
              <a:rPr sz="1100" dirty="0">
                <a:latin typeface="Times New Roman"/>
                <a:cs typeface="Times New Roman"/>
              </a:rPr>
              <a:t>load</a:t>
            </a:r>
            <a:r>
              <a:rPr sz="1100" spc="-5" dirty="0">
                <a:latin typeface="Times New Roman"/>
                <a:cs typeface="Times New Roman"/>
              </a:rPr>
              <a:t> </a:t>
            </a:r>
            <a:r>
              <a:rPr sz="1100" dirty="0">
                <a:latin typeface="Times New Roman"/>
                <a:cs typeface="Times New Roman"/>
              </a:rPr>
              <a:t>instruction:</a:t>
            </a:r>
            <a:r>
              <a:rPr sz="1100" spc="-4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memory</a:t>
            </a:r>
            <a:r>
              <a:rPr sz="1100" spc="25" dirty="0">
                <a:latin typeface="Times New Roman"/>
                <a:cs typeface="Times New Roman"/>
              </a:rPr>
              <a:t> </a:t>
            </a:r>
            <a:r>
              <a:rPr sz="1100" dirty="0">
                <a:latin typeface="Times New Roman"/>
                <a:cs typeface="Times New Roman"/>
              </a:rPr>
              <a:t>does</a:t>
            </a:r>
            <a:r>
              <a:rPr sz="1100" spc="-20" dirty="0">
                <a:latin typeface="Times New Roman"/>
                <a:cs typeface="Times New Roman"/>
              </a:rPr>
              <a:t> </a:t>
            </a:r>
            <a:r>
              <a:rPr sz="1100" dirty="0">
                <a:latin typeface="Times New Roman"/>
                <a:cs typeface="Times New Roman"/>
              </a:rPr>
              <a:t>a</a:t>
            </a:r>
            <a:r>
              <a:rPr sz="1100" spc="15" dirty="0">
                <a:latin typeface="Times New Roman"/>
                <a:cs typeface="Times New Roman"/>
              </a:rPr>
              <a:t> </a:t>
            </a:r>
            <a:r>
              <a:rPr sz="1100" b="1" dirty="0">
                <a:latin typeface="Times New Roman"/>
                <a:cs typeface="Times New Roman"/>
              </a:rPr>
              <a:t>read</a:t>
            </a:r>
            <a:r>
              <a:rPr sz="1100" b="1" spc="-10" dirty="0">
                <a:latin typeface="Times New Roman"/>
                <a:cs typeface="Times New Roman"/>
              </a:rPr>
              <a:t> </a:t>
            </a:r>
            <a:r>
              <a:rPr sz="1100" b="1" dirty="0">
                <a:latin typeface="Times New Roman"/>
                <a:cs typeface="Times New Roman"/>
              </a:rPr>
              <a:t>using</a:t>
            </a:r>
            <a:r>
              <a:rPr sz="1100" b="1" spc="-15" dirty="0">
                <a:latin typeface="Times New Roman"/>
                <a:cs typeface="Times New Roman"/>
              </a:rPr>
              <a:t> </a:t>
            </a:r>
            <a:r>
              <a:rPr sz="1100" b="1" dirty="0">
                <a:latin typeface="Times New Roman"/>
                <a:cs typeface="Times New Roman"/>
              </a:rPr>
              <a:t>the</a:t>
            </a:r>
            <a:r>
              <a:rPr sz="1100" b="1" spc="-10" dirty="0">
                <a:latin typeface="Times New Roman"/>
                <a:cs typeface="Times New Roman"/>
              </a:rPr>
              <a:t> </a:t>
            </a:r>
            <a:r>
              <a:rPr sz="1100" b="1" dirty="0">
                <a:latin typeface="Times New Roman"/>
                <a:cs typeface="Times New Roman"/>
              </a:rPr>
              <a:t>effective</a:t>
            </a:r>
            <a:r>
              <a:rPr sz="1100" b="1" spc="-45" dirty="0">
                <a:latin typeface="Times New Roman"/>
                <a:cs typeface="Times New Roman"/>
              </a:rPr>
              <a:t> </a:t>
            </a:r>
            <a:r>
              <a:rPr sz="1100" b="1" spc="-10" dirty="0">
                <a:latin typeface="Times New Roman"/>
                <a:cs typeface="Times New Roman"/>
              </a:rPr>
              <a:t>address</a:t>
            </a:r>
            <a:r>
              <a:rPr sz="1100" spc="-10" dirty="0">
                <a:latin typeface="Times New Roman"/>
                <a:cs typeface="Times New Roman"/>
              </a:rPr>
              <a:t>.</a:t>
            </a:r>
            <a:endParaRPr sz="1100" dirty="0">
              <a:latin typeface="Times New Roman"/>
              <a:cs typeface="Times New Roman"/>
            </a:endParaRPr>
          </a:p>
          <a:p>
            <a:pPr marL="552450" marR="59690" lvl="1" indent="-83185">
              <a:lnSpc>
                <a:spcPct val="100000"/>
              </a:lnSpc>
              <a:spcBef>
                <a:spcPts val="625"/>
              </a:spcBef>
              <a:buClr>
                <a:srgbClr val="3E762B"/>
              </a:buClr>
              <a:buChar char="-"/>
              <a:tabLst>
                <a:tab pos="553720" algn="l"/>
              </a:tabLst>
            </a:pPr>
            <a:r>
              <a:rPr sz="1100" dirty="0">
                <a:latin typeface="Times New Roman"/>
                <a:cs typeface="Times New Roman"/>
              </a:rPr>
              <a:t>for store</a:t>
            </a:r>
            <a:r>
              <a:rPr sz="1100" spc="-20" dirty="0">
                <a:latin typeface="Times New Roman"/>
                <a:cs typeface="Times New Roman"/>
              </a:rPr>
              <a:t> </a:t>
            </a:r>
            <a:r>
              <a:rPr sz="1100" dirty="0">
                <a:latin typeface="Times New Roman"/>
                <a:cs typeface="Times New Roman"/>
              </a:rPr>
              <a:t>instruction:</a:t>
            </a:r>
            <a:r>
              <a:rPr sz="1100" spc="-2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memory</a:t>
            </a:r>
            <a:r>
              <a:rPr sz="1100" spc="20" dirty="0">
                <a:latin typeface="Times New Roman"/>
                <a:cs typeface="Times New Roman"/>
              </a:rPr>
              <a:t> </a:t>
            </a:r>
            <a:r>
              <a:rPr sz="1100" b="1" dirty="0">
                <a:latin typeface="Times New Roman"/>
                <a:cs typeface="Times New Roman"/>
              </a:rPr>
              <a:t>writes</a:t>
            </a:r>
            <a:r>
              <a:rPr sz="1100" b="1" spc="-3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data from</a:t>
            </a:r>
            <a:r>
              <a:rPr sz="1100" spc="-1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second</a:t>
            </a:r>
            <a:r>
              <a:rPr sz="1100" spc="-15" dirty="0">
                <a:latin typeface="Times New Roman"/>
                <a:cs typeface="Times New Roman"/>
              </a:rPr>
              <a:t> </a:t>
            </a:r>
            <a:r>
              <a:rPr sz="1100" dirty="0">
                <a:latin typeface="Times New Roman"/>
                <a:cs typeface="Times New Roman"/>
              </a:rPr>
              <a:t>register</a:t>
            </a:r>
            <a:r>
              <a:rPr sz="1100" spc="-5" dirty="0">
                <a:latin typeface="Times New Roman"/>
                <a:cs typeface="Times New Roman"/>
              </a:rPr>
              <a:t> </a:t>
            </a:r>
            <a:r>
              <a:rPr sz="1100" b="1" dirty="0">
                <a:latin typeface="Times New Roman"/>
                <a:cs typeface="Times New Roman"/>
              </a:rPr>
              <a:t>using</a:t>
            </a:r>
            <a:r>
              <a:rPr sz="1100" b="1" spc="-10" dirty="0">
                <a:latin typeface="Times New Roman"/>
                <a:cs typeface="Times New Roman"/>
              </a:rPr>
              <a:t> </a:t>
            </a:r>
            <a:r>
              <a:rPr sz="1100" b="1" spc="-25" dirty="0">
                <a:latin typeface="Times New Roman"/>
                <a:cs typeface="Times New Roman"/>
              </a:rPr>
              <a:t>the 	</a:t>
            </a:r>
            <a:r>
              <a:rPr sz="1100" b="1" dirty="0">
                <a:latin typeface="Times New Roman"/>
                <a:cs typeface="Times New Roman"/>
              </a:rPr>
              <a:t>effective</a:t>
            </a:r>
            <a:r>
              <a:rPr sz="1100" b="1" spc="-20" dirty="0">
                <a:latin typeface="Times New Roman"/>
                <a:cs typeface="Times New Roman"/>
              </a:rPr>
              <a:t> </a:t>
            </a:r>
            <a:r>
              <a:rPr sz="1100" b="1" spc="-10" dirty="0">
                <a:latin typeface="Times New Roman"/>
                <a:cs typeface="Times New Roman"/>
              </a:rPr>
              <a:t>address.</a:t>
            </a:r>
            <a:endParaRPr sz="1100" dirty="0">
              <a:latin typeface="Times New Roman"/>
              <a:cs typeface="Times New Roman"/>
            </a:endParaRPr>
          </a:p>
          <a:p>
            <a:pPr lvl="1">
              <a:lnSpc>
                <a:spcPct val="100000"/>
              </a:lnSpc>
              <a:spcBef>
                <a:spcPts val="229"/>
              </a:spcBef>
              <a:buFont typeface="Times New Roman"/>
              <a:buChar char="-"/>
            </a:pPr>
            <a:endParaRPr sz="1100" dirty="0">
              <a:latin typeface="Times New Roman"/>
              <a:cs typeface="Times New Roman"/>
            </a:endParaRPr>
          </a:p>
          <a:p>
            <a:pPr marL="182245" indent="-169545">
              <a:lnSpc>
                <a:spcPct val="100000"/>
              </a:lnSpc>
              <a:buClr>
                <a:srgbClr val="3E762B"/>
              </a:buClr>
              <a:buFont typeface="Wingdings"/>
              <a:buChar char=""/>
              <a:tabLst>
                <a:tab pos="182245" algn="l"/>
              </a:tabLst>
            </a:pPr>
            <a:r>
              <a:rPr sz="1200" b="1" spc="-10" dirty="0">
                <a:latin typeface="Times New Roman"/>
                <a:cs typeface="Times New Roman"/>
              </a:rPr>
              <a:t>W</a:t>
            </a:r>
            <a:r>
              <a:rPr sz="1200" spc="-10" dirty="0">
                <a:latin typeface="Times New Roman"/>
                <a:cs typeface="Times New Roman"/>
              </a:rPr>
              <a:t>rite-</a:t>
            </a:r>
            <a:r>
              <a:rPr sz="1200" b="1" dirty="0">
                <a:latin typeface="Times New Roman"/>
                <a:cs typeface="Times New Roman"/>
              </a:rPr>
              <a:t>B</a:t>
            </a:r>
            <a:r>
              <a:rPr sz="1200" dirty="0">
                <a:latin typeface="Times New Roman"/>
                <a:cs typeface="Times New Roman"/>
              </a:rPr>
              <a:t>ack</a:t>
            </a:r>
            <a:r>
              <a:rPr sz="1200" spc="-35" dirty="0">
                <a:latin typeface="Times New Roman"/>
                <a:cs typeface="Times New Roman"/>
              </a:rPr>
              <a:t> </a:t>
            </a:r>
            <a:r>
              <a:rPr sz="1200" dirty="0">
                <a:latin typeface="Times New Roman"/>
                <a:cs typeface="Times New Roman"/>
              </a:rPr>
              <a:t>cycle</a:t>
            </a:r>
            <a:r>
              <a:rPr sz="1200" spc="10" dirty="0">
                <a:latin typeface="Times New Roman"/>
                <a:cs typeface="Times New Roman"/>
              </a:rPr>
              <a:t> </a:t>
            </a:r>
            <a:r>
              <a:rPr sz="1200" b="1" spc="-25" dirty="0">
                <a:solidFill>
                  <a:srgbClr val="3E762B"/>
                </a:solidFill>
                <a:latin typeface="Times New Roman"/>
                <a:cs typeface="Times New Roman"/>
              </a:rPr>
              <a:t>WB</a:t>
            </a:r>
            <a:endParaRPr sz="1200" dirty="0">
              <a:latin typeface="Times New Roman"/>
              <a:cs typeface="Times New Roman"/>
            </a:endParaRPr>
          </a:p>
          <a:p>
            <a:pPr marL="557530" lvl="1" indent="-87630">
              <a:lnSpc>
                <a:spcPct val="100000"/>
              </a:lnSpc>
              <a:spcBef>
                <a:spcPts val="600"/>
              </a:spcBef>
              <a:buSzPct val="109090"/>
              <a:buChar char="-"/>
              <a:tabLst>
                <a:tab pos="557530" algn="l"/>
              </a:tabLst>
            </a:pPr>
            <a:r>
              <a:rPr sz="1100" dirty="0">
                <a:latin typeface="Times New Roman"/>
                <a:cs typeface="Times New Roman"/>
              </a:rPr>
              <a:t>for</a:t>
            </a:r>
            <a:r>
              <a:rPr sz="1100" spc="20" dirty="0">
                <a:latin typeface="Times New Roman"/>
                <a:cs typeface="Times New Roman"/>
              </a:rPr>
              <a:t> </a:t>
            </a:r>
            <a:r>
              <a:rPr sz="1100" spc="-10" dirty="0">
                <a:latin typeface="Times New Roman"/>
                <a:cs typeface="Times New Roman"/>
              </a:rPr>
              <a:t>Register-Register</a:t>
            </a:r>
            <a:r>
              <a:rPr sz="1100" spc="-60" dirty="0">
                <a:latin typeface="Times New Roman"/>
                <a:cs typeface="Times New Roman"/>
              </a:rPr>
              <a:t> </a:t>
            </a:r>
            <a:r>
              <a:rPr sz="1100" dirty="0">
                <a:latin typeface="Times New Roman"/>
                <a:cs typeface="Times New Roman"/>
              </a:rPr>
              <a:t>ALU</a:t>
            </a:r>
            <a:r>
              <a:rPr sz="1100" spc="10" dirty="0">
                <a:latin typeface="Times New Roman"/>
                <a:cs typeface="Times New Roman"/>
              </a:rPr>
              <a:t> </a:t>
            </a:r>
            <a:r>
              <a:rPr sz="1100" dirty="0">
                <a:latin typeface="Times New Roman"/>
                <a:cs typeface="Times New Roman"/>
              </a:rPr>
              <a:t>or</a:t>
            </a:r>
            <a:r>
              <a:rPr sz="1100" spc="25" dirty="0">
                <a:latin typeface="Times New Roman"/>
                <a:cs typeface="Times New Roman"/>
              </a:rPr>
              <a:t> </a:t>
            </a:r>
            <a:r>
              <a:rPr sz="1100" dirty="0">
                <a:latin typeface="Times New Roman"/>
                <a:cs typeface="Times New Roman"/>
              </a:rPr>
              <a:t>load</a:t>
            </a:r>
            <a:r>
              <a:rPr sz="1100" spc="-5" dirty="0">
                <a:latin typeface="Times New Roman"/>
                <a:cs typeface="Times New Roman"/>
              </a:rPr>
              <a:t> </a:t>
            </a:r>
            <a:r>
              <a:rPr sz="1100" spc="-10" dirty="0">
                <a:latin typeface="Times New Roman"/>
                <a:cs typeface="Times New Roman"/>
              </a:rPr>
              <a:t>instruction.</a:t>
            </a:r>
            <a:endParaRPr sz="1100" dirty="0">
              <a:latin typeface="Times New Roman"/>
              <a:cs typeface="Times New Roman"/>
            </a:endParaRPr>
          </a:p>
          <a:p>
            <a:pPr marL="548005" marR="5080" lvl="1" indent="-78740">
              <a:lnSpc>
                <a:spcPct val="100000"/>
              </a:lnSpc>
              <a:spcBef>
                <a:spcPts val="605"/>
              </a:spcBef>
              <a:buFont typeface="Times New Roman"/>
              <a:buChar char="-"/>
              <a:tabLst>
                <a:tab pos="553720" algn="l"/>
              </a:tabLst>
            </a:pPr>
            <a:r>
              <a:rPr sz="1100" b="1" dirty="0">
                <a:latin typeface="Times New Roman"/>
                <a:cs typeface="Times New Roman"/>
              </a:rPr>
              <a:t>Write</a:t>
            </a:r>
            <a:r>
              <a:rPr sz="1100" b="1" spc="-25" dirty="0">
                <a:latin typeface="Times New Roman"/>
                <a:cs typeface="Times New Roman"/>
              </a:rPr>
              <a:t> </a:t>
            </a:r>
            <a:r>
              <a:rPr sz="1100" b="1" dirty="0">
                <a:latin typeface="Times New Roman"/>
                <a:cs typeface="Times New Roman"/>
              </a:rPr>
              <a:t>the result</a:t>
            </a:r>
            <a:r>
              <a:rPr sz="1100" b="1" spc="-20" dirty="0">
                <a:latin typeface="Times New Roman"/>
                <a:cs typeface="Times New Roman"/>
              </a:rPr>
              <a:t> </a:t>
            </a:r>
            <a:r>
              <a:rPr sz="1100" b="1" dirty="0">
                <a:latin typeface="Times New Roman"/>
                <a:cs typeface="Times New Roman"/>
              </a:rPr>
              <a:t>into</a:t>
            </a:r>
            <a:r>
              <a:rPr sz="1100" b="1" spc="-10" dirty="0">
                <a:latin typeface="Times New Roman"/>
                <a:cs typeface="Times New Roman"/>
              </a:rPr>
              <a:t> </a:t>
            </a:r>
            <a:r>
              <a:rPr sz="1100" b="1" dirty="0">
                <a:latin typeface="Times New Roman"/>
                <a:cs typeface="Times New Roman"/>
              </a:rPr>
              <a:t>the</a:t>
            </a:r>
            <a:r>
              <a:rPr sz="1100" b="1" spc="-15" dirty="0">
                <a:latin typeface="Times New Roman"/>
                <a:cs typeface="Times New Roman"/>
              </a:rPr>
              <a:t> </a:t>
            </a:r>
            <a:r>
              <a:rPr sz="1100" b="1" dirty="0">
                <a:latin typeface="Times New Roman"/>
                <a:cs typeface="Times New Roman"/>
              </a:rPr>
              <a:t>register</a:t>
            </a:r>
            <a:r>
              <a:rPr sz="1100" b="1" spc="-45" dirty="0">
                <a:latin typeface="Times New Roman"/>
                <a:cs typeface="Times New Roman"/>
              </a:rPr>
              <a:t> </a:t>
            </a:r>
            <a:r>
              <a:rPr sz="1100" b="1" dirty="0">
                <a:latin typeface="Times New Roman"/>
                <a:cs typeface="Times New Roman"/>
              </a:rPr>
              <a:t>file</a:t>
            </a:r>
            <a:r>
              <a:rPr sz="1100" dirty="0">
                <a:latin typeface="Times New Roman"/>
                <a:cs typeface="Times New Roman"/>
              </a:rPr>
              <a:t>,</a:t>
            </a:r>
            <a:r>
              <a:rPr sz="1100" spc="-40" dirty="0">
                <a:latin typeface="Times New Roman"/>
                <a:cs typeface="Times New Roman"/>
              </a:rPr>
              <a:t> </a:t>
            </a:r>
            <a:r>
              <a:rPr sz="1100" dirty="0">
                <a:latin typeface="Times New Roman"/>
                <a:cs typeface="Times New Roman"/>
              </a:rPr>
              <a:t>whether</a:t>
            </a:r>
            <a:r>
              <a:rPr sz="1100" spc="-20" dirty="0">
                <a:latin typeface="Times New Roman"/>
                <a:cs typeface="Times New Roman"/>
              </a:rPr>
              <a:t> </a:t>
            </a:r>
            <a:r>
              <a:rPr sz="1100" dirty="0">
                <a:latin typeface="Times New Roman"/>
                <a:cs typeface="Times New Roman"/>
              </a:rPr>
              <a:t>it</a:t>
            </a:r>
            <a:r>
              <a:rPr sz="1100" spc="-10" dirty="0">
                <a:latin typeface="Times New Roman"/>
                <a:cs typeface="Times New Roman"/>
              </a:rPr>
              <a:t> </a:t>
            </a:r>
            <a:r>
              <a:rPr sz="1100" dirty="0">
                <a:latin typeface="Times New Roman"/>
                <a:cs typeface="Times New Roman"/>
              </a:rPr>
              <a:t>comes from</a:t>
            </a:r>
            <a:r>
              <a:rPr sz="1100" spc="-10"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memory</a:t>
            </a:r>
            <a:r>
              <a:rPr sz="1100" spc="10" dirty="0">
                <a:latin typeface="Times New Roman"/>
                <a:cs typeface="Times New Roman"/>
              </a:rPr>
              <a:t> </a:t>
            </a:r>
            <a:r>
              <a:rPr sz="1100" dirty="0">
                <a:latin typeface="Times New Roman"/>
                <a:cs typeface="Times New Roman"/>
              </a:rPr>
              <a:t>(for</a:t>
            </a:r>
            <a:r>
              <a:rPr sz="1100" spc="-10" dirty="0">
                <a:latin typeface="Times New Roman"/>
                <a:cs typeface="Times New Roman"/>
              </a:rPr>
              <a:t> load) 	</a:t>
            </a:r>
            <a:r>
              <a:rPr sz="1100" dirty="0">
                <a:latin typeface="Times New Roman"/>
                <a:cs typeface="Times New Roman"/>
              </a:rPr>
              <a:t>or</a:t>
            </a:r>
            <a:r>
              <a:rPr sz="1100" spc="-35" dirty="0">
                <a:latin typeface="Times New Roman"/>
                <a:cs typeface="Times New Roman"/>
              </a:rPr>
              <a:t> </a:t>
            </a:r>
            <a:r>
              <a:rPr sz="1100" dirty="0">
                <a:latin typeface="Times New Roman"/>
                <a:cs typeface="Times New Roman"/>
              </a:rPr>
              <a:t>from</a:t>
            </a:r>
            <a:r>
              <a:rPr sz="1100" spc="-15" dirty="0">
                <a:latin typeface="Times New Roman"/>
                <a:cs typeface="Times New Roman"/>
              </a:rPr>
              <a:t> </a:t>
            </a:r>
            <a:r>
              <a:rPr sz="1100" dirty="0">
                <a:latin typeface="Times New Roman"/>
                <a:cs typeface="Times New Roman"/>
              </a:rPr>
              <a:t>the</a:t>
            </a:r>
            <a:r>
              <a:rPr sz="1100" spc="-70" dirty="0">
                <a:latin typeface="Times New Roman"/>
                <a:cs typeface="Times New Roman"/>
              </a:rPr>
              <a:t> </a:t>
            </a:r>
            <a:r>
              <a:rPr sz="1100" dirty="0">
                <a:latin typeface="Times New Roman"/>
                <a:cs typeface="Times New Roman"/>
              </a:rPr>
              <a:t>ALU</a:t>
            </a:r>
            <a:r>
              <a:rPr sz="1100" spc="-20" dirty="0">
                <a:latin typeface="Times New Roman"/>
                <a:cs typeface="Times New Roman"/>
              </a:rPr>
              <a:t> </a:t>
            </a:r>
            <a:r>
              <a:rPr sz="1100" dirty="0">
                <a:latin typeface="Times New Roman"/>
                <a:cs typeface="Times New Roman"/>
              </a:rPr>
              <a:t>(for</a:t>
            </a:r>
            <a:r>
              <a:rPr sz="1100" spc="-70" dirty="0">
                <a:latin typeface="Times New Roman"/>
                <a:cs typeface="Times New Roman"/>
              </a:rPr>
              <a:t> </a:t>
            </a:r>
            <a:r>
              <a:rPr sz="1100" dirty="0">
                <a:latin typeface="Times New Roman"/>
                <a:cs typeface="Times New Roman"/>
              </a:rPr>
              <a:t>ALU</a:t>
            </a:r>
            <a:r>
              <a:rPr sz="1100" spc="-5" dirty="0">
                <a:latin typeface="Times New Roman"/>
                <a:cs typeface="Times New Roman"/>
              </a:rPr>
              <a:t> </a:t>
            </a:r>
            <a:r>
              <a:rPr sz="1100" spc="-10" dirty="0">
                <a:latin typeface="Times New Roman"/>
                <a:cs typeface="Times New Roman"/>
              </a:rPr>
              <a:t>instruction).</a:t>
            </a:r>
            <a:endParaRPr sz="1100" dirty="0">
              <a:latin typeface="Times New Roman"/>
              <a:cs typeface="Times New Roman"/>
            </a:endParaRPr>
          </a:p>
        </p:txBody>
      </p:sp>
      <p:sp>
        <p:nvSpPr>
          <p:cNvPr id="7" name="object 7"/>
          <p:cNvSpPr txBox="1"/>
          <p:nvPr/>
        </p:nvSpPr>
        <p:spPr>
          <a:xfrm>
            <a:off x="1718310" y="1587246"/>
            <a:ext cx="2272665" cy="520065"/>
          </a:xfrm>
          <a:prstGeom prst="rect">
            <a:avLst/>
          </a:prstGeom>
          <a:solidFill>
            <a:srgbClr val="FFFFFF"/>
          </a:solidFill>
          <a:ln w="13716">
            <a:solidFill>
              <a:srgbClr val="3E762B"/>
            </a:solidFill>
          </a:ln>
        </p:spPr>
        <p:txBody>
          <a:bodyPr vert="horz" wrap="square" lIns="0" tIns="17145" rIns="0" bIns="0" rtlCol="0">
            <a:spAutoFit/>
          </a:bodyPr>
          <a:lstStyle/>
          <a:p>
            <a:pPr algn="ctr">
              <a:lnSpc>
                <a:spcPct val="100000"/>
              </a:lnSpc>
              <a:spcBef>
                <a:spcPts val="135"/>
              </a:spcBef>
            </a:pPr>
            <a:r>
              <a:rPr sz="1400" b="1" dirty="0">
                <a:latin typeface="Times New Roman"/>
                <a:cs typeface="Times New Roman"/>
              </a:rPr>
              <a:t>5</a:t>
            </a:r>
            <a:r>
              <a:rPr sz="1400" b="1" spc="-10" dirty="0">
                <a:latin typeface="Times New Roman"/>
                <a:cs typeface="Times New Roman"/>
              </a:rPr>
              <a:t> </a:t>
            </a:r>
            <a:r>
              <a:rPr sz="1400" dirty="0">
                <a:latin typeface="Times New Roman"/>
                <a:cs typeface="Times New Roman"/>
              </a:rPr>
              <a:t>clock</a:t>
            </a:r>
            <a:r>
              <a:rPr sz="1400" spc="-45" dirty="0">
                <a:latin typeface="Times New Roman"/>
                <a:cs typeface="Times New Roman"/>
              </a:rPr>
              <a:t> </a:t>
            </a:r>
            <a:r>
              <a:rPr sz="1400" dirty="0">
                <a:latin typeface="Times New Roman"/>
                <a:cs typeface="Times New Roman"/>
              </a:rPr>
              <a:t>cycles</a:t>
            </a:r>
            <a:r>
              <a:rPr sz="1400" spc="-15" dirty="0">
                <a:latin typeface="Times New Roman"/>
                <a:cs typeface="Times New Roman"/>
              </a:rPr>
              <a:t> </a:t>
            </a:r>
            <a:r>
              <a:rPr sz="1400" dirty="0">
                <a:latin typeface="Times New Roman"/>
                <a:cs typeface="Times New Roman"/>
              </a:rPr>
              <a:t>per</a:t>
            </a:r>
            <a:r>
              <a:rPr sz="1400" spc="-25" dirty="0">
                <a:latin typeface="Times New Roman"/>
                <a:cs typeface="Times New Roman"/>
              </a:rPr>
              <a:t> </a:t>
            </a:r>
            <a:r>
              <a:rPr sz="1400" spc="-10" dirty="0">
                <a:latin typeface="Times New Roman"/>
                <a:cs typeface="Times New Roman"/>
              </a:rPr>
              <a:t>instruction</a:t>
            </a:r>
            <a:endParaRPr sz="1400">
              <a:latin typeface="Times New Roman"/>
              <a:cs typeface="Times New Roman"/>
            </a:endParaRPr>
          </a:p>
          <a:p>
            <a:pPr algn="ctr">
              <a:lnSpc>
                <a:spcPct val="100000"/>
              </a:lnSpc>
              <a:spcBef>
                <a:spcPts val="335"/>
              </a:spcBef>
            </a:pPr>
            <a:r>
              <a:rPr sz="1400" b="1" dirty="0">
                <a:solidFill>
                  <a:srgbClr val="3E762B"/>
                </a:solidFill>
                <a:latin typeface="Times New Roman"/>
                <a:cs typeface="Times New Roman"/>
              </a:rPr>
              <a:t>IF</a:t>
            </a:r>
            <a:r>
              <a:rPr sz="1400" b="1" spc="-70" dirty="0">
                <a:solidFill>
                  <a:srgbClr val="3E762B"/>
                </a:solidFill>
                <a:latin typeface="Times New Roman"/>
                <a:cs typeface="Times New Roman"/>
              </a:rPr>
              <a:t> </a:t>
            </a:r>
            <a:r>
              <a:rPr sz="1400" b="1" dirty="0">
                <a:solidFill>
                  <a:srgbClr val="3E762B"/>
                </a:solidFill>
                <a:latin typeface="Times New Roman"/>
                <a:cs typeface="Times New Roman"/>
              </a:rPr>
              <a:t>ID</a:t>
            </a:r>
            <a:r>
              <a:rPr sz="1400" b="1" spc="-35" dirty="0">
                <a:solidFill>
                  <a:srgbClr val="3E762B"/>
                </a:solidFill>
                <a:latin typeface="Times New Roman"/>
                <a:cs typeface="Times New Roman"/>
              </a:rPr>
              <a:t> </a:t>
            </a:r>
            <a:r>
              <a:rPr sz="1400" b="1" dirty="0">
                <a:solidFill>
                  <a:srgbClr val="3E762B"/>
                </a:solidFill>
                <a:latin typeface="Times New Roman"/>
                <a:cs typeface="Times New Roman"/>
              </a:rPr>
              <a:t>EX</a:t>
            </a:r>
            <a:r>
              <a:rPr sz="1400" b="1" spc="-15" dirty="0">
                <a:solidFill>
                  <a:srgbClr val="3E762B"/>
                </a:solidFill>
                <a:latin typeface="Times New Roman"/>
                <a:cs typeface="Times New Roman"/>
              </a:rPr>
              <a:t> </a:t>
            </a:r>
            <a:r>
              <a:rPr sz="1400" b="1" dirty="0">
                <a:solidFill>
                  <a:srgbClr val="3E762B"/>
                </a:solidFill>
                <a:latin typeface="Times New Roman"/>
                <a:cs typeface="Times New Roman"/>
              </a:rPr>
              <a:t>MEM</a:t>
            </a:r>
            <a:r>
              <a:rPr sz="1400" b="1" spc="-55" dirty="0">
                <a:solidFill>
                  <a:srgbClr val="3E762B"/>
                </a:solidFill>
                <a:latin typeface="Times New Roman"/>
                <a:cs typeface="Times New Roman"/>
              </a:rPr>
              <a:t> </a:t>
            </a:r>
            <a:r>
              <a:rPr sz="1400" b="1" spc="-25" dirty="0">
                <a:solidFill>
                  <a:srgbClr val="3E762B"/>
                </a:solidFill>
                <a:latin typeface="Times New Roman"/>
                <a:cs typeface="Times New Roman"/>
              </a:rPr>
              <a:t>WB</a:t>
            </a:r>
            <a:endParaRPr sz="1400">
              <a:latin typeface="Times New Roman"/>
              <a:cs typeface="Times New Roman"/>
            </a:endParaRPr>
          </a:p>
        </p:txBody>
      </p:sp>
      <p:grpSp>
        <p:nvGrpSpPr>
          <p:cNvPr id="8" name="object 8"/>
          <p:cNvGrpSpPr/>
          <p:nvPr/>
        </p:nvGrpSpPr>
        <p:grpSpPr>
          <a:xfrm>
            <a:off x="381000" y="4844796"/>
            <a:ext cx="6096000" cy="3429000"/>
            <a:chOff x="381000" y="4844796"/>
            <a:chExt cx="6096000" cy="3429000"/>
          </a:xfrm>
        </p:grpSpPr>
        <p:sp>
          <p:nvSpPr>
            <p:cNvPr id="9" name="object 9"/>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0" name="object 10"/>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11" name="object 11"/>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12" name="object 12"/>
            <p:cNvPicPr/>
            <p:nvPr/>
          </p:nvPicPr>
          <p:blipFill>
            <a:blip r:embed="rId5" cstate="print"/>
            <a:stretch>
              <a:fillRect/>
            </a:stretch>
          </p:blipFill>
          <p:spPr>
            <a:xfrm>
              <a:off x="713231" y="5594604"/>
              <a:ext cx="4936236" cy="1335024"/>
            </a:xfrm>
            <a:prstGeom prst="rect">
              <a:avLst/>
            </a:prstGeom>
          </p:spPr>
        </p:pic>
      </p:grpSp>
      <p:sp>
        <p:nvSpPr>
          <p:cNvPr id="13" name="object 13"/>
          <p:cNvSpPr txBox="1"/>
          <p:nvPr/>
        </p:nvSpPr>
        <p:spPr>
          <a:xfrm>
            <a:off x="2733294" y="7648193"/>
            <a:ext cx="899160" cy="230504"/>
          </a:xfrm>
          <a:prstGeom prst="rect">
            <a:avLst/>
          </a:prstGeom>
          <a:solidFill>
            <a:srgbClr val="FFFFFF"/>
          </a:solidFill>
          <a:ln w="19811">
            <a:solidFill>
              <a:srgbClr val="539E39"/>
            </a:solidFill>
          </a:ln>
        </p:spPr>
        <p:txBody>
          <a:bodyPr vert="horz" wrap="square" lIns="0" tIns="17780" rIns="0" bIns="0" rtlCol="0">
            <a:spAutoFit/>
          </a:bodyPr>
          <a:lstStyle/>
          <a:p>
            <a:pPr marL="45085">
              <a:lnSpc>
                <a:spcPct val="100000"/>
              </a:lnSpc>
              <a:spcBef>
                <a:spcPts val="140"/>
              </a:spcBef>
            </a:pPr>
            <a:r>
              <a:rPr sz="1200" b="1" dirty="0">
                <a:latin typeface="Times New Roman"/>
                <a:cs typeface="Times New Roman"/>
              </a:rPr>
              <a:t>Speedup</a:t>
            </a:r>
            <a:r>
              <a:rPr sz="1200" b="1" spc="-25" dirty="0">
                <a:latin typeface="Times New Roman"/>
                <a:cs typeface="Times New Roman"/>
              </a:rPr>
              <a:t> </a:t>
            </a:r>
            <a:r>
              <a:rPr sz="1200" b="1" dirty="0">
                <a:latin typeface="Times New Roman"/>
                <a:cs typeface="Times New Roman"/>
              </a:rPr>
              <a:t>=</a:t>
            </a:r>
            <a:r>
              <a:rPr sz="1200" b="1" spc="-15" dirty="0">
                <a:latin typeface="Times New Roman"/>
                <a:cs typeface="Times New Roman"/>
              </a:rPr>
              <a:t> </a:t>
            </a:r>
            <a:r>
              <a:rPr sz="1200" b="1" spc="-60" dirty="0">
                <a:latin typeface="Times New Roman"/>
                <a:cs typeface="Times New Roman"/>
              </a:rPr>
              <a:t>5</a:t>
            </a:r>
            <a:endParaRPr sz="1200">
              <a:latin typeface="Times New Roman"/>
              <a:cs typeface="Times New Roman"/>
            </a:endParaRPr>
          </a:p>
        </p:txBody>
      </p:sp>
      <p:sp>
        <p:nvSpPr>
          <p:cNvPr id="14" name="object 14"/>
          <p:cNvSpPr txBox="1"/>
          <p:nvPr/>
        </p:nvSpPr>
        <p:spPr>
          <a:xfrm>
            <a:off x="496823" y="4966715"/>
            <a:ext cx="5862955" cy="3190240"/>
          </a:xfrm>
          <a:prstGeom prst="rect">
            <a:avLst/>
          </a:prstGeom>
        </p:spPr>
        <p:txBody>
          <a:bodyPr vert="horz" wrap="square" lIns="0" tIns="131445" rIns="0" bIns="0" rtlCol="0">
            <a:spAutoFit/>
          </a:bodyPr>
          <a:lstStyle/>
          <a:p>
            <a:pPr marL="228600">
              <a:lnSpc>
                <a:spcPct val="100000"/>
              </a:lnSpc>
              <a:spcBef>
                <a:spcPts val="1035"/>
              </a:spcBef>
            </a:pPr>
            <a:r>
              <a:rPr sz="2000" dirty="0">
                <a:latin typeface="Georgia"/>
                <a:cs typeface="Georgia"/>
              </a:rPr>
              <a:t>RISC:</a:t>
            </a:r>
            <a:r>
              <a:rPr sz="2000" spc="-25" dirty="0">
                <a:latin typeface="Georgia"/>
                <a:cs typeface="Georgia"/>
              </a:rPr>
              <a:t> </a:t>
            </a:r>
            <a:r>
              <a:rPr sz="2000" dirty="0">
                <a:latin typeface="Georgia"/>
                <a:cs typeface="Georgia"/>
              </a:rPr>
              <a:t>Reduced</a:t>
            </a:r>
            <a:r>
              <a:rPr sz="2000" spc="-20" dirty="0">
                <a:latin typeface="Georgia"/>
                <a:cs typeface="Georgia"/>
              </a:rPr>
              <a:t> </a:t>
            </a:r>
            <a:r>
              <a:rPr sz="2000" dirty="0">
                <a:latin typeface="Georgia"/>
                <a:cs typeface="Georgia"/>
              </a:rPr>
              <a:t>Instruction</a:t>
            </a:r>
            <a:r>
              <a:rPr sz="2000" spc="-45" dirty="0">
                <a:latin typeface="Georgia"/>
                <a:cs typeface="Georgia"/>
              </a:rPr>
              <a:t> </a:t>
            </a:r>
            <a:r>
              <a:rPr sz="2000" dirty="0">
                <a:latin typeface="Georgia"/>
                <a:cs typeface="Georgia"/>
              </a:rPr>
              <a:t>Set</a:t>
            </a:r>
            <a:r>
              <a:rPr sz="2000" spc="-15" dirty="0">
                <a:latin typeface="Georgia"/>
                <a:cs typeface="Georgia"/>
              </a:rPr>
              <a:t> </a:t>
            </a:r>
            <a:r>
              <a:rPr sz="2000" spc="-10" dirty="0">
                <a:latin typeface="Georgia"/>
                <a:cs typeface="Georgia"/>
              </a:rPr>
              <a:t>Computer</a:t>
            </a:r>
            <a:endParaRPr sz="2000">
              <a:latin typeface="Georgia"/>
              <a:cs typeface="Georgia"/>
            </a:endParaRPr>
          </a:p>
          <a:p>
            <a:pPr>
              <a:lnSpc>
                <a:spcPct val="100000"/>
              </a:lnSpc>
            </a:pPr>
            <a:endParaRPr sz="2000">
              <a:latin typeface="Georgia"/>
              <a:cs typeface="Georgia"/>
            </a:endParaRPr>
          </a:p>
          <a:p>
            <a:pPr>
              <a:lnSpc>
                <a:spcPct val="100000"/>
              </a:lnSpc>
            </a:pPr>
            <a:endParaRPr sz="2000">
              <a:latin typeface="Georgia"/>
              <a:cs typeface="Georgia"/>
            </a:endParaRPr>
          </a:p>
          <a:p>
            <a:pPr>
              <a:lnSpc>
                <a:spcPct val="100000"/>
              </a:lnSpc>
            </a:pPr>
            <a:endParaRPr sz="2000">
              <a:latin typeface="Georgia"/>
              <a:cs typeface="Georgia"/>
            </a:endParaRPr>
          </a:p>
          <a:p>
            <a:pPr>
              <a:lnSpc>
                <a:spcPct val="100000"/>
              </a:lnSpc>
            </a:pPr>
            <a:endParaRPr sz="2000">
              <a:latin typeface="Georgia"/>
              <a:cs typeface="Georgia"/>
            </a:endParaRPr>
          </a:p>
          <a:p>
            <a:pPr>
              <a:lnSpc>
                <a:spcPct val="100000"/>
              </a:lnSpc>
              <a:spcBef>
                <a:spcPts val="1845"/>
              </a:spcBef>
            </a:pPr>
            <a:endParaRPr sz="2000">
              <a:latin typeface="Georgia"/>
              <a:cs typeface="Georgia"/>
            </a:endParaRPr>
          </a:p>
          <a:p>
            <a:pPr marL="592455" marR="422909" indent="-171450">
              <a:lnSpc>
                <a:spcPct val="100000"/>
              </a:lnSpc>
              <a:buClr>
                <a:srgbClr val="3E762B"/>
              </a:buClr>
              <a:buFont typeface="Wingdings"/>
              <a:buChar char=""/>
              <a:tabLst>
                <a:tab pos="593725" algn="l"/>
              </a:tabLst>
            </a:pPr>
            <a:r>
              <a:rPr sz="1200" dirty="0">
                <a:latin typeface="Times New Roman"/>
                <a:cs typeface="Times New Roman"/>
              </a:rPr>
              <a:t>Introduce</a:t>
            </a:r>
            <a:r>
              <a:rPr sz="1200" spc="-20" dirty="0">
                <a:latin typeface="Times New Roman"/>
                <a:cs typeface="Times New Roman"/>
              </a:rPr>
              <a:t> </a:t>
            </a:r>
            <a:r>
              <a:rPr sz="1200" dirty="0">
                <a:latin typeface="Times New Roman"/>
                <a:cs typeface="Times New Roman"/>
              </a:rPr>
              <a:t>pipeline</a:t>
            </a:r>
            <a:r>
              <a:rPr sz="1200" spc="-55" dirty="0">
                <a:latin typeface="Times New Roman"/>
                <a:cs typeface="Times New Roman"/>
              </a:rPr>
              <a:t> </a:t>
            </a:r>
            <a:r>
              <a:rPr sz="1200" b="1" dirty="0">
                <a:latin typeface="Times New Roman"/>
                <a:cs typeface="Times New Roman"/>
              </a:rPr>
              <a:t>registers</a:t>
            </a:r>
            <a:r>
              <a:rPr sz="1200" b="1" spc="-20" dirty="0">
                <a:latin typeface="Times New Roman"/>
                <a:cs typeface="Times New Roman"/>
              </a:rPr>
              <a:t> </a:t>
            </a:r>
            <a:r>
              <a:rPr sz="1200" dirty="0">
                <a:latin typeface="Times New Roman"/>
                <a:cs typeface="Times New Roman"/>
              </a:rPr>
              <a:t>between</a:t>
            </a:r>
            <a:r>
              <a:rPr sz="1200" spc="-45" dirty="0">
                <a:latin typeface="Times New Roman"/>
                <a:cs typeface="Times New Roman"/>
              </a:rPr>
              <a:t> </a:t>
            </a:r>
            <a:r>
              <a:rPr sz="1200" dirty="0">
                <a:latin typeface="Times New Roman"/>
                <a:cs typeface="Times New Roman"/>
              </a:rPr>
              <a:t>successive</a:t>
            </a:r>
            <a:r>
              <a:rPr sz="1200" spc="-40" dirty="0">
                <a:latin typeface="Times New Roman"/>
                <a:cs typeface="Times New Roman"/>
              </a:rPr>
              <a:t> </a:t>
            </a:r>
            <a:r>
              <a:rPr sz="1200" dirty="0">
                <a:latin typeface="Times New Roman"/>
                <a:cs typeface="Times New Roman"/>
              </a:rPr>
              <a:t>stages.</a:t>
            </a:r>
            <a:r>
              <a:rPr sz="1200" spc="-45" dirty="0">
                <a:latin typeface="Times New Roman"/>
                <a:cs typeface="Times New Roman"/>
              </a:rPr>
              <a:t> </a:t>
            </a:r>
            <a:r>
              <a:rPr sz="1200" spc="-20" dirty="0">
                <a:latin typeface="Times New Roman"/>
                <a:cs typeface="Times New Roman"/>
              </a:rPr>
              <a:t>To</a:t>
            </a:r>
            <a:r>
              <a:rPr sz="1200" spc="-45" dirty="0">
                <a:latin typeface="Times New Roman"/>
                <a:cs typeface="Times New Roman"/>
              </a:rPr>
              <a:t> </a:t>
            </a:r>
            <a:r>
              <a:rPr sz="1200" dirty="0">
                <a:latin typeface="Times New Roman"/>
                <a:cs typeface="Times New Roman"/>
              </a:rPr>
              <a:t>store</a:t>
            </a:r>
            <a:r>
              <a:rPr sz="1200" spc="-5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results</a:t>
            </a:r>
            <a:r>
              <a:rPr sz="1200" spc="-4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spc="-50" dirty="0">
                <a:latin typeface="Times New Roman"/>
                <a:cs typeface="Times New Roman"/>
              </a:rPr>
              <a:t>a 	</a:t>
            </a:r>
            <a:r>
              <a:rPr sz="1200" dirty="0">
                <a:latin typeface="Times New Roman"/>
                <a:cs typeface="Times New Roman"/>
              </a:rPr>
              <a:t>stage</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use</a:t>
            </a:r>
            <a:r>
              <a:rPr sz="1200" spc="-15" dirty="0">
                <a:latin typeface="Times New Roman"/>
                <a:cs typeface="Times New Roman"/>
              </a:rPr>
              <a:t> </a:t>
            </a:r>
            <a:r>
              <a:rPr sz="1200" dirty="0">
                <a:latin typeface="Times New Roman"/>
                <a:cs typeface="Times New Roman"/>
              </a:rPr>
              <a:t>them</a:t>
            </a:r>
            <a:r>
              <a:rPr sz="1200" spc="-25" dirty="0">
                <a:latin typeface="Times New Roman"/>
                <a:cs typeface="Times New Roman"/>
              </a:rPr>
              <a:t> </a:t>
            </a:r>
            <a:r>
              <a:rPr sz="1200" dirty="0">
                <a:latin typeface="Times New Roman"/>
                <a:cs typeface="Times New Roman"/>
              </a:rPr>
              <a:t>as</a:t>
            </a:r>
            <a:r>
              <a:rPr sz="1200" spc="-10" dirty="0">
                <a:latin typeface="Times New Roman"/>
                <a:cs typeface="Times New Roman"/>
              </a:rPr>
              <a:t> </a:t>
            </a:r>
            <a:r>
              <a:rPr sz="1200" dirty="0">
                <a:latin typeface="Times New Roman"/>
                <a:cs typeface="Times New Roman"/>
              </a:rPr>
              <a:t>input</a:t>
            </a:r>
            <a:r>
              <a:rPr sz="1200" spc="-3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next</a:t>
            </a:r>
            <a:r>
              <a:rPr sz="1200" spc="-30" dirty="0">
                <a:latin typeface="Times New Roman"/>
                <a:cs typeface="Times New Roman"/>
              </a:rPr>
              <a:t> </a:t>
            </a:r>
            <a:r>
              <a:rPr sz="1200" spc="-10" dirty="0">
                <a:latin typeface="Times New Roman"/>
                <a:cs typeface="Times New Roman"/>
              </a:rPr>
              <a:t>stage.</a:t>
            </a:r>
            <a:endParaRPr sz="120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RISC:</a:t>
            </a:r>
            <a:r>
              <a:rPr spc="-25" dirty="0"/>
              <a:t> </a:t>
            </a:r>
            <a:r>
              <a:rPr dirty="0"/>
              <a:t>Reduced</a:t>
            </a:r>
            <a:r>
              <a:rPr spc="-20" dirty="0"/>
              <a:t> </a:t>
            </a:r>
            <a:r>
              <a:rPr dirty="0"/>
              <a:t>Instruction</a:t>
            </a:r>
            <a:r>
              <a:rPr spc="-45" dirty="0"/>
              <a:t> </a:t>
            </a:r>
            <a:r>
              <a:rPr dirty="0"/>
              <a:t>Set</a:t>
            </a:r>
            <a:r>
              <a:rPr spc="-15" dirty="0"/>
              <a:t> </a:t>
            </a:r>
            <a:r>
              <a:rPr spc="-10" dirty="0"/>
              <a:t>Computer</a:t>
            </a:r>
          </a:p>
        </p:txBody>
      </p:sp>
      <p:grpSp>
        <p:nvGrpSpPr>
          <p:cNvPr id="3" name="object 3"/>
          <p:cNvGrpSpPr/>
          <p:nvPr/>
        </p:nvGrpSpPr>
        <p:grpSpPr>
          <a:xfrm>
            <a:off x="713231" y="1618488"/>
            <a:ext cx="4936490" cy="1343025"/>
            <a:chOff x="713231" y="1618488"/>
            <a:chExt cx="4936490" cy="1343025"/>
          </a:xfrm>
        </p:grpSpPr>
        <p:pic>
          <p:nvPicPr>
            <p:cNvPr id="4" name="object 4"/>
            <p:cNvPicPr/>
            <p:nvPr/>
          </p:nvPicPr>
          <p:blipFill>
            <a:blip r:embed="rId2" cstate="print"/>
            <a:stretch>
              <a:fillRect/>
            </a:stretch>
          </p:blipFill>
          <p:spPr>
            <a:xfrm>
              <a:off x="713231" y="1618488"/>
              <a:ext cx="4936236" cy="1342643"/>
            </a:xfrm>
            <a:prstGeom prst="rect">
              <a:avLst/>
            </a:prstGeom>
          </p:spPr>
        </p:pic>
        <p:sp>
          <p:nvSpPr>
            <p:cNvPr id="5" name="object 5"/>
            <p:cNvSpPr/>
            <p:nvPr/>
          </p:nvSpPr>
          <p:spPr>
            <a:xfrm>
              <a:off x="3547109" y="2244090"/>
              <a:ext cx="388620" cy="634365"/>
            </a:xfrm>
            <a:custGeom>
              <a:avLst/>
              <a:gdLst/>
              <a:ahLst/>
              <a:cxnLst/>
              <a:rect l="l" t="t" r="r" b="b"/>
              <a:pathLst>
                <a:path w="388620" h="634364">
                  <a:moveTo>
                    <a:pt x="0" y="25400"/>
                  </a:moveTo>
                  <a:lnTo>
                    <a:pt x="2004" y="15537"/>
                  </a:lnTo>
                  <a:lnTo>
                    <a:pt x="7461" y="7461"/>
                  </a:lnTo>
                  <a:lnTo>
                    <a:pt x="15537" y="2004"/>
                  </a:lnTo>
                  <a:lnTo>
                    <a:pt x="25400" y="0"/>
                  </a:lnTo>
                  <a:lnTo>
                    <a:pt x="355600" y="0"/>
                  </a:lnTo>
                  <a:lnTo>
                    <a:pt x="365462" y="2004"/>
                  </a:lnTo>
                  <a:lnTo>
                    <a:pt x="373538" y="7461"/>
                  </a:lnTo>
                  <a:lnTo>
                    <a:pt x="378995" y="15537"/>
                  </a:lnTo>
                  <a:lnTo>
                    <a:pt x="381000" y="25400"/>
                  </a:lnTo>
                  <a:lnTo>
                    <a:pt x="381000" y="127000"/>
                  </a:lnTo>
                  <a:lnTo>
                    <a:pt x="378995" y="136862"/>
                  </a:lnTo>
                  <a:lnTo>
                    <a:pt x="373538" y="144938"/>
                  </a:lnTo>
                  <a:lnTo>
                    <a:pt x="365462" y="150395"/>
                  </a:lnTo>
                  <a:lnTo>
                    <a:pt x="355600" y="152400"/>
                  </a:lnTo>
                  <a:lnTo>
                    <a:pt x="25400" y="152400"/>
                  </a:lnTo>
                  <a:lnTo>
                    <a:pt x="15537" y="150395"/>
                  </a:lnTo>
                  <a:lnTo>
                    <a:pt x="7461" y="144938"/>
                  </a:lnTo>
                  <a:lnTo>
                    <a:pt x="2004" y="136862"/>
                  </a:lnTo>
                  <a:lnTo>
                    <a:pt x="0" y="127000"/>
                  </a:lnTo>
                  <a:lnTo>
                    <a:pt x="0" y="25400"/>
                  </a:lnTo>
                  <a:close/>
                </a:path>
                <a:path w="388620" h="634364">
                  <a:moveTo>
                    <a:pt x="7619" y="506983"/>
                  </a:moveTo>
                  <a:lnTo>
                    <a:pt x="9624" y="497121"/>
                  </a:lnTo>
                  <a:lnTo>
                    <a:pt x="15081" y="489045"/>
                  </a:lnTo>
                  <a:lnTo>
                    <a:pt x="23157" y="483588"/>
                  </a:lnTo>
                  <a:lnTo>
                    <a:pt x="33019" y="481583"/>
                  </a:lnTo>
                  <a:lnTo>
                    <a:pt x="363219" y="481583"/>
                  </a:lnTo>
                  <a:lnTo>
                    <a:pt x="373082" y="483588"/>
                  </a:lnTo>
                  <a:lnTo>
                    <a:pt x="381158" y="489045"/>
                  </a:lnTo>
                  <a:lnTo>
                    <a:pt x="386615" y="497121"/>
                  </a:lnTo>
                  <a:lnTo>
                    <a:pt x="388619" y="506983"/>
                  </a:lnTo>
                  <a:lnTo>
                    <a:pt x="388619" y="608583"/>
                  </a:lnTo>
                  <a:lnTo>
                    <a:pt x="386615" y="618446"/>
                  </a:lnTo>
                  <a:lnTo>
                    <a:pt x="381158" y="626522"/>
                  </a:lnTo>
                  <a:lnTo>
                    <a:pt x="373082" y="631979"/>
                  </a:lnTo>
                  <a:lnTo>
                    <a:pt x="363219" y="633983"/>
                  </a:lnTo>
                  <a:lnTo>
                    <a:pt x="33019" y="633983"/>
                  </a:lnTo>
                  <a:lnTo>
                    <a:pt x="23157" y="631979"/>
                  </a:lnTo>
                  <a:lnTo>
                    <a:pt x="15081" y="626522"/>
                  </a:lnTo>
                  <a:lnTo>
                    <a:pt x="9624" y="618446"/>
                  </a:lnTo>
                  <a:lnTo>
                    <a:pt x="7619" y="608583"/>
                  </a:lnTo>
                  <a:lnTo>
                    <a:pt x="7619" y="506983"/>
                  </a:lnTo>
                  <a:close/>
                </a:path>
              </a:pathLst>
            </a:custGeom>
            <a:ln w="19812">
              <a:solidFill>
                <a:srgbClr val="FF0000"/>
              </a:solidFill>
            </a:ln>
          </p:spPr>
          <p:txBody>
            <a:bodyPr wrap="square" lIns="0" tIns="0" rIns="0" bIns="0" rtlCol="0"/>
            <a:lstStyle/>
            <a:p>
              <a:endParaRPr/>
            </a:p>
          </p:txBody>
        </p:sp>
      </p:gr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0" name="object 10"/>
          <p:cNvSpPr txBox="1"/>
          <p:nvPr/>
        </p:nvSpPr>
        <p:spPr>
          <a:xfrm>
            <a:off x="725423" y="5084826"/>
            <a:ext cx="5099685" cy="1120775"/>
          </a:xfrm>
          <a:prstGeom prst="rect">
            <a:avLst/>
          </a:prstGeom>
        </p:spPr>
        <p:txBody>
          <a:bodyPr vert="horz" wrap="square" lIns="0" tIns="13335" rIns="0" bIns="0" rtlCol="0">
            <a:spAutoFit/>
          </a:bodyPr>
          <a:lstStyle/>
          <a:p>
            <a:pPr>
              <a:lnSpc>
                <a:spcPct val="100000"/>
              </a:lnSpc>
              <a:spcBef>
                <a:spcPts val="105"/>
              </a:spcBef>
            </a:pPr>
            <a:r>
              <a:rPr sz="2000" dirty="0">
                <a:latin typeface="Georgia"/>
                <a:cs typeface="Georgia"/>
              </a:rPr>
              <a:t>RISC:</a:t>
            </a:r>
            <a:r>
              <a:rPr sz="2000" spc="-25" dirty="0">
                <a:latin typeface="Georgia"/>
                <a:cs typeface="Georgia"/>
              </a:rPr>
              <a:t> </a:t>
            </a:r>
            <a:r>
              <a:rPr sz="2000" dirty="0">
                <a:latin typeface="Georgia"/>
                <a:cs typeface="Georgia"/>
              </a:rPr>
              <a:t>Reduced</a:t>
            </a:r>
            <a:r>
              <a:rPr sz="2000" spc="-20" dirty="0">
                <a:latin typeface="Georgia"/>
                <a:cs typeface="Georgia"/>
              </a:rPr>
              <a:t> </a:t>
            </a:r>
            <a:r>
              <a:rPr sz="2000" dirty="0">
                <a:latin typeface="Georgia"/>
                <a:cs typeface="Georgia"/>
              </a:rPr>
              <a:t>Instruction</a:t>
            </a:r>
            <a:r>
              <a:rPr sz="2000" spc="-45" dirty="0">
                <a:latin typeface="Georgia"/>
                <a:cs typeface="Georgia"/>
              </a:rPr>
              <a:t> </a:t>
            </a:r>
            <a:r>
              <a:rPr sz="2000" dirty="0">
                <a:latin typeface="Georgia"/>
                <a:cs typeface="Georgia"/>
              </a:rPr>
              <a:t>Set</a:t>
            </a:r>
            <a:r>
              <a:rPr sz="2000" spc="-15" dirty="0">
                <a:latin typeface="Georgia"/>
                <a:cs typeface="Georgia"/>
              </a:rPr>
              <a:t> </a:t>
            </a:r>
            <a:r>
              <a:rPr sz="2000" spc="-10" dirty="0">
                <a:latin typeface="Georgia"/>
                <a:cs typeface="Georgia"/>
              </a:rPr>
              <a:t>Computer</a:t>
            </a:r>
            <a:endParaRPr sz="2000">
              <a:latin typeface="Georgia"/>
              <a:cs typeface="Georgia"/>
            </a:endParaRPr>
          </a:p>
          <a:p>
            <a:pPr marL="203200" indent="-169545">
              <a:lnSpc>
                <a:spcPct val="100000"/>
              </a:lnSpc>
              <a:spcBef>
                <a:spcPts val="1300"/>
              </a:spcBef>
              <a:buClr>
                <a:srgbClr val="3E762B"/>
              </a:buClr>
              <a:buFont typeface="Wingdings"/>
              <a:buChar char=""/>
              <a:tabLst>
                <a:tab pos="203200" algn="l"/>
              </a:tabLst>
            </a:pPr>
            <a:r>
              <a:rPr sz="1200" spc="-10" dirty="0">
                <a:latin typeface="Times New Roman"/>
                <a:cs typeface="Times New Roman"/>
              </a:rPr>
              <a:t>Implementation:</a:t>
            </a:r>
            <a:endParaRPr sz="1200">
              <a:latin typeface="Times New Roman"/>
              <a:cs typeface="Times New Roman"/>
            </a:endParaRPr>
          </a:p>
          <a:p>
            <a:pPr marL="433070" marR="5080" lvl="1" indent="-171450">
              <a:lnSpc>
                <a:spcPct val="100000"/>
              </a:lnSpc>
              <a:spcBef>
                <a:spcPts val="600"/>
              </a:spcBef>
              <a:buClr>
                <a:srgbClr val="3E762B"/>
              </a:buClr>
              <a:buFont typeface="Wingdings"/>
              <a:buChar char=""/>
              <a:tabLst>
                <a:tab pos="434340" algn="l"/>
              </a:tabLst>
            </a:pPr>
            <a:r>
              <a:rPr sz="1200" b="1" dirty="0">
                <a:latin typeface="Times New Roman"/>
                <a:cs typeface="Times New Roman"/>
              </a:rPr>
              <a:t>Separate</a:t>
            </a:r>
            <a:r>
              <a:rPr sz="1200" b="1" spc="-35" dirty="0">
                <a:latin typeface="Times New Roman"/>
                <a:cs typeface="Times New Roman"/>
              </a:rPr>
              <a:t> </a:t>
            </a:r>
            <a:r>
              <a:rPr sz="1200" b="1" dirty="0">
                <a:latin typeface="Times New Roman"/>
                <a:cs typeface="Times New Roman"/>
              </a:rPr>
              <a:t>instruction</a:t>
            </a:r>
            <a:r>
              <a:rPr sz="1200" b="1" spc="-35" dirty="0">
                <a:latin typeface="Times New Roman"/>
                <a:cs typeface="Times New Roman"/>
              </a:rPr>
              <a:t> </a:t>
            </a:r>
            <a:r>
              <a:rPr sz="1200" b="1" dirty="0">
                <a:latin typeface="Times New Roman"/>
                <a:cs typeface="Times New Roman"/>
              </a:rPr>
              <a:t>and</a:t>
            </a:r>
            <a:r>
              <a:rPr sz="1200" b="1" spc="-35" dirty="0">
                <a:latin typeface="Times New Roman"/>
                <a:cs typeface="Times New Roman"/>
              </a:rPr>
              <a:t> </a:t>
            </a:r>
            <a:r>
              <a:rPr sz="1200" b="1" dirty="0">
                <a:latin typeface="Times New Roman"/>
                <a:cs typeface="Times New Roman"/>
              </a:rPr>
              <a:t>data</a:t>
            </a:r>
            <a:r>
              <a:rPr sz="1200" b="1" spc="-30" dirty="0">
                <a:latin typeface="Times New Roman"/>
                <a:cs typeface="Times New Roman"/>
              </a:rPr>
              <a:t> </a:t>
            </a:r>
            <a:r>
              <a:rPr sz="1200" b="1" dirty="0">
                <a:latin typeface="Times New Roman"/>
                <a:cs typeface="Times New Roman"/>
              </a:rPr>
              <a:t>memories</a:t>
            </a:r>
            <a:r>
              <a:rPr sz="1200" b="1" spc="1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eliminate</a:t>
            </a:r>
            <a:r>
              <a:rPr sz="1200" spc="-55" dirty="0">
                <a:latin typeface="Times New Roman"/>
                <a:cs typeface="Times New Roman"/>
              </a:rPr>
              <a:t> </a:t>
            </a:r>
            <a:r>
              <a:rPr sz="1200" dirty="0">
                <a:latin typeface="Times New Roman"/>
                <a:cs typeface="Times New Roman"/>
              </a:rPr>
              <a:t>conflicts</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spc="-10" dirty="0">
                <a:latin typeface="Times New Roman"/>
                <a:cs typeface="Times New Roman"/>
              </a:rPr>
              <a:t>single 	</a:t>
            </a:r>
            <a:r>
              <a:rPr sz="1200" dirty="0">
                <a:latin typeface="Times New Roman"/>
                <a:cs typeface="Times New Roman"/>
              </a:rPr>
              <a:t>memory</a:t>
            </a:r>
            <a:r>
              <a:rPr sz="1200" spc="-45" dirty="0">
                <a:latin typeface="Times New Roman"/>
                <a:cs typeface="Times New Roman"/>
              </a:rPr>
              <a:t> </a:t>
            </a:r>
            <a:r>
              <a:rPr sz="1200" dirty="0">
                <a:latin typeface="Times New Roman"/>
                <a:cs typeface="Times New Roman"/>
              </a:rPr>
              <a:t>between</a:t>
            </a:r>
            <a:r>
              <a:rPr sz="1200" spc="-30" dirty="0">
                <a:latin typeface="Times New Roman"/>
                <a:cs typeface="Times New Roman"/>
              </a:rPr>
              <a:t> </a:t>
            </a:r>
            <a:r>
              <a:rPr sz="1200" dirty="0">
                <a:latin typeface="Times New Roman"/>
                <a:cs typeface="Times New Roman"/>
              </a:rPr>
              <a:t>instruction</a:t>
            </a:r>
            <a:r>
              <a:rPr sz="1200" spc="-50" dirty="0">
                <a:latin typeface="Times New Roman"/>
                <a:cs typeface="Times New Roman"/>
              </a:rPr>
              <a:t> </a:t>
            </a:r>
            <a:r>
              <a:rPr sz="1200" dirty="0">
                <a:latin typeface="Times New Roman"/>
                <a:cs typeface="Times New Roman"/>
              </a:rPr>
              <a:t>fetch</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data</a:t>
            </a:r>
            <a:r>
              <a:rPr sz="1200" spc="-35" dirty="0">
                <a:latin typeface="Times New Roman"/>
                <a:cs typeface="Times New Roman"/>
              </a:rPr>
              <a:t> </a:t>
            </a:r>
            <a:r>
              <a:rPr sz="1200" dirty="0">
                <a:latin typeface="Times New Roman"/>
                <a:cs typeface="Times New Roman"/>
              </a:rPr>
              <a:t>memory</a:t>
            </a:r>
            <a:r>
              <a:rPr sz="1200" spc="-50" dirty="0">
                <a:latin typeface="Times New Roman"/>
                <a:cs typeface="Times New Roman"/>
              </a:rPr>
              <a:t> </a:t>
            </a:r>
            <a:r>
              <a:rPr sz="1200" spc="-10" dirty="0">
                <a:latin typeface="Times New Roman"/>
                <a:cs typeface="Times New Roman"/>
              </a:rPr>
              <a:t>access.</a:t>
            </a:r>
            <a:endParaRPr sz="1200">
              <a:latin typeface="Times New Roman"/>
              <a:cs typeface="Times New Roman"/>
            </a:endParaRPr>
          </a:p>
        </p:txBody>
      </p:sp>
      <p:pic>
        <p:nvPicPr>
          <p:cNvPr id="11" name="object 11"/>
          <p:cNvPicPr/>
          <p:nvPr/>
        </p:nvPicPr>
        <p:blipFill>
          <a:blip r:embed="rId3" cstate="print"/>
          <a:stretch>
            <a:fillRect/>
          </a:stretch>
        </p:blipFill>
        <p:spPr>
          <a:xfrm>
            <a:off x="976883" y="6975347"/>
            <a:ext cx="4067555" cy="804671"/>
          </a:xfrm>
          <a:prstGeom prst="rect">
            <a:avLst/>
          </a:prstGeom>
        </p:spPr>
      </p:pic>
      <p:sp>
        <p:nvSpPr>
          <p:cNvPr id="12" name="object 12"/>
          <p:cNvSpPr txBox="1"/>
          <p:nvPr/>
        </p:nvSpPr>
        <p:spPr>
          <a:xfrm>
            <a:off x="1155496" y="7862722"/>
            <a:ext cx="135890" cy="177800"/>
          </a:xfrm>
          <a:prstGeom prst="rect">
            <a:avLst/>
          </a:prstGeom>
        </p:spPr>
        <p:txBody>
          <a:bodyPr vert="horz" wrap="square" lIns="0" tIns="12065" rIns="0" bIns="0" rtlCol="0">
            <a:spAutoFit/>
          </a:bodyPr>
          <a:lstStyle/>
          <a:p>
            <a:pPr>
              <a:lnSpc>
                <a:spcPct val="100000"/>
              </a:lnSpc>
              <a:spcBef>
                <a:spcPts val="95"/>
              </a:spcBef>
            </a:pPr>
            <a:r>
              <a:rPr sz="1000" spc="-25" dirty="0">
                <a:latin typeface="Verdana"/>
                <a:cs typeface="Verdana"/>
              </a:rPr>
              <a:t>IF</a:t>
            </a:r>
            <a:endParaRPr sz="1000">
              <a:latin typeface="Verdana"/>
              <a:cs typeface="Verdana"/>
            </a:endParaRPr>
          </a:p>
        </p:txBody>
      </p:sp>
      <p:sp>
        <p:nvSpPr>
          <p:cNvPr id="13" name="object 13"/>
          <p:cNvSpPr txBox="1"/>
          <p:nvPr/>
        </p:nvSpPr>
        <p:spPr>
          <a:xfrm>
            <a:off x="3765169" y="7862722"/>
            <a:ext cx="305435" cy="177800"/>
          </a:xfrm>
          <a:prstGeom prst="rect">
            <a:avLst/>
          </a:prstGeom>
        </p:spPr>
        <p:txBody>
          <a:bodyPr vert="horz" wrap="square" lIns="0" tIns="12065" rIns="0" bIns="0" rtlCol="0">
            <a:spAutoFit/>
          </a:bodyPr>
          <a:lstStyle/>
          <a:p>
            <a:pPr>
              <a:lnSpc>
                <a:spcPct val="100000"/>
              </a:lnSpc>
              <a:spcBef>
                <a:spcPts val="95"/>
              </a:spcBef>
            </a:pPr>
            <a:r>
              <a:rPr sz="1000" spc="-25" dirty="0">
                <a:latin typeface="Verdana"/>
                <a:cs typeface="Verdana"/>
              </a:rPr>
              <a:t>MEM</a:t>
            </a:r>
            <a:endParaRPr sz="1000">
              <a:latin typeface="Verdana"/>
              <a:cs typeface="Verdana"/>
            </a:endParaRPr>
          </a:p>
        </p:txBody>
      </p:sp>
      <p:grpSp>
        <p:nvGrpSpPr>
          <p:cNvPr id="14" name="object 14"/>
          <p:cNvGrpSpPr/>
          <p:nvPr/>
        </p:nvGrpSpPr>
        <p:grpSpPr>
          <a:xfrm>
            <a:off x="1176527" y="6850380"/>
            <a:ext cx="4715510" cy="1228725"/>
            <a:chOff x="1176527" y="6850380"/>
            <a:chExt cx="4715510" cy="1228725"/>
          </a:xfrm>
        </p:grpSpPr>
        <p:sp>
          <p:nvSpPr>
            <p:cNvPr id="15" name="object 15"/>
            <p:cNvSpPr/>
            <p:nvPr/>
          </p:nvSpPr>
          <p:spPr>
            <a:xfrm>
              <a:off x="1176528" y="7585710"/>
              <a:ext cx="2764790" cy="304800"/>
            </a:xfrm>
            <a:custGeom>
              <a:avLst/>
              <a:gdLst/>
              <a:ahLst/>
              <a:cxnLst/>
              <a:rect l="l" t="t" r="r" b="b"/>
              <a:pathLst>
                <a:path w="2764790" h="304800">
                  <a:moveTo>
                    <a:pt x="59436" y="245364"/>
                  </a:moveTo>
                  <a:lnTo>
                    <a:pt x="39624" y="245364"/>
                  </a:lnTo>
                  <a:lnTo>
                    <a:pt x="39624" y="0"/>
                  </a:lnTo>
                  <a:lnTo>
                    <a:pt x="19812" y="0"/>
                  </a:lnTo>
                  <a:lnTo>
                    <a:pt x="19812" y="245364"/>
                  </a:lnTo>
                  <a:lnTo>
                    <a:pt x="0" y="245364"/>
                  </a:lnTo>
                  <a:lnTo>
                    <a:pt x="29718" y="304800"/>
                  </a:lnTo>
                  <a:lnTo>
                    <a:pt x="54470" y="255270"/>
                  </a:lnTo>
                  <a:lnTo>
                    <a:pt x="59436" y="245364"/>
                  </a:lnTo>
                  <a:close/>
                </a:path>
                <a:path w="2764790" h="304800">
                  <a:moveTo>
                    <a:pt x="2764536" y="245364"/>
                  </a:moveTo>
                  <a:lnTo>
                    <a:pt x="2744724" y="245364"/>
                  </a:lnTo>
                  <a:lnTo>
                    <a:pt x="2744724" y="0"/>
                  </a:lnTo>
                  <a:lnTo>
                    <a:pt x="2724912" y="0"/>
                  </a:lnTo>
                  <a:lnTo>
                    <a:pt x="2724912" y="245364"/>
                  </a:lnTo>
                  <a:lnTo>
                    <a:pt x="2705100" y="245364"/>
                  </a:lnTo>
                  <a:lnTo>
                    <a:pt x="2734818" y="304800"/>
                  </a:lnTo>
                  <a:lnTo>
                    <a:pt x="2759583" y="255270"/>
                  </a:lnTo>
                  <a:lnTo>
                    <a:pt x="2764536" y="245364"/>
                  </a:lnTo>
                  <a:close/>
                </a:path>
              </a:pathLst>
            </a:custGeom>
            <a:solidFill>
              <a:srgbClr val="000000"/>
            </a:solidFill>
          </p:spPr>
          <p:txBody>
            <a:bodyPr wrap="square" lIns="0" tIns="0" rIns="0" bIns="0" rtlCol="0"/>
            <a:lstStyle/>
            <a:p>
              <a:endParaRPr/>
            </a:p>
          </p:txBody>
        </p:sp>
        <p:pic>
          <p:nvPicPr>
            <p:cNvPr id="16" name="object 16"/>
            <p:cNvPicPr/>
            <p:nvPr/>
          </p:nvPicPr>
          <p:blipFill>
            <a:blip r:embed="rId4" cstate="print"/>
            <a:stretch>
              <a:fillRect/>
            </a:stretch>
          </p:blipFill>
          <p:spPr>
            <a:xfrm>
              <a:off x="5527548" y="6850380"/>
              <a:ext cx="339851" cy="1228344"/>
            </a:xfrm>
            <a:prstGeom prst="rect">
              <a:avLst/>
            </a:prstGeom>
          </p:spPr>
        </p:pic>
        <p:sp>
          <p:nvSpPr>
            <p:cNvPr id="17" name="object 17"/>
            <p:cNvSpPr/>
            <p:nvPr/>
          </p:nvSpPr>
          <p:spPr>
            <a:xfrm>
              <a:off x="5500877" y="7238238"/>
              <a:ext cx="381000" cy="739140"/>
            </a:xfrm>
            <a:custGeom>
              <a:avLst/>
              <a:gdLst/>
              <a:ahLst/>
              <a:cxnLst/>
              <a:rect l="l" t="t" r="r" b="b"/>
              <a:pathLst>
                <a:path w="381000" h="739140">
                  <a:moveTo>
                    <a:pt x="0" y="25399"/>
                  </a:moveTo>
                  <a:lnTo>
                    <a:pt x="2004" y="15537"/>
                  </a:lnTo>
                  <a:lnTo>
                    <a:pt x="7461" y="7461"/>
                  </a:lnTo>
                  <a:lnTo>
                    <a:pt x="15537" y="2004"/>
                  </a:lnTo>
                  <a:lnTo>
                    <a:pt x="25400" y="0"/>
                  </a:lnTo>
                  <a:lnTo>
                    <a:pt x="355600" y="0"/>
                  </a:lnTo>
                  <a:lnTo>
                    <a:pt x="365462" y="2004"/>
                  </a:lnTo>
                  <a:lnTo>
                    <a:pt x="373538" y="7461"/>
                  </a:lnTo>
                  <a:lnTo>
                    <a:pt x="378995" y="15537"/>
                  </a:lnTo>
                  <a:lnTo>
                    <a:pt x="381000" y="25399"/>
                  </a:lnTo>
                  <a:lnTo>
                    <a:pt x="381000" y="126999"/>
                  </a:lnTo>
                  <a:lnTo>
                    <a:pt x="378995" y="136862"/>
                  </a:lnTo>
                  <a:lnTo>
                    <a:pt x="373538" y="144938"/>
                  </a:lnTo>
                  <a:lnTo>
                    <a:pt x="365462" y="150395"/>
                  </a:lnTo>
                  <a:lnTo>
                    <a:pt x="355600" y="152399"/>
                  </a:lnTo>
                  <a:lnTo>
                    <a:pt x="25400" y="152399"/>
                  </a:lnTo>
                  <a:lnTo>
                    <a:pt x="15537" y="150395"/>
                  </a:lnTo>
                  <a:lnTo>
                    <a:pt x="7461" y="144938"/>
                  </a:lnTo>
                  <a:lnTo>
                    <a:pt x="2004" y="136862"/>
                  </a:lnTo>
                  <a:lnTo>
                    <a:pt x="0" y="126999"/>
                  </a:lnTo>
                  <a:lnTo>
                    <a:pt x="0" y="25399"/>
                  </a:lnTo>
                  <a:close/>
                </a:path>
                <a:path w="381000" h="739140">
                  <a:moveTo>
                    <a:pt x="0" y="612139"/>
                  </a:moveTo>
                  <a:lnTo>
                    <a:pt x="2004" y="602277"/>
                  </a:lnTo>
                  <a:lnTo>
                    <a:pt x="7461" y="594201"/>
                  </a:lnTo>
                  <a:lnTo>
                    <a:pt x="15537" y="588744"/>
                  </a:lnTo>
                  <a:lnTo>
                    <a:pt x="25400" y="586739"/>
                  </a:lnTo>
                  <a:lnTo>
                    <a:pt x="355600" y="586739"/>
                  </a:lnTo>
                  <a:lnTo>
                    <a:pt x="365462" y="588744"/>
                  </a:lnTo>
                  <a:lnTo>
                    <a:pt x="373538" y="594201"/>
                  </a:lnTo>
                  <a:lnTo>
                    <a:pt x="378995" y="602277"/>
                  </a:lnTo>
                  <a:lnTo>
                    <a:pt x="381000" y="612139"/>
                  </a:lnTo>
                  <a:lnTo>
                    <a:pt x="381000" y="713739"/>
                  </a:lnTo>
                  <a:lnTo>
                    <a:pt x="378995" y="723629"/>
                  </a:lnTo>
                  <a:lnTo>
                    <a:pt x="373538" y="731702"/>
                  </a:lnTo>
                  <a:lnTo>
                    <a:pt x="365462" y="737144"/>
                  </a:lnTo>
                  <a:lnTo>
                    <a:pt x="355600" y="739139"/>
                  </a:lnTo>
                  <a:lnTo>
                    <a:pt x="25400" y="739139"/>
                  </a:lnTo>
                  <a:lnTo>
                    <a:pt x="15537" y="737144"/>
                  </a:lnTo>
                  <a:lnTo>
                    <a:pt x="7461" y="731702"/>
                  </a:lnTo>
                  <a:lnTo>
                    <a:pt x="2004" y="723629"/>
                  </a:lnTo>
                  <a:lnTo>
                    <a:pt x="0" y="713739"/>
                  </a:lnTo>
                  <a:lnTo>
                    <a:pt x="0" y="612139"/>
                  </a:lnTo>
                  <a:close/>
                </a:path>
              </a:pathLst>
            </a:custGeom>
            <a:ln w="19812">
              <a:solidFill>
                <a:srgbClr val="FF0000"/>
              </a:solidFill>
            </a:ln>
          </p:spPr>
          <p:txBody>
            <a:bodyPr wrap="square" lIns="0" tIns="0" rIns="0" bIns="0" rtlCol="0"/>
            <a:lstStyle/>
            <a:p>
              <a:endParaRPr/>
            </a:p>
          </p:txBody>
        </p:sp>
      </p:grpSp>
      <p:sp>
        <p:nvSpPr>
          <p:cNvPr id="18" name="object 18"/>
          <p:cNvSpPr txBox="1"/>
          <p:nvPr/>
        </p:nvSpPr>
        <p:spPr>
          <a:xfrm>
            <a:off x="1072591" y="6820027"/>
            <a:ext cx="342265" cy="330200"/>
          </a:xfrm>
          <a:prstGeom prst="rect">
            <a:avLst/>
          </a:prstGeom>
        </p:spPr>
        <p:txBody>
          <a:bodyPr vert="horz" wrap="square" lIns="0" tIns="12065" rIns="0" bIns="0" rtlCol="0">
            <a:spAutoFit/>
          </a:bodyPr>
          <a:lstStyle/>
          <a:p>
            <a:pPr marL="2540" marR="5080" indent="-3175">
              <a:lnSpc>
                <a:spcPct val="100000"/>
              </a:lnSpc>
              <a:spcBef>
                <a:spcPts val="95"/>
              </a:spcBef>
            </a:pPr>
            <a:r>
              <a:rPr sz="1000" spc="-45" dirty="0">
                <a:latin typeface="Verdana"/>
                <a:cs typeface="Verdana"/>
              </a:rPr>
              <a:t>Instr. </a:t>
            </a:r>
            <a:r>
              <a:rPr sz="1000" spc="-25" dirty="0">
                <a:latin typeface="Verdana"/>
                <a:cs typeface="Verdana"/>
              </a:rPr>
              <a:t>mem</a:t>
            </a:r>
            <a:endParaRPr sz="1000">
              <a:latin typeface="Verdana"/>
              <a:cs typeface="Verdana"/>
            </a:endParaRPr>
          </a:p>
        </p:txBody>
      </p:sp>
      <p:sp>
        <p:nvSpPr>
          <p:cNvPr id="19" name="object 19"/>
          <p:cNvSpPr txBox="1"/>
          <p:nvPr/>
        </p:nvSpPr>
        <p:spPr>
          <a:xfrm>
            <a:off x="3729228" y="6840728"/>
            <a:ext cx="334645" cy="330200"/>
          </a:xfrm>
          <a:prstGeom prst="rect">
            <a:avLst/>
          </a:prstGeom>
        </p:spPr>
        <p:txBody>
          <a:bodyPr vert="horz" wrap="square" lIns="0" tIns="12065" rIns="0" bIns="0" rtlCol="0">
            <a:spAutoFit/>
          </a:bodyPr>
          <a:lstStyle/>
          <a:p>
            <a:pPr marR="5080" indent="10160">
              <a:lnSpc>
                <a:spcPct val="100000"/>
              </a:lnSpc>
              <a:spcBef>
                <a:spcPts val="95"/>
              </a:spcBef>
            </a:pPr>
            <a:r>
              <a:rPr sz="1000" spc="-20" dirty="0">
                <a:latin typeface="Verdana"/>
                <a:cs typeface="Verdana"/>
              </a:rPr>
              <a:t>Data </a:t>
            </a:r>
            <a:r>
              <a:rPr sz="1000" spc="-25" dirty="0">
                <a:latin typeface="Verdana"/>
                <a:cs typeface="Verdana"/>
              </a:rPr>
              <a:t>mem</a:t>
            </a:r>
            <a:endParaRPr sz="1000">
              <a:latin typeface="Verdana"/>
              <a:cs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RISC:</a:t>
            </a:r>
            <a:r>
              <a:rPr spc="-25" dirty="0"/>
              <a:t> </a:t>
            </a:r>
            <a:r>
              <a:rPr dirty="0"/>
              <a:t>Reduced</a:t>
            </a:r>
            <a:r>
              <a:rPr spc="-20" dirty="0"/>
              <a:t> </a:t>
            </a:r>
            <a:r>
              <a:rPr dirty="0"/>
              <a:t>Instruction</a:t>
            </a:r>
            <a:r>
              <a:rPr spc="-45" dirty="0"/>
              <a:t> </a:t>
            </a:r>
            <a:r>
              <a:rPr dirty="0"/>
              <a:t>Set</a:t>
            </a:r>
            <a:r>
              <a:rPr spc="-15" dirty="0"/>
              <a:t> </a:t>
            </a:r>
            <a:r>
              <a:rPr spc="-10" dirty="0"/>
              <a:t>Computer</a:t>
            </a:r>
          </a:p>
        </p:txBody>
      </p:sp>
      <p:grpSp>
        <p:nvGrpSpPr>
          <p:cNvPr id="3" name="object 3"/>
          <p:cNvGrpSpPr/>
          <p:nvPr/>
        </p:nvGrpSpPr>
        <p:grpSpPr>
          <a:xfrm>
            <a:off x="713231" y="1618488"/>
            <a:ext cx="4936490" cy="1343025"/>
            <a:chOff x="713231" y="1618488"/>
            <a:chExt cx="4936490" cy="1343025"/>
          </a:xfrm>
        </p:grpSpPr>
        <p:pic>
          <p:nvPicPr>
            <p:cNvPr id="4" name="object 4"/>
            <p:cNvPicPr/>
            <p:nvPr/>
          </p:nvPicPr>
          <p:blipFill>
            <a:blip r:embed="rId3" cstate="print"/>
            <a:stretch>
              <a:fillRect/>
            </a:stretch>
          </p:blipFill>
          <p:spPr>
            <a:xfrm>
              <a:off x="713231" y="1618488"/>
              <a:ext cx="4936236" cy="1342643"/>
            </a:xfrm>
            <a:prstGeom prst="rect">
              <a:avLst/>
            </a:prstGeom>
          </p:spPr>
        </p:pic>
        <p:sp>
          <p:nvSpPr>
            <p:cNvPr id="5" name="object 5"/>
            <p:cNvSpPr/>
            <p:nvPr/>
          </p:nvSpPr>
          <p:spPr>
            <a:xfrm>
              <a:off x="4004310" y="2244090"/>
              <a:ext cx="388620" cy="634365"/>
            </a:xfrm>
            <a:custGeom>
              <a:avLst/>
              <a:gdLst/>
              <a:ahLst/>
              <a:cxnLst/>
              <a:rect l="l" t="t" r="r" b="b"/>
              <a:pathLst>
                <a:path w="388620" h="634364">
                  <a:moveTo>
                    <a:pt x="7619" y="25400"/>
                  </a:moveTo>
                  <a:lnTo>
                    <a:pt x="9624" y="15537"/>
                  </a:lnTo>
                  <a:lnTo>
                    <a:pt x="15081" y="7461"/>
                  </a:lnTo>
                  <a:lnTo>
                    <a:pt x="23157" y="2004"/>
                  </a:lnTo>
                  <a:lnTo>
                    <a:pt x="33019" y="0"/>
                  </a:lnTo>
                  <a:lnTo>
                    <a:pt x="363219" y="0"/>
                  </a:lnTo>
                  <a:lnTo>
                    <a:pt x="373082" y="2004"/>
                  </a:lnTo>
                  <a:lnTo>
                    <a:pt x="381158" y="7461"/>
                  </a:lnTo>
                  <a:lnTo>
                    <a:pt x="386615" y="15537"/>
                  </a:lnTo>
                  <a:lnTo>
                    <a:pt x="388619" y="25400"/>
                  </a:lnTo>
                  <a:lnTo>
                    <a:pt x="388619" y="127000"/>
                  </a:lnTo>
                  <a:lnTo>
                    <a:pt x="386615" y="136862"/>
                  </a:lnTo>
                  <a:lnTo>
                    <a:pt x="381158" y="144938"/>
                  </a:lnTo>
                  <a:lnTo>
                    <a:pt x="373082" y="150395"/>
                  </a:lnTo>
                  <a:lnTo>
                    <a:pt x="363219" y="152400"/>
                  </a:lnTo>
                  <a:lnTo>
                    <a:pt x="33019" y="152400"/>
                  </a:lnTo>
                  <a:lnTo>
                    <a:pt x="23157" y="150395"/>
                  </a:lnTo>
                  <a:lnTo>
                    <a:pt x="15081" y="144938"/>
                  </a:lnTo>
                  <a:lnTo>
                    <a:pt x="9624" y="136862"/>
                  </a:lnTo>
                  <a:lnTo>
                    <a:pt x="7619" y="127000"/>
                  </a:lnTo>
                  <a:lnTo>
                    <a:pt x="7619" y="25400"/>
                  </a:lnTo>
                  <a:close/>
                </a:path>
                <a:path w="388620" h="634364">
                  <a:moveTo>
                    <a:pt x="0" y="506983"/>
                  </a:moveTo>
                  <a:lnTo>
                    <a:pt x="2004" y="497121"/>
                  </a:lnTo>
                  <a:lnTo>
                    <a:pt x="7461" y="489045"/>
                  </a:lnTo>
                  <a:lnTo>
                    <a:pt x="15537" y="483588"/>
                  </a:lnTo>
                  <a:lnTo>
                    <a:pt x="25400" y="481583"/>
                  </a:lnTo>
                  <a:lnTo>
                    <a:pt x="355600" y="481583"/>
                  </a:lnTo>
                  <a:lnTo>
                    <a:pt x="365462" y="483588"/>
                  </a:lnTo>
                  <a:lnTo>
                    <a:pt x="373538" y="489045"/>
                  </a:lnTo>
                  <a:lnTo>
                    <a:pt x="378995" y="497121"/>
                  </a:lnTo>
                  <a:lnTo>
                    <a:pt x="381000" y="506983"/>
                  </a:lnTo>
                  <a:lnTo>
                    <a:pt x="381000" y="608583"/>
                  </a:lnTo>
                  <a:lnTo>
                    <a:pt x="378995" y="618446"/>
                  </a:lnTo>
                  <a:lnTo>
                    <a:pt x="373538" y="626522"/>
                  </a:lnTo>
                  <a:lnTo>
                    <a:pt x="365462" y="631979"/>
                  </a:lnTo>
                  <a:lnTo>
                    <a:pt x="355600" y="633983"/>
                  </a:lnTo>
                  <a:lnTo>
                    <a:pt x="25400" y="633983"/>
                  </a:lnTo>
                  <a:lnTo>
                    <a:pt x="15537" y="631979"/>
                  </a:lnTo>
                  <a:lnTo>
                    <a:pt x="7461" y="626522"/>
                  </a:lnTo>
                  <a:lnTo>
                    <a:pt x="2004" y="618446"/>
                  </a:lnTo>
                  <a:lnTo>
                    <a:pt x="0" y="608583"/>
                  </a:lnTo>
                  <a:lnTo>
                    <a:pt x="0" y="506983"/>
                  </a:lnTo>
                  <a:close/>
                </a:path>
              </a:pathLst>
            </a:custGeom>
            <a:ln w="19812">
              <a:solidFill>
                <a:srgbClr val="FF0000"/>
              </a:solidFill>
            </a:ln>
          </p:spPr>
          <p:txBody>
            <a:bodyPr wrap="square" lIns="0" tIns="0" rIns="0" bIns="0" rtlCol="0"/>
            <a:lstStyle/>
            <a:p>
              <a:endParaRPr/>
            </a:p>
          </p:txBody>
        </p:sp>
      </p:gr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90240"/>
            </a:xfrm>
            <a:custGeom>
              <a:avLst/>
              <a:gdLst/>
              <a:ahLst/>
              <a:cxnLst/>
              <a:rect l="l" t="t" r="r" b="b"/>
              <a:pathLst>
                <a:path w="5862955" h="3190240">
                  <a:moveTo>
                    <a:pt x="5862828" y="0"/>
                  </a:moveTo>
                  <a:lnTo>
                    <a:pt x="0" y="0"/>
                  </a:lnTo>
                  <a:lnTo>
                    <a:pt x="0" y="3189732"/>
                  </a:lnTo>
                  <a:lnTo>
                    <a:pt x="5862828" y="3189732"/>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0" name="object 10"/>
          <p:cNvSpPr txBox="1"/>
          <p:nvPr/>
        </p:nvSpPr>
        <p:spPr>
          <a:xfrm>
            <a:off x="725423" y="5084826"/>
            <a:ext cx="5499735" cy="1149985"/>
          </a:xfrm>
          <a:prstGeom prst="rect">
            <a:avLst/>
          </a:prstGeom>
        </p:spPr>
        <p:txBody>
          <a:bodyPr vert="horz" wrap="square" lIns="0" tIns="13335" rIns="0" bIns="0" rtlCol="0">
            <a:spAutoFit/>
          </a:bodyPr>
          <a:lstStyle/>
          <a:p>
            <a:pPr>
              <a:lnSpc>
                <a:spcPct val="100000"/>
              </a:lnSpc>
              <a:spcBef>
                <a:spcPts val="105"/>
              </a:spcBef>
            </a:pPr>
            <a:r>
              <a:rPr sz="2000" dirty="0">
                <a:latin typeface="Georgia"/>
                <a:cs typeface="Georgia"/>
              </a:rPr>
              <a:t>RISC:</a:t>
            </a:r>
            <a:r>
              <a:rPr sz="2000" spc="-25" dirty="0">
                <a:latin typeface="Georgia"/>
                <a:cs typeface="Georgia"/>
              </a:rPr>
              <a:t> </a:t>
            </a:r>
            <a:r>
              <a:rPr sz="2000" dirty="0">
                <a:latin typeface="Georgia"/>
                <a:cs typeface="Georgia"/>
              </a:rPr>
              <a:t>Reduced</a:t>
            </a:r>
            <a:r>
              <a:rPr sz="2000" spc="-20" dirty="0">
                <a:latin typeface="Georgia"/>
                <a:cs typeface="Georgia"/>
              </a:rPr>
              <a:t> </a:t>
            </a:r>
            <a:r>
              <a:rPr sz="2000" dirty="0">
                <a:latin typeface="Georgia"/>
                <a:cs typeface="Georgia"/>
              </a:rPr>
              <a:t>Instruction</a:t>
            </a:r>
            <a:r>
              <a:rPr sz="2000" spc="-45" dirty="0">
                <a:latin typeface="Georgia"/>
                <a:cs typeface="Georgia"/>
              </a:rPr>
              <a:t> </a:t>
            </a:r>
            <a:r>
              <a:rPr sz="2000" dirty="0">
                <a:latin typeface="Georgia"/>
                <a:cs typeface="Georgia"/>
              </a:rPr>
              <a:t>Set</a:t>
            </a:r>
            <a:r>
              <a:rPr sz="2000" spc="-15" dirty="0">
                <a:latin typeface="Georgia"/>
                <a:cs typeface="Georgia"/>
              </a:rPr>
              <a:t> </a:t>
            </a:r>
            <a:r>
              <a:rPr sz="2000" spc="-10" dirty="0">
                <a:latin typeface="Georgia"/>
                <a:cs typeface="Georgia"/>
              </a:rPr>
              <a:t>Computer</a:t>
            </a:r>
            <a:endParaRPr sz="2000" dirty="0">
              <a:latin typeface="Georgia"/>
              <a:cs typeface="Georgia"/>
            </a:endParaRPr>
          </a:p>
          <a:p>
            <a:pPr marL="203200" indent="-169545">
              <a:lnSpc>
                <a:spcPct val="100000"/>
              </a:lnSpc>
              <a:spcBef>
                <a:spcPts val="1525"/>
              </a:spcBef>
              <a:buClr>
                <a:srgbClr val="3E762B"/>
              </a:buClr>
              <a:buFont typeface="Wingdings"/>
              <a:buChar char=""/>
              <a:tabLst>
                <a:tab pos="203200" algn="l"/>
              </a:tabLst>
            </a:pPr>
            <a:r>
              <a:rPr sz="1200" spc="-10" dirty="0">
                <a:latin typeface="Times New Roman"/>
                <a:cs typeface="Times New Roman"/>
              </a:rPr>
              <a:t>Implementation:</a:t>
            </a:r>
            <a:endParaRPr sz="1200" dirty="0">
              <a:latin typeface="Times New Roman"/>
              <a:cs typeface="Times New Roman"/>
            </a:endParaRPr>
          </a:p>
          <a:p>
            <a:pPr marL="434340" lvl="1" indent="-172085">
              <a:lnSpc>
                <a:spcPct val="100000"/>
              </a:lnSpc>
              <a:spcBef>
                <a:spcPts val="600"/>
              </a:spcBef>
              <a:buClr>
                <a:srgbClr val="3E762B"/>
              </a:buClr>
              <a:buFont typeface="Wingdings"/>
              <a:buChar char=""/>
              <a:tabLst>
                <a:tab pos="434340" algn="l"/>
              </a:tabLst>
            </a:pPr>
            <a:r>
              <a:rPr sz="1200" dirty="0">
                <a:latin typeface="Times New Roman"/>
                <a:cs typeface="Times New Roman"/>
              </a:rPr>
              <a:t>Use</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register</a:t>
            </a:r>
            <a:r>
              <a:rPr sz="1200" spc="-25" dirty="0">
                <a:latin typeface="Times New Roman"/>
                <a:cs typeface="Times New Roman"/>
              </a:rPr>
              <a:t> </a:t>
            </a:r>
            <a:r>
              <a:rPr sz="1200" dirty="0">
                <a:latin typeface="Times New Roman"/>
                <a:cs typeface="Times New Roman"/>
              </a:rPr>
              <a:t>file</a:t>
            </a:r>
            <a:r>
              <a:rPr sz="1200" spc="-3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two</a:t>
            </a:r>
            <a:r>
              <a:rPr sz="1200" spc="-30" dirty="0">
                <a:latin typeface="Times New Roman"/>
                <a:cs typeface="Times New Roman"/>
              </a:rPr>
              <a:t> </a:t>
            </a:r>
            <a:r>
              <a:rPr sz="1200" dirty="0">
                <a:latin typeface="Times New Roman"/>
                <a:cs typeface="Times New Roman"/>
              </a:rPr>
              <a:t>stages,</a:t>
            </a:r>
            <a:r>
              <a:rPr sz="1200" spc="-15" dirty="0">
                <a:latin typeface="Times New Roman"/>
                <a:cs typeface="Times New Roman"/>
              </a:rPr>
              <a:t> </a:t>
            </a:r>
            <a:r>
              <a:rPr sz="1200" dirty="0">
                <a:latin typeface="Times New Roman"/>
                <a:cs typeface="Times New Roman"/>
              </a:rPr>
              <a:t>either</a:t>
            </a:r>
            <a:r>
              <a:rPr sz="1200" spc="-40"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half</a:t>
            </a:r>
            <a:r>
              <a:rPr sz="1200" spc="-25" dirty="0">
                <a:latin typeface="Times New Roman"/>
                <a:cs typeface="Times New Roman"/>
              </a:rPr>
              <a:t> </a:t>
            </a:r>
            <a:r>
              <a:rPr sz="1200" dirty="0">
                <a:latin typeface="Times New Roman"/>
                <a:cs typeface="Times New Roman"/>
              </a:rPr>
              <a:t>Clock</a:t>
            </a:r>
            <a:r>
              <a:rPr sz="1200" spc="-40" dirty="0">
                <a:latin typeface="Times New Roman"/>
                <a:cs typeface="Times New Roman"/>
              </a:rPr>
              <a:t> </a:t>
            </a:r>
            <a:r>
              <a:rPr sz="1200" dirty="0">
                <a:latin typeface="Times New Roman"/>
                <a:cs typeface="Times New Roman"/>
              </a:rPr>
              <a:t>Cycle (in</a:t>
            </a:r>
            <a:r>
              <a:rPr sz="1200" spc="-30" dirty="0">
                <a:latin typeface="Times New Roman"/>
                <a:cs typeface="Times New Roman"/>
              </a:rPr>
              <a:t> </a:t>
            </a:r>
            <a:r>
              <a:rPr sz="1200" dirty="0">
                <a:latin typeface="Times New Roman"/>
                <a:cs typeface="Times New Roman"/>
              </a:rPr>
              <a:t>one</a:t>
            </a:r>
            <a:r>
              <a:rPr sz="1200" spc="-35" dirty="0">
                <a:latin typeface="Times New Roman"/>
                <a:cs typeface="Times New Roman"/>
              </a:rPr>
              <a:t> </a:t>
            </a:r>
            <a:r>
              <a:rPr sz="1200" dirty="0">
                <a:latin typeface="Times New Roman"/>
                <a:cs typeface="Times New Roman"/>
              </a:rPr>
              <a:t>clock</a:t>
            </a:r>
            <a:r>
              <a:rPr sz="1200" spc="-25" dirty="0">
                <a:latin typeface="Times New Roman"/>
                <a:cs typeface="Times New Roman"/>
              </a:rPr>
              <a:t> </a:t>
            </a:r>
            <a:r>
              <a:rPr sz="1200" spc="-10" dirty="0">
                <a:latin typeface="Times New Roman"/>
                <a:cs typeface="Times New Roman"/>
              </a:rPr>
              <a:t>cycle,</a:t>
            </a:r>
            <a:endParaRPr sz="1200" dirty="0">
              <a:latin typeface="Times New Roman"/>
              <a:cs typeface="Times New Roman"/>
            </a:endParaRPr>
          </a:p>
          <a:p>
            <a:pPr marL="434340">
              <a:lnSpc>
                <a:spcPct val="100000"/>
              </a:lnSpc>
            </a:pPr>
            <a:r>
              <a:rPr sz="1200" dirty="0">
                <a:latin typeface="Times New Roman"/>
                <a:cs typeface="Times New Roman"/>
              </a:rPr>
              <a:t>write</a:t>
            </a:r>
            <a:r>
              <a:rPr sz="1200" spc="-45" dirty="0">
                <a:latin typeface="Times New Roman"/>
                <a:cs typeface="Times New Roman"/>
              </a:rPr>
              <a:t> </a:t>
            </a:r>
            <a:r>
              <a:rPr sz="1200" dirty="0">
                <a:latin typeface="Times New Roman"/>
                <a:cs typeface="Times New Roman"/>
              </a:rPr>
              <a:t>before</a:t>
            </a:r>
            <a:r>
              <a:rPr sz="1200" spc="-30" dirty="0">
                <a:latin typeface="Times New Roman"/>
                <a:cs typeface="Times New Roman"/>
              </a:rPr>
              <a:t> </a:t>
            </a:r>
            <a:r>
              <a:rPr sz="1200" spc="-10" dirty="0">
                <a:latin typeface="Times New Roman"/>
                <a:cs typeface="Times New Roman"/>
              </a:rPr>
              <a:t>read).</a:t>
            </a:r>
            <a:endParaRPr sz="1200" dirty="0">
              <a:latin typeface="Times New Roman"/>
              <a:cs typeface="Times New Roman"/>
            </a:endParaRPr>
          </a:p>
        </p:txBody>
      </p:sp>
      <p:grpSp>
        <p:nvGrpSpPr>
          <p:cNvPr id="11" name="object 11"/>
          <p:cNvGrpSpPr/>
          <p:nvPr/>
        </p:nvGrpSpPr>
        <p:grpSpPr>
          <a:xfrm>
            <a:off x="976883" y="6057646"/>
            <a:ext cx="4067810" cy="1442085"/>
            <a:chOff x="976883" y="6057646"/>
            <a:chExt cx="4067810" cy="1442085"/>
          </a:xfrm>
        </p:grpSpPr>
        <p:sp>
          <p:nvSpPr>
            <p:cNvPr id="12" name="object 12"/>
            <p:cNvSpPr/>
            <p:nvPr/>
          </p:nvSpPr>
          <p:spPr>
            <a:xfrm>
              <a:off x="2469641" y="6067806"/>
              <a:ext cx="731520" cy="0"/>
            </a:xfrm>
            <a:custGeom>
              <a:avLst/>
              <a:gdLst/>
              <a:ahLst/>
              <a:cxnLst/>
              <a:rect l="l" t="t" r="r" b="b"/>
              <a:pathLst>
                <a:path w="731519">
                  <a:moveTo>
                    <a:pt x="0" y="0"/>
                  </a:moveTo>
                  <a:lnTo>
                    <a:pt x="731519" y="0"/>
                  </a:lnTo>
                </a:path>
              </a:pathLst>
            </a:custGeom>
            <a:ln w="19812">
              <a:solidFill>
                <a:srgbClr val="000000"/>
              </a:solidFill>
            </a:ln>
          </p:spPr>
          <p:txBody>
            <a:bodyPr wrap="square" lIns="0" tIns="0" rIns="0" bIns="0" rtlCol="0"/>
            <a:lstStyle/>
            <a:p>
              <a:endParaRPr/>
            </a:p>
          </p:txBody>
        </p:sp>
        <p:pic>
          <p:nvPicPr>
            <p:cNvPr id="13" name="object 13"/>
            <p:cNvPicPr/>
            <p:nvPr/>
          </p:nvPicPr>
          <p:blipFill>
            <a:blip r:embed="rId4" cstate="print"/>
            <a:stretch>
              <a:fillRect/>
            </a:stretch>
          </p:blipFill>
          <p:spPr>
            <a:xfrm>
              <a:off x="976883" y="6694932"/>
              <a:ext cx="4067555" cy="804671"/>
            </a:xfrm>
            <a:prstGeom prst="rect">
              <a:avLst/>
            </a:prstGeom>
          </p:spPr>
        </p:pic>
      </p:grpSp>
      <p:sp>
        <p:nvSpPr>
          <p:cNvPr id="14" name="object 14"/>
          <p:cNvSpPr txBox="1"/>
          <p:nvPr/>
        </p:nvSpPr>
        <p:spPr>
          <a:xfrm>
            <a:off x="1952879" y="7620380"/>
            <a:ext cx="295910" cy="330200"/>
          </a:xfrm>
          <a:prstGeom prst="rect">
            <a:avLst/>
          </a:prstGeom>
        </p:spPr>
        <p:txBody>
          <a:bodyPr vert="horz" wrap="square" lIns="0" tIns="12065" rIns="0" bIns="0" rtlCol="0">
            <a:spAutoFit/>
          </a:bodyPr>
          <a:lstStyle/>
          <a:p>
            <a:pPr marL="66675">
              <a:lnSpc>
                <a:spcPct val="100000"/>
              </a:lnSpc>
              <a:spcBef>
                <a:spcPts val="95"/>
              </a:spcBef>
            </a:pPr>
            <a:r>
              <a:rPr sz="1000" spc="-25" dirty="0">
                <a:latin typeface="Verdana"/>
                <a:cs typeface="Verdana"/>
              </a:rPr>
              <a:t>ID</a:t>
            </a:r>
            <a:endParaRPr sz="1000">
              <a:latin typeface="Verdana"/>
              <a:cs typeface="Verdana"/>
            </a:endParaRPr>
          </a:p>
          <a:p>
            <a:pPr>
              <a:lnSpc>
                <a:spcPct val="100000"/>
              </a:lnSpc>
            </a:pPr>
            <a:r>
              <a:rPr sz="1000" spc="-20" dirty="0">
                <a:latin typeface="Verdana"/>
                <a:cs typeface="Verdana"/>
              </a:rPr>
              <a:t>read</a:t>
            </a:r>
            <a:endParaRPr sz="1000">
              <a:latin typeface="Verdana"/>
              <a:cs typeface="Verdana"/>
            </a:endParaRPr>
          </a:p>
        </p:txBody>
      </p:sp>
      <p:sp>
        <p:nvSpPr>
          <p:cNvPr id="15" name="object 15"/>
          <p:cNvSpPr txBox="1"/>
          <p:nvPr/>
        </p:nvSpPr>
        <p:spPr>
          <a:xfrm>
            <a:off x="4629277" y="7620380"/>
            <a:ext cx="332105" cy="330200"/>
          </a:xfrm>
          <a:prstGeom prst="rect">
            <a:avLst/>
          </a:prstGeom>
        </p:spPr>
        <p:txBody>
          <a:bodyPr vert="horz" wrap="square" lIns="0" tIns="12065" rIns="0" bIns="0" rtlCol="0">
            <a:spAutoFit/>
          </a:bodyPr>
          <a:lstStyle/>
          <a:p>
            <a:pPr marL="52705">
              <a:lnSpc>
                <a:spcPct val="100000"/>
              </a:lnSpc>
              <a:spcBef>
                <a:spcPts val="95"/>
              </a:spcBef>
            </a:pPr>
            <a:r>
              <a:rPr sz="1000" spc="-25" dirty="0">
                <a:latin typeface="Verdana"/>
                <a:cs typeface="Verdana"/>
              </a:rPr>
              <a:t>WB</a:t>
            </a:r>
            <a:endParaRPr sz="1000">
              <a:latin typeface="Verdana"/>
              <a:cs typeface="Verdana"/>
            </a:endParaRPr>
          </a:p>
          <a:p>
            <a:pPr>
              <a:lnSpc>
                <a:spcPct val="100000"/>
              </a:lnSpc>
            </a:pPr>
            <a:r>
              <a:rPr sz="1000" spc="-10" dirty="0">
                <a:latin typeface="Verdana"/>
                <a:cs typeface="Verdana"/>
              </a:rPr>
              <a:t>write</a:t>
            </a:r>
            <a:endParaRPr sz="1000">
              <a:latin typeface="Verdana"/>
              <a:cs typeface="Verdana"/>
            </a:endParaRPr>
          </a:p>
        </p:txBody>
      </p:sp>
      <p:sp>
        <p:nvSpPr>
          <p:cNvPr id="16" name="object 16"/>
          <p:cNvSpPr/>
          <p:nvPr/>
        </p:nvSpPr>
        <p:spPr>
          <a:xfrm>
            <a:off x="2126742" y="6061964"/>
            <a:ext cx="572135" cy="770890"/>
          </a:xfrm>
          <a:custGeom>
            <a:avLst/>
            <a:gdLst/>
            <a:ahLst/>
            <a:cxnLst/>
            <a:rect l="l" t="t" r="r" b="b"/>
            <a:pathLst>
              <a:path w="572135" h="770890">
                <a:moveTo>
                  <a:pt x="11302" y="705358"/>
                </a:moveTo>
                <a:lnTo>
                  <a:pt x="0" y="770890"/>
                </a:lnTo>
                <a:lnTo>
                  <a:pt x="59181" y="740663"/>
                </a:lnTo>
                <a:lnTo>
                  <a:pt x="54015" y="736854"/>
                </a:lnTo>
                <a:lnTo>
                  <a:pt x="37337" y="736854"/>
                </a:lnTo>
                <a:lnTo>
                  <a:pt x="21462" y="725169"/>
                </a:lnTo>
                <a:lnTo>
                  <a:pt x="27345" y="717187"/>
                </a:lnTo>
                <a:lnTo>
                  <a:pt x="11302" y="705358"/>
                </a:lnTo>
                <a:close/>
              </a:path>
              <a:path w="572135" h="770890">
                <a:moveTo>
                  <a:pt x="27345" y="717187"/>
                </a:moveTo>
                <a:lnTo>
                  <a:pt x="21462" y="725169"/>
                </a:lnTo>
                <a:lnTo>
                  <a:pt x="37337" y="736854"/>
                </a:lnTo>
                <a:lnTo>
                  <a:pt x="43210" y="728886"/>
                </a:lnTo>
                <a:lnTo>
                  <a:pt x="27345" y="717187"/>
                </a:lnTo>
                <a:close/>
              </a:path>
              <a:path w="572135" h="770890">
                <a:moveTo>
                  <a:pt x="43210" y="728886"/>
                </a:moveTo>
                <a:lnTo>
                  <a:pt x="37337" y="736854"/>
                </a:lnTo>
                <a:lnTo>
                  <a:pt x="54015" y="736854"/>
                </a:lnTo>
                <a:lnTo>
                  <a:pt x="43210" y="728886"/>
                </a:lnTo>
                <a:close/>
              </a:path>
              <a:path w="572135" h="770890">
                <a:moveTo>
                  <a:pt x="555878" y="0"/>
                </a:moveTo>
                <a:lnTo>
                  <a:pt x="27345" y="717187"/>
                </a:lnTo>
                <a:lnTo>
                  <a:pt x="43210" y="728886"/>
                </a:lnTo>
                <a:lnTo>
                  <a:pt x="571881" y="11684"/>
                </a:lnTo>
                <a:lnTo>
                  <a:pt x="555878" y="0"/>
                </a:lnTo>
                <a:close/>
              </a:path>
            </a:pathLst>
          </a:custGeom>
          <a:solidFill>
            <a:srgbClr val="000000"/>
          </a:solidFill>
        </p:spPr>
        <p:txBody>
          <a:bodyPr wrap="square" lIns="0" tIns="0" rIns="0" bIns="0" rtlCol="0"/>
          <a:lstStyle/>
          <a:p>
            <a:endParaRPr/>
          </a:p>
        </p:txBody>
      </p:sp>
      <p:grpSp>
        <p:nvGrpSpPr>
          <p:cNvPr id="17" name="object 17"/>
          <p:cNvGrpSpPr/>
          <p:nvPr/>
        </p:nvGrpSpPr>
        <p:grpSpPr>
          <a:xfrm>
            <a:off x="2052827" y="6058789"/>
            <a:ext cx="3942715" cy="1778000"/>
            <a:chOff x="2052827" y="6058789"/>
            <a:chExt cx="3942715" cy="1778000"/>
          </a:xfrm>
        </p:grpSpPr>
        <p:sp>
          <p:nvSpPr>
            <p:cNvPr id="18" name="object 18"/>
            <p:cNvSpPr/>
            <p:nvPr/>
          </p:nvSpPr>
          <p:spPr>
            <a:xfrm>
              <a:off x="2052828" y="7343394"/>
              <a:ext cx="2764790" cy="304800"/>
            </a:xfrm>
            <a:custGeom>
              <a:avLst/>
              <a:gdLst/>
              <a:ahLst/>
              <a:cxnLst/>
              <a:rect l="l" t="t" r="r" b="b"/>
              <a:pathLst>
                <a:path w="2764790" h="304800">
                  <a:moveTo>
                    <a:pt x="59436" y="245364"/>
                  </a:moveTo>
                  <a:lnTo>
                    <a:pt x="39624" y="245364"/>
                  </a:lnTo>
                  <a:lnTo>
                    <a:pt x="39624" y="0"/>
                  </a:lnTo>
                  <a:lnTo>
                    <a:pt x="19812" y="0"/>
                  </a:lnTo>
                  <a:lnTo>
                    <a:pt x="19812" y="245364"/>
                  </a:lnTo>
                  <a:lnTo>
                    <a:pt x="0" y="245364"/>
                  </a:lnTo>
                  <a:lnTo>
                    <a:pt x="29718" y="304800"/>
                  </a:lnTo>
                  <a:lnTo>
                    <a:pt x="54483" y="255270"/>
                  </a:lnTo>
                  <a:lnTo>
                    <a:pt x="59436" y="245364"/>
                  </a:lnTo>
                  <a:close/>
                </a:path>
                <a:path w="2764790" h="304800">
                  <a:moveTo>
                    <a:pt x="2764536" y="245364"/>
                  </a:moveTo>
                  <a:lnTo>
                    <a:pt x="2744724" y="245364"/>
                  </a:lnTo>
                  <a:lnTo>
                    <a:pt x="2744724" y="0"/>
                  </a:lnTo>
                  <a:lnTo>
                    <a:pt x="2724912" y="0"/>
                  </a:lnTo>
                  <a:lnTo>
                    <a:pt x="2724912" y="245364"/>
                  </a:lnTo>
                  <a:lnTo>
                    <a:pt x="2705100" y="245364"/>
                  </a:lnTo>
                  <a:lnTo>
                    <a:pt x="2734818" y="304800"/>
                  </a:lnTo>
                  <a:lnTo>
                    <a:pt x="2759583" y="255270"/>
                  </a:lnTo>
                  <a:lnTo>
                    <a:pt x="2764536" y="245364"/>
                  </a:lnTo>
                  <a:close/>
                </a:path>
              </a:pathLst>
            </a:custGeom>
            <a:solidFill>
              <a:srgbClr val="000000"/>
            </a:solidFill>
          </p:spPr>
          <p:txBody>
            <a:bodyPr wrap="square" lIns="0" tIns="0" rIns="0" bIns="0" rtlCol="0"/>
            <a:lstStyle/>
            <a:p>
              <a:endParaRPr/>
            </a:p>
          </p:txBody>
        </p:sp>
        <p:pic>
          <p:nvPicPr>
            <p:cNvPr id="19" name="object 19"/>
            <p:cNvPicPr/>
            <p:nvPr/>
          </p:nvPicPr>
          <p:blipFill>
            <a:blip r:embed="rId5" cstate="print"/>
            <a:stretch>
              <a:fillRect/>
            </a:stretch>
          </p:blipFill>
          <p:spPr>
            <a:xfrm>
              <a:off x="5611368" y="6594348"/>
              <a:ext cx="353567" cy="1242060"/>
            </a:xfrm>
            <a:prstGeom prst="rect">
              <a:avLst/>
            </a:prstGeom>
          </p:spPr>
        </p:pic>
        <p:sp>
          <p:nvSpPr>
            <p:cNvPr id="20" name="object 20"/>
            <p:cNvSpPr/>
            <p:nvPr/>
          </p:nvSpPr>
          <p:spPr>
            <a:xfrm>
              <a:off x="5604510" y="6892290"/>
              <a:ext cx="381000" cy="685800"/>
            </a:xfrm>
            <a:custGeom>
              <a:avLst/>
              <a:gdLst/>
              <a:ahLst/>
              <a:cxnLst/>
              <a:rect l="l" t="t" r="r" b="b"/>
              <a:pathLst>
                <a:path w="381000" h="685800">
                  <a:moveTo>
                    <a:pt x="0" y="25399"/>
                  </a:moveTo>
                  <a:lnTo>
                    <a:pt x="2004" y="15537"/>
                  </a:lnTo>
                  <a:lnTo>
                    <a:pt x="7461" y="7461"/>
                  </a:lnTo>
                  <a:lnTo>
                    <a:pt x="15537" y="2004"/>
                  </a:lnTo>
                  <a:lnTo>
                    <a:pt x="25400" y="0"/>
                  </a:lnTo>
                  <a:lnTo>
                    <a:pt x="355600" y="0"/>
                  </a:lnTo>
                  <a:lnTo>
                    <a:pt x="365462" y="2004"/>
                  </a:lnTo>
                  <a:lnTo>
                    <a:pt x="373538" y="7461"/>
                  </a:lnTo>
                  <a:lnTo>
                    <a:pt x="378995" y="15537"/>
                  </a:lnTo>
                  <a:lnTo>
                    <a:pt x="381000" y="25399"/>
                  </a:lnTo>
                  <a:lnTo>
                    <a:pt x="381000" y="126999"/>
                  </a:lnTo>
                  <a:lnTo>
                    <a:pt x="378995" y="136862"/>
                  </a:lnTo>
                  <a:lnTo>
                    <a:pt x="373538" y="144938"/>
                  </a:lnTo>
                  <a:lnTo>
                    <a:pt x="365462" y="150395"/>
                  </a:lnTo>
                  <a:lnTo>
                    <a:pt x="355600" y="152399"/>
                  </a:lnTo>
                  <a:lnTo>
                    <a:pt x="25400" y="152399"/>
                  </a:lnTo>
                  <a:lnTo>
                    <a:pt x="15537" y="150395"/>
                  </a:lnTo>
                  <a:lnTo>
                    <a:pt x="7461" y="144938"/>
                  </a:lnTo>
                  <a:lnTo>
                    <a:pt x="2004" y="136862"/>
                  </a:lnTo>
                  <a:lnTo>
                    <a:pt x="0" y="126999"/>
                  </a:lnTo>
                  <a:lnTo>
                    <a:pt x="0" y="25399"/>
                  </a:lnTo>
                  <a:close/>
                </a:path>
                <a:path w="381000" h="685800">
                  <a:moveTo>
                    <a:pt x="0" y="558799"/>
                  </a:moveTo>
                  <a:lnTo>
                    <a:pt x="2004" y="548937"/>
                  </a:lnTo>
                  <a:lnTo>
                    <a:pt x="7461" y="540861"/>
                  </a:lnTo>
                  <a:lnTo>
                    <a:pt x="15537" y="535404"/>
                  </a:lnTo>
                  <a:lnTo>
                    <a:pt x="25400" y="533399"/>
                  </a:lnTo>
                  <a:lnTo>
                    <a:pt x="355600" y="533399"/>
                  </a:lnTo>
                  <a:lnTo>
                    <a:pt x="365462" y="535404"/>
                  </a:lnTo>
                  <a:lnTo>
                    <a:pt x="373538" y="540861"/>
                  </a:lnTo>
                  <a:lnTo>
                    <a:pt x="378995" y="548937"/>
                  </a:lnTo>
                  <a:lnTo>
                    <a:pt x="381000" y="558799"/>
                  </a:lnTo>
                  <a:lnTo>
                    <a:pt x="381000" y="660399"/>
                  </a:lnTo>
                  <a:lnTo>
                    <a:pt x="378995" y="670262"/>
                  </a:lnTo>
                  <a:lnTo>
                    <a:pt x="373538" y="678338"/>
                  </a:lnTo>
                  <a:lnTo>
                    <a:pt x="365462" y="683795"/>
                  </a:lnTo>
                  <a:lnTo>
                    <a:pt x="355600" y="685799"/>
                  </a:lnTo>
                  <a:lnTo>
                    <a:pt x="25400" y="685799"/>
                  </a:lnTo>
                  <a:lnTo>
                    <a:pt x="15537" y="683795"/>
                  </a:lnTo>
                  <a:lnTo>
                    <a:pt x="7461" y="678338"/>
                  </a:lnTo>
                  <a:lnTo>
                    <a:pt x="2004" y="670262"/>
                  </a:lnTo>
                  <a:lnTo>
                    <a:pt x="0" y="660399"/>
                  </a:lnTo>
                  <a:lnTo>
                    <a:pt x="0" y="558799"/>
                  </a:lnTo>
                  <a:close/>
                </a:path>
              </a:pathLst>
            </a:custGeom>
            <a:ln w="19812">
              <a:solidFill>
                <a:srgbClr val="FF0000"/>
              </a:solidFill>
            </a:ln>
          </p:spPr>
          <p:txBody>
            <a:bodyPr wrap="square" lIns="0" tIns="0" rIns="0" bIns="0" rtlCol="0"/>
            <a:lstStyle/>
            <a:p>
              <a:endParaRPr/>
            </a:p>
          </p:txBody>
        </p:sp>
        <p:sp>
          <p:nvSpPr>
            <p:cNvPr id="21" name="object 21"/>
            <p:cNvSpPr/>
            <p:nvPr/>
          </p:nvSpPr>
          <p:spPr>
            <a:xfrm>
              <a:off x="2950336" y="6058789"/>
              <a:ext cx="1741805" cy="777875"/>
            </a:xfrm>
            <a:custGeom>
              <a:avLst/>
              <a:gdLst/>
              <a:ahLst/>
              <a:cxnLst/>
              <a:rect l="l" t="t" r="r" b="b"/>
              <a:pathLst>
                <a:path w="1741804" h="777875">
                  <a:moveTo>
                    <a:pt x="1682910" y="759130"/>
                  </a:moveTo>
                  <a:lnTo>
                    <a:pt x="1674876" y="777367"/>
                  </a:lnTo>
                  <a:lnTo>
                    <a:pt x="1741297" y="774065"/>
                  </a:lnTo>
                  <a:lnTo>
                    <a:pt x="1732245" y="763143"/>
                  </a:lnTo>
                  <a:lnTo>
                    <a:pt x="1692021" y="763143"/>
                  </a:lnTo>
                  <a:lnTo>
                    <a:pt x="1682910" y="759130"/>
                  </a:lnTo>
                  <a:close/>
                </a:path>
                <a:path w="1741804" h="777875">
                  <a:moveTo>
                    <a:pt x="1690910" y="740970"/>
                  </a:moveTo>
                  <a:lnTo>
                    <a:pt x="1682910" y="759130"/>
                  </a:lnTo>
                  <a:lnTo>
                    <a:pt x="1692021" y="763143"/>
                  </a:lnTo>
                  <a:lnTo>
                    <a:pt x="1700022" y="744982"/>
                  </a:lnTo>
                  <a:lnTo>
                    <a:pt x="1690910" y="740970"/>
                  </a:lnTo>
                  <a:close/>
                </a:path>
                <a:path w="1741804" h="777875">
                  <a:moveTo>
                    <a:pt x="1698878" y="722884"/>
                  </a:moveTo>
                  <a:lnTo>
                    <a:pt x="1690910" y="740970"/>
                  </a:lnTo>
                  <a:lnTo>
                    <a:pt x="1700022" y="744982"/>
                  </a:lnTo>
                  <a:lnTo>
                    <a:pt x="1692021" y="763143"/>
                  </a:lnTo>
                  <a:lnTo>
                    <a:pt x="1732245" y="763143"/>
                  </a:lnTo>
                  <a:lnTo>
                    <a:pt x="1698878" y="722884"/>
                  </a:lnTo>
                  <a:close/>
                </a:path>
                <a:path w="1741804" h="777875">
                  <a:moveTo>
                    <a:pt x="7874" y="0"/>
                  </a:moveTo>
                  <a:lnTo>
                    <a:pt x="0" y="18034"/>
                  </a:lnTo>
                  <a:lnTo>
                    <a:pt x="1682910" y="759130"/>
                  </a:lnTo>
                  <a:lnTo>
                    <a:pt x="1690910" y="740970"/>
                  </a:lnTo>
                  <a:lnTo>
                    <a:pt x="7874" y="0"/>
                  </a:lnTo>
                  <a:close/>
                </a:path>
              </a:pathLst>
            </a:custGeom>
            <a:solidFill>
              <a:srgbClr val="000000"/>
            </a:solidFill>
          </p:spPr>
          <p:txBody>
            <a:bodyPr wrap="square" lIns="0" tIns="0" rIns="0" bIns="0" rtlCol="0"/>
            <a:lstStyle/>
            <a:p>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48127" y="914400"/>
            <a:ext cx="3895344" cy="3337560"/>
          </a:xfrm>
          <a:prstGeom prst="rect">
            <a:avLst/>
          </a:prstGeom>
        </p:spPr>
      </p:pic>
      <p:sp>
        <p:nvSpPr>
          <p:cNvPr id="3" name="object 3"/>
          <p:cNvSpPr txBox="1"/>
          <p:nvPr/>
        </p:nvSpPr>
        <p:spPr>
          <a:xfrm>
            <a:off x="712723" y="1092835"/>
            <a:ext cx="752475" cy="360680"/>
          </a:xfrm>
          <a:prstGeom prst="rect">
            <a:avLst/>
          </a:prstGeom>
        </p:spPr>
        <p:txBody>
          <a:bodyPr vert="horz" wrap="square" lIns="0" tIns="12065" rIns="0" bIns="0" rtlCol="0">
            <a:spAutoFit/>
          </a:bodyPr>
          <a:lstStyle/>
          <a:p>
            <a:pPr marL="12700">
              <a:lnSpc>
                <a:spcPct val="100000"/>
              </a:lnSpc>
              <a:spcBef>
                <a:spcPts val="95"/>
              </a:spcBef>
            </a:pPr>
            <a:r>
              <a:rPr sz="2200" spc="-10" dirty="0">
                <a:latin typeface="Georgia"/>
                <a:cs typeface="Georgia"/>
              </a:rPr>
              <a:t>RISC:</a:t>
            </a:r>
            <a:endParaRPr sz="2200">
              <a:latin typeface="Georgia"/>
              <a:cs typeface="Georgi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8558</TotalTime>
  <Words>2849</Words>
  <Application>Microsoft Office PowerPoint</Application>
  <PresentationFormat>On-screen Show (4:3)</PresentationFormat>
  <Paragraphs>380</Paragraphs>
  <Slides>16</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Aptos</vt:lpstr>
      <vt:lpstr>Arial MT</vt:lpstr>
      <vt:lpstr>Cambria Math</vt:lpstr>
      <vt:lpstr>Corbel</vt:lpstr>
      <vt:lpstr>Georgia</vt:lpstr>
      <vt:lpstr>Times New Roman</vt:lpstr>
      <vt:lpstr>Verdana</vt:lpstr>
      <vt:lpstr>Wingdings</vt:lpstr>
      <vt:lpstr>Office Theme</vt:lpstr>
      <vt:lpstr>Computer Architecture</vt:lpstr>
      <vt:lpstr>Pipelining</vt:lpstr>
      <vt:lpstr>Sequential Laundry</vt:lpstr>
      <vt:lpstr>Pipelined Laundry</vt:lpstr>
      <vt:lpstr>Automotive Assembly Line</vt:lpstr>
      <vt:lpstr>PowerPoint Presentation</vt:lpstr>
      <vt:lpstr>Speed-up</vt:lpstr>
      <vt:lpstr>PowerPoint Presentation</vt:lpstr>
      <vt:lpstr>PowerPoint Presentation</vt:lpstr>
      <vt:lpstr>PowerPoint Presentation</vt:lpstr>
      <vt:lpstr>PowerPoint Presentation</vt:lpstr>
      <vt:lpstr>RISC: Reduced Instruction Set Computer</vt:lpstr>
      <vt:lpstr>RISC: Reduced Instruction Set Computer</vt:lpstr>
      <vt:lpstr>RISC: Reduced Instruction Set Computer</vt:lpstr>
      <vt:lpstr>RISC: Reduced Instruction Set Computer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Zahraa.Ismail</cp:lastModifiedBy>
  <cp:revision>5</cp:revision>
  <dcterms:created xsi:type="dcterms:W3CDTF">2025-11-27T09:00:41Z</dcterms:created>
  <dcterms:modified xsi:type="dcterms:W3CDTF">2026-03-10T10:19:38Z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2025-03-15T00:00:00Z</vt:filetime>
  </property>
  <property fmtid="{D5CDD505-2E9C-101B-9397-08002B2CF9AE}" pid="3" name="Creator">
    <vt:lpwstr>Microsoft® PowerPoint® 2016</vt:lpwstr>
  </property>
  <property fmtid="{D5CDD505-2E9C-101B-9397-08002B2CF9AE}" pid="4" name="LastSaved">
    <vt:filetime>2025-11-27T00:00:00Z</vt:filetime>
  </property>
  <property fmtid="{D5CDD505-2E9C-101B-9397-08002B2CF9AE}" pid="5" name="Producer">
    <vt:lpwstr>Microsoft® PowerPoint® 2016</vt:lpwstr>
  </property>
</Properties>
</file>