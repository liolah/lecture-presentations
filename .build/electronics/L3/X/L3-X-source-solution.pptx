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8288000" cy="10287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91B382-0C19-2381-9039-E854B73EEA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1683545"/>
            <a:ext cx="13716000" cy="35814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098D17F-4981-F41E-18C1-34D3AAD1E1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5403057"/>
            <a:ext cx="13716000" cy="248364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8A295-D23C-31D7-5979-1A18BA32C9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1DF76-69DA-C197-400F-D2A2F4E49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0D9ABB-7560-0840-F742-4553225596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829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BE7AF-A9BC-4193-F6DD-C587B38E10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589BF-7C43-5C77-AFC0-CE3FEA6EB6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D788CC-8A97-5AC0-7BE8-72A0D7E7D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A72D7F-C4E2-B5FC-91F2-61F1FE7A9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335EED-F131-1710-6882-16F66EB991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1161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CAFDE-8292-8D57-4EF2-830A12316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7775" y="2564609"/>
            <a:ext cx="15773400" cy="4279106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7F7CEBD-4D63-F543-AD60-9381D8F33D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47775" y="6884197"/>
            <a:ext cx="15773400" cy="2250281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64450C-2174-1952-AAB6-9E88FFCC4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62888A-9F65-3B32-47DF-DAB550F05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EB8D6D-CA1C-256A-0A2D-501E878CC8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7040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E7DD87-3F37-7B54-FDC2-98674B5A8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1970E-62C2-79AA-0DAC-4F00D97310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57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29B78B-838B-C40E-7742-8F23F703CD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258300" y="2738438"/>
            <a:ext cx="7772400" cy="65270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F13AEB-4FE6-6539-C734-C0884EB99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A4DCE5-78CE-67DF-884D-3261BE125C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AAC0BD-BEED-3F07-AB88-2262406B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2549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B3ADA-D776-84C1-217B-6B0547395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2" y="547690"/>
            <a:ext cx="15773400" cy="198834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FB654C-483B-C587-EC58-228A7B7D6A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9684" y="2521745"/>
            <a:ext cx="7736681" cy="123586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BE5697-B3AC-E525-8F1F-6AF94C3415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59684" y="3757613"/>
            <a:ext cx="7736681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B8975F-1C90-082B-8A10-85F68495CCA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258300" y="2521745"/>
            <a:ext cx="7774782" cy="123586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63CE82A-16BB-0E8F-3282-1A3E73D2D35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258300" y="3757613"/>
            <a:ext cx="7774782" cy="55268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7E8B74-42EE-5047-85E6-A94E7BB779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2B2C29-67BD-7933-FEEC-1116BEF38C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500EDA-9860-BD54-CC09-406A3910B7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2462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CC18F-CEFF-21BB-B374-8F24B8FB68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E85C9D-2043-30D8-896F-C89FC90C4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F99A366-A4D8-FC41-4121-9F1652E8E1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815972-8680-589D-2FB9-304ADCD92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302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36B75A-7D77-F9EC-5BF2-75B484E2C5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0689B97-170B-DCB3-D02A-593F102DFA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C18BAD-0A89-5121-02D2-F14C05A3F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4074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E3620-A7E9-D63C-0873-1376E0A06A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28A74-EE9F-C185-7531-2B29B1A5C9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4782" y="1481140"/>
            <a:ext cx="9258300" cy="731043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EAD48E-2873-1DF6-BCDC-386F707E43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3FE3BA-542A-4D42-569C-F9C0BDC709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1550BD-CEE1-61BD-2C93-EFFA0A920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C83CF6-26F8-3DA7-9673-8F72A8F82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41533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8E314-1AED-67EC-5CD4-2390C603E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83" y="685800"/>
            <a:ext cx="5898356" cy="24003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8A1F196-A1FF-8C9C-1C79-F800815401BD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7774782" y="1481140"/>
            <a:ext cx="9258300" cy="731043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92A202-35F0-7012-0503-AFB2ADEAFA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59683" y="3086100"/>
            <a:ext cx="5898356" cy="571738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A4810A-7278-7308-1762-8313355912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FC4B66-1304-7E20-074E-2BD17DFA4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396EE2-FD20-C955-75AF-B9683A7F4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89656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251EA-8C2D-C0EA-F2E5-928A4038E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D0FFC78-2C1B-5005-AD21-CB39A084B2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B5B31-7826-BF06-7C7E-E623F171B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BF5551-FDC2-9393-A1EA-5CCDD9241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2941A6-654A-CDF1-F674-5B80112595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1100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E5BFF13-D926-C8F7-37A7-DD6648EDE3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3087350" y="547688"/>
            <a:ext cx="3943350" cy="871775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B288A3-4DF6-B1F9-FB07-E40B763C3D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57300" y="547688"/>
            <a:ext cx="11601450" cy="871775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31EAD-F271-C886-48EE-0C58938BF6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80EC8E-9576-0527-3C62-929BCE82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918A7-35B6-DE52-753F-F3AF0BB46A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028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0F0A50-B6CA-4EA4-0DC7-858B73F1B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7300" y="547690"/>
            <a:ext cx="15773400" cy="19883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3B520B-5EFA-D6F5-3433-5104966602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57300" y="2738438"/>
            <a:ext cx="15773400" cy="6527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D13F96-DFDA-233B-38D0-9D1E34D605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57300" y="9534527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8AA4E6-2552-46D9-BFC0-6285C9CBA9B2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380FC6-F282-62C8-D596-592DEC4440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7900" y="9534527"/>
            <a:ext cx="61722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08ED43-7DA3-4B68-F3E1-46958ED5BD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915900" y="9534527"/>
            <a:ext cx="4114800" cy="5476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D9FC9-5A17-454D-A3C6-A13D44B6DBD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9527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tle #nochrome s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68FEEC2-34AB-67A8-C6E0-9CD29F710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3175000"/>
            <a:ext cx="9652000" cy="1651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12000">
                <a:solidFill>
                  <a:srgbClr val="15241D"/>
                </a:solidFill>
                <a:latin typeface="Bebas Neue" panose="020B0606020202050201" pitchFamily="34" charset="0"/>
              </a:rPr>
              <a:t>MOSFETs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A7CD8814-7297-07ED-5834-DFC2A187D035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55CD5E6C-6B87-259D-14D0-837B5ED99F03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C9C56565-F2E9-1972-E0F9-A1737F9A5739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A927B770-55CD-FA5D-BA53-65191B87B45C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49589E63-4D41-A9C9-EC48-F53C174089C7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BEB97CC3-B3F2-19CB-E7E4-483177BB0475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4BB45D2F-17F6-A9F5-6717-4442E4E98AB9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1C4A5B13-0A94-E5B9-6A4F-7C4D6E11AA47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7264139E-8202-7089-DC1D-AD6BE1DE5658}"/>
              </a:ext>
            </a:extLst>
          </p:cNvPr>
          <p:cNvSpPr/>
          <p:nvPr/>
        </p:nvSpPr>
        <p:spPr>
          <a:xfrm>
            <a:off x="1016000" y="2540000"/>
            <a:ext cx="552043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25CPES102  ·  ELECTRONIC MATERIALS AND DEVICES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525F491C-C683-935E-7BED-0C27703ABE9B}"/>
              </a:ext>
            </a:extLst>
          </p:cNvPr>
          <p:cNvSpPr txBox="1"/>
          <p:nvPr/>
        </p:nvSpPr>
        <p:spPr>
          <a:xfrm>
            <a:off x="1016000" y="4927599"/>
            <a:ext cx="88900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4D5B54"/>
                </a:solidFill>
                <a:latin typeface="DM Sans" pitchFamily="2" charset="0"/>
              </a:rPr>
              <a:t>Metal-oxide-semiconductor</a:t>
            </a:r>
          </a:p>
          <a:p>
            <a:r>
              <a:rPr lang="en-US" sz="2800">
                <a:solidFill>
                  <a:srgbClr val="4D5B54"/>
                </a:solidFill>
                <a:latin typeface="DM Sans" pitchFamily="2" charset="0"/>
              </a:rPr>
              <a:t>field-effect transistors</a:t>
            </a:r>
          </a:p>
        </p:txBody>
      </p:sp>
      <p:sp>
        <p:nvSpPr>
          <p:cNvPr id="13" name="lecture">
            <a:extLst>
              <a:ext uri="{FF2B5EF4-FFF2-40B4-BE49-F238E27FC236}">
                <a16:creationId xmlns:a16="http://schemas.microsoft.com/office/drawing/2014/main" id="{7845D779-838D-F662-F042-CD285121EEBC}"/>
              </a:ext>
            </a:extLst>
          </p:cNvPr>
          <p:cNvSpPr txBox="1"/>
          <p:nvPr/>
        </p:nvSpPr>
        <p:spPr>
          <a:xfrm>
            <a:off x="1016000" y="6095999"/>
            <a:ext cx="5080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400">
                <a:solidFill>
                  <a:srgbClr val="B8581A"/>
                </a:solidFill>
                <a:latin typeface="Bebas Neue" panose="020B0606020202050201" pitchFamily="34" charset="0"/>
              </a:rPr>
              <a:t>LECTURE 3</a:t>
            </a:r>
          </a:p>
        </p:txBody>
      </p:sp>
      <p:sp>
        <p:nvSpPr>
          <p:cNvPr id="14" name="author">
            <a:extLst>
              <a:ext uri="{FF2B5EF4-FFF2-40B4-BE49-F238E27FC236}">
                <a16:creationId xmlns:a16="http://schemas.microsoft.com/office/drawing/2014/main" id="{BA901D98-67BC-A725-D2FD-01EC15A6A342}"/>
              </a:ext>
            </a:extLst>
          </p:cNvPr>
          <p:cNvSpPr txBox="1"/>
          <p:nvPr/>
        </p:nvSpPr>
        <p:spPr>
          <a:xfrm>
            <a:off x="1016000" y="7619999"/>
            <a:ext cx="8890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200" b="1">
                <a:solidFill>
                  <a:srgbClr val="15241D"/>
                </a:solidFill>
                <a:latin typeface="DM Sans" pitchFamily="2" charset="0"/>
              </a:rPr>
              <a:t>Dr. Zahraa Ismail</a:t>
            </a:r>
          </a:p>
        </p:txBody>
      </p:sp>
      <p:sp>
        <p:nvSpPr>
          <p:cNvPr id="15" name="meta">
            <a:extLst>
              <a:ext uri="{FF2B5EF4-FFF2-40B4-BE49-F238E27FC236}">
                <a16:creationId xmlns:a16="http://schemas.microsoft.com/office/drawing/2014/main" id="{9AD9A699-1FF9-6975-971B-8F787D5B9A14}"/>
              </a:ext>
            </a:extLst>
          </p:cNvPr>
          <p:cNvSpPr txBox="1"/>
          <p:nvPr/>
        </p:nvSpPr>
        <p:spPr>
          <a:xfrm>
            <a:off x="1016000" y="8026399"/>
            <a:ext cx="9652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Computer Engineering  ·  Academic Year 2025/2026 · Semester One</a:t>
            </a:r>
          </a:p>
        </p:txBody>
      </p:sp>
      <p:sp>
        <p:nvSpPr>
          <p:cNvPr id="16" name="figure card">
            <a:extLst>
              <a:ext uri="{FF2B5EF4-FFF2-40B4-BE49-F238E27FC236}">
                <a16:creationId xmlns:a16="http://schemas.microsoft.com/office/drawing/2014/main" id="{A0852AC7-14B7-A12D-0C25-434D96B04EE9}"/>
              </a:ext>
            </a:extLst>
          </p:cNvPr>
          <p:cNvSpPr/>
          <p:nvPr/>
        </p:nvSpPr>
        <p:spPr>
          <a:xfrm>
            <a:off x="10160000" y="3048000"/>
            <a:ext cx="7366000" cy="3343597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igure card">
            <a:extLst>
              <a:ext uri="{FF2B5EF4-FFF2-40B4-BE49-F238E27FC236}">
                <a16:creationId xmlns:a16="http://schemas.microsoft.com/office/drawing/2014/main" id="{D939DF4B-B0FF-E577-B740-38FC77DF16B3}"/>
              </a:ext>
            </a:extLst>
          </p:cNvPr>
          <p:cNvSpPr/>
          <p:nvPr/>
        </p:nvSpPr>
        <p:spPr>
          <a:xfrm>
            <a:off x="10160000" y="3035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9" name="figure">
            <a:extLst>
              <a:ext uri="{FF2B5EF4-FFF2-40B4-BE49-F238E27FC236}">
                <a16:creationId xmlns:a16="http://schemas.microsoft.com/office/drawing/2014/main" id="{20BFB402-3FDD-9D6D-1612-227936015F7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14000" y="3302000"/>
            <a:ext cx="6858000" cy="2606997"/>
          </a:xfrm>
          <a:prstGeom prst="rect">
            <a:avLst/>
          </a:prstGeom>
        </p:spPr>
      </p:pic>
      <p:sp>
        <p:nvSpPr>
          <p:cNvPr id="20" name="credit">
            <a:extLst>
              <a:ext uri="{FF2B5EF4-FFF2-40B4-BE49-F238E27FC236}">
                <a16:creationId xmlns:a16="http://schemas.microsoft.com/office/drawing/2014/main" id="{62559EF9-A605-541E-4B71-19F68B005BEF}"/>
              </a:ext>
            </a:extLst>
          </p:cNvPr>
          <p:cNvSpPr txBox="1"/>
          <p:nvPr/>
        </p:nvSpPr>
        <p:spPr>
          <a:xfrm>
            <a:off x="10414000" y="6035997"/>
            <a:ext cx="6858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</p:spTree>
    <p:extLst>
      <p:ext uri="{BB962C8B-B14F-4D97-AF65-F5344CB8AC3E}">
        <p14:creationId xmlns:p14="http://schemas.microsoft.com/office/powerpoint/2010/main" val="39050629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map 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B62EB85-3EC4-ABD3-4426-462E3C83D4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Lecture map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74E7D184-DEDB-D45D-59B5-7431EB086FA7}"/>
              </a:ext>
            </a:extLst>
          </p:cNvPr>
          <p:cNvSpPr/>
          <p:nvPr/>
        </p:nvSpPr>
        <p:spPr>
          <a:xfrm>
            <a:off x="914400" y="279400"/>
            <a:ext cx="1488694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LECTURE 3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DCB6AD61-4454-160E-B0A2-8C34DA5FC6C0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29A76351-E712-D056-18D2-4A7DF7D28DD9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map n">
            <a:extLst>
              <a:ext uri="{FF2B5EF4-FFF2-40B4-BE49-F238E27FC236}">
                <a16:creationId xmlns:a16="http://schemas.microsoft.com/office/drawing/2014/main" id="{6D207E20-303A-C983-DC46-F2D039B114B1}"/>
              </a:ext>
            </a:extLst>
          </p:cNvPr>
          <p:cNvSpPr/>
          <p:nvPr/>
        </p:nvSpPr>
        <p:spPr>
          <a:xfrm>
            <a:off x="914400" y="2286000"/>
            <a:ext cx="584200" cy="5842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3000">
                <a:solidFill>
                  <a:srgbClr val="FFFFFF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7" name="map t">
            <a:extLst>
              <a:ext uri="{FF2B5EF4-FFF2-40B4-BE49-F238E27FC236}">
                <a16:creationId xmlns:a16="http://schemas.microsoft.com/office/drawing/2014/main" id="{C044ACCF-74CD-766C-A34F-5A5359E7750D}"/>
              </a:ext>
            </a:extLst>
          </p:cNvPr>
          <p:cNvSpPr txBox="1"/>
          <p:nvPr/>
        </p:nvSpPr>
        <p:spPr>
          <a:xfrm>
            <a:off x="1752600" y="2260599"/>
            <a:ext cx="8128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 b="1">
                <a:solidFill>
                  <a:srgbClr val="15241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8" name="map s">
            <a:extLst>
              <a:ext uri="{FF2B5EF4-FFF2-40B4-BE49-F238E27FC236}">
                <a16:creationId xmlns:a16="http://schemas.microsoft.com/office/drawing/2014/main" id="{5501062F-8CC7-78BE-5DB0-8DCFD13BC09C}"/>
              </a:ext>
            </a:extLst>
          </p:cNvPr>
          <p:cNvSpPr txBox="1"/>
          <p:nvPr/>
        </p:nvSpPr>
        <p:spPr>
          <a:xfrm>
            <a:off x="1752600" y="2641599"/>
            <a:ext cx="8128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>
                <a:solidFill>
                  <a:srgbClr val="4D5B54"/>
                </a:solidFill>
                <a:latin typeface="DM Sans" pitchFamily="2" charset="0"/>
              </a:rPr>
              <a:t>how a channel forms; the threshold voltage</a:t>
            </a:r>
          </a:p>
        </p:txBody>
      </p:sp>
      <p:sp>
        <p:nvSpPr>
          <p:cNvPr id="9" name="map n">
            <a:extLst>
              <a:ext uri="{FF2B5EF4-FFF2-40B4-BE49-F238E27FC236}">
                <a16:creationId xmlns:a16="http://schemas.microsoft.com/office/drawing/2014/main" id="{E689704F-5EBE-E1EA-75AD-B4D975C3AC25}"/>
              </a:ext>
            </a:extLst>
          </p:cNvPr>
          <p:cNvSpPr/>
          <p:nvPr/>
        </p:nvSpPr>
        <p:spPr>
          <a:xfrm>
            <a:off x="914400" y="3479800"/>
            <a:ext cx="584200" cy="5842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3000">
                <a:solidFill>
                  <a:srgbClr val="FFFFFF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10" name="map t">
            <a:extLst>
              <a:ext uri="{FF2B5EF4-FFF2-40B4-BE49-F238E27FC236}">
                <a16:creationId xmlns:a16="http://schemas.microsoft.com/office/drawing/2014/main" id="{8D1FDE15-7359-C5F6-1E91-832A1A4A2ECB}"/>
              </a:ext>
            </a:extLst>
          </p:cNvPr>
          <p:cNvSpPr txBox="1"/>
          <p:nvPr/>
        </p:nvSpPr>
        <p:spPr>
          <a:xfrm>
            <a:off x="1752600" y="3454399"/>
            <a:ext cx="8128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 b="1">
                <a:solidFill>
                  <a:srgbClr val="15241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11" name="map s">
            <a:extLst>
              <a:ext uri="{FF2B5EF4-FFF2-40B4-BE49-F238E27FC236}">
                <a16:creationId xmlns:a16="http://schemas.microsoft.com/office/drawing/2014/main" id="{264547C0-4655-6CBC-9E0D-CBA44663D44C}"/>
              </a:ext>
            </a:extLst>
          </p:cNvPr>
          <p:cNvSpPr txBox="1"/>
          <p:nvPr/>
        </p:nvSpPr>
        <p:spPr>
          <a:xfrm>
            <a:off x="1752600" y="3835399"/>
            <a:ext cx="8128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>
                <a:solidFill>
                  <a:srgbClr val="4D5B54"/>
                </a:solidFill>
                <a:latin typeface="DM Sans" pitchFamily="2" charset="0"/>
              </a:rPr>
              <a:t>cutoff, triode and saturation</a:t>
            </a:r>
          </a:p>
        </p:txBody>
      </p:sp>
      <p:sp>
        <p:nvSpPr>
          <p:cNvPr id="12" name="map n">
            <a:extLst>
              <a:ext uri="{FF2B5EF4-FFF2-40B4-BE49-F238E27FC236}">
                <a16:creationId xmlns:a16="http://schemas.microsoft.com/office/drawing/2014/main" id="{A0EA22F5-9B25-E1CC-1A2E-2ABA2CCDD2E2}"/>
              </a:ext>
            </a:extLst>
          </p:cNvPr>
          <p:cNvSpPr/>
          <p:nvPr/>
        </p:nvSpPr>
        <p:spPr>
          <a:xfrm>
            <a:off x="914400" y="4673600"/>
            <a:ext cx="584200" cy="5842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3000">
                <a:solidFill>
                  <a:srgbClr val="FFFFFF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13" name="map t">
            <a:extLst>
              <a:ext uri="{FF2B5EF4-FFF2-40B4-BE49-F238E27FC236}">
                <a16:creationId xmlns:a16="http://schemas.microsoft.com/office/drawing/2014/main" id="{C3893F89-7294-E37C-E7CA-43B6C72A32B8}"/>
              </a:ext>
            </a:extLst>
          </p:cNvPr>
          <p:cNvSpPr txBox="1"/>
          <p:nvPr/>
        </p:nvSpPr>
        <p:spPr>
          <a:xfrm>
            <a:off x="1752600" y="4648199"/>
            <a:ext cx="8128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 b="1">
                <a:solidFill>
                  <a:srgbClr val="15241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14" name="map s">
            <a:extLst>
              <a:ext uri="{FF2B5EF4-FFF2-40B4-BE49-F238E27FC236}">
                <a16:creationId xmlns:a16="http://schemas.microsoft.com/office/drawing/2014/main" id="{FD236A62-484F-162E-053B-7AA8CB23EB83}"/>
              </a:ext>
            </a:extLst>
          </p:cNvPr>
          <p:cNvSpPr txBox="1"/>
          <p:nvPr/>
        </p:nvSpPr>
        <p:spPr>
          <a:xfrm>
            <a:off x="1752600" y="5029199"/>
            <a:ext cx="8128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>
                <a:solidFill>
                  <a:srgbClr val="4D5B54"/>
                </a:solidFill>
                <a:latin typeface="DM Sans" pitchFamily="2" charset="0"/>
              </a:rPr>
              <a:t>finding the operating point</a:t>
            </a:r>
          </a:p>
        </p:txBody>
      </p:sp>
      <p:sp>
        <p:nvSpPr>
          <p:cNvPr id="15" name="map n">
            <a:extLst>
              <a:ext uri="{FF2B5EF4-FFF2-40B4-BE49-F238E27FC236}">
                <a16:creationId xmlns:a16="http://schemas.microsoft.com/office/drawing/2014/main" id="{19EEEADB-E2AA-9E64-6952-11FF4F52449E}"/>
              </a:ext>
            </a:extLst>
          </p:cNvPr>
          <p:cNvSpPr/>
          <p:nvPr/>
        </p:nvSpPr>
        <p:spPr>
          <a:xfrm>
            <a:off x="914400" y="5867400"/>
            <a:ext cx="584200" cy="5842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3000">
                <a:solidFill>
                  <a:srgbClr val="FFFFFF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16" name="map t">
            <a:extLst>
              <a:ext uri="{FF2B5EF4-FFF2-40B4-BE49-F238E27FC236}">
                <a16:creationId xmlns:a16="http://schemas.microsoft.com/office/drawing/2014/main" id="{2316E3AD-D1BD-493D-8B07-74BBAC62BBFF}"/>
              </a:ext>
            </a:extLst>
          </p:cNvPr>
          <p:cNvSpPr txBox="1"/>
          <p:nvPr/>
        </p:nvSpPr>
        <p:spPr>
          <a:xfrm>
            <a:off x="1752600" y="5841999"/>
            <a:ext cx="8128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 b="1">
                <a:solidFill>
                  <a:srgbClr val="15241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17" name="map s">
            <a:extLst>
              <a:ext uri="{FF2B5EF4-FFF2-40B4-BE49-F238E27FC236}">
                <a16:creationId xmlns:a16="http://schemas.microsoft.com/office/drawing/2014/main" id="{51A1B63A-50C5-0105-163E-CEDB7AEC2C9B}"/>
              </a:ext>
            </a:extLst>
          </p:cNvPr>
          <p:cNvSpPr txBox="1"/>
          <p:nvPr/>
        </p:nvSpPr>
        <p:spPr>
          <a:xfrm>
            <a:off x="1752600" y="6222999"/>
            <a:ext cx="8128000" cy="330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>
                <a:solidFill>
                  <a:srgbClr val="4D5B54"/>
                </a:solidFill>
                <a:latin typeface="DM Sans" pitchFamily="2" charset="0"/>
              </a:rPr>
              <a:t>transconductance, small-signal model</a:t>
            </a:r>
          </a:p>
        </p:txBody>
      </p:sp>
      <p:sp>
        <p:nvSpPr>
          <p:cNvPr id="18" name="map n">
            <a:extLst>
              <a:ext uri="{FF2B5EF4-FFF2-40B4-BE49-F238E27FC236}">
                <a16:creationId xmlns:a16="http://schemas.microsoft.com/office/drawing/2014/main" id="{A3014E2D-C2AA-5A42-4C4D-47D0C33D01B0}"/>
              </a:ext>
            </a:extLst>
          </p:cNvPr>
          <p:cNvSpPr/>
          <p:nvPr/>
        </p:nvSpPr>
        <p:spPr>
          <a:xfrm>
            <a:off x="914400" y="7061200"/>
            <a:ext cx="584200" cy="5842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3000">
                <a:solidFill>
                  <a:srgbClr val="FFFFFF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19" name="map t">
            <a:extLst>
              <a:ext uri="{FF2B5EF4-FFF2-40B4-BE49-F238E27FC236}">
                <a16:creationId xmlns:a16="http://schemas.microsoft.com/office/drawing/2014/main" id="{F01F8CC0-293A-7617-20DF-557C133F18AD}"/>
              </a:ext>
            </a:extLst>
          </p:cNvPr>
          <p:cNvSpPr txBox="1"/>
          <p:nvPr/>
        </p:nvSpPr>
        <p:spPr>
          <a:xfrm>
            <a:off x="1752600" y="7035799"/>
            <a:ext cx="8128000" cy="406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500" b="1">
                <a:solidFill>
                  <a:srgbClr val="15241D"/>
                </a:solidFill>
                <a:latin typeface="DM Sans" pitchFamily="2" charset="0"/>
              </a:rPr>
              <a:t>The MOSFET as a switch</a:t>
            </a:r>
          </a:p>
        </p:txBody>
      </p:sp>
      <p:sp>
        <p:nvSpPr>
          <p:cNvPr id="20" name="outcomes">
            <a:extLst>
              <a:ext uri="{FF2B5EF4-FFF2-40B4-BE49-F238E27FC236}">
                <a16:creationId xmlns:a16="http://schemas.microsoft.com/office/drawing/2014/main" id="{04B951F5-4711-BE02-7447-716F9D3DE86D}"/>
              </a:ext>
            </a:extLst>
          </p:cNvPr>
          <p:cNvSpPr/>
          <p:nvPr/>
        </p:nvSpPr>
        <p:spPr>
          <a:xfrm>
            <a:off x="11176000" y="2286000"/>
            <a:ext cx="6197600" cy="5969000"/>
          </a:xfrm>
          <a:prstGeom prst="rect">
            <a:avLst/>
          </a:prstGeom>
          <a:solidFill>
            <a:srgbClr val="E5F0E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utcomes">
            <a:extLst>
              <a:ext uri="{FF2B5EF4-FFF2-40B4-BE49-F238E27FC236}">
                <a16:creationId xmlns:a16="http://schemas.microsoft.com/office/drawing/2014/main" id="{4E7DE46B-2C75-C450-9025-E9A6B3E84C25}"/>
              </a:ext>
            </a:extLst>
          </p:cNvPr>
          <p:cNvSpPr/>
          <p:nvPr/>
        </p:nvSpPr>
        <p:spPr>
          <a:xfrm>
            <a:off x="11176000" y="2273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ag">
            <a:extLst>
              <a:ext uri="{FF2B5EF4-FFF2-40B4-BE49-F238E27FC236}">
                <a16:creationId xmlns:a16="http://schemas.microsoft.com/office/drawing/2014/main" id="{5EBBC561-327B-C23D-45FD-C2B0B783C4CC}"/>
              </a:ext>
            </a:extLst>
          </p:cNvPr>
          <p:cNvSpPr/>
          <p:nvPr/>
        </p:nvSpPr>
        <p:spPr>
          <a:xfrm>
            <a:off x="11557000" y="2616200"/>
            <a:ext cx="2469387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BY THE END YOU CAN</a:t>
            </a:r>
          </a:p>
        </p:txBody>
      </p:sp>
      <p:sp>
        <p:nvSpPr>
          <p:cNvPr id="23" name="outcome">
            <a:extLst>
              <a:ext uri="{FF2B5EF4-FFF2-40B4-BE49-F238E27FC236}">
                <a16:creationId xmlns:a16="http://schemas.microsoft.com/office/drawing/2014/main" id="{9C2FA83A-4969-7DA5-954C-FEA8F12E36DC}"/>
              </a:ext>
            </a:extLst>
          </p:cNvPr>
          <p:cNvSpPr txBox="1"/>
          <p:nvPr/>
        </p:nvSpPr>
        <p:spPr>
          <a:xfrm>
            <a:off x="11557000" y="3302000"/>
            <a:ext cx="5435600" cy="67710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Explain how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creates a channel and how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pinches it off</a:t>
            </a:r>
          </a:p>
        </p:txBody>
      </p:sp>
      <p:sp>
        <p:nvSpPr>
          <p:cNvPr id="24" name="outcome">
            <a:extLst>
              <a:ext uri="{FF2B5EF4-FFF2-40B4-BE49-F238E27FC236}">
                <a16:creationId xmlns:a16="http://schemas.microsoft.com/office/drawing/2014/main" id="{FBC97683-DE00-B104-52D9-83B376A183E7}"/>
              </a:ext>
            </a:extLst>
          </p:cNvPr>
          <p:cNvSpPr txBox="1"/>
          <p:nvPr/>
        </p:nvSpPr>
        <p:spPr>
          <a:xfrm>
            <a:off x="11557000" y="4258508"/>
            <a:ext cx="5435600" cy="67710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Pick the right region and use its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equation</a:t>
            </a:r>
          </a:p>
        </p:txBody>
      </p:sp>
      <p:sp>
        <p:nvSpPr>
          <p:cNvPr id="25" name="outcome">
            <a:extLst>
              <a:ext uri="{FF2B5EF4-FFF2-40B4-BE49-F238E27FC236}">
                <a16:creationId xmlns:a16="http://schemas.microsoft.com/office/drawing/2014/main" id="{69396037-C080-EF2B-E96D-559C8D2D1B6C}"/>
              </a:ext>
            </a:extLst>
          </p:cNvPr>
          <p:cNvSpPr txBox="1"/>
          <p:nvPr/>
        </p:nvSpPr>
        <p:spPr>
          <a:xfrm>
            <a:off x="11557000" y="5215016"/>
            <a:ext cx="5435600" cy="67710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Find the DC operating point of a MOSFET circuit</a:t>
            </a:r>
          </a:p>
        </p:txBody>
      </p:sp>
      <p:sp>
        <p:nvSpPr>
          <p:cNvPr id="26" name="outcome">
            <a:extLst>
              <a:ext uri="{FF2B5EF4-FFF2-40B4-BE49-F238E27FC236}">
                <a16:creationId xmlns:a16="http://schemas.microsoft.com/office/drawing/2014/main" id="{46D0219D-1EF4-EDDC-137A-3716C709BE1B}"/>
              </a:ext>
            </a:extLst>
          </p:cNvPr>
          <p:cNvSpPr txBox="1"/>
          <p:nvPr/>
        </p:nvSpPr>
        <p:spPr>
          <a:xfrm>
            <a:off x="11557000" y="6171524"/>
            <a:ext cx="5435600" cy="67710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Find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and the gain of a simple MOSFET amplifier</a:t>
            </a:r>
          </a:p>
        </p:txBody>
      </p:sp>
      <p:sp>
        <p:nvSpPr>
          <p:cNvPr id="27" name="chrome page">
            <a:extLst>
              <a:ext uri="{FF2B5EF4-FFF2-40B4-BE49-F238E27FC236}">
                <a16:creationId xmlns:a16="http://schemas.microsoft.com/office/drawing/2014/main" id="{63C54626-2F21-D3ED-1E8B-CF35E81B2C19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chrome page">
            <a:extLst>
              <a:ext uri="{FF2B5EF4-FFF2-40B4-BE49-F238E27FC236}">
                <a16:creationId xmlns:a16="http://schemas.microsoft.com/office/drawing/2014/main" id="{6FC5722A-5B69-EE1A-AF60-5A89DA4AD1FF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8753580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#nochrome s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6265960-4CB0-7AE4-B547-5514CADE91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4191000"/>
            <a:ext cx="10414000" cy="1397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6700">
                <a:solidFill>
                  <a:srgbClr val="15241D"/>
                </a:solidFill>
                <a:latin typeface="Bebas Neue" panose="020B0606020202050201" pitchFamily="34" charset="0"/>
              </a:rPr>
              <a:t>Structure and operation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70371C63-92A4-3E7B-99E8-553D56B02D06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8DB19D41-CB73-07ED-315E-3F49B87A7BD5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3DDC8624-F9A2-F0AD-757A-BF44BC982A65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AA7F1CD2-D179-5695-FAA4-1D0CC86BFD3F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711C34BF-EC01-DE71-91C4-F56234F20E8F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DDD280AE-4287-D37D-2829-86858DC1C052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0DD87D6B-742F-43A6-D78B-7ECF1B09863D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809E47C6-A4CA-7D7D-6392-DD53BDE84BA8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numeral">
            <a:extLst>
              <a:ext uri="{FF2B5EF4-FFF2-40B4-BE49-F238E27FC236}">
                <a16:creationId xmlns:a16="http://schemas.microsoft.com/office/drawing/2014/main" id="{8029B6D8-732D-056D-C25D-C925D309A2D2}"/>
              </a:ext>
            </a:extLst>
          </p:cNvPr>
          <p:cNvSpPr txBox="1"/>
          <p:nvPr/>
        </p:nvSpPr>
        <p:spPr>
          <a:xfrm>
            <a:off x="965200" y="1777999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 sz="20000">
                <a:solidFill>
                  <a:srgbClr val="145A43"/>
                </a:solidFill>
                <a:latin typeface="Bebas Neue" panose="020B0606020202050201" pitchFamily="34" charset="0"/>
              </a:rPr>
              <a:t>01</a:t>
            </a:r>
          </a:p>
        </p:txBody>
      </p:sp>
      <p:sp>
        <p:nvSpPr>
          <p:cNvPr id="12" name="item">
            <a:extLst>
              <a:ext uri="{FF2B5EF4-FFF2-40B4-BE49-F238E27FC236}">
                <a16:creationId xmlns:a16="http://schemas.microsoft.com/office/drawing/2014/main" id="{B9786DB4-3DA3-0453-9A52-B7B49FA93672}"/>
              </a:ext>
            </a:extLst>
          </p:cNvPr>
          <p:cNvSpPr txBox="1"/>
          <p:nvPr/>
        </p:nvSpPr>
        <p:spPr>
          <a:xfrm>
            <a:off x="1016000" y="58419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The device and its terminals</a:t>
            </a:r>
          </a:p>
        </p:txBody>
      </p:sp>
      <p:sp>
        <p:nvSpPr>
          <p:cNvPr id="13" name="item">
            <a:extLst>
              <a:ext uri="{FF2B5EF4-FFF2-40B4-BE49-F238E27FC236}">
                <a16:creationId xmlns:a16="http://schemas.microsoft.com/office/drawing/2014/main" id="{DC71B5EE-2B47-BD76-A8B6-84C079B32D04}"/>
              </a:ext>
            </a:extLst>
          </p:cNvPr>
          <p:cNvSpPr txBox="1"/>
          <p:nvPr/>
        </p:nvSpPr>
        <p:spPr>
          <a:xfrm>
            <a:off x="1016000" y="63753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pt-BR" sz="2300">
                <a:solidFill>
                  <a:srgbClr val="4D5B54"/>
                </a:solidFill>
                <a:latin typeface="DM Sans" pitchFamily="2" charset="0"/>
              </a:rPr>
              <a:t>No gate voltage: no current</a:t>
            </a:r>
            <a:endParaRPr lang="en-US" sz="2300">
              <a:solidFill>
                <a:srgbClr val="4D5B54"/>
              </a:solidFill>
              <a:latin typeface="DM Sans" pitchFamily="2" charset="0"/>
            </a:endParaRPr>
          </a:p>
        </p:txBody>
      </p:sp>
      <p:sp>
        <p:nvSpPr>
          <p:cNvPr id="14" name="item">
            <a:extLst>
              <a:ext uri="{FF2B5EF4-FFF2-40B4-BE49-F238E27FC236}">
                <a16:creationId xmlns:a16="http://schemas.microsoft.com/office/drawing/2014/main" id="{0D368259-C9E4-A27D-120D-C8AE4726BCB0}"/>
              </a:ext>
            </a:extLst>
          </p:cNvPr>
          <p:cNvSpPr txBox="1"/>
          <p:nvPr/>
        </p:nvSpPr>
        <p:spPr>
          <a:xfrm>
            <a:off x="1016000" y="69087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The threshold voltage</a:t>
            </a:r>
          </a:p>
        </p:txBody>
      </p:sp>
      <p:sp>
        <p:nvSpPr>
          <p:cNvPr id="15" name="item">
            <a:extLst>
              <a:ext uri="{FF2B5EF4-FFF2-40B4-BE49-F238E27FC236}">
                <a16:creationId xmlns:a16="http://schemas.microsoft.com/office/drawing/2014/main" id="{82F36337-08B6-DBE1-81F7-DE6007415D70}"/>
              </a:ext>
            </a:extLst>
          </p:cNvPr>
          <p:cNvSpPr txBox="1"/>
          <p:nvPr/>
        </p:nvSpPr>
        <p:spPr>
          <a:xfrm>
            <a:off x="1016000" y="74421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Tapering and pinch-off</a:t>
            </a:r>
          </a:p>
        </p:txBody>
      </p:sp>
      <p:sp>
        <p:nvSpPr>
          <p:cNvPr id="16" name="item">
            <a:extLst>
              <a:ext uri="{FF2B5EF4-FFF2-40B4-BE49-F238E27FC236}">
                <a16:creationId xmlns:a16="http://schemas.microsoft.com/office/drawing/2014/main" id="{73CC4EE9-BE18-2146-C9D1-5C98B047608A}"/>
              </a:ext>
            </a:extLst>
          </p:cNvPr>
          <p:cNvSpPr txBox="1"/>
          <p:nvPr/>
        </p:nvSpPr>
        <p:spPr>
          <a:xfrm>
            <a:off x="1016000" y="79755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CMOS; n- and p-channel symbols</a:t>
            </a:r>
          </a:p>
        </p:txBody>
      </p:sp>
      <p:sp>
        <p:nvSpPr>
          <p:cNvPr id="17" name="map">
            <a:extLst>
              <a:ext uri="{FF2B5EF4-FFF2-40B4-BE49-F238E27FC236}">
                <a16:creationId xmlns:a16="http://schemas.microsoft.com/office/drawing/2014/main" id="{E651A9B9-BB5F-83FA-4E0D-08F9A5EF9B18}"/>
              </a:ext>
            </a:extLst>
          </p:cNvPr>
          <p:cNvSpPr/>
          <p:nvPr/>
        </p:nvSpPr>
        <p:spPr>
          <a:xfrm>
            <a:off x="12192000" y="2413000"/>
            <a:ext cx="431800" cy="431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FFFFFF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18" name="map">
            <a:extLst>
              <a:ext uri="{FF2B5EF4-FFF2-40B4-BE49-F238E27FC236}">
                <a16:creationId xmlns:a16="http://schemas.microsoft.com/office/drawing/2014/main" id="{9D2D124E-6967-F51C-46E5-736CBFE33220}"/>
              </a:ext>
            </a:extLst>
          </p:cNvPr>
          <p:cNvSpPr txBox="1"/>
          <p:nvPr/>
        </p:nvSpPr>
        <p:spPr>
          <a:xfrm>
            <a:off x="12827000" y="24129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19" name="map">
            <a:extLst>
              <a:ext uri="{FF2B5EF4-FFF2-40B4-BE49-F238E27FC236}">
                <a16:creationId xmlns:a16="http://schemas.microsoft.com/office/drawing/2014/main" id="{4B5A82DC-D0E7-DA67-EBC5-01E03C456880}"/>
              </a:ext>
            </a:extLst>
          </p:cNvPr>
          <p:cNvSpPr/>
          <p:nvPr/>
        </p:nvSpPr>
        <p:spPr>
          <a:xfrm>
            <a:off x="12192000" y="32258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20" name="map">
            <a:extLst>
              <a:ext uri="{FF2B5EF4-FFF2-40B4-BE49-F238E27FC236}">
                <a16:creationId xmlns:a16="http://schemas.microsoft.com/office/drawing/2014/main" id="{72716CCA-7F9A-15E9-9B71-621CB298FCBE}"/>
              </a:ext>
            </a:extLst>
          </p:cNvPr>
          <p:cNvSpPr txBox="1"/>
          <p:nvPr/>
        </p:nvSpPr>
        <p:spPr>
          <a:xfrm>
            <a:off x="12827000" y="32257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21" name="map">
            <a:extLst>
              <a:ext uri="{FF2B5EF4-FFF2-40B4-BE49-F238E27FC236}">
                <a16:creationId xmlns:a16="http://schemas.microsoft.com/office/drawing/2014/main" id="{F99F6CFA-D1E9-4B8F-D2E5-70089BA83ABA}"/>
              </a:ext>
            </a:extLst>
          </p:cNvPr>
          <p:cNvSpPr/>
          <p:nvPr/>
        </p:nvSpPr>
        <p:spPr>
          <a:xfrm>
            <a:off x="12192000" y="40386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22" name="map">
            <a:extLst>
              <a:ext uri="{FF2B5EF4-FFF2-40B4-BE49-F238E27FC236}">
                <a16:creationId xmlns:a16="http://schemas.microsoft.com/office/drawing/2014/main" id="{080C159D-7601-9913-2454-E9B625736ADF}"/>
              </a:ext>
            </a:extLst>
          </p:cNvPr>
          <p:cNvSpPr txBox="1"/>
          <p:nvPr/>
        </p:nvSpPr>
        <p:spPr>
          <a:xfrm>
            <a:off x="12827000" y="40385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23" name="map">
            <a:extLst>
              <a:ext uri="{FF2B5EF4-FFF2-40B4-BE49-F238E27FC236}">
                <a16:creationId xmlns:a16="http://schemas.microsoft.com/office/drawing/2014/main" id="{AF95818B-4638-4806-3A5C-00BB4D23869E}"/>
              </a:ext>
            </a:extLst>
          </p:cNvPr>
          <p:cNvSpPr/>
          <p:nvPr/>
        </p:nvSpPr>
        <p:spPr>
          <a:xfrm>
            <a:off x="12192000" y="48514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24" name="map">
            <a:extLst>
              <a:ext uri="{FF2B5EF4-FFF2-40B4-BE49-F238E27FC236}">
                <a16:creationId xmlns:a16="http://schemas.microsoft.com/office/drawing/2014/main" id="{F7A064FC-3277-49BD-BEFE-50AE0366E8A6}"/>
              </a:ext>
            </a:extLst>
          </p:cNvPr>
          <p:cNvSpPr txBox="1"/>
          <p:nvPr/>
        </p:nvSpPr>
        <p:spPr>
          <a:xfrm>
            <a:off x="12827000" y="48513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25" name="map">
            <a:extLst>
              <a:ext uri="{FF2B5EF4-FFF2-40B4-BE49-F238E27FC236}">
                <a16:creationId xmlns:a16="http://schemas.microsoft.com/office/drawing/2014/main" id="{82C46033-C46D-6563-2FE6-53391D7C4D90}"/>
              </a:ext>
            </a:extLst>
          </p:cNvPr>
          <p:cNvSpPr/>
          <p:nvPr/>
        </p:nvSpPr>
        <p:spPr>
          <a:xfrm>
            <a:off x="12192000" y="56642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26" name="map">
            <a:extLst>
              <a:ext uri="{FF2B5EF4-FFF2-40B4-BE49-F238E27FC236}">
                <a16:creationId xmlns:a16="http://schemas.microsoft.com/office/drawing/2014/main" id="{ED7FF73F-4BC8-71C1-7D19-BF243E0E1E50}"/>
              </a:ext>
            </a:extLst>
          </p:cNvPr>
          <p:cNvSpPr txBox="1"/>
          <p:nvPr/>
        </p:nvSpPr>
        <p:spPr>
          <a:xfrm>
            <a:off x="12827000" y="56641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 switch</a:t>
            </a:r>
          </a:p>
        </p:txBody>
      </p:sp>
    </p:spTree>
    <p:extLst>
      <p:ext uri="{BB962C8B-B14F-4D97-AF65-F5344CB8AC3E}">
        <p14:creationId xmlns:p14="http://schemas.microsoft.com/office/powerpoint/2010/main" val="3673640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n-channel enhancement MOSF s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4C09FDA-F104-34C8-18EB-E2F9A40FA6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The n-channel enhancement MOSFET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3675D893-CFA0-7866-8C6D-86733C3A82DB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F04FA653-D17D-529D-A0EF-F84F6CFB817D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F30B7AA2-36EF-33E5-B14F-3FA7DB5F3E39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850C1655-FA33-DC9F-33D3-524C079A8641}"/>
              </a:ext>
            </a:extLst>
          </p:cNvPr>
          <p:cNvSpPr/>
          <p:nvPr/>
        </p:nvSpPr>
        <p:spPr>
          <a:xfrm>
            <a:off x="3344141" y="2032000"/>
            <a:ext cx="11599717" cy="4953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6540359D-DFF4-95A6-B414-BA9359A6ED61}"/>
              </a:ext>
            </a:extLst>
          </p:cNvPr>
          <p:cNvSpPr/>
          <p:nvPr/>
        </p:nvSpPr>
        <p:spPr>
          <a:xfrm>
            <a:off x="3344141" y="2019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F19B4250-5682-207A-87DA-F061BEEE5F0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8141" y="2286000"/>
            <a:ext cx="11091718" cy="4216400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552E5170-FC1D-35F2-384B-7ECFE1704251}"/>
              </a:ext>
            </a:extLst>
          </p:cNvPr>
          <p:cNvSpPr txBox="1"/>
          <p:nvPr/>
        </p:nvSpPr>
        <p:spPr>
          <a:xfrm>
            <a:off x="3598141" y="6629400"/>
            <a:ext cx="11091718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58409E08-DEBF-8F3E-850C-0DC0A642380B}"/>
              </a:ext>
            </a:extLst>
          </p:cNvPr>
          <p:cNvSpPr txBox="1"/>
          <p:nvPr/>
        </p:nvSpPr>
        <p:spPr>
          <a:xfrm>
            <a:off x="914400" y="7366000"/>
            <a:ext cx="16459200" cy="3629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Four terminals: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source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(S),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gate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(G),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drain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(D) and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body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(B).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BE46B226-6103-5D54-C7DC-E1D5FD4EF8E7}"/>
              </a:ext>
            </a:extLst>
          </p:cNvPr>
          <p:cNvSpPr txBox="1"/>
          <p:nvPr/>
        </p:nvSpPr>
        <p:spPr>
          <a:xfrm>
            <a:off x="914400" y="8008384"/>
            <a:ext cx="16459200" cy="35907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A thin oxide (SiO₂) insulates the gate, so the gate draws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no current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13" name="point @3">
            <a:extLst>
              <a:ext uri="{FF2B5EF4-FFF2-40B4-BE49-F238E27FC236}">
                <a16:creationId xmlns:a16="http://schemas.microsoft.com/office/drawing/2014/main" id="{28FA91E5-BE44-F005-BF17-402AE572DFFA}"/>
              </a:ext>
            </a:extLst>
          </p:cNvPr>
          <p:cNvSpPr txBox="1"/>
          <p:nvPr/>
        </p:nvSpPr>
        <p:spPr>
          <a:xfrm>
            <a:off x="914400" y="8646857"/>
            <a:ext cx="16459200" cy="35907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channel region between the n⁺ source and drain has length L and width W.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FC3E7C43-7122-9D2A-0B94-846B6D920BF5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hrome page">
            <a:extLst>
              <a:ext uri="{FF2B5EF4-FFF2-40B4-BE49-F238E27FC236}">
                <a16:creationId xmlns:a16="http://schemas.microsoft.com/office/drawing/2014/main" id="{E7B8FEAF-7FAC-0CF5-0CB1-885C8DA3FA64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519760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ith no gate voltage, no curre s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EB3F6E8-A6F1-9D7D-54DB-A03AB224E0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With no gate voltage, no current flows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6E332855-90B9-3B9E-E3E0-990FD17D15D7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646CC34A-F809-C1B3-92A0-618EDB22C2B5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6D2C50AD-965D-2A94-9FF8-5BD4700548EE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1B5A76B4-C1F1-0AE5-EF5C-1F3241D36251}"/>
              </a:ext>
            </a:extLst>
          </p:cNvPr>
          <p:cNvSpPr/>
          <p:nvPr/>
        </p:nvSpPr>
        <p:spPr>
          <a:xfrm>
            <a:off x="914400" y="2222500"/>
            <a:ext cx="8128000" cy="4297348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88EFE510-F5C5-822F-9616-BFDBB8DF6CA4}"/>
              </a:ext>
            </a:extLst>
          </p:cNvPr>
          <p:cNvSpPr/>
          <p:nvPr/>
        </p:nvSpPr>
        <p:spPr>
          <a:xfrm>
            <a:off x="9144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294D99A0-0515-84A3-E5AA-75EAA9BEB13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476500"/>
            <a:ext cx="7620000" cy="3560748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BF7450B4-0FC2-B672-0DC5-9F44300FDB5E}"/>
              </a:ext>
            </a:extLst>
          </p:cNvPr>
          <p:cNvSpPr txBox="1"/>
          <p:nvPr/>
        </p:nvSpPr>
        <p:spPr>
          <a:xfrm>
            <a:off x="1168400" y="6164248"/>
            <a:ext cx="7620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web source, via the original lecture slides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8D12DC65-F1DA-1188-7A69-945C3362E4F7}"/>
              </a:ext>
            </a:extLst>
          </p:cNvPr>
          <p:cNvSpPr txBox="1"/>
          <p:nvPr/>
        </p:nvSpPr>
        <p:spPr>
          <a:xfrm>
            <a:off x="9652000" y="2413000"/>
            <a:ext cx="7721600" cy="115435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Source and drain are n⁺, the body is p-type: two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back-to-back pn junctions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lie between source and drain.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971CFD8E-F6A1-A116-0112-FD3FDA9C7BE4}"/>
              </a:ext>
            </a:extLst>
          </p:cNvPr>
          <p:cNvSpPr txBox="1"/>
          <p:nvPr/>
        </p:nvSpPr>
        <p:spPr>
          <a:xfrm>
            <a:off x="9652000" y="3846755"/>
            <a:ext cx="7721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Whatever the polarity of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, one junction is reverse-biased, so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≈ 0.</a:t>
            </a:r>
          </a:p>
        </p:txBody>
      </p:sp>
      <p:sp>
        <p:nvSpPr>
          <p:cNvPr id="13" name="point @3">
            <a:extLst>
              <a:ext uri="{FF2B5EF4-FFF2-40B4-BE49-F238E27FC236}">
                <a16:creationId xmlns:a16="http://schemas.microsoft.com/office/drawing/2014/main" id="{D085376D-25F2-1CA2-583B-45B7FD3A1EF2}"/>
              </a:ext>
            </a:extLst>
          </p:cNvPr>
          <p:cNvSpPr txBox="1"/>
          <p:nvPr/>
        </p:nvSpPr>
        <p:spPr>
          <a:xfrm>
            <a:off x="9652000" y="4892712"/>
            <a:ext cx="7721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The energy barrier (left) keeps the electrons of the source away from the drain.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62F9589C-6071-C119-26EB-32D6A7E66685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hrome page">
            <a:extLst>
              <a:ext uri="{FF2B5EF4-FFF2-40B4-BE49-F238E27FC236}">
                <a16:creationId xmlns:a16="http://schemas.microsoft.com/office/drawing/2014/main" id="{2BF8907A-3692-C9FF-A0DC-41995FBDA21B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4857601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reating a channel: the thresh s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F9E017A7-ABDD-1E89-A6AA-828D0ABE5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Creating a channel: the threshold voltage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63CF3349-DD39-DE9F-9436-79AD69F8C855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BAD7CA76-D11C-D13C-0E41-62EA2D0F14E9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461B5669-D513-048B-FC84-8EAD0C0CE42C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1F988D1B-F469-120A-1111-7398A38261A0}"/>
              </a:ext>
            </a:extLst>
          </p:cNvPr>
          <p:cNvSpPr/>
          <p:nvPr/>
        </p:nvSpPr>
        <p:spPr>
          <a:xfrm>
            <a:off x="8890000" y="2222500"/>
            <a:ext cx="8483600" cy="6788626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B66B0EE3-37E4-65EB-A793-B898A1A9D2B2}"/>
              </a:ext>
            </a:extLst>
          </p:cNvPr>
          <p:cNvSpPr/>
          <p:nvPr/>
        </p:nvSpPr>
        <p:spPr>
          <a:xfrm>
            <a:off x="88900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501F998F-CD41-CDA9-7286-0D230028204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44000" y="2476500"/>
            <a:ext cx="7975600" cy="6052026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D29B61C9-8588-D17D-AE5A-05EA2CFFA256}"/>
              </a:ext>
            </a:extLst>
          </p:cNvPr>
          <p:cNvSpPr txBox="1"/>
          <p:nvPr/>
        </p:nvSpPr>
        <p:spPr>
          <a:xfrm>
            <a:off x="9144000" y="8655526"/>
            <a:ext cx="79756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6205F061-3524-34C6-F0BE-15B0C11482D5}"/>
              </a:ext>
            </a:extLst>
          </p:cNvPr>
          <p:cNvSpPr txBox="1"/>
          <p:nvPr/>
        </p:nvSpPr>
        <p:spPr>
          <a:xfrm>
            <a:off x="914400" y="2413000"/>
            <a:ext cx="7366000" cy="115435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A positive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pushes holes away from the region under the gate and draws electrons in from the n⁺ source and drain.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C1BC599B-840E-3DD5-84EE-159A68B59C34}"/>
              </a:ext>
            </a:extLst>
          </p:cNvPr>
          <p:cNvSpPr txBox="1"/>
          <p:nvPr/>
        </p:nvSpPr>
        <p:spPr>
          <a:xfrm>
            <a:off x="914400" y="3846755"/>
            <a:ext cx="7366000" cy="115435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Once enough electrons gather, they form an n-type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inversion layer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: the channel linking source to drain.</a:t>
            </a:r>
          </a:p>
        </p:txBody>
      </p:sp>
      <p:sp>
        <p:nvSpPr>
          <p:cNvPr id="13" name="def @3">
            <a:extLst>
              <a:ext uri="{FF2B5EF4-FFF2-40B4-BE49-F238E27FC236}">
                <a16:creationId xmlns:a16="http://schemas.microsoft.com/office/drawing/2014/main" id="{D76F63D3-86CC-D543-CF83-F3F1C357CDD0}"/>
              </a:ext>
            </a:extLst>
          </p:cNvPr>
          <p:cNvSpPr/>
          <p:nvPr/>
        </p:nvSpPr>
        <p:spPr>
          <a:xfrm>
            <a:off x="914400" y="5407510"/>
            <a:ext cx="7366000" cy="2159000"/>
          </a:xfrm>
          <a:prstGeom prst="rect">
            <a:avLst/>
          </a:prstGeom>
          <a:solidFill>
            <a:srgbClr val="E5F0E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ef @3">
            <a:extLst>
              <a:ext uri="{FF2B5EF4-FFF2-40B4-BE49-F238E27FC236}">
                <a16:creationId xmlns:a16="http://schemas.microsoft.com/office/drawing/2014/main" id="{2A7148CA-2BC2-4B99-71EE-92905146C737}"/>
              </a:ext>
            </a:extLst>
          </p:cNvPr>
          <p:cNvSpPr/>
          <p:nvPr/>
        </p:nvSpPr>
        <p:spPr>
          <a:xfrm>
            <a:off x="914400" y="539481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ef @3">
            <a:extLst>
              <a:ext uri="{FF2B5EF4-FFF2-40B4-BE49-F238E27FC236}">
                <a16:creationId xmlns:a16="http://schemas.microsoft.com/office/drawing/2014/main" id="{37C7362E-758B-F893-3C25-726973B6821E}"/>
              </a:ext>
            </a:extLst>
          </p:cNvPr>
          <p:cNvSpPr/>
          <p:nvPr/>
        </p:nvSpPr>
        <p:spPr>
          <a:xfrm>
            <a:off x="1244600" y="5686910"/>
            <a:ext cx="159766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DEFINITION</a:t>
            </a:r>
          </a:p>
        </p:txBody>
      </p:sp>
      <p:sp>
        <p:nvSpPr>
          <p:cNvPr id="16" name="def @3">
            <a:extLst>
              <a:ext uri="{FF2B5EF4-FFF2-40B4-BE49-F238E27FC236}">
                <a16:creationId xmlns:a16="http://schemas.microsoft.com/office/drawing/2014/main" id="{B23CD9CB-8EEA-F55E-372B-5D08BD183819}"/>
              </a:ext>
            </a:extLst>
          </p:cNvPr>
          <p:cNvSpPr txBox="1"/>
          <p:nvPr/>
        </p:nvSpPr>
        <p:spPr>
          <a:xfrm>
            <a:off x="1244600" y="6245709"/>
            <a:ext cx="6705600" cy="1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Threshold voltage </a:t>
            </a:r>
            <a:r>
              <a:rPr lang="en-US" sz="2400" b="1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b="1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: the value of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at which the channel just forms.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BFA84DBB-5599-186D-B181-4F2FA71BDBFC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hrome page">
            <a:extLst>
              <a:ext uri="{FF2B5EF4-FFF2-40B4-BE49-F238E27FC236}">
                <a16:creationId xmlns:a16="http://schemas.microsoft.com/office/drawing/2014/main" id="{762AFD8A-4246-8045-9DD3-3D62DB8FA516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4724004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creasing v_{DS}: the channel s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773D650-8889-95B7-D31B-7DC9B62FE7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Increasing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: the channel tapers and pinches off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62CE49A5-9475-B2DE-C81A-54A6F02FE2EF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F37622AB-E319-D9D4-9633-53E5FF208125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1B10291C-FDAC-9676-DB74-DC59C1649D7C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9CC94BB6-F57F-2C43-3205-2AA423C3829A}"/>
              </a:ext>
            </a:extLst>
          </p:cNvPr>
          <p:cNvSpPr/>
          <p:nvPr/>
        </p:nvSpPr>
        <p:spPr>
          <a:xfrm>
            <a:off x="9144000" y="2222500"/>
            <a:ext cx="8229600" cy="6575531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50151A25-4F12-7D7D-9731-7310FB20B032}"/>
              </a:ext>
            </a:extLst>
          </p:cNvPr>
          <p:cNvSpPr/>
          <p:nvPr/>
        </p:nvSpPr>
        <p:spPr>
          <a:xfrm>
            <a:off x="91440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462BE20E-AAD8-F00F-8D12-9B231291EA80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98000" y="2476500"/>
            <a:ext cx="7721600" cy="5838931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FCDA4E6C-3611-ABA2-C5A2-15D871F71003}"/>
              </a:ext>
            </a:extLst>
          </p:cNvPr>
          <p:cNvSpPr txBox="1"/>
          <p:nvPr/>
        </p:nvSpPr>
        <p:spPr>
          <a:xfrm>
            <a:off x="9398000" y="8442431"/>
            <a:ext cx="77216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51EF00F0-95CA-37D2-4B2B-529ED19D623D}"/>
              </a:ext>
            </a:extLst>
          </p:cNvPr>
          <p:cNvSpPr txBox="1"/>
          <p:nvPr/>
        </p:nvSpPr>
        <p:spPr>
          <a:xfrm>
            <a:off x="914400" y="2349500"/>
            <a:ext cx="7620000" cy="7346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Along the channel, the voltage rises from 0 at the source to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at the drain.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89B144A2-C052-50F0-8B1E-24EE1F61DA4E}"/>
              </a:ext>
            </a:extLst>
          </p:cNvPr>
          <p:cNvSpPr txBox="1"/>
          <p:nvPr/>
        </p:nvSpPr>
        <p:spPr>
          <a:xfrm>
            <a:off x="914400" y="3363525"/>
            <a:ext cx="7620000" cy="110626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gate-to-channel voltage therefore falls from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to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: the channel gets shallower toward the drain.</a:t>
            </a:r>
          </a:p>
        </p:txBody>
      </p:sp>
      <p:sp>
        <p:nvSpPr>
          <p:cNvPr id="13" name="def @3">
            <a:extLst>
              <a:ext uri="{FF2B5EF4-FFF2-40B4-BE49-F238E27FC236}">
                <a16:creationId xmlns:a16="http://schemas.microsoft.com/office/drawing/2014/main" id="{390EA2B4-C90F-AA95-8C18-9A04DD02B9CD}"/>
              </a:ext>
            </a:extLst>
          </p:cNvPr>
          <p:cNvSpPr/>
          <p:nvPr/>
        </p:nvSpPr>
        <p:spPr>
          <a:xfrm>
            <a:off x="914400" y="4825390"/>
            <a:ext cx="7620000" cy="2540000"/>
          </a:xfrm>
          <a:prstGeom prst="rect">
            <a:avLst/>
          </a:prstGeom>
          <a:solidFill>
            <a:srgbClr val="E5F0E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def @3">
            <a:extLst>
              <a:ext uri="{FF2B5EF4-FFF2-40B4-BE49-F238E27FC236}">
                <a16:creationId xmlns:a16="http://schemas.microsoft.com/office/drawing/2014/main" id="{D4867EA6-38B3-E4C3-EF35-9D1E7A36FC91}"/>
              </a:ext>
            </a:extLst>
          </p:cNvPr>
          <p:cNvSpPr/>
          <p:nvPr/>
        </p:nvSpPr>
        <p:spPr>
          <a:xfrm>
            <a:off x="914400" y="481269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def @3">
            <a:extLst>
              <a:ext uri="{FF2B5EF4-FFF2-40B4-BE49-F238E27FC236}">
                <a16:creationId xmlns:a16="http://schemas.microsoft.com/office/drawing/2014/main" id="{1A6A0383-4E53-DE46-1EF4-A3CC12991816}"/>
              </a:ext>
            </a:extLst>
          </p:cNvPr>
          <p:cNvSpPr/>
          <p:nvPr/>
        </p:nvSpPr>
        <p:spPr>
          <a:xfrm>
            <a:off x="1244600" y="5104790"/>
            <a:ext cx="1488694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PINCH-OFF</a:t>
            </a:r>
          </a:p>
        </p:txBody>
      </p:sp>
      <p:sp>
        <p:nvSpPr>
          <p:cNvPr id="16" name="def @3">
            <a:extLst>
              <a:ext uri="{FF2B5EF4-FFF2-40B4-BE49-F238E27FC236}">
                <a16:creationId xmlns:a16="http://schemas.microsoft.com/office/drawing/2014/main" id="{CCFB0DF8-C35E-694F-BCC3-5E968E232FFF}"/>
              </a:ext>
            </a:extLst>
          </p:cNvPr>
          <p:cNvSpPr txBox="1"/>
          <p:nvPr/>
        </p:nvSpPr>
        <p:spPr>
          <a:xfrm>
            <a:off x="1244600" y="5663589"/>
            <a:ext cx="6959600" cy="165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When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, the channel depth at the drain end falls to almost zero. Increasing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further barely changes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: the current </a:t>
            </a:r>
            <a:r>
              <a:rPr lang="en-US" sz="2200" b="1">
                <a:solidFill>
                  <a:srgbClr val="15241D"/>
                </a:solidFill>
                <a:latin typeface="DM Sans" pitchFamily="2" charset="0"/>
              </a:rPr>
              <a:t>saturates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4126C351-CE34-714C-178D-E47ED4ADA2F4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hrome page">
            <a:extLst>
              <a:ext uri="{FF2B5EF4-FFF2-40B4-BE49-F238E27FC236}">
                <a16:creationId xmlns:a16="http://schemas.microsoft.com/office/drawing/2014/main" id="{CE5F5102-48A2-EAF4-C4A5-DD33F5DAB7AE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8685900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MOS: NMOS and PMOS on one chi s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605CA0BE-4481-3859-911C-E054911F7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CMOS: NMOS and PMOS on one chip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8A010853-FAFF-FF7B-967F-FCC9D7CE62BF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394C70C7-8209-7B1B-E37D-D9285A7FC0F2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B6AB42C7-472D-B539-3DDB-0624AE3CE7F6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C8F8FA35-18DB-A3DD-8884-E2A04E96ECF5}"/>
              </a:ext>
            </a:extLst>
          </p:cNvPr>
          <p:cNvSpPr/>
          <p:nvPr/>
        </p:nvSpPr>
        <p:spPr>
          <a:xfrm>
            <a:off x="3188957" y="2032000"/>
            <a:ext cx="11910087" cy="533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200D3C97-3126-B0A7-3800-0DEDDC4E8D5B}"/>
              </a:ext>
            </a:extLst>
          </p:cNvPr>
          <p:cNvSpPr/>
          <p:nvPr/>
        </p:nvSpPr>
        <p:spPr>
          <a:xfrm>
            <a:off x="3188957" y="2019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C6612C09-B473-6839-601E-0599E78D654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2957" y="2286000"/>
            <a:ext cx="11402087" cy="4597400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4D0C1564-DA5A-4D6B-8305-F3C205A95E7E}"/>
              </a:ext>
            </a:extLst>
          </p:cNvPr>
          <p:cNvSpPr txBox="1"/>
          <p:nvPr/>
        </p:nvSpPr>
        <p:spPr>
          <a:xfrm>
            <a:off x="3442957" y="7010400"/>
            <a:ext cx="11402087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C6102C58-5559-F767-FDC3-E1995D2DA08D}"/>
              </a:ext>
            </a:extLst>
          </p:cNvPr>
          <p:cNvSpPr txBox="1"/>
          <p:nvPr/>
        </p:nvSpPr>
        <p:spPr>
          <a:xfrm>
            <a:off x="914400" y="7747000"/>
            <a:ext cx="16459200" cy="35907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PMOS transistor is built in an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n-well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, with p⁺ source and drain.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6DE99664-64DA-1120-EEBF-4C91D7E36248}"/>
              </a:ext>
            </a:extLst>
          </p:cNvPr>
          <p:cNvSpPr txBox="1"/>
          <p:nvPr/>
        </p:nvSpPr>
        <p:spPr>
          <a:xfrm>
            <a:off x="914400" y="8385473"/>
            <a:ext cx="16459200" cy="3629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Thick oxide isolates neighbouring devices. CMOS circuits use both types together.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BB5EF9AE-EE00-FCEF-CF13-7CA70D7A9C8B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hrome page">
            <a:extLst>
              <a:ext uri="{FF2B5EF4-FFF2-40B4-BE49-F238E27FC236}">
                <a16:creationId xmlns:a16="http://schemas.microsoft.com/office/drawing/2014/main" id="{C43566FE-3CDE-1FBD-57EA-AD47C17F5714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2180908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ircuit symbols: n-channel and s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3EBCC4F-D06D-BC43-E672-20AE5243C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Circuit symbols: n-channel and p-channel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E3CC06A6-2311-1846-A893-8F49F9955133}"/>
              </a:ext>
            </a:extLst>
          </p:cNvPr>
          <p:cNvSpPr/>
          <p:nvPr/>
        </p:nvSpPr>
        <p:spPr>
          <a:xfrm>
            <a:off x="914400" y="279400"/>
            <a:ext cx="345008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1 · STRUCTURE AND OPERATION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02C1B529-292B-3B6F-DA5E-F1F8587FC1E7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D70B8654-9220-D604-8956-F1DA52D08DB6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B1856BDF-7368-B849-DE91-40C7FE620820}"/>
              </a:ext>
            </a:extLst>
          </p:cNvPr>
          <p:cNvSpPr/>
          <p:nvPr/>
        </p:nvSpPr>
        <p:spPr>
          <a:xfrm>
            <a:off x="914400" y="2222500"/>
            <a:ext cx="8128000" cy="5180581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22FC7F05-DDA1-C87B-E664-6829B6A67B9E}"/>
              </a:ext>
            </a:extLst>
          </p:cNvPr>
          <p:cNvSpPr/>
          <p:nvPr/>
        </p:nvSpPr>
        <p:spPr>
          <a:xfrm>
            <a:off x="9144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1048F327-E16D-0B27-94BD-3CED7B504F7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476500"/>
            <a:ext cx="7620000" cy="4443981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97E3857C-7B2B-8A18-4F77-B2BF52A208CF}"/>
              </a:ext>
            </a:extLst>
          </p:cNvPr>
          <p:cNvSpPr txBox="1"/>
          <p:nvPr/>
        </p:nvSpPr>
        <p:spPr>
          <a:xfrm>
            <a:off x="1168400" y="7047481"/>
            <a:ext cx="7620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web source, via the original lecture slides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C74ACE06-9D4D-D0E2-69AB-F21904CA87F5}"/>
              </a:ext>
            </a:extLst>
          </p:cNvPr>
          <p:cNvSpPr txBox="1"/>
          <p:nvPr/>
        </p:nvSpPr>
        <p:spPr>
          <a:xfrm>
            <a:off x="9652000" y="2413000"/>
            <a:ext cx="7721600" cy="115435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In these symbols the arrow is on the body: it points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in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for an n-channel device and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out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for a p-channel device.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59A212E7-06BB-8048-9410-92041EAB3DC9}"/>
              </a:ext>
            </a:extLst>
          </p:cNvPr>
          <p:cNvSpPr txBox="1"/>
          <p:nvPr/>
        </p:nvSpPr>
        <p:spPr>
          <a:xfrm>
            <a:off x="9652000" y="3846755"/>
            <a:ext cx="7721600" cy="115435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PMOS: holes carry the current and every voltage and current is reversed. It conducts when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, with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negative.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11C1D1CB-9F36-FC8B-3DD5-16F56E62F1CE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hrome page">
            <a:extLst>
              <a:ext uri="{FF2B5EF4-FFF2-40B4-BE49-F238E27FC236}">
                <a16:creationId xmlns:a16="http://schemas.microsoft.com/office/drawing/2014/main" id="{6D561B33-FB8D-C18C-29B1-4F40658369B7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3750133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#nochrome s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6C2F0BB-42FD-DCA6-DF4E-F83B4E0106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4191000"/>
            <a:ext cx="10414000" cy="1397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9600">
                <a:solidFill>
                  <a:srgbClr val="15241D"/>
                </a:solidFill>
                <a:latin typeface="Bebas Neue" panose="020B0606020202050201" pitchFamily="34" charset="0"/>
              </a:rPr>
              <a:t>I–V characteristics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03A5C045-7C2D-0793-66BC-FD21F712E7B9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D708C32D-F4AA-C45A-DF99-F2AD42F7ACCD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E658DE93-78E9-7393-9A13-AF95326BC318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BA4D7EA2-F25D-E570-48E6-24C344A91D21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078DD48C-B9CF-5726-C631-BAF97B215542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7EC78716-4C1E-7EA2-F085-4710C5981AC5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1D312D1D-8193-BE24-7445-3B5C8106DD5F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07081567-8CD6-89E5-03E9-DF63568AF082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numeral">
            <a:extLst>
              <a:ext uri="{FF2B5EF4-FFF2-40B4-BE49-F238E27FC236}">
                <a16:creationId xmlns:a16="http://schemas.microsoft.com/office/drawing/2014/main" id="{9B21229F-EA99-55DE-5858-142B884C5364}"/>
              </a:ext>
            </a:extLst>
          </p:cNvPr>
          <p:cNvSpPr txBox="1"/>
          <p:nvPr/>
        </p:nvSpPr>
        <p:spPr>
          <a:xfrm>
            <a:off x="965200" y="1777999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 sz="20000">
                <a:solidFill>
                  <a:srgbClr val="145A43"/>
                </a:solidFill>
                <a:latin typeface="Bebas Neue" panose="020B0606020202050201" pitchFamily="34" charset="0"/>
              </a:rPr>
              <a:t>02</a:t>
            </a:r>
          </a:p>
        </p:txBody>
      </p:sp>
      <p:sp>
        <p:nvSpPr>
          <p:cNvPr id="12" name="item">
            <a:extLst>
              <a:ext uri="{FF2B5EF4-FFF2-40B4-BE49-F238E27FC236}">
                <a16:creationId xmlns:a16="http://schemas.microsoft.com/office/drawing/2014/main" id="{6CEDD62A-282A-5EBC-99C5-C6AC05284384}"/>
              </a:ext>
            </a:extLst>
          </p:cNvPr>
          <p:cNvSpPr txBox="1"/>
          <p:nvPr/>
        </p:nvSpPr>
        <p:spPr>
          <a:xfrm>
            <a:off x="1016000" y="58419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The </a:t>
            </a:r>
            <a:r>
              <a:rPr lang="en-US" sz="2300" i="1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–</a:t>
            </a:r>
            <a:r>
              <a:rPr lang="en-US" sz="23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4D5B54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 family</a:t>
            </a:r>
          </a:p>
        </p:txBody>
      </p:sp>
      <p:sp>
        <p:nvSpPr>
          <p:cNvPr id="13" name="item">
            <a:extLst>
              <a:ext uri="{FF2B5EF4-FFF2-40B4-BE49-F238E27FC236}">
                <a16:creationId xmlns:a16="http://schemas.microsoft.com/office/drawing/2014/main" id="{876A6F4E-AB1F-B8C5-5FE9-E611F5CE88F4}"/>
              </a:ext>
            </a:extLst>
          </p:cNvPr>
          <p:cNvSpPr txBox="1"/>
          <p:nvPr/>
        </p:nvSpPr>
        <p:spPr>
          <a:xfrm>
            <a:off x="1016000" y="63753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Saturation: the square law</a:t>
            </a:r>
          </a:p>
        </p:txBody>
      </p:sp>
      <p:sp>
        <p:nvSpPr>
          <p:cNvPr id="14" name="item">
            <a:extLst>
              <a:ext uri="{FF2B5EF4-FFF2-40B4-BE49-F238E27FC236}">
                <a16:creationId xmlns:a16="http://schemas.microsoft.com/office/drawing/2014/main" id="{5C163F8E-0FAA-C005-37E1-2EC044C7524F}"/>
              </a:ext>
            </a:extLst>
          </p:cNvPr>
          <p:cNvSpPr txBox="1"/>
          <p:nvPr/>
        </p:nvSpPr>
        <p:spPr>
          <a:xfrm>
            <a:off x="1016000" y="69087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Triode and saturation equations</a:t>
            </a:r>
          </a:p>
        </p:txBody>
      </p:sp>
      <p:sp>
        <p:nvSpPr>
          <p:cNvPr id="15" name="item">
            <a:extLst>
              <a:ext uri="{FF2B5EF4-FFF2-40B4-BE49-F238E27FC236}">
                <a16:creationId xmlns:a16="http://schemas.microsoft.com/office/drawing/2014/main" id="{15073AFB-E4A8-D35A-B0BA-68479F15E2C2}"/>
              </a:ext>
            </a:extLst>
          </p:cNvPr>
          <p:cNvSpPr txBox="1"/>
          <p:nvPr/>
        </p:nvSpPr>
        <p:spPr>
          <a:xfrm>
            <a:off x="1016000" y="74421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Resistor and large-signal models</a:t>
            </a:r>
          </a:p>
        </p:txBody>
      </p:sp>
      <p:sp>
        <p:nvSpPr>
          <p:cNvPr id="16" name="map">
            <a:extLst>
              <a:ext uri="{FF2B5EF4-FFF2-40B4-BE49-F238E27FC236}">
                <a16:creationId xmlns:a16="http://schemas.microsoft.com/office/drawing/2014/main" id="{05CD81D1-B5AC-20C0-6870-7BD7F740BFB8}"/>
              </a:ext>
            </a:extLst>
          </p:cNvPr>
          <p:cNvSpPr/>
          <p:nvPr/>
        </p:nvSpPr>
        <p:spPr>
          <a:xfrm>
            <a:off x="12192000" y="24130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17" name="map">
            <a:extLst>
              <a:ext uri="{FF2B5EF4-FFF2-40B4-BE49-F238E27FC236}">
                <a16:creationId xmlns:a16="http://schemas.microsoft.com/office/drawing/2014/main" id="{11BBC9B3-F10A-1531-6DAF-482547B8E25F}"/>
              </a:ext>
            </a:extLst>
          </p:cNvPr>
          <p:cNvSpPr txBox="1"/>
          <p:nvPr/>
        </p:nvSpPr>
        <p:spPr>
          <a:xfrm>
            <a:off x="12827000" y="24129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18" name="map">
            <a:extLst>
              <a:ext uri="{FF2B5EF4-FFF2-40B4-BE49-F238E27FC236}">
                <a16:creationId xmlns:a16="http://schemas.microsoft.com/office/drawing/2014/main" id="{81F3D38F-E533-A578-9D40-84F48C89C195}"/>
              </a:ext>
            </a:extLst>
          </p:cNvPr>
          <p:cNvSpPr/>
          <p:nvPr/>
        </p:nvSpPr>
        <p:spPr>
          <a:xfrm>
            <a:off x="12192000" y="3225800"/>
            <a:ext cx="431800" cy="431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FFFFFF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19" name="map">
            <a:extLst>
              <a:ext uri="{FF2B5EF4-FFF2-40B4-BE49-F238E27FC236}">
                <a16:creationId xmlns:a16="http://schemas.microsoft.com/office/drawing/2014/main" id="{EF25C40B-B7A4-60C9-A853-7B6E6DAE3DEB}"/>
              </a:ext>
            </a:extLst>
          </p:cNvPr>
          <p:cNvSpPr txBox="1"/>
          <p:nvPr/>
        </p:nvSpPr>
        <p:spPr>
          <a:xfrm>
            <a:off x="12827000" y="32257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20" name="map">
            <a:extLst>
              <a:ext uri="{FF2B5EF4-FFF2-40B4-BE49-F238E27FC236}">
                <a16:creationId xmlns:a16="http://schemas.microsoft.com/office/drawing/2014/main" id="{3408282C-2E76-D6D5-2A39-8A13A911D0D2}"/>
              </a:ext>
            </a:extLst>
          </p:cNvPr>
          <p:cNvSpPr/>
          <p:nvPr/>
        </p:nvSpPr>
        <p:spPr>
          <a:xfrm>
            <a:off x="12192000" y="40386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21" name="map">
            <a:extLst>
              <a:ext uri="{FF2B5EF4-FFF2-40B4-BE49-F238E27FC236}">
                <a16:creationId xmlns:a16="http://schemas.microsoft.com/office/drawing/2014/main" id="{EA867227-0686-2B52-6BB8-F4183692FD8B}"/>
              </a:ext>
            </a:extLst>
          </p:cNvPr>
          <p:cNvSpPr txBox="1"/>
          <p:nvPr/>
        </p:nvSpPr>
        <p:spPr>
          <a:xfrm>
            <a:off x="12827000" y="40385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22" name="map">
            <a:extLst>
              <a:ext uri="{FF2B5EF4-FFF2-40B4-BE49-F238E27FC236}">
                <a16:creationId xmlns:a16="http://schemas.microsoft.com/office/drawing/2014/main" id="{968348AF-094E-52CC-6481-7EB448885D37}"/>
              </a:ext>
            </a:extLst>
          </p:cNvPr>
          <p:cNvSpPr/>
          <p:nvPr/>
        </p:nvSpPr>
        <p:spPr>
          <a:xfrm>
            <a:off x="12192000" y="48514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23" name="map">
            <a:extLst>
              <a:ext uri="{FF2B5EF4-FFF2-40B4-BE49-F238E27FC236}">
                <a16:creationId xmlns:a16="http://schemas.microsoft.com/office/drawing/2014/main" id="{ACC5CFF1-23E7-957A-114B-74210D058370}"/>
              </a:ext>
            </a:extLst>
          </p:cNvPr>
          <p:cNvSpPr txBox="1"/>
          <p:nvPr/>
        </p:nvSpPr>
        <p:spPr>
          <a:xfrm>
            <a:off x="12827000" y="48513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24" name="map">
            <a:extLst>
              <a:ext uri="{FF2B5EF4-FFF2-40B4-BE49-F238E27FC236}">
                <a16:creationId xmlns:a16="http://schemas.microsoft.com/office/drawing/2014/main" id="{8547526C-96F5-0B36-ABA7-AAC8DA57DF88}"/>
              </a:ext>
            </a:extLst>
          </p:cNvPr>
          <p:cNvSpPr/>
          <p:nvPr/>
        </p:nvSpPr>
        <p:spPr>
          <a:xfrm>
            <a:off x="12192000" y="56642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25" name="map">
            <a:extLst>
              <a:ext uri="{FF2B5EF4-FFF2-40B4-BE49-F238E27FC236}">
                <a16:creationId xmlns:a16="http://schemas.microsoft.com/office/drawing/2014/main" id="{4517D829-C6AA-31D1-0887-B60CF9856BAC}"/>
              </a:ext>
            </a:extLst>
          </p:cNvPr>
          <p:cNvSpPr txBox="1"/>
          <p:nvPr/>
        </p:nvSpPr>
        <p:spPr>
          <a:xfrm>
            <a:off x="12827000" y="56641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 switch</a:t>
            </a:r>
          </a:p>
        </p:txBody>
      </p:sp>
    </p:spTree>
    <p:extLst>
      <p:ext uri="{BB962C8B-B14F-4D97-AF65-F5344CB8AC3E}">
        <p14:creationId xmlns:p14="http://schemas.microsoft.com/office/powerpoint/2010/main" val="1465265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i_{D}–v_{DS} family of cur s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4DF6B4E-5B13-9CC0-B47D-5E4EFF846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The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–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 family of curves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C0DD33CB-F860-E6FE-B2E8-8692926A8334}"/>
              </a:ext>
            </a:extLst>
          </p:cNvPr>
          <p:cNvSpPr/>
          <p:nvPr/>
        </p:nvSpPr>
        <p:spPr>
          <a:xfrm>
            <a:off x="914400" y="279400"/>
            <a:ext cx="3014218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 · I–V CHARACTERISTICS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795D405A-E9AC-3EEF-60BF-B9F49A0409FE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E76B201D-4A2B-6D9E-6855-5E55A14F9349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ECB7580F-6101-D7D4-CC4F-339BB8F882B0}"/>
              </a:ext>
            </a:extLst>
          </p:cNvPr>
          <p:cNvSpPr/>
          <p:nvPr/>
        </p:nvSpPr>
        <p:spPr>
          <a:xfrm>
            <a:off x="914400" y="2095500"/>
            <a:ext cx="8256628" cy="71755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A13C3142-40B9-E1AF-1144-A6C38830BD28}"/>
              </a:ext>
            </a:extLst>
          </p:cNvPr>
          <p:cNvSpPr/>
          <p:nvPr/>
        </p:nvSpPr>
        <p:spPr>
          <a:xfrm>
            <a:off x="914400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9C7077A0-255F-94B4-C86C-BFA653E861D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349500"/>
            <a:ext cx="7748628" cy="6438900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FA4726FC-FFDD-32A0-07D2-26D2D1FA3129}"/>
              </a:ext>
            </a:extLst>
          </p:cNvPr>
          <p:cNvSpPr txBox="1"/>
          <p:nvPr/>
        </p:nvSpPr>
        <p:spPr>
          <a:xfrm>
            <a:off x="1168400" y="8915400"/>
            <a:ext cx="7748628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77CD07DF-A117-9D75-2874-3A284FD718AF}"/>
              </a:ext>
            </a:extLst>
          </p:cNvPr>
          <p:cNvSpPr txBox="1"/>
          <p:nvPr/>
        </p:nvSpPr>
        <p:spPr>
          <a:xfrm>
            <a:off x="10668000" y="2349500"/>
            <a:ext cx="6705600" cy="37875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Each curve is one value of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&gt;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53933F77-93FC-BFB2-32C2-5000214DF3B8}"/>
              </a:ext>
            </a:extLst>
          </p:cNvPr>
          <p:cNvSpPr txBox="1"/>
          <p:nvPr/>
        </p:nvSpPr>
        <p:spPr>
          <a:xfrm>
            <a:off x="10668000" y="3007658"/>
            <a:ext cx="6705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Left of the dashed line (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):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triode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rises with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13" name="point @3">
            <a:extLst>
              <a:ext uri="{FF2B5EF4-FFF2-40B4-BE49-F238E27FC236}">
                <a16:creationId xmlns:a16="http://schemas.microsoft.com/office/drawing/2014/main" id="{18A31061-5EF6-7D90-D979-5D75EF0FE5CE}"/>
              </a:ext>
            </a:extLst>
          </p:cNvPr>
          <p:cNvSpPr txBox="1"/>
          <p:nvPr/>
        </p:nvSpPr>
        <p:spPr>
          <a:xfrm>
            <a:off x="10668000" y="4053615"/>
            <a:ext cx="6705600" cy="37875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Right of it: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saturation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is set by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alone.</a:t>
            </a:r>
          </a:p>
        </p:txBody>
      </p:sp>
      <p:sp>
        <p:nvSpPr>
          <p:cNvPr id="14" name="point @4">
            <a:extLst>
              <a:ext uri="{FF2B5EF4-FFF2-40B4-BE49-F238E27FC236}">
                <a16:creationId xmlns:a16="http://schemas.microsoft.com/office/drawing/2014/main" id="{80CCE20B-C1CE-F9D4-AC83-02063449640A}"/>
              </a:ext>
            </a:extLst>
          </p:cNvPr>
          <p:cNvSpPr txBox="1"/>
          <p:nvPr/>
        </p:nvSpPr>
        <p:spPr>
          <a:xfrm>
            <a:off x="10668000" y="4711773"/>
            <a:ext cx="6705600" cy="37875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nn-NO" sz="2400">
                <a:solidFill>
                  <a:srgbClr val="15241D"/>
                </a:solidFill>
                <a:latin typeface="DM Sans" pitchFamily="2" charset="0"/>
              </a:rPr>
              <a:t>For </a:t>
            </a:r>
            <a:r>
              <a:rPr lang="nn-NO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nn-NO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nn-NO" sz="2400">
                <a:solidFill>
                  <a:srgbClr val="15241D"/>
                </a:solidFill>
                <a:latin typeface="DM Sans" pitchFamily="2" charset="0"/>
              </a:rPr>
              <a:t> ≤ </a:t>
            </a:r>
            <a:r>
              <a:rPr lang="nn-NO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nn-NO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nn-NO" sz="2400">
                <a:solidFill>
                  <a:srgbClr val="15241D"/>
                </a:solidFill>
                <a:latin typeface="DM Sans" pitchFamily="2" charset="0"/>
              </a:rPr>
              <a:t>: </a:t>
            </a:r>
            <a:r>
              <a:rPr lang="nn-NO" sz="2400" b="1">
                <a:solidFill>
                  <a:srgbClr val="15241D"/>
                </a:solidFill>
                <a:latin typeface="DM Sans" pitchFamily="2" charset="0"/>
              </a:rPr>
              <a:t>cutoff</a:t>
            </a:r>
            <a:r>
              <a:rPr lang="nn-NO" sz="2400">
                <a:solidFill>
                  <a:srgbClr val="15241D"/>
                </a:solidFill>
                <a:latin typeface="DM Sans" pitchFamily="2" charset="0"/>
              </a:rPr>
              <a:t>, </a:t>
            </a:r>
            <a:r>
              <a:rPr lang="nn-NO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nn-NO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nn-NO" sz="2400">
                <a:solidFill>
                  <a:srgbClr val="15241D"/>
                </a:solidFill>
                <a:latin typeface="DM Sans" pitchFamily="2" charset="0"/>
              </a:rPr>
              <a:t> = 0.</a:t>
            </a:r>
            <a:endParaRPr lang="en-US" sz="2400">
              <a:solidFill>
                <a:srgbClr val="15241D"/>
              </a:solidFill>
              <a:latin typeface="DM Sans" pitchFamily="2" charset="0"/>
            </a:endParaRP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C4BB0776-D384-AF28-73CB-BE3D42CDB550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rome page">
            <a:extLst>
              <a:ext uri="{FF2B5EF4-FFF2-40B4-BE49-F238E27FC236}">
                <a16:creationId xmlns:a16="http://schemas.microsoft.com/office/drawing/2014/main" id="{6992F2C2-67A5-70AB-4D6D-447DFE70A72F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9835587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 saturation, i_{D} depends o s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0C5649C-2308-8387-6372-3C64B5E83F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In saturation,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 depends only on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6039C9C8-CB7E-A043-A4C0-6E1D91DF0E0B}"/>
              </a:ext>
            </a:extLst>
          </p:cNvPr>
          <p:cNvSpPr/>
          <p:nvPr/>
        </p:nvSpPr>
        <p:spPr>
          <a:xfrm>
            <a:off x="914400" y="279400"/>
            <a:ext cx="3014218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 · I–V CHARACTERISTICS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A9822D8B-E0CA-33CC-0FEC-E7442663AE5E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A20AD7D9-03A0-5667-1CD8-13AD41478DF4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1B9E1F4C-7EBC-83DA-F7AC-DB7755113CE0}"/>
              </a:ext>
            </a:extLst>
          </p:cNvPr>
          <p:cNvSpPr/>
          <p:nvPr/>
        </p:nvSpPr>
        <p:spPr>
          <a:xfrm>
            <a:off x="914400" y="2095500"/>
            <a:ext cx="7620000" cy="6693946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6416441A-AA43-ED82-3CD6-43019080ABB5}"/>
              </a:ext>
            </a:extLst>
          </p:cNvPr>
          <p:cNvSpPr/>
          <p:nvPr/>
        </p:nvSpPr>
        <p:spPr>
          <a:xfrm>
            <a:off x="914400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17DD202D-4A56-B889-7EBB-7B06404B13C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349500"/>
            <a:ext cx="7112000" cy="5957346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BB386ACE-55FA-4992-0D27-A62D6A6DCF7A}"/>
              </a:ext>
            </a:extLst>
          </p:cNvPr>
          <p:cNvSpPr txBox="1"/>
          <p:nvPr/>
        </p:nvSpPr>
        <p:spPr>
          <a:xfrm>
            <a:off x="1168400" y="8433846"/>
            <a:ext cx="7112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FB6F6104-DC02-676A-5163-787069E41063}"/>
              </a:ext>
            </a:extLst>
          </p:cNvPr>
          <p:cNvSpPr txBox="1"/>
          <p:nvPr/>
        </p:nvSpPr>
        <p:spPr>
          <a:xfrm>
            <a:off x="9398000" y="2413000"/>
            <a:ext cx="7975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Measured in saturation, the transfer characteristic is a parabola that starts at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q @2">
                <a:extLst>
                  <a:ext uri="{FF2B5EF4-FFF2-40B4-BE49-F238E27FC236}">
                    <a16:creationId xmlns:a16="http://schemas.microsoft.com/office/drawing/2014/main" id="{99EB5935-3799-D55D-E4A2-49AAE6FD82A6}"/>
                  </a:ext>
                </a:extLst>
              </p:cNvPr>
              <p:cNvSpPr txBox="1"/>
              <p:nvPr/>
            </p:nvSpPr>
            <p:spPr>
              <a:xfrm>
                <a:off x="9398000" y="3585956"/>
                <a:ext cx="7975600" cy="81788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𝑛</m:t>
                          </m:r>
                        </m:sub>
                        <m:sup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𝑊</m:t>
                          </m:r>
                        </m:num>
                        <m:den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den>
                      </m:f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𝐺𝑆</m:t>
                          </m:r>
                        </m:sub>
                      </m:sSub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sSub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sSup>
                        <m:sSup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eq @2">
                <a:extLst>
                  <a:ext uri="{FF2B5EF4-FFF2-40B4-BE49-F238E27FC236}">
                    <a16:creationId xmlns:a16="http://schemas.microsoft.com/office/drawing/2014/main" id="{99EB5935-3799-D55D-E4A2-49AAE6FD82A6}"/>
                  </a:ext>
                </a:extLst>
              </p:cNvPr>
              <p:cNvSpPr txBox="1"/>
              <p:nvPr/>
            </p:nvSpPr>
            <p:spPr>
              <a:xfrm>
                <a:off x="9398000" y="3585956"/>
                <a:ext cx="7975600" cy="81788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\frac{1}{2}\,k_n^{\prime}\frac{W}{L}\,(v_{GS}-V_t)^2</a:t>
                </a:r>
              </a:p>
            </p:txBody>
          </p:sp>
        </mc:Fallback>
      </mc:AlternateContent>
      <p:sp>
        <p:nvSpPr>
          <p:cNvPr id="13" name="point @3">
            <a:extLst>
              <a:ext uri="{FF2B5EF4-FFF2-40B4-BE49-F238E27FC236}">
                <a16:creationId xmlns:a16="http://schemas.microsoft.com/office/drawing/2014/main" id="{16BB3D1D-BB50-B0E4-2847-5B265B9BEB4A}"/>
              </a:ext>
            </a:extLst>
          </p:cNvPr>
          <p:cNvSpPr txBox="1"/>
          <p:nvPr/>
        </p:nvSpPr>
        <p:spPr>
          <a:xfrm>
            <a:off x="9398000" y="4982957"/>
            <a:ext cx="7975600" cy="37875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Doubling (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) quadruples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: the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square law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F6C787C5-CC53-2788-5745-42C7BE28C75E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hrome page">
            <a:extLst>
              <a:ext uri="{FF2B5EF4-FFF2-40B4-BE49-F238E27FC236}">
                <a16:creationId xmlns:a16="http://schemas.microsoft.com/office/drawing/2014/main" id="{5D1878A7-D0E6-761E-01B0-7E250544BE1A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8951865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riode and saturation: one cur s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494FC0A-6D71-6328-91D4-E5866408B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Triode and saturation: one curve, two equations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86201AE8-352E-2F7B-261C-DD36EA2F7302}"/>
              </a:ext>
            </a:extLst>
          </p:cNvPr>
          <p:cNvSpPr/>
          <p:nvPr/>
        </p:nvSpPr>
        <p:spPr>
          <a:xfrm>
            <a:off x="914400" y="279400"/>
            <a:ext cx="3014218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 · I–V CHARACTERISTICS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7FF5DB2D-81AA-5F77-3147-73C26E6CADE1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FC37977E-AB1B-A02A-5FED-9C36CBCCBF48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9B7F5624-CB9D-382F-922F-51553553A27F}"/>
              </a:ext>
            </a:extLst>
          </p:cNvPr>
          <p:cNvSpPr/>
          <p:nvPr/>
        </p:nvSpPr>
        <p:spPr>
          <a:xfrm>
            <a:off x="914400" y="2222500"/>
            <a:ext cx="8763000" cy="558845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91A4973B-247C-CA82-FDFC-340697CA2ED6}"/>
              </a:ext>
            </a:extLst>
          </p:cNvPr>
          <p:cNvSpPr/>
          <p:nvPr/>
        </p:nvSpPr>
        <p:spPr>
          <a:xfrm>
            <a:off x="9144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2FA579F7-C08E-F638-ACC8-6011233987D1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476500"/>
            <a:ext cx="8255000" cy="4851850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F4CDE20B-9BC9-73B2-8D61-D40FBDF1E5D9}"/>
              </a:ext>
            </a:extLst>
          </p:cNvPr>
          <p:cNvSpPr txBox="1"/>
          <p:nvPr/>
        </p:nvSpPr>
        <p:spPr>
          <a:xfrm>
            <a:off x="1168400" y="7455350"/>
            <a:ext cx="8255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lab @2">
            <a:extLst>
              <a:ext uri="{FF2B5EF4-FFF2-40B4-BE49-F238E27FC236}">
                <a16:creationId xmlns:a16="http://schemas.microsoft.com/office/drawing/2014/main" id="{BC63E112-FE3F-4E63-86FE-8C6319724DB3}"/>
              </a:ext>
            </a:extLst>
          </p:cNvPr>
          <p:cNvSpPr/>
          <p:nvPr/>
        </p:nvSpPr>
        <p:spPr>
          <a:xfrm>
            <a:off x="10287000" y="2349500"/>
            <a:ext cx="116179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TRIODE</a:t>
            </a:r>
          </a:p>
        </p:txBody>
      </p:sp>
      <p:sp>
        <p:nvSpPr>
          <p:cNvPr id="12" name="lab @2">
            <a:extLst>
              <a:ext uri="{FF2B5EF4-FFF2-40B4-BE49-F238E27FC236}">
                <a16:creationId xmlns:a16="http://schemas.microsoft.com/office/drawing/2014/main" id="{74A430BA-AC94-75D4-66E0-60E0CA23167A}"/>
              </a:ext>
            </a:extLst>
          </p:cNvPr>
          <p:cNvSpPr txBox="1"/>
          <p:nvPr/>
        </p:nvSpPr>
        <p:spPr>
          <a:xfrm>
            <a:off x="11651996" y="2324099"/>
            <a:ext cx="5721604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eq @2">
                <a:extLst>
                  <a:ext uri="{FF2B5EF4-FFF2-40B4-BE49-F238E27FC236}">
                    <a16:creationId xmlns:a16="http://schemas.microsoft.com/office/drawing/2014/main" id="{97F6AE26-DB36-60C8-1C64-C9E028BD7CCE}"/>
                  </a:ext>
                </a:extLst>
              </p:cNvPr>
              <p:cNvSpPr txBox="1"/>
              <p:nvPr/>
            </p:nvSpPr>
            <p:spPr>
              <a:xfrm>
                <a:off x="10287000" y="2933699"/>
                <a:ext cx="7086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Sup>
                        <m:sSubSup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𝑛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𝑊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𝐺𝑆</m:t>
                              </m:r>
                            </m:sub>
                          </m:s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𝐷𝑆</m:t>
                              </m:r>
                            </m:sub>
                          </m:s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  <m:sSubSup>
                            <m:sSubSupPr>
                              <m:ctrlP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SupPr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𝐷𝑆</m:t>
                              </m:r>
                            </m:sub>
                            <m:sup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eq @2">
                <a:extLst>
                  <a:ext uri="{FF2B5EF4-FFF2-40B4-BE49-F238E27FC236}">
                    <a16:creationId xmlns:a16="http://schemas.microsoft.com/office/drawing/2014/main" id="{97F6AE26-DB36-60C8-1C64-C9E028BD7CCE}"/>
                  </a:ext>
                </a:extLst>
              </p:cNvPr>
              <p:cNvSpPr txBox="1"/>
              <p:nvPr/>
            </p:nvSpPr>
            <p:spPr>
              <a:xfrm>
                <a:off x="10287000" y="2933699"/>
                <a:ext cx="7086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k_n^{\prime}\frac{W}{L}\left[(v_{GS}-V_t)\,v_{DS}-\frac{1}{2}v_{DS}^2\right]</a:t>
                </a:r>
              </a:p>
            </p:txBody>
          </p:sp>
        </mc:Fallback>
      </mc:AlternateContent>
      <p:sp>
        <p:nvSpPr>
          <p:cNvPr id="14" name="lab @3">
            <a:extLst>
              <a:ext uri="{FF2B5EF4-FFF2-40B4-BE49-F238E27FC236}">
                <a16:creationId xmlns:a16="http://schemas.microsoft.com/office/drawing/2014/main" id="{F266C219-F039-13A9-F103-5B4E62955E83}"/>
              </a:ext>
            </a:extLst>
          </p:cNvPr>
          <p:cNvSpPr/>
          <p:nvPr/>
        </p:nvSpPr>
        <p:spPr>
          <a:xfrm>
            <a:off x="10287000" y="4762500"/>
            <a:ext cx="159766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SATURATION</a:t>
            </a:r>
          </a:p>
        </p:txBody>
      </p:sp>
      <p:sp>
        <p:nvSpPr>
          <p:cNvPr id="15" name="lab @3">
            <a:extLst>
              <a:ext uri="{FF2B5EF4-FFF2-40B4-BE49-F238E27FC236}">
                <a16:creationId xmlns:a16="http://schemas.microsoft.com/office/drawing/2014/main" id="{91DAB737-2E41-5938-10B8-DE8685C2EDA5}"/>
              </a:ext>
            </a:extLst>
          </p:cNvPr>
          <p:cNvSpPr txBox="1"/>
          <p:nvPr/>
        </p:nvSpPr>
        <p:spPr>
          <a:xfrm>
            <a:off x="12087860" y="4737099"/>
            <a:ext cx="5285740" cy="406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≥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q @3">
                <a:extLst>
                  <a:ext uri="{FF2B5EF4-FFF2-40B4-BE49-F238E27FC236}">
                    <a16:creationId xmlns:a16="http://schemas.microsoft.com/office/drawing/2014/main" id="{86CDCD62-6E3F-EF58-0A88-ADC3558AA06F}"/>
                  </a:ext>
                </a:extLst>
              </p:cNvPr>
              <p:cNvSpPr txBox="1"/>
              <p:nvPr/>
            </p:nvSpPr>
            <p:spPr>
              <a:xfrm>
                <a:off x="10287000" y="5346699"/>
                <a:ext cx="7086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𝑛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𝑊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den>
                      </m:f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𝐺𝑆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sSup>
                        <m:sSup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eq @3">
                <a:extLst>
                  <a:ext uri="{FF2B5EF4-FFF2-40B4-BE49-F238E27FC236}">
                    <a16:creationId xmlns:a16="http://schemas.microsoft.com/office/drawing/2014/main" id="{86CDCD62-6E3F-EF58-0A88-ADC3558AA06F}"/>
                  </a:ext>
                </a:extLst>
              </p:cNvPr>
              <p:cNvSpPr txBox="1"/>
              <p:nvPr/>
            </p:nvSpPr>
            <p:spPr>
              <a:xfrm>
                <a:off x="10287000" y="5346699"/>
                <a:ext cx="7086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\frac{1}{2}\,k_n^{\prime}\frac{W}{L}\,(v_{GS}-V_t)^2</a:t>
                </a:r>
              </a:p>
            </p:txBody>
          </p:sp>
        </mc:Fallback>
      </mc:AlternateContent>
      <p:sp>
        <p:nvSpPr>
          <p:cNvPr id="17" name="note @4">
            <a:extLst>
              <a:ext uri="{FF2B5EF4-FFF2-40B4-BE49-F238E27FC236}">
                <a16:creationId xmlns:a16="http://schemas.microsoft.com/office/drawing/2014/main" id="{1A3C211A-B6F9-0BDE-1601-3C240E75324D}"/>
              </a:ext>
            </a:extLst>
          </p:cNvPr>
          <p:cNvSpPr txBox="1"/>
          <p:nvPr/>
        </p:nvSpPr>
        <p:spPr>
          <a:xfrm>
            <a:off x="10287000" y="7175499"/>
            <a:ext cx="7086600" cy="889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Both require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&gt;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: without a channel,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= 0 (cutoff).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6D2986A0-D04D-0349-0D3E-3D58801C6D91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hrome page">
            <a:extLst>
              <a:ext uri="{FF2B5EF4-FFF2-40B4-BE49-F238E27FC236}">
                <a16:creationId xmlns:a16="http://schemas.microsoft.com/office/drawing/2014/main" id="{6057B004-B98E-AE04-5B49-45B6C989CB37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571672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mall v_{DS}: a voltage-contro s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8374CE1-C8C4-9067-45AD-586871ACE0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Small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: a voltage-controlled resistor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710A274F-9106-D2A4-A069-5A925E1C1030}"/>
              </a:ext>
            </a:extLst>
          </p:cNvPr>
          <p:cNvSpPr/>
          <p:nvPr/>
        </p:nvSpPr>
        <p:spPr>
          <a:xfrm>
            <a:off x="914400" y="279400"/>
            <a:ext cx="3014218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 · I–V CHARACTERISTICS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73310EB2-61C5-878F-BEC5-4DB4B480D092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BEABB7BC-74BF-3B68-1955-2F31AFC65D18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06F01043-B5B2-F5D2-030D-0C46456E085F}"/>
              </a:ext>
            </a:extLst>
          </p:cNvPr>
          <p:cNvSpPr/>
          <p:nvPr/>
        </p:nvSpPr>
        <p:spPr>
          <a:xfrm>
            <a:off x="9652000" y="2222500"/>
            <a:ext cx="7721600" cy="4976371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2B95B45C-29F6-BB83-F713-B2737A19B6FD}"/>
              </a:ext>
            </a:extLst>
          </p:cNvPr>
          <p:cNvSpPr/>
          <p:nvPr/>
        </p:nvSpPr>
        <p:spPr>
          <a:xfrm>
            <a:off x="96520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28DBF088-C25C-8907-BDA0-8D68698DD374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0" y="2476500"/>
            <a:ext cx="7213600" cy="4239771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19E90DEE-F2D5-F97A-3DB5-BE787AFE3094}"/>
              </a:ext>
            </a:extLst>
          </p:cNvPr>
          <p:cNvSpPr txBox="1"/>
          <p:nvPr/>
        </p:nvSpPr>
        <p:spPr>
          <a:xfrm>
            <a:off x="9906000" y="6843271"/>
            <a:ext cx="72136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964B3CED-4901-C071-6D12-9E912DB2E621}"/>
              </a:ext>
            </a:extLst>
          </p:cNvPr>
          <p:cNvSpPr txBox="1"/>
          <p:nvPr/>
        </p:nvSpPr>
        <p:spPr>
          <a:xfrm>
            <a:off x="914400" y="2349500"/>
            <a:ext cx="8128000" cy="35907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For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≪ 2(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) the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² term is negligible: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q @1">
                <a:extLst>
                  <a:ext uri="{FF2B5EF4-FFF2-40B4-BE49-F238E27FC236}">
                    <a16:creationId xmlns:a16="http://schemas.microsoft.com/office/drawing/2014/main" id="{1FFF97EA-631C-AD07-6005-B7B2F621F7FD}"/>
                  </a:ext>
                </a:extLst>
              </p:cNvPr>
              <p:cNvSpPr txBox="1"/>
              <p:nvPr/>
            </p:nvSpPr>
            <p:spPr>
              <a:xfrm>
                <a:off x="1244600" y="2987972"/>
                <a:ext cx="8128000" cy="78867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7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≈</m:t>
                      </m:r>
                      <m:sSubSup>
                        <m:sSubSupPr>
                          <m:ctrlP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𝑛</m:t>
                          </m:r>
                        </m:sub>
                        <m:sup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ctrlP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𝑊</m:t>
                          </m:r>
                        </m:num>
                        <m:den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den>
                      </m:f>
                      <m:r>
                        <a:rPr lang="en-US" sz="27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𝐺𝑆</m:t>
                          </m:r>
                        </m:sub>
                      </m:sSub>
                      <m:r>
                        <a:rPr lang="en-US" sz="27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sSubPr>
                          <m:ctrlP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a:rPr lang="en-US" sz="27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𝐷𝑆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eq @1">
                <a:extLst>
                  <a:ext uri="{FF2B5EF4-FFF2-40B4-BE49-F238E27FC236}">
                    <a16:creationId xmlns:a16="http://schemas.microsoft.com/office/drawing/2014/main" id="{1FFF97EA-631C-AD07-6005-B7B2F621F7FD}"/>
                  </a:ext>
                </a:extLst>
              </p:cNvPr>
              <p:cNvSpPr txBox="1"/>
              <p:nvPr/>
            </p:nvSpPr>
            <p:spPr>
              <a:xfrm>
                <a:off x="1244600" y="2987972"/>
                <a:ext cx="8128000" cy="78867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\approx k_n^{\prime}\frac{W}{L}\,(v_{GS}-V_t)\,v_{DS}</a:t>
                </a:r>
              </a:p>
            </p:txBody>
          </p:sp>
        </mc:Fallback>
      </mc:AlternateContent>
      <p:sp>
        <p:nvSpPr>
          <p:cNvPr id="13" name="point @2">
            <a:extLst>
              <a:ext uri="{FF2B5EF4-FFF2-40B4-BE49-F238E27FC236}">
                <a16:creationId xmlns:a16="http://schemas.microsoft.com/office/drawing/2014/main" id="{4D61297C-C75C-76E1-28FB-D038B021B577}"/>
              </a:ext>
            </a:extLst>
          </p:cNvPr>
          <p:cNvSpPr txBox="1"/>
          <p:nvPr/>
        </p:nvSpPr>
        <p:spPr>
          <a:xfrm>
            <a:off x="914400" y="4003973"/>
            <a:ext cx="8128000" cy="3629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channel behaves as a resistor whose value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sets: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eq @2">
                <a:extLst>
                  <a:ext uri="{FF2B5EF4-FFF2-40B4-BE49-F238E27FC236}">
                    <a16:creationId xmlns:a16="http://schemas.microsoft.com/office/drawing/2014/main" id="{EB2F7D6F-9220-1ACF-9C96-8EB4227AC09A}"/>
                  </a:ext>
                </a:extLst>
              </p:cNvPr>
              <p:cNvSpPr txBox="1"/>
              <p:nvPr/>
            </p:nvSpPr>
            <p:spPr>
              <a:xfrm>
                <a:off x="1244600" y="4646356"/>
                <a:ext cx="8128000" cy="78867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𝐷𝑆</m:t>
                          </m:r>
                        </m:sub>
                      </m:sSub>
                      <m:r>
                        <a:rPr lang="en-US" sz="27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700" b="0" i="1">
                              <a:solidFill>
                                <a:srgbClr val="15241D"/>
                              </a:solidFill>
                              <a:latin typeface="Cambria Math" panose="02040503050406030204" pitchFamily="18" charset="0"/>
                              <a:cs typeface="Cambria Math"/>
                            </a:rPr>
                          </m:ctrlPr>
                        </m:s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700" b="0" i="1">
                                  <a:solidFill>
                                    <a:srgbClr val="15241D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𝑛</m:t>
                                  </m:r>
                                </m:sub>
                                <m:sup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′</m:t>
                                  </m:r>
                                </m:sup>
                              </m:sSubSup>
                              <m:f>
                                <m:fPr>
                                  <m:ctrlP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𝑊</m:t>
                                  </m:r>
                                </m:num>
                                <m:den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en-US" sz="27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𝐺𝑆</m:t>
                                  </m:r>
                                </m:sub>
                              </m:sSub>
                              <m:r>
                                <a:rPr lang="en-US" sz="27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</m:ctrlPr>
                                </m:sSubPr>
                                <m:e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27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en-US" sz="27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)</m:t>
                              </m:r>
                            </m:e>
                          </m:d>
                        </m:e>
                        <m:sup>
                          <m:r>
                            <a:rPr lang="en-US" sz="27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−1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eq @2">
                <a:extLst>
                  <a:ext uri="{FF2B5EF4-FFF2-40B4-BE49-F238E27FC236}">
                    <a16:creationId xmlns:a16="http://schemas.microsoft.com/office/drawing/2014/main" id="{EB2F7D6F-9220-1ACF-9C96-8EB4227AC09A}"/>
                  </a:ext>
                </a:extLst>
              </p:cNvPr>
              <p:cNvSpPr txBox="1"/>
              <p:nvPr/>
            </p:nvSpPr>
            <p:spPr>
              <a:xfrm>
                <a:off x="1244600" y="4646356"/>
                <a:ext cx="8128000" cy="78867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r_{DS} = \left[k_n^{\prime}\frac{W}{L}\,(v_{GS}-V_t)\right]^{-1}</a:t>
                </a:r>
              </a:p>
            </p:txBody>
          </p:sp>
        </mc:Fallback>
      </mc:AlternateContent>
      <p:sp>
        <p:nvSpPr>
          <p:cNvPr id="15" name="point @3">
            <a:extLst>
              <a:ext uri="{FF2B5EF4-FFF2-40B4-BE49-F238E27FC236}">
                <a16:creationId xmlns:a16="http://schemas.microsoft.com/office/drawing/2014/main" id="{3532DC31-D83E-653C-2822-052D4AF16291}"/>
              </a:ext>
            </a:extLst>
          </p:cNvPr>
          <p:cNvSpPr txBox="1"/>
          <p:nvPr/>
        </p:nvSpPr>
        <p:spPr>
          <a:xfrm>
            <a:off x="914400" y="5865557"/>
            <a:ext cx="8128000" cy="7346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This is the region used when the MOSFET acts as a closed switch (Section 5).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B7D89DE2-CAC4-2851-6A02-C4587C023CE1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hrome page">
            <a:extLst>
              <a:ext uri="{FF2B5EF4-FFF2-40B4-BE49-F238E27FC236}">
                <a16:creationId xmlns:a16="http://schemas.microsoft.com/office/drawing/2014/main" id="{0838F1DA-A3F9-26C2-45AB-D0DCBF5DB6C4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5747742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arge-signal model in saturati s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748F49F-D1E3-D579-2CCF-852E93730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Large-signal model in saturation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B75B8FD6-9CC9-BD85-8A50-FD81637E9742}"/>
              </a:ext>
            </a:extLst>
          </p:cNvPr>
          <p:cNvSpPr/>
          <p:nvPr/>
        </p:nvSpPr>
        <p:spPr>
          <a:xfrm>
            <a:off x="914400" y="279400"/>
            <a:ext cx="3014218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2 · I–V CHARACTERISTICS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437E62DA-6E0E-75EF-5532-ACECA074C798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7941EEA3-7F61-9CC3-5533-B27761D05F94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60B3DC99-4516-A279-3A04-23460890E59F}"/>
              </a:ext>
            </a:extLst>
          </p:cNvPr>
          <p:cNvSpPr/>
          <p:nvPr/>
        </p:nvSpPr>
        <p:spPr>
          <a:xfrm>
            <a:off x="4114102" y="2032000"/>
            <a:ext cx="10059796" cy="4826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3955AFF3-14B0-D832-0E9F-474F1B643F43}"/>
              </a:ext>
            </a:extLst>
          </p:cNvPr>
          <p:cNvSpPr/>
          <p:nvPr/>
        </p:nvSpPr>
        <p:spPr>
          <a:xfrm>
            <a:off x="4114102" y="2019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2C881859-FA0E-A7A4-7BC6-6AF1745B05C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8102" y="2286000"/>
            <a:ext cx="9551797" cy="4089400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595442F4-E2F6-6D9C-1A03-BEC32A938E68}"/>
              </a:ext>
            </a:extLst>
          </p:cNvPr>
          <p:cNvSpPr txBox="1"/>
          <p:nvPr/>
        </p:nvSpPr>
        <p:spPr>
          <a:xfrm>
            <a:off x="4368102" y="6502400"/>
            <a:ext cx="9551797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A812F1E5-E3CA-6F78-633E-36C3EE49764C}"/>
              </a:ext>
            </a:extLst>
          </p:cNvPr>
          <p:cNvSpPr txBox="1"/>
          <p:nvPr/>
        </p:nvSpPr>
        <p:spPr>
          <a:xfrm>
            <a:off x="914400" y="7239000"/>
            <a:ext cx="9652000" cy="7346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In saturation the MOSFET acts as a </a:t>
            </a:r>
            <a:r>
              <a:rPr lang="en-US" sz="2300" b="1">
                <a:solidFill>
                  <a:srgbClr val="15241D"/>
                </a:solidFill>
                <a:latin typeface="DM Sans" pitchFamily="2" charset="0"/>
              </a:rPr>
              <a:t>voltage-controlled current source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from drain to source.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C0E5ECA3-C31F-2512-580C-0E3FA831DCDF}"/>
              </a:ext>
            </a:extLst>
          </p:cNvPr>
          <p:cNvSpPr txBox="1"/>
          <p:nvPr/>
        </p:nvSpPr>
        <p:spPr>
          <a:xfrm>
            <a:off x="914400" y="8253025"/>
            <a:ext cx="9652000" cy="3629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gate draws no current: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= 0.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eq @3">
                <a:extLst>
                  <a:ext uri="{FF2B5EF4-FFF2-40B4-BE49-F238E27FC236}">
                    <a16:creationId xmlns:a16="http://schemas.microsoft.com/office/drawing/2014/main" id="{13CEB3F0-EC15-C04D-CBF0-0D0BA30E000E}"/>
                  </a:ext>
                </a:extLst>
              </p:cNvPr>
              <p:cNvSpPr txBox="1"/>
              <p:nvPr/>
            </p:nvSpPr>
            <p:spPr>
              <a:xfrm>
                <a:off x="11176000" y="7365999"/>
                <a:ext cx="6197600" cy="81788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𝑛</m:t>
                          </m:r>
                        </m:sub>
                        <m:sup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𝑊</m:t>
                          </m:r>
                        </m:num>
                        <m:den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den>
                      </m:f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𝐺𝑆</m:t>
                          </m:r>
                        </m:sub>
                      </m:sSub>
                      <m:r>
                        <a:rPr lang="en-US" sz="28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sSub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sSup>
                        <m:sSupPr>
                          <m:ctrlP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8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eq @3">
                <a:extLst>
                  <a:ext uri="{FF2B5EF4-FFF2-40B4-BE49-F238E27FC236}">
                    <a16:creationId xmlns:a16="http://schemas.microsoft.com/office/drawing/2014/main" id="{13CEB3F0-EC15-C04D-CBF0-0D0BA30E000E}"/>
                  </a:ext>
                </a:extLst>
              </p:cNvPr>
              <p:cNvSpPr txBox="1"/>
              <p:nvPr/>
            </p:nvSpPr>
            <p:spPr>
              <a:xfrm>
                <a:off x="11176000" y="7365999"/>
                <a:ext cx="6197600" cy="81788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\frac{1}{2}\,k_n^{\prime}\frac{W}{L}\,(v_{GS}-V_t)^2</a:t>
                </a:r>
              </a:p>
            </p:txBody>
          </p:sp>
        </mc:Fallback>
      </mc:AlternateContent>
      <p:sp>
        <p:nvSpPr>
          <p:cNvPr id="8" name="chrome page">
            <a:extLst>
              <a:ext uri="{FF2B5EF4-FFF2-40B4-BE49-F238E27FC236}">
                <a16:creationId xmlns:a16="http://schemas.microsoft.com/office/drawing/2014/main" id="{1D22D868-80B0-472B-961A-971424AB875B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hrome page">
            <a:extLst>
              <a:ext uri="{FF2B5EF4-FFF2-40B4-BE49-F238E27FC236}">
                <a16:creationId xmlns:a16="http://schemas.microsoft.com/office/drawing/2014/main" id="{8CE4AC4F-8964-9A3D-1523-7C24491F74B0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37694223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#nochrome s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ECD9918-4400-6CA1-023C-EE076AD8AA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4191000"/>
            <a:ext cx="10414000" cy="1397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9600">
                <a:solidFill>
                  <a:srgbClr val="15241D"/>
                </a:solidFill>
                <a:latin typeface="Bebas Neue" panose="020B0606020202050201" pitchFamily="34" charset="0"/>
              </a:rPr>
              <a:t>MOSFETs in DC circuits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56AC9E7E-C5CF-C336-00D7-552311DB4200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4888C2E1-D287-0E94-CEE7-E2885A4CB389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C0C1D00C-0374-84AD-A6BE-154F64EE6121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AA7C50D9-6CCC-E108-CCC4-60BDB7C1D2D1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3DEA4F82-CD86-EC65-E0A4-C9F051ABDA66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FA811532-C2CC-4EA3-6D95-28262FC5D3DF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49F9B1C5-10F8-5956-B04E-62C87A92726A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F0DCC29C-0B90-9F62-4170-25130005AEC0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numeral">
            <a:extLst>
              <a:ext uri="{FF2B5EF4-FFF2-40B4-BE49-F238E27FC236}">
                <a16:creationId xmlns:a16="http://schemas.microsoft.com/office/drawing/2014/main" id="{24B8BFFC-F211-ED27-CDB4-5BFC180B1A9F}"/>
              </a:ext>
            </a:extLst>
          </p:cNvPr>
          <p:cNvSpPr txBox="1"/>
          <p:nvPr/>
        </p:nvSpPr>
        <p:spPr>
          <a:xfrm>
            <a:off x="965200" y="1777999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 sz="20000">
                <a:solidFill>
                  <a:srgbClr val="145A43"/>
                </a:solidFill>
                <a:latin typeface="Bebas Neue" panose="020B0606020202050201" pitchFamily="34" charset="0"/>
              </a:rPr>
              <a:t>03</a:t>
            </a:r>
          </a:p>
        </p:txBody>
      </p:sp>
      <p:sp>
        <p:nvSpPr>
          <p:cNvPr id="12" name="item">
            <a:extLst>
              <a:ext uri="{FF2B5EF4-FFF2-40B4-BE49-F238E27FC236}">
                <a16:creationId xmlns:a16="http://schemas.microsoft.com/office/drawing/2014/main" id="{F637B1A9-E007-3DEB-E3B7-4F1C84BD8D8F}"/>
              </a:ext>
            </a:extLst>
          </p:cNvPr>
          <p:cNvSpPr txBox="1"/>
          <p:nvPr/>
        </p:nvSpPr>
        <p:spPr>
          <a:xfrm>
            <a:off x="1016000" y="58419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Assume, solve, check</a:t>
            </a:r>
          </a:p>
        </p:txBody>
      </p:sp>
      <p:sp>
        <p:nvSpPr>
          <p:cNvPr id="13" name="item">
            <a:extLst>
              <a:ext uri="{FF2B5EF4-FFF2-40B4-BE49-F238E27FC236}">
                <a16:creationId xmlns:a16="http://schemas.microsoft.com/office/drawing/2014/main" id="{0E113F90-50F2-8ED6-E134-3C3F378792EC}"/>
              </a:ext>
            </a:extLst>
          </p:cNvPr>
          <p:cNvSpPr txBox="1"/>
          <p:nvPr/>
        </p:nvSpPr>
        <p:spPr>
          <a:xfrm>
            <a:off x="1016000" y="63753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Example: the drain voltage</a:t>
            </a:r>
          </a:p>
        </p:txBody>
      </p:sp>
      <p:sp>
        <p:nvSpPr>
          <p:cNvPr id="14" name="item">
            <a:extLst>
              <a:ext uri="{FF2B5EF4-FFF2-40B4-BE49-F238E27FC236}">
                <a16:creationId xmlns:a16="http://schemas.microsoft.com/office/drawing/2014/main" id="{06E0DD8D-7DCD-B78A-4A51-0FE16027712B}"/>
              </a:ext>
            </a:extLst>
          </p:cNvPr>
          <p:cNvSpPr txBox="1"/>
          <p:nvPr/>
        </p:nvSpPr>
        <p:spPr>
          <a:xfrm>
            <a:off x="1016000" y="69087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The current mirror</a:t>
            </a:r>
          </a:p>
        </p:txBody>
      </p:sp>
      <p:sp>
        <p:nvSpPr>
          <p:cNvPr id="15" name="map">
            <a:extLst>
              <a:ext uri="{FF2B5EF4-FFF2-40B4-BE49-F238E27FC236}">
                <a16:creationId xmlns:a16="http://schemas.microsoft.com/office/drawing/2014/main" id="{4A9B1AB5-EC19-0621-DE6C-13678770F9F3}"/>
              </a:ext>
            </a:extLst>
          </p:cNvPr>
          <p:cNvSpPr/>
          <p:nvPr/>
        </p:nvSpPr>
        <p:spPr>
          <a:xfrm>
            <a:off x="12192000" y="24130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16" name="map">
            <a:extLst>
              <a:ext uri="{FF2B5EF4-FFF2-40B4-BE49-F238E27FC236}">
                <a16:creationId xmlns:a16="http://schemas.microsoft.com/office/drawing/2014/main" id="{35390DD8-5A48-28C9-77DD-DD1A43062938}"/>
              </a:ext>
            </a:extLst>
          </p:cNvPr>
          <p:cNvSpPr txBox="1"/>
          <p:nvPr/>
        </p:nvSpPr>
        <p:spPr>
          <a:xfrm>
            <a:off x="12827000" y="24129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17" name="map">
            <a:extLst>
              <a:ext uri="{FF2B5EF4-FFF2-40B4-BE49-F238E27FC236}">
                <a16:creationId xmlns:a16="http://schemas.microsoft.com/office/drawing/2014/main" id="{738751A9-AE28-25A5-0D83-52119CA27BCB}"/>
              </a:ext>
            </a:extLst>
          </p:cNvPr>
          <p:cNvSpPr/>
          <p:nvPr/>
        </p:nvSpPr>
        <p:spPr>
          <a:xfrm>
            <a:off x="12192000" y="32258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18" name="map">
            <a:extLst>
              <a:ext uri="{FF2B5EF4-FFF2-40B4-BE49-F238E27FC236}">
                <a16:creationId xmlns:a16="http://schemas.microsoft.com/office/drawing/2014/main" id="{D772EEBE-32A3-5FAA-98A3-5FA641842BEA}"/>
              </a:ext>
            </a:extLst>
          </p:cNvPr>
          <p:cNvSpPr txBox="1"/>
          <p:nvPr/>
        </p:nvSpPr>
        <p:spPr>
          <a:xfrm>
            <a:off x="12827000" y="32257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19" name="map">
            <a:extLst>
              <a:ext uri="{FF2B5EF4-FFF2-40B4-BE49-F238E27FC236}">
                <a16:creationId xmlns:a16="http://schemas.microsoft.com/office/drawing/2014/main" id="{3E96A209-33DB-CF74-C2FA-D0766C636FE2}"/>
              </a:ext>
            </a:extLst>
          </p:cNvPr>
          <p:cNvSpPr/>
          <p:nvPr/>
        </p:nvSpPr>
        <p:spPr>
          <a:xfrm>
            <a:off x="12192000" y="4038600"/>
            <a:ext cx="431800" cy="431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FFFFFF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20" name="map">
            <a:extLst>
              <a:ext uri="{FF2B5EF4-FFF2-40B4-BE49-F238E27FC236}">
                <a16:creationId xmlns:a16="http://schemas.microsoft.com/office/drawing/2014/main" id="{8FCB6C32-CC79-1F72-D784-209F8AFB2E8A}"/>
              </a:ext>
            </a:extLst>
          </p:cNvPr>
          <p:cNvSpPr txBox="1"/>
          <p:nvPr/>
        </p:nvSpPr>
        <p:spPr>
          <a:xfrm>
            <a:off x="12827000" y="40385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21" name="map">
            <a:extLst>
              <a:ext uri="{FF2B5EF4-FFF2-40B4-BE49-F238E27FC236}">
                <a16:creationId xmlns:a16="http://schemas.microsoft.com/office/drawing/2014/main" id="{CB8E3553-303C-A06E-4604-0A658A919764}"/>
              </a:ext>
            </a:extLst>
          </p:cNvPr>
          <p:cNvSpPr/>
          <p:nvPr/>
        </p:nvSpPr>
        <p:spPr>
          <a:xfrm>
            <a:off x="12192000" y="48514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22" name="map">
            <a:extLst>
              <a:ext uri="{FF2B5EF4-FFF2-40B4-BE49-F238E27FC236}">
                <a16:creationId xmlns:a16="http://schemas.microsoft.com/office/drawing/2014/main" id="{2B54F997-07DA-3DE6-C225-9F88415811A7}"/>
              </a:ext>
            </a:extLst>
          </p:cNvPr>
          <p:cNvSpPr txBox="1"/>
          <p:nvPr/>
        </p:nvSpPr>
        <p:spPr>
          <a:xfrm>
            <a:off x="12827000" y="48513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23" name="map">
            <a:extLst>
              <a:ext uri="{FF2B5EF4-FFF2-40B4-BE49-F238E27FC236}">
                <a16:creationId xmlns:a16="http://schemas.microsoft.com/office/drawing/2014/main" id="{B24ABEA7-E4B1-C91B-CC71-68B1589586DD}"/>
              </a:ext>
            </a:extLst>
          </p:cNvPr>
          <p:cNvSpPr/>
          <p:nvPr/>
        </p:nvSpPr>
        <p:spPr>
          <a:xfrm>
            <a:off x="12192000" y="56642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24" name="map">
            <a:extLst>
              <a:ext uri="{FF2B5EF4-FFF2-40B4-BE49-F238E27FC236}">
                <a16:creationId xmlns:a16="http://schemas.microsoft.com/office/drawing/2014/main" id="{9E9C3EBD-214C-B423-5BBD-A4E21C9BB904}"/>
              </a:ext>
            </a:extLst>
          </p:cNvPr>
          <p:cNvSpPr txBox="1"/>
          <p:nvPr/>
        </p:nvSpPr>
        <p:spPr>
          <a:xfrm>
            <a:off x="12827000" y="56641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 switch</a:t>
            </a:r>
          </a:p>
        </p:txBody>
      </p:sp>
    </p:spTree>
    <p:extLst>
      <p:ext uri="{BB962C8B-B14F-4D97-AF65-F5344CB8AC3E}">
        <p14:creationId xmlns:p14="http://schemas.microsoft.com/office/powerpoint/2010/main" val="29061935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C analysis: assume, solve, ch s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06735E3-9A16-61DA-83C6-2E5DBC0691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DC analysis: assume, solve, check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431C6543-E1CD-680A-7D7A-D68DA9CF12C0}"/>
              </a:ext>
            </a:extLst>
          </p:cNvPr>
          <p:cNvSpPr/>
          <p:nvPr/>
        </p:nvSpPr>
        <p:spPr>
          <a:xfrm>
            <a:off x="914400" y="279400"/>
            <a:ext cx="334111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3 · MOSFETS IN DC CIRCUITS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F2212E90-7DBF-4203-F291-20CD0CCA9045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D81496AE-11A6-7A42-0F41-F5CC16E71327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card @1">
            <a:extLst>
              <a:ext uri="{FF2B5EF4-FFF2-40B4-BE49-F238E27FC236}">
                <a16:creationId xmlns:a16="http://schemas.microsoft.com/office/drawing/2014/main" id="{F67B6AFC-BDFA-1F4E-6102-858895B9E971}"/>
              </a:ext>
            </a:extLst>
          </p:cNvPr>
          <p:cNvSpPr/>
          <p:nvPr/>
        </p:nvSpPr>
        <p:spPr>
          <a:xfrm>
            <a:off x="914400" y="2540000"/>
            <a:ext cx="5080000" cy="381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 @1">
            <a:extLst>
              <a:ext uri="{FF2B5EF4-FFF2-40B4-BE49-F238E27FC236}">
                <a16:creationId xmlns:a16="http://schemas.microsoft.com/office/drawing/2014/main" id="{7658C407-C120-33E7-CD13-EF3FD7102A41}"/>
              </a:ext>
            </a:extLst>
          </p:cNvPr>
          <p:cNvSpPr/>
          <p:nvPr/>
        </p:nvSpPr>
        <p:spPr>
          <a:xfrm>
            <a:off x="914400" y="2527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badge @1">
            <a:extLst>
              <a:ext uri="{FF2B5EF4-FFF2-40B4-BE49-F238E27FC236}">
                <a16:creationId xmlns:a16="http://schemas.microsoft.com/office/drawing/2014/main" id="{79302555-F01B-134D-A487-FAA25600B9A1}"/>
              </a:ext>
            </a:extLst>
          </p:cNvPr>
          <p:cNvSpPr/>
          <p:nvPr/>
        </p:nvSpPr>
        <p:spPr>
          <a:xfrm>
            <a:off x="1295400" y="2946400"/>
            <a:ext cx="558800" cy="558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1</a:t>
            </a:r>
          </a:p>
        </p:txBody>
      </p:sp>
      <p:sp>
        <p:nvSpPr>
          <p:cNvPr id="9" name="head @1">
            <a:extLst>
              <a:ext uri="{FF2B5EF4-FFF2-40B4-BE49-F238E27FC236}">
                <a16:creationId xmlns:a16="http://schemas.microsoft.com/office/drawing/2014/main" id="{28759914-5E72-F2EB-689A-B2B576C4FD95}"/>
              </a:ext>
            </a:extLst>
          </p:cNvPr>
          <p:cNvSpPr txBox="1"/>
          <p:nvPr/>
        </p:nvSpPr>
        <p:spPr>
          <a:xfrm>
            <a:off x="1295400" y="3759199"/>
            <a:ext cx="431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400">
                <a:solidFill>
                  <a:srgbClr val="15241D"/>
                </a:solidFill>
                <a:latin typeface="Bebas Neue" panose="020B0606020202050201" pitchFamily="34" charset="0"/>
              </a:rPr>
              <a:t>Assume</a:t>
            </a:r>
          </a:p>
        </p:txBody>
      </p:sp>
      <p:sp>
        <p:nvSpPr>
          <p:cNvPr id="10" name="body @1">
            <a:extLst>
              <a:ext uri="{FF2B5EF4-FFF2-40B4-BE49-F238E27FC236}">
                <a16:creationId xmlns:a16="http://schemas.microsoft.com/office/drawing/2014/main" id="{CFAF4CDF-71BC-FAC2-7C11-0E1BCE1546D9}"/>
              </a:ext>
            </a:extLst>
          </p:cNvPr>
          <p:cNvSpPr txBox="1"/>
          <p:nvPr/>
        </p:nvSpPr>
        <p:spPr>
          <a:xfrm>
            <a:off x="1295400" y="4521199"/>
            <a:ext cx="4318000" cy="279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a region, usually saturation (and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&gt;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).</a:t>
            </a:r>
          </a:p>
        </p:txBody>
      </p:sp>
      <p:sp>
        <p:nvSpPr>
          <p:cNvPr id="11" name="card @2">
            <a:extLst>
              <a:ext uri="{FF2B5EF4-FFF2-40B4-BE49-F238E27FC236}">
                <a16:creationId xmlns:a16="http://schemas.microsoft.com/office/drawing/2014/main" id="{A4EB3FDB-F42C-104C-EB2D-A6D64ED4F57E}"/>
              </a:ext>
            </a:extLst>
          </p:cNvPr>
          <p:cNvSpPr/>
          <p:nvPr/>
        </p:nvSpPr>
        <p:spPr>
          <a:xfrm>
            <a:off x="6604000" y="2540000"/>
            <a:ext cx="5080000" cy="381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ard @2">
            <a:extLst>
              <a:ext uri="{FF2B5EF4-FFF2-40B4-BE49-F238E27FC236}">
                <a16:creationId xmlns:a16="http://schemas.microsoft.com/office/drawing/2014/main" id="{D4D4588D-63AB-5A75-A8F1-1D6C55C37751}"/>
              </a:ext>
            </a:extLst>
          </p:cNvPr>
          <p:cNvSpPr/>
          <p:nvPr/>
        </p:nvSpPr>
        <p:spPr>
          <a:xfrm>
            <a:off x="6604000" y="2527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badge @2">
            <a:extLst>
              <a:ext uri="{FF2B5EF4-FFF2-40B4-BE49-F238E27FC236}">
                <a16:creationId xmlns:a16="http://schemas.microsoft.com/office/drawing/2014/main" id="{C23E2529-80EF-6876-9369-77A89C8AA2AB}"/>
              </a:ext>
            </a:extLst>
          </p:cNvPr>
          <p:cNvSpPr/>
          <p:nvPr/>
        </p:nvSpPr>
        <p:spPr>
          <a:xfrm>
            <a:off x="6985000" y="2946400"/>
            <a:ext cx="558800" cy="558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2</a:t>
            </a:r>
          </a:p>
        </p:txBody>
      </p:sp>
      <p:sp>
        <p:nvSpPr>
          <p:cNvPr id="14" name="head @2">
            <a:extLst>
              <a:ext uri="{FF2B5EF4-FFF2-40B4-BE49-F238E27FC236}">
                <a16:creationId xmlns:a16="http://schemas.microsoft.com/office/drawing/2014/main" id="{A721833A-52A4-B410-5C04-3EEA470FAB18}"/>
              </a:ext>
            </a:extLst>
          </p:cNvPr>
          <p:cNvSpPr txBox="1"/>
          <p:nvPr/>
        </p:nvSpPr>
        <p:spPr>
          <a:xfrm>
            <a:off x="6985000" y="3759199"/>
            <a:ext cx="431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400">
                <a:solidFill>
                  <a:srgbClr val="15241D"/>
                </a:solidFill>
                <a:latin typeface="Bebas Neue" panose="020B0606020202050201" pitchFamily="34" charset="0"/>
              </a:rPr>
              <a:t>Solve</a:t>
            </a:r>
          </a:p>
        </p:txBody>
      </p:sp>
      <p:sp>
        <p:nvSpPr>
          <p:cNvPr id="15" name="body @2">
            <a:extLst>
              <a:ext uri="{FF2B5EF4-FFF2-40B4-BE49-F238E27FC236}">
                <a16:creationId xmlns:a16="http://schemas.microsoft.com/office/drawing/2014/main" id="{68781127-F33D-41FC-780C-71FEDF59F90A}"/>
              </a:ext>
            </a:extLst>
          </p:cNvPr>
          <p:cNvSpPr txBox="1"/>
          <p:nvPr/>
        </p:nvSpPr>
        <p:spPr>
          <a:xfrm>
            <a:off x="6985000" y="4521199"/>
            <a:ext cx="4318000" cy="279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with that region’s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equation and KVL/KCL. Reject roots that give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16" name="card @3">
            <a:extLst>
              <a:ext uri="{FF2B5EF4-FFF2-40B4-BE49-F238E27FC236}">
                <a16:creationId xmlns:a16="http://schemas.microsoft.com/office/drawing/2014/main" id="{6C9336A4-297B-8772-F8A8-FBCBB4BDF3BD}"/>
              </a:ext>
            </a:extLst>
          </p:cNvPr>
          <p:cNvSpPr/>
          <p:nvPr/>
        </p:nvSpPr>
        <p:spPr>
          <a:xfrm>
            <a:off x="12293600" y="2540000"/>
            <a:ext cx="5080000" cy="381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ard @3">
            <a:extLst>
              <a:ext uri="{FF2B5EF4-FFF2-40B4-BE49-F238E27FC236}">
                <a16:creationId xmlns:a16="http://schemas.microsoft.com/office/drawing/2014/main" id="{2CAA7858-F409-6C70-1E40-B6D9AA15D05F}"/>
              </a:ext>
            </a:extLst>
          </p:cNvPr>
          <p:cNvSpPr/>
          <p:nvPr/>
        </p:nvSpPr>
        <p:spPr>
          <a:xfrm>
            <a:off x="12293600" y="2527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badge @3">
            <a:extLst>
              <a:ext uri="{FF2B5EF4-FFF2-40B4-BE49-F238E27FC236}">
                <a16:creationId xmlns:a16="http://schemas.microsoft.com/office/drawing/2014/main" id="{CA881E5E-155D-604A-2623-BFE711CE33F3}"/>
              </a:ext>
            </a:extLst>
          </p:cNvPr>
          <p:cNvSpPr/>
          <p:nvPr/>
        </p:nvSpPr>
        <p:spPr>
          <a:xfrm>
            <a:off x="12674600" y="2946400"/>
            <a:ext cx="558800" cy="558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3</a:t>
            </a:r>
          </a:p>
        </p:txBody>
      </p:sp>
      <p:sp>
        <p:nvSpPr>
          <p:cNvPr id="19" name="head @3">
            <a:extLst>
              <a:ext uri="{FF2B5EF4-FFF2-40B4-BE49-F238E27FC236}">
                <a16:creationId xmlns:a16="http://schemas.microsoft.com/office/drawing/2014/main" id="{169D4E86-EC4C-2AEB-D109-90AC0825962A}"/>
              </a:ext>
            </a:extLst>
          </p:cNvPr>
          <p:cNvSpPr txBox="1"/>
          <p:nvPr/>
        </p:nvSpPr>
        <p:spPr>
          <a:xfrm>
            <a:off x="12674600" y="3759199"/>
            <a:ext cx="431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3400">
                <a:solidFill>
                  <a:srgbClr val="15241D"/>
                </a:solidFill>
                <a:latin typeface="Bebas Neue" panose="020B0606020202050201" pitchFamily="34" charset="0"/>
              </a:rPr>
              <a:t>Check</a:t>
            </a:r>
          </a:p>
        </p:txBody>
      </p:sp>
      <p:sp>
        <p:nvSpPr>
          <p:cNvPr id="20" name="body @3">
            <a:extLst>
              <a:ext uri="{FF2B5EF4-FFF2-40B4-BE49-F238E27FC236}">
                <a16:creationId xmlns:a16="http://schemas.microsoft.com/office/drawing/2014/main" id="{23998C05-84A0-DB39-54A9-F812C41FD283}"/>
              </a:ext>
            </a:extLst>
          </p:cNvPr>
          <p:cNvSpPr txBox="1"/>
          <p:nvPr/>
        </p:nvSpPr>
        <p:spPr>
          <a:xfrm>
            <a:off x="12674600" y="4521199"/>
            <a:ext cx="4318000" cy="279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the assumption: saturation needs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≥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 If it fails, redo it in triode.</a:t>
            </a:r>
          </a:p>
        </p:txBody>
      </p:sp>
      <p:sp>
        <p:nvSpPr>
          <p:cNvPr id="21" name="note @4">
            <a:extLst>
              <a:ext uri="{FF2B5EF4-FFF2-40B4-BE49-F238E27FC236}">
                <a16:creationId xmlns:a16="http://schemas.microsoft.com/office/drawing/2014/main" id="{DCAF368D-A768-E3E7-E95F-DA4A348FC66F}"/>
              </a:ext>
            </a:extLst>
          </p:cNvPr>
          <p:cNvSpPr txBox="1"/>
          <p:nvPr/>
        </p:nvSpPr>
        <p:spPr>
          <a:xfrm>
            <a:off x="914400" y="6857999"/>
            <a:ext cx="164592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The gate draws no current, so gate-bias resistors form an unloaded divider.</a:t>
            </a:r>
          </a:p>
        </p:txBody>
      </p:sp>
      <p:sp>
        <p:nvSpPr>
          <p:cNvPr id="22" name="chrome page">
            <a:extLst>
              <a:ext uri="{FF2B5EF4-FFF2-40B4-BE49-F238E27FC236}">
                <a16:creationId xmlns:a16="http://schemas.microsoft.com/office/drawing/2014/main" id="{1AC56395-C2FD-6739-A6EE-4C3A4FB8F6DE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hrome page">
            <a:extLst>
              <a:ext uri="{FF2B5EF4-FFF2-40B4-BE49-F238E27FC236}">
                <a16:creationId xmlns:a16="http://schemas.microsoft.com/office/drawing/2014/main" id="{30B3E3B4-681B-9F61-43F4-FE44FD67632D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230146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mple: find the drain voltag s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CA3214E-05DE-9860-0412-136D77F97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Example: find the drain voltage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56D22C7F-5E47-04CF-8CDD-44BE4D8A56D5}"/>
              </a:ext>
            </a:extLst>
          </p:cNvPr>
          <p:cNvSpPr/>
          <p:nvPr/>
        </p:nvSpPr>
        <p:spPr>
          <a:xfrm>
            <a:off x="914400" y="279400"/>
            <a:ext cx="334111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3 · MOSFETS IN DC CIRCUITS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A8EAECCE-B118-ABB8-93A5-36ABC80F5529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0A482322-60AE-55A3-1296-FB3DED93AF3D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question">
            <a:extLst>
              <a:ext uri="{FF2B5EF4-FFF2-40B4-BE49-F238E27FC236}">
                <a16:creationId xmlns:a16="http://schemas.microsoft.com/office/drawing/2014/main" id="{BE4FACE3-B85B-B329-E054-345141EEEC93}"/>
              </a:ext>
            </a:extLst>
          </p:cNvPr>
          <p:cNvSpPr txBox="1"/>
          <p:nvPr/>
        </p:nvSpPr>
        <p:spPr>
          <a:xfrm>
            <a:off x="914400" y="1777999"/>
            <a:ext cx="164592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Given </a:t>
            </a:r>
            <a:r>
              <a:rPr lang="en-US" sz="23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 = 1 V and k′</a:t>
            </a:r>
            <a:r>
              <a:rPr lang="en-US" sz="2300" baseline="-25000">
                <a:solidFill>
                  <a:srgbClr val="4D5B54"/>
                </a:solidFill>
                <a:latin typeface="DM Sans" pitchFamily="2" charset="0"/>
              </a:rPr>
              <a:t>n</a:t>
            </a: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(W/L) = 1 mA/V². The gate draws no current.</a:t>
            </a:r>
          </a:p>
        </p:txBody>
      </p:sp>
      <p:sp>
        <p:nvSpPr>
          <p:cNvPr id="7" name="circuit card">
            <a:extLst>
              <a:ext uri="{FF2B5EF4-FFF2-40B4-BE49-F238E27FC236}">
                <a16:creationId xmlns:a16="http://schemas.microsoft.com/office/drawing/2014/main" id="{FDCAAD9F-468F-D101-CDE2-D1B273C89A49}"/>
              </a:ext>
            </a:extLst>
          </p:cNvPr>
          <p:cNvSpPr/>
          <p:nvPr/>
        </p:nvSpPr>
        <p:spPr>
          <a:xfrm>
            <a:off x="914400" y="2489200"/>
            <a:ext cx="6604000" cy="685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ircuit card">
            <a:extLst>
              <a:ext uri="{FF2B5EF4-FFF2-40B4-BE49-F238E27FC236}">
                <a16:creationId xmlns:a16="http://schemas.microsoft.com/office/drawing/2014/main" id="{AD8A7B80-D4FC-BAEE-4086-6A560145135C}"/>
              </a:ext>
            </a:extLst>
          </p:cNvPr>
          <p:cNvSpPr/>
          <p:nvPr/>
        </p:nvSpPr>
        <p:spPr>
          <a:xfrm>
            <a:off x="914400" y="24765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kt">
            <a:extLst>
              <a:ext uri="{FF2B5EF4-FFF2-40B4-BE49-F238E27FC236}">
                <a16:creationId xmlns:a16="http://schemas.microsoft.com/office/drawing/2014/main" id="{D173E0ED-85BE-D76C-8694-03B30FC8DD7B}"/>
              </a:ext>
            </a:extLst>
          </p:cNvPr>
          <p:cNvSpPr/>
          <p:nvPr/>
        </p:nvSpPr>
        <p:spPr>
          <a:xfrm>
            <a:off x="4724400" y="3111500"/>
            <a:ext cx="127000" cy="1270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5241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kt">
            <a:extLst>
              <a:ext uri="{FF2B5EF4-FFF2-40B4-BE49-F238E27FC236}">
                <a16:creationId xmlns:a16="http://schemas.microsoft.com/office/drawing/2014/main" id="{6A900336-98EA-7FB2-9A90-E8A8BDA40C9F}"/>
              </a:ext>
            </a:extLst>
          </p:cNvPr>
          <p:cNvSpPr/>
          <p:nvPr/>
        </p:nvSpPr>
        <p:spPr>
          <a:xfrm>
            <a:off x="4787900" y="3238500"/>
            <a:ext cx="1" cy="520701"/>
          </a:xfrm>
          <a:custGeom>
            <a:avLst/>
            <a:gdLst/>
            <a:ahLst/>
            <a:cxnLst/>
            <a:rect l="0" t="0" r="0" b="0"/>
            <a:pathLst>
              <a:path w="1" h="520701">
                <a:moveTo>
                  <a:pt x="0" y="0"/>
                </a:moveTo>
                <a:lnTo>
                  <a:pt x="0" y="5207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000FFD-A26F-BDB9-3A48-90F2E2648D8C}"/>
              </a:ext>
            </a:extLst>
          </p:cNvPr>
          <p:cNvSpPr txBox="1"/>
          <p:nvPr/>
        </p:nvSpPr>
        <p:spPr>
          <a:xfrm>
            <a:off x="4965700" y="2920999"/>
            <a:ext cx="2794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+</a:t>
            </a:r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DD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10 V</a:t>
            </a:r>
          </a:p>
        </p:txBody>
      </p:sp>
      <p:sp>
        <p:nvSpPr>
          <p:cNvPr id="12" name="ckt">
            <a:extLst>
              <a:ext uri="{FF2B5EF4-FFF2-40B4-BE49-F238E27FC236}">
                <a16:creationId xmlns:a16="http://schemas.microsoft.com/office/drawing/2014/main" id="{F88097CC-E245-2638-59CD-59925789F37D}"/>
              </a:ext>
            </a:extLst>
          </p:cNvPr>
          <p:cNvSpPr/>
          <p:nvPr/>
        </p:nvSpPr>
        <p:spPr>
          <a:xfrm>
            <a:off x="3581400" y="3759200"/>
            <a:ext cx="2413001" cy="1"/>
          </a:xfrm>
          <a:custGeom>
            <a:avLst/>
            <a:gdLst/>
            <a:ahLst/>
            <a:cxnLst/>
            <a:rect l="0" t="0" r="0" b="0"/>
            <a:pathLst>
              <a:path w="2413001" h="1">
                <a:moveTo>
                  <a:pt x="0" y="0"/>
                </a:moveTo>
                <a:lnTo>
                  <a:pt x="2413000" y="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kt">
            <a:extLst>
              <a:ext uri="{FF2B5EF4-FFF2-40B4-BE49-F238E27FC236}">
                <a16:creationId xmlns:a16="http://schemas.microsoft.com/office/drawing/2014/main" id="{E75FC323-5D6E-6CE2-B818-592492EBB7FE}"/>
              </a:ext>
            </a:extLst>
          </p:cNvPr>
          <p:cNvSpPr/>
          <p:nvPr/>
        </p:nvSpPr>
        <p:spPr>
          <a:xfrm>
            <a:off x="4730750" y="37020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kt">
            <a:extLst>
              <a:ext uri="{FF2B5EF4-FFF2-40B4-BE49-F238E27FC236}">
                <a16:creationId xmlns:a16="http://schemas.microsoft.com/office/drawing/2014/main" id="{4134C0FD-A4D2-1B56-B55D-5992FA7BF2ED}"/>
              </a:ext>
            </a:extLst>
          </p:cNvPr>
          <p:cNvSpPr/>
          <p:nvPr/>
        </p:nvSpPr>
        <p:spPr>
          <a:xfrm>
            <a:off x="3581400" y="8966200"/>
            <a:ext cx="2413001" cy="1"/>
          </a:xfrm>
          <a:custGeom>
            <a:avLst/>
            <a:gdLst/>
            <a:ahLst/>
            <a:cxnLst/>
            <a:rect l="0" t="0" r="0" b="0"/>
            <a:pathLst>
              <a:path w="2413001" h="1">
                <a:moveTo>
                  <a:pt x="0" y="0"/>
                </a:moveTo>
                <a:lnTo>
                  <a:pt x="2413000" y="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kt">
            <a:extLst>
              <a:ext uri="{FF2B5EF4-FFF2-40B4-BE49-F238E27FC236}">
                <a16:creationId xmlns:a16="http://schemas.microsoft.com/office/drawing/2014/main" id="{0E400C17-BB80-A8DC-98EA-F0FB064E726B}"/>
              </a:ext>
            </a:extLst>
          </p:cNvPr>
          <p:cNvSpPr/>
          <p:nvPr/>
        </p:nvSpPr>
        <p:spPr>
          <a:xfrm>
            <a:off x="4730750" y="89090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ckt">
            <a:extLst>
              <a:ext uri="{FF2B5EF4-FFF2-40B4-BE49-F238E27FC236}">
                <a16:creationId xmlns:a16="http://schemas.microsoft.com/office/drawing/2014/main" id="{B958FB41-6E66-EEC6-8E99-CF614F33BA2E}"/>
              </a:ext>
            </a:extLst>
          </p:cNvPr>
          <p:cNvCxnSpPr/>
          <p:nvPr/>
        </p:nvCxnSpPr>
        <p:spPr>
          <a:xfrm>
            <a:off x="4787900" y="8966200"/>
            <a:ext cx="0" cy="17780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kt">
            <a:extLst>
              <a:ext uri="{FF2B5EF4-FFF2-40B4-BE49-F238E27FC236}">
                <a16:creationId xmlns:a16="http://schemas.microsoft.com/office/drawing/2014/main" id="{0A39FE6A-0C01-21E4-51B6-74FBAF5180C8}"/>
              </a:ext>
            </a:extLst>
          </p:cNvPr>
          <p:cNvCxnSpPr/>
          <p:nvPr/>
        </p:nvCxnSpPr>
        <p:spPr>
          <a:xfrm>
            <a:off x="4584700" y="9144000"/>
            <a:ext cx="4064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kt">
            <a:extLst>
              <a:ext uri="{FF2B5EF4-FFF2-40B4-BE49-F238E27FC236}">
                <a16:creationId xmlns:a16="http://schemas.microsoft.com/office/drawing/2014/main" id="{CA7C5C82-590D-EBC0-21F4-EFF1F9720AD3}"/>
              </a:ext>
            </a:extLst>
          </p:cNvPr>
          <p:cNvCxnSpPr/>
          <p:nvPr/>
        </p:nvCxnSpPr>
        <p:spPr>
          <a:xfrm>
            <a:off x="4660900" y="9220200"/>
            <a:ext cx="2540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kt">
            <a:extLst>
              <a:ext uri="{FF2B5EF4-FFF2-40B4-BE49-F238E27FC236}">
                <a16:creationId xmlns:a16="http://schemas.microsoft.com/office/drawing/2014/main" id="{1E30395D-86FB-16CD-947B-48FB81067E5F}"/>
              </a:ext>
            </a:extLst>
          </p:cNvPr>
          <p:cNvCxnSpPr/>
          <p:nvPr/>
        </p:nvCxnSpPr>
        <p:spPr>
          <a:xfrm>
            <a:off x="4737100" y="9296400"/>
            <a:ext cx="1016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kt">
            <a:extLst>
              <a:ext uri="{FF2B5EF4-FFF2-40B4-BE49-F238E27FC236}">
                <a16:creationId xmlns:a16="http://schemas.microsoft.com/office/drawing/2014/main" id="{E84EFB57-75D0-3AFC-991B-896D610E99BA}"/>
              </a:ext>
            </a:extLst>
          </p:cNvPr>
          <p:cNvSpPr/>
          <p:nvPr/>
        </p:nvSpPr>
        <p:spPr>
          <a:xfrm>
            <a:off x="3441700" y="3759200"/>
            <a:ext cx="279401" cy="2603501"/>
          </a:xfrm>
          <a:custGeom>
            <a:avLst/>
            <a:gdLst/>
            <a:ahLst/>
            <a:cxnLst/>
            <a:rect l="0" t="0" r="0" b="0"/>
            <a:pathLst>
              <a:path w="279401" h="2603501">
                <a:moveTo>
                  <a:pt x="139700" y="0"/>
                </a:moveTo>
                <a:lnTo>
                  <a:pt x="139700" y="895350"/>
                </a:lnTo>
                <a:lnTo>
                  <a:pt x="279400" y="963083"/>
                </a:lnTo>
                <a:lnTo>
                  <a:pt x="0" y="1098550"/>
                </a:lnTo>
                <a:lnTo>
                  <a:pt x="279400" y="1234017"/>
                </a:lnTo>
                <a:lnTo>
                  <a:pt x="0" y="1369483"/>
                </a:lnTo>
                <a:lnTo>
                  <a:pt x="279400" y="1504950"/>
                </a:lnTo>
                <a:lnTo>
                  <a:pt x="0" y="1640417"/>
                </a:lnTo>
                <a:lnTo>
                  <a:pt x="139700" y="1708150"/>
                </a:lnTo>
                <a:lnTo>
                  <a:pt x="139700" y="26035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ckt">
            <a:extLst>
              <a:ext uri="{FF2B5EF4-FFF2-40B4-BE49-F238E27FC236}">
                <a16:creationId xmlns:a16="http://schemas.microsoft.com/office/drawing/2014/main" id="{6424F050-8ACD-4778-709D-725FCCD4ADF4}"/>
              </a:ext>
            </a:extLst>
          </p:cNvPr>
          <p:cNvSpPr/>
          <p:nvPr/>
        </p:nvSpPr>
        <p:spPr>
          <a:xfrm>
            <a:off x="3441700" y="6362700"/>
            <a:ext cx="279401" cy="2603501"/>
          </a:xfrm>
          <a:custGeom>
            <a:avLst/>
            <a:gdLst/>
            <a:ahLst/>
            <a:cxnLst/>
            <a:rect l="0" t="0" r="0" b="0"/>
            <a:pathLst>
              <a:path w="279401" h="2603501">
                <a:moveTo>
                  <a:pt x="139700" y="0"/>
                </a:moveTo>
                <a:lnTo>
                  <a:pt x="139700" y="895350"/>
                </a:lnTo>
                <a:lnTo>
                  <a:pt x="279400" y="963083"/>
                </a:lnTo>
                <a:lnTo>
                  <a:pt x="0" y="1098550"/>
                </a:lnTo>
                <a:lnTo>
                  <a:pt x="279400" y="1234017"/>
                </a:lnTo>
                <a:lnTo>
                  <a:pt x="0" y="1369483"/>
                </a:lnTo>
                <a:lnTo>
                  <a:pt x="279400" y="1504950"/>
                </a:lnTo>
                <a:lnTo>
                  <a:pt x="0" y="1640417"/>
                </a:lnTo>
                <a:lnTo>
                  <a:pt x="139700" y="1708150"/>
                </a:lnTo>
                <a:lnTo>
                  <a:pt x="139700" y="26035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kt">
            <a:extLst>
              <a:ext uri="{FF2B5EF4-FFF2-40B4-BE49-F238E27FC236}">
                <a16:creationId xmlns:a16="http://schemas.microsoft.com/office/drawing/2014/main" id="{249F1C9C-4CB1-133C-2C4B-79890F17F3B3}"/>
              </a:ext>
            </a:extLst>
          </p:cNvPr>
          <p:cNvSpPr/>
          <p:nvPr/>
        </p:nvSpPr>
        <p:spPr>
          <a:xfrm>
            <a:off x="3524250" y="6305550"/>
            <a:ext cx="114300" cy="114300"/>
          </a:xfrm>
          <a:prstGeom prst="ellipse">
            <a:avLst/>
          </a:prstGeom>
          <a:solidFill>
            <a:srgbClr val="15241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978E8B-B96B-21B3-2F2C-F770598E39BF}"/>
              </a:ext>
            </a:extLst>
          </p:cNvPr>
          <p:cNvSpPr txBox="1"/>
          <p:nvPr/>
        </p:nvSpPr>
        <p:spPr>
          <a:xfrm>
            <a:off x="1422400" y="4857749"/>
            <a:ext cx="1905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1900" baseline="-25000">
                <a:solidFill>
                  <a:srgbClr val="15241D"/>
                </a:solidFill>
                <a:latin typeface="DM Sans" pitchFamily="2" charset="0"/>
              </a:rPr>
              <a:t>G1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10 M</a:t>
            </a:r>
            <a:r>
              <a:rPr lang="el-GR" sz="1900">
                <a:solidFill>
                  <a:srgbClr val="15241D"/>
                </a:solidFill>
              </a:rPr>
              <a:t>Ω</a:t>
            </a:r>
            <a:endParaRPr lang="en-US" sz="1900">
              <a:solidFill>
                <a:srgbClr val="15241D"/>
              </a:solidFill>
              <a:latin typeface="DM Sans" pitchFamily="2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26C4CC-25ED-0EEE-D329-0939F1E4CB27}"/>
              </a:ext>
            </a:extLst>
          </p:cNvPr>
          <p:cNvSpPr txBox="1"/>
          <p:nvPr/>
        </p:nvSpPr>
        <p:spPr>
          <a:xfrm>
            <a:off x="1422400" y="7461249"/>
            <a:ext cx="1905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1900" baseline="-25000">
                <a:solidFill>
                  <a:srgbClr val="15241D"/>
                </a:solidFill>
                <a:latin typeface="DM Sans" pitchFamily="2" charset="0"/>
              </a:rPr>
              <a:t>G2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10 M</a:t>
            </a:r>
            <a:r>
              <a:rPr lang="el-GR" sz="1900">
                <a:solidFill>
                  <a:srgbClr val="15241D"/>
                </a:solidFill>
              </a:rPr>
              <a:t>Ω</a:t>
            </a:r>
            <a:endParaRPr lang="en-US" sz="1900">
              <a:solidFill>
                <a:srgbClr val="15241D"/>
              </a:solidFill>
              <a:latin typeface="DM Sans" pitchFamily="2" charset="0"/>
            </a:endParaRPr>
          </a:p>
        </p:txBody>
      </p:sp>
      <p:cxnSp>
        <p:nvCxnSpPr>
          <p:cNvPr id="25" name="ckt">
            <a:extLst>
              <a:ext uri="{FF2B5EF4-FFF2-40B4-BE49-F238E27FC236}">
                <a16:creationId xmlns:a16="http://schemas.microsoft.com/office/drawing/2014/main" id="{581F5FAC-7EF2-ABFE-9A85-F4AA13BBFA39}"/>
              </a:ext>
            </a:extLst>
          </p:cNvPr>
          <p:cNvCxnSpPr/>
          <p:nvPr/>
        </p:nvCxnSpPr>
        <p:spPr>
          <a:xfrm>
            <a:off x="5435600" y="5978652"/>
            <a:ext cx="0" cy="768096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kt">
            <a:extLst>
              <a:ext uri="{FF2B5EF4-FFF2-40B4-BE49-F238E27FC236}">
                <a16:creationId xmlns:a16="http://schemas.microsoft.com/office/drawing/2014/main" id="{2F59864B-B721-09F0-BA4A-D6BE41AC1CC9}"/>
              </a:ext>
            </a:extLst>
          </p:cNvPr>
          <p:cNvCxnSpPr/>
          <p:nvPr/>
        </p:nvCxnSpPr>
        <p:spPr>
          <a:xfrm>
            <a:off x="5562600" y="5829300"/>
            <a:ext cx="0" cy="1066800"/>
          </a:xfrm>
          <a:prstGeom prst="line">
            <a:avLst/>
          </a:prstGeom>
          <a:ln w="3175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kt">
            <a:extLst>
              <a:ext uri="{FF2B5EF4-FFF2-40B4-BE49-F238E27FC236}">
                <a16:creationId xmlns:a16="http://schemas.microsoft.com/office/drawing/2014/main" id="{A40974F1-897F-0F29-7412-0979173E9EA7}"/>
              </a:ext>
            </a:extLst>
          </p:cNvPr>
          <p:cNvCxnSpPr/>
          <p:nvPr/>
        </p:nvCxnSpPr>
        <p:spPr>
          <a:xfrm>
            <a:off x="5562600" y="5930900"/>
            <a:ext cx="43180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kt">
            <a:extLst>
              <a:ext uri="{FF2B5EF4-FFF2-40B4-BE49-F238E27FC236}">
                <a16:creationId xmlns:a16="http://schemas.microsoft.com/office/drawing/2014/main" id="{1EF23359-C85C-39B1-799A-1B8186B5194F}"/>
              </a:ext>
            </a:extLst>
          </p:cNvPr>
          <p:cNvCxnSpPr/>
          <p:nvPr/>
        </p:nvCxnSpPr>
        <p:spPr>
          <a:xfrm>
            <a:off x="5562600" y="6794500"/>
            <a:ext cx="310896" cy="0"/>
          </a:xfrm>
          <a:prstGeom prst="line">
            <a:avLst/>
          </a:prstGeom>
          <a:ln w="25400">
            <a:solidFill>
              <a:srgbClr val="15241D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kt">
            <a:extLst>
              <a:ext uri="{FF2B5EF4-FFF2-40B4-BE49-F238E27FC236}">
                <a16:creationId xmlns:a16="http://schemas.microsoft.com/office/drawing/2014/main" id="{DDF4BBEC-9C23-ED3A-D624-7021EDA17DD0}"/>
              </a:ext>
            </a:extLst>
          </p:cNvPr>
          <p:cNvCxnSpPr/>
          <p:nvPr/>
        </p:nvCxnSpPr>
        <p:spPr>
          <a:xfrm>
            <a:off x="5864860" y="6794500"/>
            <a:ext cx="129540" cy="0"/>
          </a:xfrm>
          <a:prstGeom prst="line">
            <a:avLst/>
          </a:pr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kt">
            <a:extLst>
              <a:ext uri="{FF2B5EF4-FFF2-40B4-BE49-F238E27FC236}">
                <a16:creationId xmlns:a16="http://schemas.microsoft.com/office/drawing/2014/main" id="{D3D5C796-9B76-090D-419B-80758519EC41}"/>
              </a:ext>
            </a:extLst>
          </p:cNvPr>
          <p:cNvSpPr/>
          <p:nvPr/>
        </p:nvSpPr>
        <p:spPr>
          <a:xfrm>
            <a:off x="3581400" y="6362700"/>
            <a:ext cx="1854201" cy="1"/>
          </a:xfrm>
          <a:custGeom>
            <a:avLst/>
            <a:gdLst/>
            <a:ahLst/>
            <a:cxnLst/>
            <a:rect l="0" t="0" r="0" b="0"/>
            <a:pathLst>
              <a:path w="1854201" h="1">
                <a:moveTo>
                  <a:pt x="0" y="0"/>
                </a:moveTo>
                <a:lnTo>
                  <a:pt x="1854200" y="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kt">
            <a:extLst>
              <a:ext uri="{FF2B5EF4-FFF2-40B4-BE49-F238E27FC236}">
                <a16:creationId xmlns:a16="http://schemas.microsoft.com/office/drawing/2014/main" id="{77DDF102-4929-546B-BEB2-2A02541425B6}"/>
              </a:ext>
            </a:extLst>
          </p:cNvPr>
          <p:cNvSpPr/>
          <p:nvPr/>
        </p:nvSpPr>
        <p:spPr>
          <a:xfrm>
            <a:off x="5854700" y="3759200"/>
            <a:ext cx="279401" cy="1739901"/>
          </a:xfrm>
          <a:custGeom>
            <a:avLst/>
            <a:gdLst/>
            <a:ahLst/>
            <a:cxnLst/>
            <a:rect l="0" t="0" r="0" b="0"/>
            <a:pathLst>
              <a:path w="279401" h="1739901">
                <a:moveTo>
                  <a:pt x="139700" y="0"/>
                </a:moveTo>
                <a:lnTo>
                  <a:pt x="139700" y="463550"/>
                </a:lnTo>
                <a:lnTo>
                  <a:pt x="279400" y="531283"/>
                </a:lnTo>
                <a:lnTo>
                  <a:pt x="0" y="666750"/>
                </a:lnTo>
                <a:lnTo>
                  <a:pt x="279400" y="802217"/>
                </a:lnTo>
                <a:lnTo>
                  <a:pt x="0" y="937683"/>
                </a:lnTo>
                <a:lnTo>
                  <a:pt x="279400" y="1073150"/>
                </a:lnTo>
                <a:lnTo>
                  <a:pt x="0" y="1208617"/>
                </a:lnTo>
                <a:lnTo>
                  <a:pt x="139700" y="1276350"/>
                </a:lnTo>
                <a:lnTo>
                  <a:pt x="139700" y="17399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ckt">
            <a:extLst>
              <a:ext uri="{FF2B5EF4-FFF2-40B4-BE49-F238E27FC236}">
                <a16:creationId xmlns:a16="http://schemas.microsoft.com/office/drawing/2014/main" id="{EF1D6985-ECE5-4960-B53B-B7B14F641DD3}"/>
              </a:ext>
            </a:extLst>
          </p:cNvPr>
          <p:cNvSpPr/>
          <p:nvPr/>
        </p:nvSpPr>
        <p:spPr>
          <a:xfrm>
            <a:off x="5994400" y="5499100"/>
            <a:ext cx="1" cy="431801"/>
          </a:xfrm>
          <a:custGeom>
            <a:avLst/>
            <a:gdLst/>
            <a:ahLst/>
            <a:cxnLst/>
            <a:rect l="0" t="0" r="0" b="0"/>
            <a:pathLst>
              <a:path w="1" h="431801">
                <a:moveTo>
                  <a:pt x="0" y="0"/>
                </a:moveTo>
                <a:lnTo>
                  <a:pt x="0" y="4318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ckt">
            <a:extLst>
              <a:ext uri="{FF2B5EF4-FFF2-40B4-BE49-F238E27FC236}">
                <a16:creationId xmlns:a16="http://schemas.microsoft.com/office/drawing/2014/main" id="{0C53488C-2368-BE1F-4E3F-7B57FC3ABD56}"/>
              </a:ext>
            </a:extLst>
          </p:cNvPr>
          <p:cNvSpPr/>
          <p:nvPr/>
        </p:nvSpPr>
        <p:spPr>
          <a:xfrm>
            <a:off x="5854700" y="7226300"/>
            <a:ext cx="279401" cy="1739901"/>
          </a:xfrm>
          <a:custGeom>
            <a:avLst/>
            <a:gdLst/>
            <a:ahLst/>
            <a:cxnLst/>
            <a:rect l="0" t="0" r="0" b="0"/>
            <a:pathLst>
              <a:path w="279401" h="1739901">
                <a:moveTo>
                  <a:pt x="139700" y="0"/>
                </a:moveTo>
                <a:lnTo>
                  <a:pt x="139700" y="463550"/>
                </a:lnTo>
                <a:lnTo>
                  <a:pt x="279400" y="531283"/>
                </a:lnTo>
                <a:lnTo>
                  <a:pt x="0" y="666750"/>
                </a:lnTo>
                <a:lnTo>
                  <a:pt x="279400" y="802217"/>
                </a:lnTo>
                <a:lnTo>
                  <a:pt x="0" y="937683"/>
                </a:lnTo>
                <a:lnTo>
                  <a:pt x="279400" y="1073150"/>
                </a:lnTo>
                <a:lnTo>
                  <a:pt x="0" y="1208617"/>
                </a:lnTo>
                <a:lnTo>
                  <a:pt x="139700" y="1276350"/>
                </a:lnTo>
                <a:lnTo>
                  <a:pt x="139700" y="17399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ckt">
            <a:extLst>
              <a:ext uri="{FF2B5EF4-FFF2-40B4-BE49-F238E27FC236}">
                <a16:creationId xmlns:a16="http://schemas.microsoft.com/office/drawing/2014/main" id="{1D53EA76-70B9-C07B-E1B4-7988136285AC}"/>
              </a:ext>
            </a:extLst>
          </p:cNvPr>
          <p:cNvSpPr/>
          <p:nvPr/>
        </p:nvSpPr>
        <p:spPr>
          <a:xfrm>
            <a:off x="5994400" y="6794500"/>
            <a:ext cx="1" cy="431801"/>
          </a:xfrm>
          <a:custGeom>
            <a:avLst/>
            <a:gdLst/>
            <a:ahLst/>
            <a:cxnLst/>
            <a:rect l="0" t="0" r="0" b="0"/>
            <a:pathLst>
              <a:path w="1" h="431801">
                <a:moveTo>
                  <a:pt x="0" y="0"/>
                </a:moveTo>
                <a:lnTo>
                  <a:pt x="0" y="431800"/>
                </a:lnTo>
              </a:path>
            </a:pathLst>
          </a:custGeom>
          <a:ln w="25400">
            <a:solidFill>
              <a:srgbClr val="15241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0490758-B467-6B16-1202-71617293D2FE}"/>
              </a:ext>
            </a:extLst>
          </p:cNvPr>
          <p:cNvSpPr txBox="1"/>
          <p:nvPr/>
        </p:nvSpPr>
        <p:spPr>
          <a:xfrm>
            <a:off x="6223000" y="4425949"/>
            <a:ext cx="2159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6 k</a:t>
            </a:r>
            <a:r>
              <a:rPr lang="el-GR" sz="1900">
                <a:solidFill>
                  <a:srgbClr val="15241D"/>
                </a:solidFill>
              </a:rPr>
              <a:t>Ω</a:t>
            </a:r>
            <a:endParaRPr lang="en-US" sz="1900">
              <a:solidFill>
                <a:srgbClr val="15241D"/>
              </a:solidFill>
              <a:latin typeface="DM Sans" pitchFamily="2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BABEE0-FE90-08A1-0DFF-2DE727B29E3B}"/>
              </a:ext>
            </a:extLst>
          </p:cNvPr>
          <p:cNvSpPr txBox="1"/>
          <p:nvPr/>
        </p:nvSpPr>
        <p:spPr>
          <a:xfrm>
            <a:off x="6223000" y="7893049"/>
            <a:ext cx="2159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S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6 k</a:t>
            </a:r>
            <a:r>
              <a:rPr lang="el-GR" sz="1900">
                <a:solidFill>
                  <a:srgbClr val="15241D"/>
                </a:solidFill>
              </a:rPr>
              <a:t>Ω</a:t>
            </a:r>
            <a:endParaRPr lang="en-US" sz="1900">
              <a:solidFill>
                <a:srgbClr val="15241D"/>
              </a:solidFill>
              <a:latin typeface="DM Sans" pitchFamily="2" charset="0"/>
            </a:endParaRPr>
          </a:p>
        </p:txBody>
      </p:sp>
      <p:sp>
        <p:nvSpPr>
          <p:cNvPr id="37" name="node @2">
            <a:extLst>
              <a:ext uri="{FF2B5EF4-FFF2-40B4-BE49-F238E27FC236}">
                <a16:creationId xmlns:a16="http://schemas.microsoft.com/office/drawing/2014/main" id="{D80E1799-0767-4ED7-4965-762C56CB3956}"/>
              </a:ext>
            </a:extLst>
          </p:cNvPr>
          <p:cNvSpPr txBox="1"/>
          <p:nvPr/>
        </p:nvSpPr>
        <p:spPr>
          <a:xfrm>
            <a:off x="3784600" y="5930899"/>
            <a:ext cx="2032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900" b="1" i="1">
                <a:solidFill>
                  <a:srgbClr val="145A43"/>
                </a:solidFill>
                <a:latin typeface="DM Sans" pitchFamily="2" charset="0"/>
              </a:rPr>
              <a:t>V</a:t>
            </a:r>
            <a:r>
              <a:rPr lang="en-US" sz="1900" b="1" i="1" baseline="-25000">
                <a:solidFill>
                  <a:srgbClr val="145A43"/>
                </a:solidFill>
                <a:latin typeface="DM Sans" pitchFamily="2" charset="0"/>
              </a:rPr>
              <a:t>G</a:t>
            </a:r>
            <a:r>
              <a:rPr lang="en-US" sz="1900" b="1">
                <a:solidFill>
                  <a:srgbClr val="145A43"/>
                </a:solidFill>
                <a:latin typeface="DM Sans" pitchFamily="2" charset="0"/>
              </a:rPr>
              <a:t> = 5 V</a:t>
            </a:r>
          </a:p>
        </p:txBody>
      </p:sp>
      <p:sp>
        <p:nvSpPr>
          <p:cNvPr id="38" name="node @6">
            <a:extLst>
              <a:ext uri="{FF2B5EF4-FFF2-40B4-BE49-F238E27FC236}">
                <a16:creationId xmlns:a16="http://schemas.microsoft.com/office/drawing/2014/main" id="{FD412FA8-06FA-2430-DEBA-D144F8C1A8D5}"/>
              </a:ext>
            </a:extLst>
          </p:cNvPr>
          <p:cNvSpPr txBox="1"/>
          <p:nvPr/>
        </p:nvSpPr>
        <p:spPr>
          <a:xfrm>
            <a:off x="6197600" y="6515099"/>
            <a:ext cx="2032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900" b="1" i="1">
                <a:solidFill>
                  <a:srgbClr val="145A43"/>
                </a:solidFill>
                <a:latin typeface="DM Sans" pitchFamily="2" charset="0"/>
              </a:rPr>
              <a:t>V</a:t>
            </a:r>
            <a:r>
              <a:rPr lang="en-US" sz="1900" b="1" i="1" baseline="-25000">
                <a:solidFill>
                  <a:srgbClr val="145A43"/>
                </a:solidFill>
                <a:latin typeface="DM Sans" pitchFamily="2" charset="0"/>
              </a:rPr>
              <a:t>S</a:t>
            </a:r>
            <a:r>
              <a:rPr lang="en-US" sz="1900" b="1">
                <a:solidFill>
                  <a:srgbClr val="145A43"/>
                </a:solidFill>
                <a:latin typeface="DM Sans" pitchFamily="2" charset="0"/>
              </a:rPr>
              <a:t> = 3 V</a:t>
            </a:r>
          </a:p>
        </p:txBody>
      </p:sp>
      <p:sp>
        <p:nvSpPr>
          <p:cNvPr id="39" name="node @6">
            <a:extLst>
              <a:ext uri="{FF2B5EF4-FFF2-40B4-BE49-F238E27FC236}">
                <a16:creationId xmlns:a16="http://schemas.microsoft.com/office/drawing/2014/main" id="{FA1E5A21-B4D8-415F-2716-B9D8D17E2C5C}"/>
              </a:ext>
            </a:extLst>
          </p:cNvPr>
          <p:cNvSpPr txBox="1"/>
          <p:nvPr/>
        </p:nvSpPr>
        <p:spPr>
          <a:xfrm>
            <a:off x="6197600" y="5372099"/>
            <a:ext cx="2032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900" b="1" i="1">
                <a:solidFill>
                  <a:srgbClr val="B8581A"/>
                </a:solidFill>
                <a:latin typeface="DM Sans" pitchFamily="2" charset="0"/>
              </a:rPr>
              <a:t>V</a:t>
            </a:r>
            <a:r>
              <a:rPr lang="en-US" sz="1900" b="1" i="1" baseline="-25000">
                <a:solidFill>
                  <a:srgbClr val="B8581A"/>
                </a:solidFill>
                <a:latin typeface="DM Sans" pitchFamily="2" charset="0"/>
              </a:rPr>
              <a:t>D</a:t>
            </a:r>
            <a:r>
              <a:rPr lang="en-US" sz="1900" b="1">
                <a:solidFill>
                  <a:srgbClr val="B8581A"/>
                </a:solidFill>
                <a:latin typeface="DM Sans" pitchFamily="2" charset="0"/>
              </a:rPr>
              <a:t> = 7 V</a:t>
            </a:r>
          </a:p>
        </p:txBody>
      </p:sp>
      <p:sp>
        <p:nvSpPr>
          <p:cNvPr id="40" name="badge @2">
            <a:extLst>
              <a:ext uri="{FF2B5EF4-FFF2-40B4-BE49-F238E27FC236}">
                <a16:creationId xmlns:a16="http://schemas.microsoft.com/office/drawing/2014/main" id="{E6A4972D-0942-C817-8484-06402C16B842}"/>
              </a:ext>
            </a:extLst>
          </p:cNvPr>
          <p:cNvSpPr/>
          <p:nvPr/>
        </p:nvSpPr>
        <p:spPr>
          <a:xfrm>
            <a:off x="8128000" y="2552700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1</a:t>
            </a:r>
          </a:p>
        </p:txBody>
      </p:sp>
      <p:sp>
        <p:nvSpPr>
          <p:cNvPr id="41" name="lab @2">
            <a:extLst>
              <a:ext uri="{FF2B5EF4-FFF2-40B4-BE49-F238E27FC236}">
                <a16:creationId xmlns:a16="http://schemas.microsoft.com/office/drawing/2014/main" id="{DF8DAB9F-CDD7-DFA3-ED31-5E27AE9A9C1B}"/>
              </a:ext>
            </a:extLst>
          </p:cNvPr>
          <p:cNvSpPr txBox="1"/>
          <p:nvPr/>
        </p:nvSpPr>
        <p:spPr>
          <a:xfrm>
            <a:off x="8737600" y="2540000"/>
            <a:ext cx="8636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Gate voltage: the divider is unloaded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eq @2">
                <a:extLst>
                  <a:ext uri="{FF2B5EF4-FFF2-40B4-BE49-F238E27FC236}">
                    <a16:creationId xmlns:a16="http://schemas.microsoft.com/office/drawing/2014/main" id="{4B3E4ECA-D9B2-6FD9-0F6C-B85A10C02720}"/>
                  </a:ext>
                </a:extLst>
              </p:cNvPr>
              <p:cNvSpPr txBox="1"/>
              <p:nvPr/>
            </p:nvSpPr>
            <p:spPr>
              <a:xfrm>
                <a:off x="8737600" y="2898576"/>
                <a:ext cx="8636000" cy="73025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𝐺</m:t>
                          </m:r>
                        </m:sub>
                      </m:sSub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𝐷𝐷</m:t>
                          </m:r>
                        </m:sub>
                      </m:sSub>
                      <m:f>
                        <m:fPr>
                          <m:ctrlPr>
                            <a:rPr lang="en-US" sz="2500" b="0" i="1">
                              <a:solidFill>
                                <a:srgbClr val="15241D"/>
                              </a:solidFill>
                              <a:latin typeface="Cambria Math" panose="02040503050406030204" pitchFamily="18" charset="0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𝐺</m:t>
                              </m:r>
                              <m: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𝐺</m:t>
                              </m:r>
                              <m: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𝐺</m:t>
                              </m:r>
                              <m:r>
                                <a:rPr lang="en-US" sz="25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=5 </m:t>
                      </m:r>
                      <m:r>
                        <m:rPr>
                          <m:sty m:val="p"/>
                        </m:rP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V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2" name="eq @2">
                <a:extLst>
                  <a:ext uri="{FF2B5EF4-FFF2-40B4-BE49-F238E27FC236}">
                    <a16:creationId xmlns:a16="http://schemas.microsoft.com/office/drawing/2014/main" id="{4B3E4ECA-D9B2-6FD9-0F6C-B85A10C02720}"/>
                  </a:ext>
                </a:extLst>
              </p:cNvPr>
              <p:cNvSpPr txBox="1"/>
              <p:nvPr/>
            </p:nvSpPr>
            <p:spPr>
              <a:xfrm>
                <a:off x="8737600" y="2898576"/>
                <a:ext cx="8636000" cy="73025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V_G = V_{DD}\,\frac{R_{G2}}{R_{G1}+R_{G2}} = 5\ \mathrm{V}</a:t>
                </a:r>
              </a:p>
            </p:txBody>
          </p:sp>
        </mc:Fallback>
      </mc:AlternateContent>
      <p:sp>
        <p:nvSpPr>
          <p:cNvPr id="43" name="badge @3">
            <a:extLst>
              <a:ext uri="{FF2B5EF4-FFF2-40B4-BE49-F238E27FC236}">
                <a16:creationId xmlns:a16="http://schemas.microsoft.com/office/drawing/2014/main" id="{E39EE8A2-0565-0EFF-A251-4C7B4782A5F8}"/>
              </a:ext>
            </a:extLst>
          </p:cNvPr>
          <p:cNvSpPr/>
          <p:nvPr/>
        </p:nvSpPr>
        <p:spPr>
          <a:xfrm>
            <a:off x="8128000" y="3844727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2</a:t>
            </a:r>
          </a:p>
        </p:txBody>
      </p:sp>
      <p:sp>
        <p:nvSpPr>
          <p:cNvPr id="44" name="lab @3">
            <a:extLst>
              <a:ext uri="{FF2B5EF4-FFF2-40B4-BE49-F238E27FC236}">
                <a16:creationId xmlns:a16="http://schemas.microsoft.com/office/drawing/2014/main" id="{E373D2C5-0E70-D041-F26D-B8C37AC09629}"/>
              </a:ext>
            </a:extLst>
          </p:cNvPr>
          <p:cNvSpPr txBox="1"/>
          <p:nvPr/>
        </p:nvSpPr>
        <p:spPr>
          <a:xfrm>
            <a:off x="8737600" y="3832027"/>
            <a:ext cx="8636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Assume saturation, with </a:t>
            </a:r>
            <a:r>
              <a:rPr lang="en-US" sz="20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0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 = </a:t>
            </a:r>
            <a:r>
              <a:rPr lang="en-US" sz="20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000" i="1" baseline="-25000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 − </a:t>
            </a:r>
            <a:r>
              <a:rPr lang="en-US" sz="2000" i="1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20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2000" baseline="-25000">
                <a:solidFill>
                  <a:srgbClr val="4D5B54"/>
                </a:solidFill>
                <a:latin typeface="DM Sans" pitchFamily="2" charset="0"/>
              </a:rPr>
              <a:t>S</a:t>
            </a:r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   (I in mA, R in k</a:t>
            </a:r>
            <a:r>
              <a:rPr lang="el-GR" sz="2000">
                <a:solidFill>
                  <a:srgbClr val="4D5B54"/>
                </a:solidFill>
              </a:rPr>
              <a:t>Ω)</a:t>
            </a:r>
            <a:endParaRPr lang="en-US" sz="2000">
              <a:solidFill>
                <a:srgbClr val="4D5B54"/>
              </a:solidFill>
              <a:latin typeface="DM Sans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eq @3">
                <a:extLst>
                  <a:ext uri="{FF2B5EF4-FFF2-40B4-BE49-F238E27FC236}">
                    <a16:creationId xmlns:a16="http://schemas.microsoft.com/office/drawing/2014/main" id="{E9153CCA-C8C6-47ED-D220-3244BAACAFFE}"/>
                  </a:ext>
                </a:extLst>
              </p:cNvPr>
              <p:cNvSpPr txBox="1"/>
              <p:nvPr/>
            </p:nvSpPr>
            <p:spPr>
              <a:xfrm>
                <a:off x="8737600" y="4190603"/>
                <a:ext cx="8636000" cy="73025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(1)(5−6</m:t>
                      </m:r>
                      <m:sSub>
                        <m:sSub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−1</m:t>
                      </m:r>
                      <m:sSup>
                        <m:sSup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5" name="eq @3">
                <a:extLst>
                  <a:ext uri="{FF2B5EF4-FFF2-40B4-BE49-F238E27FC236}">
                    <a16:creationId xmlns:a16="http://schemas.microsoft.com/office/drawing/2014/main" id="{E9153CCA-C8C6-47ED-D220-3244BAACAFFE}"/>
                  </a:ext>
                </a:extLst>
              </p:cNvPr>
              <p:cNvSpPr txBox="1"/>
              <p:nvPr/>
            </p:nvSpPr>
            <p:spPr>
              <a:xfrm>
                <a:off x="8737600" y="4190603"/>
                <a:ext cx="8636000" cy="73025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\frac{1}{2}(1)\,(5-6I_D-1)^2</a:t>
                </a:r>
              </a:p>
            </p:txBody>
          </p:sp>
        </mc:Fallback>
      </mc:AlternateContent>
      <p:sp>
        <p:nvSpPr>
          <p:cNvPr id="46" name="badge @4">
            <a:extLst>
              <a:ext uri="{FF2B5EF4-FFF2-40B4-BE49-F238E27FC236}">
                <a16:creationId xmlns:a16="http://schemas.microsoft.com/office/drawing/2014/main" id="{F6317D0E-AE7E-52D5-75BF-1A28F5528749}"/>
              </a:ext>
            </a:extLst>
          </p:cNvPr>
          <p:cNvSpPr/>
          <p:nvPr/>
        </p:nvSpPr>
        <p:spPr>
          <a:xfrm>
            <a:off x="8128000" y="5136754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3</a:t>
            </a:r>
          </a:p>
        </p:txBody>
      </p:sp>
      <p:sp>
        <p:nvSpPr>
          <p:cNvPr id="47" name="lab @4">
            <a:extLst>
              <a:ext uri="{FF2B5EF4-FFF2-40B4-BE49-F238E27FC236}">
                <a16:creationId xmlns:a16="http://schemas.microsoft.com/office/drawing/2014/main" id="{3E721D72-98A8-A15C-A963-10FDC0EED1B2}"/>
              </a:ext>
            </a:extLst>
          </p:cNvPr>
          <p:cNvSpPr txBox="1"/>
          <p:nvPr/>
        </p:nvSpPr>
        <p:spPr>
          <a:xfrm>
            <a:off x="8737600" y="5124054"/>
            <a:ext cx="8636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Solve the quadratic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eq @4">
                <a:extLst>
                  <a:ext uri="{FF2B5EF4-FFF2-40B4-BE49-F238E27FC236}">
                    <a16:creationId xmlns:a16="http://schemas.microsoft.com/office/drawing/2014/main" id="{43D53168-91FB-C1F6-7534-27C3AA1EC93C}"/>
                  </a:ext>
                </a:extLst>
              </p:cNvPr>
              <p:cNvSpPr txBox="1"/>
              <p:nvPr/>
            </p:nvSpPr>
            <p:spPr>
              <a:xfrm>
                <a:off x="8737600" y="5482630"/>
                <a:ext cx="8636000" cy="47625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18</m:t>
                      </m:r>
                      <m:sSubSup>
                        <m:sSubSup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  <m:sup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−25</m:t>
                      </m:r>
                      <m:sSub>
                        <m:sSub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+8=0 ⇒ </m:t>
                      </m:r>
                      <m:sSub>
                        <m:sSub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=0.89 </m:t>
                      </m:r>
                      <m:r>
                        <m:rPr>
                          <m:sty m:val="p"/>
                        </m:rP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or</m:t>
                      </m:r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 0.5 </m:t>
                      </m:r>
                      <m:r>
                        <m:rPr>
                          <m:sty m:val="p"/>
                        </m:rP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mA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8" name="eq @4">
                <a:extLst>
                  <a:ext uri="{FF2B5EF4-FFF2-40B4-BE49-F238E27FC236}">
                    <a16:creationId xmlns:a16="http://schemas.microsoft.com/office/drawing/2014/main" id="{43D53168-91FB-C1F6-7534-27C3AA1EC93C}"/>
                  </a:ext>
                </a:extLst>
              </p:cNvPr>
              <p:cNvSpPr txBox="1"/>
              <p:nvPr/>
            </p:nvSpPr>
            <p:spPr>
              <a:xfrm>
                <a:off x="8737600" y="5482630"/>
                <a:ext cx="8636000" cy="47625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18I_D^2-25I_D+8=0\ \Rightarrow\ I_D=0.89\ \text{or}\ 0.5\ \mathrm{mA}</a:t>
                </a:r>
              </a:p>
            </p:txBody>
          </p:sp>
        </mc:Fallback>
      </mc:AlternateContent>
      <p:sp>
        <p:nvSpPr>
          <p:cNvPr id="49" name="badge @5">
            <a:extLst>
              <a:ext uri="{FF2B5EF4-FFF2-40B4-BE49-F238E27FC236}">
                <a16:creationId xmlns:a16="http://schemas.microsoft.com/office/drawing/2014/main" id="{FA749B54-1BF2-8765-E4B4-264FC5BEFCF1}"/>
              </a:ext>
            </a:extLst>
          </p:cNvPr>
          <p:cNvSpPr/>
          <p:nvPr/>
        </p:nvSpPr>
        <p:spPr>
          <a:xfrm>
            <a:off x="8128000" y="6174781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4</a:t>
            </a:r>
          </a:p>
        </p:txBody>
      </p:sp>
      <p:sp>
        <p:nvSpPr>
          <p:cNvPr id="50" name="lab @5">
            <a:extLst>
              <a:ext uri="{FF2B5EF4-FFF2-40B4-BE49-F238E27FC236}">
                <a16:creationId xmlns:a16="http://schemas.microsoft.com/office/drawing/2014/main" id="{B474EFBD-AB6D-568A-0FFF-7D682A0E7311}"/>
              </a:ext>
            </a:extLst>
          </p:cNvPr>
          <p:cNvSpPr txBox="1"/>
          <p:nvPr/>
        </p:nvSpPr>
        <p:spPr>
          <a:xfrm>
            <a:off x="8737600" y="6162081"/>
            <a:ext cx="8636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 i="1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20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 = 0.89 mA would give </a:t>
            </a:r>
            <a:r>
              <a:rPr lang="en-US" sz="20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0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 = −0.33 V &lt; </a:t>
            </a:r>
            <a:r>
              <a:rPr lang="en-US" sz="20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0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 (no channel): reject.</a:t>
            </a:r>
          </a:p>
        </p:txBody>
      </p:sp>
      <p:sp>
        <p:nvSpPr>
          <p:cNvPr id="51" name="lab @5">
            <a:extLst>
              <a:ext uri="{FF2B5EF4-FFF2-40B4-BE49-F238E27FC236}">
                <a16:creationId xmlns:a16="http://schemas.microsoft.com/office/drawing/2014/main" id="{934054C1-6E51-12C2-AB13-A5B4ABB805F1}"/>
              </a:ext>
            </a:extLst>
          </p:cNvPr>
          <p:cNvSpPr txBox="1"/>
          <p:nvPr/>
        </p:nvSpPr>
        <p:spPr>
          <a:xfrm>
            <a:off x="8737600" y="6520658"/>
            <a:ext cx="8636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So </a:t>
            </a:r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 = 0.5 mA and </a:t>
            </a:r>
            <a:r>
              <a:rPr lang="en-US" sz="20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0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000">
                <a:solidFill>
                  <a:srgbClr val="15241D"/>
                </a:solidFill>
                <a:latin typeface="DM Sans" pitchFamily="2" charset="0"/>
              </a:rPr>
              <a:t> = 2 V.</a:t>
            </a:r>
          </a:p>
        </p:txBody>
      </p:sp>
      <p:sp>
        <p:nvSpPr>
          <p:cNvPr id="52" name="badge @6">
            <a:extLst>
              <a:ext uri="{FF2B5EF4-FFF2-40B4-BE49-F238E27FC236}">
                <a16:creationId xmlns:a16="http://schemas.microsoft.com/office/drawing/2014/main" id="{6E1A2524-0C9E-AA18-DE30-D5FD7C511659}"/>
              </a:ext>
            </a:extLst>
          </p:cNvPr>
          <p:cNvSpPr/>
          <p:nvPr/>
        </p:nvSpPr>
        <p:spPr>
          <a:xfrm>
            <a:off x="8128000" y="7044335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5</a:t>
            </a:r>
          </a:p>
        </p:txBody>
      </p:sp>
      <p:sp>
        <p:nvSpPr>
          <p:cNvPr id="53" name="lab @6">
            <a:extLst>
              <a:ext uri="{FF2B5EF4-FFF2-40B4-BE49-F238E27FC236}">
                <a16:creationId xmlns:a16="http://schemas.microsoft.com/office/drawing/2014/main" id="{AD5C64AE-224C-35FC-5B7D-E38BD09B56B4}"/>
              </a:ext>
            </a:extLst>
          </p:cNvPr>
          <p:cNvSpPr txBox="1"/>
          <p:nvPr/>
        </p:nvSpPr>
        <p:spPr>
          <a:xfrm>
            <a:off x="8737600" y="7031635"/>
            <a:ext cx="8636000" cy="30777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Drain voltage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eq @6">
                <a:extLst>
                  <a:ext uri="{FF2B5EF4-FFF2-40B4-BE49-F238E27FC236}">
                    <a16:creationId xmlns:a16="http://schemas.microsoft.com/office/drawing/2014/main" id="{D48D324A-9481-922D-AB09-4EDC1D659608}"/>
                  </a:ext>
                </a:extLst>
              </p:cNvPr>
              <p:cNvSpPr txBox="1"/>
              <p:nvPr/>
            </p:nvSpPr>
            <p:spPr>
              <a:xfrm>
                <a:off x="8737600" y="7390211"/>
                <a:ext cx="8636000" cy="47625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𝐷𝐷</m:t>
                          </m:r>
                        </m:sub>
                      </m:sSub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sSub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sSub>
                        <m:sSubPr>
                          <m:ctrlP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sz="25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=10−0.5(6)=7 </m:t>
                      </m:r>
                      <m:r>
                        <m:rPr>
                          <m:sty m:val="p"/>
                        </m:rPr>
                        <a:rPr lang="en-US" sz="25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V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54" name="eq @6">
                <a:extLst>
                  <a:ext uri="{FF2B5EF4-FFF2-40B4-BE49-F238E27FC236}">
                    <a16:creationId xmlns:a16="http://schemas.microsoft.com/office/drawing/2014/main" id="{D48D324A-9481-922D-AB09-4EDC1D659608}"/>
                  </a:ext>
                </a:extLst>
              </p:cNvPr>
              <p:cNvSpPr txBox="1"/>
              <p:nvPr/>
            </p:nvSpPr>
            <p:spPr>
              <a:xfrm>
                <a:off x="8737600" y="7390211"/>
                <a:ext cx="8636000" cy="47625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V_D = V_{DD} - I_DR_D = 10 - 0.5(6) = 7\ \mathrm{V}</a:t>
                </a:r>
              </a:p>
            </p:txBody>
          </p:sp>
        </mc:Fallback>
      </mc:AlternateContent>
      <p:sp>
        <p:nvSpPr>
          <p:cNvPr id="55" name="answer @6">
            <a:extLst>
              <a:ext uri="{FF2B5EF4-FFF2-40B4-BE49-F238E27FC236}">
                <a16:creationId xmlns:a16="http://schemas.microsoft.com/office/drawing/2014/main" id="{6CC3FDCE-A146-3676-B47B-A2E8B8C143CC}"/>
              </a:ext>
            </a:extLst>
          </p:cNvPr>
          <p:cNvSpPr/>
          <p:nvPr/>
        </p:nvSpPr>
        <p:spPr>
          <a:xfrm>
            <a:off x="8737600" y="8018862"/>
            <a:ext cx="2174240" cy="579120"/>
          </a:xfrm>
          <a:prstGeom prst="parallelogram">
            <a:avLst>
              <a:gd name="adj" fmla="val 30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answer @6">
            <a:extLst>
              <a:ext uri="{FF2B5EF4-FFF2-40B4-BE49-F238E27FC236}">
                <a16:creationId xmlns:a16="http://schemas.microsoft.com/office/drawing/2014/main" id="{CD95B9F8-8943-9EE8-6261-9E7AA941BDDC}"/>
              </a:ext>
            </a:extLst>
          </p:cNvPr>
          <p:cNvSpPr txBox="1"/>
          <p:nvPr/>
        </p:nvSpPr>
        <p:spPr>
          <a:xfrm>
            <a:off x="8737600" y="8018861"/>
            <a:ext cx="2174240" cy="57912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2400" b="1" i="1">
                <a:solidFill>
                  <a:srgbClr val="FFFFFF"/>
                </a:solidFill>
                <a:latin typeface="DM Sans" pitchFamily="2" charset="0"/>
              </a:rPr>
              <a:t>V</a:t>
            </a:r>
            <a:r>
              <a:rPr lang="en-US" sz="2400" b="1" i="1" baseline="-25000">
                <a:solidFill>
                  <a:srgbClr val="FFFFFF"/>
                </a:solidFill>
                <a:latin typeface="DM Sans" pitchFamily="2" charset="0"/>
              </a:rPr>
              <a:t>D</a:t>
            </a:r>
            <a:r>
              <a:rPr lang="en-US" sz="2400" b="1">
                <a:solidFill>
                  <a:srgbClr val="FFFFFF"/>
                </a:solidFill>
                <a:latin typeface="DM Sans" pitchFamily="2" charset="0"/>
              </a:rPr>
              <a:t> = 7 V</a:t>
            </a:r>
          </a:p>
        </p:txBody>
      </p:sp>
      <p:sp>
        <p:nvSpPr>
          <p:cNvPr id="57" name="check @6">
            <a:extLst>
              <a:ext uri="{FF2B5EF4-FFF2-40B4-BE49-F238E27FC236}">
                <a16:creationId xmlns:a16="http://schemas.microsoft.com/office/drawing/2014/main" id="{B2D9BAD5-7FE6-FF00-DB82-E460336B0EBA}"/>
              </a:ext>
            </a:extLst>
          </p:cNvPr>
          <p:cNvSpPr txBox="1"/>
          <p:nvPr/>
        </p:nvSpPr>
        <p:spPr>
          <a:xfrm>
            <a:off x="11216640" y="8044261"/>
            <a:ext cx="605536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900">
                <a:solidFill>
                  <a:srgbClr val="1E7A46"/>
                </a:solidFill>
                <a:latin typeface="DM Sans" pitchFamily="2" charset="0"/>
              </a:rPr>
              <a:t>✓ </a:t>
            </a:r>
            <a:r>
              <a:rPr lang="en-US" sz="1900" i="1">
                <a:solidFill>
                  <a:srgbClr val="1E7A46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E7A46"/>
                </a:solidFill>
                <a:latin typeface="DM Sans" pitchFamily="2" charset="0"/>
              </a:rPr>
              <a:t>DS</a:t>
            </a:r>
            <a:r>
              <a:rPr lang="en-US" sz="1900">
                <a:solidFill>
                  <a:srgbClr val="1E7A46"/>
                </a:solidFill>
                <a:latin typeface="DM Sans" pitchFamily="2" charset="0"/>
              </a:rPr>
              <a:t> = 4 V ≥ </a:t>
            </a:r>
            <a:r>
              <a:rPr lang="en-US" sz="1900" i="1">
                <a:solidFill>
                  <a:srgbClr val="1E7A46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E7A46"/>
                </a:solidFill>
                <a:latin typeface="DM Sans" pitchFamily="2" charset="0"/>
              </a:rPr>
              <a:t>GS</a:t>
            </a:r>
            <a:r>
              <a:rPr lang="en-US" sz="1900">
                <a:solidFill>
                  <a:srgbClr val="1E7A46"/>
                </a:solidFill>
                <a:latin typeface="DM Sans" pitchFamily="2" charset="0"/>
              </a:rPr>
              <a:t> − </a:t>
            </a:r>
            <a:r>
              <a:rPr lang="en-US" sz="1900" i="1">
                <a:solidFill>
                  <a:srgbClr val="1E7A46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E7A46"/>
                </a:solidFill>
                <a:latin typeface="DM Sans" pitchFamily="2" charset="0"/>
              </a:rPr>
              <a:t>t</a:t>
            </a:r>
            <a:r>
              <a:rPr lang="en-US" sz="1900">
                <a:solidFill>
                  <a:srgbClr val="1E7A46"/>
                </a:solidFill>
                <a:latin typeface="DM Sans" pitchFamily="2" charset="0"/>
              </a:rPr>
              <a:t> = 1 V: saturation holds.</a:t>
            </a:r>
          </a:p>
        </p:txBody>
      </p:sp>
      <p:sp>
        <p:nvSpPr>
          <p:cNvPr id="58" name="chrome page">
            <a:extLst>
              <a:ext uri="{FF2B5EF4-FFF2-40B4-BE49-F238E27FC236}">
                <a16:creationId xmlns:a16="http://schemas.microsoft.com/office/drawing/2014/main" id="{9ADE62E5-C6B2-B063-708F-9CDAC976B011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chrome page">
            <a:extLst>
              <a:ext uri="{FF2B5EF4-FFF2-40B4-BE49-F238E27FC236}">
                <a16:creationId xmlns:a16="http://schemas.microsoft.com/office/drawing/2014/main" id="{4DC196F5-C93B-EA8B-7D12-40EE68F7B844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3591572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current mirror s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B2030FD-64F0-5350-887F-B0791E8C8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The current mirror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4F51E3AF-766B-7556-DCCC-9468E890392F}"/>
              </a:ext>
            </a:extLst>
          </p:cNvPr>
          <p:cNvSpPr/>
          <p:nvPr/>
        </p:nvSpPr>
        <p:spPr>
          <a:xfrm>
            <a:off x="914400" y="279400"/>
            <a:ext cx="334111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3 · MOSFETS IN DC CIRCUITS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3FAA1048-CBD5-485F-0CD2-20919636E467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91D5EA50-694B-166D-D1B0-8858497A6EF6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55387030-F584-4448-71DB-C376F603007A}"/>
              </a:ext>
            </a:extLst>
          </p:cNvPr>
          <p:cNvSpPr/>
          <p:nvPr/>
        </p:nvSpPr>
        <p:spPr>
          <a:xfrm>
            <a:off x="10349408" y="2159000"/>
            <a:ext cx="6326785" cy="685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B2A4FE17-1A87-BFDE-8D01-58A9C0FA6654}"/>
              </a:ext>
            </a:extLst>
          </p:cNvPr>
          <p:cNvSpPr/>
          <p:nvPr/>
        </p:nvSpPr>
        <p:spPr>
          <a:xfrm>
            <a:off x="10349408" y="2146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50A57699-C692-442E-7386-B4BA0C52D347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3408" y="2413000"/>
            <a:ext cx="5818785" cy="6121400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C1FF60B7-C19D-4508-D989-8AAA90EF529B}"/>
              </a:ext>
            </a:extLst>
          </p:cNvPr>
          <p:cNvSpPr txBox="1"/>
          <p:nvPr/>
        </p:nvSpPr>
        <p:spPr>
          <a:xfrm>
            <a:off x="10603408" y="8661400"/>
            <a:ext cx="5818785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web source, via the original lecture slides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C01251B6-3097-B3F9-9A17-F268F7CF847B}"/>
              </a:ext>
            </a:extLst>
          </p:cNvPr>
          <p:cNvSpPr txBox="1"/>
          <p:nvPr/>
        </p:nvSpPr>
        <p:spPr>
          <a:xfrm>
            <a:off x="914400" y="2349500"/>
            <a:ext cx="8128000" cy="7346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Q</a:t>
            </a:r>
            <a:r>
              <a:rPr lang="en-US" sz="2300" baseline="-25000">
                <a:solidFill>
                  <a:srgbClr val="15241D"/>
                </a:solidFill>
                <a:latin typeface="DM Sans" pitchFamily="2" charset="0"/>
              </a:rPr>
              <a:t>1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is diode-connected (gate tied to drain), so it is in saturation.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SET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sets its current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REF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, and with it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C7947604-8C6C-037C-25F7-B58037D9FD94}"/>
              </a:ext>
            </a:extLst>
          </p:cNvPr>
          <p:cNvSpPr txBox="1"/>
          <p:nvPr/>
        </p:nvSpPr>
        <p:spPr>
          <a:xfrm>
            <a:off x="914400" y="3363525"/>
            <a:ext cx="8128000" cy="73462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Q</a:t>
            </a:r>
            <a:r>
              <a:rPr lang="en-US" sz="2300" baseline="-25000">
                <a:solidFill>
                  <a:srgbClr val="15241D"/>
                </a:solidFill>
                <a:latin typeface="DM Sans" pitchFamily="2" charset="0"/>
              </a:rPr>
              <a:t>2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has the same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 If it is also in saturation, its current scales with W/L: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eq @2">
                <a:extLst>
                  <a:ext uri="{FF2B5EF4-FFF2-40B4-BE49-F238E27FC236}">
                    <a16:creationId xmlns:a16="http://schemas.microsoft.com/office/drawing/2014/main" id="{05CA76FD-7BAA-33BE-5FA8-3E2DC7762E98}"/>
                  </a:ext>
                </a:extLst>
              </p:cNvPr>
              <p:cNvSpPr txBox="1"/>
              <p:nvPr/>
            </p:nvSpPr>
            <p:spPr>
              <a:xfrm>
                <a:off x="1244600" y="4377549"/>
                <a:ext cx="8128000" cy="8763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sz="3000" b="0">
                              <a:solidFill>
                                <a:srgbClr val="15241D"/>
                              </a:solidFill>
                              <a:latin typeface="Cambria Math" panose="02040503050406030204" pitchFamily="18" charset="0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𝑂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𝐼</m:t>
                              </m:r>
                            </m:e>
                            <m:sub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𝑅𝐸𝐹</m:t>
                              </m:r>
                            </m:sub>
                          </m:sSub>
                        </m:den>
                      </m:f>
                      <m:r>
                        <a:rPr lang="en-US" sz="30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3000" b="0" i="1">
                              <a:solidFill>
                                <a:srgbClr val="15241D"/>
                              </a:solidFill>
                              <a:latin typeface="Cambria Math" panose="02040503050406030204" pitchFamily="18" charset="0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3000" b="0" i="1">
                                  <a:solidFill>
                                    <a:srgbClr val="15241D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𝑊</m:t>
                                  </m:r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3000" b="0" i="1">
                                  <a:solidFill>
                                    <a:srgbClr val="15241D"/>
                                  </a:solidFill>
                                  <a:latin typeface="Cambria Math" panose="02040503050406030204" pitchFamily="18" charset="0"/>
                                  <a:cs typeface="Cambria Math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</m:ctrlPr>
                                </m:dPr>
                                <m:e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𝑊</m:t>
                                  </m:r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/</m:t>
                                  </m:r>
                                  <m:r>
                                    <a:rPr lang="en-US" sz="3000" b="0">
                                      <a:solidFill>
                                        <a:srgbClr val="15241D"/>
                                      </a:solidFill>
                                      <a:latin typeface="Cambria Math"/>
                                      <a:cs typeface="Cambria Math"/>
                                    </a:rPr>
                                    <m:t>𝐿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sz="30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3" name="eq @2">
                <a:extLst>
                  <a:ext uri="{FF2B5EF4-FFF2-40B4-BE49-F238E27FC236}">
                    <a16:creationId xmlns:a16="http://schemas.microsoft.com/office/drawing/2014/main" id="{05CA76FD-7BAA-33BE-5FA8-3E2DC7762E98}"/>
                  </a:ext>
                </a:extLst>
              </p:cNvPr>
              <p:cNvSpPr txBox="1"/>
              <p:nvPr/>
            </p:nvSpPr>
            <p:spPr>
              <a:xfrm>
                <a:off x="1244600" y="4377549"/>
                <a:ext cx="8128000" cy="8763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\frac{I_O}{I_{REF}} = \frac{(W/L)_2}{(W/L)_1}</a:t>
                </a:r>
              </a:p>
            </p:txBody>
          </p:sp>
        </mc:Fallback>
      </mc:AlternateContent>
      <p:sp>
        <p:nvSpPr>
          <p:cNvPr id="14" name="point @3">
            <a:extLst>
              <a:ext uri="{FF2B5EF4-FFF2-40B4-BE49-F238E27FC236}">
                <a16:creationId xmlns:a16="http://schemas.microsoft.com/office/drawing/2014/main" id="{DE91E990-DEDB-854E-18AE-668CA7CDE103}"/>
              </a:ext>
            </a:extLst>
          </p:cNvPr>
          <p:cNvSpPr txBox="1"/>
          <p:nvPr/>
        </p:nvSpPr>
        <p:spPr>
          <a:xfrm>
            <a:off x="914400" y="5647550"/>
            <a:ext cx="8128000" cy="362984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Identical transistors copy the current: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O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23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300" i="1" baseline="-25000">
                <a:solidFill>
                  <a:srgbClr val="15241D"/>
                </a:solidFill>
                <a:latin typeface="DM Sans" pitchFamily="2" charset="0"/>
              </a:rPr>
              <a:t>REF</a:t>
            </a:r>
            <a:r>
              <a:rPr lang="en-US" sz="23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F2A7E478-A90A-5FBF-B709-BD72F20ACA00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hrome page">
            <a:extLst>
              <a:ext uri="{FF2B5EF4-FFF2-40B4-BE49-F238E27FC236}">
                <a16:creationId xmlns:a16="http://schemas.microsoft.com/office/drawing/2014/main" id="{FB7DC5AA-01EC-348A-E1B5-6086E09D87FF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8771084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#nochrome s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AF64230-54C6-6829-0F1A-2462B8F7B1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4191000"/>
            <a:ext cx="10414000" cy="1397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6700">
                <a:solidFill>
                  <a:srgbClr val="15241D"/>
                </a:solidFill>
                <a:latin typeface="Bebas Neue" panose="020B0606020202050201" pitchFamily="34" charset="0"/>
              </a:rPr>
              <a:t>The MOSFET as an amplifier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78C19196-D92F-9A07-4F65-96CB5A2DC80C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4D11AB8F-5852-2CA0-969F-0CE8FBFE3115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1D087FB0-8735-746B-C010-69FE3FD3D328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33926338-4B0B-DAFA-26EB-A434F3B3AF8B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0B8ED42B-E9AC-4FC4-459F-5F3A5288BDCC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984C72AC-1EEE-EB0F-28D7-CC89D3FD81D2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5C3F8130-45CC-CAB5-F42F-C44C11B77F4A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CF2021FA-2CB0-A8C1-66E0-F4A5A9C06326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numeral">
            <a:extLst>
              <a:ext uri="{FF2B5EF4-FFF2-40B4-BE49-F238E27FC236}">
                <a16:creationId xmlns:a16="http://schemas.microsoft.com/office/drawing/2014/main" id="{90851368-9748-7C1C-03CF-F2560C9BB084}"/>
              </a:ext>
            </a:extLst>
          </p:cNvPr>
          <p:cNvSpPr txBox="1"/>
          <p:nvPr/>
        </p:nvSpPr>
        <p:spPr>
          <a:xfrm>
            <a:off x="965200" y="1777999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 sz="20000">
                <a:solidFill>
                  <a:srgbClr val="145A43"/>
                </a:solidFill>
                <a:latin typeface="Bebas Neue" panose="020B0606020202050201" pitchFamily="34" charset="0"/>
              </a:rPr>
              <a:t>04</a:t>
            </a:r>
          </a:p>
        </p:txBody>
      </p:sp>
      <p:sp>
        <p:nvSpPr>
          <p:cNvPr id="12" name="item">
            <a:extLst>
              <a:ext uri="{FF2B5EF4-FFF2-40B4-BE49-F238E27FC236}">
                <a16:creationId xmlns:a16="http://schemas.microsoft.com/office/drawing/2014/main" id="{F370D064-8853-F895-9A40-899926CF35FC}"/>
              </a:ext>
            </a:extLst>
          </p:cNvPr>
          <p:cNvSpPr txBox="1"/>
          <p:nvPr/>
        </p:nvSpPr>
        <p:spPr>
          <a:xfrm>
            <a:off x="1016000" y="58419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The load line</a:t>
            </a:r>
          </a:p>
        </p:txBody>
      </p:sp>
      <p:sp>
        <p:nvSpPr>
          <p:cNvPr id="13" name="item">
            <a:extLst>
              <a:ext uri="{FF2B5EF4-FFF2-40B4-BE49-F238E27FC236}">
                <a16:creationId xmlns:a16="http://schemas.microsoft.com/office/drawing/2014/main" id="{FE891FEF-BC14-A9D4-F86E-7A36A64C649C}"/>
              </a:ext>
            </a:extLst>
          </p:cNvPr>
          <p:cNvSpPr txBox="1"/>
          <p:nvPr/>
        </p:nvSpPr>
        <p:spPr>
          <a:xfrm>
            <a:off x="1016000" y="63753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Transconductance </a:t>
            </a:r>
            <a:r>
              <a:rPr lang="en-US" sz="2300" i="1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2300" i="1" baseline="-25000">
                <a:solidFill>
                  <a:srgbClr val="4D5B54"/>
                </a:solidFill>
                <a:latin typeface="DM Sans" pitchFamily="2" charset="0"/>
              </a:rPr>
              <a:t>m</a:t>
            </a:r>
          </a:p>
        </p:txBody>
      </p:sp>
      <p:sp>
        <p:nvSpPr>
          <p:cNvPr id="14" name="item">
            <a:extLst>
              <a:ext uri="{FF2B5EF4-FFF2-40B4-BE49-F238E27FC236}">
                <a16:creationId xmlns:a16="http://schemas.microsoft.com/office/drawing/2014/main" id="{0B0512BA-7223-AF7D-4C06-8950992C2F69}"/>
              </a:ext>
            </a:extLst>
          </p:cNvPr>
          <p:cNvSpPr txBox="1"/>
          <p:nvPr/>
        </p:nvSpPr>
        <p:spPr>
          <a:xfrm>
            <a:off x="1016000" y="69087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Small-signal models</a:t>
            </a:r>
          </a:p>
        </p:txBody>
      </p:sp>
      <p:sp>
        <p:nvSpPr>
          <p:cNvPr id="15" name="item">
            <a:extLst>
              <a:ext uri="{FF2B5EF4-FFF2-40B4-BE49-F238E27FC236}">
                <a16:creationId xmlns:a16="http://schemas.microsoft.com/office/drawing/2014/main" id="{4D2C8782-0CAB-18B9-1D3B-5515C931EACD}"/>
              </a:ext>
            </a:extLst>
          </p:cNvPr>
          <p:cNvSpPr txBox="1"/>
          <p:nvPr/>
        </p:nvSpPr>
        <p:spPr>
          <a:xfrm>
            <a:off x="1016000" y="74421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Example: gain and input resistance</a:t>
            </a:r>
          </a:p>
        </p:txBody>
      </p:sp>
      <p:sp>
        <p:nvSpPr>
          <p:cNvPr id="16" name="map">
            <a:extLst>
              <a:ext uri="{FF2B5EF4-FFF2-40B4-BE49-F238E27FC236}">
                <a16:creationId xmlns:a16="http://schemas.microsoft.com/office/drawing/2014/main" id="{A2742C49-1204-236D-A2DC-6D57FA2249D2}"/>
              </a:ext>
            </a:extLst>
          </p:cNvPr>
          <p:cNvSpPr/>
          <p:nvPr/>
        </p:nvSpPr>
        <p:spPr>
          <a:xfrm>
            <a:off x="12192000" y="24130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17" name="map">
            <a:extLst>
              <a:ext uri="{FF2B5EF4-FFF2-40B4-BE49-F238E27FC236}">
                <a16:creationId xmlns:a16="http://schemas.microsoft.com/office/drawing/2014/main" id="{ED578D45-7863-2984-095A-C099D85B06FD}"/>
              </a:ext>
            </a:extLst>
          </p:cNvPr>
          <p:cNvSpPr txBox="1"/>
          <p:nvPr/>
        </p:nvSpPr>
        <p:spPr>
          <a:xfrm>
            <a:off x="12827000" y="24129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18" name="map">
            <a:extLst>
              <a:ext uri="{FF2B5EF4-FFF2-40B4-BE49-F238E27FC236}">
                <a16:creationId xmlns:a16="http://schemas.microsoft.com/office/drawing/2014/main" id="{E3DC31DB-35A8-06BD-56F5-88C44B749F41}"/>
              </a:ext>
            </a:extLst>
          </p:cNvPr>
          <p:cNvSpPr/>
          <p:nvPr/>
        </p:nvSpPr>
        <p:spPr>
          <a:xfrm>
            <a:off x="12192000" y="32258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19" name="map">
            <a:extLst>
              <a:ext uri="{FF2B5EF4-FFF2-40B4-BE49-F238E27FC236}">
                <a16:creationId xmlns:a16="http://schemas.microsoft.com/office/drawing/2014/main" id="{B195408A-7047-0190-67BC-229B90943AED}"/>
              </a:ext>
            </a:extLst>
          </p:cNvPr>
          <p:cNvSpPr txBox="1"/>
          <p:nvPr/>
        </p:nvSpPr>
        <p:spPr>
          <a:xfrm>
            <a:off x="12827000" y="32257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20" name="map">
            <a:extLst>
              <a:ext uri="{FF2B5EF4-FFF2-40B4-BE49-F238E27FC236}">
                <a16:creationId xmlns:a16="http://schemas.microsoft.com/office/drawing/2014/main" id="{3DB06977-F4F1-2A53-267F-ACB802647E0C}"/>
              </a:ext>
            </a:extLst>
          </p:cNvPr>
          <p:cNvSpPr/>
          <p:nvPr/>
        </p:nvSpPr>
        <p:spPr>
          <a:xfrm>
            <a:off x="12192000" y="40386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21" name="map">
            <a:extLst>
              <a:ext uri="{FF2B5EF4-FFF2-40B4-BE49-F238E27FC236}">
                <a16:creationId xmlns:a16="http://schemas.microsoft.com/office/drawing/2014/main" id="{02395995-188C-24E0-8799-ABA9D6B23B92}"/>
              </a:ext>
            </a:extLst>
          </p:cNvPr>
          <p:cNvSpPr txBox="1"/>
          <p:nvPr/>
        </p:nvSpPr>
        <p:spPr>
          <a:xfrm>
            <a:off x="12827000" y="40385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22" name="map">
            <a:extLst>
              <a:ext uri="{FF2B5EF4-FFF2-40B4-BE49-F238E27FC236}">
                <a16:creationId xmlns:a16="http://schemas.microsoft.com/office/drawing/2014/main" id="{8BFF76E8-C9BB-B010-AD79-760827054396}"/>
              </a:ext>
            </a:extLst>
          </p:cNvPr>
          <p:cNvSpPr/>
          <p:nvPr/>
        </p:nvSpPr>
        <p:spPr>
          <a:xfrm>
            <a:off x="12192000" y="4851400"/>
            <a:ext cx="431800" cy="431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FFFFFF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23" name="map">
            <a:extLst>
              <a:ext uri="{FF2B5EF4-FFF2-40B4-BE49-F238E27FC236}">
                <a16:creationId xmlns:a16="http://schemas.microsoft.com/office/drawing/2014/main" id="{9892C32C-344B-44E7-240C-873510532109}"/>
              </a:ext>
            </a:extLst>
          </p:cNvPr>
          <p:cNvSpPr txBox="1"/>
          <p:nvPr/>
        </p:nvSpPr>
        <p:spPr>
          <a:xfrm>
            <a:off x="12827000" y="48513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24" name="map">
            <a:extLst>
              <a:ext uri="{FF2B5EF4-FFF2-40B4-BE49-F238E27FC236}">
                <a16:creationId xmlns:a16="http://schemas.microsoft.com/office/drawing/2014/main" id="{5B88D38A-B761-C54E-DABF-2FBF983587EF}"/>
              </a:ext>
            </a:extLst>
          </p:cNvPr>
          <p:cNvSpPr/>
          <p:nvPr/>
        </p:nvSpPr>
        <p:spPr>
          <a:xfrm>
            <a:off x="12192000" y="56642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25" name="map">
            <a:extLst>
              <a:ext uri="{FF2B5EF4-FFF2-40B4-BE49-F238E27FC236}">
                <a16:creationId xmlns:a16="http://schemas.microsoft.com/office/drawing/2014/main" id="{026E9398-5D83-6460-AB6E-3F6CD023F7AB}"/>
              </a:ext>
            </a:extLst>
          </p:cNvPr>
          <p:cNvSpPr txBox="1"/>
          <p:nvPr/>
        </p:nvSpPr>
        <p:spPr>
          <a:xfrm>
            <a:off x="12827000" y="56641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 switch</a:t>
            </a:r>
          </a:p>
        </p:txBody>
      </p:sp>
    </p:spTree>
    <p:extLst>
      <p:ext uri="{BB962C8B-B14F-4D97-AF65-F5344CB8AC3E}">
        <p14:creationId xmlns:p14="http://schemas.microsoft.com/office/powerpoint/2010/main" val="746182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mplifier action: the load lin s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87CAD4B-57E2-C351-249F-2A77D1E6C9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Amplifier action: the load line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34F65493-8A09-4498-BC7D-092E6802C418}"/>
              </a:ext>
            </a:extLst>
          </p:cNvPr>
          <p:cNvSpPr/>
          <p:nvPr/>
        </p:nvSpPr>
        <p:spPr>
          <a:xfrm>
            <a:off x="914400" y="279400"/>
            <a:ext cx="377698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4 · THE MOSFET AS AN AMPLIFIER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FE05EF92-4BB8-368D-B919-BE0CC004514C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C933BFD5-AD4D-98B2-86BC-BF3DE5DF3FA2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1C297CBF-938D-67A5-C6B6-93F410BFA8FE}"/>
              </a:ext>
            </a:extLst>
          </p:cNvPr>
          <p:cNvSpPr/>
          <p:nvPr/>
        </p:nvSpPr>
        <p:spPr>
          <a:xfrm>
            <a:off x="914400" y="2159000"/>
            <a:ext cx="3683000" cy="5223961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0EC97530-B2C1-13D0-EF75-143BDA004C1F}"/>
              </a:ext>
            </a:extLst>
          </p:cNvPr>
          <p:cNvSpPr/>
          <p:nvPr/>
        </p:nvSpPr>
        <p:spPr>
          <a:xfrm>
            <a:off x="914400" y="2146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640B4822-75A9-D770-F69D-6A8F0E8AC15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413000"/>
            <a:ext cx="3175000" cy="4487361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F5DEE758-8358-74E3-7F64-C52B6845ABBA}"/>
              </a:ext>
            </a:extLst>
          </p:cNvPr>
          <p:cNvSpPr txBox="1"/>
          <p:nvPr/>
        </p:nvSpPr>
        <p:spPr>
          <a:xfrm>
            <a:off x="1168400" y="7027361"/>
            <a:ext cx="3175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figure card">
            <a:extLst>
              <a:ext uri="{FF2B5EF4-FFF2-40B4-BE49-F238E27FC236}">
                <a16:creationId xmlns:a16="http://schemas.microsoft.com/office/drawing/2014/main" id="{B2E6D857-784C-5C25-1671-29F0D23C452C}"/>
              </a:ext>
            </a:extLst>
          </p:cNvPr>
          <p:cNvSpPr/>
          <p:nvPr/>
        </p:nvSpPr>
        <p:spPr>
          <a:xfrm>
            <a:off x="4826000" y="2159000"/>
            <a:ext cx="8128000" cy="5786392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igure card">
            <a:extLst>
              <a:ext uri="{FF2B5EF4-FFF2-40B4-BE49-F238E27FC236}">
                <a16:creationId xmlns:a16="http://schemas.microsoft.com/office/drawing/2014/main" id="{B9E9EC6C-4455-D6AA-F557-725DCF2360C3}"/>
              </a:ext>
            </a:extLst>
          </p:cNvPr>
          <p:cNvSpPr/>
          <p:nvPr/>
        </p:nvSpPr>
        <p:spPr>
          <a:xfrm>
            <a:off x="4826000" y="21463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figure">
            <a:extLst>
              <a:ext uri="{FF2B5EF4-FFF2-40B4-BE49-F238E27FC236}">
                <a16:creationId xmlns:a16="http://schemas.microsoft.com/office/drawing/2014/main" id="{64DE3B81-17A1-B5B2-D916-D1B57B385114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0" y="2413000"/>
            <a:ext cx="7620000" cy="5049792"/>
          </a:xfrm>
          <a:prstGeom prst="rect">
            <a:avLst/>
          </a:prstGeom>
        </p:spPr>
      </p:pic>
      <p:sp>
        <p:nvSpPr>
          <p:cNvPr id="15" name="credit">
            <a:extLst>
              <a:ext uri="{FF2B5EF4-FFF2-40B4-BE49-F238E27FC236}">
                <a16:creationId xmlns:a16="http://schemas.microsoft.com/office/drawing/2014/main" id="{C2CB081B-42BD-E5B8-9C48-2FC77DD38F25}"/>
              </a:ext>
            </a:extLst>
          </p:cNvPr>
          <p:cNvSpPr txBox="1"/>
          <p:nvPr/>
        </p:nvSpPr>
        <p:spPr>
          <a:xfrm>
            <a:off x="5080000" y="7589792"/>
            <a:ext cx="7620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web source, via the original lecture slides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q @1">
                <a:extLst>
                  <a:ext uri="{FF2B5EF4-FFF2-40B4-BE49-F238E27FC236}">
                    <a16:creationId xmlns:a16="http://schemas.microsoft.com/office/drawing/2014/main" id="{98E9B07F-AB98-3BDC-036B-A7ECBA2E607A}"/>
                  </a:ext>
                </a:extLst>
              </p:cNvPr>
              <p:cNvSpPr txBox="1"/>
              <p:nvPr/>
            </p:nvSpPr>
            <p:spPr>
              <a:xfrm>
                <a:off x="13335000" y="2285999"/>
                <a:ext cx="4038600" cy="4953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𝐷𝑆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𝐷𝐷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eq @1">
                <a:extLst>
                  <a:ext uri="{FF2B5EF4-FFF2-40B4-BE49-F238E27FC236}">
                    <a16:creationId xmlns:a16="http://schemas.microsoft.com/office/drawing/2014/main" id="{98E9B07F-AB98-3BDC-036B-A7ECBA2E607A}"/>
                  </a:ext>
                </a:extLst>
              </p:cNvPr>
              <p:cNvSpPr txBox="1"/>
              <p:nvPr/>
            </p:nvSpPr>
            <p:spPr>
              <a:xfrm>
                <a:off x="13335000" y="2285999"/>
                <a:ext cx="4038600" cy="4953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v_{DS} = V_{DD} - R_D\,i_D</a:t>
                </a:r>
              </a:p>
            </p:txBody>
          </p:sp>
        </mc:Fallback>
      </mc:AlternateContent>
      <p:sp>
        <p:nvSpPr>
          <p:cNvPr id="17" name="point @2">
            <a:extLst>
              <a:ext uri="{FF2B5EF4-FFF2-40B4-BE49-F238E27FC236}">
                <a16:creationId xmlns:a16="http://schemas.microsoft.com/office/drawing/2014/main" id="{644E0197-BC38-35C1-E94B-BC3171F323E3}"/>
              </a:ext>
            </a:extLst>
          </p:cNvPr>
          <p:cNvSpPr txBox="1"/>
          <p:nvPr/>
        </p:nvSpPr>
        <p:spPr>
          <a:xfrm>
            <a:off x="13335000" y="3175000"/>
            <a:ext cx="4038600" cy="67076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Bias the MOSFET in saturation, between A and B.</a:t>
            </a:r>
          </a:p>
        </p:txBody>
      </p:sp>
      <p:sp>
        <p:nvSpPr>
          <p:cNvPr id="18" name="point @3">
            <a:extLst>
              <a:ext uri="{FF2B5EF4-FFF2-40B4-BE49-F238E27FC236}">
                <a16:creationId xmlns:a16="http://schemas.microsoft.com/office/drawing/2014/main" id="{06924B93-3F53-0C36-6206-D06B1F6F883F}"/>
              </a:ext>
            </a:extLst>
          </p:cNvPr>
          <p:cNvSpPr txBox="1"/>
          <p:nvPr/>
        </p:nvSpPr>
        <p:spPr>
          <a:xfrm>
            <a:off x="13335000" y="4125161"/>
            <a:ext cx="4038600" cy="101008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A small change in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moves the operating point along the line: a </a:t>
            </a:r>
            <a:r>
              <a:rPr lang="en-US" sz="2100" b="1">
                <a:solidFill>
                  <a:srgbClr val="15241D"/>
                </a:solidFill>
                <a:latin typeface="DM Sans" pitchFamily="2" charset="0"/>
              </a:rPr>
              <a:t>large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change in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B8482213-66A8-E041-8885-84E2581AE923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hrome page">
            <a:extLst>
              <a:ext uri="{FF2B5EF4-FFF2-40B4-BE49-F238E27FC236}">
                <a16:creationId xmlns:a16="http://schemas.microsoft.com/office/drawing/2014/main" id="{D1F94173-2B2F-1707-E86B-9AB4AB968DE2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43834787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mall-signal operation: the tr s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0EF2501-156A-634E-E38E-D0070AF17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Small-signal operation: the transconductance </a:t>
            </a:r>
            <a:r>
              <a:rPr lang="en-US" sz="54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54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03C6C9F1-0FD4-A348-7F20-B074D09E721A}"/>
              </a:ext>
            </a:extLst>
          </p:cNvPr>
          <p:cNvSpPr/>
          <p:nvPr/>
        </p:nvSpPr>
        <p:spPr>
          <a:xfrm>
            <a:off x="914400" y="279400"/>
            <a:ext cx="377698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4 · THE MOSFET AS AN AMPLIFIER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4FC62183-BE8D-42B2-868E-C4055FC67D55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4C2204F4-7B1A-AAA1-1CF3-EE0539C09C4C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badge @1">
            <a:extLst>
              <a:ext uri="{FF2B5EF4-FFF2-40B4-BE49-F238E27FC236}">
                <a16:creationId xmlns:a16="http://schemas.microsoft.com/office/drawing/2014/main" id="{1591608E-BD53-ED3A-56AD-2A1A2550B317}"/>
              </a:ext>
            </a:extLst>
          </p:cNvPr>
          <p:cNvSpPr/>
          <p:nvPr/>
        </p:nvSpPr>
        <p:spPr>
          <a:xfrm>
            <a:off x="914400" y="2235200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1</a:t>
            </a:r>
          </a:p>
        </p:txBody>
      </p:sp>
      <p:sp>
        <p:nvSpPr>
          <p:cNvPr id="7" name="lab @1">
            <a:extLst>
              <a:ext uri="{FF2B5EF4-FFF2-40B4-BE49-F238E27FC236}">
                <a16:creationId xmlns:a16="http://schemas.microsoft.com/office/drawing/2014/main" id="{D0DDA3B2-248D-0716-FDE3-784509F58C7A}"/>
              </a:ext>
            </a:extLst>
          </p:cNvPr>
          <p:cNvSpPr txBox="1"/>
          <p:nvPr/>
        </p:nvSpPr>
        <p:spPr>
          <a:xfrm>
            <a:off x="1524000" y="2222500"/>
            <a:ext cx="158496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The gate voltage is the bias plus a small signal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eq @1">
                <a:extLst>
                  <a:ext uri="{FF2B5EF4-FFF2-40B4-BE49-F238E27FC236}">
                    <a16:creationId xmlns:a16="http://schemas.microsoft.com/office/drawing/2014/main" id="{810F4682-238B-39F1-184D-6725547DCD80}"/>
                  </a:ext>
                </a:extLst>
              </p:cNvPr>
              <p:cNvSpPr txBox="1"/>
              <p:nvPr/>
            </p:nvSpPr>
            <p:spPr>
              <a:xfrm>
                <a:off x="1524000" y="2596464"/>
                <a:ext cx="15849600" cy="4953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𝐺𝑆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𝐺𝑆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+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𝑔𝑠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8" name="eq @1">
                <a:extLst>
                  <a:ext uri="{FF2B5EF4-FFF2-40B4-BE49-F238E27FC236}">
                    <a16:creationId xmlns:a16="http://schemas.microsoft.com/office/drawing/2014/main" id="{810F4682-238B-39F1-184D-6725547DCD80}"/>
                  </a:ext>
                </a:extLst>
              </p:cNvPr>
              <p:cNvSpPr txBox="1"/>
              <p:nvPr/>
            </p:nvSpPr>
            <p:spPr>
              <a:xfrm>
                <a:off x="1524000" y="2596464"/>
                <a:ext cx="15849600" cy="4953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v_{GS} = V_{GS} + v_{gs}</a:t>
                </a:r>
              </a:p>
            </p:txBody>
          </p:sp>
        </mc:Fallback>
      </mc:AlternateContent>
      <p:sp>
        <p:nvSpPr>
          <p:cNvPr id="9" name="badge @2">
            <a:extLst>
              <a:ext uri="{FF2B5EF4-FFF2-40B4-BE49-F238E27FC236}">
                <a16:creationId xmlns:a16="http://schemas.microsoft.com/office/drawing/2014/main" id="{076ECCC6-D75F-2A85-80D8-DB06837125F5}"/>
              </a:ext>
            </a:extLst>
          </p:cNvPr>
          <p:cNvSpPr/>
          <p:nvPr/>
        </p:nvSpPr>
        <p:spPr>
          <a:xfrm>
            <a:off x="914400" y="3307665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2</a:t>
            </a:r>
          </a:p>
        </p:txBody>
      </p:sp>
      <p:sp>
        <p:nvSpPr>
          <p:cNvPr id="10" name="lab @2">
            <a:extLst>
              <a:ext uri="{FF2B5EF4-FFF2-40B4-BE49-F238E27FC236}">
                <a16:creationId xmlns:a16="http://schemas.microsoft.com/office/drawing/2014/main" id="{713C1D30-83A6-FADC-58BA-430B6AFBF4FE}"/>
              </a:ext>
            </a:extLst>
          </p:cNvPr>
          <p:cNvSpPr txBox="1"/>
          <p:nvPr/>
        </p:nvSpPr>
        <p:spPr>
          <a:xfrm>
            <a:off x="1524000" y="3294965"/>
            <a:ext cx="158496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Substitute into the saturation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eq @2">
                <a:extLst>
                  <a:ext uri="{FF2B5EF4-FFF2-40B4-BE49-F238E27FC236}">
                    <a16:creationId xmlns:a16="http://schemas.microsoft.com/office/drawing/2014/main" id="{865E1365-6043-DA9E-599A-24E43792F3DB}"/>
                  </a:ext>
                </a:extLst>
              </p:cNvPr>
              <p:cNvSpPr txBox="1"/>
              <p:nvPr/>
            </p:nvSpPr>
            <p:spPr>
              <a:xfrm>
                <a:off x="1524000" y="3668929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𝑛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𝑊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den>
                      </m:f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𝐺𝑆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sSup>
                        <m:sSup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+</m:t>
                      </m:r>
                      <m:sSubSup>
                        <m:sSubSup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𝑛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𝑊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den>
                      </m:f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𝐺𝑆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𝑔𝑠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+</m:t>
                      </m:r>
                      <m:f>
                        <m:f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𝑛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𝑊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den>
                      </m:f>
                      <m:sSubSup>
                        <m:sSubSup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𝑔𝑠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1" name="eq @2">
                <a:extLst>
                  <a:ext uri="{FF2B5EF4-FFF2-40B4-BE49-F238E27FC236}">
                    <a16:creationId xmlns:a16="http://schemas.microsoft.com/office/drawing/2014/main" id="{865E1365-6043-DA9E-599A-24E43792F3DB}"/>
                  </a:ext>
                </a:extLst>
              </p:cNvPr>
              <p:cNvSpPr txBox="1"/>
              <p:nvPr/>
            </p:nvSpPr>
            <p:spPr>
              <a:xfrm>
                <a:off x="1524000" y="3668929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\frac{1}{2}k_n^{\prime}\frac{W}{L}(V_{GS}-V_t)^2 + k_n^{\prime}\frac{W}{L}(V_{GS}-V_t)\,v_{gs} + \frac{1}{2}k_n^{\prime}\frac{W}{L}\,v_{gs}^2</a:t>
                </a:r>
              </a:p>
            </p:txBody>
          </p:sp>
        </mc:Fallback>
      </mc:AlternateContent>
      <p:sp>
        <p:nvSpPr>
          <p:cNvPr id="12" name="badge @3">
            <a:extLst>
              <a:ext uri="{FF2B5EF4-FFF2-40B4-BE49-F238E27FC236}">
                <a16:creationId xmlns:a16="http://schemas.microsoft.com/office/drawing/2014/main" id="{EB46E211-10A0-05C4-40EB-CF02B973D599}"/>
              </a:ext>
            </a:extLst>
          </p:cNvPr>
          <p:cNvSpPr/>
          <p:nvPr/>
        </p:nvSpPr>
        <p:spPr>
          <a:xfrm>
            <a:off x="914400" y="4644290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3</a:t>
            </a:r>
          </a:p>
        </p:txBody>
      </p:sp>
      <p:sp>
        <p:nvSpPr>
          <p:cNvPr id="13" name="lab @3">
            <a:extLst>
              <a:ext uri="{FF2B5EF4-FFF2-40B4-BE49-F238E27FC236}">
                <a16:creationId xmlns:a16="http://schemas.microsoft.com/office/drawing/2014/main" id="{41B420F1-1A53-F85E-346C-4CBB63A44EC5}"/>
              </a:ext>
            </a:extLst>
          </p:cNvPr>
          <p:cNvSpPr txBox="1"/>
          <p:nvPr/>
        </p:nvSpPr>
        <p:spPr>
          <a:xfrm>
            <a:off x="1524000" y="4631590"/>
            <a:ext cx="158496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If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≪ 2(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−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), the last term is negligible: the signal current is linear in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eq @3">
                <a:extLst>
                  <a:ext uri="{FF2B5EF4-FFF2-40B4-BE49-F238E27FC236}">
                    <a16:creationId xmlns:a16="http://schemas.microsoft.com/office/drawing/2014/main" id="{AA1DAEF3-25C7-B16B-9880-3E7E42C49DAC}"/>
                  </a:ext>
                </a:extLst>
              </p:cNvPr>
              <p:cNvSpPr txBox="1"/>
              <p:nvPr/>
            </p:nvSpPr>
            <p:spPr>
              <a:xfrm>
                <a:off x="1524000" y="5005554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𝑑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𝑔𝑠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,     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𝑚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Sup>
                        <m:sSubSup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𝑛</m:t>
                          </m:r>
                        </m:sub>
                        <m:sup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𝑊</m:t>
                          </m:r>
                        </m:num>
                        <m:den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den>
                      </m:f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𝐺𝑆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eq @3">
                <a:extLst>
                  <a:ext uri="{FF2B5EF4-FFF2-40B4-BE49-F238E27FC236}">
                    <a16:creationId xmlns:a16="http://schemas.microsoft.com/office/drawing/2014/main" id="{AA1DAEF3-25C7-B16B-9880-3E7E42C49DAC}"/>
                  </a:ext>
                </a:extLst>
              </p:cNvPr>
              <p:cNvSpPr txBox="1"/>
              <p:nvPr/>
            </p:nvSpPr>
            <p:spPr>
              <a:xfrm>
                <a:off x="1524000" y="5005554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g_m v_{gs},\ \ \ \ \ g_m = k_n^{\prime}\frac{W}{L}\,(V_{GS}-V_t)</a:t>
                </a:r>
              </a:p>
            </p:txBody>
          </p:sp>
        </mc:Fallback>
      </mc:AlternateContent>
      <p:sp>
        <p:nvSpPr>
          <p:cNvPr id="15" name="badge @4">
            <a:extLst>
              <a:ext uri="{FF2B5EF4-FFF2-40B4-BE49-F238E27FC236}">
                <a16:creationId xmlns:a16="http://schemas.microsoft.com/office/drawing/2014/main" id="{66069F9D-FB79-B136-E513-515BAFEB05A5}"/>
              </a:ext>
            </a:extLst>
          </p:cNvPr>
          <p:cNvSpPr/>
          <p:nvPr/>
        </p:nvSpPr>
        <p:spPr>
          <a:xfrm>
            <a:off x="914400" y="5980915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4</a:t>
            </a:r>
          </a:p>
        </p:txBody>
      </p:sp>
      <p:sp>
        <p:nvSpPr>
          <p:cNvPr id="16" name="lab @4">
            <a:extLst>
              <a:ext uri="{FF2B5EF4-FFF2-40B4-BE49-F238E27FC236}">
                <a16:creationId xmlns:a16="http://schemas.microsoft.com/office/drawing/2014/main" id="{821D1F6C-6B3C-0754-CC72-737624675045}"/>
              </a:ext>
            </a:extLst>
          </p:cNvPr>
          <p:cNvSpPr txBox="1"/>
          <p:nvPr/>
        </p:nvSpPr>
        <p:spPr>
          <a:xfrm>
            <a:off x="1524000" y="5968215"/>
            <a:ext cx="15849600" cy="32316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With a drain resistor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, the voltage gain is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eq @4">
                <a:extLst>
                  <a:ext uri="{FF2B5EF4-FFF2-40B4-BE49-F238E27FC236}">
                    <a16:creationId xmlns:a16="http://schemas.microsoft.com/office/drawing/2014/main" id="{19565EAD-82FD-EF54-47E0-35F2B65876B7}"/>
                  </a:ext>
                </a:extLst>
              </p:cNvPr>
              <p:cNvSpPr txBox="1"/>
              <p:nvPr/>
            </p:nvSpPr>
            <p:spPr>
              <a:xfrm>
                <a:off x="1524000" y="6342179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sub>
                      </m:sSub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600" b="0" i="1">
                              <a:solidFill>
                                <a:srgbClr val="15241D"/>
                              </a:solidFill>
                              <a:latin typeface="Cambria Math" panose="02040503050406030204" pitchFamily="18" charset="0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𝑑𝑠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6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𝑔𝑠</m:t>
                              </m:r>
                            </m:sub>
                          </m:sSub>
                        </m:den>
                      </m:f>
                      <m:r>
                        <a:rPr lang="en-US" sz="26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=−</m:t>
                      </m:r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𝑚</m:t>
                          </m:r>
                        </m:sub>
                      </m:sSub>
                      <m:sSub>
                        <m:sSubPr>
                          <m:ctrlP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sz="26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7" name="eq @4">
                <a:extLst>
                  <a:ext uri="{FF2B5EF4-FFF2-40B4-BE49-F238E27FC236}">
                    <a16:creationId xmlns:a16="http://schemas.microsoft.com/office/drawing/2014/main" id="{19565EAD-82FD-EF54-47E0-35F2B65876B7}"/>
                  </a:ext>
                </a:extLst>
              </p:cNvPr>
              <p:cNvSpPr txBox="1"/>
              <p:nvPr/>
            </p:nvSpPr>
            <p:spPr>
              <a:xfrm>
                <a:off x="1524000" y="6342179"/>
                <a:ext cx="15849600" cy="75946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A_v = \frac{v_{ds}}{v_{gs}} = -g_m R_D</a:t>
                </a:r>
              </a:p>
            </p:txBody>
          </p:sp>
        </mc:Fallback>
      </mc:AlternateContent>
      <p:sp>
        <p:nvSpPr>
          <p:cNvPr id="18" name="chrome page">
            <a:extLst>
              <a:ext uri="{FF2B5EF4-FFF2-40B4-BE49-F238E27FC236}">
                <a16:creationId xmlns:a16="http://schemas.microsoft.com/office/drawing/2014/main" id="{F14637C0-2B0B-53E3-614D-85363AD560D1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hrome page">
            <a:extLst>
              <a:ext uri="{FF2B5EF4-FFF2-40B4-BE49-F238E27FC236}">
                <a16:creationId xmlns:a16="http://schemas.microsoft.com/office/drawing/2014/main" id="{AAB50463-2811-71A9-15F2-FAA47F74E30E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30995308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mall-signal equivalent circui s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9E132DB-F4F3-7D42-C430-E6900A5A64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Small-signal equivalent circuits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23594184-9942-43BE-669D-148BEAD31EAB}"/>
              </a:ext>
            </a:extLst>
          </p:cNvPr>
          <p:cNvSpPr/>
          <p:nvPr/>
        </p:nvSpPr>
        <p:spPr>
          <a:xfrm>
            <a:off x="914400" y="279400"/>
            <a:ext cx="377698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4 · THE MOSFET AS AN AMPLIFIER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019C82F5-C0FE-EADA-AED4-35534EADACF3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70471329-7F35-DA95-0690-3B08B2693EF8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EAB80E77-C91C-FB62-F98B-E1F083DF2FC7}"/>
              </a:ext>
            </a:extLst>
          </p:cNvPr>
          <p:cNvSpPr/>
          <p:nvPr/>
        </p:nvSpPr>
        <p:spPr>
          <a:xfrm>
            <a:off x="1336425" y="2095500"/>
            <a:ext cx="7029950" cy="508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9A0DB488-4E03-1E18-097A-F2F8996322E9}"/>
              </a:ext>
            </a:extLst>
          </p:cNvPr>
          <p:cNvSpPr/>
          <p:nvPr/>
        </p:nvSpPr>
        <p:spPr>
          <a:xfrm>
            <a:off x="1336425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CCE8B93E-7CD3-8095-E876-B1A67652D0F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425" y="2349500"/>
            <a:ext cx="6521951" cy="4343400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9115D851-D957-631A-4FA2-5FF30776F2CF}"/>
              </a:ext>
            </a:extLst>
          </p:cNvPr>
          <p:cNvSpPr txBox="1"/>
          <p:nvPr/>
        </p:nvSpPr>
        <p:spPr>
          <a:xfrm>
            <a:off x="1590425" y="6819900"/>
            <a:ext cx="6521951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1" name="figure card">
            <a:extLst>
              <a:ext uri="{FF2B5EF4-FFF2-40B4-BE49-F238E27FC236}">
                <a16:creationId xmlns:a16="http://schemas.microsoft.com/office/drawing/2014/main" id="{3A610075-F6E8-7B24-155C-7A16722D1F33}"/>
              </a:ext>
            </a:extLst>
          </p:cNvPr>
          <p:cNvSpPr/>
          <p:nvPr/>
        </p:nvSpPr>
        <p:spPr>
          <a:xfrm>
            <a:off x="9499600" y="2095500"/>
            <a:ext cx="7874000" cy="4975597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figure card">
            <a:extLst>
              <a:ext uri="{FF2B5EF4-FFF2-40B4-BE49-F238E27FC236}">
                <a16:creationId xmlns:a16="http://schemas.microsoft.com/office/drawing/2014/main" id="{9B4FA496-C92B-E901-F9BD-D323F7A1769A}"/>
              </a:ext>
            </a:extLst>
          </p:cNvPr>
          <p:cNvSpPr/>
          <p:nvPr/>
        </p:nvSpPr>
        <p:spPr>
          <a:xfrm>
            <a:off x="9499600" y="2082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figure">
            <a:extLst>
              <a:ext uri="{FF2B5EF4-FFF2-40B4-BE49-F238E27FC236}">
                <a16:creationId xmlns:a16="http://schemas.microsoft.com/office/drawing/2014/main" id="{23295BE1-BA37-12A7-E618-8BBDC3B2190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600" y="2349500"/>
            <a:ext cx="7366000" cy="4238997"/>
          </a:xfrm>
          <a:prstGeom prst="rect">
            <a:avLst/>
          </a:prstGeom>
        </p:spPr>
      </p:pic>
      <p:sp>
        <p:nvSpPr>
          <p:cNvPr id="15" name="credit">
            <a:extLst>
              <a:ext uri="{FF2B5EF4-FFF2-40B4-BE49-F238E27FC236}">
                <a16:creationId xmlns:a16="http://schemas.microsoft.com/office/drawing/2014/main" id="{51169F17-5AA1-14AB-B2A1-97E2464D2A0E}"/>
              </a:ext>
            </a:extLst>
          </p:cNvPr>
          <p:cNvSpPr txBox="1"/>
          <p:nvPr/>
        </p:nvSpPr>
        <p:spPr>
          <a:xfrm>
            <a:off x="9753600" y="6715498"/>
            <a:ext cx="736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6" name="point @1">
            <a:extLst>
              <a:ext uri="{FF2B5EF4-FFF2-40B4-BE49-F238E27FC236}">
                <a16:creationId xmlns:a16="http://schemas.microsoft.com/office/drawing/2014/main" id="{70B96E14-A603-8BA9-0AE2-273EF461A5EB}"/>
              </a:ext>
            </a:extLst>
          </p:cNvPr>
          <p:cNvSpPr txBox="1"/>
          <p:nvPr/>
        </p:nvSpPr>
        <p:spPr>
          <a:xfrm>
            <a:off x="914400" y="7620000"/>
            <a:ext cx="7874000" cy="70269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The MOSFET as a voltage-controlled current source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; no current into the gate.</a:t>
            </a:r>
          </a:p>
        </p:txBody>
      </p:sp>
      <p:sp>
        <p:nvSpPr>
          <p:cNvPr id="17" name="point @2">
            <a:extLst>
              <a:ext uri="{FF2B5EF4-FFF2-40B4-BE49-F238E27FC236}">
                <a16:creationId xmlns:a16="http://schemas.microsoft.com/office/drawing/2014/main" id="{DBF0458E-53A1-ACF6-22AE-ABB0FCBB703E}"/>
              </a:ext>
            </a:extLst>
          </p:cNvPr>
          <p:cNvSpPr txBox="1"/>
          <p:nvPr/>
        </p:nvSpPr>
        <p:spPr>
          <a:xfrm>
            <a:off x="9499600" y="7620000"/>
            <a:ext cx="7874000" cy="702693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Adding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o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A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/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models the slight slope of the saturation curves (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A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: the Early voltage).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4E281340-F716-F616-48E6-243736C4FE92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hrome page">
            <a:extLst>
              <a:ext uri="{FF2B5EF4-FFF2-40B4-BE49-F238E27FC236}">
                <a16:creationId xmlns:a16="http://schemas.microsoft.com/office/drawing/2014/main" id="{0AE94A46-DCE1-FC52-D371-6DC55758AAE9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8701408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ample: gain and input resist s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9877646C-F774-5570-495D-AED4AE14C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Example: gain and input resistance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C86B716E-F2C7-9039-4FCC-35F865ED6601}"/>
              </a:ext>
            </a:extLst>
          </p:cNvPr>
          <p:cNvSpPr/>
          <p:nvPr/>
        </p:nvSpPr>
        <p:spPr>
          <a:xfrm>
            <a:off x="914400" y="279400"/>
            <a:ext cx="3776980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4 · THE MOSFET AS AN AMPLIFIER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070C3537-B2D5-508E-EBA2-9135F7846DB5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BDCF97B9-E674-7D95-4BCC-E1939AAF84EA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question">
            <a:extLst>
              <a:ext uri="{FF2B5EF4-FFF2-40B4-BE49-F238E27FC236}">
                <a16:creationId xmlns:a16="http://schemas.microsoft.com/office/drawing/2014/main" id="{0F2F1852-0E5C-804E-A329-922BCC170CDC}"/>
              </a:ext>
            </a:extLst>
          </p:cNvPr>
          <p:cNvSpPr txBox="1"/>
          <p:nvPr/>
        </p:nvSpPr>
        <p:spPr>
          <a:xfrm>
            <a:off x="914400" y="1752599"/>
            <a:ext cx="164592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t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= 1.5 V, k′</a:t>
            </a:r>
            <a:r>
              <a:rPr lang="en-US" sz="2100" baseline="-25000">
                <a:solidFill>
                  <a:srgbClr val="4D5B54"/>
                </a:solidFill>
                <a:latin typeface="DM Sans" pitchFamily="2" charset="0"/>
              </a:rPr>
              <a:t>n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(W/L) = 0.25 mA/V²,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A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= 50 V. Coupling capacitors are short circuits for the signal. Find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A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=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o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/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i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 and </a:t>
            </a:r>
            <a:r>
              <a:rPr lang="en-US" sz="2100" i="1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2100" i="1" baseline="-25000">
                <a:solidFill>
                  <a:srgbClr val="4D5B54"/>
                </a:solidFill>
                <a:latin typeface="DM Sans" pitchFamily="2" charset="0"/>
              </a:rPr>
              <a:t>in</a:t>
            </a:r>
            <a:r>
              <a:rPr lang="en-US" sz="2100">
                <a:solidFill>
                  <a:srgbClr val="4D5B54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67BF109A-C38C-852C-9A17-229A4F24E99F}"/>
              </a:ext>
            </a:extLst>
          </p:cNvPr>
          <p:cNvSpPr/>
          <p:nvPr/>
        </p:nvSpPr>
        <p:spPr>
          <a:xfrm>
            <a:off x="914400" y="2730500"/>
            <a:ext cx="6604000" cy="4803775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igure card">
            <a:extLst>
              <a:ext uri="{FF2B5EF4-FFF2-40B4-BE49-F238E27FC236}">
                <a16:creationId xmlns:a16="http://schemas.microsoft.com/office/drawing/2014/main" id="{52C8B51C-5DB7-4352-BDD8-21E49F8C05F4}"/>
              </a:ext>
            </a:extLst>
          </p:cNvPr>
          <p:cNvSpPr/>
          <p:nvPr/>
        </p:nvSpPr>
        <p:spPr>
          <a:xfrm>
            <a:off x="914400" y="2717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figure">
            <a:extLst>
              <a:ext uri="{FF2B5EF4-FFF2-40B4-BE49-F238E27FC236}">
                <a16:creationId xmlns:a16="http://schemas.microsoft.com/office/drawing/2014/main" id="{ED03F3BE-7BD1-76A1-6737-92C2D1D3464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984500"/>
            <a:ext cx="6096000" cy="4067175"/>
          </a:xfrm>
          <a:prstGeom prst="rect">
            <a:avLst/>
          </a:prstGeom>
        </p:spPr>
      </p:pic>
      <p:sp>
        <p:nvSpPr>
          <p:cNvPr id="11" name="credit">
            <a:extLst>
              <a:ext uri="{FF2B5EF4-FFF2-40B4-BE49-F238E27FC236}">
                <a16:creationId xmlns:a16="http://schemas.microsoft.com/office/drawing/2014/main" id="{D43E99B5-96C4-D120-6E86-C2F127FCCE47}"/>
              </a:ext>
            </a:extLst>
          </p:cNvPr>
          <p:cNvSpPr txBox="1"/>
          <p:nvPr/>
        </p:nvSpPr>
        <p:spPr>
          <a:xfrm>
            <a:off x="1168400" y="7178675"/>
            <a:ext cx="6096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Sedra &amp; Smith, Microelectronic Circuits</a:t>
            </a:r>
          </a:p>
        </p:txBody>
      </p:sp>
      <p:sp>
        <p:nvSpPr>
          <p:cNvPr id="12" name="badge @2">
            <a:extLst>
              <a:ext uri="{FF2B5EF4-FFF2-40B4-BE49-F238E27FC236}">
                <a16:creationId xmlns:a16="http://schemas.microsoft.com/office/drawing/2014/main" id="{8827D2F5-4072-3951-1757-DBE584B4C5C0}"/>
              </a:ext>
            </a:extLst>
          </p:cNvPr>
          <p:cNvSpPr/>
          <p:nvPr/>
        </p:nvSpPr>
        <p:spPr>
          <a:xfrm>
            <a:off x="8128000" y="2705100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1</a:t>
            </a:r>
          </a:p>
        </p:txBody>
      </p:sp>
      <p:sp>
        <p:nvSpPr>
          <p:cNvPr id="13" name="lab @2">
            <a:extLst>
              <a:ext uri="{FF2B5EF4-FFF2-40B4-BE49-F238E27FC236}">
                <a16:creationId xmlns:a16="http://schemas.microsoft.com/office/drawing/2014/main" id="{F9801BAB-2607-3151-B150-34F151107C80}"/>
              </a:ext>
            </a:extLst>
          </p:cNvPr>
          <p:cNvSpPr txBox="1"/>
          <p:nvPr/>
        </p:nvSpPr>
        <p:spPr>
          <a:xfrm>
            <a:off x="8737600" y="2692400"/>
            <a:ext cx="8636000" cy="2923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it-IT" sz="1900">
                <a:solidFill>
                  <a:srgbClr val="4D5B54"/>
                </a:solidFill>
                <a:latin typeface="DM Sans" pitchFamily="2" charset="0"/>
              </a:rPr>
              <a:t>DC: no gate current, so </a:t>
            </a:r>
            <a:r>
              <a:rPr lang="it-IT" sz="19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it-IT" sz="1900" i="1" baseline="-25000">
                <a:solidFill>
                  <a:srgbClr val="4D5B54"/>
                </a:solidFill>
                <a:latin typeface="DM Sans" pitchFamily="2" charset="0"/>
              </a:rPr>
              <a:t>GS</a:t>
            </a:r>
            <a:r>
              <a:rPr lang="it-IT" sz="1900">
                <a:solidFill>
                  <a:srgbClr val="4D5B54"/>
                </a:solidFill>
                <a:latin typeface="DM Sans" pitchFamily="2" charset="0"/>
              </a:rPr>
              <a:t> = </a:t>
            </a:r>
            <a:r>
              <a:rPr lang="it-IT" sz="1900" i="1">
                <a:solidFill>
                  <a:srgbClr val="4D5B54"/>
                </a:solidFill>
                <a:latin typeface="DM Sans" pitchFamily="2" charset="0"/>
              </a:rPr>
              <a:t>V</a:t>
            </a:r>
            <a:r>
              <a:rPr lang="it-IT" sz="1900" i="1" baseline="-25000">
                <a:solidFill>
                  <a:srgbClr val="4D5B54"/>
                </a:solidFill>
                <a:latin typeface="DM Sans" pitchFamily="2" charset="0"/>
              </a:rPr>
              <a:t>D</a:t>
            </a:r>
            <a:r>
              <a:rPr lang="it-IT" sz="1900">
                <a:solidFill>
                  <a:srgbClr val="4D5B54"/>
                </a:solidFill>
                <a:latin typeface="DM Sans" pitchFamily="2" charset="0"/>
              </a:rPr>
              <a:t>  (I in mA)</a:t>
            </a:r>
            <a:endParaRPr lang="en-US" sz="1900">
              <a:solidFill>
                <a:srgbClr val="4D5B54"/>
              </a:solidFill>
              <a:latin typeface="DM Sans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eq @2">
                <a:extLst>
                  <a:ext uri="{FF2B5EF4-FFF2-40B4-BE49-F238E27FC236}">
                    <a16:creationId xmlns:a16="http://schemas.microsoft.com/office/drawing/2014/main" id="{33D23A30-0DF7-9040-F8EE-2CAFC6FB09E0}"/>
                  </a:ext>
                </a:extLst>
              </p:cNvPr>
              <p:cNvSpPr txBox="1"/>
              <p:nvPr/>
            </p:nvSpPr>
            <p:spPr>
              <a:xfrm>
                <a:off x="8737600" y="3035587"/>
                <a:ext cx="8636000" cy="67183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=15−10</m:t>
                      </m:r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,     </m:t>
                      </m:r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𝐼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(0.25)(</m:t>
                      </m:r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−1.5</m:t>
                      </m:r>
                      <m:sSup>
                        <m:sSup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eq @2">
                <a:extLst>
                  <a:ext uri="{FF2B5EF4-FFF2-40B4-BE49-F238E27FC236}">
                    <a16:creationId xmlns:a16="http://schemas.microsoft.com/office/drawing/2014/main" id="{33D23A30-0DF7-9040-F8EE-2CAFC6FB09E0}"/>
                  </a:ext>
                </a:extLst>
              </p:cNvPr>
              <p:cNvSpPr txBox="1"/>
              <p:nvPr/>
            </p:nvSpPr>
            <p:spPr>
              <a:xfrm>
                <a:off x="8737600" y="3035587"/>
                <a:ext cx="8636000" cy="67183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V_D = 15 - 10I_D,\ \ \ \ \ I_D = \frac{1}{2}(0.25)\,(V_D-1.5)^2</a:t>
                </a:r>
              </a:p>
            </p:txBody>
          </p:sp>
        </mc:Fallback>
      </mc:AlternateContent>
      <p:sp>
        <p:nvSpPr>
          <p:cNvPr id="15" name="lab @2">
            <a:extLst>
              <a:ext uri="{FF2B5EF4-FFF2-40B4-BE49-F238E27FC236}">
                <a16:creationId xmlns:a16="http://schemas.microsoft.com/office/drawing/2014/main" id="{A4791F89-F0F4-8930-1BCD-816BE8A8720E}"/>
              </a:ext>
            </a:extLst>
          </p:cNvPr>
          <p:cNvSpPr txBox="1"/>
          <p:nvPr/>
        </p:nvSpPr>
        <p:spPr>
          <a:xfrm>
            <a:off x="8737600" y="3707418"/>
            <a:ext cx="8636000" cy="2923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1.06 mA,  </a:t>
            </a:r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</a:t>
            </a:r>
            <a:r>
              <a:rPr lang="en-US" sz="19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19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1900">
                <a:solidFill>
                  <a:srgbClr val="15241D"/>
                </a:solidFill>
                <a:latin typeface="DM Sans" pitchFamily="2" charset="0"/>
              </a:rPr>
              <a:t> = 4.4 V</a:t>
            </a:r>
          </a:p>
        </p:txBody>
      </p:sp>
      <p:sp>
        <p:nvSpPr>
          <p:cNvPr id="16" name="badge @3">
            <a:extLst>
              <a:ext uri="{FF2B5EF4-FFF2-40B4-BE49-F238E27FC236}">
                <a16:creationId xmlns:a16="http://schemas.microsoft.com/office/drawing/2014/main" id="{2777C922-CC74-C723-632C-07BF8BBDFECD}"/>
              </a:ext>
            </a:extLst>
          </p:cNvPr>
          <p:cNvSpPr/>
          <p:nvPr/>
        </p:nvSpPr>
        <p:spPr>
          <a:xfrm>
            <a:off x="8128000" y="4215706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2</a:t>
            </a:r>
          </a:p>
        </p:txBody>
      </p:sp>
      <p:sp>
        <p:nvSpPr>
          <p:cNvPr id="17" name="lab @3">
            <a:extLst>
              <a:ext uri="{FF2B5EF4-FFF2-40B4-BE49-F238E27FC236}">
                <a16:creationId xmlns:a16="http://schemas.microsoft.com/office/drawing/2014/main" id="{A35D598F-B3BD-6C55-1CC6-1CFE3448D3E9}"/>
              </a:ext>
            </a:extLst>
          </p:cNvPr>
          <p:cNvSpPr txBox="1"/>
          <p:nvPr/>
        </p:nvSpPr>
        <p:spPr>
          <a:xfrm>
            <a:off x="8737600" y="4203006"/>
            <a:ext cx="8636000" cy="2923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900">
                <a:solidFill>
                  <a:srgbClr val="4D5B54"/>
                </a:solidFill>
                <a:latin typeface="DM Sans" pitchFamily="2" charset="0"/>
              </a:rPr>
              <a:t>Small-signal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eq @3">
                <a:extLst>
                  <a:ext uri="{FF2B5EF4-FFF2-40B4-BE49-F238E27FC236}">
                    <a16:creationId xmlns:a16="http://schemas.microsoft.com/office/drawing/2014/main" id="{4EE70950-99F4-3D36-7759-05EEDCD33090}"/>
                  </a:ext>
                </a:extLst>
              </p:cNvPr>
              <p:cNvSpPr txBox="1"/>
              <p:nvPr/>
            </p:nvSpPr>
            <p:spPr>
              <a:xfrm>
                <a:off x="8737600" y="4546193"/>
                <a:ext cx="8636000" cy="67183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𝑚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=0.25(4.4−1.5)=0.728 </m:t>
                      </m:r>
                      <m:r>
                        <m:rPr>
                          <m:sty m:val="p"/>
                        </m:rP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mA</m:t>
                      </m:r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V</m:t>
                      </m:r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,     </m:t>
                      </m:r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𝑜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50</m:t>
                          </m:r>
                        </m:num>
                        <m:den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1.06</m:t>
                          </m:r>
                        </m:den>
                      </m:f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=47 </m:t>
                      </m:r>
                      <m:r>
                        <m:rPr>
                          <m:sty m:val="p"/>
                        </m:rP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k</m:t>
                      </m:r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𝛺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eq @3">
                <a:extLst>
                  <a:ext uri="{FF2B5EF4-FFF2-40B4-BE49-F238E27FC236}">
                    <a16:creationId xmlns:a16="http://schemas.microsoft.com/office/drawing/2014/main" id="{4EE70950-99F4-3D36-7759-05EEDCD33090}"/>
                  </a:ext>
                </a:extLst>
              </p:cNvPr>
              <p:cNvSpPr txBox="1"/>
              <p:nvPr/>
            </p:nvSpPr>
            <p:spPr>
              <a:xfrm>
                <a:off x="8737600" y="4546193"/>
                <a:ext cx="8636000" cy="67183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g_m = 0.25\,(4.4-1.5) = 0.728\ \mathrm{mA/V},\ \ \ \ \ r_o = \frac{50}{1.06} = 47\ \mathrm{k}\Omega</a:t>
                </a:r>
              </a:p>
            </p:txBody>
          </p:sp>
        </mc:Fallback>
      </mc:AlternateContent>
      <p:sp>
        <p:nvSpPr>
          <p:cNvPr id="19" name="badge @4">
            <a:extLst>
              <a:ext uri="{FF2B5EF4-FFF2-40B4-BE49-F238E27FC236}">
                <a16:creationId xmlns:a16="http://schemas.microsoft.com/office/drawing/2014/main" id="{95672444-DB72-1D43-A521-9D387021F93E}"/>
              </a:ext>
            </a:extLst>
          </p:cNvPr>
          <p:cNvSpPr/>
          <p:nvPr/>
        </p:nvSpPr>
        <p:spPr>
          <a:xfrm>
            <a:off x="8128000" y="5433924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3</a:t>
            </a:r>
          </a:p>
        </p:txBody>
      </p:sp>
      <p:sp>
        <p:nvSpPr>
          <p:cNvPr id="20" name="lab @4">
            <a:extLst>
              <a:ext uri="{FF2B5EF4-FFF2-40B4-BE49-F238E27FC236}">
                <a16:creationId xmlns:a16="http://schemas.microsoft.com/office/drawing/2014/main" id="{F4AD2DF3-390C-0EC3-5080-968541FC331C}"/>
              </a:ext>
            </a:extLst>
          </p:cNvPr>
          <p:cNvSpPr txBox="1"/>
          <p:nvPr/>
        </p:nvSpPr>
        <p:spPr>
          <a:xfrm>
            <a:off x="8737600" y="5421224"/>
            <a:ext cx="8636000" cy="2923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900">
                <a:solidFill>
                  <a:srgbClr val="4D5B54"/>
                </a:solidFill>
                <a:latin typeface="DM Sans" pitchFamily="2" charset="0"/>
              </a:rPr>
              <a:t>Gain (</a:t>
            </a:r>
            <a:r>
              <a:rPr lang="en-US" sz="1900" i="1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1900" i="1" baseline="-25000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1900">
                <a:solidFill>
                  <a:srgbClr val="4D5B54"/>
                </a:solidFill>
                <a:latin typeface="DM Sans" pitchFamily="2" charset="0"/>
              </a:rPr>
              <a:t> carries negligible signal current)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eq @4">
                <a:extLst>
                  <a:ext uri="{FF2B5EF4-FFF2-40B4-BE49-F238E27FC236}">
                    <a16:creationId xmlns:a16="http://schemas.microsoft.com/office/drawing/2014/main" id="{DF71A98B-801C-BC9C-22F5-C79F7DA410E5}"/>
                  </a:ext>
                </a:extLst>
              </p:cNvPr>
              <p:cNvSpPr txBox="1"/>
              <p:nvPr/>
            </p:nvSpPr>
            <p:spPr>
              <a:xfrm>
                <a:off x="8737600" y="5764411"/>
                <a:ext cx="8636000" cy="43815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≈−</m:t>
                      </m:r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𝑔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𝑚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‖</m:t>
                      </m:r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‖</m:t>
                      </m:r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𝑟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𝑜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)=−0.728(4.52)=−3.29 </m:t>
                      </m:r>
                      <m:r>
                        <m:rPr>
                          <m:sty m:val="p"/>
                        </m:rP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V</m:t>
                      </m:r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/</m:t>
                      </m:r>
                      <m:r>
                        <m:rPr>
                          <m:sty m:val="p"/>
                        </m:rP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V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1" name="eq @4">
                <a:extLst>
                  <a:ext uri="{FF2B5EF4-FFF2-40B4-BE49-F238E27FC236}">
                    <a16:creationId xmlns:a16="http://schemas.microsoft.com/office/drawing/2014/main" id="{DF71A98B-801C-BC9C-22F5-C79F7DA410E5}"/>
                  </a:ext>
                </a:extLst>
              </p:cNvPr>
              <p:cNvSpPr txBox="1"/>
              <p:nvPr/>
            </p:nvSpPr>
            <p:spPr>
              <a:xfrm>
                <a:off x="8737600" y="5764411"/>
                <a:ext cx="8636000" cy="43815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A_v \approx -g_m\,(R_D\,\|\,R_L\,\|\,r_o) = -0.728\,(4.52) = −3.29\ \mathrm{V/V}</a:t>
                </a:r>
              </a:p>
            </p:txBody>
          </p:sp>
        </mc:Fallback>
      </mc:AlternateContent>
      <p:sp>
        <p:nvSpPr>
          <p:cNvPr id="22" name="badge @5">
            <a:extLst>
              <a:ext uri="{FF2B5EF4-FFF2-40B4-BE49-F238E27FC236}">
                <a16:creationId xmlns:a16="http://schemas.microsoft.com/office/drawing/2014/main" id="{4AEC323E-9720-344B-F22B-18747DFC8617}"/>
              </a:ext>
            </a:extLst>
          </p:cNvPr>
          <p:cNvSpPr/>
          <p:nvPr/>
        </p:nvSpPr>
        <p:spPr>
          <a:xfrm>
            <a:off x="8128000" y="6418462"/>
            <a:ext cx="406400" cy="4064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700" b="1">
                <a:solidFill>
                  <a:srgbClr val="FFFFFF"/>
                </a:solidFill>
                <a:latin typeface="DM Sans" pitchFamily="2" charset="0"/>
              </a:rPr>
              <a:t>4</a:t>
            </a:r>
          </a:p>
        </p:txBody>
      </p:sp>
      <p:sp>
        <p:nvSpPr>
          <p:cNvPr id="23" name="lab @5">
            <a:extLst>
              <a:ext uri="{FF2B5EF4-FFF2-40B4-BE49-F238E27FC236}">
                <a16:creationId xmlns:a16="http://schemas.microsoft.com/office/drawing/2014/main" id="{13879003-AC12-3187-66D4-06AE02F092C6}"/>
              </a:ext>
            </a:extLst>
          </p:cNvPr>
          <p:cNvSpPr txBox="1"/>
          <p:nvPr/>
        </p:nvSpPr>
        <p:spPr>
          <a:xfrm>
            <a:off x="8737600" y="6405762"/>
            <a:ext cx="8636000" cy="29238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US" sz="1900">
                <a:solidFill>
                  <a:srgbClr val="4D5B54"/>
                </a:solidFill>
                <a:latin typeface="DM Sans" pitchFamily="2" charset="0"/>
              </a:rPr>
              <a:t>Input resistance: </a:t>
            </a:r>
            <a:r>
              <a:rPr lang="en-US" sz="1900" i="1">
                <a:solidFill>
                  <a:srgbClr val="4D5B54"/>
                </a:solidFill>
                <a:latin typeface="DM Sans" pitchFamily="2" charset="0"/>
              </a:rPr>
              <a:t>R</a:t>
            </a:r>
            <a:r>
              <a:rPr lang="en-US" sz="1900" i="1" baseline="-25000">
                <a:solidFill>
                  <a:srgbClr val="4D5B54"/>
                </a:solidFill>
                <a:latin typeface="DM Sans" pitchFamily="2" charset="0"/>
              </a:rPr>
              <a:t>G</a:t>
            </a:r>
            <a:r>
              <a:rPr lang="en-US" sz="1900">
                <a:solidFill>
                  <a:srgbClr val="4D5B54"/>
                </a:solidFill>
                <a:latin typeface="DM Sans" pitchFamily="2" charset="0"/>
              </a:rPr>
              <a:t> bridges input and output (Miller effect)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eq @5">
                <a:extLst>
                  <a:ext uri="{FF2B5EF4-FFF2-40B4-BE49-F238E27FC236}">
                    <a16:creationId xmlns:a16="http://schemas.microsoft.com/office/drawing/2014/main" id="{D2F97083-4E7F-3C9F-C07A-A0186B7B216B}"/>
                  </a:ext>
                </a:extLst>
              </p:cNvPr>
              <p:cNvSpPr txBox="1"/>
              <p:nvPr/>
            </p:nvSpPr>
            <p:spPr>
              <a:xfrm>
                <a:off x="8737600" y="6748949"/>
                <a:ext cx="8636000" cy="67183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𝑅</m:t>
                          </m:r>
                        </m:e>
                        <m:sub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𝑖𝑛</m:t>
                          </m:r>
                        </m:sub>
                      </m:sSub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300" b="0" i="1">
                              <a:solidFill>
                                <a:srgbClr val="15241D"/>
                              </a:solidFill>
                              <a:latin typeface="Cambria Math" panose="02040503050406030204" pitchFamily="18" charset="0"/>
                              <a:cs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3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3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3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𝐺</m:t>
                              </m:r>
                            </m:sub>
                          </m:sSub>
                        </m:num>
                        <m:den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sz="23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3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3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𝑣</m:t>
                              </m:r>
                            </m:sub>
                          </m:sSub>
                        </m:den>
                      </m:f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10</m:t>
                          </m:r>
                        </m:num>
                        <m:den>
                          <m:r>
                            <a:rPr lang="en-US" sz="23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4.29</m:t>
                          </m:r>
                        </m:den>
                      </m:f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=2.33 </m:t>
                      </m:r>
                      <m:r>
                        <m:rPr>
                          <m:sty m:val="p"/>
                        </m:rP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M</m:t>
                      </m:r>
                      <m:r>
                        <a:rPr lang="en-US" sz="23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𝛺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4" name="eq @5">
                <a:extLst>
                  <a:ext uri="{FF2B5EF4-FFF2-40B4-BE49-F238E27FC236}">
                    <a16:creationId xmlns:a16="http://schemas.microsoft.com/office/drawing/2014/main" id="{D2F97083-4E7F-3C9F-C07A-A0186B7B216B}"/>
                  </a:ext>
                </a:extLst>
              </p:cNvPr>
              <p:cNvSpPr txBox="1"/>
              <p:nvPr/>
            </p:nvSpPr>
            <p:spPr>
              <a:xfrm>
                <a:off x="8737600" y="6748949"/>
                <a:ext cx="8636000" cy="67183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R_{in} = \frac{R_G}{1-A_v} = \frac{10}{4.29} = 2.33\ \mathrm{M}\Omega</a:t>
                </a:r>
              </a:p>
            </p:txBody>
          </p:sp>
        </mc:Fallback>
      </mc:AlternateContent>
      <p:sp>
        <p:nvSpPr>
          <p:cNvPr id="25" name="answer @5">
            <a:extLst>
              <a:ext uri="{FF2B5EF4-FFF2-40B4-BE49-F238E27FC236}">
                <a16:creationId xmlns:a16="http://schemas.microsoft.com/office/drawing/2014/main" id="{DC197FE8-04FC-4C33-7C7C-242F8763AE97}"/>
              </a:ext>
            </a:extLst>
          </p:cNvPr>
          <p:cNvSpPr/>
          <p:nvPr/>
        </p:nvSpPr>
        <p:spPr>
          <a:xfrm>
            <a:off x="8737600" y="7547780"/>
            <a:ext cx="2890520" cy="530860"/>
          </a:xfrm>
          <a:prstGeom prst="parallelogram">
            <a:avLst>
              <a:gd name="adj" fmla="val 30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nswer @5">
            <a:extLst>
              <a:ext uri="{FF2B5EF4-FFF2-40B4-BE49-F238E27FC236}">
                <a16:creationId xmlns:a16="http://schemas.microsoft.com/office/drawing/2014/main" id="{502E5DD8-D2F1-6014-639A-AE5181D21879}"/>
              </a:ext>
            </a:extLst>
          </p:cNvPr>
          <p:cNvSpPr txBox="1"/>
          <p:nvPr/>
        </p:nvSpPr>
        <p:spPr>
          <a:xfrm>
            <a:off x="8737600" y="7547779"/>
            <a:ext cx="2890520" cy="5308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2200" b="1" i="1">
                <a:solidFill>
                  <a:srgbClr val="FFFFFF"/>
                </a:solidFill>
                <a:latin typeface="DM Sans" pitchFamily="2" charset="0"/>
              </a:rPr>
              <a:t>A</a:t>
            </a:r>
            <a:r>
              <a:rPr lang="en-US" sz="2200" b="1" i="1" baseline="-25000">
                <a:solidFill>
                  <a:srgbClr val="FFFFFF"/>
                </a:solidFill>
                <a:latin typeface="DM Sans" pitchFamily="2" charset="0"/>
              </a:rPr>
              <a:t>v</a:t>
            </a:r>
            <a:r>
              <a:rPr lang="en-US" sz="2200" b="1">
                <a:solidFill>
                  <a:srgbClr val="FFFFFF"/>
                </a:solidFill>
                <a:latin typeface="DM Sans" pitchFamily="2" charset="0"/>
              </a:rPr>
              <a:t> ≈ −3.3 V/V</a:t>
            </a:r>
          </a:p>
        </p:txBody>
      </p:sp>
      <p:sp>
        <p:nvSpPr>
          <p:cNvPr id="27" name="answer @5">
            <a:extLst>
              <a:ext uri="{FF2B5EF4-FFF2-40B4-BE49-F238E27FC236}">
                <a16:creationId xmlns:a16="http://schemas.microsoft.com/office/drawing/2014/main" id="{755DA10E-9445-4B53-C98A-A1BCE7B3AFD4}"/>
              </a:ext>
            </a:extLst>
          </p:cNvPr>
          <p:cNvSpPr/>
          <p:nvPr/>
        </p:nvSpPr>
        <p:spPr>
          <a:xfrm>
            <a:off x="11882120" y="7547780"/>
            <a:ext cx="2890519" cy="530860"/>
          </a:xfrm>
          <a:prstGeom prst="parallelogram">
            <a:avLst>
              <a:gd name="adj" fmla="val 30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answer @5">
            <a:extLst>
              <a:ext uri="{FF2B5EF4-FFF2-40B4-BE49-F238E27FC236}">
                <a16:creationId xmlns:a16="http://schemas.microsoft.com/office/drawing/2014/main" id="{AA2F1746-A059-17AB-0D25-E96A29EA9CBE}"/>
              </a:ext>
            </a:extLst>
          </p:cNvPr>
          <p:cNvSpPr txBox="1"/>
          <p:nvPr/>
        </p:nvSpPr>
        <p:spPr>
          <a:xfrm>
            <a:off x="11882120" y="7547779"/>
            <a:ext cx="2890520" cy="53086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2200" b="1" i="1">
                <a:solidFill>
                  <a:srgbClr val="FFFFFF"/>
                </a:solidFill>
                <a:latin typeface="DM Sans" pitchFamily="2" charset="0"/>
              </a:rPr>
              <a:t>R</a:t>
            </a:r>
            <a:r>
              <a:rPr lang="en-US" sz="2200" b="1" i="1" baseline="-25000">
                <a:solidFill>
                  <a:srgbClr val="FFFFFF"/>
                </a:solidFill>
                <a:latin typeface="DM Sans" pitchFamily="2" charset="0"/>
              </a:rPr>
              <a:t>in</a:t>
            </a:r>
            <a:r>
              <a:rPr lang="en-US" sz="2200" b="1">
                <a:solidFill>
                  <a:srgbClr val="FFFFFF"/>
                </a:solidFill>
                <a:latin typeface="DM Sans" pitchFamily="2" charset="0"/>
              </a:rPr>
              <a:t> = 2.33 M</a:t>
            </a:r>
            <a:r>
              <a:rPr lang="el-GR" sz="2200" b="1">
                <a:solidFill>
                  <a:srgbClr val="FFFFFF"/>
                </a:solidFill>
              </a:rPr>
              <a:t>Ω</a:t>
            </a:r>
            <a:endParaRPr lang="en-US" sz="2200" b="1">
              <a:solidFill>
                <a:srgbClr val="FFFFFF"/>
              </a:solidFill>
              <a:latin typeface="DM Sans" pitchFamily="2" charset="0"/>
            </a:endParaRPr>
          </a:p>
        </p:txBody>
      </p:sp>
      <p:sp>
        <p:nvSpPr>
          <p:cNvPr id="9" name="chrome page">
            <a:extLst>
              <a:ext uri="{FF2B5EF4-FFF2-40B4-BE49-F238E27FC236}">
                <a16:creationId xmlns:a16="http://schemas.microsoft.com/office/drawing/2014/main" id="{21CFDC73-FA78-9E9C-9BA5-843D27287D7F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chrome page">
            <a:extLst>
              <a:ext uri="{FF2B5EF4-FFF2-40B4-BE49-F238E27FC236}">
                <a16:creationId xmlns:a16="http://schemas.microsoft.com/office/drawing/2014/main" id="{FFC0356D-8417-FFC8-E363-322115D45291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521342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ection #nochrome s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7FE5BDF-8BCC-AFF1-8AD1-3DB99A1B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4191000"/>
            <a:ext cx="10414000" cy="1397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9600">
                <a:solidFill>
                  <a:srgbClr val="15241D"/>
                </a:solidFill>
                <a:latin typeface="Bebas Neue" panose="020B0606020202050201" pitchFamily="34" charset="0"/>
              </a:rPr>
              <a:t>The MOSFET as a switch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6639F7D3-6A15-7211-5ED2-AB963FDE031A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91D775C0-29E3-FBE7-D94D-755B3972DDFE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88C2CCE4-F246-C0E5-56B9-857F624689DE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EEE8500A-D2C9-DCAB-963E-9FCB3907E866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1F1A7FB4-5735-5108-7344-36F1F3CFAA6A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3F0F164F-8F77-F98B-0DC2-6A9D9D9CE268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1B4AB95C-6B3C-DB1B-7420-635596D54BE1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00ED8F72-7FE6-1143-6799-866520C4C51C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numeral">
            <a:extLst>
              <a:ext uri="{FF2B5EF4-FFF2-40B4-BE49-F238E27FC236}">
                <a16:creationId xmlns:a16="http://schemas.microsoft.com/office/drawing/2014/main" id="{230D55AD-16A4-564D-4505-3F89B8607EF6}"/>
              </a:ext>
            </a:extLst>
          </p:cNvPr>
          <p:cNvSpPr txBox="1"/>
          <p:nvPr/>
        </p:nvSpPr>
        <p:spPr>
          <a:xfrm>
            <a:off x="965200" y="1777999"/>
            <a:ext cx="5080000" cy="2540000"/>
          </a:xfrm>
          <a:prstGeom prst="rect">
            <a:avLst/>
          </a:prstGeom>
          <a:noFill/>
        </p:spPr>
        <p:txBody>
          <a:bodyPr vert="horz" wrap="square" lIns="0" tIns="0" rIns="0" bIns="0" rtlCol="0" anchor="b">
            <a:noAutofit/>
          </a:bodyPr>
          <a:lstStyle/>
          <a:p>
            <a:r>
              <a:rPr lang="en-US" sz="20000">
                <a:solidFill>
                  <a:srgbClr val="145A43"/>
                </a:solidFill>
                <a:latin typeface="Bebas Neue" panose="020B0606020202050201" pitchFamily="34" charset="0"/>
              </a:rPr>
              <a:t>05</a:t>
            </a:r>
          </a:p>
        </p:txBody>
      </p:sp>
      <p:sp>
        <p:nvSpPr>
          <p:cNvPr id="12" name="item">
            <a:extLst>
              <a:ext uri="{FF2B5EF4-FFF2-40B4-BE49-F238E27FC236}">
                <a16:creationId xmlns:a16="http://schemas.microsoft.com/office/drawing/2014/main" id="{F9FCA8AB-C357-01EC-2DE8-BA65DEF5DE92}"/>
              </a:ext>
            </a:extLst>
          </p:cNvPr>
          <p:cNvSpPr txBox="1"/>
          <p:nvPr/>
        </p:nvSpPr>
        <p:spPr>
          <a:xfrm>
            <a:off x="1016000" y="58419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Cutoff: an open switch</a:t>
            </a:r>
          </a:p>
        </p:txBody>
      </p:sp>
      <p:sp>
        <p:nvSpPr>
          <p:cNvPr id="13" name="item">
            <a:extLst>
              <a:ext uri="{FF2B5EF4-FFF2-40B4-BE49-F238E27FC236}">
                <a16:creationId xmlns:a16="http://schemas.microsoft.com/office/drawing/2014/main" id="{9882D9C6-23BF-2BC3-0455-AD725B3A211E}"/>
              </a:ext>
            </a:extLst>
          </p:cNvPr>
          <p:cNvSpPr txBox="1"/>
          <p:nvPr/>
        </p:nvSpPr>
        <p:spPr>
          <a:xfrm>
            <a:off x="1016000" y="6375399"/>
            <a:ext cx="8890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330200" indent="-330200">
              <a:buClr>
                <a:srgbClr val="145A43"/>
              </a:buClr>
              <a:buFont typeface="+mj-lt"/>
              <a:buChar char="■"/>
            </a:pPr>
            <a:r>
              <a:rPr lang="en-US" sz="2300">
                <a:solidFill>
                  <a:srgbClr val="4D5B54"/>
                </a:solidFill>
                <a:latin typeface="DM Sans" pitchFamily="2" charset="0"/>
              </a:rPr>
              <a:t>Deep triode: a closed switch</a:t>
            </a:r>
          </a:p>
        </p:txBody>
      </p:sp>
      <p:sp>
        <p:nvSpPr>
          <p:cNvPr id="14" name="map">
            <a:extLst>
              <a:ext uri="{FF2B5EF4-FFF2-40B4-BE49-F238E27FC236}">
                <a16:creationId xmlns:a16="http://schemas.microsoft.com/office/drawing/2014/main" id="{CBCD37CC-37EA-DB20-65CD-E2BA4A2EAD52}"/>
              </a:ext>
            </a:extLst>
          </p:cNvPr>
          <p:cNvSpPr/>
          <p:nvPr/>
        </p:nvSpPr>
        <p:spPr>
          <a:xfrm>
            <a:off x="12192000" y="24130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1</a:t>
            </a:r>
          </a:p>
        </p:txBody>
      </p:sp>
      <p:sp>
        <p:nvSpPr>
          <p:cNvPr id="15" name="map">
            <a:extLst>
              <a:ext uri="{FF2B5EF4-FFF2-40B4-BE49-F238E27FC236}">
                <a16:creationId xmlns:a16="http://schemas.microsoft.com/office/drawing/2014/main" id="{D8F28C09-303C-8471-693E-19BCF719D0C2}"/>
              </a:ext>
            </a:extLst>
          </p:cNvPr>
          <p:cNvSpPr txBox="1"/>
          <p:nvPr/>
        </p:nvSpPr>
        <p:spPr>
          <a:xfrm>
            <a:off x="12827000" y="24129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Structure and operation</a:t>
            </a:r>
          </a:p>
        </p:txBody>
      </p:sp>
      <p:sp>
        <p:nvSpPr>
          <p:cNvPr id="16" name="map">
            <a:extLst>
              <a:ext uri="{FF2B5EF4-FFF2-40B4-BE49-F238E27FC236}">
                <a16:creationId xmlns:a16="http://schemas.microsoft.com/office/drawing/2014/main" id="{C79285A2-73A5-DB57-1625-1F45A05DD2BF}"/>
              </a:ext>
            </a:extLst>
          </p:cNvPr>
          <p:cNvSpPr/>
          <p:nvPr/>
        </p:nvSpPr>
        <p:spPr>
          <a:xfrm>
            <a:off x="12192000" y="32258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2</a:t>
            </a:r>
          </a:p>
        </p:txBody>
      </p:sp>
      <p:sp>
        <p:nvSpPr>
          <p:cNvPr id="17" name="map">
            <a:extLst>
              <a:ext uri="{FF2B5EF4-FFF2-40B4-BE49-F238E27FC236}">
                <a16:creationId xmlns:a16="http://schemas.microsoft.com/office/drawing/2014/main" id="{BF305ECC-DF18-1C1B-05B8-E2AABEAE42F5}"/>
              </a:ext>
            </a:extLst>
          </p:cNvPr>
          <p:cNvSpPr txBox="1"/>
          <p:nvPr/>
        </p:nvSpPr>
        <p:spPr>
          <a:xfrm>
            <a:off x="12827000" y="32257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I–V characteristics</a:t>
            </a:r>
          </a:p>
        </p:txBody>
      </p:sp>
      <p:sp>
        <p:nvSpPr>
          <p:cNvPr id="18" name="map">
            <a:extLst>
              <a:ext uri="{FF2B5EF4-FFF2-40B4-BE49-F238E27FC236}">
                <a16:creationId xmlns:a16="http://schemas.microsoft.com/office/drawing/2014/main" id="{B881BB49-0568-0E60-ED06-B3F8137F08A6}"/>
              </a:ext>
            </a:extLst>
          </p:cNvPr>
          <p:cNvSpPr/>
          <p:nvPr/>
        </p:nvSpPr>
        <p:spPr>
          <a:xfrm>
            <a:off x="12192000" y="40386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3</a:t>
            </a:r>
          </a:p>
        </p:txBody>
      </p:sp>
      <p:sp>
        <p:nvSpPr>
          <p:cNvPr id="19" name="map">
            <a:extLst>
              <a:ext uri="{FF2B5EF4-FFF2-40B4-BE49-F238E27FC236}">
                <a16:creationId xmlns:a16="http://schemas.microsoft.com/office/drawing/2014/main" id="{7E86D856-684F-CC9C-7731-B1D16C438363}"/>
              </a:ext>
            </a:extLst>
          </p:cNvPr>
          <p:cNvSpPr txBox="1"/>
          <p:nvPr/>
        </p:nvSpPr>
        <p:spPr>
          <a:xfrm>
            <a:off x="12827000" y="40385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MOSFETs in DC circuits</a:t>
            </a:r>
          </a:p>
        </p:txBody>
      </p:sp>
      <p:sp>
        <p:nvSpPr>
          <p:cNvPr id="20" name="map">
            <a:extLst>
              <a:ext uri="{FF2B5EF4-FFF2-40B4-BE49-F238E27FC236}">
                <a16:creationId xmlns:a16="http://schemas.microsoft.com/office/drawing/2014/main" id="{41F56BFD-EE70-966C-8831-66402973793F}"/>
              </a:ext>
            </a:extLst>
          </p:cNvPr>
          <p:cNvSpPr/>
          <p:nvPr/>
        </p:nvSpPr>
        <p:spPr>
          <a:xfrm>
            <a:off x="12192000" y="4851400"/>
            <a:ext cx="431800" cy="431800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A9B2AD"/>
                </a:solidFill>
                <a:latin typeface="Bebas Neue" panose="020B0606020202050201" pitchFamily="34" charset="0"/>
              </a:rPr>
              <a:t>4</a:t>
            </a:r>
          </a:p>
        </p:txBody>
      </p:sp>
      <p:sp>
        <p:nvSpPr>
          <p:cNvPr id="21" name="map">
            <a:extLst>
              <a:ext uri="{FF2B5EF4-FFF2-40B4-BE49-F238E27FC236}">
                <a16:creationId xmlns:a16="http://schemas.microsoft.com/office/drawing/2014/main" id="{0921B983-4013-AC2E-6526-3851AA985849}"/>
              </a:ext>
            </a:extLst>
          </p:cNvPr>
          <p:cNvSpPr txBox="1"/>
          <p:nvPr/>
        </p:nvSpPr>
        <p:spPr>
          <a:xfrm>
            <a:off x="12827000" y="48513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>
                <a:solidFill>
                  <a:srgbClr val="A9B2AD"/>
                </a:solidFill>
                <a:latin typeface="DM Sans" pitchFamily="2" charset="0"/>
              </a:rPr>
              <a:t>The MOSFET as an amplifier</a:t>
            </a:r>
          </a:p>
        </p:txBody>
      </p:sp>
      <p:sp>
        <p:nvSpPr>
          <p:cNvPr id="22" name="map">
            <a:extLst>
              <a:ext uri="{FF2B5EF4-FFF2-40B4-BE49-F238E27FC236}">
                <a16:creationId xmlns:a16="http://schemas.microsoft.com/office/drawing/2014/main" id="{39FD69E6-56C8-6711-71FB-7970469FE663}"/>
              </a:ext>
            </a:extLst>
          </p:cNvPr>
          <p:cNvSpPr/>
          <p:nvPr/>
        </p:nvSpPr>
        <p:spPr>
          <a:xfrm>
            <a:off x="12192000" y="5664200"/>
            <a:ext cx="431800" cy="431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2200">
                <a:solidFill>
                  <a:srgbClr val="FFFFFF"/>
                </a:solidFill>
                <a:latin typeface="Bebas Neue" panose="020B0606020202050201" pitchFamily="34" charset="0"/>
              </a:rPr>
              <a:t>5</a:t>
            </a:r>
          </a:p>
        </p:txBody>
      </p:sp>
      <p:sp>
        <p:nvSpPr>
          <p:cNvPr id="23" name="map">
            <a:extLst>
              <a:ext uri="{FF2B5EF4-FFF2-40B4-BE49-F238E27FC236}">
                <a16:creationId xmlns:a16="http://schemas.microsoft.com/office/drawing/2014/main" id="{C14D49EA-D348-E5F8-C17D-D1195F2CB17E}"/>
              </a:ext>
            </a:extLst>
          </p:cNvPr>
          <p:cNvSpPr txBox="1"/>
          <p:nvPr/>
        </p:nvSpPr>
        <p:spPr>
          <a:xfrm>
            <a:off x="12827000" y="5664199"/>
            <a:ext cx="4826000" cy="431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900" b="1">
                <a:solidFill>
                  <a:srgbClr val="15241D"/>
                </a:solidFill>
                <a:latin typeface="DM Sans" pitchFamily="2" charset="0"/>
              </a:rPr>
              <a:t>The MOSFET as a switch</a:t>
            </a:r>
          </a:p>
        </p:txBody>
      </p:sp>
    </p:spTree>
    <p:extLst>
      <p:ext uri="{BB962C8B-B14F-4D97-AF65-F5344CB8AC3E}">
        <p14:creationId xmlns:p14="http://schemas.microsoft.com/office/powerpoint/2010/main" val="40185405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he MOSFET as a switch s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46527AE-72BF-D6DA-DD7C-B071A9CF7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The MOSFET as a switch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3344C44A-6585-49D0-A05B-74D7937B3816}"/>
              </a:ext>
            </a:extLst>
          </p:cNvPr>
          <p:cNvSpPr/>
          <p:nvPr/>
        </p:nvSpPr>
        <p:spPr>
          <a:xfrm>
            <a:off x="914400" y="279400"/>
            <a:ext cx="3341116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5 · THE MOSFET AS A SWITCH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C0FC718E-A3CA-B573-D23F-86685A4F8DF2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6431A10E-DC8E-FD35-B8A6-E822A168F4A2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figure card">
            <a:extLst>
              <a:ext uri="{FF2B5EF4-FFF2-40B4-BE49-F238E27FC236}">
                <a16:creationId xmlns:a16="http://schemas.microsoft.com/office/drawing/2014/main" id="{BA30CAF4-424D-8F1E-DD8B-00D0BEE5469B}"/>
              </a:ext>
            </a:extLst>
          </p:cNvPr>
          <p:cNvSpPr/>
          <p:nvPr/>
        </p:nvSpPr>
        <p:spPr>
          <a:xfrm>
            <a:off x="914400" y="2222500"/>
            <a:ext cx="8128000" cy="4788102"/>
          </a:xfrm>
          <a:prstGeom prst="rect">
            <a:avLst/>
          </a:prstGeom>
          <a:solidFill>
            <a:srgbClr val="FFFFFF"/>
          </a:solidFill>
          <a:ln w="15875">
            <a:solidFill>
              <a:srgbClr val="D5DCD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igure card">
            <a:extLst>
              <a:ext uri="{FF2B5EF4-FFF2-40B4-BE49-F238E27FC236}">
                <a16:creationId xmlns:a16="http://schemas.microsoft.com/office/drawing/2014/main" id="{F5C7668E-A3E7-29FF-4221-84D31010FB95}"/>
              </a:ext>
            </a:extLst>
          </p:cNvPr>
          <p:cNvSpPr/>
          <p:nvPr/>
        </p:nvSpPr>
        <p:spPr>
          <a:xfrm>
            <a:off x="914400" y="2209800"/>
            <a:ext cx="711200" cy="635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figure">
            <a:extLst>
              <a:ext uri="{FF2B5EF4-FFF2-40B4-BE49-F238E27FC236}">
                <a16:creationId xmlns:a16="http://schemas.microsoft.com/office/drawing/2014/main" id="{4421885C-6D5E-075F-4685-9E1018A012FE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8400" y="2476500"/>
            <a:ext cx="7620000" cy="4051502"/>
          </a:xfrm>
          <a:prstGeom prst="rect">
            <a:avLst/>
          </a:prstGeom>
        </p:spPr>
      </p:pic>
      <p:sp>
        <p:nvSpPr>
          <p:cNvPr id="10" name="credit">
            <a:extLst>
              <a:ext uri="{FF2B5EF4-FFF2-40B4-BE49-F238E27FC236}">
                <a16:creationId xmlns:a16="http://schemas.microsoft.com/office/drawing/2014/main" id="{5F3F33A8-A208-5BF0-90E7-915E474BBB31}"/>
              </a:ext>
            </a:extLst>
          </p:cNvPr>
          <p:cNvSpPr txBox="1"/>
          <p:nvPr/>
        </p:nvSpPr>
        <p:spPr>
          <a:xfrm>
            <a:off x="1168400" y="6655002"/>
            <a:ext cx="7620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en-US" sz="1200">
                <a:solidFill>
                  <a:srgbClr val="4D5B54"/>
                </a:solidFill>
                <a:latin typeface="DM Sans" pitchFamily="2" charset="0"/>
              </a:rPr>
              <a:t>Figure: web source, via the original lecture slides</a:t>
            </a:r>
          </a:p>
        </p:txBody>
      </p:sp>
      <p:sp>
        <p:nvSpPr>
          <p:cNvPr id="11" name="point @1">
            <a:extLst>
              <a:ext uri="{FF2B5EF4-FFF2-40B4-BE49-F238E27FC236}">
                <a16:creationId xmlns:a16="http://schemas.microsoft.com/office/drawing/2014/main" id="{348C74C0-67C7-6237-74B8-04BC555A141F}"/>
              </a:ext>
            </a:extLst>
          </p:cNvPr>
          <p:cNvSpPr txBox="1"/>
          <p:nvPr/>
        </p:nvSpPr>
        <p:spPr>
          <a:xfrm>
            <a:off x="9652000" y="2413000"/>
            <a:ext cx="7721600" cy="37875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: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cutoff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 The switch is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open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and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i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= 0.</a:t>
            </a:r>
          </a:p>
        </p:txBody>
      </p:sp>
      <p:sp>
        <p:nvSpPr>
          <p:cNvPr id="12" name="point @2">
            <a:extLst>
              <a:ext uri="{FF2B5EF4-FFF2-40B4-BE49-F238E27FC236}">
                <a16:creationId xmlns:a16="http://schemas.microsoft.com/office/drawing/2014/main" id="{821F7A70-F595-5020-CAEF-53123F36DD80}"/>
              </a:ext>
            </a:extLst>
          </p:cNvPr>
          <p:cNvSpPr txBox="1"/>
          <p:nvPr/>
        </p:nvSpPr>
        <p:spPr>
          <a:xfrm>
            <a:off x="9652000" y="3071158"/>
            <a:ext cx="7721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high and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 small: deep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triode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 The switch is </a:t>
            </a:r>
            <a:r>
              <a:rPr lang="en-US" sz="2400" b="1">
                <a:solidFill>
                  <a:srgbClr val="15241D"/>
                </a:solidFill>
                <a:latin typeface="DM Sans" pitchFamily="2" charset="0"/>
              </a:rPr>
              <a:t>closed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, with a small resistance </a:t>
            </a:r>
            <a:r>
              <a:rPr lang="en-US" sz="2400" i="1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24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13" name="point @3">
            <a:extLst>
              <a:ext uri="{FF2B5EF4-FFF2-40B4-BE49-F238E27FC236}">
                <a16:creationId xmlns:a16="http://schemas.microsoft.com/office/drawing/2014/main" id="{66CC967C-5E64-0FA7-7501-97715340528E}"/>
              </a:ext>
            </a:extLst>
          </p:cNvPr>
          <p:cNvSpPr txBox="1"/>
          <p:nvPr/>
        </p:nvSpPr>
        <p:spPr>
          <a:xfrm>
            <a:off x="9652000" y="4117115"/>
            <a:ext cx="7721600" cy="766557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400">
                <a:solidFill>
                  <a:srgbClr val="15241D"/>
                </a:solidFill>
                <a:latin typeface="DM Sans" pitchFamily="2" charset="0"/>
              </a:rPr>
              <a:t>Driving the gate between these two states is the basis of digital logic.</a:t>
            </a:r>
          </a:p>
        </p:txBody>
      </p:sp>
      <p:sp>
        <p:nvSpPr>
          <p:cNvPr id="8" name="chrome page">
            <a:extLst>
              <a:ext uri="{FF2B5EF4-FFF2-40B4-BE49-F238E27FC236}">
                <a16:creationId xmlns:a16="http://schemas.microsoft.com/office/drawing/2014/main" id="{01532CFF-E1DC-ACF8-122B-8CEDCBFAF50E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hrome page">
            <a:extLst>
              <a:ext uri="{FF2B5EF4-FFF2-40B4-BE49-F238E27FC236}">
                <a16:creationId xmlns:a16="http://schemas.microsoft.com/office/drawing/2014/main" id="{4E4194E5-5EA5-64C7-E287-DD145D04A629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32859864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ummary: three regions of oper s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ECA684FD-7A8A-9F18-32C3-AF6D237AF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87400"/>
            <a:ext cx="16459200" cy="7874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5400">
                <a:solidFill>
                  <a:srgbClr val="15241D"/>
                </a:solidFill>
                <a:latin typeface="Bebas Neue" panose="020B0606020202050201" pitchFamily="34" charset="0"/>
              </a:rPr>
              <a:t>Summary: three regions of operation</a:t>
            </a:r>
          </a:p>
        </p:txBody>
      </p:sp>
      <p:sp>
        <p:nvSpPr>
          <p:cNvPr id="3" name="section tag">
            <a:extLst>
              <a:ext uri="{FF2B5EF4-FFF2-40B4-BE49-F238E27FC236}">
                <a16:creationId xmlns:a16="http://schemas.microsoft.com/office/drawing/2014/main" id="{8615E74C-9583-C3C1-8721-D2926DEAAD23}"/>
              </a:ext>
            </a:extLst>
          </p:cNvPr>
          <p:cNvSpPr/>
          <p:nvPr/>
        </p:nvSpPr>
        <p:spPr>
          <a:xfrm>
            <a:off x="914400" y="279400"/>
            <a:ext cx="2578354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LECTURE 3 · SUMMARY</a:t>
            </a:r>
          </a:p>
        </p:txBody>
      </p:sp>
      <p:sp>
        <p:nvSpPr>
          <p:cNvPr id="4" name="chrome footer">
            <a:extLst>
              <a:ext uri="{FF2B5EF4-FFF2-40B4-BE49-F238E27FC236}">
                <a16:creationId xmlns:a16="http://schemas.microsoft.com/office/drawing/2014/main" id="{80863945-12FB-93B5-BA3F-D3A8E5B06E3D}"/>
              </a:ext>
            </a:extLst>
          </p:cNvPr>
          <p:cNvSpPr/>
          <p:nvPr/>
        </p:nvSpPr>
        <p:spPr>
          <a:xfrm>
            <a:off x="914400" y="9855200"/>
            <a:ext cx="431800" cy="127000"/>
          </a:xfrm>
          <a:prstGeom prst="parallelogram">
            <a:avLst>
              <a:gd name="adj" fmla="val 5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hrome footer">
            <a:extLst>
              <a:ext uri="{FF2B5EF4-FFF2-40B4-BE49-F238E27FC236}">
                <a16:creationId xmlns:a16="http://schemas.microsoft.com/office/drawing/2014/main" id="{43396376-8208-2B9A-FAB1-32686BA90711}"/>
              </a:ext>
            </a:extLst>
          </p:cNvPr>
          <p:cNvSpPr txBox="1"/>
          <p:nvPr/>
        </p:nvSpPr>
        <p:spPr>
          <a:xfrm>
            <a:off x="1498600" y="9766299"/>
            <a:ext cx="8890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300">
                <a:solidFill>
                  <a:srgbClr val="4D5B54"/>
                </a:solidFill>
                <a:latin typeface="DM Sans" pitchFamily="2" charset="0"/>
              </a:rPr>
              <a:t>ELEC1  ·  Lecture 3  ·  MOSFETs</a:t>
            </a:r>
          </a:p>
        </p:txBody>
      </p:sp>
      <p:sp>
        <p:nvSpPr>
          <p:cNvPr id="6" name="th">
            <a:extLst>
              <a:ext uri="{FF2B5EF4-FFF2-40B4-BE49-F238E27FC236}">
                <a16:creationId xmlns:a16="http://schemas.microsoft.com/office/drawing/2014/main" id="{039F02F1-74CB-1D84-BF71-C41ACF66375E}"/>
              </a:ext>
            </a:extLst>
          </p:cNvPr>
          <p:cNvSpPr/>
          <p:nvPr/>
        </p:nvSpPr>
        <p:spPr>
          <a:xfrm>
            <a:off x="914400" y="2286000"/>
            <a:ext cx="16459200" cy="5588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h">
            <a:extLst>
              <a:ext uri="{FF2B5EF4-FFF2-40B4-BE49-F238E27FC236}">
                <a16:creationId xmlns:a16="http://schemas.microsoft.com/office/drawing/2014/main" id="{27F9334A-C188-20FD-C7D9-6CC6CD6376FA}"/>
              </a:ext>
            </a:extLst>
          </p:cNvPr>
          <p:cNvSpPr txBox="1"/>
          <p:nvPr/>
        </p:nvSpPr>
        <p:spPr>
          <a:xfrm>
            <a:off x="1219200" y="2285999"/>
            <a:ext cx="28194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DM Sans" pitchFamily="2" charset="0"/>
              </a:rPr>
              <a:t>REGION</a:t>
            </a:r>
          </a:p>
        </p:txBody>
      </p:sp>
      <p:sp>
        <p:nvSpPr>
          <p:cNvPr id="8" name="th">
            <a:extLst>
              <a:ext uri="{FF2B5EF4-FFF2-40B4-BE49-F238E27FC236}">
                <a16:creationId xmlns:a16="http://schemas.microsoft.com/office/drawing/2014/main" id="{5BA5B17E-7E85-6D0E-51FC-C591110C043A}"/>
              </a:ext>
            </a:extLst>
          </p:cNvPr>
          <p:cNvSpPr txBox="1"/>
          <p:nvPr/>
        </p:nvSpPr>
        <p:spPr>
          <a:xfrm>
            <a:off x="4343400" y="2285999"/>
            <a:ext cx="5156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DM Sans" pitchFamily="2" charset="0"/>
              </a:rPr>
              <a:t>CONDITION</a:t>
            </a:r>
          </a:p>
        </p:txBody>
      </p:sp>
      <p:sp>
        <p:nvSpPr>
          <p:cNvPr id="9" name="th">
            <a:extLst>
              <a:ext uri="{FF2B5EF4-FFF2-40B4-BE49-F238E27FC236}">
                <a16:creationId xmlns:a16="http://schemas.microsoft.com/office/drawing/2014/main" id="{BEB20C17-70FB-7E69-6AF3-464F90B6656F}"/>
              </a:ext>
            </a:extLst>
          </p:cNvPr>
          <p:cNvSpPr txBox="1"/>
          <p:nvPr/>
        </p:nvSpPr>
        <p:spPr>
          <a:xfrm>
            <a:off x="9804400" y="2285999"/>
            <a:ext cx="75692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1500" b="1">
                <a:solidFill>
                  <a:srgbClr val="FFFFFF"/>
                </a:solidFill>
                <a:latin typeface="DM Sans" pitchFamily="2" charset="0"/>
              </a:rPr>
              <a:t>DRAIN CURRENT</a:t>
            </a:r>
          </a:p>
        </p:txBody>
      </p:sp>
      <p:sp>
        <p:nvSpPr>
          <p:cNvPr id="10" name="td">
            <a:extLst>
              <a:ext uri="{FF2B5EF4-FFF2-40B4-BE49-F238E27FC236}">
                <a16:creationId xmlns:a16="http://schemas.microsoft.com/office/drawing/2014/main" id="{2E18C36F-D65D-C09D-A262-8C2AE3353F5F}"/>
              </a:ext>
            </a:extLst>
          </p:cNvPr>
          <p:cNvSpPr txBox="1"/>
          <p:nvPr/>
        </p:nvSpPr>
        <p:spPr>
          <a:xfrm>
            <a:off x="1219200" y="2971799"/>
            <a:ext cx="28194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>
                <a:solidFill>
                  <a:srgbClr val="15241D"/>
                </a:solidFill>
                <a:latin typeface="Bebas Neue" panose="020B0606020202050201" pitchFamily="34" charset="0"/>
              </a:rPr>
              <a:t>Cutoff</a:t>
            </a:r>
          </a:p>
        </p:txBody>
      </p:sp>
      <p:sp>
        <p:nvSpPr>
          <p:cNvPr id="11" name="td">
            <a:extLst>
              <a:ext uri="{FF2B5EF4-FFF2-40B4-BE49-F238E27FC236}">
                <a16:creationId xmlns:a16="http://schemas.microsoft.com/office/drawing/2014/main" id="{72B9BFBA-9526-C851-5E20-AD84B71E56F9}"/>
              </a:ext>
            </a:extLst>
          </p:cNvPr>
          <p:cNvSpPr txBox="1"/>
          <p:nvPr/>
        </p:nvSpPr>
        <p:spPr>
          <a:xfrm>
            <a:off x="4343400" y="2971799"/>
            <a:ext cx="51562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≤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eq">
                <a:extLst>
                  <a:ext uri="{FF2B5EF4-FFF2-40B4-BE49-F238E27FC236}">
                    <a16:creationId xmlns:a16="http://schemas.microsoft.com/office/drawing/2014/main" id="{168DBB11-D602-308B-1E0F-0A8372C6D79D}"/>
                  </a:ext>
                </a:extLst>
              </p:cNvPr>
              <p:cNvSpPr txBox="1"/>
              <p:nvPr/>
            </p:nvSpPr>
            <p:spPr>
              <a:xfrm>
                <a:off x="9804400" y="30225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=0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2" name="eq">
                <a:extLst>
                  <a:ext uri="{FF2B5EF4-FFF2-40B4-BE49-F238E27FC236}">
                    <a16:creationId xmlns:a16="http://schemas.microsoft.com/office/drawing/2014/main" id="{168DBB11-D602-308B-1E0F-0A8372C6D79D}"/>
                  </a:ext>
                </a:extLst>
              </p:cNvPr>
              <p:cNvSpPr txBox="1"/>
              <p:nvPr/>
            </p:nvSpPr>
            <p:spPr>
              <a:xfrm>
                <a:off x="9804400" y="30225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0</a:t>
                </a:r>
              </a:p>
            </p:txBody>
          </p:sp>
        </mc:Fallback>
      </mc:AlternateContent>
      <p:cxnSp>
        <p:nvCxnSpPr>
          <p:cNvPr id="13" name="rule">
            <a:extLst>
              <a:ext uri="{FF2B5EF4-FFF2-40B4-BE49-F238E27FC236}">
                <a16:creationId xmlns:a16="http://schemas.microsoft.com/office/drawing/2014/main" id="{88B1AA7C-7466-2032-6ADD-7385075E2BA9}"/>
              </a:ext>
            </a:extLst>
          </p:cNvPr>
          <p:cNvCxnSpPr/>
          <p:nvPr/>
        </p:nvCxnSpPr>
        <p:spPr>
          <a:xfrm>
            <a:off x="914400" y="4089400"/>
            <a:ext cx="16459200" cy="0"/>
          </a:xfrm>
          <a:prstGeom prst="line">
            <a:avLst/>
          </a:prstGeom>
          <a:ln w="12700">
            <a:solidFill>
              <a:srgbClr val="D5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d">
            <a:extLst>
              <a:ext uri="{FF2B5EF4-FFF2-40B4-BE49-F238E27FC236}">
                <a16:creationId xmlns:a16="http://schemas.microsoft.com/office/drawing/2014/main" id="{FB6AEC40-48C1-0BC4-B624-02DE19D318C2}"/>
              </a:ext>
            </a:extLst>
          </p:cNvPr>
          <p:cNvSpPr txBox="1"/>
          <p:nvPr/>
        </p:nvSpPr>
        <p:spPr>
          <a:xfrm>
            <a:off x="1219200" y="4190999"/>
            <a:ext cx="28194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>
                <a:solidFill>
                  <a:srgbClr val="15241D"/>
                </a:solidFill>
                <a:latin typeface="Bebas Neue" panose="020B0606020202050201" pitchFamily="34" charset="0"/>
              </a:rPr>
              <a:t>Triode</a:t>
            </a:r>
          </a:p>
        </p:txBody>
      </p:sp>
      <p:sp>
        <p:nvSpPr>
          <p:cNvPr id="15" name="td">
            <a:extLst>
              <a:ext uri="{FF2B5EF4-FFF2-40B4-BE49-F238E27FC236}">
                <a16:creationId xmlns:a16="http://schemas.microsoft.com/office/drawing/2014/main" id="{1C30F713-F70F-A967-D67C-A4CC5133E6C1}"/>
              </a:ext>
            </a:extLst>
          </p:cNvPr>
          <p:cNvSpPr txBox="1"/>
          <p:nvPr/>
        </p:nvSpPr>
        <p:spPr>
          <a:xfrm>
            <a:off x="4343400" y="4190999"/>
            <a:ext cx="51562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&gt;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, 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&lt;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eq">
                <a:extLst>
                  <a:ext uri="{FF2B5EF4-FFF2-40B4-BE49-F238E27FC236}">
                    <a16:creationId xmlns:a16="http://schemas.microsoft.com/office/drawing/2014/main" id="{BAFA72DD-65ED-CF04-8011-1B54F33481B3}"/>
                  </a:ext>
                </a:extLst>
              </p:cNvPr>
              <p:cNvSpPr txBox="1"/>
              <p:nvPr/>
            </p:nvSpPr>
            <p:spPr>
              <a:xfrm>
                <a:off x="9804400" y="42417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sSubSup>
                        <m:sSubSupPr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𝑛</m:t>
                          </m:r>
                        </m:sub>
                        <m:sup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𝑊</m:t>
                          </m:r>
                        </m:num>
                        <m:den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dPr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𝐺𝑆</m:t>
                              </m:r>
                            </m:sub>
                          </m:s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  <m:sSub>
                            <m:sSubPr>
                              <m:ctrlP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Pr>
                            <m:e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𝐷𝑆</m:t>
                              </m:r>
                            </m:sub>
                          </m:s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−</m:t>
                          </m:r>
                          <m:f>
                            <m:fPr>
                              <m:ctrlP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fPr>
                            <m:num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den>
                          </m:f>
                          <m:sSubSup>
                            <m:sSubSupPr>
                              <m:ctrlP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</m:ctrlPr>
                            </m:sSubSupPr>
                            <m:e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𝐷𝑆</m:t>
                              </m:r>
                            </m:sub>
                            <m:sup>
                              <m:r>
                                <a:rPr lang="en-US" sz="2400" b="0">
                                  <a:solidFill>
                                    <a:srgbClr val="15241D"/>
                                  </a:solidFill>
                                  <a:latin typeface="Cambria Math"/>
                                  <a:cs typeface="Cambria Math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6" name="eq">
                <a:extLst>
                  <a:ext uri="{FF2B5EF4-FFF2-40B4-BE49-F238E27FC236}">
                    <a16:creationId xmlns:a16="http://schemas.microsoft.com/office/drawing/2014/main" id="{BAFA72DD-65ED-CF04-8011-1B54F33481B3}"/>
                  </a:ext>
                </a:extLst>
              </p:cNvPr>
              <p:cNvSpPr txBox="1"/>
              <p:nvPr/>
            </p:nvSpPr>
            <p:spPr>
              <a:xfrm>
                <a:off x="9804400" y="42417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k_n^{\prime}\frac{W}{L}\left[(v_{GS}-V_t)\,v_{DS}-\frac{1}{2}v_{DS}^2\right]</a:t>
                </a:r>
              </a:p>
            </p:txBody>
          </p:sp>
        </mc:Fallback>
      </mc:AlternateContent>
      <p:cxnSp>
        <p:nvCxnSpPr>
          <p:cNvPr id="17" name="rule">
            <a:extLst>
              <a:ext uri="{FF2B5EF4-FFF2-40B4-BE49-F238E27FC236}">
                <a16:creationId xmlns:a16="http://schemas.microsoft.com/office/drawing/2014/main" id="{C633734C-18C4-30BE-20FD-0C6B715D4EBF}"/>
              </a:ext>
            </a:extLst>
          </p:cNvPr>
          <p:cNvCxnSpPr/>
          <p:nvPr/>
        </p:nvCxnSpPr>
        <p:spPr>
          <a:xfrm>
            <a:off x="914400" y="5308600"/>
            <a:ext cx="16459200" cy="0"/>
          </a:xfrm>
          <a:prstGeom prst="line">
            <a:avLst/>
          </a:prstGeom>
          <a:ln w="12700">
            <a:solidFill>
              <a:srgbClr val="D5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d">
            <a:extLst>
              <a:ext uri="{FF2B5EF4-FFF2-40B4-BE49-F238E27FC236}">
                <a16:creationId xmlns:a16="http://schemas.microsoft.com/office/drawing/2014/main" id="{DD2108D7-4238-A851-0C66-C20A8AF64E48}"/>
              </a:ext>
            </a:extLst>
          </p:cNvPr>
          <p:cNvSpPr txBox="1"/>
          <p:nvPr/>
        </p:nvSpPr>
        <p:spPr>
          <a:xfrm>
            <a:off x="1219200" y="5410199"/>
            <a:ext cx="28194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3000">
                <a:solidFill>
                  <a:srgbClr val="15241D"/>
                </a:solidFill>
                <a:latin typeface="Bebas Neue" panose="020B0606020202050201" pitchFamily="34" charset="0"/>
              </a:rPr>
              <a:t>Saturation</a:t>
            </a:r>
          </a:p>
        </p:txBody>
      </p:sp>
      <p:sp>
        <p:nvSpPr>
          <p:cNvPr id="19" name="td">
            <a:extLst>
              <a:ext uri="{FF2B5EF4-FFF2-40B4-BE49-F238E27FC236}">
                <a16:creationId xmlns:a16="http://schemas.microsoft.com/office/drawing/2014/main" id="{3C743BA1-8E91-AE2C-B402-4B85F6C5CBC5}"/>
              </a:ext>
            </a:extLst>
          </p:cNvPr>
          <p:cNvSpPr txBox="1"/>
          <p:nvPr/>
        </p:nvSpPr>
        <p:spPr>
          <a:xfrm>
            <a:off x="4343400" y="5410199"/>
            <a:ext cx="5156200" cy="1016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&gt;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, 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DS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≥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1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1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1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eq">
                <a:extLst>
                  <a:ext uri="{FF2B5EF4-FFF2-40B4-BE49-F238E27FC236}">
                    <a16:creationId xmlns:a16="http://schemas.microsoft.com/office/drawing/2014/main" id="{D60AAE52-A7CB-772C-D32B-BC6EC7C0A558}"/>
                  </a:ext>
                </a:extLst>
              </p:cNvPr>
              <p:cNvSpPr txBox="1"/>
              <p:nvPr/>
            </p:nvSpPr>
            <p:spPr>
              <a:xfrm>
                <a:off x="9804400" y="54609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𝑖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𝐷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=</m:t>
                      </m:r>
                      <m:f>
                        <m:fPr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1</m:t>
                          </m:r>
                        </m:num>
                        <m:den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den>
                      </m:f>
                      <m:sSubSup>
                        <m:sSubSupPr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SupPr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𝑘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𝑛</m:t>
                          </m:r>
                        </m:sub>
                        <m:sup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′</m:t>
                          </m:r>
                        </m:sup>
                      </m:sSubSup>
                      <m:f>
                        <m:fPr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fPr>
                        <m:num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𝑊</m:t>
                          </m:r>
                        </m:num>
                        <m:den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𝐿</m:t>
                          </m:r>
                        </m:den>
                      </m:f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(</m:t>
                      </m:r>
                      <m:sSub>
                        <m:sSubPr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𝑣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𝐺𝑆</m:t>
                          </m:r>
                        </m:sub>
                      </m:sSub>
                      <m:r>
                        <a:rPr lang="en-US" sz="2400" b="0">
                          <a:solidFill>
                            <a:srgbClr val="15241D"/>
                          </a:solidFill>
                          <a:latin typeface="Cambria Math"/>
                          <a:cs typeface="Cambria Math"/>
                        </a:rPr>
                        <m:t>−</m:t>
                      </m:r>
                      <m:sSub>
                        <m:sSubPr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𝑉</m:t>
                          </m:r>
                        </m:e>
                        <m:sub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𝑡</m:t>
                          </m:r>
                        </m:sub>
                      </m:sSub>
                      <m:sSup>
                        <m:sSupPr>
                          <m:ctrlP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</m:ctrlPr>
                        </m:sSupPr>
                        <m:e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)</m:t>
                          </m:r>
                        </m:e>
                        <m:sup>
                          <m:r>
                            <a:rPr lang="en-US" sz="2400" b="0">
                              <a:solidFill>
                                <a:srgbClr val="15241D"/>
                              </a:solidFill>
                              <a:latin typeface="Cambria Math"/>
                              <a:cs typeface="Cambria Math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20" name="eq">
                <a:extLst>
                  <a:ext uri="{FF2B5EF4-FFF2-40B4-BE49-F238E27FC236}">
                    <a16:creationId xmlns:a16="http://schemas.microsoft.com/office/drawing/2014/main" id="{D60AAE52-A7CB-772C-D32B-BC6EC7C0A558}"/>
                  </a:ext>
                </a:extLst>
              </p:cNvPr>
              <p:cNvSpPr txBox="1"/>
              <p:nvPr/>
            </p:nvSpPr>
            <p:spPr>
              <a:xfrm>
                <a:off x="9804400" y="5460999"/>
                <a:ext cx="7569200" cy="914400"/>
              </a:xfrm>
              <a:prstGeom prst="rect">
                <a:avLst/>
              </a:prstGeom>
              <a:noFill/>
            </p:spPr>
            <p:txBody>
              <a:bodyPr vert="horz" wrap="none" lIns="0" tIns="0" rIns="0" bIns="0" rtlCol="0" anchor="ctr">
                <a:noAutofit/>
              </a:bodyPr>
              <a:lstStyle/>
              <a:p>
                <a:r>
                  <a:t>i_D = \frac{1}{2}\,k_n^{\prime}\frac{W}{L}\,(v_{GS}-V_t)^2</a:t>
                </a:r>
              </a:p>
            </p:txBody>
          </p:sp>
        </mc:Fallback>
      </mc:AlternateContent>
      <p:cxnSp>
        <p:nvCxnSpPr>
          <p:cNvPr id="21" name="rule">
            <a:extLst>
              <a:ext uri="{FF2B5EF4-FFF2-40B4-BE49-F238E27FC236}">
                <a16:creationId xmlns:a16="http://schemas.microsoft.com/office/drawing/2014/main" id="{D228E1B1-61F7-78EE-B605-6DDB17CC5E9C}"/>
              </a:ext>
            </a:extLst>
          </p:cNvPr>
          <p:cNvCxnSpPr/>
          <p:nvPr/>
        </p:nvCxnSpPr>
        <p:spPr>
          <a:xfrm>
            <a:off x="914400" y="6527800"/>
            <a:ext cx="16459200" cy="0"/>
          </a:xfrm>
          <a:prstGeom prst="line">
            <a:avLst/>
          </a:prstGeom>
          <a:ln w="12700">
            <a:solidFill>
              <a:srgbClr val="D5DC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oint">
            <a:extLst>
              <a:ext uri="{FF2B5EF4-FFF2-40B4-BE49-F238E27FC236}">
                <a16:creationId xmlns:a16="http://schemas.microsoft.com/office/drawing/2014/main" id="{8F335605-87C9-07A3-CCA0-310749FBB42E}"/>
              </a:ext>
            </a:extLst>
          </p:cNvPr>
          <p:cNvSpPr txBox="1"/>
          <p:nvPr/>
        </p:nvSpPr>
        <p:spPr>
          <a:xfrm>
            <a:off x="914400" y="6883400"/>
            <a:ext cx="16459200" cy="347211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DC problems: </a:t>
            </a:r>
            <a:r>
              <a:rPr lang="en-US" sz="2200" b="1">
                <a:solidFill>
                  <a:srgbClr val="15241D"/>
                </a:solidFill>
                <a:latin typeface="DM Sans" pitchFamily="2" charset="0"/>
              </a:rPr>
              <a:t>assume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a region, </a:t>
            </a:r>
            <a:r>
              <a:rPr lang="en-US" sz="2200" b="1">
                <a:solidFill>
                  <a:srgbClr val="15241D"/>
                </a:solidFill>
                <a:latin typeface="DM Sans" pitchFamily="2" charset="0"/>
              </a:rPr>
              <a:t>solve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, then </a:t>
            </a:r>
            <a:r>
              <a:rPr lang="en-US" sz="2200" b="1">
                <a:solidFill>
                  <a:srgbClr val="15241D"/>
                </a:solidFill>
                <a:latin typeface="DM Sans" pitchFamily="2" charset="0"/>
              </a:rPr>
              <a:t>check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the assumption.</a:t>
            </a:r>
          </a:p>
        </p:txBody>
      </p:sp>
      <p:sp>
        <p:nvSpPr>
          <p:cNvPr id="23" name="point">
            <a:extLst>
              <a:ext uri="{FF2B5EF4-FFF2-40B4-BE49-F238E27FC236}">
                <a16:creationId xmlns:a16="http://schemas.microsoft.com/office/drawing/2014/main" id="{6D40E434-6B09-23D6-DC85-446AE46F61D9}"/>
              </a:ext>
            </a:extLst>
          </p:cNvPr>
          <p:cNvSpPr txBox="1"/>
          <p:nvPr/>
        </p:nvSpPr>
        <p:spPr>
          <a:xfrm>
            <a:off x="914400" y="7383011"/>
            <a:ext cx="16459200" cy="34394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spAutoFit/>
          </a:bodyPr>
          <a:lstStyle/>
          <a:p>
            <a:pPr marL="330200" indent="-330200">
              <a:lnSpc>
                <a:spcPct val="105000"/>
              </a:lnSpc>
              <a:buClr>
                <a:srgbClr val="145A43"/>
              </a:buClr>
              <a:buFont typeface="+mj-lt"/>
              <a:buChar char="■"/>
            </a:pP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Small signals: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= k′</a:t>
            </a:r>
            <a:r>
              <a:rPr lang="en-US" sz="2200" baseline="-25000">
                <a:solidFill>
                  <a:srgbClr val="15241D"/>
                </a:solidFill>
                <a:latin typeface="DM Sans" pitchFamily="2" charset="0"/>
              </a:rPr>
              <a:t>n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(W/L)(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GS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−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t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); a common-source stage has 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A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v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 = −</a:t>
            </a:r>
            <a:r>
              <a:rPr lang="en-US" sz="2200" i="1">
                <a:solidFill>
                  <a:srgbClr val="15241D"/>
                </a:solidFill>
                <a:latin typeface="DM Sans" pitchFamily="2" charset="0"/>
              </a:rPr>
              <a:t>g</a:t>
            </a:r>
            <a:r>
              <a:rPr lang="en-US" sz="2200" i="1" baseline="-25000">
                <a:solidFill>
                  <a:srgbClr val="15241D"/>
                </a:solidFill>
                <a:latin typeface="DM Sans" pitchFamily="2" charset="0"/>
              </a:rPr>
              <a:t>m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R</a:t>
            </a:r>
            <a:r>
              <a:rPr lang="en-US" sz="2200" baseline="-25000">
                <a:solidFill>
                  <a:srgbClr val="15241D"/>
                </a:solidFill>
                <a:latin typeface="DM Sans" pitchFamily="2" charset="0"/>
              </a:rPr>
              <a:t>D</a:t>
            </a:r>
            <a:r>
              <a:rPr lang="en-US" sz="2200">
                <a:solidFill>
                  <a:srgbClr val="15241D"/>
                </a:solidFill>
                <a:latin typeface="DM Sans" pitchFamily="2" charset="0"/>
              </a:rPr>
              <a:t>.</a:t>
            </a:r>
          </a:p>
        </p:txBody>
      </p:sp>
      <p:sp>
        <p:nvSpPr>
          <p:cNvPr id="24" name="chrome page">
            <a:extLst>
              <a:ext uri="{FF2B5EF4-FFF2-40B4-BE49-F238E27FC236}">
                <a16:creationId xmlns:a16="http://schemas.microsoft.com/office/drawing/2014/main" id="{1664F98F-C223-1CB0-E9A2-C56C7C376E76}"/>
              </a:ext>
            </a:extLst>
          </p:cNvPr>
          <p:cNvSpPr/>
          <p:nvPr/>
        </p:nvSpPr>
        <p:spPr>
          <a:xfrm>
            <a:off x="16992600" y="9677400"/>
            <a:ext cx="381000" cy="381000"/>
          </a:xfrm>
          <a:prstGeom prst="rect">
            <a:avLst/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hrome page">
            <a:extLst>
              <a:ext uri="{FF2B5EF4-FFF2-40B4-BE49-F238E27FC236}">
                <a16:creationId xmlns:a16="http://schemas.microsoft.com/office/drawing/2014/main" id="{749C4D6D-569F-7222-C8B1-640469596526}"/>
              </a:ext>
            </a:extLst>
          </p:cNvPr>
          <p:cNvSpPr txBox="1"/>
          <p:nvPr/>
        </p:nvSpPr>
        <p:spPr>
          <a:xfrm>
            <a:off x="16992600" y="9677399"/>
            <a:ext cx="381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ctr"/>
            <a:r>
              <a:rPr lang="en-US" sz="1400" b="1">
                <a:solidFill>
                  <a:srgbClr val="FFFFFF"/>
                </a:solidFill>
                <a:latin typeface="DM Sans" pitchFamily="2" charset="0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72594036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 #nochrome s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5107395B-3083-4BCD-82C4-1D03ACD367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2921000"/>
            <a:ext cx="10160000" cy="1524000"/>
          </a:xfrm>
        </p:spPr>
        <p:txBody>
          <a:bodyPr wrap="square" lIns="0" tIns="0" rIns="0" bIns="0" anchor="b">
            <a:noAutofit/>
          </a:bodyPr>
          <a:lstStyle/>
          <a:p>
            <a:r>
              <a:rPr lang="en-US" sz="12000">
                <a:solidFill>
                  <a:srgbClr val="15241D"/>
                </a:solidFill>
                <a:latin typeface="Bebas Neue" panose="020B0606020202050201" pitchFamily="34" charset="0"/>
              </a:rPr>
              <a:t>Thank you</a:t>
            </a:r>
          </a:p>
        </p:txBody>
      </p:sp>
      <p:sp>
        <p:nvSpPr>
          <p:cNvPr id="3" name="geo">
            <a:extLst>
              <a:ext uri="{FF2B5EF4-FFF2-40B4-BE49-F238E27FC236}">
                <a16:creationId xmlns:a16="http://schemas.microsoft.com/office/drawing/2014/main" id="{E7F05167-590D-50AB-537C-6366BAF86BD3}"/>
              </a:ext>
            </a:extLst>
          </p:cNvPr>
          <p:cNvSpPr/>
          <p:nvPr/>
        </p:nvSpPr>
        <p:spPr>
          <a:xfrm>
            <a:off x="-635000" y="0"/>
            <a:ext cx="3810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eo">
            <a:extLst>
              <a:ext uri="{FF2B5EF4-FFF2-40B4-BE49-F238E27FC236}">
                <a16:creationId xmlns:a16="http://schemas.microsoft.com/office/drawing/2014/main" id="{24FB0768-D434-D4A7-AD57-7562177DC94A}"/>
              </a:ext>
            </a:extLst>
          </p:cNvPr>
          <p:cNvSpPr/>
          <p:nvPr/>
        </p:nvSpPr>
        <p:spPr>
          <a:xfrm>
            <a:off x="2946400" y="0"/>
            <a:ext cx="889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geo">
            <a:extLst>
              <a:ext uri="{FF2B5EF4-FFF2-40B4-BE49-F238E27FC236}">
                <a16:creationId xmlns:a16="http://schemas.microsoft.com/office/drawing/2014/main" id="{38503F83-74AA-7152-1607-7E5CC7094557}"/>
              </a:ext>
            </a:extLst>
          </p:cNvPr>
          <p:cNvSpPr/>
          <p:nvPr/>
        </p:nvSpPr>
        <p:spPr>
          <a:xfrm>
            <a:off x="3810000" y="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eo">
            <a:extLst>
              <a:ext uri="{FF2B5EF4-FFF2-40B4-BE49-F238E27FC236}">
                <a16:creationId xmlns:a16="http://schemas.microsoft.com/office/drawing/2014/main" id="{C1866F46-AC2B-DFDA-CD44-685B93AA0565}"/>
              </a:ext>
            </a:extLst>
          </p:cNvPr>
          <p:cNvSpPr/>
          <p:nvPr/>
        </p:nvSpPr>
        <p:spPr>
          <a:xfrm>
            <a:off x="15875000" y="0"/>
            <a:ext cx="3175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eo">
            <a:extLst>
              <a:ext uri="{FF2B5EF4-FFF2-40B4-BE49-F238E27FC236}">
                <a16:creationId xmlns:a16="http://schemas.microsoft.com/office/drawing/2014/main" id="{063F059A-7A1C-CF29-DBE0-55071ED9ABE7}"/>
              </a:ext>
            </a:extLst>
          </p:cNvPr>
          <p:cNvSpPr/>
          <p:nvPr/>
        </p:nvSpPr>
        <p:spPr>
          <a:xfrm>
            <a:off x="-635000" y="9575800"/>
            <a:ext cx="2540000" cy="711200"/>
          </a:xfrm>
          <a:prstGeom prst="parallelogram">
            <a:avLst>
              <a:gd name="adj" fmla="val 35000"/>
            </a:avLst>
          </a:prstGeom>
          <a:solidFill>
            <a:srgbClr val="B8581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geo">
            <a:extLst>
              <a:ext uri="{FF2B5EF4-FFF2-40B4-BE49-F238E27FC236}">
                <a16:creationId xmlns:a16="http://schemas.microsoft.com/office/drawing/2014/main" id="{49306167-40FC-36C9-8CF7-299BE224B61B}"/>
              </a:ext>
            </a:extLst>
          </p:cNvPr>
          <p:cNvSpPr/>
          <p:nvPr/>
        </p:nvSpPr>
        <p:spPr>
          <a:xfrm>
            <a:off x="1905000" y="10109200"/>
            <a:ext cx="7112000" cy="177800"/>
          </a:xfrm>
          <a:prstGeom prst="parallelogram">
            <a:avLst>
              <a:gd name="adj" fmla="val 35000"/>
            </a:avLst>
          </a:prstGeom>
          <a:solidFill>
            <a:srgbClr val="CBD2C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geo">
            <a:extLst>
              <a:ext uri="{FF2B5EF4-FFF2-40B4-BE49-F238E27FC236}">
                <a16:creationId xmlns:a16="http://schemas.microsoft.com/office/drawing/2014/main" id="{6B2F8866-7D21-0265-2E41-EF39031EA212}"/>
              </a:ext>
            </a:extLst>
          </p:cNvPr>
          <p:cNvSpPr/>
          <p:nvPr/>
        </p:nvSpPr>
        <p:spPr>
          <a:xfrm>
            <a:off x="14986000" y="9575800"/>
            <a:ext cx="40640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geo">
            <a:extLst>
              <a:ext uri="{FF2B5EF4-FFF2-40B4-BE49-F238E27FC236}">
                <a16:creationId xmlns:a16="http://schemas.microsoft.com/office/drawing/2014/main" id="{CB8EFFE2-5882-59D4-0C98-06344A90E708}"/>
              </a:ext>
            </a:extLst>
          </p:cNvPr>
          <p:cNvSpPr/>
          <p:nvPr/>
        </p:nvSpPr>
        <p:spPr>
          <a:xfrm>
            <a:off x="14097000" y="9575800"/>
            <a:ext cx="812800" cy="711200"/>
          </a:xfrm>
          <a:prstGeom prst="parallelogram">
            <a:avLst>
              <a:gd name="adj" fmla="val 35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ag">
            <a:extLst>
              <a:ext uri="{FF2B5EF4-FFF2-40B4-BE49-F238E27FC236}">
                <a16:creationId xmlns:a16="http://schemas.microsoft.com/office/drawing/2014/main" id="{80E05474-3487-F9F4-3004-BADFC74721E2}"/>
              </a:ext>
            </a:extLst>
          </p:cNvPr>
          <p:cNvSpPr/>
          <p:nvPr/>
        </p:nvSpPr>
        <p:spPr>
          <a:xfrm>
            <a:off x="1016000" y="4826000"/>
            <a:ext cx="1815592" cy="330200"/>
          </a:xfrm>
          <a:prstGeom prst="parallelogram">
            <a:avLst>
              <a:gd name="adj" fmla="val 40000"/>
            </a:avLst>
          </a:prstGeom>
          <a:solidFill>
            <a:srgbClr val="145A4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300" b="1">
                <a:solidFill>
                  <a:srgbClr val="FFFFFF"/>
                </a:solidFill>
                <a:latin typeface="DM Sans" pitchFamily="2" charset="0"/>
              </a:rPr>
              <a:t>NEXT LECTURE</a:t>
            </a:r>
          </a:p>
        </p:txBody>
      </p:sp>
      <p:sp>
        <p:nvSpPr>
          <p:cNvPr id="12" name="next">
            <a:extLst>
              <a:ext uri="{FF2B5EF4-FFF2-40B4-BE49-F238E27FC236}">
                <a16:creationId xmlns:a16="http://schemas.microsoft.com/office/drawing/2014/main" id="{6FF1B082-8874-09C0-26E1-29B4C4E763F9}"/>
              </a:ext>
            </a:extLst>
          </p:cNvPr>
          <p:cNvSpPr txBox="1"/>
          <p:nvPr/>
        </p:nvSpPr>
        <p:spPr>
          <a:xfrm>
            <a:off x="1016000" y="5333999"/>
            <a:ext cx="8890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800">
                <a:solidFill>
                  <a:srgbClr val="15241D"/>
                </a:solidFill>
                <a:latin typeface="Bebas Neue" panose="020B0606020202050201" pitchFamily="34" charset="0"/>
              </a:rPr>
              <a:t>Lecture 4: Bipolar junction transistors (BJTs)</a:t>
            </a:r>
          </a:p>
        </p:txBody>
      </p:sp>
      <p:sp>
        <p:nvSpPr>
          <p:cNvPr id="13" name="thanks">
            <a:extLst>
              <a:ext uri="{FF2B5EF4-FFF2-40B4-BE49-F238E27FC236}">
                <a16:creationId xmlns:a16="http://schemas.microsoft.com/office/drawing/2014/main" id="{F84D1C5D-66FF-DE95-3629-B42C361F1C26}"/>
              </a:ext>
            </a:extLst>
          </p:cNvPr>
          <p:cNvSpPr txBox="1"/>
          <p:nvPr/>
        </p:nvSpPr>
        <p:spPr>
          <a:xfrm>
            <a:off x="1016000" y="6603999"/>
            <a:ext cx="9652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With thanks to </a:t>
            </a:r>
            <a:r>
              <a:rPr lang="en-US" sz="2000" b="1">
                <a:solidFill>
                  <a:srgbClr val="4D5B54"/>
                </a:solidFill>
                <a:latin typeface="DM Sans" pitchFamily="2" charset="0"/>
              </a:rPr>
              <a:t>Dr. Sameh Osama Ezzat</a:t>
            </a:r>
            <a:r>
              <a:rPr lang="en-US" sz="2000">
                <a:solidFill>
                  <a:srgbClr val="4D5B54"/>
                </a:solidFill>
                <a:latin typeface="DM Sans" pitchFamily="2" charset="0"/>
              </a:rPr>
              <a:t>, who prepared the original material for this lecture.</a:t>
            </a:r>
          </a:p>
        </p:txBody>
      </p:sp>
      <p:sp>
        <p:nvSpPr>
          <p:cNvPr id="14" name="sources">
            <a:extLst>
              <a:ext uri="{FF2B5EF4-FFF2-40B4-BE49-F238E27FC236}">
                <a16:creationId xmlns:a16="http://schemas.microsoft.com/office/drawing/2014/main" id="{A1D0D910-0343-3B39-BAA2-DB8159E5C756}"/>
              </a:ext>
            </a:extLst>
          </p:cNvPr>
          <p:cNvSpPr txBox="1"/>
          <p:nvPr/>
        </p:nvSpPr>
        <p:spPr>
          <a:xfrm>
            <a:off x="1016000" y="7492999"/>
            <a:ext cx="9652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>
                <a:solidFill>
                  <a:srgbClr val="4D5B54"/>
                </a:solidFill>
                <a:latin typeface="DM Sans" pitchFamily="2" charset="0"/>
              </a:rPr>
              <a:t>Figures: Sedra &amp; Smith, Microelectronic Circuits (Oxford University Press); other diagrams from web sources via the original slides.</a:t>
            </a:r>
          </a:p>
        </p:txBody>
      </p:sp>
    </p:spTree>
    <p:extLst>
      <p:ext uri="{BB962C8B-B14F-4D97-AF65-F5344CB8AC3E}">
        <p14:creationId xmlns:p14="http://schemas.microsoft.com/office/powerpoint/2010/main" val="41850082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2304</Words>
  <Application>Microsoft Office PowerPoint</Application>
  <PresentationFormat>Custom</PresentationFormat>
  <Paragraphs>342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5" baseType="lpstr">
      <vt:lpstr>Aptos</vt:lpstr>
      <vt:lpstr>Aptos Display</vt:lpstr>
      <vt:lpstr>Arial</vt:lpstr>
      <vt:lpstr>Bebas Neue</vt:lpstr>
      <vt:lpstr>Cambria Math</vt:lpstr>
      <vt:lpstr>DM Sans</vt:lpstr>
      <vt:lpstr>Office Theme</vt:lpstr>
      <vt:lpstr>MOSFETs</vt:lpstr>
      <vt:lpstr>Lecture map</vt:lpstr>
      <vt:lpstr>Structure and operation</vt:lpstr>
      <vt:lpstr>The n-channel enhancement MOSFET</vt:lpstr>
      <vt:lpstr>With no gate voltage, no current flows</vt:lpstr>
      <vt:lpstr>Creating a channel: the threshold voltage</vt:lpstr>
      <vt:lpstr>Increasing vDS: the channel tapers and pinches off</vt:lpstr>
      <vt:lpstr>CMOS: NMOS and PMOS on one chip</vt:lpstr>
      <vt:lpstr>Circuit symbols: n-channel and p-channel</vt:lpstr>
      <vt:lpstr>I–V characteristics</vt:lpstr>
      <vt:lpstr>The iD–vDS family of curves</vt:lpstr>
      <vt:lpstr>In saturation, iD depends only on vGS</vt:lpstr>
      <vt:lpstr>Triode and saturation: one curve, two equations</vt:lpstr>
      <vt:lpstr>Small vDS: a voltage-controlled resistor</vt:lpstr>
      <vt:lpstr>Large-signal model in saturation</vt:lpstr>
      <vt:lpstr>MOSFETs in DC circuits</vt:lpstr>
      <vt:lpstr>DC analysis: assume, solve, check</vt:lpstr>
      <vt:lpstr>Example: find the drain voltage</vt:lpstr>
      <vt:lpstr>The current mirror</vt:lpstr>
      <vt:lpstr>The MOSFET as an amplifier</vt:lpstr>
      <vt:lpstr>Amplifier action: the load line</vt:lpstr>
      <vt:lpstr>Small-signal operation: the transconductance gm</vt:lpstr>
      <vt:lpstr>Small-signal equivalent circuits</vt:lpstr>
      <vt:lpstr>Example: gain and input resistance</vt:lpstr>
      <vt:lpstr>The MOSFET as a switch</vt:lpstr>
      <vt:lpstr>The MOSFET as a switch</vt:lpstr>
      <vt:lpstr>Summary: three regions of operation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Hesham.Hany</dc:creator>
  <cp:lastModifiedBy>Hesham.Hany</cp:lastModifiedBy>
  <cp:revision>2</cp:revision>
  <dcterms:created xsi:type="dcterms:W3CDTF">2026-10-01T04:24:41Z</dcterms:created>
  <dcterms:modified xsi:type="dcterms:W3CDTF">2026-10-01T04:25:52Z</dcterms:modified>
</cp:coreProperties>
</file>