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26" r:id="rId6"/>
    <p:sldId id="327" r:id="rId7"/>
    <p:sldId id="260" r:id="rId8"/>
    <p:sldId id="324" r:id="rId9"/>
    <p:sldId id="325" r:id="rId10"/>
    <p:sldId id="261" r:id="rId11"/>
    <p:sldId id="322" r:id="rId12"/>
    <p:sldId id="323" r:id="rId13"/>
    <p:sldId id="262" r:id="rId14"/>
    <p:sldId id="320" r:id="rId15"/>
    <p:sldId id="321" r:id="rId16"/>
    <p:sldId id="263" r:id="rId17"/>
    <p:sldId id="319" r:id="rId18"/>
    <p:sldId id="264" r:id="rId19"/>
    <p:sldId id="318" r:id="rId20"/>
    <p:sldId id="265" r:id="rId21"/>
    <p:sldId id="266" r:id="rId22"/>
    <p:sldId id="315" r:id="rId23"/>
    <p:sldId id="316" r:id="rId24"/>
    <p:sldId id="317" r:id="rId25"/>
    <p:sldId id="267" r:id="rId26"/>
    <p:sldId id="313" r:id="rId27"/>
    <p:sldId id="314" r:id="rId28"/>
    <p:sldId id="268" r:id="rId29"/>
    <p:sldId id="310" r:id="rId30"/>
    <p:sldId id="311" r:id="rId31"/>
    <p:sldId id="312" r:id="rId32"/>
    <p:sldId id="269" r:id="rId33"/>
    <p:sldId id="308" r:id="rId34"/>
    <p:sldId id="309" r:id="rId35"/>
    <p:sldId id="270" r:id="rId36"/>
    <p:sldId id="306" r:id="rId37"/>
    <p:sldId id="307" r:id="rId38"/>
    <p:sldId id="271" r:id="rId39"/>
    <p:sldId id="272" r:id="rId40"/>
    <p:sldId id="303" r:id="rId41"/>
    <p:sldId id="304" r:id="rId42"/>
    <p:sldId id="305" r:id="rId43"/>
    <p:sldId id="273" r:id="rId44"/>
    <p:sldId id="298" r:id="rId45"/>
    <p:sldId id="299" r:id="rId46"/>
    <p:sldId id="300" r:id="rId47"/>
    <p:sldId id="301" r:id="rId48"/>
    <p:sldId id="302" r:id="rId49"/>
    <p:sldId id="274" r:id="rId50"/>
    <p:sldId id="296" r:id="rId51"/>
    <p:sldId id="297" r:id="rId52"/>
    <p:sldId id="275" r:id="rId53"/>
    <p:sldId id="276" r:id="rId54"/>
    <p:sldId id="294" r:id="rId55"/>
    <p:sldId id="295" r:id="rId56"/>
    <p:sldId id="277" r:id="rId57"/>
    <p:sldId id="291" r:id="rId58"/>
    <p:sldId id="292" r:id="rId59"/>
    <p:sldId id="293" r:id="rId60"/>
    <p:sldId id="278" r:id="rId61"/>
    <p:sldId id="290" r:id="rId62"/>
    <p:sldId id="279" r:id="rId63"/>
    <p:sldId id="286" r:id="rId64"/>
    <p:sldId id="287" r:id="rId65"/>
    <p:sldId id="288" r:id="rId66"/>
    <p:sldId id="289" r:id="rId67"/>
    <p:sldId id="280" r:id="rId68"/>
    <p:sldId id="281" r:id="rId69"/>
    <p:sldId id="284" r:id="rId70"/>
    <p:sldId id="285" r:id="rId71"/>
    <p:sldId id="282" r:id="rId72"/>
    <p:sldId id="283" r:id="rId7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B382-0C19-2381-9039-E854B73EE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8D17F-4981-F41E-18C1-34D3AAD1E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8A295-D23C-31D7-5979-1A18BA32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DF76-69DA-C197-400F-D2A2F4E4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D9ABB-7560-0840-F742-45532255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2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E7AF-A9BC-4193-F6DD-C587B38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589BF-7C43-5C77-AFC0-CE3FEA6EB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788CC-8A97-5AC0-7BE8-72A0D7E7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2D7F-C4E2-B5FC-91F2-61F1FE7A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35EED-F131-1710-6882-16F66EB9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AFDE-8292-8D57-4EF2-830A1231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7CEBD-4D63-F543-AD60-9381D8F3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4450C-2174-1952-AAB6-9E88FFC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888A-9F65-3B32-47DF-DAB550F05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B8D6D-CA1C-256A-0A2D-501E878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0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DD87-3F37-7B54-FDC2-98674B5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970E-62C2-79AA-0DAC-4F00D9731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9B78B-838B-C40E-7742-8F23F703C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3AEB-4FE6-6539-C734-C0884EB9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4DCE5-78CE-67DF-884D-3261BE12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AC0BD-BEED-3F07-AB88-2262406B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5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3ADA-D776-84C1-217B-6B054739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B654C-483B-C587-EC58-228A7B7D6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E5697-B3AC-E525-8F1F-6AF94C341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8975F-1C90-082B-8A10-85F68495C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CE82A-16BB-0E8F-3282-1A3E73D2D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E8B74-42EE-5047-85E6-A94E7BB7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B2C29-67BD-7933-FEEC-1116BEF3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00EDA-9860-BD54-CC09-406A3910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6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C18F-CEFF-21BB-B374-8F24B8FB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85C9D-2043-30D8-896F-C89FC90C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9A366-A4D8-FC41-4121-9F1652E8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15972-8680-589D-2FB9-304ADCD9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0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6B75A-7D77-F9EC-5BF2-75B484E2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89B97-170B-DCB3-D02A-593F102D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8BAD-0A89-5121-02D2-F14C05A3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3620-A7E9-D63C-0873-1376E0A0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8A74-EE9F-C185-7531-2B29B1A5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AD48E-2873-1DF6-BCDC-386F707E4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FE3BA-542A-4D42-569C-F9C0BDC7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550BD-CEE1-61BD-2C93-EFFA0A92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83CF6-26F8-3DA7-9673-8F72A8F8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5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E314-1AED-67EC-5CD4-2390C603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1F196-A1FF-8C9C-1C79-F800815401B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2A202-35F0-7012-0503-AFB2ADEAF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810A-7278-7308-1762-83133559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C4B66-1304-7E20-074E-2BD17DFA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96EE2-FD20-C955-75AF-B9683A7F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6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51EA-8C2D-C0EA-F2E5-928A4038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FFC78-2C1B-5005-AD21-CB39A084B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B5B31-7826-BF06-7C7E-E623F171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5551-FDC2-9393-A1EA-5CCDD924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41A6-654A-CDF1-F674-5B801125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0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BFF13-D926-C8F7-37A7-DD6648EDE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288A3-4DF6-B1F9-FB07-E40B763C3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31EAD-F271-C886-48EE-0C58938B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EC8E-9576-0527-3C62-929BCE82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918A7-35B6-DE52-753F-F3AF0BB4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2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F0A50-B6CA-4EA4-0DC7-858B73F1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B520B-5EFA-D6F5-3433-51049666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13F96-DFDA-233B-38D0-9D1E34D60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AA4E6-2552-46D9-BFC0-6285C9CBA9B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80FC6-F282-62C8-D596-592DEC444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8ED43-7DA3-4B68-F3E1-46958ED5B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D9FC9-5A17-454D-A3C6-A13D44B6D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2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68FEEC2-34AB-67A8-C6E0-9CD29F71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A7CD8814-7297-07ED-5834-DFC2A187D035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55CD5E6C-6B87-259D-14D0-837B5ED99F03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C9C56565-F2E9-1972-E0F9-A1737F9A5739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927B770-55CD-FA5D-BA53-65191B87B45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49589E63-4D41-A9C9-EC48-F53C174089C7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BEB97CC3-B3F2-19CB-E7E4-483177BB0475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4BB45D2F-17F6-A9F5-6717-4442E4E98AB9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1C4A5B13-0A94-E5B9-6A4F-7C4D6E11AA4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7264139E-8202-7089-DC1D-AD6BE1DE5658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525F491C-C683-935E-7BED-0C27703ABE9B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7845D779-838D-F662-F042-CD285121EEBC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BA901D98-67BC-A725-D2FD-01EC15A6A342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9AD9A699-1FF9-6975-971B-8F787D5B9A14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A0852AC7-14B7-A12D-0C25-434D96B04EE9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D939DF4B-B0FF-E577-B740-38FC77DF16B3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20BFB402-3FDD-9D6D-1612-227936015F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62559EF9-A605-541E-4B71-19F68B005BEF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390506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62EB85-3EC4-ABD3-4426-462E3C83D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4E7D184-DEDB-D45D-59B5-7431EB086FA7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CB6AD61-4454-160E-B0A2-8C34DA5FC6C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9A76351-E712-D056-18D2-4A7DF7D28DD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6D207E20-303A-C983-DC46-F2D039B114B1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C044ACCF-74CD-766C-A34F-5A5359E7750D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5501062F-8CC7-78BE-5DB0-8DCFD13BC09C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689704F-5EBE-E1EA-75AD-B4D975C3AC25}"/>
              </a:ext>
            </a:extLst>
          </p:cNvPr>
          <p:cNvSpPr/>
          <p:nvPr/>
        </p:nvSpPr>
        <p:spPr>
          <a:xfrm>
            <a:off x="914400" y="347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8D1FDE15-7359-C5F6-1E91-832A1A4A2ECB}"/>
              </a:ext>
            </a:extLst>
          </p:cNvPr>
          <p:cNvSpPr txBox="1"/>
          <p:nvPr/>
        </p:nvSpPr>
        <p:spPr>
          <a:xfrm>
            <a:off x="1752600" y="345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264547C0-4655-6CBC-9E0D-CBA44663D44C}"/>
              </a:ext>
            </a:extLst>
          </p:cNvPr>
          <p:cNvSpPr txBox="1"/>
          <p:nvPr/>
        </p:nvSpPr>
        <p:spPr>
          <a:xfrm>
            <a:off x="1752600" y="383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A0EA22F5-9B25-E1CC-1A2E-2ABA2CCDD2E2}"/>
              </a:ext>
            </a:extLst>
          </p:cNvPr>
          <p:cNvSpPr/>
          <p:nvPr/>
        </p:nvSpPr>
        <p:spPr>
          <a:xfrm>
            <a:off x="914400" y="4673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C3893F89-7294-E37C-E7CA-43B6C72A32B8}"/>
              </a:ext>
            </a:extLst>
          </p:cNvPr>
          <p:cNvSpPr txBox="1"/>
          <p:nvPr/>
        </p:nvSpPr>
        <p:spPr>
          <a:xfrm>
            <a:off x="1752600" y="4648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D236A62-484F-162E-053B-7AA8CB23EB83}"/>
              </a:ext>
            </a:extLst>
          </p:cNvPr>
          <p:cNvSpPr txBox="1"/>
          <p:nvPr/>
        </p:nvSpPr>
        <p:spPr>
          <a:xfrm>
            <a:off x="1752600" y="5029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19EEEADB-E2AA-9E64-6952-11FF4F52449E}"/>
              </a:ext>
            </a:extLst>
          </p:cNvPr>
          <p:cNvSpPr/>
          <p:nvPr/>
        </p:nvSpPr>
        <p:spPr>
          <a:xfrm>
            <a:off x="914400" y="5867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2316E3AD-D1BD-493D-8B07-74BBAC62BBFF}"/>
              </a:ext>
            </a:extLst>
          </p:cNvPr>
          <p:cNvSpPr txBox="1"/>
          <p:nvPr/>
        </p:nvSpPr>
        <p:spPr>
          <a:xfrm>
            <a:off x="1752600" y="5841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51A1B63A-50C5-0105-163E-CEDB7AEC2C9B}"/>
              </a:ext>
            </a:extLst>
          </p:cNvPr>
          <p:cNvSpPr txBox="1"/>
          <p:nvPr/>
        </p:nvSpPr>
        <p:spPr>
          <a:xfrm>
            <a:off x="1752600" y="62229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A3014E2D-C2AA-5A42-4C4D-47D0C33D01B0}"/>
              </a:ext>
            </a:extLst>
          </p:cNvPr>
          <p:cNvSpPr/>
          <p:nvPr/>
        </p:nvSpPr>
        <p:spPr>
          <a:xfrm>
            <a:off x="914400" y="7061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F01F8CC0-293A-7617-20DF-557C133F18AD}"/>
              </a:ext>
            </a:extLst>
          </p:cNvPr>
          <p:cNvSpPr txBox="1"/>
          <p:nvPr/>
        </p:nvSpPr>
        <p:spPr>
          <a:xfrm>
            <a:off x="1752600" y="7035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04B951F5-4711-BE02-7447-716F9D3DE86D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4E7DE46B-2C75-C450-9025-E9A6B3E84C25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5EBBC561-327B-C23D-45FD-C2B0B783C4CC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9C2FA83A-4969-7DA5-954C-FEA8F12E36DC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FBC97683-DE00-B104-52D9-83B376A183E7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69396037-C080-EF2B-E96D-559C8D2D1B6C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outcome">
            <a:extLst>
              <a:ext uri="{FF2B5EF4-FFF2-40B4-BE49-F238E27FC236}">
                <a16:creationId xmlns:a16="http://schemas.microsoft.com/office/drawing/2014/main" id="{46D0219D-1EF4-EDDC-137A-3716C709BE1B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and the gain of a simple MOSFET amplifier</a:t>
            </a:r>
          </a:p>
        </p:txBody>
      </p:sp>
      <p:sp>
        <p:nvSpPr>
          <p:cNvPr id="27" name="chrome page">
            <a:extLst>
              <a:ext uri="{FF2B5EF4-FFF2-40B4-BE49-F238E27FC236}">
                <a16:creationId xmlns:a16="http://schemas.microsoft.com/office/drawing/2014/main" id="{5BCC2C55-BB7B-7A7C-2306-21B0468D6B8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7C6E84E0-3175-D1E7-993C-12C3F089A8A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535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6265960-4CB0-7AE4-B547-5514CADE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Structure and operation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70371C63-92A4-3E7B-99E8-553D56B02D06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8DB19D41-CB73-07ED-315E-3F49B87A7BD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3DDC8624-F9A2-F0AD-757A-BF44BC982A65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A7F1CD2-D179-5695-FAA4-1D0CC86BFD3F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711C34BF-EC01-DE71-91C4-F56234F20E8F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DDD280AE-4287-D37D-2829-86858DC1C052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0DD87D6B-742F-43A6-D78B-7ECF1B09863D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809E47C6-A4CA-7D7D-6392-DD53BDE84BA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8029B6D8-732D-056D-C25D-C925D309A2D2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B9786DB4-3DA3-0453-9A52-B7B49FA93672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device and its terminals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DC71B5EE-2B47-BD76-A8B6-84C079B32D04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pt-BR" sz="2300">
                <a:solidFill>
                  <a:srgbClr val="4D5B54"/>
                </a:solidFill>
                <a:latin typeface="DM Sans" pitchFamily="2" charset="0"/>
              </a:rPr>
              <a:t>No gate voltage: no current</a:t>
            </a:r>
            <a:endParaRPr lang="en-US" sz="2300">
              <a:solidFill>
                <a:srgbClr val="4D5B54"/>
              </a:solidFill>
              <a:latin typeface="DM Sans" pitchFamily="2" charset="0"/>
            </a:endParaRP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D368259-C9E4-A27D-120D-C8AE4726BCB0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threshold voltage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82F36337-08B6-DBE1-81F7-DE6007415D70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Tapering and pinch-off</a:t>
            </a:r>
          </a:p>
        </p:txBody>
      </p:sp>
      <p:sp>
        <p:nvSpPr>
          <p:cNvPr id="16" name="item">
            <a:extLst>
              <a:ext uri="{FF2B5EF4-FFF2-40B4-BE49-F238E27FC236}">
                <a16:creationId xmlns:a16="http://schemas.microsoft.com/office/drawing/2014/main" id="{73CC4EE9-BE18-2146-C9D1-5C98B047608A}"/>
              </a:ext>
            </a:extLst>
          </p:cNvPr>
          <p:cNvSpPr txBox="1"/>
          <p:nvPr/>
        </p:nvSpPr>
        <p:spPr>
          <a:xfrm>
            <a:off x="1016000" y="79755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CMOS; n- and p-channel symbols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E651A9B9-BB5F-83FA-4E0D-08F9A5EF9B18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9D2D124E-6967-F51C-46E5-736CBFE33220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4B5A82DC-D0E7-DA67-EBC5-01E03C456880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72716CCA-7F9A-15E9-9B71-621CB298FCBE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F99F6CFA-D1E9-4B8F-D2E5-70089BA83ABA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080C159D-7601-9913-2454-E9B625736ADF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AF95818B-4638-4806-3A5C-00BB4D23869E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7A064FC-3277-49BD-BEFE-50AE0366E8A6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2C46033-C46D-6563-2FE6-53391D7C4D90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ED7FF73F-4BC8-71C1-7D19-BF243E0E1E50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67364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C09FDA-F104-34C8-18EB-E2F9A40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75D893-CFA0-7866-8C6D-86733C3A82D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4FA653-D17D-529D-A0EF-F84F6CFB817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30B7AA2-36EF-33E5-B14F-3FA7DB5F3E3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0C1655-FA33-DC9F-33D3-524C079A8641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540359D-DFF4-95A6-B414-BA9359A6ED61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19B4250-5682-207A-87DA-F061BEEE5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52E5170-FC1D-35F2-384B-7ECFE1704251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8409E08-DEBF-8F3E-850C-0DC0A642380B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FF2F96A7-E916-1635-F530-87AFB0FE536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77668F75-86C7-99F7-6ABE-524FEEB4934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976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C09FDA-F104-34C8-18EB-E2F9A40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75D893-CFA0-7866-8C6D-86733C3A82D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4FA653-D17D-529D-A0EF-F84F6CFB817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30B7AA2-36EF-33E5-B14F-3FA7DB5F3E3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0C1655-FA33-DC9F-33D3-524C079A8641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540359D-DFF4-95A6-B414-BA9359A6ED61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19B4250-5682-207A-87DA-F061BEEE5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52E5170-FC1D-35F2-384B-7ECFE1704251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8409E08-DEBF-8F3E-850C-0DC0A642380B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BE46B226-6103-5D54-C7DC-E1D5FD4EF8E7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BC5A7E24-ED4D-EA49-E064-DA313B8BC89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D831AFCB-B5A7-C88C-A38D-BA92AD694A0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1384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C09FDA-F104-34C8-18EB-E2F9A40F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675D893-CFA0-7866-8C6D-86733C3A82D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04FA653-D17D-529D-A0EF-F84F6CFB817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30B7AA2-36EF-33E5-B14F-3FA7DB5F3E3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50C1655-FA33-DC9F-33D3-524C079A8641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540359D-DFF4-95A6-B414-BA9359A6ED61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19B4250-5682-207A-87DA-F061BEEE5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52E5170-FC1D-35F2-384B-7ECFE1704251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8409E08-DEBF-8F3E-850C-0DC0A642380B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BE46B226-6103-5D54-C7DC-E1D5FD4EF8E7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28FA91E5-BE44-F005-BF17-402AE572DFFA}"/>
              </a:ext>
            </a:extLst>
          </p:cNvPr>
          <p:cNvSpPr txBox="1"/>
          <p:nvPr/>
        </p:nvSpPr>
        <p:spPr>
          <a:xfrm>
            <a:off x="914400" y="8646857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region between the n⁺ source and drain has length L and width W.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8850E65-2454-9425-086C-B76054A3312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9A8CF90C-72AC-3C3B-1126-D87DE87660F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0152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3F6E8-A6F1-9D7D-54DB-A03AB224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E332855-90B9-3B9E-E3E0-990FD17D15D7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6CC34A-F809-C1B3-92A0-618EDB22C2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D2C50AD-965D-2A94-9FF8-5BD4700548E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5A76B4-C1F1-0AE5-EF5C-1F3241D36251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88EFE510-F5C5-822F-9616-BFDBB8DF6CA4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94D99A0-0515-84A3-E5AA-75EAA9BEB1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F7450B4-0FC2-B672-0DC5-9F44300FDB5E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8D12DC65-F1DA-1188-7A69-945C3362E4F7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5A80AC66-2C06-1D1E-9C90-9792EF4B572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D893190C-6CD8-DE8C-97C3-A9227BC6133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8576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3F6E8-A6F1-9D7D-54DB-A03AB224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E332855-90B9-3B9E-E3E0-990FD17D15D7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6CC34A-F809-C1B3-92A0-618EDB22C2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D2C50AD-965D-2A94-9FF8-5BD4700548E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5A76B4-C1F1-0AE5-EF5C-1F3241D36251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88EFE510-F5C5-822F-9616-BFDBB8DF6CA4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94D99A0-0515-84A3-E5AA-75EAA9BEB1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F7450B4-0FC2-B672-0DC5-9F44300FDB5E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8D12DC65-F1DA-1188-7A69-945C3362E4F7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71CFD8E-F6A1-A116-0112-FD3FDA9C7BE4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9D8FA725-CC43-26C0-C882-7364C8B4D3E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7B64DE41-840F-56F0-B4E1-198296BD0B0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3948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3F6E8-A6F1-9D7D-54DB-A03AB224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E332855-90B9-3B9E-E3E0-990FD17D15D7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46CC34A-F809-C1B3-92A0-618EDB22C2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D2C50AD-965D-2A94-9FF8-5BD4700548E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5A76B4-C1F1-0AE5-EF5C-1F3241D36251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88EFE510-F5C5-822F-9616-BFDBB8DF6CA4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94D99A0-0515-84A3-E5AA-75EAA9BEB1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F7450B4-0FC2-B672-0DC5-9F44300FDB5E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8D12DC65-F1DA-1188-7A69-945C3362E4F7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71CFD8E-F6A1-A116-0112-FD3FDA9C7BE4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D085376D-25F2-1CA2-583B-45B7FD3A1EF2}"/>
              </a:ext>
            </a:extLst>
          </p:cNvPr>
          <p:cNvSpPr txBox="1"/>
          <p:nvPr/>
        </p:nvSpPr>
        <p:spPr>
          <a:xfrm>
            <a:off x="9652000" y="4892712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The energy barrier (left) keeps the electrons of the source away from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7C26788-EF91-E431-DE57-1F2403F6B31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6DBF4672-67D5-0C8C-1960-B7F4A518DD2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86429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E017A7-ABDD-1E89-A6AA-828D0ABE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CF3349-DD39-DE9F-9436-79AD69F8C855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AD7CA76-D11C-D13C-0E41-62EA2D0F14E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61B5669-D513-048B-FC84-8EAD0C0CE4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F988D1B-F469-120A-1111-7398A38261A0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66B0EE3-37E4-65EB-A793-B898A1A9D2B2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1F998F-CD41-CDA9-7286-0D23002820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29B61C9-8588-D17D-AE5A-05EA2CFFA25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6205F061-3524-34C6-F0BE-15B0C11482D5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C4A36882-4EDA-2AD7-7689-551959978AA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4C909DE9-714C-1BE7-02AC-222768C6D47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240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E017A7-ABDD-1E89-A6AA-828D0ABE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CF3349-DD39-DE9F-9436-79AD69F8C855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AD7CA76-D11C-D13C-0E41-62EA2D0F14E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61B5669-D513-048B-FC84-8EAD0C0CE4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F988D1B-F469-120A-1111-7398A38261A0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66B0EE3-37E4-65EB-A793-B898A1A9D2B2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1F998F-CD41-CDA9-7286-0D23002820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29B61C9-8588-D17D-AE5A-05EA2CFFA25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6205F061-3524-34C6-F0BE-15B0C11482D5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1BC599B-840E-3DD5-84EE-159A68B59C34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F4B064EE-EFBE-688B-6397-A65A9A8A6BC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2801226C-5461-324A-E260-5716631D8AA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5682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E017A7-ABDD-1E89-A6AA-828D0ABE5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CF3349-DD39-DE9F-9436-79AD69F8C855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AD7CA76-D11C-D13C-0E41-62EA2D0F14E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61B5669-D513-048B-FC84-8EAD0C0CE4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F988D1B-F469-120A-1111-7398A38261A0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66B0EE3-37E4-65EB-A793-B898A1A9D2B2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1F998F-CD41-CDA9-7286-0D23002820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D29B61C9-8588-D17D-AE5A-05EA2CFFA25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6205F061-3524-34C6-F0BE-15B0C11482D5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1BC599B-840E-3DD5-84EE-159A68B59C34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D76F63D3-86CC-D543-CF83-F3F1C357CDD0}"/>
              </a:ext>
            </a:extLst>
          </p:cNvPr>
          <p:cNvSpPr/>
          <p:nvPr/>
        </p:nvSpPr>
        <p:spPr>
          <a:xfrm>
            <a:off x="914400" y="540751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2A7148CA-2BC2-4B99-71EE-92905146C737}"/>
              </a:ext>
            </a:extLst>
          </p:cNvPr>
          <p:cNvSpPr/>
          <p:nvPr/>
        </p:nvSpPr>
        <p:spPr>
          <a:xfrm>
            <a:off x="914400" y="539481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37C7362E-758B-F893-3C25-726973B6821E}"/>
              </a:ext>
            </a:extLst>
          </p:cNvPr>
          <p:cNvSpPr/>
          <p:nvPr/>
        </p:nvSpPr>
        <p:spPr>
          <a:xfrm>
            <a:off x="1244600" y="568691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B23CD9CB-8EEA-F55E-372B-5D08BD183819}"/>
              </a:ext>
            </a:extLst>
          </p:cNvPr>
          <p:cNvSpPr txBox="1"/>
          <p:nvPr/>
        </p:nvSpPr>
        <p:spPr>
          <a:xfrm>
            <a:off x="1244600" y="624570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4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8DE75388-5808-E7E5-6965-EBC6B240D59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92326BE0-6F5B-1E5E-40BE-491E042DD11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38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73D650-8889-95B7-D31B-7DC9B62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2CE49A5-9475-B2DE-C81A-54A6F02FE2E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37622AB-E319-D9D4-9633-53E5FF20812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B10291C-FDAC-9676-DB74-DC59C1649D7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CC94BB6-F57F-2C43-3205-2AA423C3829A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50151A25-4F12-7D7D-9731-7310FB20B032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62BE20E-AAD8-F00F-8D12-9B231291EA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CDA4E6C-3611-ABA2-C5A2-15D871F71003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1EF00F0-95CA-37D2-4B2B-529ED19D623D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C88BF0D9-DE3F-9F02-215A-F9F27FDBC0B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2FA8C015-4E23-2C1E-2BD9-0C660763CBA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8590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73D650-8889-95B7-D31B-7DC9B62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2CE49A5-9475-B2DE-C81A-54A6F02FE2E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37622AB-E319-D9D4-9633-53E5FF20812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B10291C-FDAC-9676-DB74-DC59C1649D7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CC94BB6-F57F-2C43-3205-2AA423C3829A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50151A25-4F12-7D7D-9731-7310FB20B032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62BE20E-AAD8-F00F-8D12-9B231291EA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CDA4E6C-3611-ABA2-C5A2-15D871F71003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1EF00F0-95CA-37D2-4B2B-529ED19D623D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9B144A2-C052-50F0-8B1E-24EE1F61DA4E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C6AEF399-93C3-70AF-B892-2353088DE28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BC674286-41E3-9554-0524-3663A932610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7201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73D650-8889-95B7-D31B-7DC9B62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2CE49A5-9475-B2DE-C81A-54A6F02FE2E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37622AB-E319-D9D4-9633-53E5FF20812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B10291C-FDAC-9676-DB74-DC59C1649D7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CC94BB6-F57F-2C43-3205-2AA423C3829A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50151A25-4F12-7D7D-9731-7310FB20B032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62BE20E-AAD8-F00F-8D12-9B231291EA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CDA4E6C-3611-ABA2-C5A2-15D871F71003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51EF00F0-95CA-37D2-4B2B-529ED19D623D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9B144A2-C052-50F0-8B1E-24EE1F61DA4E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90EA2B4-C90F-AA95-8C18-9A04DD02B9CD}"/>
              </a:ext>
            </a:extLst>
          </p:cNvPr>
          <p:cNvSpPr/>
          <p:nvPr/>
        </p:nvSpPr>
        <p:spPr>
          <a:xfrm>
            <a:off x="914400" y="4825390"/>
            <a:ext cx="7620000" cy="2540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D4867EA6-38B3-E4C3-EF35-9D1E7A36FC91}"/>
              </a:ext>
            </a:extLst>
          </p:cNvPr>
          <p:cNvSpPr/>
          <p:nvPr/>
        </p:nvSpPr>
        <p:spPr>
          <a:xfrm>
            <a:off x="914400" y="481269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1A6A0383-4E53-DE46-1EF4-A3CC12991816}"/>
              </a:ext>
            </a:extLst>
          </p:cNvPr>
          <p:cNvSpPr/>
          <p:nvPr/>
        </p:nvSpPr>
        <p:spPr>
          <a:xfrm>
            <a:off x="1244600" y="510479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PINCH-OFF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CCFB0DF8-C35E-694F-BCC3-5E968E232FFF}"/>
              </a:ext>
            </a:extLst>
          </p:cNvPr>
          <p:cNvSpPr txBox="1"/>
          <p:nvPr/>
        </p:nvSpPr>
        <p:spPr>
          <a:xfrm>
            <a:off x="1244600" y="5663589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When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further barely changes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current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saturates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4417103-C59E-83F4-B306-527521179CA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5A92326D-C066-80E6-600D-AE6CA41BF2B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49084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05CA0BE-4481-3859-911C-E054911F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A010853-FAFF-FF7B-967F-FCC9D7CE62B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4C70C7-8209-7B1B-E37D-D9285A7FC0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AB42C7-472D-B539-3DDB-0624AE3CE7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8F8FA35-18DB-A3DD-8884-E2A04E96ECF5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00D3C97-3126-B0A7-3800-0DEDDC4E8D5B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6612C09-B473-6839-601E-0599E78D65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D0C1564-DA5A-4D6B-8305-F3C205A95E7E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6102C58-5559-F767-FDC3-E1995D2DA08D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BF31B561-9EE0-07CE-967F-C15A766FB44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5C3429C9-C007-2701-B86C-D130EA5AAB8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1809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05CA0BE-4481-3859-911C-E054911F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A010853-FAFF-FF7B-967F-FCC9D7CE62BF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4C70C7-8209-7B1B-E37D-D9285A7FC0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6AB42C7-472D-B539-3DDB-0624AE3CE7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C8F8FA35-18DB-A3DD-8884-E2A04E96ECF5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00D3C97-3126-B0A7-3800-0DEDDC4E8D5B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6612C09-B473-6839-601E-0599E78D65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D0C1564-DA5A-4D6B-8305-F3C205A95E7E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6102C58-5559-F767-FDC3-E1995D2DA08D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DE99664-64DA-1120-EEBF-4C91D7E36248}"/>
              </a:ext>
            </a:extLst>
          </p:cNvPr>
          <p:cNvSpPr txBox="1"/>
          <p:nvPr/>
        </p:nvSpPr>
        <p:spPr>
          <a:xfrm>
            <a:off x="914400" y="8385473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Thick oxide isolates neighbouring devices. CMOS circuits use both types together.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2639A35-5E3C-113D-F3C9-C807F028EA8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9B1A528B-BA7D-0D78-1C7D-FC0046F51E5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87980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EBCC4F-D06D-BC43-E672-20AE5243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3CC06A6-2311-1846-A893-8F49F9955133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2C1B529-292B-3B6F-DA5E-F1F8587FC1E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70B8654-9220-D604-8956-F1DA52D08DB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1856BDF-7368-B849-DE91-40C7FE620820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2FC7F05-DDA1-C87B-E664-6829B6A67B9E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048F327-E16D-0B27-94BD-3CED7B504F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7E3857C-7B2B-8A18-4F77-B2BF52A208CF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74ACE06-9D4D-D0E2-69AB-F21904CA87F5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A5FFBEE-0EB1-4AF3-7DDE-20C5FBA4281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CB284C62-047D-308C-90B0-360AF0B04E2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75013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EBCC4F-D06D-BC43-E672-20AE5243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3CC06A6-2311-1846-A893-8F49F9955133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2C1B529-292B-3B6F-DA5E-F1F8587FC1E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70B8654-9220-D604-8956-F1DA52D08DB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1856BDF-7368-B849-DE91-40C7FE620820}"/>
              </a:ext>
            </a:extLst>
          </p:cNvPr>
          <p:cNvSpPr/>
          <p:nvPr/>
        </p:nvSpPr>
        <p:spPr>
          <a:xfrm>
            <a:off x="914400" y="2222500"/>
            <a:ext cx="8128000" cy="518058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2FC7F05-DDA1-C87B-E664-6829B6A67B9E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048F327-E16D-0B27-94BD-3CED7B504F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44398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7E3857C-7B2B-8A18-4F77-B2BF52A208CF}"/>
              </a:ext>
            </a:extLst>
          </p:cNvPr>
          <p:cNvSpPr txBox="1"/>
          <p:nvPr/>
        </p:nvSpPr>
        <p:spPr>
          <a:xfrm>
            <a:off x="1168400" y="7047481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74ACE06-9D4D-D0E2-69AB-F21904CA87F5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9A212E7-06BB-8048-9410-92041EAB3DC9}"/>
              </a:ext>
            </a:extLst>
          </p:cNvPr>
          <p:cNvSpPr txBox="1"/>
          <p:nvPr/>
        </p:nvSpPr>
        <p:spPr>
          <a:xfrm>
            <a:off x="9652000" y="3846755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negative.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38649977-92E6-2CF2-E545-D509C7F9B13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FA37D109-FAE6-3C39-B4EF-FA3062A9B62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02487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6C2F0BB-42FD-DCA6-DF4E-F83B4E01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03A5C045-7C2D-0793-66BC-FD21F712E7B9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708C32D-F4AA-C45A-DF99-F2AD42F7ACCD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E658DE93-78E9-7393-9A13-AF95326BC318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BA4D7EA2-F25D-E570-48E6-24C344A91D21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78DD48C-B9CF-5726-C631-BAF97B215542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7EC78716-4C1E-7EA2-F085-4710C5981AC5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1D312D1D-8193-BE24-7445-3B5C8106DD5F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7081567-8CD6-89E5-03E9-DF63568AF082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B21229F-EA99-55DE-5858-142B884C5364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6CEDD62A-282A-5EBC-99C5-C6AC05284384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876A6F4E-AB1F-B8C5-5FE9-E611F5CE88F4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Saturation: the square law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5C163F8E-0FAA-C005-37E1-2EC044C7524F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 equations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15073AFB-E4A8-D35A-B0BA-68479F15E2C2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Resistor and large-signal models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05CD81D1-B5AC-20C0-6870-7BD7F740BFB8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11BBC9B3-F10A-1531-6DAF-482547B8E25F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81F3D38F-E533-A578-9D40-84F48C89C195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EF25C40B-B7A4-60C9-A853-7B6E6DAE3DEB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408282C-2E76-D6D5-2A39-8A13A911D0D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EA867227-0686-2B52-6BB8-F4183692FD8B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968348AF-094E-52CC-6481-7EB448885D37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ACC5CFF1-23E7-957A-114B-74210D058370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8547526C-96F5-0B36-ABA7-AAC8DA57DF88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4517D829-C6AA-31D1-0887-B60CF9856BAC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46526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DF6B4E-5B13-9CC0-B47D-5E4EFF8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DD33CB-F860-E6FE-B2E8-8692926A8334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5D405A-E9AC-3EEF-60BF-B9F49A0409F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6B201D-4A2B-6D9E-6855-5E55A14F934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CB7580F-6101-D7D4-CC4F-339BB8F882B0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A13C3142-40B9-E1AF-1144-A6C38830BD28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C7077A0-255F-94B4-C86C-BFA653E861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A4726FC-FFDD-32A0-07D2-26D2D1FA3129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77CD07DF-A117-9D75-2874-3A284FD718AF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08BBBE5-EF99-D543-CA76-36C583E9F94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869495D2-82F3-B2D5-4DC2-B4844D5A936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83558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DF6B4E-5B13-9CC0-B47D-5E4EFF8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DD33CB-F860-E6FE-B2E8-8692926A8334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5D405A-E9AC-3EEF-60BF-B9F49A0409F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6B201D-4A2B-6D9E-6855-5E55A14F934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CB7580F-6101-D7D4-CC4F-339BB8F882B0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A13C3142-40B9-E1AF-1144-A6C38830BD28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C7077A0-255F-94B4-C86C-BFA653E861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A4726FC-FFDD-32A0-07D2-26D2D1FA3129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77CD07DF-A117-9D75-2874-3A284FD718AF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3933F77-93FC-BFB2-32C2-5000214DF3B8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44EC4F1B-993A-FC84-A622-650AC172098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FAFA5E06-FD73-041B-90FA-32B13B2AF66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67411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DF6B4E-5B13-9CC0-B47D-5E4EFF8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DD33CB-F860-E6FE-B2E8-8692926A8334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5D405A-E9AC-3EEF-60BF-B9F49A0409F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6B201D-4A2B-6D9E-6855-5E55A14F934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CB7580F-6101-D7D4-CC4F-339BB8F882B0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A13C3142-40B9-E1AF-1144-A6C38830BD28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C7077A0-255F-94B4-C86C-BFA653E861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A4726FC-FFDD-32A0-07D2-26D2D1FA3129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77CD07DF-A117-9D75-2874-3A284FD718AF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3933F77-93FC-BFB2-32C2-5000214DF3B8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18A31061-5EF6-7D90-D979-5D75EF0FE5CE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88AE60F-7B54-C90A-E858-DD97BA52880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D8EA45F9-0CA3-13C8-ED40-F4BBB35F0D8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57361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DF6B4E-5B13-9CC0-B47D-5E4EFF8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0DD33CB-F860-E6FE-B2E8-8692926A8334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95D405A-E9AC-3EEF-60BF-B9F49A0409F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6B201D-4A2B-6D9E-6855-5E55A14F934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CB7580F-6101-D7D4-CC4F-339BB8F882B0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A13C3142-40B9-E1AF-1144-A6C38830BD28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C7077A0-255F-94B4-C86C-BFA653E861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A4726FC-FFDD-32A0-07D2-26D2D1FA3129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77CD07DF-A117-9D75-2874-3A284FD718AF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53933F77-93FC-BFB2-32C2-5000214DF3B8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18A31061-5EF6-7D90-D979-5D75EF0FE5CE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14" name="point @4">
            <a:extLst>
              <a:ext uri="{FF2B5EF4-FFF2-40B4-BE49-F238E27FC236}">
                <a16:creationId xmlns:a16="http://schemas.microsoft.com/office/drawing/2014/main" id="{80CCE20B-C1CE-F9D4-AC83-02063449640A}"/>
              </a:ext>
            </a:extLst>
          </p:cNvPr>
          <p:cNvSpPr txBox="1"/>
          <p:nvPr/>
        </p:nvSpPr>
        <p:spPr>
          <a:xfrm>
            <a:off x="10668000" y="4711773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nn-NO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,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= 0.</a:t>
            </a:r>
            <a:endParaRPr lang="en-US" sz="24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24D6A29-02A2-6B12-96C7-B678D04D92B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F2563D1E-AFE4-5E36-7586-B101262C705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22214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5649C-2308-8387-6372-3C64B5E8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39C9C8-CB7E-A043-A4C0-6E1D91DF0E0B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9822D8B-E0CA-33CC-0FEC-E7442663AE5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20AD7D9-03A0-5667-1CD8-13AD41478DF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9E1F4C-7EBC-83DA-F7AC-DB7755113CE0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416441A-AA43-ED82-3CD6-43019080ABB5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7DD202D-4A56-B889-7EBB-7B06404B13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B386ACE-55FA-4992-0D27-A62D6A6DCF7A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FB6F6104-DC02-676A-5163-787069E41063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5317273-5A71-0152-31C7-48BF9F2B3B0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559C1414-EF96-E125-A763-C41F4D3255E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95186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5649C-2308-8387-6372-3C64B5E8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39C9C8-CB7E-A043-A4C0-6E1D91DF0E0B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9822D8B-E0CA-33CC-0FEC-E7442663AE5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20AD7D9-03A0-5667-1CD8-13AD41478DF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9E1F4C-7EBC-83DA-F7AC-DB7755113CE0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416441A-AA43-ED82-3CD6-43019080ABB5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7DD202D-4A56-B889-7EBB-7B06404B13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B386ACE-55FA-4992-0D27-A62D6A6DCF7A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FB6F6104-DC02-676A-5163-787069E41063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F4CD896C-CD71-62C2-6BE4-2BBFCA46499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3B0845E2-A898-AC7D-E366-C928F55EA2D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46045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5649C-2308-8387-6372-3C64B5E8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39C9C8-CB7E-A043-A4C0-6E1D91DF0E0B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9822D8B-E0CA-33CC-0FEC-E7442663AE5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20AD7D9-03A0-5667-1CD8-13AD41478DF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B9E1F4C-7EBC-83DA-F7AC-DB7755113CE0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416441A-AA43-ED82-3CD6-43019080ABB5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7DD202D-4A56-B889-7EBB-7B06404B13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B386ACE-55FA-4992-0D27-A62D6A6DCF7A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FB6F6104-DC02-676A-5163-787069E41063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99EB5935-3799-D55D-E4A2-49AAE6FD8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16BB3D1D-BB50-B0E4-2847-5B265B9BEB4A}"/>
              </a:ext>
            </a:extLst>
          </p:cNvPr>
          <p:cNvSpPr txBox="1"/>
          <p:nvPr/>
        </p:nvSpPr>
        <p:spPr>
          <a:xfrm>
            <a:off x="9398000" y="4982957"/>
            <a:ext cx="797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Doubling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 quadruples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square law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F7318C4-3A9A-A6AD-9119-C24AC5A0D33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D5686857-EDD0-11E2-D34F-0CAF5E87BF9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8473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4FC0A-6D71-6328-91D4-E5866408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201AE8-352E-2F7B-261C-DD36EA2F730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FF5DB2D-81AA-5F77-3147-73C26E6CADE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C37977E-AB1B-A02A-5FED-9C36CBCCBF4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B7F5624-CB9D-382F-922F-51553553A27F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1A4973B-247C-CA82-FDFC-340697CA2ED6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FA579F7-C08E-F638-ACC8-6011233987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4CDE20B-9BC9-73B2-8D61-D40FBDF1E5D9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94D93F6A-7024-ABEE-9414-A182E0CCA20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4EFFBDEF-1717-F83A-86EE-ECB8843CE1B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71672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4FC0A-6D71-6328-91D4-E5866408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201AE8-352E-2F7B-261C-DD36EA2F730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FF5DB2D-81AA-5F77-3147-73C26E6CADE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C37977E-AB1B-A02A-5FED-9C36CBCCBF4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B7F5624-CB9D-382F-922F-51553553A27F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1A4973B-247C-CA82-FDFC-340697CA2ED6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FA579F7-C08E-F638-ACC8-6011233987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4CDE20B-9BC9-73B2-8D61-D40FBDF1E5D9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BC63E112-FE3F-4E63-86FE-8C6319724DB3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74A430BA-AC94-75D4-66E0-60E0CA23167A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DD0A78E3-4D96-B7EB-8783-BD5A164DEF4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23D2646F-93BA-0E59-6053-211F93D24A9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47717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4FC0A-6D71-6328-91D4-E5866408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201AE8-352E-2F7B-261C-DD36EA2F730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FF5DB2D-81AA-5F77-3147-73C26E6CADE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C37977E-AB1B-A02A-5FED-9C36CBCCBF4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B7F5624-CB9D-382F-922F-51553553A27F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1A4973B-247C-CA82-FDFC-340697CA2ED6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FA579F7-C08E-F638-ACC8-6011233987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4CDE20B-9BC9-73B2-8D61-D40FBDF1E5D9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BC63E112-FE3F-4E63-86FE-8C6319724DB3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74A430BA-AC94-75D4-66E0-60E0CA23167A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F266C219-F039-13A9-F103-5B4E62955E83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91DAB737-2E41-5938-10B8-DE8685C2EDA5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65285C4A-66B7-D057-7E01-B71BFB6DF61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8B794D5F-5EDF-35B8-BBBC-19E220D116D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54506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4FC0A-6D71-6328-91D4-E5866408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201AE8-352E-2F7B-261C-DD36EA2F730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FF5DB2D-81AA-5F77-3147-73C26E6CADE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C37977E-AB1B-A02A-5FED-9C36CBCCBF4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9B7F5624-CB9D-382F-922F-51553553A27F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1A4973B-247C-CA82-FDFC-340697CA2ED6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FA579F7-C08E-F638-ACC8-6011233987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4CDE20B-9BC9-73B2-8D61-D40FBDF1E5D9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BC63E112-FE3F-4E63-86FE-8C6319724DB3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74A430BA-AC94-75D4-66E0-60E0CA23167A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97F6AE26-DB36-60C8-1C64-C9E028BD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F266C219-F039-13A9-F103-5B4E62955E83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91DAB737-2E41-5938-10B8-DE8685C2EDA5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86CDCD62-6E3F-EF58-0A88-ADC3558AA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1A3C211A-B6F9-0BDE-1601-3C240E75324D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F98D2FCF-DC78-BFFF-C68B-B27385B6334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97EEBA67-D10C-6B60-A25D-14441569255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49065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8374CE1-C8C4-9067-45AD-586871AC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10A274F-9106-D2A4-A069-5A925E1C10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3310EB2-61C5-878F-BEC5-4DB4B480D09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EABB7BC-74BF-3B68-1955-2F31AFC65D1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F01043-B5B2-F5D2-030D-0C46456E085F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B95B45C-29F6-BB83-F713-B2737A19B6FD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8DBF088-C25C-8907-BDA0-8D68698DD3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19E90DEE-F2D5-F97A-3DB5-BE787AFE3094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964B3CED-4901-C071-6D12-9E912DB2E621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2EC181B9-1AFA-B914-D9DF-A1C568437FE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3B12404F-D3D5-8F4B-5DFE-111FCB60E95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74774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8374CE1-C8C4-9067-45AD-586871AC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10A274F-9106-D2A4-A069-5A925E1C10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3310EB2-61C5-878F-BEC5-4DB4B480D09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EABB7BC-74BF-3B68-1955-2F31AFC65D1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F01043-B5B2-F5D2-030D-0C46456E085F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B95B45C-29F6-BB83-F713-B2737A19B6FD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8DBF088-C25C-8907-BDA0-8D68698DD3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19E90DEE-F2D5-F97A-3DB5-BE787AFE3094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964B3CED-4901-C071-6D12-9E912DB2E621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4D61297C-C75C-76E1-28FB-D038B021B577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6923"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9C2FFBF7-3AB5-C12A-3749-A748BD41BBD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1271C238-6490-00C2-1C9D-38BB8E5863E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207129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8374CE1-C8C4-9067-45AD-586871AC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10A274F-9106-D2A4-A069-5A925E1C10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3310EB2-61C5-878F-BEC5-4DB4B480D09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EABB7BC-74BF-3B68-1955-2F31AFC65D1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06F01043-B5B2-F5D2-030D-0C46456E085F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B95B45C-29F6-BB83-F713-B2737A19B6FD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8DBF088-C25C-8907-BDA0-8D68698DD3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19E90DEE-F2D5-F97A-3DB5-BE787AFE3094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964B3CED-4901-C071-6D12-9E912DB2E621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1FFF97EA-631C-AD07-6005-B7B2F621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4D61297C-C75C-76E1-28FB-D038B021B577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EB2F7D6F-9220-1ACF-9C96-8EB4227AC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6923"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int @3">
            <a:extLst>
              <a:ext uri="{FF2B5EF4-FFF2-40B4-BE49-F238E27FC236}">
                <a16:creationId xmlns:a16="http://schemas.microsoft.com/office/drawing/2014/main" id="{3532DC31-D83E-653C-2822-052D4AF16291}"/>
              </a:ext>
            </a:extLst>
          </p:cNvPr>
          <p:cNvSpPr txBox="1"/>
          <p:nvPr/>
        </p:nvSpPr>
        <p:spPr>
          <a:xfrm>
            <a:off x="914400" y="5865557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This is the region used when the MOSFET acts as a closed switch (Section 5).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5933476E-41B8-206F-ABC8-B9CDD68E1DC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848CDA3F-FDD9-A941-E563-5A2FFE5A28E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888737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48F49F-D1E3-D579-2CCF-852E9373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75B8FD6-9CC9-BD85-8A50-FD81637E974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37E62DA-6E0E-75EF-5532-ACECA074C798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941EEA3-7F61-9CC3-5533-B27761D05F9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0B3DC99-4516-A279-3A04-23460890E59F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955AFF3-14B0-D832-0E9F-474F1B643F43}"/>
              </a:ext>
            </a:extLst>
          </p:cNvPr>
          <p:cNvSpPr/>
          <p:nvPr/>
        </p:nvSpPr>
        <p:spPr>
          <a:xfrm>
            <a:off x="4114102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C881859-FA0E-A7A4-7BC6-6AF1745B05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95442F4-E2F6-6D9C-1A03-BEC32A938E68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A812F1E5-E3CA-6F78-633E-36C3EE49764C}"/>
              </a:ext>
            </a:extLst>
          </p:cNvPr>
          <p:cNvSpPr txBox="1"/>
          <p:nvPr/>
        </p:nvSpPr>
        <p:spPr>
          <a:xfrm>
            <a:off x="914400" y="7239000"/>
            <a:ext cx="9652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C853CA27-9920-10F4-6914-D35031BB922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E8C37CA2-24F3-EF7D-434C-8A3B285AF67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769422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48F49F-D1E3-D579-2CCF-852E9373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75B8FD6-9CC9-BD85-8A50-FD81637E974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37E62DA-6E0E-75EF-5532-ACECA074C798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941EEA3-7F61-9CC3-5533-B27761D05F9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0B3DC99-4516-A279-3A04-23460890E59F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955AFF3-14B0-D832-0E9F-474F1B643F43}"/>
              </a:ext>
            </a:extLst>
          </p:cNvPr>
          <p:cNvSpPr/>
          <p:nvPr/>
        </p:nvSpPr>
        <p:spPr>
          <a:xfrm>
            <a:off x="4114102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C881859-FA0E-A7A4-7BC6-6AF1745B05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95442F4-E2F6-6D9C-1A03-BEC32A938E68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A812F1E5-E3CA-6F78-633E-36C3EE49764C}"/>
              </a:ext>
            </a:extLst>
          </p:cNvPr>
          <p:cNvSpPr txBox="1"/>
          <p:nvPr/>
        </p:nvSpPr>
        <p:spPr>
          <a:xfrm>
            <a:off x="914400" y="7239000"/>
            <a:ext cx="9652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0E5ECA3-C31F-2512-580C-0E3FA831DCDF}"/>
              </a:ext>
            </a:extLst>
          </p:cNvPr>
          <p:cNvSpPr txBox="1"/>
          <p:nvPr/>
        </p:nvSpPr>
        <p:spPr>
          <a:xfrm>
            <a:off x="914400" y="8253025"/>
            <a:ext cx="9652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316C7A3-BADA-5B5D-8582-515011DDE12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A5D3E265-1BB7-B56B-808A-1FECCD0F4EB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62663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48F49F-D1E3-D579-2CCF-852E9373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75B8FD6-9CC9-BD85-8A50-FD81637E9742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37E62DA-6E0E-75EF-5532-ACECA074C798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941EEA3-7F61-9CC3-5533-B27761D05F9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60B3DC99-4516-A279-3A04-23460890E59F}"/>
              </a:ext>
            </a:extLst>
          </p:cNvPr>
          <p:cNvSpPr/>
          <p:nvPr/>
        </p:nvSpPr>
        <p:spPr>
          <a:xfrm>
            <a:off x="4114102" y="2032000"/>
            <a:ext cx="10059796" cy="482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955AFF3-14B0-D832-0E9F-474F1B643F43}"/>
              </a:ext>
            </a:extLst>
          </p:cNvPr>
          <p:cNvSpPr/>
          <p:nvPr/>
        </p:nvSpPr>
        <p:spPr>
          <a:xfrm>
            <a:off x="4114102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2C881859-FA0E-A7A4-7BC6-6AF1745B05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02" y="2286000"/>
            <a:ext cx="9551797" cy="4089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95442F4-E2F6-6D9C-1A03-BEC32A938E68}"/>
              </a:ext>
            </a:extLst>
          </p:cNvPr>
          <p:cNvSpPr txBox="1"/>
          <p:nvPr/>
        </p:nvSpPr>
        <p:spPr>
          <a:xfrm>
            <a:off x="4368102" y="6502400"/>
            <a:ext cx="95517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A812F1E5-E3CA-6F78-633E-36C3EE49764C}"/>
              </a:ext>
            </a:extLst>
          </p:cNvPr>
          <p:cNvSpPr txBox="1"/>
          <p:nvPr/>
        </p:nvSpPr>
        <p:spPr>
          <a:xfrm>
            <a:off x="914400" y="7239000"/>
            <a:ext cx="9652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0E5ECA3-C31F-2512-580C-0E3FA831DCDF}"/>
              </a:ext>
            </a:extLst>
          </p:cNvPr>
          <p:cNvSpPr txBox="1"/>
          <p:nvPr/>
        </p:nvSpPr>
        <p:spPr>
          <a:xfrm>
            <a:off x="914400" y="8253025"/>
            <a:ext cx="9652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13CEB3F0-EC15-C04D-CBF0-0D0BA30E000E}"/>
                  </a:ext>
                </a:extLst>
              </p:cNvPr>
              <p:cNvSpPr txBox="1"/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13CEB3F0-EC15-C04D-CBF0-0D0BA30E0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00" y="7365999"/>
                <a:ext cx="6197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DF5FD8C7-61FD-B15E-E652-655B3D1B121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0039253F-E4C9-DD63-E75D-610113BBF3A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595880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CD9918-4400-6CA1-023C-EE076AD8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MOSFETs in DC circuits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56AC9E7E-C5CF-C336-00D7-552311DB4200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4888C2E1-D287-0E94-CEE7-E2885A4CB389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C0C1D00C-0374-84AD-A6BE-154F64EE6121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A7C50D9-6CCC-E108-CCC4-60BDB7C1D2D1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3DEA4F82-CD86-EC65-E0A4-C9F051ABDA6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FA811532-C2CC-4EA3-6D95-28262FC5D3DF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49F9B1C5-10F8-5956-B04E-62C87A92726A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F0DCC29C-0B90-9F62-4170-25130005AEC0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4B8BFFC-F211-ED27-CDB4-5BFC180B1A9F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637B1A9-E007-3DEB-E3B7-4F1C84BD8D8F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Assume, solve, check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0E113F90-50F2-8ED6-E134-3C3F378792EC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the drain voltage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6E0DD8D-7DCD-B78A-4A51-0FE16027712B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current mirror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4A9B1AB5-EC19-0621-DE6C-13678770F9F3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35390DD8-5A48-28C9-77DD-DD1A43062938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738751A9-AE28-25A5-0D83-52119CA27BCB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D772EEBE-32A3-5FAA-98A3-5FA641842BEA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E96A209-33DB-CF74-C2FA-D0766C636FE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FCB6C32-CC79-1F72-D784-209F8AFB2E8A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CB8E3553-303C-A06E-4604-0A658A91976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2B54F997-07DA-3DE6-C225-9F88415811A7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B24ABEA7-E4B1-C91B-CC71-68B1589586DD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9E9C3EBD-214C-B423-5BBD-A4E21C9BB904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2906193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6735E3-9A16-61DA-83C6-2E5DBC0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31C6543-E1CD-680A-7D7A-D68DA9CF12C0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2212E90-7DBF-4203-F291-20CD0CCA904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81496AE-11A6-7A42-0F41-F5CC16E7132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F67B6AFC-BDFA-1F4E-6102-858895B9E971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7658C407-C120-33E7-CD13-EF3FD7102A41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79302555-F01B-134D-A487-FAA25600B9A1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28759914-5E72-F2EB-689A-B2B576C4FD9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CFAF4CDF-71BC-FAC2-7C11-0E1BCE1546D9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32478C7B-0601-3716-2525-245014E2C90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96AF8A1F-93E7-EC5C-9E8C-C08E369AFE8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230146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6735E3-9A16-61DA-83C6-2E5DBC0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31C6543-E1CD-680A-7D7A-D68DA9CF12C0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2212E90-7DBF-4203-F291-20CD0CCA904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81496AE-11A6-7A42-0F41-F5CC16E7132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F67B6AFC-BDFA-1F4E-6102-858895B9E971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7658C407-C120-33E7-CD13-EF3FD7102A41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79302555-F01B-134D-A487-FAA25600B9A1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28759914-5E72-F2EB-689A-B2B576C4FD9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CFAF4CDF-71BC-FAC2-7C11-0E1BCE1546D9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A4EB3FDB-F42C-104C-EB2D-A6D64ED4F57E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D4D4588D-63AB-5A75-A8F1-1D6C55C37751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C23E2529-80EF-6876-9369-77A89C8AA2AB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A721833A-52A4-B410-5C04-3EEA470FAB18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68781127-F33D-41FC-780C-71FEDF59F90A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C1407600-198F-0D64-EAFE-42053F91CE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7AA9041D-D317-B527-6CBC-4B88ABB9912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55685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6735E3-9A16-61DA-83C6-2E5DBC0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31C6543-E1CD-680A-7D7A-D68DA9CF12C0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2212E90-7DBF-4203-F291-20CD0CCA904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81496AE-11A6-7A42-0F41-F5CC16E7132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F67B6AFC-BDFA-1F4E-6102-858895B9E971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7658C407-C120-33E7-CD13-EF3FD7102A41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79302555-F01B-134D-A487-FAA25600B9A1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28759914-5E72-F2EB-689A-B2B576C4FD9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CFAF4CDF-71BC-FAC2-7C11-0E1BCE1546D9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A4EB3FDB-F42C-104C-EB2D-A6D64ED4F57E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D4D4588D-63AB-5A75-A8F1-1D6C55C37751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C23E2529-80EF-6876-9369-77A89C8AA2AB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A721833A-52A4-B410-5C04-3EEA470FAB18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68781127-F33D-41FC-780C-71FEDF59F90A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6C9336A4-297B-8772-F8A8-FBCBB4BDF3BD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2CAA7858-F409-6C70-1E40-B6D9AA15D05F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CA881E5E-155D-604A-2623-BFE711CE33F3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169D4E86-EC4C-2AEB-D109-90AC0825962A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23998C05-84A0-DB39-54A9-F812C41FD283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39A46EE9-334C-E335-56B9-5E88532B3D4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96438CD8-9C8D-E920-63C0-6A62C9BAAAD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37684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06735E3-9A16-61DA-83C6-2E5DBC06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31C6543-E1CD-680A-7D7A-D68DA9CF12C0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2212E90-7DBF-4203-F291-20CD0CCA904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81496AE-11A6-7A42-0F41-F5CC16E7132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F67B6AFC-BDFA-1F4E-6102-858895B9E971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7658C407-C120-33E7-CD13-EF3FD7102A41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79302555-F01B-134D-A487-FAA25600B9A1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28759914-5E72-F2EB-689A-B2B576C4FD95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CFAF4CDF-71BC-FAC2-7C11-0E1BCE1546D9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A4EB3FDB-F42C-104C-EB2D-A6D64ED4F57E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D4D4588D-63AB-5A75-A8F1-1D6C55C37751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C23E2529-80EF-6876-9369-77A89C8AA2AB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A721833A-52A4-B410-5C04-3EEA470FAB18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68781127-F33D-41FC-780C-71FEDF59F90A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6C9336A4-297B-8772-F8A8-FBCBB4BDF3BD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2CAA7858-F409-6C70-1E40-B6D9AA15D05F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CA881E5E-155D-604A-2623-BFE711CE33F3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169D4E86-EC4C-2AEB-D109-90AC0825962A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23998C05-84A0-DB39-54A9-F812C41FD283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1" name="note @4">
            <a:extLst>
              <a:ext uri="{FF2B5EF4-FFF2-40B4-BE49-F238E27FC236}">
                <a16:creationId xmlns:a16="http://schemas.microsoft.com/office/drawing/2014/main" id="{DCAF368D-A768-E3E7-E95F-DA4A348FC66F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draws no current, so gate-bias resistors form an unloaded divider.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46AF675C-0875-9970-3C09-FA26EF50FD8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1B831807-C7D0-018E-7847-7FB560229BF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4269406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1A0DF488-0CCB-9927-6F30-D6009E277DC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EF3807C2-07D4-5957-2DF0-1F4CF199E65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3591572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age">
            <a:extLst>
              <a:ext uri="{FF2B5EF4-FFF2-40B4-BE49-F238E27FC236}">
                <a16:creationId xmlns:a16="http://schemas.microsoft.com/office/drawing/2014/main" id="{9DA82081-CA3C-8BBA-52D5-9494BBE24AD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34B76544-0F45-A166-195A-ADC302049F2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4241113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E39EE8A2-0565-0EFF-A251-4C7B4782A5F8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E373D2C5-0E70-D041-F26D-B8C37AC09629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0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000">
                <a:solidFill>
                  <a:srgbClr val="4D5B54"/>
                </a:solidFill>
              </a:rPr>
              <a:t>Ω)</a:t>
            </a:r>
            <a:endParaRPr lang="en-US" sz="20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age">
            <a:extLst>
              <a:ext uri="{FF2B5EF4-FFF2-40B4-BE49-F238E27FC236}">
                <a16:creationId xmlns:a16="http://schemas.microsoft.com/office/drawing/2014/main" id="{DE46BF34-6FE2-0A3E-8F86-2E106047DD0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6CD8168C-F99E-0018-5166-902F702D8EF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437647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E39EE8A2-0565-0EFF-A251-4C7B4782A5F8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E373D2C5-0E70-D041-F26D-B8C37AC09629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0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000">
                <a:solidFill>
                  <a:srgbClr val="4D5B54"/>
                </a:solidFill>
              </a:rPr>
              <a:t>Ω)</a:t>
            </a:r>
            <a:endParaRPr lang="en-US" sz="20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F6317D0E-AE7E-52D5-75BF-1A28F5528749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3E721D72-98A8-A15C-A963-10FDC0EED1B2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chrome page">
            <a:extLst>
              <a:ext uri="{FF2B5EF4-FFF2-40B4-BE49-F238E27FC236}">
                <a16:creationId xmlns:a16="http://schemas.microsoft.com/office/drawing/2014/main" id="{F5F43434-A533-6980-BE5A-E99AACFCCAF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9056AB55-2BE5-AEE0-63AF-8B06205E70B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5080277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E39EE8A2-0565-0EFF-A251-4C7B4782A5F8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E373D2C5-0E70-D041-F26D-B8C37AC09629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0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000">
                <a:solidFill>
                  <a:srgbClr val="4D5B54"/>
                </a:solidFill>
              </a:rPr>
              <a:t>Ω)</a:t>
            </a:r>
            <a:endParaRPr lang="en-US" sz="20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F6317D0E-AE7E-52D5-75BF-1A28F5528749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3E721D72-98A8-A15C-A963-10FDC0EED1B2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FA749B54-1BF2-8765-E4B4-264FC5BEFCF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B474EFBD-AB6D-568A-0FFF-7D682A0E7311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0.89 mA would give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−0.33 V &lt;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(no channel): reject.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934054C1-6E51-12C2-AB13-A5B4ABB805F1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So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680E85E5-E56C-B35D-C7AC-83AD601A7A4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8FF61831-3A29-A0C4-0E83-BC63C77CBCB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207243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find the drain voltag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A3214E-05DE-9860-0412-136D77F9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6D22C7F-5E47-04CF-8CDD-44BE4D8A56D5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EAECCE-B118-ABB8-93A5-36ABC80F552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A482322-60AE-55A3-1296-FB3DED93AF3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BE4FACE3-B85B-B329-E054-345141EEEC93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DCAAD9F-468F-D101-CDE2-D1B273C89A49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AD8A7B80-D4FC-BAEE-4086-6A560145135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D173E0ED-85BE-D76C-8694-03B30FC8DD7B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6A900336-98EA-7FB2-9A90-E8A8BDA40C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00FFD-A26F-BDB9-3A48-90F2E2648D8C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88097CC-E245-2638-59CD-59925789F37D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E75FC323-5D6E-6CE2-B818-592492EBB7FE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4134C0FD-A4D2-1B56-B55D-5992FA7BF2ED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0E400C17-BB80-A8DC-98EA-F0FB064E726B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B958FB41-6E66-EEC6-8E99-CF614F33BA2E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0A39FE6A-0C01-21E4-51B6-74FBAF5180C8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CA7C5C82-590D-EBC0-21F4-EFF1F9720AD3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1E30395D-86FB-16CD-947B-48FB81067E5F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E84EFB57-75D0-3AFC-991B-896D610E99BA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6424F050-8ACD-4778-709D-725FCCD4ADF4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249F1C9C-4CB1-133C-2C4B-79890F17F3B3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78E8B-B96B-21B3-2F2C-F770598E39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C4CC-25ED-0EEE-D329-0939F1E4CB27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581F5FAC-7EF2-ABFE-9A85-F4AA13BBFA39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59864B-B721-09F0-BA4A-D6BE41AC1CC9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A40974F1-897F-0F29-7412-0979173E9EA7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1EF23359-C85C-39B1-799A-1B8186B5194F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DDF4BBEC-9C23-ED3A-D624-7021EDA17DD0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D3D5C796-9B76-090D-419B-80758519EC41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77DDF102-4929-546B-BEB2-2A02541425B6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EF1D6985-ECE5-4960-B53B-B7B14F641DD3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C53488C-2368-BE1F-4E3F-7B57FC3ABD56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1D53EA76-70B9-C07B-E1B4-7988136285AC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90758-B467-6B16-1202-71617293D2FE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BABEE0-FE90-08A1-0DFF-2DE727B29E3B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D80E1799-0767-4ED7-4965-762C56CB3956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FD412FA8-06FA-2430-DEBA-D144F8C1A8D5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9" name="node @6">
            <a:extLst>
              <a:ext uri="{FF2B5EF4-FFF2-40B4-BE49-F238E27FC236}">
                <a16:creationId xmlns:a16="http://schemas.microsoft.com/office/drawing/2014/main" id="{FA1E5A21-B4D8-415F-2716-B9D8D17E2C5C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9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E6A4972D-0942-C817-8484-06402C16B842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DF8DAB9F-CDD7-DFA3-ED31-5E27AE9A9C1B}"/>
              </a:ext>
            </a:extLst>
          </p:cNvPr>
          <p:cNvSpPr txBox="1"/>
          <p:nvPr/>
        </p:nvSpPr>
        <p:spPr>
          <a:xfrm>
            <a:off x="8737600" y="25400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/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5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5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4B3E4ECA-D9B2-6FD9-0F6C-B85A10C0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2898576"/>
                <a:ext cx="8636000" cy="73025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E39EE8A2-0565-0EFF-A251-4C7B4782A5F8}"/>
              </a:ext>
            </a:extLst>
          </p:cNvPr>
          <p:cNvSpPr/>
          <p:nvPr/>
        </p:nvSpPr>
        <p:spPr>
          <a:xfrm>
            <a:off x="8128000" y="38447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E373D2C5-0E70-D041-F26D-B8C37AC09629}"/>
              </a:ext>
            </a:extLst>
          </p:cNvPr>
          <p:cNvSpPr txBox="1"/>
          <p:nvPr/>
        </p:nvSpPr>
        <p:spPr>
          <a:xfrm>
            <a:off x="8737600" y="3832027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0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000">
                <a:solidFill>
                  <a:srgbClr val="4D5B54"/>
                </a:solidFill>
              </a:rPr>
              <a:t>Ω)</a:t>
            </a:r>
            <a:endParaRPr lang="en-US" sz="20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/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E9153CCA-C8C6-47ED-D220-3244BAAC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190603"/>
                <a:ext cx="8636000" cy="730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F6317D0E-AE7E-52D5-75BF-1A28F5528749}"/>
              </a:ext>
            </a:extLst>
          </p:cNvPr>
          <p:cNvSpPr/>
          <p:nvPr/>
        </p:nvSpPr>
        <p:spPr>
          <a:xfrm>
            <a:off x="8128000" y="513675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3E721D72-98A8-A15C-A963-10FDC0EED1B2}"/>
              </a:ext>
            </a:extLst>
          </p:cNvPr>
          <p:cNvSpPr txBox="1"/>
          <p:nvPr/>
        </p:nvSpPr>
        <p:spPr>
          <a:xfrm>
            <a:off x="8737600" y="5124054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/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43D53168-91FB-C1F6-7534-27C3AA1EC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482630"/>
                <a:ext cx="8636000" cy="476250"/>
              </a:xfrm>
              <a:prstGeom prst="rect">
                <a:avLst/>
              </a:prstGeom>
              <a:blipFill>
                <a:blip r:embed="rId4"/>
                <a:stretch>
                  <a:fillRect l="-1270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FA749B54-1BF2-8765-E4B4-264FC5BEFCF1}"/>
              </a:ext>
            </a:extLst>
          </p:cNvPr>
          <p:cNvSpPr/>
          <p:nvPr/>
        </p:nvSpPr>
        <p:spPr>
          <a:xfrm>
            <a:off x="8128000" y="617478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B474EFBD-AB6D-568A-0FFF-7D682A0E7311}"/>
              </a:ext>
            </a:extLst>
          </p:cNvPr>
          <p:cNvSpPr txBox="1"/>
          <p:nvPr/>
        </p:nvSpPr>
        <p:spPr>
          <a:xfrm>
            <a:off x="8737600" y="6162081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0.89 mA would give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= −0.33 V &lt; </a:t>
            </a:r>
            <a:r>
              <a:rPr lang="en-US" sz="20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 (no channel): reject.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934054C1-6E51-12C2-AB13-A5B4ABB805F1}"/>
              </a:ext>
            </a:extLst>
          </p:cNvPr>
          <p:cNvSpPr txBox="1"/>
          <p:nvPr/>
        </p:nvSpPr>
        <p:spPr>
          <a:xfrm>
            <a:off x="8737600" y="6520658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So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6E1A2524-0C9E-AA18-DE30-D5FD7C511659}"/>
              </a:ext>
            </a:extLst>
          </p:cNvPr>
          <p:cNvSpPr/>
          <p:nvPr/>
        </p:nvSpPr>
        <p:spPr>
          <a:xfrm>
            <a:off x="8128000" y="704433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3" name="lab @6">
            <a:extLst>
              <a:ext uri="{FF2B5EF4-FFF2-40B4-BE49-F238E27FC236}">
                <a16:creationId xmlns:a16="http://schemas.microsoft.com/office/drawing/2014/main" id="{AD5C64AE-224C-35FC-5B7D-E38BD09B56B4}"/>
              </a:ext>
            </a:extLst>
          </p:cNvPr>
          <p:cNvSpPr txBox="1"/>
          <p:nvPr/>
        </p:nvSpPr>
        <p:spPr>
          <a:xfrm>
            <a:off x="8737600" y="7031635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Drain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48D324A-9481-922D-AB09-4EDC1D659608}"/>
                  </a:ext>
                </a:extLst>
              </p:cNvPr>
              <p:cNvSpPr txBox="1"/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5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5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D48D324A-9481-922D-AB09-4EDC1D659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7390211"/>
                <a:ext cx="8636000" cy="476250"/>
              </a:xfrm>
              <a:prstGeom prst="rect">
                <a:avLst/>
              </a:prstGeom>
              <a:blipFill>
                <a:blip r:embed="rId5"/>
                <a:stretch>
                  <a:fillRect l="-127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nswer @6">
            <a:extLst>
              <a:ext uri="{FF2B5EF4-FFF2-40B4-BE49-F238E27FC236}">
                <a16:creationId xmlns:a16="http://schemas.microsoft.com/office/drawing/2014/main" id="{6CC3FDCE-A146-3676-B47B-A2E8B8C143CC}"/>
              </a:ext>
            </a:extLst>
          </p:cNvPr>
          <p:cNvSpPr/>
          <p:nvPr/>
        </p:nvSpPr>
        <p:spPr>
          <a:xfrm>
            <a:off x="8737600" y="8018862"/>
            <a:ext cx="2174240" cy="57912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CD95B9F8-8943-9EE8-6261-9E7AA941BDDC}"/>
              </a:ext>
            </a:extLst>
          </p:cNvPr>
          <p:cNvSpPr txBox="1"/>
          <p:nvPr/>
        </p:nvSpPr>
        <p:spPr>
          <a:xfrm>
            <a:off x="8737600" y="8018861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B2D9BAD5-7FE6-FF00-DB82-E460336B0EBA}"/>
              </a:ext>
            </a:extLst>
          </p:cNvPr>
          <p:cNvSpPr txBox="1"/>
          <p:nvPr/>
        </p:nvSpPr>
        <p:spPr>
          <a:xfrm>
            <a:off x="11216640" y="8044261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1 V: saturation holds.</a:t>
            </a:r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3E6D1679-38BB-F714-8515-4B3B5D3EC15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hrome page">
            <a:extLst>
              <a:ext uri="{FF2B5EF4-FFF2-40B4-BE49-F238E27FC236}">
                <a16:creationId xmlns:a16="http://schemas.microsoft.com/office/drawing/2014/main" id="{412D52BC-E699-A84D-A8B4-5B121A4A5BD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395177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2030FD-64F0-5350-887F-B0791E8C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51E3AF-766B-7556-DCCC-9468E890392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FAA1048-CBD5-485F-0CD2-20919636E46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1D5EA50-694B-166D-D1B0-8858497A6E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387030-F584-4448-71DB-C376F603007A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2A4FE17-1A87-BFDE-8D01-58A9C0FA6654}"/>
              </a:ext>
            </a:extLst>
          </p:cNvPr>
          <p:cNvSpPr/>
          <p:nvPr/>
        </p:nvSpPr>
        <p:spPr>
          <a:xfrm>
            <a:off x="10349408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A57699-C692-442E-7386-B4BA0C52D3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C1FF60B7-C19D-4508-D989-8AAA90EF529B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01251B6-3097-B3F9-9A17-F268F7CF847B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322685E-BFD4-B73F-4B99-D50B4E70B94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969E8F88-2E74-971F-64CB-4F4B839231E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877108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2030FD-64F0-5350-887F-B0791E8C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51E3AF-766B-7556-DCCC-9468E890392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FAA1048-CBD5-485F-0CD2-20919636E46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1D5EA50-694B-166D-D1B0-8858497A6E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387030-F584-4448-71DB-C376F603007A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2A4FE17-1A87-BFDE-8D01-58A9C0FA6654}"/>
              </a:ext>
            </a:extLst>
          </p:cNvPr>
          <p:cNvSpPr/>
          <p:nvPr/>
        </p:nvSpPr>
        <p:spPr>
          <a:xfrm>
            <a:off x="10349408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A57699-C692-442E-7386-B4BA0C52D3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C1FF60B7-C19D-4508-D989-8AAA90EF529B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01251B6-3097-B3F9-9A17-F268F7CF847B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7947604-8C6C-037C-25F7-B58037D9FD94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blipFill>
                <a:blip r:embed="rId3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EC5E361E-EBA5-0815-0C45-CB3D6F2DC06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95BE2365-3C48-C852-7584-ACAC6BE713A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712461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2030FD-64F0-5350-887F-B0791E8C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F51E3AF-766B-7556-DCCC-9468E890392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FAA1048-CBD5-485F-0CD2-20919636E467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1D5EA50-694B-166D-D1B0-8858497A6EF6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5387030-F584-4448-71DB-C376F603007A}"/>
              </a:ext>
            </a:extLst>
          </p:cNvPr>
          <p:cNvSpPr/>
          <p:nvPr/>
        </p:nvSpPr>
        <p:spPr>
          <a:xfrm>
            <a:off x="10349408" y="2159000"/>
            <a:ext cx="6326785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B2A4FE17-1A87-BFDE-8D01-58A9C0FA6654}"/>
              </a:ext>
            </a:extLst>
          </p:cNvPr>
          <p:cNvSpPr/>
          <p:nvPr/>
        </p:nvSpPr>
        <p:spPr>
          <a:xfrm>
            <a:off x="10349408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50A57699-C692-442E-7386-B4BA0C52D34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408" y="2413000"/>
            <a:ext cx="5818785" cy="6121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C1FF60B7-C19D-4508-D989-8AAA90EF529B}"/>
              </a:ext>
            </a:extLst>
          </p:cNvPr>
          <p:cNvSpPr txBox="1"/>
          <p:nvPr/>
        </p:nvSpPr>
        <p:spPr>
          <a:xfrm>
            <a:off x="10603408" y="8661400"/>
            <a:ext cx="58187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C01251B6-3097-B3F9-9A17-F268F7CF847B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C7947604-8C6C-037C-25F7-B58037D9FD94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05CA76FD-7BAA-33BE-5FA8-3E2DC776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blipFill>
                <a:blip r:embed="rId3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int @3">
            <a:extLst>
              <a:ext uri="{FF2B5EF4-FFF2-40B4-BE49-F238E27FC236}">
                <a16:creationId xmlns:a16="http://schemas.microsoft.com/office/drawing/2014/main" id="{DE91E990-DEDB-854E-18AE-668CA7CDE103}"/>
              </a:ext>
            </a:extLst>
          </p:cNvPr>
          <p:cNvSpPr txBox="1"/>
          <p:nvPr/>
        </p:nvSpPr>
        <p:spPr>
          <a:xfrm>
            <a:off x="914400" y="5647550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Identical transistors copy the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BA35DF1-1A91-EB40-5BDC-72BAC13C540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CD18675B-27BE-A3FE-37BE-D90EAA1BD0A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4132090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AF64230-54C6-6829-0F1A-2462B8F7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The MOSFET as an amplifier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78C19196-D92F-9A07-4F65-96CB5A2DC80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4D11AB8F-5852-2CA0-969F-0CE8FBFE311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1D087FB0-8735-746B-C010-69FE3FD3D328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33926338-4B0B-DAFA-26EB-A434F3B3AF8B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B8ED42B-E9AC-4FC4-459F-5F3A5288BDCC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984C72AC-1EEE-EB0F-28D7-CC89D3FD81D2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5C3F8130-45CC-CAB5-F42F-C44C11B77F4A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F2021FA-2CB0-A8C1-66E0-F4A5A9C06326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0851368-9748-7C1C-03CF-F2560C9BB084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04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370D064-8853-F895-9A40-899926CF35F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load line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FE891FEF-BC14-A9D4-F86E-7A36A64C649C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Transconductance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0B0512BA-7223-AF7D-4C06-8950992C2F69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Small-signal models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4D2C8782-0CAB-18B9-1D3B-5515C931EACD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gain and input resistance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A2742C49-1204-236D-A2DC-6D57FA2249D2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ED578D45-7863-2984-095A-C099D85B06F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E3DC31DB-35A8-06BD-56F5-88C44B749F41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B195408A-7047-0190-67BC-229B90943AED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3DB06977-F4F1-2A53-267F-ACB802647E0C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2395995-188C-24E0-8799-ABA9D6B23B92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8BFF76E8-C9BB-B010-AD79-760827054396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9892C32C-344B-44E7-240C-873510532109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5B88D38A-B761-C54E-DABF-2FBF983587EF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026E9398-5D83-6460-AB6E-3F6CD023F7AB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746182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87CAD4B-57E2-C351-249F-2A77D1E6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4F65493-8A09-4498-BC7D-092E6802C41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05EF92-4BB8-368D-B919-BE0CC004514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933BFD5-AD4D-98B2-86BC-BF3DE5DF3F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C297CBF-938D-67A5-C6B6-93F410BFA8FE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C97530-B2C1-13D0-EF75-143BDA004C1F}"/>
              </a:ext>
            </a:extLst>
          </p:cNvPr>
          <p:cNvSpPr/>
          <p:nvPr/>
        </p:nvSpPr>
        <p:spPr>
          <a:xfrm>
            <a:off x="9144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40B4822-75A9-D770-F69D-6A8F0E8AC1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5DEE758-8358-74E3-7F64-C52B6845ABBA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B2E6D857-784C-5C25-1671-29F0D23C452C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B9E9EC6C-4455-D6AA-F557-725DCF2360C3}"/>
              </a:ext>
            </a:extLst>
          </p:cNvPr>
          <p:cNvSpPr/>
          <p:nvPr/>
        </p:nvSpPr>
        <p:spPr>
          <a:xfrm>
            <a:off x="48260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64DE3B81-17A1-B5B2-D916-D1B57B3851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C2CB081B-42BD-E5B8-9C48-2FC77DD38F25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77C85C1A-1C1F-F294-D418-A00CB046234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14C686F9-DFB2-C0C7-DA59-3E568B5A7F1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4383478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87CAD4B-57E2-C351-249F-2A77D1E6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4F65493-8A09-4498-BC7D-092E6802C41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05EF92-4BB8-368D-B919-BE0CC004514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933BFD5-AD4D-98B2-86BC-BF3DE5DF3F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C297CBF-938D-67A5-C6B6-93F410BFA8FE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C97530-B2C1-13D0-EF75-143BDA004C1F}"/>
              </a:ext>
            </a:extLst>
          </p:cNvPr>
          <p:cNvSpPr/>
          <p:nvPr/>
        </p:nvSpPr>
        <p:spPr>
          <a:xfrm>
            <a:off x="9144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40B4822-75A9-D770-F69D-6A8F0E8AC1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5DEE758-8358-74E3-7F64-C52B6845ABBA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B2E6D857-784C-5C25-1671-29F0D23C452C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B9E9EC6C-4455-D6AA-F557-725DCF2360C3}"/>
              </a:ext>
            </a:extLst>
          </p:cNvPr>
          <p:cNvSpPr/>
          <p:nvPr/>
        </p:nvSpPr>
        <p:spPr>
          <a:xfrm>
            <a:off x="48260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64DE3B81-17A1-B5B2-D916-D1B57B3851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C2CB081B-42BD-E5B8-9C48-2FC77DD38F25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int @2">
            <a:extLst>
              <a:ext uri="{FF2B5EF4-FFF2-40B4-BE49-F238E27FC236}">
                <a16:creationId xmlns:a16="http://schemas.microsoft.com/office/drawing/2014/main" id="{644E0197-BC38-35C1-E94B-BC3171F323E3}"/>
              </a:ext>
            </a:extLst>
          </p:cNvPr>
          <p:cNvSpPr txBox="1"/>
          <p:nvPr/>
        </p:nvSpPr>
        <p:spPr>
          <a:xfrm>
            <a:off x="13335000" y="3175000"/>
            <a:ext cx="4038600" cy="6707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Bias the MOSFET in saturation, between A and B.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92A7C5F1-249E-C441-F981-2B5A4555A3B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669BCEC8-BEBB-64F1-1E6D-911E96DE439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39222229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87CAD4B-57E2-C351-249F-2A77D1E6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4F65493-8A09-4498-BC7D-092E6802C41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05EF92-4BB8-368D-B919-BE0CC004514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933BFD5-AD4D-98B2-86BC-BF3DE5DF3F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1C297CBF-938D-67A5-C6B6-93F410BFA8FE}"/>
              </a:ext>
            </a:extLst>
          </p:cNvPr>
          <p:cNvSpPr/>
          <p:nvPr/>
        </p:nvSpPr>
        <p:spPr>
          <a:xfrm>
            <a:off x="914400" y="2159000"/>
            <a:ext cx="3683000" cy="522396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C97530-B2C1-13D0-EF75-143BDA004C1F}"/>
              </a:ext>
            </a:extLst>
          </p:cNvPr>
          <p:cNvSpPr/>
          <p:nvPr/>
        </p:nvSpPr>
        <p:spPr>
          <a:xfrm>
            <a:off x="9144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40B4822-75A9-D770-F69D-6A8F0E8AC1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13000"/>
            <a:ext cx="3175000" cy="448736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5DEE758-8358-74E3-7F64-C52B6845ABBA}"/>
              </a:ext>
            </a:extLst>
          </p:cNvPr>
          <p:cNvSpPr txBox="1"/>
          <p:nvPr/>
        </p:nvSpPr>
        <p:spPr>
          <a:xfrm>
            <a:off x="1168400" y="7027361"/>
            <a:ext cx="317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B2E6D857-784C-5C25-1671-29F0D23C452C}"/>
              </a:ext>
            </a:extLst>
          </p:cNvPr>
          <p:cNvSpPr/>
          <p:nvPr/>
        </p:nvSpPr>
        <p:spPr>
          <a:xfrm>
            <a:off x="4826000" y="2159000"/>
            <a:ext cx="8128000" cy="578639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B9E9EC6C-4455-D6AA-F557-725DCF2360C3}"/>
              </a:ext>
            </a:extLst>
          </p:cNvPr>
          <p:cNvSpPr/>
          <p:nvPr/>
        </p:nvSpPr>
        <p:spPr>
          <a:xfrm>
            <a:off x="4826000" y="2146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64DE3B81-17A1-B5B2-D916-D1B57B3851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2413000"/>
            <a:ext cx="7620000" cy="5049792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C2CB081B-42BD-E5B8-9C48-2FC77DD38F25}"/>
              </a:ext>
            </a:extLst>
          </p:cNvPr>
          <p:cNvSpPr txBox="1"/>
          <p:nvPr/>
        </p:nvSpPr>
        <p:spPr>
          <a:xfrm>
            <a:off x="5080000" y="758979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/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1">
                <a:extLst>
                  <a:ext uri="{FF2B5EF4-FFF2-40B4-BE49-F238E27FC236}">
                    <a16:creationId xmlns:a16="http://schemas.microsoft.com/office/drawing/2014/main" id="{98E9B07F-AB98-3BDC-036B-A7ECBA2E6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2285999"/>
                <a:ext cx="4038600" cy="4953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int @2">
            <a:extLst>
              <a:ext uri="{FF2B5EF4-FFF2-40B4-BE49-F238E27FC236}">
                <a16:creationId xmlns:a16="http://schemas.microsoft.com/office/drawing/2014/main" id="{644E0197-BC38-35C1-E94B-BC3171F323E3}"/>
              </a:ext>
            </a:extLst>
          </p:cNvPr>
          <p:cNvSpPr txBox="1"/>
          <p:nvPr/>
        </p:nvSpPr>
        <p:spPr>
          <a:xfrm>
            <a:off x="13335000" y="3175000"/>
            <a:ext cx="4038600" cy="6707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Bias the MOSFET in saturation, between A and B.</a:t>
            </a:r>
          </a:p>
        </p:txBody>
      </p:sp>
      <p:sp>
        <p:nvSpPr>
          <p:cNvPr id="18" name="point @3">
            <a:extLst>
              <a:ext uri="{FF2B5EF4-FFF2-40B4-BE49-F238E27FC236}">
                <a16:creationId xmlns:a16="http://schemas.microsoft.com/office/drawing/2014/main" id="{06924B93-3F53-0C36-6206-D06B1F6F883F}"/>
              </a:ext>
            </a:extLst>
          </p:cNvPr>
          <p:cNvSpPr txBox="1"/>
          <p:nvPr/>
        </p:nvSpPr>
        <p:spPr>
          <a:xfrm>
            <a:off x="13335000" y="4125161"/>
            <a:ext cx="4038600" cy="10100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A small change 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moves the operating point along the line: a </a:t>
            </a:r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large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change 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D9F0B34E-17CB-74B1-3921-4EDAAEF784B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12A5F340-8B17-83EE-60A7-5FF6C6DF9F1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3202014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EF2501-156A-634E-E38E-D0070AF1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3C6C9F1-0FD4-A348-7F20-B074D09E721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FC62183-BE8D-42B2-868E-C4055FC67D5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C2204F4-7B1A-AAA1-1CF3-EE0539C09C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1591608E-BD53-ED3A-56AD-2A1A2550B317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D0DDA3B2-248D-0716-FDE3-784509F58C7A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C494F16E-6C42-8D85-AB72-80E545C1777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F3EE1846-87CB-EDF2-3B6D-C5A7E8F818B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30995308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EF2501-156A-634E-E38E-D0070AF1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3C6C9F1-0FD4-A348-7F20-B074D09E721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FC62183-BE8D-42B2-868E-C4055FC67D5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C2204F4-7B1A-AAA1-1CF3-EE0539C09C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1591608E-BD53-ED3A-56AD-2A1A2550B317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D0DDA3B2-248D-0716-FDE3-784509F58C7A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076ECCC6-D75F-2A85-80D8-DB06837125F5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713C1D30-83A6-FADC-58BA-430B6AFBF4FE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536E52AD-1632-0C72-E811-2345BF1B11F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B2A68BCC-A6A3-7BE2-4A67-85D96A4899C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5001859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EF2501-156A-634E-E38E-D0070AF1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3C6C9F1-0FD4-A348-7F20-B074D09E721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FC62183-BE8D-42B2-868E-C4055FC67D5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C2204F4-7B1A-AAA1-1CF3-EE0539C09C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1591608E-BD53-ED3A-56AD-2A1A2550B317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D0DDA3B2-248D-0716-FDE3-784509F58C7A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076ECCC6-D75F-2A85-80D8-DB06837125F5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713C1D30-83A6-FADC-58BA-430B6AFBF4FE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EB46E211-10A0-05C4-40EB-CF02B973D59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41B420F1-1A53-F85E-346C-4CBB63A44EC5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843D5255-7369-3536-5487-C72598EE93E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1756DECD-8CD8-8DA1-3CD1-54D5782BB99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686644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0EF2501-156A-634E-E38E-D0070AF1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3C6C9F1-0FD4-A348-7F20-B074D09E721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FC62183-BE8D-42B2-868E-C4055FC67D5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C2204F4-7B1A-AAA1-1CF3-EE0539C09C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1591608E-BD53-ED3A-56AD-2A1A2550B317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D0DDA3B2-248D-0716-FDE3-784509F58C7A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810F4682-238B-39F1-184D-6725547DC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076ECCC6-D75F-2A85-80D8-DB06837125F5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713C1D30-83A6-FADC-58BA-430B6AFBF4FE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865E1365-6043-DA9E-599A-24E43792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EB46E211-10A0-05C4-40EB-CF02B973D59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41B420F1-1A53-F85E-346C-4CBB63A44EC5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AA1DAEF3-25C7-B16B-9880-3E7E42C49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66069F9D-FB79-B136-E513-515BAFEB05A5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821D1F6C-6B3C-0754-CC72-737624675045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With a drain resistor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, the voltage gain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19565EAD-82FD-EF54-47E0-35F2B65876B7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19565EAD-82FD-EF54-47E0-35F2B6587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blipFill>
                <a:blip r:embed="rId5"/>
                <a:stretch>
                  <a:fillRect l="-38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75391ECD-8B86-EBD2-633B-67B76609193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765AD40C-4782-642C-DE19-1AAB803ED1A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32841336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9E132DB-F4F3-7D42-C430-E6900A5A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3594184-9942-43BE-669D-148BEAD31EA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19C82F5-C0FE-EADA-AED4-35534EADACF3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0471329-7F35-DA95-0690-3B08B2693EF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AB80E77-C91C-FB62-F98B-E1F083DF2FC7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0DB488-4E03-1E18-097A-F2F8996322E9}"/>
              </a:ext>
            </a:extLst>
          </p:cNvPr>
          <p:cNvSpPr/>
          <p:nvPr/>
        </p:nvSpPr>
        <p:spPr>
          <a:xfrm>
            <a:off x="1336425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CE8B93E-7CD3-8095-E876-B1A67652D0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115D851-D957-631A-4FA2-5FF30776F2C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3A610075-F6E8-7B24-155C-7A16722D1F33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9B4FA496-C92B-E901-F9BD-D323F7A1769A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23295BE1-BA37-12A7-E618-8BBDC3B219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51169F17-5AA1-14AB-B2A1-97E2464D2A0E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6" name="point @1">
            <a:extLst>
              <a:ext uri="{FF2B5EF4-FFF2-40B4-BE49-F238E27FC236}">
                <a16:creationId xmlns:a16="http://schemas.microsoft.com/office/drawing/2014/main" id="{70B96E14-A603-8BA9-0AE2-273EF461A5EB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9299650-B8E3-2920-F84B-8BBD78713DE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1EC561A8-6C5E-5130-76C2-9EB7D49BC97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8701408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9E132DB-F4F3-7D42-C430-E6900A5A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3594184-9942-43BE-669D-148BEAD31EA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19C82F5-C0FE-EADA-AED4-35534EADACF3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70471329-7F35-DA95-0690-3B08B2693EF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EAB80E77-C91C-FB62-F98B-E1F083DF2FC7}"/>
              </a:ext>
            </a:extLst>
          </p:cNvPr>
          <p:cNvSpPr/>
          <p:nvPr/>
        </p:nvSpPr>
        <p:spPr>
          <a:xfrm>
            <a:off x="1336425" y="2095500"/>
            <a:ext cx="702995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0DB488-4E03-1E18-097A-F2F8996322E9}"/>
              </a:ext>
            </a:extLst>
          </p:cNvPr>
          <p:cNvSpPr/>
          <p:nvPr/>
        </p:nvSpPr>
        <p:spPr>
          <a:xfrm>
            <a:off x="1336425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CE8B93E-7CD3-8095-E876-B1A67652D0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25" y="2349500"/>
            <a:ext cx="6521951" cy="4343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115D851-D957-631A-4FA2-5FF30776F2CF}"/>
              </a:ext>
            </a:extLst>
          </p:cNvPr>
          <p:cNvSpPr txBox="1"/>
          <p:nvPr/>
        </p:nvSpPr>
        <p:spPr>
          <a:xfrm>
            <a:off x="1590425" y="6819900"/>
            <a:ext cx="652195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figure card">
            <a:extLst>
              <a:ext uri="{FF2B5EF4-FFF2-40B4-BE49-F238E27FC236}">
                <a16:creationId xmlns:a16="http://schemas.microsoft.com/office/drawing/2014/main" id="{3A610075-F6E8-7B24-155C-7A16722D1F33}"/>
              </a:ext>
            </a:extLst>
          </p:cNvPr>
          <p:cNvSpPr/>
          <p:nvPr/>
        </p:nvSpPr>
        <p:spPr>
          <a:xfrm>
            <a:off x="9499600" y="2095500"/>
            <a:ext cx="7874000" cy="4975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e card">
            <a:extLst>
              <a:ext uri="{FF2B5EF4-FFF2-40B4-BE49-F238E27FC236}">
                <a16:creationId xmlns:a16="http://schemas.microsoft.com/office/drawing/2014/main" id="{9B4FA496-C92B-E901-F9BD-D323F7A1769A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figure">
            <a:extLst>
              <a:ext uri="{FF2B5EF4-FFF2-40B4-BE49-F238E27FC236}">
                <a16:creationId xmlns:a16="http://schemas.microsoft.com/office/drawing/2014/main" id="{23295BE1-BA37-12A7-E618-8BBDC3B219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349500"/>
            <a:ext cx="7366000" cy="4238997"/>
          </a:xfrm>
          <a:prstGeom prst="rect">
            <a:avLst/>
          </a:prstGeom>
        </p:spPr>
      </p:pic>
      <p:sp>
        <p:nvSpPr>
          <p:cNvPr id="15" name="credit">
            <a:extLst>
              <a:ext uri="{FF2B5EF4-FFF2-40B4-BE49-F238E27FC236}">
                <a16:creationId xmlns:a16="http://schemas.microsoft.com/office/drawing/2014/main" id="{51169F17-5AA1-14AB-B2A1-97E2464D2A0E}"/>
              </a:ext>
            </a:extLst>
          </p:cNvPr>
          <p:cNvSpPr txBox="1"/>
          <p:nvPr/>
        </p:nvSpPr>
        <p:spPr>
          <a:xfrm>
            <a:off x="9753600" y="6715498"/>
            <a:ext cx="736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6" name="point @1">
            <a:extLst>
              <a:ext uri="{FF2B5EF4-FFF2-40B4-BE49-F238E27FC236}">
                <a16:creationId xmlns:a16="http://schemas.microsoft.com/office/drawing/2014/main" id="{70B96E14-A603-8BA9-0AE2-273EF461A5EB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17" name="point @2">
            <a:extLst>
              <a:ext uri="{FF2B5EF4-FFF2-40B4-BE49-F238E27FC236}">
                <a16:creationId xmlns:a16="http://schemas.microsoft.com/office/drawing/2014/main" id="{DBF0458E-53A1-ACF6-22AE-ABB0FCBB703E}"/>
              </a:ext>
            </a:extLst>
          </p:cNvPr>
          <p:cNvSpPr txBox="1"/>
          <p:nvPr/>
        </p:nvSpPr>
        <p:spPr>
          <a:xfrm>
            <a:off x="94996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Adding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Early voltage).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34C3EADD-B68D-094D-61FF-A4A45C61BFC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F902EFF2-9759-938B-0187-C8FEA9F2169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7732466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9" name="chrome page">
            <a:extLst>
              <a:ext uri="{FF2B5EF4-FFF2-40B4-BE49-F238E27FC236}">
                <a16:creationId xmlns:a16="http://schemas.microsoft.com/office/drawing/2014/main" id="{B807854B-F9AC-B5DA-BA0F-6D94F9E20AB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hrome page">
            <a:extLst>
              <a:ext uri="{FF2B5EF4-FFF2-40B4-BE49-F238E27FC236}">
                <a16:creationId xmlns:a16="http://schemas.microsoft.com/office/drawing/2014/main" id="{FF6DBD98-5D39-7B90-0ACD-F42E0E4ECAE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25213421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2" name="badge @2">
            <a:extLst>
              <a:ext uri="{FF2B5EF4-FFF2-40B4-BE49-F238E27FC236}">
                <a16:creationId xmlns:a16="http://schemas.microsoft.com/office/drawing/2014/main" id="{8827D2F5-4072-3951-1757-DBE584B4C5C0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13" name="lab @2">
            <a:extLst>
              <a:ext uri="{FF2B5EF4-FFF2-40B4-BE49-F238E27FC236}">
                <a16:creationId xmlns:a16="http://schemas.microsoft.com/office/drawing/2014/main" id="{F9801BAB-2607-3151-B150-34F151107C80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DC: no gate current, so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 (I in mA)</a:t>
            </a:r>
            <a:endParaRPr lang="en-US" sz="19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ab @2">
            <a:extLst>
              <a:ext uri="{FF2B5EF4-FFF2-40B4-BE49-F238E27FC236}">
                <a16:creationId xmlns:a16="http://schemas.microsoft.com/office/drawing/2014/main" id="{A4791F89-F0F4-8930-1BCD-816BE8A8720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1.06 mA, 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4.4 V</a:t>
            </a:r>
          </a:p>
        </p:txBody>
      </p:sp>
      <p:sp>
        <p:nvSpPr>
          <p:cNvPr id="9" name="chrome page">
            <a:extLst>
              <a:ext uri="{FF2B5EF4-FFF2-40B4-BE49-F238E27FC236}">
                <a16:creationId xmlns:a16="http://schemas.microsoft.com/office/drawing/2014/main" id="{D9158E78-135B-BBF2-B3B0-962E518A439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hrome page">
            <a:extLst>
              <a:ext uri="{FF2B5EF4-FFF2-40B4-BE49-F238E27FC236}">
                <a16:creationId xmlns:a16="http://schemas.microsoft.com/office/drawing/2014/main" id="{C1F83240-641F-2D3D-C927-CC66F83E4D5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164965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2" name="badge @2">
            <a:extLst>
              <a:ext uri="{FF2B5EF4-FFF2-40B4-BE49-F238E27FC236}">
                <a16:creationId xmlns:a16="http://schemas.microsoft.com/office/drawing/2014/main" id="{8827D2F5-4072-3951-1757-DBE584B4C5C0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13" name="lab @2">
            <a:extLst>
              <a:ext uri="{FF2B5EF4-FFF2-40B4-BE49-F238E27FC236}">
                <a16:creationId xmlns:a16="http://schemas.microsoft.com/office/drawing/2014/main" id="{F9801BAB-2607-3151-B150-34F151107C80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DC: no gate current, so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 (I in mA)</a:t>
            </a:r>
            <a:endParaRPr lang="en-US" sz="19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ab @2">
            <a:extLst>
              <a:ext uri="{FF2B5EF4-FFF2-40B4-BE49-F238E27FC236}">
                <a16:creationId xmlns:a16="http://schemas.microsoft.com/office/drawing/2014/main" id="{A4791F89-F0F4-8930-1BCD-816BE8A8720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1.06 mA, 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4.4 V</a:t>
            </a:r>
          </a:p>
        </p:txBody>
      </p:sp>
      <p:sp>
        <p:nvSpPr>
          <p:cNvPr id="16" name="badge @3">
            <a:extLst>
              <a:ext uri="{FF2B5EF4-FFF2-40B4-BE49-F238E27FC236}">
                <a16:creationId xmlns:a16="http://schemas.microsoft.com/office/drawing/2014/main" id="{2777C922-CC74-C723-632C-07BF8BBDFECD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7" name="lab @3">
            <a:extLst>
              <a:ext uri="{FF2B5EF4-FFF2-40B4-BE49-F238E27FC236}">
                <a16:creationId xmlns:a16="http://schemas.microsoft.com/office/drawing/2014/main" id="{A35D598F-B3BD-6C55-1CC6-1CFE3448D3E9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hrome page">
            <a:extLst>
              <a:ext uri="{FF2B5EF4-FFF2-40B4-BE49-F238E27FC236}">
                <a16:creationId xmlns:a16="http://schemas.microsoft.com/office/drawing/2014/main" id="{FFB9F4BE-09DD-9BD7-CA67-47673DE36F8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hrome page">
            <a:extLst>
              <a:ext uri="{FF2B5EF4-FFF2-40B4-BE49-F238E27FC236}">
                <a16:creationId xmlns:a16="http://schemas.microsoft.com/office/drawing/2014/main" id="{363A8D03-F3D6-6FA8-86F2-1C0C5AEE4FE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32516226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2" name="badge @2">
            <a:extLst>
              <a:ext uri="{FF2B5EF4-FFF2-40B4-BE49-F238E27FC236}">
                <a16:creationId xmlns:a16="http://schemas.microsoft.com/office/drawing/2014/main" id="{8827D2F5-4072-3951-1757-DBE584B4C5C0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13" name="lab @2">
            <a:extLst>
              <a:ext uri="{FF2B5EF4-FFF2-40B4-BE49-F238E27FC236}">
                <a16:creationId xmlns:a16="http://schemas.microsoft.com/office/drawing/2014/main" id="{F9801BAB-2607-3151-B150-34F151107C80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DC: no gate current, so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 (I in mA)</a:t>
            </a:r>
            <a:endParaRPr lang="en-US" sz="19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ab @2">
            <a:extLst>
              <a:ext uri="{FF2B5EF4-FFF2-40B4-BE49-F238E27FC236}">
                <a16:creationId xmlns:a16="http://schemas.microsoft.com/office/drawing/2014/main" id="{A4791F89-F0F4-8930-1BCD-816BE8A8720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1.06 mA, 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4.4 V</a:t>
            </a:r>
          </a:p>
        </p:txBody>
      </p:sp>
      <p:sp>
        <p:nvSpPr>
          <p:cNvPr id="16" name="badge @3">
            <a:extLst>
              <a:ext uri="{FF2B5EF4-FFF2-40B4-BE49-F238E27FC236}">
                <a16:creationId xmlns:a16="http://schemas.microsoft.com/office/drawing/2014/main" id="{2777C922-CC74-C723-632C-07BF8BBDFECD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7" name="lab @3">
            <a:extLst>
              <a:ext uri="{FF2B5EF4-FFF2-40B4-BE49-F238E27FC236}">
                <a16:creationId xmlns:a16="http://schemas.microsoft.com/office/drawing/2014/main" id="{A35D598F-B3BD-6C55-1CC6-1CFE3448D3E9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badge @4">
            <a:extLst>
              <a:ext uri="{FF2B5EF4-FFF2-40B4-BE49-F238E27FC236}">
                <a16:creationId xmlns:a16="http://schemas.microsoft.com/office/drawing/2014/main" id="{95672444-DB72-1D43-A521-9D387021F93E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20" name="lab @4">
            <a:extLst>
              <a:ext uri="{FF2B5EF4-FFF2-40B4-BE49-F238E27FC236}">
                <a16:creationId xmlns:a16="http://schemas.microsoft.com/office/drawing/2014/main" id="{F4AD2DF3-390C-0EC3-5080-968541FC331C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Gain (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)=−0.728(4.52)=−3.29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blipFill>
                <a:blip r:embed="rId5"/>
                <a:stretch>
                  <a:fillRect l="-1129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hrome page">
            <a:extLst>
              <a:ext uri="{FF2B5EF4-FFF2-40B4-BE49-F238E27FC236}">
                <a16:creationId xmlns:a16="http://schemas.microsoft.com/office/drawing/2014/main" id="{4E5A66DB-ED7F-B8D7-0C8E-1CFE4F2F561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hrome page">
            <a:extLst>
              <a:ext uri="{FF2B5EF4-FFF2-40B4-BE49-F238E27FC236}">
                <a16:creationId xmlns:a16="http://schemas.microsoft.com/office/drawing/2014/main" id="{3CC9691E-F631-C61D-CC16-0B25AEC0D08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5918579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: gain and input resist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77646C-F774-5570-495D-AED4AE14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gain and input resistance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86B716E-F2C7-9039-4FCC-35F865ED660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70C3537-B2D5-508E-EBA2-9135F7846D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DCF97B9-E674-7D95-4BCC-E1939AAF84E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0F2F1852-0E5C-804E-A329-922BCC170CDC}"/>
              </a:ext>
            </a:extLst>
          </p:cNvPr>
          <p:cNvSpPr txBox="1"/>
          <p:nvPr/>
        </p:nvSpPr>
        <p:spPr>
          <a:xfrm>
            <a:off x="914400" y="1752599"/>
            <a:ext cx="16459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1.5 V, k′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(W/L) = 0.25 mA/V²,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50 V. Coupling capacitors are short circuits for the signal. Find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and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7BF109A-C38C-852C-9A17-229A4F24E99F}"/>
              </a:ext>
            </a:extLst>
          </p:cNvPr>
          <p:cNvSpPr/>
          <p:nvPr/>
        </p:nvSpPr>
        <p:spPr>
          <a:xfrm>
            <a:off x="914400" y="2730500"/>
            <a:ext cx="6604000" cy="4803775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igure card">
            <a:extLst>
              <a:ext uri="{FF2B5EF4-FFF2-40B4-BE49-F238E27FC236}">
                <a16:creationId xmlns:a16="http://schemas.microsoft.com/office/drawing/2014/main" id="{52C8B51C-5DB7-4352-BDD8-21E49F8C05F4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figure">
            <a:extLst>
              <a:ext uri="{FF2B5EF4-FFF2-40B4-BE49-F238E27FC236}">
                <a16:creationId xmlns:a16="http://schemas.microsoft.com/office/drawing/2014/main" id="{ED03F3BE-7BD1-76A1-6737-92C2D1D34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984500"/>
            <a:ext cx="6096000" cy="4067175"/>
          </a:xfrm>
          <a:prstGeom prst="rect">
            <a:avLst/>
          </a:prstGeom>
        </p:spPr>
      </p:pic>
      <p:sp>
        <p:nvSpPr>
          <p:cNvPr id="11" name="credit">
            <a:extLst>
              <a:ext uri="{FF2B5EF4-FFF2-40B4-BE49-F238E27FC236}">
                <a16:creationId xmlns:a16="http://schemas.microsoft.com/office/drawing/2014/main" id="{D43E99B5-96C4-D120-6E86-C2F127FCCE47}"/>
              </a:ext>
            </a:extLst>
          </p:cNvPr>
          <p:cNvSpPr txBox="1"/>
          <p:nvPr/>
        </p:nvSpPr>
        <p:spPr>
          <a:xfrm>
            <a:off x="1168400" y="7178675"/>
            <a:ext cx="609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2" name="badge @2">
            <a:extLst>
              <a:ext uri="{FF2B5EF4-FFF2-40B4-BE49-F238E27FC236}">
                <a16:creationId xmlns:a16="http://schemas.microsoft.com/office/drawing/2014/main" id="{8827D2F5-4072-3951-1757-DBE584B4C5C0}"/>
              </a:ext>
            </a:extLst>
          </p:cNvPr>
          <p:cNvSpPr/>
          <p:nvPr/>
        </p:nvSpPr>
        <p:spPr>
          <a:xfrm>
            <a:off x="8128000" y="2705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13" name="lab @2">
            <a:extLst>
              <a:ext uri="{FF2B5EF4-FFF2-40B4-BE49-F238E27FC236}">
                <a16:creationId xmlns:a16="http://schemas.microsoft.com/office/drawing/2014/main" id="{F9801BAB-2607-3151-B150-34F151107C80}"/>
              </a:ext>
            </a:extLst>
          </p:cNvPr>
          <p:cNvSpPr txBox="1"/>
          <p:nvPr/>
        </p:nvSpPr>
        <p:spPr>
          <a:xfrm>
            <a:off x="8737600" y="2692400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DC: no gate current, so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it-IT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it-IT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it-IT" sz="1900">
                <a:solidFill>
                  <a:srgbClr val="4D5B54"/>
                </a:solidFill>
                <a:latin typeface="DM Sans" pitchFamily="2" charset="0"/>
              </a:rPr>
              <a:t>  (I in mA)</a:t>
            </a:r>
            <a:endParaRPr lang="en-US" sz="19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/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=15−10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(0.25)(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−1.5</m:t>
                      </m:r>
                      <m:sSup>
                        <m:sSup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33D23A30-0DF7-9040-F8EE-2CAFC6FB0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3035587"/>
                <a:ext cx="8636000" cy="671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ab @2">
            <a:extLst>
              <a:ext uri="{FF2B5EF4-FFF2-40B4-BE49-F238E27FC236}">
                <a16:creationId xmlns:a16="http://schemas.microsoft.com/office/drawing/2014/main" id="{A4791F89-F0F4-8930-1BCD-816BE8A8720E}"/>
              </a:ext>
            </a:extLst>
          </p:cNvPr>
          <p:cNvSpPr txBox="1"/>
          <p:nvPr/>
        </p:nvSpPr>
        <p:spPr>
          <a:xfrm>
            <a:off x="8737600" y="3707418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1.06 mA, 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4.4 V</a:t>
            </a:r>
          </a:p>
        </p:txBody>
      </p:sp>
      <p:sp>
        <p:nvSpPr>
          <p:cNvPr id="16" name="badge @3">
            <a:extLst>
              <a:ext uri="{FF2B5EF4-FFF2-40B4-BE49-F238E27FC236}">
                <a16:creationId xmlns:a16="http://schemas.microsoft.com/office/drawing/2014/main" id="{2777C922-CC74-C723-632C-07BF8BBDFECD}"/>
              </a:ext>
            </a:extLst>
          </p:cNvPr>
          <p:cNvSpPr/>
          <p:nvPr/>
        </p:nvSpPr>
        <p:spPr>
          <a:xfrm>
            <a:off x="8128000" y="4215706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7" name="lab @3">
            <a:extLst>
              <a:ext uri="{FF2B5EF4-FFF2-40B4-BE49-F238E27FC236}">
                <a16:creationId xmlns:a16="http://schemas.microsoft.com/office/drawing/2014/main" id="{A35D598F-B3BD-6C55-1CC6-1CFE3448D3E9}"/>
              </a:ext>
            </a:extLst>
          </p:cNvPr>
          <p:cNvSpPr txBox="1"/>
          <p:nvPr/>
        </p:nvSpPr>
        <p:spPr>
          <a:xfrm>
            <a:off x="8737600" y="4203006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Small-signal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/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=0.25(4.4−1.5)=0.728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8" name="eq @3">
                <a:extLst>
                  <a:ext uri="{FF2B5EF4-FFF2-40B4-BE49-F238E27FC236}">
                    <a16:creationId xmlns:a16="http://schemas.microsoft.com/office/drawing/2014/main" id="{4EE70950-99F4-3D36-7759-05EEDCD33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4546193"/>
                <a:ext cx="8636000" cy="671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badge @4">
            <a:extLst>
              <a:ext uri="{FF2B5EF4-FFF2-40B4-BE49-F238E27FC236}">
                <a16:creationId xmlns:a16="http://schemas.microsoft.com/office/drawing/2014/main" id="{95672444-DB72-1D43-A521-9D387021F93E}"/>
              </a:ext>
            </a:extLst>
          </p:cNvPr>
          <p:cNvSpPr/>
          <p:nvPr/>
        </p:nvSpPr>
        <p:spPr>
          <a:xfrm>
            <a:off x="8128000" y="543392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20" name="lab @4">
            <a:extLst>
              <a:ext uri="{FF2B5EF4-FFF2-40B4-BE49-F238E27FC236}">
                <a16:creationId xmlns:a16="http://schemas.microsoft.com/office/drawing/2014/main" id="{F4AD2DF3-390C-0EC3-5080-968541FC331C}"/>
              </a:ext>
            </a:extLst>
          </p:cNvPr>
          <p:cNvSpPr txBox="1"/>
          <p:nvPr/>
        </p:nvSpPr>
        <p:spPr>
          <a:xfrm>
            <a:off x="8737600" y="5421224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Gain (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carries negligible signal current)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/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)=−0.728(4.52)=−3.29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1" name="eq @4">
                <a:extLst>
                  <a:ext uri="{FF2B5EF4-FFF2-40B4-BE49-F238E27FC236}">
                    <a16:creationId xmlns:a16="http://schemas.microsoft.com/office/drawing/2014/main" id="{DF71A98B-801C-BC9C-22F5-C79F7DA41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5764411"/>
                <a:ext cx="8636000" cy="438150"/>
              </a:xfrm>
              <a:prstGeom prst="rect">
                <a:avLst/>
              </a:prstGeom>
              <a:blipFill>
                <a:blip r:embed="rId5"/>
                <a:stretch>
                  <a:fillRect l="-1129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badge @5">
            <a:extLst>
              <a:ext uri="{FF2B5EF4-FFF2-40B4-BE49-F238E27FC236}">
                <a16:creationId xmlns:a16="http://schemas.microsoft.com/office/drawing/2014/main" id="{4AEC323E-9720-344B-F22B-18747DFC8617}"/>
              </a:ext>
            </a:extLst>
          </p:cNvPr>
          <p:cNvSpPr/>
          <p:nvPr/>
        </p:nvSpPr>
        <p:spPr>
          <a:xfrm>
            <a:off x="8128000" y="6418462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23" name="lab @5">
            <a:extLst>
              <a:ext uri="{FF2B5EF4-FFF2-40B4-BE49-F238E27FC236}">
                <a16:creationId xmlns:a16="http://schemas.microsoft.com/office/drawing/2014/main" id="{13879003-AC12-3187-66D4-06AE02F092C6}"/>
              </a:ext>
            </a:extLst>
          </p:cNvPr>
          <p:cNvSpPr txBox="1"/>
          <p:nvPr/>
        </p:nvSpPr>
        <p:spPr>
          <a:xfrm>
            <a:off x="8737600" y="6405762"/>
            <a:ext cx="8636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Input resistance: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bridges input and output (Miller effect)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 @5">
                <a:extLst>
                  <a:ext uri="{FF2B5EF4-FFF2-40B4-BE49-F238E27FC236}">
                    <a16:creationId xmlns:a16="http://schemas.microsoft.com/office/drawing/2014/main" id="{D2F97083-4E7F-3C9F-C07A-A0186B7B216B}"/>
                  </a:ext>
                </a:extLst>
              </p:cNvPr>
              <p:cNvSpPr txBox="1"/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𝑖𝑛</m:t>
                          </m:r>
                        </m:sub>
                      </m:sSub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3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3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4.29</m:t>
                          </m:r>
                        </m:den>
                      </m:f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=2.33 </m:t>
                      </m:r>
                      <m:r>
                        <m:rPr>
                          <m:sty m:val="p"/>
                        </m:rP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</m:t>
                      </m:r>
                      <m:r>
                        <a:rPr lang="en-US" sz="23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4" name="eq @5">
                <a:extLst>
                  <a:ext uri="{FF2B5EF4-FFF2-40B4-BE49-F238E27FC236}">
                    <a16:creationId xmlns:a16="http://schemas.microsoft.com/office/drawing/2014/main" id="{D2F97083-4E7F-3C9F-C07A-A0186B7B2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0" y="6748949"/>
                <a:ext cx="8636000" cy="671830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nswer @5">
            <a:extLst>
              <a:ext uri="{FF2B5EF4-FFF2-40B4-BE49-F238E27FC236}">
                <a16:creationId xmlns:a16="http://schemas.microsoft.com/office/drawing/2014/main" id="{DC197FE8-04FC-4C33-7C7C-242F8763AE97}"/>
              </a:ext>
            </a:extLst>
          </p:cNvPr>
          <p:cNvSpPr/>
          <p:nvPr/>
        </p:nvSpPr>
        <p:spPr>
          <a:xfrm>
            <a:off x="8737600" y="7547780"/>
            <a:ext cx="2890520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nswer @5">
            <a:extLst>
              <a:ext uri="{FF2B5EF4-FFF2-40B4-BE49-F238E27FC236}">
                <a16:creationId xmlns:a16="http://schemas.microsoft.com/office/drawing/2014/main" id="{502E5DD8-D2F1-6014-639A-AE5181D21879}"/>
              </a:ext>
            </a:extLst>
          </p:cNvPr>
          <p:cNvSpPr txBox="1"/>
          <p:nvPr/>
        </p:nvSpPr>
        <p:spPr>
          <a:xfrm>
            <a:off x="873760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A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≈ −3.3 V/V</a:t>
            </a:r>
          </a:p>
        </p:txBody>
      </p:sp>
      <p:sp>
        <p:nvSpPr>
          <p:cNvPr id="27" name="answer @5">
            <a:extLst>
              <a:ext uri="{FF2B5EF4-FFF2-40B4-BE49-F238E27FC236}">
                <a16:creationId xmlns:a16="http://schemas.microsoft.com/office/drawing/2014/main" id="{755DA10E-9445-4B53-C98A-A1BCE7B3AFD4}"/>
              </a:ext>
            </a:extLst>
          </p:cNvPr>
          <p:cNvSpPr/>
          <p:nvPr/>
        </p:nvSpPr>
        <p:spPr>
          <a:xfrm>
            <a:off x="11882120" y="7547780"/>
            <a:ext cx="2890519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nswer @5">
            <a:extLst>
              <a:ext uri="{FF2B5EF4-FFF2-40B4-BE49-F238E27FC236}">
                <a16:creationId xmlns:a16="http://schemas.microsoft.com/office/drawing/2014/main" id="{AA2F1746-A059-17AB-0D25-E96A29EA9CBE}"/>
              </a:ext>
            </a:extLst>
          </p:cNvPr>
          <p:cNvSpPr txBox="1"/>
          <p:nvPr/>
        </p:nvSpPr>
        <p:spPr>
          <a:xfrm>
            <a:off x="11882120" y="7547779"/>
            <a:ext cx="28905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R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in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= 2.33 M</a:t>
            </a:r>
            <a:r>
              <a:rPr lang="el-GR" sz="2200" b="1">
                <a:solidFill>
                  <a:srgbClr val="FFFFFF"/>
                </a:solidFill>
              </a:rPr>
              <a:t>Ω</a:t>
            </a:r>
            <a:endParaRPr lang="en-US" sz="2200" b="1">
              <a:solidFill>
                <a:srgbClr val="FFFFFF"/>
              </a:solidFill>
              <a:latin typeface="DM Sans" pitchFamily="2" charset="0"/>
            </a:endParaRPr>
          </a:p>
        </p:txBody>
      </p:sp>
      <p:sp>
        <p:nvSpPr>
          <p:cNvPr id="9" name="chrome page">
            <a:extLst>
              <a:ext uri="{FF2B5EF4-FFF2-40B4-BE49-F238E27FC236}">
                <a16:creationId xmlns:a16="http://schemas.microsoft.com/office/drawing/2014/main" id="{5493922B-E9FB-1A46-E562-F5A05A037F2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hrome page">
            <a:extLst>
              <a:ext uri="{FF2B5EF4-FFF2-40B4-BE49-F238E27FC236}">
                <a16:creationId xmlns:a16="http://schemas.microsoft.com/office/drawing/2014/main" id="{DED5F403-397C-C7F5-3B62-DEB88EFD537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8636886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7FE5BDF-8BCC-AFF1-8AD1-3DB99A1B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6639F7D3-6A15-7211-5ED2-AB963FDE031A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91D775C0-29E3-FBE7-D94D-755B3972DDFE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8C2CCE4-F246-C0E5-56B9-857F624689DE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EEE8500A-D2C9-DCAB-963E-9FCB3907E866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1F1A7FB4-5735-5108-7344-36F1F3CFAA6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F0F164F-8F77-F98B-0DC2-6A9D9D9CE268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1B4AB95C-6B3C-DB1B-7420-635596D54BE1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0ED8F72-7FE6-1143-6799-866520C4C51C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30D55AD-16A4-564D-4505-3F89B8607EF6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05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9FCA8AB-C357-01EC-2DE8-BA65DEF5DE92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Cutoff: an open switch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9882D9C6-23BF-2BC3-0455-AD725B3A211E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Deep triode: a closed switch</a:t>
            </a:r>
          </a:p>
        </p:txBody>
      </p:sp>
      <p:sp>
        <p:nvSpPr>
          <p:cNvPr id="14" name="map">
            <a:extLst>
              <a:ext uri="{FF2B5EF4-FFF2-40B4-BE49-F238E27FC236}">
                <a16:creationId xmlns:a16="http://schemas.microsoft.com/office/drawing/2014/main" id="{CBCD37CC-37EA-DB20-65CD-E2BA4A2EAD52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D8F28C09-303C-8471-693E-19BCF719D0C2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C79285A2-73A5-DB57-1625-1F45A05DD2BF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BF305ECC-DF18-1C1B-05B8-E2AABEAE42F5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B881BB49-0568-0E60-ED06-B3F8137F08A6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7E86D856-684F-CC9C-7731-B1D16C438363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41F56BFD-EE70-966C-8831-66402973793F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921B983-4013-AC2E-6526-3851AA985849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39FD69E6-56C8-6711-71FB-7970469FE663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C14D49EA-D348-E5F8-C17D-D1195F2CB17E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0185405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46527AE-72BF-D6DA-DD7C-B071A9C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344C44A-6585-49D0-A05B-74D7937B3816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0FC718E-A3CA-B573-D23F-86685A4F8D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431A10E-DC8E-FD35-B8A6-E822A168F4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A30CAF4-424D-8F1E-DD8B-00D0BEE5469B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5C7668E-A3E7-29FF-4221-84D31010FB9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421885C-6D5E-075F-4685-9E1018A012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3F33A8-A208-5BF0-90E7-915E474BBB31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48C74C0-67C7-6237-74B8-04BC555A141F}"/>
              </a:ext>
            </a:extLst>
          </p:cNvPr>
          <p:cNvSpPr txBox="1"/>
          <p:nvPr/>
        </p:nvSpPr>
        <p:spPr>
          <a:xfrm>
            <a:off x="9652000" y="2413000"/>
            <a:ext cx="7721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F69F586-AC03-BAFA-0EDB-0FED65D44B4A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FD6393DD-4E8E-EE5F-A88B-56AEDE85551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2859864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46527AE-72BF-D6DA-DD7C-B071A9C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344C44A-6585-49D0-A05B-74D7937B3816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0FC718E-A3CA-B573-D23F-86685A4F8D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431A10E-DC8E-FD35-B8A6-E822A168F4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A30CAF4-424D-8F1E-DD8B-00D0BEE5469B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5C7668E-A3E7-29FF-4221-84D31010FB9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421885C-6D5E-075F-4685-9E1018A012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3F33A8-A208-5BF0-90E7-915E474BBB31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48C74C0-67C7-6237-74B8-04BC555A141F}"/>
              </a:ext>
            </a:extLst>
          </p:cNvPr>
          <p:cNvSpPr txBox="1"/>
          <p:nvPr/>
        </p:nvSpPr>
        <p:spPr>
          <a:xfrm>
            <a:off x="9652000" y="2413000"/>
            <a:ext cx="7721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21F7A70-F595-5020-CAEF-53123F36DD80}"/>
              </a:ext>
            </a:extLst>
          </p:cNvPr>
          <p:cNvSpPr txBox="1"/>
          <p:nvPr/>
        </p:nvSpPr>
        <p:spPr>
          <a:xfrm>
            <a:off x="9652000" y="3071158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B4448BA3-B996-000F-69A8-989D1947EF8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1FDB93CD-30C7-7C89-F407-9F43D2982A9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1775442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46527AE-72BF-D6DA-DD7C-B071A9CF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344C44A-6585-49D0-A05B-74D7937B3816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0FC718E-A3CA-B573-D23F-86685A4F8DF2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431A10E-DC8E-FD35-B8A6-E822A168F4A2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A30CAF4-424D-8F1E-DD8B-00D0BEE5469B}"/>
              </a:ext>
            </a:extLst>
          </p:cNvPr>
          <p:cNvSpPr/>
          <p:nvPr/>
        </p:nvSpPr>
        <p:spPr>
          <a:xfrm>
            <a:off x="914400" y="2222500"/>
            <a:ext cx="8128000" cy="4788102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F5C7668E-A3E7-29FF-4221-84D31010FB9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421885C-6D5E-075F-4685-9E1018A012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4051502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3F33A8-A208-5BF0-90E7-915E474BBB31}"/>
              </a:ext>
            </a:extLst>
          </p:cNvPr>
          <p:cNvSpPr txBox="1"/>
          <p:nvPr/>
        </p:nvSpPr>
        <p:spPr>
          <a:xfrm>
            <a:off x="1168400" y="6655002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48C74C0-67C7-6237-74B8-04BC555A141F}"/>
              </a:ext>
            </a:extLst>
          </p:cNvPr>
          <p:cNvSpPr txBox="1"/>
          <p:nvPr/>
        </p:nvSpPr>
        <p:spPr>
          <a:xfrm>
            <a:off x="9652000" y="2413000"/>
            <a:ext cx="7721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821F7A70-F595-5020-CAEF-53123F36DD80}"/>
              </a:ext>
            </a:extLst>
          </p:cNvPr>
          <p:cNvSpPr txBox="1"/>
          <p:nvPr/>
        </p:nvSpPr>
        <p:spPr>
          <a:xfrm>
            <a:off x="9652000" y="3071158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66CC967C-5E64-0FA7-7501-97715340528E}"/>
              </a:ext>
            </a:extLst>
          </p:cNvPr>
          <p:cNvSpPr txBox="1"/>
          <p:nvPr/>
        </p:nvSpPr>
        <p:spPr>
          <a:xfrm>
            <a:off x="9652000" y="411711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Driving the gate between these two states is the basis of digital logic.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0DECCC1-673C-BF47-25F8-964D70A9D98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B7256095-62CD-398E-5B21-50059E35313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26949963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A684FD-7A8A-9F18-32C3-AF6D237A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8615E74C-9583-C3C1-8721-D2926DEAAD2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0863945-12FB-93B5-BA3F-D3A8E5B06E3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3396376-8208-2B9A-FAB1-32686BA9071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039F02F1-74CB-1D84-BF71-C41ACF66375E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27F9334A-C188-20FD-C7D9-6CC6CD6376FA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5BA5B17E-7E85-6D0E-51FC-C591110C043A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BEB20C17-70FB-7E69-6AF3-464F90B6656F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2E18C36F-D65D-C09D-A262-8C2AE3353F5F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72B9BFBA-9526-C851-5E20-AD84B71E56F9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68DBB11-D602-308B-1E0F-0A8372C6D79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168DBB11-D602-308B-1E0F-0A8372C6D79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88B1AA7C-7466-2032-6ADD-7385075E2BA9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FB6AEC40-48C1-0BC4-B624-02DE19D318C2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1C30F713-F70F-A967-D67C-A4CC5133E6C1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AFA72DD-65ED-CF04-8011-1B54F33481B3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AFA72DD-65ED-CF04-8011-1B54F33481B3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C633734C-18C4-30BE-20FD-0C6B715D4EBF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DD2108D7-4238-A851-0C66-C20A8AF64E48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3C743BA1-8E91-AE2C-B402-4B85F6C5CBC5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D60AAE52-A7CB-772C-D32B-BC6EC7C0A55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D60AAE52-A7CB-772C-D32B-BC6EC7C0A55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D228E1B1-61F7-78EE-B605-6DDB17CC5E9C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8F335605-87C9-07A3-CCA0-310749FBB42E}"/>
              </a:ext>
            </a:extLst>
          </p:cNvPr>
          <p:cNvSpPr txBox="1"/>
          <p:nvPr/>
        </p:nvSpPr>
        <p:spPr>
          <a:xfrm>
            <a:off x="914400" y="6883400"/>
            <a:ext cx="16459200" cy="3472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DC problems: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6D40E434-6B09-23D6-DC85-446AE46F61D9}"/>
              </a:ext>
            </a:extLst>
          </p:cNvPr>
          <p:cNvSpPr txBox="1"/>
          <p:nvPr/>
        </p:nvSpPr>
        <p:spPr>
          <a:xfrm>
            <a:off x="914400" y="7383011"/>
            <a:ext cx="16459200" cy="3439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Small signals: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k′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n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(W/L)(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); a common-source stage has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−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001136E3-FC28-B297-365A-9CCA1C0EFC1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CD45E77D-F7C4-E848-C6AB-BF391CFB92B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7259403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107395B-3083-4BCD-82C4-1D03ACD3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21000"/>
            <a:ext cx="10160000" cy="1524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Thank you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E7F05167-590D-50AB-537C-6366BAF86BD3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24FB0768-D434-D4A7-AD57-7562177DC94A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38503F83-74AA-7152-1607-7E5CC709455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1866F46-AC2B-DFDA-CD44-685B93AA0565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063F059A-7A1C-CF29-DBE0-55071ED9ABE7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49306167-40FC-36C9-8CF7-299BE224B61B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6B2F8866-7D21-0265-2E41-EF39031EA212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B8EFFE2-5882-59D4-0C98-06344A90E70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80E05474-3487-F9F4-3004-BADFC74721E2}"/>
              </a:ext>
            </a:extLst>
          </p:cNvPr>
          <p:cNvSpPr/>
          <p:nvPr/>
        </p:nvSpPr>
        <p:spPr>
          <a:xfrm>
            <a:off x="1016000" y="4826000"/>
            <a:ext cx="181559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NEXT LECTURE</a:t>
            </a:r>
          </a:p>
        </p:txBody>
      </p:sp>
      <p:sp>
        <p:nvSpPr>
          <p:cNvPr id="12" name="next">
            <a:extLst>
              <a:ext uri="{FF2B5EF4-FFF2-40B4-BE49-F238E27FC236}">
                <a16:creationId xmlns:a16="http://schemas.microsoft.com/office/drawing/2014/main" id="{6FF1B082-8874-09C0-26E1-29B4C4E763F9}"/>
              </a:ext>
            </a:extLst>
          </p:cNvPr>
          <p:cNvSpPr txBox="1"/>
          <p:nvPr/>
        </p:nvSpPr>
        <p:spPr>
          <a:xfrm>
            <a:off x="10160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41D"/>
                </a:solidFill>
                <a:latin typeface="Bebas Neue" panose="020B0606020202050201" pitchFamily="34" charset="0"/>
              </a:rPr>
              <a:t>Lecture 4: Bipolar junction transistors (BJTs)</a:t>
            </a:r>
          </a:p>
        </p:txBody>
      </p:sp>
      <p:sp>
        <p:nvSpPr>
          <p:cNvPr id="13" name="thanks">
            <a:extLst>
              <a:ext uri="{FF2B5EF4-FFF2-40B4-BE49-F238E27FC236}">
                <a16:creationId xmlns:a16="http://schemas.microsoft.com/office/drawing/2014/main" id="{F84D1C5D-66FF-DE95-3629-B42C361F1C26}"/>
              </a:ext>
            </a:extLst>
          </p:cNvPr>
          <p:cNvSpPr txBox="1"/>
          <p:nvPr/>
        </p:nvSpPr>
        <p:spPr>
          <a:xfrm>
            <a:off x="10160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With thanks to </a:t>
            </a:r>
            <a:r>
              <a:rPr lang="en-US" sz="2000" b="1">
                <a:solidFill>
                  <a:srgbClr val="4D5B54"/>
                </a:solidFill>
                <a:latin typeface="DM Sans" pitchFamily="2" charset="0"/>
              </a:rPr>
              <a:t>Dr. Sameh Osama Ezzat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, who prepared the original material for this lecture.</a:t>
            </a:r>
          </a:p>
        </p:txBody>
      </p:sp>
      <p:sp>
        <p:nvSpPr>
          <p:cNvPr id="14" name="sources">
            <a:extLst>
              <a:ext uri="{FF2B5EF4-FFF2-40B4-BE49-F238E27FC236}">
                <a16:creationId xmlns:a16="http://schemas.microsoft.com/office/drawing/2014/main" id="{A1D0D910-0343-3B39-BAA2-DB8159E5C756}"/>
              </a:ext>
            </a:extLst>
          </p:cNvPr>
          <p:cNvSpPr txBox="1"/>
          <p:nvPr/>
        </p:nvSpPr>
        <p:spPr>
          <a:xfrm>
            <a:off x="10160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Figures: Sedra &amp; Smith, Microelectronic Circuits (Oxford University Press); other diagrams from web sources via the original slides.</a:t>
            </a:r>
          </a:p>
        </p:txBody>
      </p:sp>
    </p:spTree>
    <p:extLst>
      <p:ext uri="{BB962C8B-B14F-4D97-AF65-F5344CB8AC3E}">
        <p14:creationId xmlns:p14="http://schemas.microsoft.com/office/powerpoint/2010/main" val="418500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5289</Words>
  <Application>Microsoft Office PowerPoint</Application>
  <PresentationFormat>Custom</PresentationFormat>
  <Paragraphs>731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Structure and operation</vt:lpstr>
      <vt:lpstr>The n-channel enhancement MOSFET</vt:lpstr>
      <vt:lpstr>The n-channel enhancement MOSFET</vt:lpstr>
      <vt:lpstr>The n-channel enhancement MOSFET</vt:lpstr>
      <vt:lpstr>With no gate voltage, no current flows</vt:lpstr>
      <vt:lpstr>With no gate voltage, no current flows</vt:lpstr>
      <vt:lpstr>With no gate voltage, no current flows</vt:lpstr>
      <vt:lpstr>Creating a channel: the threshold voltage</vt:lpstr>
      <vt:lpstr>Creating a channel: the threshold voltage</vt:lpstr>
      <vt:lpstr>Creating a channel: the threshold voltage</vt:lpstr>
      <vt:lpstr>Increasing vDS: the channel tapers and pinches off</vt:lpstr>
      <vt:lpstr>Increasing vDS: the channel tapers and pinches off</vt:lpstr>
      <vt:lpstr>Increasing vDS: the channel tapers and pinches off</vt:lpstr>
      <vt:lpstr>CMOS: NMOS and PMOS on one chip</vt:lpstr>
      <vt:lpstr>CMOS: NMOS and PMOS on one chip</vt:lpstr>
      <vt:lpstr>Circuit symbols: n-channel and p-channel</vt:lpstr>
      <vt:lpstr>Circuit symbols: n-channel and p-channel</vt:lpstr>
      <vt:lpstr>I–V characteristics</vt:lpstr>
      <vt:lpstr>The iD–vDS family of curves</vt:lpstr>
      <vt:lpstr>The iD–vDS family of curves</vt:lpstr>
      <vt:lpstr>The iD–vDS family of curves</vt:lpstr>
      <vt:lpstr>The iD–vDS family of curves</vt:lpstr>
      <vt:lpstr>In saturation, iD depends only on vGS</vt:lpstr>
      <vt:lpstr>In saturation, iD depends only on vGS</vt:lpstr>
      <vt:lpstr>In saturation, iD depends only on vGS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Small vDS: a voltage-controlled resistor</vt:lpstr>
      <vt:lpstr>Small vDS: a voltage-controlled resistor</vt:lpstr>
      <vt:lpstr>Small vDS: a voltage-controlled resistor</vt:lpstr>
      <vt:lpstr>Large-signal model in saturation</vt:lpstr>
      <vt:lpstr>Large-signal model in saturation</vt:lpstr>
      <vt:lpstr>Large-signal model in saturation</vt:lpstr>
      <vt:lpstr>MOSFETs in DC circuits</vt:lpstr>
      <vt:lpstr>DC analysis: assume, solve, check</vt:lpstr>
      <vt:lpstr>DC analysis: assume, solve, check</vt:lpstr>
      <vt:lpstr>DC analysis: assume, solve, check</vt:lpstr>
      <vt:lpstr>DC analysis: assume, solve, check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Example: find the drain voltage</vt:lpstr>
      <vt:lpstr>The current mirror</vt:lpstr>
      <vt:lpstr>The current mirror</vt:lpstr>
      <vt:lpstr>The current mirror</vt:lpstr>
      <vt:lpstr>The MOSFET as an amplifier</vt:lpstr>
      <vt:lpstr>Amplifier action: the load line</vt:lpstr>
      <vt:lpstr>Amplifier action: the load line</vt:lpstr>
      <vt:lpstr>Amplifier action: the load line</vt:lpstr>
      <vt:lpstr>Small-signal operation: the transconductance gm</vt:lpstr>
      <vt:lpstr>Small-signal operation: the transconductance gm</vt:lpstr>
      <vt:lpstr>Small-signal operation: the transconductance gm</vt:lpstr>
      <vt:lpstr>Small-signal operation: the transconductance gm</vt:lpstr>
      <vt:lpstr>Small-signal equivalent circuits</vt:lpstr>
      <vt:lpstr>Small-signal equivalent circuits</vt:lpstr>
      <vt:lpstr>Example: gain and input resistance</vt:lpstr>
      <vt:lpstr>Example: gain and input resistance</vt:lpstr>
      <vt:lpstr>Example: gain and input resistance</vt:lpstr>
      <vt:lpstr>Example: gain and input resistance</vt:lpstr>
      <vt:lpstr>Example: gain and input resistance</vt:lpstr>
      <vt:lpstr>The MOSFET as a switch</vt:lpstr>
      <vt:lpstr>The MOSFET as a switch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2026-10-01T04:24:41Z</dcterms:created>
  <dcterms:modified xsi:type="dcterms:W3CDTF">2026-10-01T04:25:23Z</dcterms:modified>
</cp:coreProperties>
</file>