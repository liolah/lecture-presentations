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E787-973A-832F-5683-4BBE75571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70C6E-5A00-0301-E357-44A5E5B2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A135-F84C-59D0-830C-F5D1D26D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BD7BB-B488-386A-6DE2-5887CE81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C3275-E7AB-389E-E0BF-9003715E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8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9F75-63C2-87DA-F449-733DE012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E22A5-03CC-475C-B9CD-84E6FBFF7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F38C4-4804-789C-6DA7-3177503E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84937-E6DB-F3EB-4F19-A1975908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28C7A-F881-D000-2374-24BFB148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4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E723-6BEF-20D4-C048-08BEE71F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4E01-DD85-43F3-BC2D-8D6E9B52A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874EB-4311-D556-4BF6-7B5ED1CC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D96A-F3FC-6C38-56D5-28439ADD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B22AF-0952-3721-361C-67FF86C0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6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B0B1-5CDD-13C4-F70E-DA68AAA1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DC7A-6FF2-3DED-51C0-B11D2E584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243BE-722C-F097-FCD0-9E73E17F4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80B97-EEE0-11BB-304D-6BC2B55B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3F25F-DF6E-E0DA-DFF3-AA77E494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604B2-4211-9ED4-F2A7-0D918FFA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9DAB-9D4B-3BAA-8CD7-CA6675C6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8C607-510A-F2F2-FD60-E1CCBF2D4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393B2-A58C-9366-607C-EA09F36C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994A3-25F5-A36F-F692-5B794A1BD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78CFF-8B2D-AA18-F4CC-D4AC43190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1CEF5-2EEE-FD7D-BC08-6A875A50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0766B-6128-1D57-DB45-70CFD4AB9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E9D7F-DEC5-E40D-5804-EF4642FA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7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AE13-5256-ADDA-0FDC-D9890E04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481E2-709E-CF00-7AE5-1F3FD6576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5F06B-6F16-A995-CE11-C3FFE5BD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01883-9CCC-D8BB-17D0-2C22A673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0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3F8E1-7ED7-4B18-2A8A-6DAE7CDE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B5158-95F5-D866-B51A-93AB6CBC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7644C-DE2A-480E-9B74-CE8F6289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1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EC5C-63FF-36C1-DCCB-D3E4AE35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54AE-49D5-3E41-B5EF-00CA0F85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BDEE0-CC71-16A0-F0EE-05A8872DF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C760B-FCE7-14B4-EB0D-97711F34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E1B47-213E-CCD2-427C-78BA675D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0356E-F098-8D0E-DB98-EE599E70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1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475C-A68D-A769-44CE-D6258C65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D28D6-324D-160D-31C0-1FFD5D4ECF8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FB5ED-480D-4DB4-2D8E-921C06681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52D43-DD5C-0E19-44A4-64A78D78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A9FC7-7C52-6646-3CCC-013E05AF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DDDC6-AC4E-61F3-965A-27C6A113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4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F3DF-32C6-34A4-B8E8-74946E95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5E5B0-8FD6-E23A-4CF7-B5904F85F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83E4D-77F8-6797-52DF-06B2F383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8ED95-226B-8687-F515-643EE0FD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AE9D0-9A06-22AB-4855-D669F01D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3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48548-4114-2A41-D171-44AC89D39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18A9F-DC2C-FF20-1030-2B7D936AA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BD463-6501-CC57-3E1D-3FD8FE72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C69BF-4F0D-0003-16B6-2F84EA9D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1E32-EFF1-E2CB-2961-EC4BE259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5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82B32-E135-E1EB-D57A-C846B9B81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A345-4A56-7716-A8C7-C0CCAC2FC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E3DC3-FFBF-F62C-4582-5B9F2CBAC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B2659-012A-0952-A4E2-58B31C08F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90C5F-5F16-A954-A591-2F759ED82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 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6FD7C313-8533-4158-E0D1-043BB950B64B}"/>
              </a:ext>
            </a:extLst>
          </p:cNvPr>
          <p:cNvSpPr/>
          <p:nvPr/>
        </p:nvSpPr>
        <p:spPr>
          <a:xfrm>
            <a:off x="914400" y="1143000"/>
            <a:ext cx="9144000" cy="78740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D451254-C0AB-65C0-2476-62E3D674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3175000"/>
            <a:ext cx="8890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 b="1">
                <a:solidFill>
                  <a:srgbClr val="17262E"/>
                </a:solidFill>
                <a:latin typeface="Poppins" panose="00000500000000000000" pitchFamily="2" charset="0"/>
              </a:rPr>
              <a:t>MOSFETs</a:t>
            </a:r>
          </a:p>
        </p:txBody>
      </p:sp>
      <p:sp>
        <p:nvSpPr>
          <p:cNvPr id="4" name="tag">
            <a:extLst>
              <a:ext uri="{FF2B5EF4-FFF2-40B4-BE49-F238E27FC236}">
                <a16:creationId xmlns:a16="http://schemas.microsoft.com/office/drawing/2014/main" id="{95812CBD-0134-C139-4A30-5759B0149584}"/>
              </a:ext>
            </a:extLst>
          </p:cNvPr>
          <p:cNvSpPr/>
          <p:nvPr/>
        </p:nvSpPr>
        <p:spPr>
          <a:xfrm>
            <a:off x="1422400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25CPES102</a:t>
            </a:r>
          </a:p>
        </p:txBody>
      </p:sp>
      <p:sp>
        <p:nvSpPr>
          <p:cNvPr id="5" name="tag">
            <a:extLst>
              <a:ext uri="{FF2B5EF4-FFF2-40B4-BE49-F238E27FC236}">
                <a16:creationId xmlns:a16="http://schemas.microsoft.com/office/drawing/2014/main" id="{E23BA828-EF84-0A97-0C3A-591E8836D011}"/>
              </a:ext>
            </a:extLst>
          </p:cNvPr>
          <p:cNvSpPr/>
          <p:nvPr/>
        </p:nvSpPr>
        <p:spPr>
          <a:xfrm>
            <a:off x="2960116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6" name="course">
            <a:extLst>
              <a:ext uri="{FF2B5EF4-FFF2-40B4-BE49-F238E27FC236}">
                <a16:creationId xmlns:a16="http://schemas.microsoft.com/office/drawing/2014/main" id="{E7905E31-E44F-58C7-9DC0-50BA4BF17C35}"/>
              </a:ext>
            </a:extLst>
          </p:cNvPr>
          <p:cNvSpPr txBox="1"/>
          <p:nvPr/>
        </p:nvSpPr>
        <p:spPr>
          <a:xfrm>
            <a:off x="1422400" y="26034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F6170"/>
                </a:solidFill>
                <a:latin typeface="Poppins" panose="00000500000000000000" pitchFamily="2" charset="0"/>
              </a:rPr>
              <a:t>Electronic Materials and Devices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81DB85EB-35B6-36B2-67AA-4CDB40FB3C03}"/>
              </a:ext>
            </a:extLst>
          </p:cNvPr>
          <p:cNvSpPr txBox="1"/>
          <p:nvPr/>
        </p:nvSpPr>
        <p:spPr>
          <a:xfrm>
            <a:off x="1422400" y="4698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field-effect transistors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9FAF37B0-257D-4A30-9E32-0FB05FD37C00}"/>
              </a:ext>
            </a:extLst>
          </p:cNvPr>
          <p:cNvSpPr txBox="1"/>
          <p:nvPr/>
        </p:nvSpPr>
        <p:spPr>
          <a:xfrm>
            <a:off x="1422400" y="7492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7262E"/>
                </a:solidFill>
                <a:latin typeface="Poppins" panose="00000500000000000000" pitchFamily="2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AF76E783-303A-AF24-0771-0D93369E46E3}"/>
              </a:ext>
            </a:extLst>
          </p:cNvPr>
          <p:cNvSpPr txBox="1"/>
          <p:nvPr/>
        </p:nvSpPr>
        <p:spPr>
          <a:xfrm>
            <a:off x="1422400" y="7924799"/>
            <a:ext cx="838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Computer Engineering  ·  Academic Year 2025/2026 · Semester One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13CA3910-9AA5-DC88-2A21-7CE0020EF8FA}"/>
              </a:ext>
            </a:extLst>
          </p:cNvPr>
          <p:cNvCxnSpPr/>
          <p:nvPr/>
        </p:nvCxnSpPr>
        <p:spPr>
          <a:xfrm>
            <a:off x="10922000" y="15240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3DD94524-E20D-8BFD-17CF-3F6D85C275B2}"/>
              </a:ext>
            </a:extLst>
          </p:cNvPr>
          <p:cNvCxnSpPr/>
          <p:nvPr/>
        </p:nvCxnSpPr>
        <p:spPr>
          <a:xfrm>
            <a:off x="12903200" y="1524000"/>
            <a:ext cx="0" cy="14859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C9843FD8-937B-969A-ED21-D710F3534981}"/>
              </a:ext>
            </a:extLst>
          </p:cNvPr>
          <p:cNvCxnSpPr/>
          <p:nvPr/>
        </p:nvCxnSpPr>
        <p:spPr>
          <a:xfrm>
            <a:off x="12903200" y="30099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A1016A3A-2B2B-E7C4-3D6C-E659D07CF98E}"/>
              </a:ext>
            </a:extLst>
          </p:cNvPr>
          <p:cNvCxnSpPr/>
          <p:nvPr/>
        </p:nvCxnSpPr>
        <p:spPr>
          <a:xfrm flipV="1">
            <a:off x="14884400" y="1854200"/>
            <a:ext cx="0" cy="11557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FE4DEED2-7DCA-D466-9B3F-6544E02BF7A9}"/>
              </a:ext>
            </a:extLst>
          </p:cNvPr>
          <p:cNvCxnSpPr/>
          <p:nvPr/>
        </p:nvCxnSpPr>
        <p:spPr>
          <a:xfrm>
            <a:off x="14884400" y="1854200"/>
            <a:ext cx="14859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4D69B8C0-A1CF-06A2-22AB-38D114161ABD}"/>
              </a:ext>
            </a:extLst>
          </p:cNvPr>
          <p:cNvSpPr/>
          <p:nvPr/>
        </p:nvSpPr>
        <p:spPr>
          <a:xfrm>
            <a:off x="10807700" y="140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5B73A659-5A85-3BE2-0DEA-C8BD5EDF7DB6}"/>
              </a:ext>
            </a:extLst>
          </p:cNvPr>
          <p:cNvSpPr/>
          <p:nvPr/>
        </p:nvSpPr>
        <p:spPr>
          <a:xfrm>
            <a:off x="12788900" y="28956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0DA56761-33C7-A230-9518-4A485164777D}"/>
              </a:ext>
            </a:extLst>
          </p:cNvPr>
          <p:cNvSpPr/>
          <p:nvPr/>
        </p:nvSpPr>
        <p:spPr>
          <a:xfrm>
            <a:off x="16256000" y="17399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0E27C11B-292A-0D28-9FB1-DD392FB8F470}"/>
              </a:ext>
            </a:extLst>
          </p:cNvPr>
          <p:cNvSpPr/>
          <p:nvPr/>
        </p:nvSpPr>
        <p:spPr>
          <a:xfrm>
            <a:off x="14795500" y="29210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igure card">
            <a:extLst>
              <a:ext uri="{FF2B5EF4-FFF2-40B4-BE49-F238E27FC236}">
                <a16:creationId xmlns:a16="http://schemas.microsoft.com/office/drawing/2014/main" id="{3CCDC8E6-88AE-CB0E-19B6-DCDA063FC15E}"/>
              </a:ext>
            </a:extLst>
          </p:cNvPr>
          <p:cNvSpPr/>
          <p:nvPr/>
        </p:nvSpPr>
        <p:spPr>
          <a:xfrm>
            <a:off x="10541000" y="4191000"/>
            <a:ext cx="6858000" cy="315048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figure">
            <a:extLst>
              <a:ext uri="{FF2B5EF4-FFF2-40B4-BE49-F238E27FC236}">
                <a16:creationId xmlns:a16="http://schemas.microsoft.com/office/drawing/2014/main" id="{F66E4D81-C633-9EDB-4FF3-953C3E1BB5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4445000"/>
            <a:ext cx="6350000" cy="2413886"/>
          </a:xfrm>
          <a:prstGeom prst="rect">
            <a:avLst/>
          </a:prstGeom>
        </p:spPr>
      </p:pic>
      <p:sp>
        <p:nvSpPr>
          <p:cNvPr id="22" name="credit">
            <a:extLst>
              <a:ext uri="{FF2B5EF4-FFF2-40B4-BE49-F238E27FC236}">
                <a16:creationId xmlns:a16="http://schemas.microsoft.com/office/drawing/2014/main" id="{43927B7C-3313-465A-AF2B-9ECD6B8FF6F6}"/>
              </a:ext>
            </a:extLst>
          </p:cNvPr>
          <p:cNvSpPr txBox="1"/>
          <p:nvPr/>
        </p:nvSpPr>
        <p:spPr>
          <a:xfrm>
            <a:off x="10795000" y="6985886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139321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 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F2D805-BC9C-EF4D-4E4C-9C5C53EF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4EB8EA2-7B56-6E0B-A216-F11BD7C6110B}"/>
              </a:ext>
            </a:extLst>
          </p:cNvPr>
          <p:cNvSpPr/>
          <p:nvPr/>
        </p:nvSpPr>
        <p:spPr>
          <a:xfrm>
            <a:off x="914400" y="2794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765FC59-45AC-112A-8FC6-34DD9141D0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C2260BB-5D98-FE24-D754-543F77ECAC22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map pill">
            <a:extLst>
              <a:ext uri="{FF2B5EF4-FFF2-40B4-BE49-F238E27FC236}">
                <a16:creationId xmlns:a16="http://schemas.microsoft.com/office/drawing/2014/main" id="{230D2603-3A6D-EF6E-7337-DC5AE6649940}"/>
              </a:ext>
            </a:extLst>
          </p:cNvPr>
          <p:cNvSpPr/>
          <p:nvPr/>
        </p:nvSpPr>
        <p:spPr>
          <a:xfrm>
            <a:off x="914400" y="22860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p n">
            <a:extLst>
              <a:ext uri="{FF2B5EF4-FFF2-40B4-BE49-F238E27FC236}">
                <a16:creationId xmlns:a16="http://schemas.microsoft.com/office/drawing/2014/main" id="{32A03481-31A8-35D4-024C-E00B76296EFD}"/>
              </a:ext>
            </a:extLst>
          </p:cNvPr>
          <p:cNvSpPr txBox="1"/>
          <p:nvPr/>
        </p:nvSpPr>
        <p:spPr>
          <a:xfrm>
            <a:off x="1270000" y="22859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01</a:t>
            </a:r>
          </a:p>
        </p:txBody>
      </p:sp>
      <p:sp>
        <p:nvSpPr>
          <p:cNvPr id="8" name="map t">
            <a:extLst>
              <a:ext uri="{FF2B5EF4-FFF2-40B4-BE49-F238E27FC236}">
                <a16:creationId xmlns:a16="http://schemas.microsoft.com/office/drawing/2014/main" id="{099A2FE1-A21E-1089-908D-90036D92E2C9}"/>
              </a:ext>
            </a:extLst>
          </p:cNvPr>
          <p:cNvSpPr txBox="1"/>
          <p:nvPr/>
        </p:nvSpPr>
        <p:spPr>
          <a:xfrm>
            <a:off x="2082800" y="23875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9" name="map s">
            <a:extLst>
              <a:ext uri="{FF2B5EF4-FFF2-40B4-BE49-F238E27FC236}">
                <a16:creationId xmlns:a16="http://schemas.microsoft.com/office/drawing/2014/main" id="{0B0678BD-8CAF-FC05-E48E-87E828B3203C}"/>
              </a:ext>
            </a:extLst>
          </p:cNvPr>
          <p:cNvSpPr txBox="1"/>
          <p:nvPr/>
        </p:nvSpPr>
        <p:spPr>
          <a:xfrm>
            <a:off x="2082800" y="27685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how a channel forms; the threshold voltage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D03DD323-9179-31B2-1CF7-9ED74A34DBD5}"/>
              </a:ext>
            </a:extLst>
          </p:cNvPr>
          <p:cNvSpPr/>
          <p:nvPr/>
        </p:nvSpPr>
        <p:spPr>
          <a:xfrm>
            <a:off x="9321800" y="24765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1" name="map pill">
            <a:extLst>
              <a:ext uri="{FF2B5EF4-FFF2-40B4-BE49-F238E27FC236}">
                <a16:creationId xmlns:a16="http://schemas.microsoft.com/office/drawing/2014/main" id="{87538042-DC79-0663-2222-AFE394EFEBF4}"/>
              </a:ext>
            </a:extLst>
          </p:cNvPr>
          <p:cNvSpPr/>
          <p:nvPr/>
        </p:nvSpPr>
        <p:spPr>
          <a:xfrm>
            <a:off x="914400" y="34544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6843EFD1-8625-E379-16C4-3A2F21ABC371}"/>
              </a:ext>
            </a:extLst>
          </p:cNvPr>
          <p:cNvSpPr txBox="1"/>
          <p:nvPr/>
        </p:nvSpPr>
        <p:spPr>
          <a:xfrm>
            <a:off x="1270000" y="34543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02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62A4CCFD-6A2B-4450-F25D-0E36E29B7E9D}"/>
              </a:ext>
            </a:extLst>
          </p:cNvPr>
          <p:cNvSpPr txBox="1"/>
          <p:nvPr/>
        </p:nvSpPr>
        <p:spPr>
          <a:xfrm>
            <a:off x="2082800" y="35559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9191BF2F-DA54-F5B8-E264-DB161A313940}"/>
              </a:ext>
            </a:extLst>
          </p:cNvPr>
          <p:cNvSpPr txBox="1"/>
          <p:nvPr/>
        </p:nvSpPr>
        <p:spPr>
          <a:xfrm>
            <a:off x="2082800" y="39369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cutoff, triode and saturation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00CF75ED-C133-C289-AD03-D2DA7A67F326}"/>
              </a:ext>
            </a:extLst>
          </p:cNvPr>
          <p:cNvSpPr/>
          <p:nvPr/>
        </p:nvSpPr>
        <p:spPr>
          <a:xfrm>
            <a:off x="9321800" y="36449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6" name="map pill">
            <a:extLst>
              <a:ext uri="{FF2B5EF4-FFF2-40B4-BE49-F238E27FC236}">
                <a16:creationId xmlns:a16="http://schemas.microsoft.com/office/drawing/2014/main" id="{7C3EF6C1-D007-CD18-AD7E-B4C827187E71}"/>
              </a:ext>
            </a:extLst>
          </p:cNvPr>
          <p:cNvSpPr/>
          <p:nvPr/>
        </p:nvSpPr>
        <p:spPr>
          <a:xfrm>
            <a:off x="914400" y="46228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14792937-0EEC-0D79-0722-1AD0EB1426D9}"/>
              </a:ext>
            </a:extLst>
          </p:cNvPr>
          <p:cNvSpPr txBox="1"/>
          <p:nvPr/>
        </p:nvSpPr>
        <p:spPr>
          <a:xfrm>
            <a:off x="1270000" y="46227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03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CAE7065B-CF0E-A82A-203B-4EBFCA1608FA}"/>
              </a:ext>
            </a:extLst>
          </p:cNvPr>
          <p:cNvSpPr txBox="1"/>
          <p:nvPr/>
        </p:nvSpPr>
        <p:spPr>
          <a:xfrm>
            <a:off x="2082800" y="47243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19" name="map s">
            <a:extLst>
              <a:ext uri="{FF2B5EF4-FFF2-40B4-BE49-F238E27FC236}">
                <a16:creationId xmlns:a16="http://schemas.microsoft.com/office/drawing/2014/main" id="{81E10FA3-DE46-4660-70EB-86934020CBC6}"/>
              </a:ext>
            </a:extLst>
          </p:cNvPr>
          <p:cNvSpPr txBox="1"/>
          <p:nvPr/>
        </p:nvSpPr>
        <p:spPr>
          <a:xfrm>
            <a:off x="2082800" y="51053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finding the operating point</a:t>
            </a: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E8406F0F-ACD2-B262-A953-59DDDE84E907}"/>
              </a:ext>
            </a:extLst>
          </p:cNvPr>
          <p:cNvSpPr/>
          <p:nvPr/>
        </p:nvSpPr>
        <p:spPr>
          <a:xfrm>
            <a:off x="9321800" y="48133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1" name="map pill">
            <a:extLst>
              <a:ext uri="{FF2B5EF4-FFF2-40B4-BE49-F238E27FC236}">
                <a16:creationId xmlns:a16="http://schemas.microsoft.com/office/drawing/2014/main" id="{91018714-3992-FA0E-8812-22821D245E04}"/>
              </a:ext>
            </a:extLst>
          </p:cNvPr>
          <p:cNvSpPr/>
          <p:nvPr/>
        </p:nvSpPr>
        <p:spPr>
          <a:xfrm>
            <a:off x="914400" y="57912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 n">
            <a:extLst>
              <a:ext uri="{FF2B5EF4-FFF2-40B4-BE49-F238E27FC236}">
                <a16:creationId xmlns:a16="http://schemas.microsoft.com/office/drawing/2014/main" id="{B16DAD7D-1AE8-FFAF-4779-16C8559DB52B}"/>
              </a:ext>
            </a:extLst>
          </p:cNvPr>
          <p:cNvSpPr txBox="1"/>
          <p:nvPr/>
        </p:nvSpPr>
        <p:spPr>
          <a:xfrm>
            <a:off x="1270000" y="57911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04</a:t>
            </a:r>
          </a:p>
        </p:txBody>
      </p:sp>
      <p:sp>
        <p:nvSpPr>
          <p:cNvPr id="23" name="map t">
            <a:extLst>
              <a:ext uri="{FF2B5EF4-FFF2-40B4-BE49-F238E27FC236}">
                <a16:creationId xmlns:a16="http://schemas.microsoft.com/office/drawing/2014/main" id="{727427D7-C640-6553-5F2B-E397583CBF5E}"/>
              </a:ext>
            </a:extLst>
          </p:cNvPr>
          <p:cNvSpPr txBox="1"/>
          <p:nvPr/>
        </p:nvSpPr>
        <p:spPr>
          <a:xfrm>
            <a:off x="2082800" y="58927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24" name="map s">
            <a:extLst>
              <a:ext uri="{FF2B5EF4-FFF2-40B4-BE49-F238E27FC236}">
                <a16:creationId xmlns:a16="http://schemas.microsoft.com/office/drawing/2014/main" id="{599F0561-C0D0-2261-081D-843F7153C436}"/>
              </a:ext>
            </a:extLst>
          </p:cNvPr>
          <p:cNvSpPr txBox="1"/>
          <p:nvPr/>
        </p:nvSpPr>
        <p:spPr>
          <a:xfrm>
            <a:off x="2082800" y="62737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transconductance, small-signal model</a:t>
            </a:r>
          </a:p>
        </p:txBody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114BF04F-4AB2-0DB6-D972-A8E778801823}"/>
              </a:ext>
            </a:extLst>
          </p:cNvPr>
          <p:cNvSpPr/>
          <p:nvPr/>
        </p:nvSpPr>
        <p:spPr>
          <a:xfrm>
            <a:off x="9321800" y="59817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6" name="map pill">
            <a:extLst>
              <a:ext uri="{FF2B5EF4-FFF2-40B4-BE49-F238E27FC236}">
                <a16:creationId xmlns:a16="http://schemas.microsoft.com/office/drawing/2014/main" id="{315EA473-A4E5-6364-F5D1-D5EDE53B8C88}"/>
              </a:ext>
            </a:extLst>
          </p:cNvPr>
          <p:cNvSpPr/>
          <p:nvPr/>
        </p:nvSpPr>
        <p:spPr>
          <a:xfrm>
            <a:off x="914400" y="69596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 n">
            <a:extLst>
              <a:ext uri="{FF2B5EF4-FFF2-40B4-BE49-F238E27FC236}">
                <a16:creationId xmlns:a16="http://schemas.microsoft.com/office/drawing/2014/main" id="{E79FE593-8D75-EA61-EB2E-5ED892979DBB}"/>
              </a:ext>
            </a:extLst>
          </p:cNvPr>
          <p:cNvSpPr txBox="1"/>
          <p:nvPr/>
        </p:nvSpPr>
        <p:spPr>
          <a:xfrm>
            <a:off x="1270000" y="69595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05</a:t>
            </a:r>
          </a:p>
        </p:txBody>
      </p:sp>
      <p:sp>
        <p:nvSpPr>
          <p:cNvPr id="28" name="map t">
            <a:extLst>
              <a:ext uri="{FF2B5EF4-FFF2-40B4-BE49-F238E27FC236}">
                <a16:creationId xmlns:a16="http://schemas.microsoft.com/office/drawing/2014/main" id="{FAAD3D42-BCD3-BAFE-576E-4A6AC1C8590B}"/>
              </a:ext>
            </a:extLst>
          </p:cNvPr>
          <p:cNvSpPr txBox="1"/>
          <p:nvPr/>
        </p:nvSpPr>
        <p:spPr>
          <a:xfrm>
            <a:off x="2082800" y="70611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29" name="arrow">
            <a:extLst>
              <a:ext uri="{FF2B5EF4-FFF2-40B4-BE49-F238E27FC236}">
                <a16:creationId xmlns:a16="http://schemas.microsoft.com/office/drawing/2014/main" id="{1C7A8317-6256-570E-D65E-E661FC2CA80A}"/>
              </a:ext>
            </a:extLst>
          </p:cNvPr>
          <p:cNvSpPr/>
          <p:nvPr/>
        </p:nvSpPr>
        <p:spPr>
          <a:xfrm>
            <a:off x="9321800" y="71501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30" name="outcomes">
            <a:extLst>
              <a:ext uri="{FF2B5EF4-FFF2-40B4-BE49-F238E27FC236}">
                <a16:creationId xmlns:a16="http://schemas.microsoft.com/office/drawing/2014/main" id="{B3BBEE2C-3371-01CF-3DBE-184B90B88BFD}"/>
              </a:ext>
            </a:extLst>
          </p:cNvPr>
          <p:cNvSpPr/>
          <p:nvPr/>
        </p:nvSpPr>
        <p:spPr>
          <a:xfrm>
            <a:off x="11176000" y="2286000"/>
            <a:ext cx="6197600" cy="5969000"/>
          </a:xfrm>
          <a:prstGeom prst="roundRect">
            <a:avLst>
              <a:gd name="adj" fmla="val 5106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ag">
            <a:extLst>
              <a:ext uri="{FF2B5EF4-FFF2-40B4-BE49-F238E27FC236}">
                <a16:creationId xmlns:a16="http://schemas.microsoft.com/office/drawing/2014/main" id="{CDFF939F-DB85-0EC9-42C2-14A66E3FC52A}"/>
              </a:ext>
            </a:extLst>
          </p:cNvPr>
          <p:cNvSpPr/>
          <p:nvPr/>
        </p:nvSpPr>
        <p:spPr>
          <a:xfrm>
            <a:off x="11557000" y="2616200"/>
            <a:ext cx="231343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By the end you can</a:t>
            </a:r>
          </a:p>
        </p:txBody>
      </p:sp>
      <p:sp>
        <p:nvSpPr>
          <p:cNvPr id="32" name="outcome">
            <a:extLst>
              <a:ext uri="{FF2B5EF4-FFF2-40B4-BE49-F238E27FC236}">
                <a16:creationId xmlns:a16="http://schemas.microsoft.com/office/drawing/2014/main" id="{8A56B7B1-ACAF-9716-C298-66679263A537}"/>
              </a:ext>
            </a:extLst>
          </p:cNvPr>
          <p:cNvSpPr txBox="1"/>
          <p:nvPr/>
        </p:nvSpPr>
        <p:spPr>
          <a:xfrm>
            <a:off x="11557000" y="3302000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Explain how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creates a channel and how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pinches it off</a:t>
            </a:r>
          </a:p>
        </p:txBody>
      </p:sp>
      <p:sp>
        <p:nvSpPr>
          <p:cNvPr id="33" name="outcome">
            <a:extLst>
              <a:ext uri="{FF2B5EF4-FFF2-40B4-BE49-F238E27FC236}">
                <a16:creationId xmlns:a16="http://schemas.microsoft.com/office/drawing/2014/main" id="{AE7A369E-0455-F74D-C51E-53136AE0259D}"/>
              </a:ext>
            </a:extLst>
          </p:cNvPr>
          <p:cNvSpPr txBox="1"/>
          <p:nvPr/>
        </p:nvSpPr>
        <p:spPr>
          <a:xfrm>
            <a:off x="11557000" y="4258508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Pick the right region and use its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equation</a:t>
            </a:r>
          </a:p>
        </p:txBody>
      </p:sp>
      <p:sp>
        <p:nvSpPr>
          <p:cNvPr id="34" name="outcome">
            <a:extLst>
              <a:ext uri="{FF2B5EF4-FFF2-40B4-BE49-F238E27FC236}">
                <a16:creationId xmlns:a16="http://schemas.microsoft.com/office/drawing/2014/main" id="{935F7DA9-8568-3FFF-538B-68CAAC795D8C}"/>
              </a:ext>
            </a:extLst>
          </p:cNvPr>
          <p:cNvSpPr txBox="1"/>
          <p:nvPr/>
        </p:nvSpPr>
        <p:spPr>
          <a:xfrm>
            <a:off x="11557000" y="5215016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Find the DC operating point of a MOSFET circuit</a:t>
            </a:r>
          </a:p>
        </p:txBody>
      </p:sp>
      <p:sp>
        <p:nvSpPr>
          <p:cNvPr id="35" name="outcome">
            <a:extLst>
              <a:ext uri="{FF2B5EF4-FFF2-40B4-BE49-F238E27FC236}">
                <a16:creationId xmlns:a16="http://schemas.microsoft.com/office/drawing/2014/main" id="{660F7042-16D5-F91F-F07D-4D538F185F90}"/>
              </a:ext>
            </a:extLst>
          </p:cNvPr>
          <p:cNvSpPr txBox="1"/>
          <p:nvPr/>
        </p:nvSpPr>
        <p:spPr>
          <a:xfrm>
            <a:off x="11557000" y="6171524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Find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and the gain of a simple MOSFET amplifier</a:t>
            </a:r>
          </a:p>
        </p:txBody>
      </p:sp>
      <p:sp>
        <p:nvSpPr>
          <p:cNvPr id="36" name="chrome page">
            <a:extLst>
              <a:ext uri="{FF2B5EF4-FFF2-40B4-BE49-F238E27FC236}">
                <a16:creationId xmlns:a16="http://schemas.microsoft.com/office/drawing/2014/main" id="{0F1AF1FF-121F-412A-12A3-570134D05FB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hrome page">
            <a:extLst>
              <a:ext uri="{FF2B5EF4-FFF2-40B4-BE49-F238E27FC236}">
                <a16:creationId xmlns:a16="http://schemas.microsoft.com/office/drawing/2014/main" id="{ABA1528B-558C-C9F4-07BC-5E75EA49639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5093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015EE76-18CA-492F-5D43-F0D2F8027155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98F84A-A569-C3FB-074D-69A30552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E3A28E81-9A41-F0A4-BA41-47384773C56C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8AE535E2-440C-3139-2CE6-430FA89A4A13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device and its terminals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F3B22F3A-FC49-6EE8-4285-371DFCE9BB1A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pt-BR" sz="2200">
                <a:solidFill>
                  <a:srgbClr val="4F5E66"/>
                </a:solidFill>
                <a:latin typeface="Nunito" pitchFamily="2" charset="0"/>
              </a:rPr>
              <a:t>No gate voltage: no current</a:t>
            </a:r>
            <a:endParaRPr lang="en-US" sz="2200">
              <a:solidFill>
                <a:srgbClr val="4F5E66"/>
              </a:solidFill>
              <a:latin typeface="Nunito" pitchFamily="2" charset="0"/>
            </a:endParaRP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F4E9A2A4-CD6F-9C81-1330-EF8F3535E8FD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threshold voltage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7FA1C2AC-227D-9594-E4B5-0FE6AB4075CB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Tapering and pinch-off</a:t>
            </a:r>
          </a:p>
        </p:txBody>
      </p:sp>
      <p:sp>
        <p:nvSpPr>
          <p:cNvPr id="9" name="item">
            <a:extLst>
              <a:ext uri="{FF2B5EF4-FFF2-40B4-BE49-F238E27FC236}">
                <a16:creationId xmlns:a16="http://schemas.microsoft.com/office/drawing/2014/main" id="{F70FA0AF-1BC1-931C-C5C0-A135912DCFB0}"/>
              </a:ext>
            </a:extLst>
          </p:cNvPr>
          <p:cNvSpPr txBox="1"/>
          <p:nvPr/>
        </p:nvSpPr>
        <p:spPr>
          <a:xfrm>
            <a:off x="4724400" y="81025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CMOS; n- and p-channel symbols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399142B5-15F2-8593-1194-664ED1EA290A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21C494E6-A0BE-64D3-2F1E-AA3DCFA37C37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CAA0B08D-F77D-5ED0-809C-CB37C48B7267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C9E4BD13-2C61-210D-5885-89F7F5F05168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C1E31A61-A49E-AD29-3F10-293E1C007316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64CF8BDB-41DE-7176-9F3D-A9C7B802477F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61430AEA-5B9D-04A6-4BDD-471A764097E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3F3A103C-5E66-3698-F4A7-C25614DD2745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0C24E024-F60F-F004-5770-D02C982D7C11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F607D65D-857C-65BA-C1F1-782143DEE04F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A78C7000-B231-1721-DBED-458756332AC7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   Structure and operation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56295436-EFEF-0926-51CF-E8AD70E29274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68810AA9-95A6-C2D5-D989-BE79D441F96D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8F7FCD29-F640-5C33-A9B1-4873B99C0409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B1B92574-A0ED-BD30-0883-8728274A4BD7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A775FE97-EFC9-58F9-142A-54E4E930FBE5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5B876A17-EAB9-1B3C-94A8-98C4D6E3F49C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8F18ED47-7D4E-53EF-65A6-9901DBAED6B8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ap">
            <a:extLst>
              <a:ext uri="{FF2B5EF4-FFF2-40B4-BE49-F238E27FC236}">
                <a16:creationId xmlns:a16="http://schemas.microsoft.com/office/drawing/2014/main" id="{7C70710A-9A1A-B708-EC68-7BB082939D7E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44848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48484C-D8E0-EBEE-04B5-64E1279F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95AED5D-01E0-5AF4-FE86-26439B05E6D4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872C9CC-2873-4F3B-A4CA-96C5C739CAA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6EDBE32-4215-1212-0CAC-DCA1C90517B0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6AE91F-8B36-4904-BC31-5CE17B12955C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3ABAC3AE-3875-79C6-A8AB-882A07C50D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B8E09ED7-C2BB-7D08-C676-D397CE4EC665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C40B12C-714E-40CF-76C3-DF7398CE6D61}"/>
              </a:ext>
            </a:extLst>
          </p:cNvPr>
          <p:cNvSpPr txBox="1"/>
          <p:nvPr/>
        </p:nvSpPr>
        <p:spPr>
          <a:xfrm>
            <a:off x="914400" y="7366000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Four terminals: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(S),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gate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(G),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drain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(D) and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body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(B).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3CBCDDCF-49BF-5DCD-5981-35AFACE6FE99}"/>
              </a:ext>
            </a:extLst>
          </p:cNvPr>
          <p:cNvSpPr txBox="1"/>
          <p:nvPr/>
        </p:nvSpPr>
        <p:spPr>
          <a:xfrm>
            <a:off x="914400" y="8012616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no current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2EA2C3BE-E041-C404-98CC-CCFF0E2EDA8C}"/>
              </a:ext>
            </a:extLst>
          </p:cNvPr>
          <p:cNvSpPr txBox="1"/>
          <p:nvPr/>
        </p:nvSpPr>
        <p:spPr>
          <a:xfrm>
            <a:off x="914400" y="8659233"/>
            <a:ext cx="164592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channel region between the n⁺ source and drain has length L and width W.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A263E9C4-0929-EBA1-E67F-1303352AFA0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75D065ED-F3E5-7C9A-912A-30FCC690967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33715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9A82181-0C87-0447-C1B5-4A6F8218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0130748-8A3E-0BDC-65AA-5AF2908A5E5B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0FA493-3537-743E-BE01-2B486F6256F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7FB92BE-2290-CF4D-E26B-06C5AB0CE1E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2E969EF-FDCF-6A27-2201-E325FABBADA3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F2FBF34-260B-DE18-1FE3-1E440455BB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6D0BDD98-AF1E-DDB3-9006-7ACDE4417578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4CCCDB9F-C644-C0E6-6F40-1790F86A5E17}"/>
              </a:ext>
            </a:extLst>
          </p:cNvPr>
          <p:cNvSpPr txBox="1"/>
          <p:nvPr/>
        </p:nvSpPr>
        <p:spPr>
          <a:xfrm>
            <a:off x="9652000" y="241300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back-to-back pn junctions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lie between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D7480C1B-2E09-C4AF-00BE-4AF8CD36BACF}"/>
              </a:ext>
            </a:extLst>
          </p:cNvPr>
          <p:cNvSpPr txBox="1"/>
          <p:nvPr/>
        </p:nvSpPr>
        <p:spPr>
          <a:xfrm>
            <a:off x="9652000" y="346338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Whatever the polarity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one junction is reverse-biased, so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≈ 0.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BA840447-0C53-2A30-17F2-18663B468660}"/>
              </a:ext>
            </a:extLst>
          </p:cNvPr>
          <p:cNvSpPr txBox="1"/>
          <p:nvPr/>
        </p:nvSpPr>
        <p:spPr>
          <a:xfrm>
            <a:off x="9652000" y="451376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The energy barrier (left) keeps the electrons of the source away from the drain.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DBC02D9F-47F5-D2F8-C059-F47A18EB4FD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F0F0F612-B772-24CF-7706-F246563D809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289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D2C992B-F794-BA0F-890B-8D59025B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343032-5954-9099-28A4-E02001F901BA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30E38C6-A0B7-C63A-795D-A780088213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636E4AC-B03A-E9DC-A2F3-24D7034F152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90ABF49-9D35-9891-9C4B-BEDA8E546555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EDE22389-074C-52A8-2C1B-33983C34AF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8BE0F86-FDA9-1064-8ED2-5C65491C80C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3E54C89B-02CE-1C2C-A1DD-FE0AA4502060}"/>
              </a:ext>
            </a:extLst>
          </p:cNvPr>
          <p:cNvSpPr txBox="1"/>
          <p:nvPr/>
        </p:nvSpPr>
        <p:spPr>
          <a:xfrm>
            <a:off x="914400" y="2413000"/>
            <a:ext cx="73660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F6E9BBB-F57C-6D01-1B03-47200D1D8AE4}"/>
              </a:ext>
            </a:extLst>
          </p:cNvPr>
          <p:cNvSpPr txBox="1"/>
          <p:nvPr/>
        </p:nvSpPr>
        <p:spPr>
          <a:xfrm>
            <a:off x="914400" y="3851179"/>
            <a:ext cx="73660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inversion layer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channel linking source to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D1A99AFB-0737-2052-F289-EECC602BDB1B}"/>
              </a:ext>
            </a:extLst>
          </p:cNvPr>
          <p:cNvSpPr/>
          <p:nvPr/>
        </p:nvSpPr>
        <p:spPr>
          <a:xfrm>
            <a:off x="914400" y="5028559"/>
            <a:ext cx="7366000" cy="2159000"/>
          </a:xfrm>
          <a:prstGeom prst="roundRect">
            <a:avLst>
              <a:gd name="adj" fmla="val 14118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6B2AD4F9-10C8-ED30-250E-C4B1E1DE8CC3}"/>
              </a:ext>
            </a:extLst>
          </p:cNvPr>
          <p:cNvSpPr/>
          <p:nvPr/>
        </p:nvSpPr>
        <p:spPr>
          <a:xfrm>
            <a:off x="1244600" y="5307959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Definition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B671A2B0-5CF5-C4FB-B594-DC035D42BEFF}"/>
              </a:ext>
            </a:extLst>
          </p:cNvPr>
          <p:cNvSpPr txBox="1"/>
          <p:nvPr/>
        </p:nvSpPr>
        <p:spPr>
          <a:xfrm>
            <a:off x="1244600" y="5866758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Threshold voltage </a:t>
            </a:r>
            <a:r>
              <a:rPr lang="en-US" sz="2400" b="1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b="1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at which the channel just forms.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2CF26B65-0667-3683-C68A-BDE7940C713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71B8DB15-39FE-823B-46A2-A11F8ABFBAC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31220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220C5A-1148-B1AD-07B2-A73EB513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Increasing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C0803D3-C1BD-A582-FE4C-8D0FEDE36259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EA448F7-FE74-0F9C-3C4B-13FF5DFB10A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B3FFFD5-9AE1-E3D0-C168-AE406E7638B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45D80A5-671B-41AE-D45C-2F49879C451B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4B8224EE-7E6A-93D3-CD3C-6E34154713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2E9DFFA7-8A9E-950E-C0F5-C54C3C9AEFE5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8872875E-99A9-8571-447A-6B49128BD217}"/>
              </a:ext>
            </a:extLst>
          </p:cNvPr>
          <p:cNvSpPr txBox="1"/>
          <p:nvPr/>
        </p:nvSpPr>
        <p:spPr>
          <a:xfrm>
            <a:off x="914400" y="2349500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at the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71CF40AD-1678-4EBB-485F-40BA0E5D5B95}"/>
              </a:ext>
            </a:extLst>
          </p:cNvPr>
          <p:cNvSpPr txBox="1"/>
          <p:nvPr/>
        </p:nvSpPr>
        <p:spPr>
          <a:xfrm>
            <a:off x="914400" y="3367757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: the channel gets shallower toward the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AA574359-484B-9055-E12E-EFE2633B36DE}"/>
              </a:ext>
            </a:extLst>
          </p:cNvPr>
          <p:cNvSpPr/>
          <p:nvPr/>
        </p:nvSpPr>
        <p:spPr>
          <a:xfrm>
            <a:off x="914400" y="4462214"/>
            <a:ext cx="7620000" cy="2540000"/>
          </a:xfrm>
          <a:prstGeom prst="roundRect">
            <a:avLst>
              <a:gd name="adj" fmla="val 12000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EE16C975-1E6B-3A38-DCF2-C6B1D3F1ED68}"/>
              </a:ext>
            </a:extLst>
          </p:cNvPr>
          <p:cNvSpPr/>
          <p:nvPr/>
        </p:nvSpPr>
        <p:spPr>
          <a:xfrm>
            <a:off x="1244600" y="4741614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Pinch-off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3D0F6623-95EF-B755-CD20-181E4119776B}"/>
              </a:ext>
            </a:extLst>
          </p:cNvPr>
          <p:cNvSpPr txBox="1"/>
          <p:nvPr/>
        </p:nvSpPr>
        <p:spPr>
          <a:xfrm>
            <a:off x="1244600" y="5300413"/>
            <a:ext cx="69596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When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, the channel depth at the drain end falls to almost zero. Increasing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further barely changes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: the current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saturates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EAFF14C7-2DB8-3FEE-8C76-F835365E19B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23895D46-0A5D-73EA-FF4C-DAFD6E9B287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2441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3E0BF7D-F4F0-CF88-DAB1-6D3A928C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97C465F-778F-514C-DEE9-68F5299F3EAD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B3FBABF-19E2-7456-2901-8E06E81DF696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BD20BD5-9069-2ABD-0D17-45DE1F2ED73D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56914FE-EDBC-5536-2383-A15EE5753498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825374F-9217-081E-A76E-E640F2DC0E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E8DC610-0281-D726-D214-101857235234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D4A46553-8321-F93C-3D92-700DBABD2ECE}"/>
              </a:ext>
            </a:extLst>
          </p:cNvPr>
          <p:cNvSpPr txBox="1"/>
          <p:nvPr/>
        </p:nvSpPr>
        <p:spPr>
          <a:xfrm>
            <a:off x="914400" y="7747000"/>
            <a:ext cx="164592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PMOS transistor is built in an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n-well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with p⁺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2DBE23A1-DA31-E60C-8608-EE49CD0FEE54}"/>
              </a:ext>
            </a:extLst>
          </p:cNvPr>
          <p:cNvSpPr txBox="1"/>
          <p:nvPr/>
        </p:nvSpPr>
        <p:spPr>
          <a:xfrm>
            <a:off x="914400" y="8390795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Thick oxide isolates neighbouring devices. CMOS circuits use both types together.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92E9B613-3E87-BCFB-4E53-8D4A6D55734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hrome page">
            <a:extLst>
              <a:ext uri="{FF2B5EF4-FFF2-40B4-BE49-F238E27FC236}">
                <a16:creationId xmlns:a16="http://schemas.microsoft.com/office/drawing/2014/main" id="{E0BE6AE8-E05B-7C7C-0C73-E0C6100566C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69824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5206432-85EC-63A7-9B78-ADED502B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ECEA177-24B9-9FC1-9585-7BC31E6D35F7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31681F5-8E27-1969-F3FA-0472C6B3519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EA82AEA-9EAD-982E-D93C-27D99CF8B2E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C4B0AEC5-F8A9-FFFF-CF2E-9C34458B4284}"/>
              </a:ext>
            </a:extLst>
          </p:cNvPr>
          <p:cNvSpPr/>
          <p:nvPr/>
        </p:nvSpPr>
        <p:spPr>
          <a:xfrm>
            <a:off x="914400" y="2222500"/>
            <a:ext cx="8128000" cy="5180581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9E607B3-68F0-EB8C-2335-7767241EDF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44398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99E06E78-DCEE-AE51-16E0-843FC685CA07}"/>
              </a:ext>
            </a:extLst>
          </p:cNvPr>
          <p:cNvSpPr txBox="1"/>
          <p:nvPr/>
        </p:nvSpPr>
        <p:spPr>
          <a:xfrm>
            <a:off x="1168400" y="7047481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F188D66D-882A-1DBC-02B9-3BCB6051388E}"/>
              </a:ext>
            </a:extLst>
          </p:cNvPr>
          <p:cNvSpPr txBox="1"/>
          <p:nvPr/>
        </p:nvSpPr>
        <p:spPr>
          <a:xfrm>
            <a:off x="9652000" y="2413000"/>
            <a:ext cx="77216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in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for an n-channel device and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out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for a p-channel device.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813FDF8A-EB2E-1E84-1D24-F742DD3EBDB8}"/>
              </a:ext>
            </a:extLst>
          </p:cNvPr>
          <p:cNvSpPr txBox="1"/>
          <p:nvPr/>
        </p:nvSpPr>
        <p:spPr>
          <a:xfrm>
            <a:off x="9652000" y="3851179"/>
            <a:ext cx="77216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PMOS: holes carry the current and every voltage and current is reversed. It conducts when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with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negative.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16C39826-4D13-8514-496E-3581EC93690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hrome page">
            <a:extLst>
              <a:ext uri="{FF2B5EF4-FFF2-40B4-BE49-F238E27FC236}">
                <a16:creationId xmlns:a16="http://schemas.microsoft.com/office/drawing/2014/main" id="{0DF4CBBB-62F3-1F90-424C-AD2B7BDD9F5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6493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9A1E2538-5EE8-B06A-A1EB-3B81D96E410C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CF9345-1F22-A93C-85C1-B3F0BDD8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57745351-78D5-1A42-1123-23882488DDF2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28054452-C097-600A-D2B4-A7D05162CE24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–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 family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E2623DD9-35D4-9ED2-4DB1-8A266B87AEEE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Saturation: the square law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94EF0F38-DFCE-0520-F6FE-6E0CBADBF929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Triode and saturation equations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31508A25-E75D-2A50-0C56-3A070BD92B37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Resistor and large-signal models</a:t>
            </a:r>
          </a:p>
        </p:txBody>
      </p:sp>
      <p:cxnSp>
        <p:nvCxnSpPr>
          <p:cNvPr id="9" name="motif">
            <a:extLst>
              <a:ext uri="{FF2B5EF4-FFF2-40B4-BE49-F238E27FC236}">
                <a16:creationId xmlns:a16="http://schemas.microsoft.com/office/drawing/2014/main" id="{27A6C2B4-A1FD-FE22-2690-135BEA42ED35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531F427D-BA6C-5F5A-FDCC-72A37720F904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955F0E1F-6633-1DD0-0093-02A19069C27E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3B1C022F-4725-F25A-C581-4CF451608AA7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5EE4C4DC-9BE7-3BB6-B09A-58BE550D75F0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otif">
            <a:extLst>
              <a:ext uri="{FF2B5EF4-FFF2-40B4-BE49-F238E27FC236}">
                <a16:creationId xmlns:a16="http://schemas.microsoft.com/office/drawing/2014/main" id="{D43893AC-6C39-C35C-5A45-B1B1794AADE9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0E328759-E655-7743-09AB-FD9C29535D6F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8208E067-3D36-0304-F8F7-3BDE9FC9E379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6870ADDD-22EF-F383-F8B9-5A08704B18BE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F4C62B25-EFEE-2FE4-9D60-45855ABA5F83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0AADB534-ABFB-579F-2017-DD42046F6E4E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338D77D6-B1F7-73DA-9415-72E2BC3C67D8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B22C28C0-BC90-D1E0-AFA9-C08D72A537D1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   I–V characteristics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B57540FC-DB85-EFFE-870A-111907AC1EE0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BD68FD8E-2625-1E9F-A68F-5379D9B9E598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F990FCBA-FBCC-3420-4B36-6712F21DF7BF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6A7CBB22-5CEC-7B96-4CA6-642650F88B14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8009D106-7437-7275-C391-2FFFA074D87D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ED2CAAB3-0800-5111-4C55-AB561097D224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25555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9988A23-B27D-6849-5283-A6271399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–v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722D856-D327-57AE-5B03-F2C27436EC3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295EBE5-3258-42AE-9AE7-6696654BD70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163E87-5CEB-5997-6D8A-054B563D066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1AC5A44-6C72-868E-A3D4-90DCCDB4C962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4760760-088E-EE32-2A5F-04B6C6D3B6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F0956AA-AD69-BD8B-C3C2-7D7B3BEEB54F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C055D90-34CE-6DBD-443F-D6D7CACC457E}"/>
              </a:ext>
            </a:extLst>
          </p:cNvPr>
          <p:cNvSpPr txBox="1"/>
          <p:nvPr/>
        </p:nvSpPr>
        <p:spPr>
          <a:xfrm>
            <a:off x="10668000" y="2349500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Each curve is one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FB6FC1B8-8B11-3AEB-E3A2-E7DF081192CB}"/>
              </a:ext>
            </a:extLst>
          </p:cNvPr>
          <p:cNvSpPr txBox="1"/>
          <p:nvPr/>
        </p:nvSpPr>
        <p:spPr>
          <a:xfrm>
            <a:off x="10668000" y="3012082"/>
            <a:ext cx="670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Left of the dashed line (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):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rises with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A8C0BC94-06D6-7314-EB77-DFC87C1D39A1}"/>
              </a:ext>
            </a:extLst>
          </p:cNvPr>
          <p:cNvSpPr txBox="1"/>
          <p:nvPr/>
        </p:nvSpPr>
        <p:spPr>
          <a:xfrm>
            <a:off x="10668000" y="4062462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Right of it: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saturation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is set by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alone.</a:t>
            </a:r>
          </a:p>
        </p:txBody>
      </p:sp>
      <p:sp>
        <p:nvSpPr>
          <p:cNvPr id="13" name="point @4">
            <a:extLst>
              <a:ext uri="{FF2B5EF4-FFF2-40B4-BE49-F238E27FC236}">
                <a16:creationId xmlns:a16="http://schemas.microsoft.com/office/drawing/2014/main" id="{CE7A8F27-137F-0052-58ED-6916DE70C597}"/>
              </a:ext>
            </a:extLst>
          </p:cNvPr>
          <p:cNvSpPr txBox="1"/>
          <p:nvPr/>
        </p:nvSpPr>
        <p:spPr>
          <a:xfrm>
            <a:off x="10668000" y="4725044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For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: </a:t>
            </a:r>
            <a:r>
              <a:rPr lang="nn-NO" sz="2400" b="1">
                <a:solidFill>
                  <a:srgbClr val="17262E"/>
                </a:solidFill>
                <a:latin typeface="Nunito" pitchFamily="2" charset="0"/>
              </a:rPr>
              <a:t>cutoff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,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 = 0.</a:t>
            </a:r>
            <a:endParaRPr lang="en-US" sz="24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0FD34E82-B05B-CC94-79DB-EAF12294236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CC96778A-F0AF-3948-9FBB-F0E075AE974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2212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083CCD-67D9-3510-401D-FE7E92AA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 saturation,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depends only on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183B22D-641E-60DF-73AC-8BA322B31E9B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238FB28-27DF-23CE-80F3-650B3480CDE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5BD97F7-0FD1-E3B3-4607-BAA4E9C79C0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EACE6ED-8AB4-D2C8-8EB4-E99977ADF5FC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5444D76C-CD42-DBF5-D1B2-A43261CC9D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5E24EB8-409C-384A-5602-F79F97001138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9FD2E9ED-E1C7-DEB9-4803-99075383929D}"/>
              </a:ext>
            </a:extLst>
          </p:cNvPr>
          <p:cNvSpPr txBox="1"/>
          <p:nvPr/>
        </p:nvSpPr>
        <p:spPr>
          <a:xfrm>
            <a:off x="9398000" y="2413000"/>
            <a:ext cx="797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B5B3ACD-32C9-9C04-5913-D55FB30035F2}"/>
                  </a:ext>
                </a:extLst>
              </p:cNvPr>
              <p:cNvSpPr txBox="1"/>
              <p:nvPr/>
            </p:nvSpPr>
            <p:spPr>
              <a:xfrm>
                <a:off x="9398000" y="3590379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B5B3ACD-32C9-9C04-5913-D55FB30035F2}"/>
                  </a:ext>
                </a:extLst>
              </p:cNvPr>
              <p:cNvSpPr txBox="1"/>
              <p:nvPr/>
            </p:nvSpPr>
            <p:spPr>
              <a:xfrm>
                <a:off x="9398000" y="3590379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2" name="point @3">
            <a:extLst>
              <a:ext uri="{FF2B5EF4-FFF2-40B4-BE49-F238E27FC236}">
                <a16:creationId xmlns:a16="http://schemas.microsoft.com/office/drawing/2014/main" id="{2B33D14A-8EDE-D20E-D61F-EE5C51C1B1B0}"/>
              </a:ext>
            </a:extLst>
          </p:cNvPr>
          <p:cNvSpPr txBox="1"/>
          <p:nvPr/>
        </p:nvSpPr>
        <p:spPr>
          <a:xfrm>
            <a:off x="9398000" y="4987380"/>
            <a:ext cx="797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Doubling (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) quadruples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square law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C8DFB652-E576-2E1F-1F8B-D7F37A83B98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594676D0-36AA-3360-8399-7917A1A227B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20580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97E272-6E80-D50F-2FC7-16959E44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9CBECE-30AD-FF62-240C-8149C659F017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CC4FCB-DF63-BF9D-42F8-6BAB0D3AA70F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07CFA96-DC0A-A6B1-029C-C9671093C66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896CF2F-2F86-B440-4A30-5A5071B782A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F32DDEA-9565-3AD0-C2D3-5C026A9608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018A6E0-6F9A-5D49-CCCD-C98584C1AEBD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FB236FF4-C703-F6C0-BF70-5224A8151622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0A96458D-AB77-6AAF-36DB-E119333FCBC2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3" name="lab @3">
            <a:extLst>
              <a:ext uri="{FF2B5EF4-FFF2-40B4-BE49-F238E27FC236}">
                <a16:creationId xmlns:a16="http://schemas.microsoft.com/office/drawing/2014/main" id="{B3BFEEA2-6BAA-1CAF-27A9-2FF9C78953B6}"/>
              </a:ext>
            </a:extLst>
          </p:cNvPr>
          <p:cNvSpPr/>
          <p:nvPr/>
        </p:nvSpPr>
        <p:spPr>
          <a:xfrm>
            <a:off x="10287000" y="47625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4" name="lab @3">
            <a:extLst>
              <a:ext uri="{FF2B5EF4-FFF2-40B4-BE49-F238E27FC236}">
                <a16:creationId xmlns:a16="http://schemas.microsoft.com/office/drawing/2014/main" id="{429FF9B8-21A4-5057-6334-51698FC5D425}"/>
              </a:ext>
            </a:extLst>
          </p:cNvPr>
          <p:cNvSpPr txBox="1"/>
          <p:nvPr/>
        </p:nvSpPr>
        <p:spPr>
          <a:xfrm>
            <a:off x="11978640" y="4737099"/>
            <a:ext cx="539496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8A1E128D-52FF-B2A0-6925-377BAAC16E4A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8A1E128D-52FF-B2A0-6925-377BAAC16E4A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6" name="note @4">
            <a:extLst>
              <a:ext uri="{FF2B5EF4-FFF2-40B4-BE49-F238E27FC236}">
                <a16:creationId xmlns:a16="http://schemas.microsoft.com/office/drawing/2014/main" id="{5ED83F89-87FD-5C76-EB14-9A66729FBBF7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Both require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: without a channel,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0 (cutoff).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44A0F245-782C-BC82-38E6-51BB2C881DB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B7DE71E6-AE19-8091-2FB2-86ABB4FCFD4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08968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17A248-AEC7-4EA8-2BF8-9923ED34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1CE463C-F1C3-516D-6F4D-075BB1C53002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1AE596-5F55-F718-6206-C6175FC3E95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CB5BEC5-E75B-B224-012A-17A46F450E4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03F97B-9C3A-4F3D-0AB0-5470247AE972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D0202633-1F88-01BE-0C15-A609CBFC98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DE2D37A9-206B-9D36-F606-02D061A684AB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84E318B-A404-46FA-E4B8-BEB8D7109B2A}"/>
              </a:ext>
            </a:extLst>
          </p:cNvPr>
          <p:cNvSpPr txBox="1"/>
          <p:nvPr/>
        </p:nvSpPr>
        <p:spPr>
          <a:xfrm>
            <a:off x="914400" y="2349500"/>
            <a:ext cx="81280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For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≪ 2(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 the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² term is negligible: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/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/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\approx k_n^{\prime}\frac{W}{L}\,(v_{GS}-V_t)\,v_{DS}</a:t>
                </a:r>
              </a:p>
            </p:txBody>
          </p:sp>
        </mc:Fallback>
      </mc:AlternateContent>
      <p:sp>
        <p:nvSpPr>
          <p:cNvPr id="12" name="point @2">
            <a:extLst>
              <a:ext uri="{FF2B5EF4-FFF2-40B4-BE49-F238E27FC236}">
                <a16:creationId xmlns:a16="http://schemas.microsoft.com/office/drawing/2014/main" id="{D4A303F7-CE49-5012-48C1-7BD8D834055B}"/>
              </a:ext>
            </a:extLst>
          </p:cNvPr>
          <p:cNvSpPr txBox="1"/>
          <p:nvPr/>
        </p:nvSpPr>
        <p:spPr>
          <a:xfrm>
            <a:off x="914400" y="4009295"/>
            <a:ext cx="8128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F1D1CA2-E477-5F1A-90AE-650877FDB3AF}"/>
                  </a:ext>
                </a:extLst>
              </p:cNvPr>
              <p:cNvSpPr txBox="1"/>
              <p:nvPr/>
            </p:nvSpPr>
            <p:spPr>
              <a:xfrm>
                <a:off x="1244600" y="4655910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7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F1D1CA2-E477-5F1A-90AE-650877FDB3AF}"/>
                  </a:ext>
                </a:extLst>
              </p:cNvPr>
              <p:cNvSpPr txBox="1"/>
              <p:nvPr/>
            </p:nvSpPr>
            <p:spPr>
              <a:xfrm>
                <a:off x="1244600" y="4655910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r_{DS} = \left[k_n^{\prime}\frac{W}{L}\,(v_{GS}-V_t)\right]^{-1}</a:t>
                </a:r>
              </a:p>
            </p:txBody>
          </p:sp>
        </mc:Fallback>
      </mc:AlternateContent>
      <p:sp>
        <p:nvSpPr>
          <p:cNvPr id="14" name="point @3">
            <a:extLst>
              <a:ext uri="{FF2B5EF4-FFF2-40B4-BE49-F238E27FC236}">
                <a16:creationId xmlns:a16="http://schemas.microsoft.com/office/drawing/2014/main" id="{EF1F4595-5AB0-594D-94E2-74CE012D6F22}"/>
              </a:ext>
            </a:extLst>
          </p:cNvPr>
          <p:cNvSpPr txBox="1"/>
          <p:nvPr/>
        </p:nvSpPr>
        <p:spPr>
          <a:xfrm>
            <a:off x="914400" y="5875111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This is the region used when the MOSFET acts as a closed switch (Section 5).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18FFF688-6C44-3E89-E156-A0ED2FA75E9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E159060D-2753-5748-DC2D-AF675AB9146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08504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9D5599-9080-66F5-6ECC-B61DD6D3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511478-D2D2-9961-6260-2BE73CC0F94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EB38260-736E-85B5-1388-352DBE2FD1B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FCB6399-EBB1-2E36-5A87-491F6831369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70845A8-CA6D-631C-031D-C467BEA704A5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1BD5362C-5C86-B25C-1362-DA561404DC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DBB054A-5D75-7A0B-5BE4-C32836796AD6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5442F9EE-250D-E094-8DC7-8775040E1566}"/>
              </a:ext>
            </a:extLst>
          </p:cNvPr>
          <p:cNvSpPr txBox="1"/>
          <p:nvPr/>
        </p:nvSpPr>
        <p:spPr>
          <a:xfrm>
            <a:off x="914400" y="7239000"/>
            <a:ext cx="9652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In saturation the MOSFET acts as a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voltage-controlled current 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from drain to source.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A238A18-70C9-A942-66A4-128677DBD385}"/>
              </a:ext>
            </a:extLst>
          </p:cNvPr>
          <p:cNvSpPr txBox="1"/>
          <p:nvPr/>
        </p:nvSpPr>
        <p:spPr>
          <a:xfrm>
            <a:off x="914400" y="8257257"/>
            <a:ext cx="9652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gate draws no current: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BEB99FF1-2FF3-037E-E1C1-6959E049BEAD}"/>
                  </a:ext>
                </a:extLst>
              </p:cNvPr>
              <p:cNvSpPr txBox="1"/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BEB99FF1-2FF3-037E-E1C1-6959E049BEAD}"/>
                  </a:ext>
                </a:extLst>
              </p:cNvPr>
              <p:cNvSpPr txBox="1"/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7" name="chrome page">
            <a:extLst>
              <a:ext uri="{FF2B5EF4-FFF2-40B4-BE49-F238E27FC236}">
                <a16:creationId xmlns:a16="http://schemas.microsoft.com/office/drawing/2014/main" id="{3F1B2299-66E0-C5ED-2A67-01640D0DBB9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D0834101-93E8-7D31-B5DC-C560EC29BE4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06876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0F8C66B-BEFF-B1E8-185B-078C2FF4E462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7C24ECE-3E4E-755F-E2D8-4319FF542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A97B9019-8895-BA18-2FF8-1C5F2AF634B3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8ABEC230-6042-4BA2-C310-E26A1CE2264C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Assume, solve, check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66B9FCE4-BCD2-7801-103C-FA17EFDAF90D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Example: the drain voltage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26DF4D6E-DC34-71CB-BA6F-CEB22730DB33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current mirror</a:t>
            </a:r>
          </a:p>
        </p:txBody>
      </p:sp>
      <p:cxnSp>
        <p:nvCxnSpPr>
          <p:cNvPr id="8" name="motif">
            <a:extLst>
              <a:ext uri="{FF2B5EF4-FFF2-40B4-BE49-F238E27FC236}">
                <a16:creationId xmlns:a16="http://schemas.microsoft.com/office/drawing/2014/main" id="{071ACCBB-79A1-ED52-0F22-3C57B1E5A7B5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55001BD0-DF0D-E0BB-0A74-7A8DD3305F1D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E64A84E0-A19B-E513-8684-30FA6EE6A87E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CED82294-E758-AA00-54AF-72E0B1017C1A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B40042F2-F1B8-7C82-32D4-D87F09CDD934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otif">
            <a:extLst>
              <a:ext uri="{FF2B5EF4-FFF2-40B4-BE49-F238E27FC236}">
                <a16:creationId xmlns:a16="http://schemas.microsoft.com/office/drawing/2014/main" id="{8FB34205-E6D2-3505-320E-0DC36D09EFA4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5FC2EE18-6CE4-C863-0160-66ADD6E54391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25071E2C-C1A7-5969-DB78-45E88BE34B3A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C3334583-F15F-3D93-020B-15FFF083B281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4EF45982-BC9F-3728-E288-846738BDF046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5342F649-582F-E288-20EE-1FA7C993A079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3D10AA4A-3444-1D96-DA71-0C7FF6D0EC31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0A432D17-85A7-388F-72D6-8579032A8DFC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46E00AA3-87AB-15FA-039F-60D407A8804F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B6DA8ACF-49F5-7628-5E32-334A52F23C3D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   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97C652FF-9E95-63EC-59A9-4C4B50F73A04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7AADC865-FD7B-7D70-6B1F-8ACE9BF9E7B1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E30465FD-8042-A8B7-A818-12F5AD53D068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9714637E-E5E1-C5A3-56AB-80D953E4BACE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1612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BF029B-4FB4-3683-CF1F-68E22EC8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77422D5-12D7-23BA-8A60-4905A97988B1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BF69A2B-0CCB-77B4-0E36-5EE65DA458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ABA626-00E2-3B70-234D-166A2C28426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0267D30D-D8D5-1A3E-F393-F6D8FFD73FF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adge @1">
            <a:extLst>
              <a:ext uri="{FF2B5EF4-FFF2-40B4-BE49-F238E27FC236}">
                <a16:creationId xmlns:a16="http://schemas.microsoft.com/office/drawing/2014/main" id="{13BF77C3-2631-B3FC-F034-F1324C54543B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8" name="head @1">
            <a:extLst>
              <a:ext uri="{FF2B5EF4-FFF2-40B4-BE49-F238E27FC236}">
                <a16:creationId xmlns:a16="http://schemas.microsoft.com/office/drawing/2014/main" id="{F5FE0DE3-A04B-42C2-4E7D-619DA67D692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Assume</a:t>
            </a:r>
          </a:p>
        </p:txBody>
      </p:sp>
      <p:sp>
        <p:nvSpPr>
          <p:cNvPr id="9" name="body @1">
            <a:extLst>
              <a:ext uri="{FF2B5EF4-FFF2-40B4-BE49-F238E27FC236}">
                <a16:creationId xmlns:a16="http://schemas.microsoft.com/office/drawing/2014/main" id="{A572BC23-E2C8-6D69-FC08-3459AF2591DA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region, usually saturation (and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).</a:t>
            </a:r>
          </a:p>
        </p:txBody>
      </p:sp>
      <p:sp>
        <p:nvSpPr>
          <p:cNvPr id="10" name="card @2">
            <a:extLst>
              <a:ext uri="{FF2B5EF4-FFF2-40B4-BE49-F238E27FC236}">
                <a16:creationId xmlns:a16="http://schemas.microsoft.com/office/drawing/2014/main" id="{CE6D8954-094D-2BFC-B185-D6AA8DE943D4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6D24B50-F2E7-6382-2024-AC16E99CC777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2" name="head @2">
            <a:extLst>
              <a:ext uri="{FF2B5EF4-FFF2-40B4-BE49-F238E27FC236}">
                <a16:creationId xmlns:a16="http://schemas.microsoft.com/office/drawing/2014/main" id="{B6B0765C-0B33-E2F5-73DC-921012642D33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Solve</a:t>
            </a:r>
          </a:p>
        </p:txBody>
      </p:sp>
      <p:sp>
        <p:nvSpPr>
          <p:cNvPr id="13" name="body @2">
            <a:extLst>
              <a:ext uri="{FF2B5EF4-FFF2-40B4-BE49-F238E27FC236}">
                <a16:creationId xmlns:a16="http://schemas.microsoft.com/office/drawing/2014/main" id="{AFDC5449-1C95-A32E-C361-D9CF8CC1C796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with that region’s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4" name="card @3">
            <a:extLst>
              <a:ext uri="{FF2B5EF4-FFF2-40B4-BE49-F238E27FC236}">
                <a16:creationId xmlns:a16="http://schemas.microsoft.com/office/drawing/2014/main" id="{9770CD9D-0882-E1E3-A002-05F27793ED54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5FBC3FBB-8AE1-9A86-5B31-A9B38BFFCD0E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6" name="head @3">
            <a:extLst>
              <a:ext uri="{FF2B5EF4-FFF2-40B4-BE49-F238E27FC236}">
                <a16:creationId xmlns:a16="http://schemas.microsoft.com/office/drawing/2014/main" id="{75E444F2-83A3-D671-841D-3EE4FD9C9CF2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Check</a:t>
            </a:r>
          </a:p>
        </p:txBody>
      </p:sp>
      <p:sp>
        <p:nvSpPr>
          <p:cNvPr id="17" name="body @3">
            <a:extLst>
              <a:ext uri="{FF2B5EF4-FFF2-40B4-BE49-F238E27FC236}">
                <a16:creationId xmlns:a16="http://schemas.microsoft.com/office/drawing/2014/main" id="{CD0CA81B-75B5-3DE1-EBEE-DCF752F40789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assumption: saturation needs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 If it fails, redo it in triode.</a:t>
            </a:r>
          </a:p>
        </p:txBody>
      </p:sp>
      <p:sp>
        <p:nvSpPr>
          <p:cNvPr id="18" name="note @4">
            <a:extLst>
              <a:ext uri="{FF2B5EF4-FFF2-40B4-BE49-F238E27FC236}">
                <a16:creationId xmlns:a16="http://schemas.microsoft.com/office/drawing/2014/main" id="{BC266020-A1B9-7F58-D954-215885E64FCD}"/>
              </a:ext>
            </a:extLst>
          </p:cNvPr>
          <p:cNvSpPr txBox="1"/>
          <p:nvPr/>
        </p:nvSpPr>
        <p:spPr>
          <a:xfrm>
            <a:off x="914400" y="6857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draws no current, so gate-bias resistors form an unloaded divider.</a:t>
            </a:r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B3059925-F634-2C71-7067-6002BD36402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rome page">
            <a:extLst>
              <a:ext uri="{FF2B5EF4-FFF2-40B4-BE49-F238E27FC236}">
                <a16:creationId xmlns:a16="http://schemas.microsoft.com/office/drawing/2014/main" id="{AC082CA4-F579-C803-6006-DEB80EF6FDC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22357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A4950C-7450-4D13-F09E-7667385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6DD0FE3-00E5-45E1-4D7E-711ACDF01A96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CE05697-8DC5-E6C9-FA92-95D95E03147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4A1E302-8614-CF31-A38F-7CB511EB9C6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F453EA6E-2963-7072-82AC-0B458581A2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ADCC9229-DCBC-9DE1-57F4-2027C2ACCAD4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D2AB42DA-A868-DADC-066F-3D5A8AB824C5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92432C72-4963-E993-40D8-5F3AB7377D72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EC8-81F7-2E4D-3FAA-3E126B583EF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5AEFC25C-2AE5-F6FE-6CB2-6A2FC79DFA66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D0F4FC6-E3B9-44EA-DD10-3D5C2EB08E50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8C6BB99B-070B-589A-4045-4F8ABAC26A5F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711EB8C9-DCA5-BCE7-3435-CBA93155CC2C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2A821DF1-C665-ED8B-AFF0-B2BDD8EA60CB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56C81C4-9941-5331-E337-101A3912DDF3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B0CDF432-FECD-70D7-B04A-6BB79D235915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75FF24F9-5E48-34B4-CD18-B2F6B42ADE9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D4E24B3A-2502-AFA6-FF7E-2C44686B545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5415301-A8A9-EEC2-A127-A5FE039354CF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C23C198-37F9-5F0E-4D8A-2758CEA1103D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12291-224E-E41F-D301-7EDE7721AFCE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B4516-789F-08B0-5A3A-41A7B839DE35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26F152EE-1195-F0FE-A5C1-D975AED16B0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7382AEC4-5422-E1F0-9760-A2A6FF2C8BCF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CAE526EE-A0D1-DE6E-5D28-D8EB70A03589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7BC644C-9656-C02B-21A1-2FDFD3799DA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66912378-5EEC-FED4-0024-2AC3E7E9FEC9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17338826-3666-5571-C4BA-0E8B8CBCA4AA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7C0CD82-B9FA-37BE-79FD-F90F2ED655EC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3887378-0A6F-4203-C62B-AC8768883715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9685F98-A9F7-78B4-869A-F05744C2B5EA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C6428894-1462-AD69-05C0-63331AAAAC73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5F1B-4E55-865F-154C-D7C5B78FCCC2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FAB8B-5C02-9246-3D9B-C7E073678937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7588CF28-CE83-1F2F-C7A7-3B9DBFA920E4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787A69FF-8411-70FF-5E30-741E1D1029CD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S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3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9FF132E9-D4E1-0E84-A6FF-8F619F89DEAE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C24E26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C24E26"/>
                </a:solidFill>
                <a:latin typeface="Poppins" panose="00000500000000000000" pitchFamily="2" charset="0"/>
              </a:rPr>
              <a:t>D</a:t>
            </a:r>
            <a:r>
              <a:rPr lang="en-US" sz="1900" b="1">
                <a:solidFill>
                  <a:srgbClr val="C24E26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590FB4CB-0344-35A2-9932-36142F192DD9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DA205A67-9220-9E90-EF3B-CA0AFE83B813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EC0788B7-8D18-9707-BB83-D86F5481D812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B9EFDCC5-3C15-A09F-8371-9D10A1352E2B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0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0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0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D267601-A075-DE66-263D-6B698EEE516A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9245CC3A-76A5-5641-5CD2-59827495BC58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8" name="badge @5">
            <a:extLst>
              <a:ext uri="{FF2B5EF4-FFF2-40B4-BE49-F238E27FC236}">
                <a16:creationId xmlns:a16="http://schemas.microsoft.com/office/drawing/2014/main" id="{75349F06-95AA-0C12-21CE-95A812BDAB61}"/>
              </a:ext>
            </a:extLst>
          </p:cNvPr>
          <p:cNvSpPr/>
          <p:nvPr/>
        </p:nvSpPr>
        <p:spPr>
          <a:xfrm>
            <a:off x="8128000" y="6174781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49" name="lab @5">
            <a:extLst>
              <a:ext uri="{FF2B5EF4-FFF2-40B4-BE49-F238E27FC236}">
                <a16:creationId xmlns:a16="http://schemas.microsoft.com/office/drawing/2014/main" id="{758F49F0-0C4D-75CA-9C6F-7EA1CF2A120D}"/>
              </a:ext>
            </a:extLst>
          </p:cNvPr>
          <p:cNvSpPr txBox="1"/>
          <p:nvPr/>
        </p:nvSpPr>
        <p:spPr>
          <a:xfrm>
            <a:off x="8737600" y="6162081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0.89 mA would give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−0.33 V &lt;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(no channel): reject.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337DC269-81AC-A11D-B83F-2833FB04BADF}"/>
              </a:ext>
            </a:extLst>
          </p:cNvPr>
          <p:cNvSpPr txBox="1"/>
          <p:nvPr/>
        </p:nvSpPr>
        <p:spPr>
          <a:xfrm>
            <a:off x="8737600" y="6520658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So </a:t>
            </a:r>
            <a:r>
              <a:rPr lang="en-US" sz="20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 = 0.5 mA and </a:t>
            </a:r>
            <a:r>
              <a:rPr lang="en-US" sz="20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 = 2 V.</a:t>
            </a:r>
          </a:p>
        </p:txBody>
      </p:sp>
      <p:sp>
        <p:nvSpPr>
          <p:cNvPr id="51" name="badge @6">
            <a:extLst>
              <a:ext uri="{FF2B5EF4-FFF2-40B4-BE49-F238E27FC236}">
                <a16:creationId xmlns:a16="http://schemas.microsoft.com/office/drawing/2014/main" id="{C7579851-94D4-AAD3-F1DD-365FECD6FDE0}"/>
              </a:ext>
            </a:extLst>
          </p:cNvPr>
          <p:cNvSpPr/>
          <p:nvPr/>
        </p:nvSpPr>
        <p:spPr>
          <a:xfrm>
            <a:off x="8128000" y="704433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p:sp>
        <p:nvSpPr>
          <p:cNvPr id="52" name="lab @6">
            <a:extLst>
              <a:ext uri="{FF2B5EF4-FFF2-40B4-BE49-F238E27FC236}">
                <a16:creationId xmlns:a16="http://schemas.microsoft.com/office/drawing/2014/main" id="{F3DE4C38-EFC5-7AD5-99FA-83292EAA7450}"/>
              </a:ext>
            </a:extLst>
          </p:cNvPr>
          <p:cNvSpPr txBox="1"/>
          <p:nvPr/>
        </p:nvSpPr>
        <p:spPr>
          <a:xfrm>
            <a:off x="8737600" y="7031635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Drain voltage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eq @6">
                <a:extLst>
                  <a:ext uri="{FF2B5EF4-FFF2-40B4-BE49-F238E27FC236}">
                    <a16:creationId xmlns:a16="http://schemas.microsoft.com/office/drawing/2014/main" id="{830C53CB-CE47-5DCB-14FE-1D199381B09A}"/>
                  </a:ext>
                </a:extLst>
              </p:cNvPr>
              <p:cNvSpPr txBox="1"/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eq @6">
                <a:extLst>
                  <a:ext uri="{FF2B5EF4-FFF2-40B4-BE49-F238E27FC236}">
                    <a16:creationId xmlns:a16="http://schemas.microsoft.com/office/drawing/2014/main" id="{830C53CB-CE47-5DCB-14FE-1D199381B09A}"/>
                  </a:ext>
                </a:extLst>
              </p:cNvPr>
              <p:cNvSpPr txBox="1"/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4" name="answer @6">
            <a:extLst>
              <a:ext uri="{FF2B5EF4-FFF2-40B4-BE49-F238E27FC236}">
                <a16:creationId xmlns:a16="http://schemas.microsoft.com/office/drawing/2014/main" id="{D8469925-20FA-22DA-4A3D-71DDF1AC5DC7}"/>
              </a:ext>
            </a:extLst>
          </p:cNvPr>
          <p:cNvSpPr/>
          <p:nvPr/>
        </p:nvSpPr>
        <p:spPr>
          <a:xfrm>
            <a:off x="8737600" y="8018862"/>
            <a:ext cx="2174240" cy="57912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nswer @6">
            <a:extLst>
              <a:ext uri="{FF2B5EF4-FFF2-40B4-BE49-F238E27FC236}">
                <a16:creationId xmlns:a16="http://schemas.microsoft.com/office/drawing/2014/main" id="{6890E86E-D3B4-D35E-51F6-215974267B53}"/>
              </a:ext>
            </a:extLst>
          </p:cNvPr>
          <p:cNvSpPr txBox="1"/>
          <p:nvPr/>
        </p:nvSpPr>
        <p:spPr>
          <a:xfrm>
            <a:off x="8737600" y="8018861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56" name="check @6">
            <a:extLst>
              <a:ext uri="{FF2B5EF4-FFF2-40B4-BE49-F238E27FC236}">
                <a16:creationId xmlns:a16="http://schemas.microsoft.com/office/drawing/2014/main" id="{53A9047B-7F49-661D-97CA-F842C03DC39B}"/>
              </a:ext>
            </a:extLst>
          </p:cNvPr>
          <p:cNvSpPr txBox="1"/>
          <p:nvPr/>
        </p:nvSpPr>
        <p:spPr>
          <a:xfrm>
            <a:off x="11216640" y="8044261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1 V: saturation holds.</a:t>
            </a:r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FBF65969-13AD-8E94-71D4-3DD28D47BE1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1320CA34-46CD-142C-C79F-F08272EA5C8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013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2A773D-B84E-85A6-2BB3-B4D64196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A5DAC63-D1FB-6676-A789-8934ECA4D4C5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8792473-DA95-FDDD-C657-43F3B2135E9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4980BC2-4853-FB4D-A499-763227DFE2B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432F827-EB54-A55A-1487-7F58BD27E27F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oundRect">
            <a:avLst>
              <a:gd name="adj" fmla="val 36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8E9D72E-877E-2C54-FA19-7C5F62833E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2DE1140-8170-E611-98B1-4D171726026E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C4CC60AA-82EA-F697-9B6A-D67E57FE1BF3}"/>
              </a:ext>
            </a:extLst>
          </p:cNvPr>
          <p:cNvSpPr txBox="1"/>
          <p:nvPr/>
        </p:nvSpPr>
        <p:spPr>
          <a:xfrm>
            <a:off x="914400" y="2349500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1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SET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 its current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REF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and with it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65837E36-2BDD-1E8F-6D4D-DE20D627C7CF}"/>
              </a:ext>
            </a:extLst>
          </p:cNvPr>
          <p:cNvSpPr txBox="1"/>
          <p:nvPr/>
        </p:nvSpPr>
        <p:spPr>
          <a:xfrm>
            <a:off x="914400" y="3367757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2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has the same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C76E998D-714D-B7F2-C71D-3CCA3ED891CA}"/>
                  </a:ext>
                </a:extLst>
              </p:cNvPr>
              <p:cNvSpPr txBox="1"/>
              <p:nvPr/>
            </p:nvSpPr>
            <p:spPr>
              <a:xfrm>
                <a:off x="1244600" y="4386013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000" b="0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7262E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C76E998D-714D-B7F2-C71D-3CCA3ED891CA}"/>
                  </a:ext>
                </a:extLst>
              </p:cNvPr>
              <p:cNvSpPr txBox="1"/>
              <p:nvPr/>
            </p:nvSpPr>
            <p:spPr>
              <a:xfrm>
                <a:off x="1244600" y="4386013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\frac{I_O}{I_{REF}} = \frac{(W/L)_2}{(W/L)_1}</a:t>
                </a:r>
              </a:p>
            </p:txBody>
          </p:sp>
        </mc:Fallback>
      </mc:AlternateContent>
      <p:sp>
        <p:nvSpPr>
          <p:cNvPr id="13" name="point @3">
            <a:extLst>
              <a:ext uri="{FF2B5EF4-FFF2-40B4-BE49-F238E27FC236}">
                <a16:creationId xmlns:a16="http://schemas.microsoft.com/office/drawing/2014/main" id="{BFCD3D1C-BE7E-ABDF-88BC-FA5F23AC9364}"/>
              </a:ext>
            </a:extLst>
          </p:cNvPr>
          <p:cNvSpPr txBox="1"/>
          <p:nvPr/>
        </p:nvSpPr>
        <p:spPr>
          <a:xfrm>
            <a:off x="914400" y="5656014"/>
            <a:ext cx="8128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Identical transistors copy the current: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O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REF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9F2DE61B-B94D-763F-48DA-0A5267608B8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DAF14B35-D779-75C6-EDD8-9B9F492BC37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89155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D7EA6E31-B96D-E4A2-C42B-98272727CBC6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19D34D7-2A36-36C3-7132-F72157FC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88F069C9-C66B-A7A2-2576-EF513AF3059F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07D33C48-300D-3C92-EBEE-34875E31B78F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load line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B615FA4C-FF4B-D2D2-8E5D-843EFDEB0CAF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Transconductance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m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03269BC5-265A-D3D7-2678-421B19923ED5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Small-signal models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3B241568-5C8C-DAF6-32F9-27BC659FFB42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Example: gain and input resistance</a:t>
            </a:r>
          </a:p>
        </p:txBody>
      </p:sp>
      <p:cxnSp>
        <p:nvCxnSpPr>
          <p:cNvPr id="9" name="motif">
            <a:extLst>
              <a:ext uri="{FF2B5EF4-FFF2-40B4-BE49-F238E27FC236}">
                <a16:creationId xmlns:a16="http://schemas.microsoft.com/office/drawing/2014/main" id="{CECE76DA-79CE-078D-2DAF-31B8365E1EFF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71608FDC-7908-73AA-2838-DCF535B1B1CF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BD21FAB2-1D6A-A387-7A26-652FC895C90C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B50743B6-8528-89E7-3926-9117BB71CAE8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FEFA554E-CC16-10EF-097A-A0525256A400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otif">
            <a:extLst>
              <a:ext uri="{FF2B5EF4-FFF2-40B4-BE49-F238E27FC236}">
                <a16:creationId xmlns:a16="http://schemas.microsoft.com/office/drawing/2014/main" id="{1B204892-F740-BAD8-6871-35397AF79168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816CEC01-4F73-AE6C-D483-EB1B91CD1D38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7978DD2C-392C-B863-94F0-57DB34A66447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DD192C4A-508F-6A75-8E17-30F001C4BBB2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FBF2968C-20C1-09F0-D2E4-3505FEB8B9B1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9B6B9D99-D190-AA29-5260-4F0ECB2B1042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98AE38AF-581A-B853-19EE-6344C45A58CD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22B3A441-BB1E-B191-8A4A-D62DE24F104E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7C216486-AA41-E34D-9ADD-D151B37844C4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EF3A836B-CE1E-BDE1-C5C5-3E66603729FD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EDC650FE-FDB0-9815-6524-C86D2FF1C151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7D20D343-BAE0-E5B5-6AE5-ACD58636C5BB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   The MOSFET as an amplifier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6AE49EF9-DF06-1589-537C-C06C3D525CB5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94744E91-8854-DA2D-9205-EC5C9A2801C9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800679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5B97C7E-E3D1-8126-F156-96588EB2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58526A2-390C-1DD4-FC88-653A3BBB7D19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FBD53CD-0808-B1D0-067F-4198C5DA9CA2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E183E97-1D2E-DD01-C430-CDB2C68D3DC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45F5C35-C093-7397-67F0-14642636873A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CE36650-7B20-8200-EF72-AE514BAC09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02095DC-783C-A7F0-D155-0632F69386AE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E31FB0A1-9A2C-91EF-BDCF-CD1A2891DF00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76F2FE99-3A7A-811B-4F9E-A89C94257C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82F84908-DB2E-7F71-0029-9C0F2FD33E87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v_{DS} = V_{DD} - R_D\,i_D</a:t>
                </a:r>
              </a:p>
            </p:txBody>
          </p:sp>
        </mc:Fallback>
      </mc:AlternateContent>
      <p:sp>
        <p:nvSpPr>
          <p:cNvPr id="15" name="point @2">
            <a:extLst>
              <a:ext uri="{FF2B5EF4-FFF2-40B4-BE49-F238E27FC236}">
                <a16:creationId xmlns:a16="http://schemas.microsoft.com/office/drawing/2014/main" id="{21D2DC23-7DA8-690C-BA38-1348BBFDA6DF}"/>
              </a:ext>
            </a:extLst>
          </p:cNvPr>
          <p:cNvSpPr txBox="1"/>
          <p:nvPr/>
        </p:nvSpPr>
        <p:spPr>
          <a:xfrm>
            <a:off x="13335000" y="3175000"/>
            <a:ext cx="4038600" cy="6746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Bias the MOSFET in saturation, between A and B.</a:t>
            </a:r>
          </a:p>
        </p:txBody>
      </p:sp>
      <p:sp>
        <p:nvSpPr>
          <p:cNvPr id="16" name="point @3">
            <a:extLst>
              <a:ext uri="{FF2B5EF4-FFF2-40B4-BE49-F238E27FC236}">
                <a16:creationId xmlns:a16="http://schemas.microsoft.com/office/drawing/2014/main" id="{8632E728-B9AD-5CEC-4DA6-D6FBBA4B9CBA}"/>
              </a:ext>
            </a:extLst>
          </p:cNvPr>
          <p:cNvSpPr txBox="1"/>
          <p:nvPr/>
        </p:nvSpPr>
        <p:spPr>
          <a:xfrm>
            <a:off x="13335000" y="4129008"/>
            <a:ext cx="4038600" cy="10139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A small change in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moves the operating point along the line: a </a:t>
            </a:r>
            <a:r>
              <a:rPr lang="en-US" sz="2100" b="1">
                <a:solidFill>
                  <a:srgbClr val="17262E"/>
                </a:solidFill>
                <a:latin typeface="Nunito" pitchFamily="2" charset="0"/>
              </a:rPr>
              <a:t>large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change in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DA7B882C-2E0A-37E0-506D-ECC11286037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rome page">
            <a:extLst>
              <a:ext uri="{FF2B5EF4-FFF2-40B4-BE49-F238E27FC236}">
                <a16:creationId xmlns:a16="http://schemas.microsoft.com/office/drawing/2014/main" id="{0BBA1116-B32F-9605-6B6F-98C247511F8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44469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037E92-0379-F9E6-8800-B1BCF456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operation: the transconductance g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A097A08-B839-6A20-549A-7B7785113A1E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881771A-3790-870F-45A3-E0015CB5ED3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77DFFE6-DB45-570D-895F-F7D16BCDBDE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8B8A7860-9541-8FA3-AC7A-2F1127E2072D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9101525E-A5B9-3B43-6379-1F1D3CC57150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V_{GS} + v_{gs}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2152C93C-EF67-47B0-F1D1-5527096BB40B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A220BE85-6042-834D-8279-0A120124BC81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\frac{1}{2}k_n^{\prime}\frac{W}{L}(V_{GS}-V_t)^2 + k_n^{\prime}\frac{W}{L}(V_{GS}-V_t)\,v_{gs} + \frac{1}{2}k_n^{\prime}\frac{W}{L}\,v_{gs}^2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D8AAFC17-0245-7A94-0D4E-13DC2F1071AF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C0EFF2FA-CFE5-D67D-943E-DFC95CDE499D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If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≪ 2(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304F73B6-0813-7019-9468-B2DF22DC6F1A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𝑑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304F73B6-0813-7019-9468-B2DF22DC6F1A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g_m v_{gs},\ \ \ \ \ g_m = k_n^{\prime}\frac{W}{L}\,(V_{GS}-V_t)</a:t>
                </a:r>
              </a:p>
            </p:txBody>
          </p:sp>
        </mc:Fallback>
      </mc:AlternateContent>
      <p:sp>
        <p:nvSpPr>
          <p:cNvPr id="15" name="badge @4">
            <a:extLst>
              <a:ext uri="{FF2B5EF4-FFF2-40B4-BE49-F238E27FC236}">
                <a16:creationId xmlns:a16="http://schemas.microsoft.com/office/drawing/2014/main" id="{504BB481-D581-5B99-0411-EA593A575FB7}"/>
              </a:ext>
            </a:extLst>
          </p:cNvPr>
          <p:cNvSpPr/>
          <p:nvPr/>
        </p:nvSpPr>
        <p:spPr>
          <a:xfrm>
            <a:off x="914400" y="598091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16" name="lab @4">
            <a:extLst>
              <a:ext uri="{FF2B5EF4-FFF2-40B4-BE49-F238E27FC236}">
                <a16:creationId xmlns:a16="http://schemas.microsoft.com/office/drawing/2014/main" id="{3C72730F-E3D4-6B4C-6DFF-E0B8A27B545C}"/>
              </a:ext>
            </a:extLst>
          </p:cNvPr>
          <p:cNvSpPr txBox="1"/>
          <p:nvPr/>
        </p:nvSpPr>
        <p:spPr>
          <a:xfrm>
            <a:off x="1524000" y="596821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With a drain resistor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, the voltage gain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653A0E39-B842-0CAF-48BD-022CBAE5D682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𝑔𝑠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653A0E39-B842-0CAF-48BD-022CBAE5D682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A_v = \frac{v_{ds}}{v_{gs}} = -g_m R_D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00298733-BB9A-3F2C-76C9-09455F873D2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181A5EFE-0C67-5B0E-8DBE-03D3D89873C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22122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E8FB40F-74F5-8316-38CA-2A2D19955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6CFD6C9-B6EE-D371-244F-674B8A2B8B8A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D979C88-9ED9-ECA1-2570-255351AD6C9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A5273AE-4B48-D8F9-F381-C4C38DEA598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4EBA9D08-826A-A314-D649-06BE235ADD0F}"/>
              </a:ext>
            </a:extLst>
          </p:cNvPr>
          <p:cNvSpPr/>
          <p:nvPr/>
        </p:nvSpPr>
        <p:spPr>
          <a:xfrm>
            <a:off x="1336425" y="2095500"/>
            <a:ext cx="7029950" cy="50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EF10550-B8C8-4F3D-99EF-14D6BCA9E2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25" y="2349500"/>
            <a:ext cx="6521951" cy="4343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80E9512-045A-B3BA-9BAE-C46E59FCDA8F}"/>
              </a:ext>
            </a:extLst>
          </p:cNvPr>
          <p:cNvSpPr txBox="1"/>
          <p:nvPr/>
        </p:nvSpPr>
        <p:spPr>
          <a:xfrm>
            <a:off x="1590425" y="6819900"/>
            <a:ext cx="652195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742DBB6B-AC6D-8B5E-994B-7CC8D649FFE4}"/>
              </a:ext>
            </a:extLst>
          </p:cNvPr>
          <p:cNvSpPr/>
          <p:nvPr/>
        </p:nvSpPr>
        <p:spPr>
          <a:xfrm>
            <a:off x="9499600" y="2095500"/>
            <a:ext cx="7874000" cy="4975597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EBF474BA-5183-6F4E-2E96-923F4E538F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349500"/>
            <a:ext cx="7366000" cy="4238997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AF93CD00-0B6D-08E8-6750-FF3D7BA2FCA2}"/>
              </a:ext>
            </a:extLst>
          </p:cNvPr>
          <p:cNvSpPr txBox="1"/>
          <p:nvPr/>
        </p:nvSpPr>
        <p:spPr>
          <a:xfrm>
            <a:off x="9753600" y="6715498"/>
            <a:ext cx="736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4" name="point @1">
            <a:extLst>
              <a:ext uri="{FF2B5EF4-FFF2-40B4-BE49-F238E27FC236}">
                <a16:creationId xmlns:a16="http://schemas.microsoft.com/office/drawing/2014/main" id="{11F0897F-A486-F70A-BF8F-BC1B8DFAB52C}"/>
              </a:ext>
            </a:extLst>
          </p:cNvPr>
          <p:cNvSpPr txBox="1"/>
          <p:nvPr/>
        </p:nvSpPr>
        <p:spPr>
          <a:xfrm>
            <a:off x="914400" y="7620000"/>
            <a:ext cx="7874000" cy="706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; no current into the gate.</a:t>
            </a:r>
          </a:p>
        </p:txBody>
      </p:sp>
      <p:sp>
        <p:nvSpPr>
          <p:cNvPr id="15" name="point @2">
            <a:extLst>
              <a:ext uri="{FF2B5EF4-FFF2-40B4-BE49-F238E27FC236}">
                <a16:creationId xmlns:a16="http://schemas.microsoft.com/office/drawing/2014/main" id="{11D88A6B-9263-EBD9-0291-010880775583}"/>
              </a:ext>
            </a:extLst>
          </p:cNvPr>
          <p:cNvSpPr txBox="1"/>
          <p:nvPr/>
        </p:nvSpPr>
        <p:spPr>
          <a:xfrm>
            <a:off x="9499600" y="7620000"/>
            <a:ext cx="7874000" cy="706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Adding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o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/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models the slight slope of the saturation curves (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: the Early voltage).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3EFE292D-CF09-4C6B-2CF5-9698BEB870C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rome page">
            <a:extLst>
              <a:ext uri="{FF2B5EF4-FFF2-40B4-BE49-F238E27FC236}">
                <a16:creationId xmlns:a16="http://schemas.microsoft.com/office/drawing/2014/main" id="{D9C2770B-A4A5-2350-FE87-40076CC8FB5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08086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48CCF1-765E-8BC5-8A67-642DB417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C79A94B-94E2-E5D3-3E0B-54BA46974795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4C51EC-DDF6-7FAA-8EC2-72642D6F9DE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444CCEB-6CAF-0862-955E-DBC98E109D3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70199558-5D26-086A-3034-D60300AEBBF9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1.5 V, k′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(W/L) = 0.25 mA/V²,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o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/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and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234A51B-71A3-B341-54D0-DAC0729735F1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54F45B8-1984-C39A-6025-F27E58CFFF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C7B6F0F-A146-329B-6968-BCDEF3F8A785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F41BA21-C3BE-B8D6-13C8-280665777F4D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9DEA81D9-6F16-E5C3-56D9-F00C33B0767A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DC: no gate current, so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 (I in mA)</a:t>
            </a:r>
            <a:endParaRPr lang="en-US" sz="19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15 - 10I_D,\ \ \ \ \ I_D = \frac{1}{2}(0.25)\,(V_D-1.5)^2</a:t>
                </a:r>
              </a:p>
            </p:txBody>
          </p:sp>
        </mc:Fallback>
      </mc:AlternateContent>
      <p:sp>
        <p:nvSpPr>
          <p:cNvPr id="14" name="lab @2">
            <a:extLst>
              <a:ext uri="{FF2B5EF4-FFF2-40B4-BE49-F238E27FC236}">
                <a16:creationId xmlns:a16="http://schemas.microsoft.com/office/drawing/2014/main" id="{E050A257-62AB-2E53-FD45-76F1A444164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1.06 mA, 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4.4 V</a:t>
            </a:r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17F77B56-BDFD-6977-EF43-1D6987079630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6" name="lab @3">
            <a:extLst>
              <a:ext uri="{FF2B5EF4-FFF2-40B4-BE49-F238E27FC236}">
                <a16:creationId xmlns:a16="http://schemas.microsoft.com/office/drawing/2014/main" id="{43FEBDA8-4927-0C35-8C42-7A9177B3EB6E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Small-signal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=0.25(4.4−1.5)=0.728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=47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g_m = 0.25\,(4.4-1.5) = 0.728\ \mathrm{mA/V},\ \ \ \ \ r_o = \frac{50}{1.06} = 47\ \mathrm{k}\Omega</a:t>
                </a:r>
              </a:p>
            </p:txBody>
          </p:sp>
        </mc:Fallback>
      </mc:AlternateContent>
      <p:sp>
        <p:nvSpPr>
          <p:cNvPr id="18" name="badge @4">
            <a:extLst>
              <a:ext uri="{FF2B5EF4-FFF2-40B4-BE49-F238E27FC236}">
                <a16:creationId xmlns:a16="http://schemas.microsoft.com/office/drawing/2014/main" id="{8C1C7B64-D6AB-9856-778D-FC5E1CFF1FE6}"/>
              </a:ext>
            </a:extLst>
          </p:cNvPr>
          <p:cNvSpPr/>
          <p:nvPr/>
        </p:nvSpPr>
        <p:spPr>
          <a:xfrm>
            <a:off x="8128000" y="543392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9" name="lab @4">
            <a:extLst>
              <a:ext uri="{FF2B5EF4-FFF2-40B4-BE49-F238E27FC236}">
                <a16:creationId xmlns:a16="http://schemas.microsoft.com/office/drawing/2014/main" id="{BCFF208D-2C0E-574B-19D3-2C4D775FD3B6}"/>
              </a:ext>
            </a:extLst>
          </p:cNvPr>
          <p:cNvSpPr txBox="1"/>
          <p:nvPr/>
        </p:nvSpPr>
        <p:spPr>
          <a:xfrm>
            <a:off x="8737600" y="5421224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Gain (</a:t>
            </a:r>
            <a:r>
              <a:rPr lang="en-US" sz="19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 carries negligible signal current)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 @4">
                <a:extLst>
                  <a:ext uri="{FF2B5EF4-FFF2-40B4-BE49-F238E27FC236}">
                    <a16:creationId xmlns:a16="http://schemas.microsoft.com/office/drawing/2014/main" id="{BF8164F1-E827-AD1C-111B-CE141B7AFB8F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)=−0.728(4.52)=−3.29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 @4">
                <a:extLst>
                  <a:ext uri="{FF2B5EF4-FFF2-40B4-BE49-F238E27FC236}">
                    <a16:creationId xmlns:a16="http://schemas.microsoft.com/office/drawing/2014/main" id="{BF8164F1-E827-AD1C-111B-CE141B7AFB8F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A_v \approx -g_m\,(R_D\,\|\,R_L\,\|\,r_o) = -0.728\,(4.52) = −3.29\ \mathrm{V/V}</a:t>
                </a:r>
              </a:p>
            </p:txBody>
          </p:sp>
        </mc:Fallback>
      </mc:AlternateContent>
      <p:sp>
        <p:nvSpPr>
          <p:cNvPr id="21" name="badge @5">
            <a:extLst>
              <a:ext uri="{FF2B5EF4-FFF2-40B4-BE49-F238E27FC236}">
                <a16:creationId xmlns:a16="http://schemas.microsoft.com/office/drawing/2014/main" id="{EF657968-9F6B-16FF-F053-B20E0CECC1BD}"/>
              </a:ext>
            </a:extLst>
          </p:cNvPr>
          <p:cNvSpPr/>
          <p:nvPr/>
        </p:nvSpPr>
        <p:spPr>
          <a:xfrm>
            <a:off x="8128000" y="6418462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22" name="lab @5">
            <a:extLst>
              <a:ext uri="{FF2B5EF4-FFF2-40B4-BE49-F238E27FC236}">
                <a16:creationId xmlns:a16="http://schemas.microsoft.com/office/drawing/2014/main" id="{8A3375EB-179B-0BB2-27BD-FCB0A3B6EB37}"/>
              </a:ext>
            </a:extLst>
          </p:cNvPr>
          <p:cNvSpPr txBox="1"/>
          <p:nvPr/>
        </p:nvSpPr>
        <p:spPr>
          <a:xfrm>
            <a:off x="8737600" y="6405762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Input resistance: </a:t>
            </a:r>
            <a:r>
              <a:rPr lang="en-US" sz="19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 bridges input and output (Miller effect)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q @5">
                <a:extLst>
                  <a:ext uri="{FF2B5EF4-FFF2-40B4-BE49-F238E27FC236}">
                    <a16:creationId xmlns:a16="http://schemas.microsoft.com/office/drawing/2014/main" id="{494D8D52-9F07-0932-D3D2-506F9B870C81}"/>
                  </a:ext>
                </a:extLst>
              </p:cNvPr>
              <p:cNvSpPr txBox="1"/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𝑖𝑛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 i="1">
                              <a:solidFill>
                                <a:srgbClr val="17262E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</m:sub>
                          </m:sSub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4.29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=2.33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M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eq @5">
                <a:extLst>
                  <a:ext uri="{FF2B5EF4-FFF2-40B4-BE49-F238E27FC236}">
                    <a16:creationId xmlns:a16="http://schemas.microsoft.com/office/drawing/2014/main" id="{494D8D52-9F07-0932-D3D2-506F9B870C81}"/>
                  </a:ext>
                </a:extLst>
              </p:cNvPr>
              <p:cNvSpPr txBox="1"/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R_{in} = \frac{R_G}{1-A_v} = \frac{10}{4.29} = 2.33\ \mathrm{M}\Omega</a:t>
                </a:r>
              </a:p>
            </p:txBody>
          </p:sp>
        </mc:Fallback>
      </mc:AlternateContent>
      <p:sp>
        <p:nvSpPr>
          <p:cNvPr id="24" name="answer @5">
            <a:extLst>
              <a:ext uri="{FF2B5EF4-FFF2-40B4-BE49-F238E27FC236}">
                <a16:creationId xmlns:a16="http://schemas.microsoft.com/office/drawing/2014/main" id="{D19F656F-8137-FC49-B2D6-9CA8D3A9A46B}"/>
              </a:ext>
            </a:extLst>
          </p:cNvPr>
          <p:cNvSpPr/>
          <p:nvPr/>
        </p:nvSpPr>
        <p:spPr>
          <a:xfrm>
            <a:off x="8737600" y="7547780"/>
            <a:ext cx="2890520" cy="53086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nswer @5">
            <a:extLst>
              <a:ext uri="{FF2B5EF4-FFF2-40B4-BE49-F238E27FC236}">
                <a16:creationId xmlns:a16="http://schemas.microsoft.com/office/drawing/2014/main" id="{F9F26032-A7C0-9E44-3A08-CC99AE8CF08A}"/>
              </a:ext>
            </a:extLst>
          </p:cNvPr>
          <p:cNvSpPr txBox="1"/>
          <p:nvPr/>
        </p:nvSpPr>
        <p:spPr>
          <a:xfrm>
            <a:off x="873760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Poppins" panose="00000500000000000000" pitchFamily="2" charset="0"/>
              </a:rPr>
              <a:t>A</a:t>
            </a:r>
            <a:r>
              <a:rPr lang="en-US" sz="22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200" b="1">
                <a:solidFill>
                  <a:srgbClr val="FFFFFF"/>
                </a:solidFill>
                <a:latin typeface="Poppins" panose="00000500000000000000" pitchFamily="2" charset="0"/>
              </a:rPr>
              <a:t> ≈ −3.3 V/V</a:t>
            </a:r>
          </a:p>
        </p:txBody>
      </p:sp>
      <p:sp>
        <p:nvSpPr>
          <p:cNvPr id="26" name="answer @5">
            <a:extLst>
              <a:ext uri="{FF2B5EF4-FFF2-40B4-BE49-F238E27FC236}">
                <a16:creationId xmlns:a16="http://schemas.microsoft.com/office/drawing/2014/main" id="{D8B2A317-014C-0771-5A3B-574C91C4CF62}"/>
              </a:ext>
            </a:extLst>
          </p:cNvPr>
          <p:cNvSpPr/>
          <p:nvPr/>
        </p:nvSpPr>
        <p:spPr>
          <a:xfrm>
            <a:off x="11882120" y="7547780"/>
            <a:ext cx="2890519" cy="53086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nswer @5">
            <a:extLst>
              <a:ext uri="{FF2B5EF4-FFF2-40B4-BE49-F238E27FC236}">
                <a16:creationId xmlns:a16="http://schemas.microsoft.com/office/drawing/2014/main" id="{0E5275BE-4E0E-D565-4C72-2AF13A4ED034}"/>
              </a:ext>
            </a:extLst>
          </p:cNvPr>
          <p:cNvSpPr txBox="1"/>
          <p:nvPr/>
        </p:nvSpPr>
        <p:spPr>
          <a:xfrm>
            <a:off x="1188212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Poppins" panose="00000500000000000000" pitchFamily="2" charset="0"/>
              </a:rPr>
              <a:t>R</a:t>
            </a:r>
            <a:r>
              <a:rPr lang="en-US" sz="22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in</a:t>
            </a:r>
            <a:r>
              <a:rPr lang="en-US" sz="2200" b="1">
                <a:solidFill>
                  <a:srgbClr val="FFFFFF"/>
                </a:solidFill>
                <a:latin typeface="Poppins" panose="00000500000000000000" pitchFamily="2" charset="0"/>
              </a:rPr>
              <a:t> = 2.33 M</a:t>
            </a:r>
            <a:r>
              <a:rPr lang="el-GR" sz="2200" b="1">
                <a:solidFill>
                  <a:srgbClr val="FFFFFF"/>
                </a:solidFill>
              </a:rPr>
              <a:t>Ω</a:t>
            </a:r>
            <a:endParaRPr lang="en-US" sz="2200" b="1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D3AC25C-08E8-C5A4-7F79-BB31B496B8A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F8BF099F-F8B0-E15F-4D97-74C6C779E11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14812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5D073DAB-5D3A-84E1-8250-62CECA626F5E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13C9A11-F799-8A5E-B24F-5584D70D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63272DB8-FE7A-6287-74EA-5279715B2A16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C2813172-8C9A-A88A-6857-D2706776A3C0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Cutoff: an open switch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45A5053E-CAB3-2D73-D4BF-5D207EFBC653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Deep triode: a closed switch</a:t>
            </a:r>
          </a:p>
        </p:txBody>
      </p:sp>
      <p:cxnSp>
        <p:nvCxnSpPr>
          <p:cNvPr id="7" name="motif">
            <a:extLst>
              <a:ext uri="{FF2B5EF4-FFF2-40B4-BE49-F238E27FC236}">
                <a16:creationId xmlns:a16="http://schemas.microsoft.com/office/drawing/2014/main" id="{ACC1E6F8-538A-C3DB-251C-EDB0EC8F5839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otif">
            <a:extLst>
              <a:ext uri="{FF2B5EF4-FFF2-40B4-BE49-F238E27FC236}">
                <a16:creationId xmlns:a16="http://schemas.microsoft.com/office/drawing/2014/main" id="{D1B0CBEA-2192-B67C-4C45-624551195D5B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E19E9AB6-960F-3D7C-1435-F5EFAAC958E1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33307E76-960F-F975-0794-B1233E415D6B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6C6951BF-1264-8B23-6E21-B3BF2692DEA8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otif">
            <a:extLst>
              <a:ext uri="{FF2B5EF4-FFF2-40B4-BE49-F238E27FC236}">
                <a16:creationId xmlns:a16="http://schemas.microsoft.com/office/drawing/2014/main" id="{606D7A4D-6A5B-6489-0684-A6B5FE091CEA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tif">
            <a:extLst>
              <a:ext uri="{FF2B5EF4-FFF2-40B4-BE49-F238E27FC236}">
                <a16:creationId xmlns:a16="http://schemas.microsoft.com/office/drawing/2014/main" id="{D4F13391-9311-57A5-1A14-B9A1BA3A028B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F9A299FA-6786-AD85-BCD8-D47A75977BED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B98B62B5-1B34-124E-7C0A-09A238176E67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B03727DF-BE46-C6DD-A91E-211557BCB659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DBF945BD-1594-1B0B-4302-1BC6467B4D32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915F6DF9-DD36-9501-BCD6-93E71609F2BC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1A8A0AD0-26D1-5010-5775-8A9DCF3795CE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81718F7F-3800-4EB7-782C-45A3349BDA57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9BF90A51-46B9-21CB-B1FE-F5D44EF541A9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D81F7DAD-3A53-C6E1-65C1-9358662F8A6E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586E2423-1AF3-0820-D240-31875AE7443D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D16AD227-A692-5308-AD51-0393F8D4B48A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85FD6BA-E3C9-DC42-32F5-4B28A7DCD401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215696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A92425-0EF7-878E-488C-8DFD73F0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FFF5B7E-73DD-6723-80CD-0207E5FFEBFA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970616F-4DE1-7A45-C467-63A8384CE169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D275CC-EEA7-AFD9-19B7-74A0566688B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0CA32BC-4DD3-8937-8E1F-1460DA821A4D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9720E94-8E73-ECFE-FE6A-9BAF0CB396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01AB9A50-C94E-095B-5690-96288453E92A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44D2A96-1B5A-A158-2216-BA2D44C6A241}"/>
              </a:ext>
            </a:extLst>
          </p:cNvPr>
          <p:cNvSpPr txBox="1"/>
          <p:nvPr/>
        </p:nvSpPr>
        <p:spPr>
          <a:xfrm>
            <a:off x="9652000" y="2413000"/>
            <a:ext cx="7721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cutoff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open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35131E4-3B4C-BD0A-5B8E-944E0E7FC4DC}"/>
              </a:ext>
            </a:extLst>
          </p:cNvPr>
          <p:cNvSpPr txBox="1"/>
          <p:nvPr/>
        </p:nvSpPr>
        <p:spPr>
          <a:xfrm>
            <a:off x="9652000" y="3075582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high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small: deep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closed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with a small resistance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BBF26C29-F961-2F73-86B6-B403BF6E0250}"/>
              </a:ext>
            </a:extLst>
          </p:cNvPr>
          <p:cNvSpPr txBox="1"/>
          <p:nvPr/>
        </p:nvSpPr>
        <p:spPr>
          <a:xfrm>
            <a:off x="9652000" y="4125962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Driving the gate between these two states is the basis of digital logic.</a:t>
            </a:r>
          </a:p>
        </p:txBody>
      </p:sp>
      <p:sp>
        <p:nvSpPr>
          <p:cNvPr id="7" name="chrome page">
            <a:extLst>
              <a:ext uri="{FF2B5EF4-FFF2-40B4-BE49-F238E27FC236}">
                <a16:creationId xmlns:a16="http://schemas.microsoft.com/office/drawing/2014/main" id="{D1121CEF-F999-F22A-83D7-2C138F19E80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ADCACC52-D3F8-D79D-9AC6-2FA5286E3E7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86555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: three regions of oper s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2E5E4EE-E1EC-19EF-21F2-4EDD7149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9D4F283-4F08-7DDC-7D56-7E407455714C}"/>
              </a:ext>
            </a:extLst>
          </p:cNvPr>
          <p:cNvSpPr/>
          <p:nvPr/>
        </p:nvSpPr>
        <p:spPr>
          <a:xfrm>
            <a:off x="914400" y="279400"/>
            <a:ext cx="241655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F71A25F-DF1A-2197-6D5D-11D9B76E693E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52F93C4-92B7-F615-81F3-AA5EA3BA835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6AB4F14F-427A-1F7A-9A73-F19AFBFFACF0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D71FC81F-8490-00FF-3198-E7295E0BE98B}"/>
              </a:ext>
            </a:extLst>
          </p:cNvPr>
          <p:cNvSpPr txBox="1"/>
          <p:nvPr/>
        </p:nvSpPr>
        <p:spPr>
          <a:xfrm>
            <a:off x="1219200" y="2285999"/>
            <a:ext cx="2819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820ECA0E-6685-E807-AEC5-45163C6D1CC3}"/>
              </a:ext>
            </a:extLst>
          </p:cNvPr>
          <p:cNvSpPr txBox="1"/>
          <p:nvPr/>
        </p:nvSpPr>
        <p:spPr>
          <a:xfrm>
            <a:off x="4343400" y="2285999"/>
            <a:ext cx="5156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75EBD108-F3F3-FBBB-8F3E-64C0D7E720EB}"/>
              </a:ext>
            </a:extLst>
          </p:cNvPr>
          <p:cNvSpPr txBox="1"/>
          <p:nvPr/>
        </p:nvSpPr>
        <p:spPr>
          <a:xfrm>
            <a:off x="9804400" y="2285999"/>
            <a:ext cx="7569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AB800673-6783-DE12-9B23-7F5E9D48AC01}"/>
              </a:ext>
            </a:extLst>
          </p:cNvPr>
          <p:cNvSpPr txBox="1"/>
          <p:nvPr/>
        </p:nvSpPr>
        <p:spPr>
          <a:xfrm>
            <a:off x="1219200" y="29717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E6A8097E-C731-005D-E48D-B3717D82F9A7}"/>
              </a:ext>
            </a:extLst>
          </p:cNvPr>
          <p:cNvSpPr txBox="1"/>
          <p:nvPr/>
        </p:nvSpPr>
        <p:spPr>
          <a:xfrm>
            <a:off x="4343400" y="29717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4308821C-C945-52DD-4B73-32B1D98CEAC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4308821C-C945-52DD-4B73-32B1D98CEAC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9A8E8873-E453-7413-5F08-3E4AF250FEF9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A2559AFE-CBC8-1EA5-222F-502B7E1CFAD3}"/>
              </a:ext>
            </a:extLst>
          </p:cNvPr>
          <p:cNvSpPr txBox="1"/>
          <p:nvPr/>
        </p:nvSpPr>
        <p:spPr>
          <a:xfrm>
            <a:off x="1219200" y="41909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DC62D5B0-A4FF-85AE-FB19-B496008B036A}"/>
              </a:ext>
            </a:extLst>
          </p:cNvPr>
          <p:cNvSpPr txBox="1"/>
          <p:nvPr/>
        </p:nvSpPr>
        <p:spPr>
          <a:xfrm>
            <a:off x="4343400" y="41909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D7529AAA-2B7D-4BD8-1FF2-9A598F5F86CF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D7529AAA-2B7D-4BD8-1FF2-9A598F5F86CF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A61C7235-74CF-CC45-447C-4CD6C90CC846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BDA7E086-511E-33F5-193C-1FEE2A9C8409}"/>
              </a:ext>
            </a:extLst>
          </p:cNvPr>
          <p:cNvSpPr txBox="1"/>
          <p:nvPr/>
        </p:nvSpPr>
        <p:spPr>
          <a:xfrm>
            <a:off x="1219200" y="54101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5CB3A866-4505-180D-C85A-DE1BBCDBD7E3}"/>
              </a:ext>
            </a:extLst>
          </p:cNvPr>
          <p:cNvSpPr txBox="1"/>
          <p:nvPr/>
        </p:nvSpPr>
        <p:spPr>
          <a:xfrm>
            <a:off x="4343400" y="54101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122D70F-D1F3-A08A-CEA1-7E2BC9E86ECB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122D70F-D1F3-A08A-CEA1-7E2BC9E86ECB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FCFF8052-5DBC-EA0C-E6A3-543912980453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int">
            <a:extLst>
              <a:ext uri="{FF2B5EF4-FFF2-40B4-BE49-F238E27FC236}">
                <a16:creationId xmlns:a16="http://schemas.microsoft.com/office/drawing/2014/main" id="{866E345C-C47E-D237-9604-E8765BA61D16}"/>
              </a:ext>
            </a:extLst>
          </p:cNvPr>
          <p:cNvSpPr txBox="1"/>
          <p:nvPr/>
        </p:nvSpPr>
        <p:spPr>
          <a:xfrm>
            <a:off x="914400" y="6883400"/>
            <a:ext cx="16459200" cy="35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DC problems: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assume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a region,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solve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, then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check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the assumption.</a:t>
            </a:r>
          </a:p>
        </p:txBody>
      </p:sp>
      <p:sp>
        <p:nvSpPr>
          <p:cNvPr id="23" name="point">
            <a:extLst>
              <a:ext uri="{FF2B5EF4-FFF2-40B4-BE49-F238E27FC236}">
                <a16:creationId xmlns:a16="http://schemas.microsoft.com/office/drawing/2014/main" id="{91DC9E6B-91A9-2254-73C3-0FE7C0FBC553}"/>
              </a:ext>
            </a:extLst>
          </p:cNvPr>
          <p:cNvSpPr txBox="1"/>
          <p:nvPr/>
        </p:nvSpPr>
        <p:spPr>
          <a:xfrm>
            <a:off x="914400" y="7387050"/>
            <a:ext cx="16459200" cy="35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Small signals: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k′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n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(W/L)(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); a common-source stage has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−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5A2BDB48-D9C7-F11C-C989-18B29572765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9A269D79-A993-BEF3-C3F0-32BCEE6279C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Poppins" panose="00000500000000000000" pitchFamily="2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68612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#nochrome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D303567-E0D8-ECA2-BE68-1DD5FE05E1AE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937250B-E713-681D-5640-1BA4AF67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2921000"/>
            <a:ext cx="9652000" cy="1270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Thank you</a:t>
            </a:r>
          </a:p>
        </p:txBody>
      </p:sp>
      <p:cxnSp>
        <p:nvCxnSpPr>
          <p:cNvPr id="4" name="motif">
            <a:extLst>
              <a:ext uri="{FF2B5EF4-FFF2-40B4-BE49-F238E27FC236}">
                <a16:creationId xmlns:a16="http://schemas.microsoft.com/office/drawing/2014/main" id="{76622A57-52AE-A679-9D07-42D21BA05A8F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motif">
            <a:extLst>
              <a:ext uri="{FF2B5EF4-FFF2-40B4-BE49-F238E27FC236}">
                <a16:creationId xmlns:a16="http://schemas.microsoft.com/office/drawing/2014/main" id="{87C14B7A-6622-BC83-8EF1-669652C5F36C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motif">
            <a:extLst>
              <a:ext uri="{FF2B5EF4-FFF2-40B4-BE49-F238E27FC236}">
                <a16:creationId xmlns:a16="http://schemas.microsoft.com/office/drawing/2014/main" id="{A225FC30-E155-6AE3-64B6-61267559B2D2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motif">
            <a:extLst>
              <a:ext uri="{FF2B5EF4-FFF2-40B4-BE49-F238E27FC236}">
                <a16:creationId xmlns:a16="http://schemas.microsoft.com/office/drawing/2014/main" id="{C813B7B0-3FB7-660A-CF33-4AA8ADB4C5D7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otif">
            <a:extLst>
              <a:ext uri="{FF2B5EF4-FFF2-40B4-BE49-F238E27FC236}">
                <a16:creationId xmlns:a16="http://schemas.microsoft.com/office/drawing/2014/main" id="{9CE83C23-0409-35F9-095F-CABF1C60A966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otif">
            <a:extLst>
              <a:ext uri="{FF2B5EF4-FFF2-40B4-BE49-F238E27FC236}">
                <a16:creationId xmlns:a16="http://schemas.microsoft.com/office/drawing/2014/main" id="{A823D8A3-E7A5-7976-F34A-F20D66579228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tif">
            <a:extLst>
              <a:ext uri="{FF2B5EF4-FFF2-40B4-BE49-F238E27FC236}">
                <a16:creationId xmlns:a16="http://schemas.microsoft.com/office/drawing/2014/main" id="{08FDE3B1-44C8-87EB-291F-FA724B843A4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tif">
            <a:extLst>
              <a:ext uri="{FF2B5EF4-FFF2-40B4-BE49-F238E27FC236}">
                <a16:creationId xmlns:a16="http://schemas.microsoft.com/office/drawing/2014/main" id="{F467641A-61EF-CEE2-E17D-0BF3A1D4E23C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tif">
            <a:extLst>
              <a:ext uri="{FF2B5EF4-FFF2-40B4-BE49-F238E27FC236}">
                <a16:creationId xmlns:a16="http://schemas.microsoft.com/office/drawing/2014/main" id="{DAF50217-E183-D074-51B7-E880E662AA92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ag">
            <a:extLst>
              <a:ext uri="{FF2B5EF4-FFF2-40B4-BE49-F238E27FC236}">
                <a16:creationId xmlns:a16="http://schemas.microsoft.com/office/drawing/2014/main" id="{2F35122A-C919-571E-4AE4-2362BEF98858}"/>
              </a:ext>
            </a:extLst>
          </p:cNvPr>
          <p:cNvSpPr/>
          <p:nvPr/>
        </p:nvSpPr>
        <p:spPr>
          <a:xfrm>
            <a:off x="1422400" y="4826000"/>
            <a:ext cx="169468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Next lecture</a:t>
            </a:r>
          </a:p>
        </p:txBody>
      </p:sp>
      <p:sp>
        <p:nvSpPr>
          <p:cNvPr id="14" name="next">
            <a:extLst>
              <a:ext uri="{FF2B5EF4-FFF2-40B4-BE49-F238E27FC236}">
                <a16:creationId xmlns:a16="http://schemas.microsoft.com/office/drawing/2014/main" id="{1E5E4E8C-20A0-5E01-8D55-F3C331C4B760}"/>
              </a:ext>
            </a:extLst>
          </p:cNvPr>
          <p:cNvSpPr txBox="1"/>
          <p:nvPr/>
        </p:nvSpPr>
        <p:spPr>
          <a:xfrm>
            <a:off x="1422400" y="5333999"/>
            <a:ext cx="889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7262E"/>
                </a:solidFill>
                <a:latin typeface="Poppins" panose="00000500000000000000" pitchFamily="2" charset="0"/>
              </a:rPr>
              <a:t>Lecture 4: Bipolar junction transistors (BJTs)</a:t>
            </a:r>
          </a:p>
        </p:txBody>
      </p:sp>
      <p:sp>
        <p:nvSpPr>
          <p:cNvPr id="15" name="thanks">
            <a:extLst>
              <a:ext uri="{FF2B5EF4-FFF2-40B4-BE49-F238E27FC236}">
                <a16:creationId xmlns:a16="http://schemas.microsoft.com/office/drawing/2014/main" id="{CFBE5579-905F-F065-5531-E08280830BA3}"/>
              </a:ext>
            </a:extLst>
          </p:cNvPr>
          <p:cNvSpPr txBox="1"/>
          <p:nvPr/>
        </p:nvSpPr>
        <p:spPr>
          <a:xfrm>
            <a:off x="1422400" y="6603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With thanks to </a:t>
            </a:r>
            <a:r>
              <a:rPr lang="en-US" sz="2000" b="1">
                <a:solidFill>
                  <a:srgbClr val="4F5E66"/>
                </a:solidFill>
                <a:latin typeface="Nunito" pitchFamily="2" charset="0"/>
              </a:rPr>
              <a:t>Dr. Sameh Osama Ezzat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, who prepared the original material for this lecture.</a:t>
            </a:r>
          </a:p>
        </p:txBody>
      </p:sp>
      <p:sp>
        <p:nvSpPr>
          <p:cNvPr id="16" name="sources">
            <a:extLst>
              <a:ext uri="{FF2B5EF4-FFF2-40B4-BE49-F238E27FC236}">
                <a16:creationId xmlns:a16="http://schemas.microsoft.com/office/drawing/2014/main" id="{989591FD-21EB-7F27-19B1-C93FF9B7C110}"/>
              </a:ext>
            </a:extLst>
          </p:cNvPr>
          <p:cNvSpPr txBox="1"/>
          <p:nvPr/>
        </p:nvSpPr>
        <p:spPr>
          <a:xfrm>
            <a:off x="1422400" y="7492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Figures: Sedra &amp; Smith, Microelectronic Circuits (Oxford University Press); other diagrams from web sources via the original slides.</a:t>
            </a:r>
          </a:p>
        </p:txBody>
      </p:sp>
    </p:spTree>
    <p:extLst>
      <p:ext uri="{BB962C8B-B14F-4D97-AF65-F5344CB8AC3E}">
        <p14:creationId xmlns:p14="http://schemas.microsoft.com/office/powerpoint/2010/main" val="349364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2308</Words>
  <Application>Microsoft Office PowerPoint</Application>
  <PresentationFormat>Custom</PresentationFormat>
  <Paragraphs>323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Nunito</vt:lpstr>
      <vt:lpstr>Poppins</vt:lpstr>
      <vt:lpstr>Office Theme</vt:lpstr>
      <vt:lpstr>MOSFETs</vt:lpstr>
      <vt:lpstr>Lecture map</vt:lpstr>
      <vt:lpstr>Structure and operation</vt:lpstr>
      <vt:lpstr>The n-channel enhancement MOSFET</vt:lpstr>
      <vt:lpstr>With no gate voltage, no current flows</vt:lpstr>
      <vt:lpstr>Creating a channel: the threshold voltage</vt:lpstr>
      <vt:lpstr>Increasing vDS: the channel tapers and pinches off</vt:lpstr>
      <vt:lpstr>CMOS: NMOS and PMOS on one chip</vt:lpstr>
      <vt:lpstr>Circuit symbols: n-channel and p-channel</vt:lpstr>
      <vt:lpstr>I–V characteristics</vt:lpstr>
      <vt:lpstr>The iD–vDS family of curves</vt:lpstr>
      <vt:lpstr>In saturation, iD depends only on vGS</vt:lpstr>
      <vt:lpstr>Triode and saturation: one curve, two equations</vt:lpstr>
      <vt:lpstr>Small vDS: a voltage-controlled resistor</vt:lpstr>
      <vt:lpstr>Large-signal model in saturation</vt:lpstr>
      <vt:lpstr>MOSFETs in DC circuits</vt:lpstr>
      <vt:lpstr>DC analysis: assume, solve, check</vt:lpstr>
      <vt:lpstr>Example: find the drain voltage</vt:lpstr>
      <vt:lpstr>The current mirror</vt:lpstr>
      <vt:lpstr>The MOSFET as an amplifier</vt:lpstr>
      <vt:lpstr>Amplifier action: the load line</vt:lpstr>
      <vt:lpstr>Small-signal operation: the transconductance gm</vt:lpstr>
      <vt:lpstr>Small-signal equivalent circuits</vt:lpstr>
      <vt:lpstr>Example: gain and input resistance</vt:lpstr>
      <vt:lpstr>The MOSFET as a switch</vt:lpstr>
      <vt:lpstr>The MOSFET as a switch</vt:lpstr>
      <vt:lpstr>Summary: three regions of operation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2026-10-01T04:27:28Z</dcterms:created>
  <dcterms:modified xsi:type="dcterms:W3CDTF">2026-10-01T04:28:48Z</dcterms:modified>
</cp:coreProperties>
</file>