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8" r:id="rId9"/>
    <p:sldId id="269" r:id="rId10"/>
    <p:sldId id="270" r:id="rId11"/>
    <p:sldId id="261" r:id="rId12"/>
    <p:sldId id="263" r:id="rId13"/>
    <p:sldId id="264" r:id="rId14"/>
    <p:sldId id="265" r:id="rId15"/>
    <p:sldId id="266" r:id="rId16"/>
    <p:sldId id="267" r:id="rId17"/>
    <p:sldId id="262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AF70-53F9-3A75-FC95-85C84D8E6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B761F-32F8-041A-1A99-557C99C6D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D091B-A693-96C6-DE1E-99DB9C15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DFE23-47CF-A5A5-5FF7-89040FB1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31715-1173-A4E6-71A2-A25DA4EB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0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1405-7E4C-8221-7526-4CA24210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74C6A-C753-C3E1-E8D7-37760B025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EB707-0103-0362-4FB3-24DBF7CB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38F62-D19B-9CB3-47FB-E50B6F08F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B235D-8B52-CFAF-FB57-088EA73B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16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B99AF-EAD7-775C-C684-4431BEAD2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95B98-75CD-9A49-742C-6B346F44C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5BD10-81C2-44E3-6B5C-5FF782E1F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D262E-A61F-8A89-AE08-4C8DB2E29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47456-B77D-84BF-5E8C-0804DF8E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7403-AEFE-0BEE-D07D-05B9DC3E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6F5A6-B80C-4475-90ED-67E6C3DC0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E0881-CD53-848C-1FCF-1380EBEE9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DFF13-E3C3-2E99-07C9-6F6BEA16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D8B8D-1306-BB30-8D68-09FBF5BA6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2A1E1-B10E-C752-B902-6490E93D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62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0215C-D051-B4AC-39FA-B6B35852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3BD4A-EB50-4AFA-E0BD-BEB86B4C0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FAB88-9E72-07D7-CCE6-BD070BA16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E0482-2EE3-4FCC-9F90-E8A685F31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D7F10-F2B6-448C-4322-6FC837FAA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7F7CE6-E28F-A899-4A61-50B73D64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D58843-CABA-2680-BF19-CB56E0A0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75ADE-5C00-F5EC-C073-45DECE77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5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1C7B0-1EED-909C-9E54-59B24D64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DEF41-024A-EAFB-05A7-E8D61AAAA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5AF47-E14A-C474-59ED-87489CA2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32C84-D032-902E-4A2E-BC256E90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7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EEA35F-EF5C-6948-1F20-ECA9414D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E7E6A0-8392-0A1E-4518-DF18AD864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81849-A737-5245-74EB-A3A4DCF06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97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106C-E0D1-9C31-EDBF-C01F4C949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407A3-C407-FDBA-7E1A-2E593CB2A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5F68F-16F3-6C60-3656-7E905FBB5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FB4FF-B750-E9FC-9930-987B126C7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1854F-25E4-E51E-B7F9-784400F1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C8D57-6E6A-E1DA-503B-9FCE3704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9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B7FF-4334-2741-ACFA-81F667909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AB7933-104F-C895-2543-BEACFFA1412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2C6DB-4F64-6723-4210-57CB568D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71815-2FE9-D6DE-39A4-D7A84FF0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E860A-123A-F85F-6D26-07E13FB94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F5DEA-E149-CA09-8D01-C2826A95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3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B4161-2AFD-5524-3445-782987D9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D60A3-B2FD-1D9E-0394-F2207339E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CA3D-2BC0-C6B0-09FA-FD097133C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18FAC-8474-4FAE-AD81-59EB9628D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6E6FB-97BA-4816-DF43-2319329D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0C5FF-6072-ADD4-27A2-A533735877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0B415-BA32-00FB-74C7-BDF2BCA4D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E81A4-92F8-45FF-EB14-2574A08B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222D1-B398-64A1-0BA0-4F5B4E75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54929-DC55-5C74-C84D-E13D90C2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3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9BCBAD-3963-B884-FFEF-4656EC6F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2FC85-9E16-4339-A9F1-C0808FFBE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E0658-D41A-8E4D-5E9F-16B32CCF7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52637-9A66-1763-74AF-C0C666B98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27F3B-CEC2-0D30-1CA7-D57819CD0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93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795870F-5E66-41C0-51DF-6359B1E58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175000"/>
            <a:ext cx="9652000" cy="1651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12000">
                <a:solidFill>
                  <a:srgbClr val="15241D"/>
                </a:solidFill>
                <a:latin typeface="Bebas Neue" panose="020B0606020202050201" pitchFamily="34" charset="0"/>
              </a:rPr>
              <a:t>MOSFETs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E412ADDF-9F96-74EA-BE6F-9E049B32A2AF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90D2C531-584B-EA33-06EC-3236224F7F0E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1131BF15-A9A6-9BBC-6A95-708D28BD5860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154B863E-FA77-C156-9A98-FD5C8093BDB0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C8249D0F-7316-9B2B-9770-53F2EC44961B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FCFEF45D-83BD-4BE7-1216-1545B12BE0DD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28196633-4DD5-C175-7BD9-EC1CFBBF43E0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6E1B8AD5-8D4D-DD96-5395-80E8750302BE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A0D69A08-E179-6FC4-7F2F-1A8DE6F4BC34}"/>
              </a:ext>
            </a:extLst>
          </p:cNvPr>
          <p:cNvSpPr/>
          <p:nvPr/>
        </p:nvSpPr>
        <p:spPr>
          <a:xfrm>
            <a:off x="1016000" y="2540000"/>
            <a:ext cx="552043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25CPES102  ·  ELECTRONIC MATERIALS AND DEVICES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E1001ACC-3B40-2596-0FF7-34888FA42750}"/>
              </a:ext>
            </a:extLst>
          </p:cNvPr>
          <p:cNvSpPr txBox="1"/>
          <p:nvPr/>
        </p:nvSpPr>
        <p:spPr>
          <a:xfrm>
            <a:off x="1016000" y="4927599"/>
            <a:ext cx="8890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Metal-oxide-semiconductor</a:t>
            </a:r>
          </a:p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field-effect transistors</a:t>
            </a:r>
          </a:p>
        </p:txBody>
      </p:sp>
      <p:sp>
        <p:nvSpPr>
          <p:cNvPr id="13" name="lecture">
            <a:extLst>
              <a:ext uri="{FF2B5EF4-FFF2-40B4-BE49-F238E27FC236}">
                <a16:creationId xmlns:a16="http://schemas.microsoft.com/office/drawing/2014/main" id="{6D6457E1-466E-0B25-3457-92498A5A292C}"/>
              </a:ext>
            </a:extLst>
          </p:cNvPr>
          <p:cNvSpPr txBox="1"/>
          <p:nvPr/>
        </p:nvSpPr>
        <p:spPr>
          <a:xfrm>
            <a:off x="1016000" y="6095999"/>
            <a:ext cx="508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B8581A"/>
                </a:solidFill>
                <a:latin typeface="Bebas Neue" panose="020B0606020202050201" pitchFamily="34" charset="0"/>
              </a:rPr>
              <a:t>LECTURE 3</a:t>
            </a:r>
          </a:p>
        </p:txBody>
      </p:sp>
      <p:sp>
        <p:nvSpPr>
          <p:cNvPr id="14" name="author">
            <a:extLst>
              <a:ext uri="{FF2B5EF4-FFF2-40B4-BE49-F238E27FC236}">
                <a16:creationId xmlns:a16="http://schemas.microsoft.com/office/drawing/2014/main" id="{B94CAC9F-4918-963F-970B-8905D12D1C99}"/>
              </a:ext>
            </a:extLst>
          </p:cNvPr>
          <p:cNvSpPr txBox="1"/>
          <p:nvPr/>
        </p:nvSpPr>
        <p:spPr>
          <a:xfrm>
            <a:off x="1016000" y="7619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Dr. Zahraa Ismail</a:t>
            </a:r>
          </a:p>
        </p:txBody>
      </p:sp>
      <p:sp>
        <p:nvSpPr>
          <p:cNvPr id="15" name="meta">
            <a:extLst>
              <a:ext uri="{FF2B5EF4-FFF2-40B4-BE49-F238E27FC236}">
                <a16:creationId xmlns:a16="http://schemas.microsoft.com/office/drawing/2014/main" id="{E4B8E300-C5BE-238F-F92B-C78164B27058}"/>
              </a:ext>
            </a:extLst>
          </p:cNvPr>
          <p:cNvSpPr txBox="1"/>
          <p:nvPr/>
        </p:nvSpPr>
        <p:spPr>
          <a:xfrm>
            <a:off x="1016000" y="8026399"/>
            <a:ext cx="965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Computer Engineering  ·  Academic Year 2025/2026 · Semester One</a:t>
            </a:r>
          </a:p>
        </p:txBody>
      </p:sp>
      <p:sp>
        <p:nvSpPr>
          <p:cNvPr id="16" name="figure card">
            <a:extLst>
              <a:ext uri="{FF2B5EF4-FFF2-40B4-BE49-F238E27FC236}">
                <a16:creationId xmlns:a16="http://schemas.microsoft.com/office/drawing/2014/main" id="{484B08E7-8FAE-C607-D920-E211F4586642}"/>
              </a:ext>
            </a:extLst>
          </p:cNvPr>
          <p:cNvSpPr/>
          <p:nvPr/>
        </p:nvSpPr>
        <p:spPr>
          <a:xfrm>
            <a:off x="10160000" y="3048000"/>
            <a:ext cx="7366000" cy="3343597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igure card">
            <a:extLst>
              <a:ext uri="{FF2B5EF4-FFF2-40B4-BE49-F238E27FC236}">
                <a16:creationId xmlns:a16="http://schemas.microsoft.com/office/drawing/2014/main" id="{EA47DD1C-42E1-2B9D-1A3A-AF8857BA1CA4}"/>
              </a:ext>
            </a:extLst>
          </p:cNvPr>
          <p:cNvSpPr/>
          <p:nvPr/>
        </p:nvSpPr>
        <p:spPr>
          <a:xfrm>
            <a:off x="10160000" y="3035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figure">
            <a:extLst>
              <a:ext uri="{FF2B5EF4-FFF2-40B4-BE49-F238E27FC236}">
                <a16:creationId xmlns:a16="http://schemas.microsoft.com/office/drawing/2014/main" id="{58769DF6-75AB-83AF-FB7D-2F2A44B23E6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0" y="3302000"/>
            <a:ext cx="6858000" cy="2606997"/>
          </a:xfrm>
          <a:prstGeom prst="rect">
            <a:avLst/>
          </a:prstGeom>
        </p:spPr>
      </p:pic>
      <p:sp>
        <p:nvSpPr>
          <p:cNvPr id="20" name="credit">
            <a:extLst>
              <a:ext uri="{FF2B5EF4-FFF2-40B4-BE49-F238E27FC236}">
                <a16:creationId xmlns:a16="http://schemas.microsoft.com/office/drawing/2014/main" id="{7E2EF48E-AB0E-2A16-C753-BDBB1A3A8AD9}"/>
              </a:ext>
            </a:extLst>
          </p:cNvPr>
          <p:cNvSpPr txBox="1"/>
          <p:nvPr/>
        </p:nvSpPr>
        <p:spPr>
          <a:xfrm>
            <a:off x="10414000" y="6035997"/>
            <a:ext cx="685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172610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363BEA0-1619-81E1-F3EE-9FBA7EDC5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Lecture map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766FBFA-F898-3AF2-A5A5-369F2415F4F5}"/>
              </a:ext>
            </a:extLst>
          </p:cNvPr>
          <p:cNvSpPr/>
          <p:nvPr/>
        </p:nvSpPr>
        <p:spPr>
          <a:xfrm>
            <a:off x="914400" y="279400"/>
            <a:ext cx="148869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70174DB-7746-CD73-BAF7-950A65AA382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A7BF6B8-155C-1E4E-573E-D30BF78CFEF7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map n">
            <a:extLst>
              <a:ext uri="{FF2B5EF4-FFF2-40B4-BE49-F238E27FC236}">
                <a16:creationId xmlns:a16="http://schemas.microsoft.com/office/drawing/2014/main" id="{B44311C0-1F45-0379-3B48-3C7581AFD6D9}"/>
              </a:ext>
            </a:extLst>
          </p:cNvPr>
          <p:cNvSpPr/>
          <p:nvPr/>
        </p:nvSpPr>
        <p:spPr>
          <a:xfrm>
            <a:off x="914400" y="22860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7" name="map t">
            <a:extLst>
              <a:ext uri="{FF2B5EF4-FFF2-40B4-BE49-F238E27FC236}">
                <a16:creationId xmlns:a16="http://schemas.microsoft.com/office/drawing/2014/main" id="{09DEBA7E-125B-8EB3-ADB2-A57A5E9DB344}"/>
              </a:ext>
            </a:extLst>
          </p:cNvPr>
          <p:cNvSpPr txBox="1"/>
          <p:nvPr/>
        </p:nvSpPr>
        <p:spPr>
          <a:xfrm>
            <a:off x="1752600" y="22605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8" name="map s">
            <a:extLst>
              <a:ext uri="{FF2B5EF4-FFF2-40B4-BE49-F238E27FC236}">
                <a16:creationId xmlns:a16="http://schemas.microsoft.com/office/drawing/2014/main" id="{7341941C-8C9D-F803-FF61-05347A7F5D16}"/>
              </a:ext>
            </a:extLst>
          </p:cNvPr>
          <p:cNvSpPr txBox="1"/>
          <p:nvPr/>
        </p:nvSpPr>
        <p:spPr>
          <a:xfrm>
            <a:off x="1752600" y="26415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how a channel forms; the threshold voltage</a:t>
            </a:r>
          </a:p>
        </p:txBody>
      </p:sp>
      <p:sp>
        <p:nvSpPr>
          <p:cNvPr id="9" name="map n">
            <a:extLst>
              <a:ext uri="{FF2B5EF4-FFF2-40B4-BE49-F238E27FC236}">
                <a16:creationId xmlns:a16="http://schemas.microsoft.com/office/drawing/2014/main" id="{3EE4CCA2-4B39-7EE1-41E9-ED4AF2DA4A75}"/>
              </a:ext>
            </a:extLst>
          </p:cNvPr>
          <p:cNvSpPr/>
          <p:nvPr/>
        </p:nvSpPr>
        <p:spPr>
          <a:xfrm>
            <a:off x="914400" y="35306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0" name="map t">
            <a:extLst>
              <a:ext uri="{FF2B5EF4-FFF2-40B4-BE49-F238E27FC236}">
                <a16:creationId xmlns:a16="http://schemas.microsoft.com/office/drawing/2014/main" id="{E6BBF095-221A-15A0-6F65-1917697A2AFE}"/>
              </a:ext>
            </a:extLst>
          </p:cNvPr>
          <p:cNvSpPr txBox="1"/>
          <p:nvPr/>
        </p:nvSpPr>
        <p:spPr>
          <a:xfrm>
            <a:off x="1752600" y="35051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1" name="map s">
            <a:extLst>
              <a:ext uri="{FF2B5EF4-FFF2-40B4-BE49-F238E27FC236}">
                <a16:creationId xmlns:a16="http://schemas.microsoft.com/office/drawing/2014/main" id="{9E61AB48-DC4A-69F9-2906-489F47C4C129}"/>
              </a:ext>
            </a:extLst>
          </p:cNvPr>
          <p:cNvSpPr txBox="1"/>
          <p:nvPr/>
        </p:nvSpPr>
        <p:spPr>
          <a:xfrm>
            <a:off x="1752600" y="38861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cutoff, triode and saturation</a:t>
            </a:r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9A8739F5-9562-195D-FC05-71F39915228B}"/>
              </a:ext>
            </a:extLst>
          </p:cNvPr>
          <p:cNvSpPr/>
          <p:nvPr/>
        </p:nvSpPr>
        <p:spPr>
          <a:xfrm>
            <a:off x="914400" y="47752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0EFD3657-1F49-21B8-3A40-5E7D42FA77F4}"/>
              </a:ext>
            </a:extLst>
          </p:cNvPr>
          <p:cNvSpPr txBox="1"/>
          <p:nvPr/>
        </p:nvSpPr>
        <p:spPr>
          <a:xfrm>
            <a:off x="1752600" y="47497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B3AC88FF-4847-92CD-E897-C7623462A15A}"/>
              </a:ext>
            </a:extLst>
          </p:cNvPr>
          <p:cNvSpPr txBox="1"/>
          <p:nvPr/>
        </p:nvSpPr>
        <p:spPr>
          <a:xfrm>
            <a:off x="1752600" y="51307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finding the operating point</a:t>
            </a:r>
          </a:p>
        </p:txBody>
      </p:sp>
      <p:sp>
        <p:nvSpPr>
          <p:cNvPr id="15" name="map n">
            <a:extLst>
              <a:ext uri="{FF2B5EF4-FFF2-40B4-BE49-F238E27FC236}">
                <a16:creationId xmlns:a16="http://schemas.microsoft.com/office/drawing/2014/main" id="{95097793-AEAE-BF2F-E0C3-5EA0C03987F4}"/>
              </a:ext>
            </a:extLst>
          </p:cNvPr>
          <p:cNvSpPr/>
          <p:nvPr/>
        </p:nvSpPr>
        <p:spPr>
          <a:xfrm>
            <a:off x="914400" y="60198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16" name="map t">
            <a:extLst>
              <a:ext uri="{FF2B5EF4-FFF2-40B4-BE49-F238E27FC236}">
                <a16:creationId xmlns:a16="http://schemas.microsoft.com/office/drawing/2014/main" id="{F7416E33-D66C-862D-D01D-05FD15BB3839}"/>
              </a:ext>
            </a:extLst>
          </p:cNvPr>
          <p:cNvSpPr txBox="1"/>
          <p:nvPr/>
        </p:nvSpPr>
        <p:spPr>
          <a:xfrm>
            <a:off x="1752600" y="59943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17" name="map s">
            <a:extLst>
              <a:ext uri="{FF2B5EF4-FFF2-40B4-BE49-F238E27FC236}">
                <a16:creationId xmlns:a16="http://schemas.microsoft.com/office/drawing/2014/main" id="{6E4A1F99-EFF9-D0B3-0F42-3959878C4616}"/>
              </a:ext>
            </a:extLst>
          </p:cNvPr>
          <p:cNvSpPr txBox="1"/>
          <p:nvPr/>
        </p:nvSpPr>
        <p:spPr>
          <a:xfrm>
            <a:off x="1752600" y="63753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transconductance, small-signal model</a:t>
            </a:r>
          </a:p>
        </p:txBody>
      </p:sp>
      <p:sp>
        <p:nvSpPr>
          <p:cNvPr id="18" name="map n">
            <a:extLst>
              <a:ext uri="{FF2B5EF4-FFF2-40B4-BE49-F238E27FC236}">
                <a16:creationId xmlns:a16="http://schemas.microsoft.com/office/drawing/2014/main" id="{33D12361-B530-D4C9-62AA-38D8D748E49E}"/>
              </a:ext>
            </a:extLst>
          </p:cNvPr>
          <p:cNvSpPr/>
          <p:nvPr/>
        </p:nvSpPr>
        <p:spPr>
          <a:xfrm>
            <a:off x="914400" y="72644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19" name="map t">
            <a:extLst>
              <a:ext uri="{FF2B5EF4-FFF2-40B4-BE49-F238E27FC236}">
                <a16:creationId xmlns:a16="http://schemas.microsoft.com/office/drawing/2014/main" id="{FA8E41B4-352A-0F67-6D41-D52F6F007122}"/>
              </a:ext>
            </a:extLst>
          </p:cNvPr>
          <p:cNvSpPr txBox="1"/>
          <p:nvPr/>
        </p:nvSpPr>
        <p:spPr>
          <a:xfrm>
            <a:off x="1752600" y="72389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 switch</a:t>
            </a:r>
          </a:p>
        </p:txBody>
      </p:sp>
      <p:sp>
        <p:nvSpPr>
          <p:cNvPr id="20" name="outcomes">
            <a:extLst>
              <a:ext uri="{FF2B5EF4-FFF2-40B4-BE49-F238E27FC236}">
                <a16:creationId xmlns:a16="http://schemas.microsoft.com/office/drawing/2014/main" id="{F91E14BB-1462-B4B3-8688-E95724A65533}"/>
              </a:ext>
            </a:extLst>
          </p:cNvPr>
          <p:cNvSpPr/>
          <p:nvPr/>
        </p:nvSpPr>
        <p:spPr>
          <a:xfrm>
            <a:off x="11176000" y="2286000"/>
            <a:ext cx="6197600" cy="5715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utcomes">
            <a:extLst>
              <a:ext uri="{FF2B5EF4-FFF2-40B4-BE49-F238E27FC236}">
                <a16:creationId xmlns:a16="http://schemas.microsoft.com/office/drawing/2014/main" id="{6B471E68-8B46-15CC-3CE6-D1673992D997}"/>
              </a:ext>
            </a:extLst>
          </p:cNvPr>
          <p:cNvSpPr/>
          <p:nvPr/>
        </p:nvSpPr>
        <p:spPr>
          <a:xfrm>
            <a:off x="11176000" y="2273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ag">
            <a:extLst>
              <a:ext uri="{FF2B5EF4-FFF2-40B4-BE49-F238E27FC236}">
                <a16:creationId xmlns:a16="http://schemas.microsoft.com/office/drawing/2014/main" id="{7E3A6619-081C-4959-672E-FC1DAA710FB6}"/>
              </a:ext>
            </a:extLst>
          </p:cNvPr>
          <p:cNvSpPr/>
          <p:nvPr/>
        </p:nvSpPr>
        <p:spPr>
          <a:xfrm>
            <a:off x="11557000" y="2616200"/>
            <a:ext cx="2469387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BY THE END YOU CAN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F5C4D3FB-41F0-5D0D-5066-4C33B1E4594C}"/>
              </a:ext>
            </a:extLst>
          </p:cNvPr>
          <p:cNvSpPr txBox="1"/>
          <p:nvPr/>
        </p:nvSpPr>
        <p:spPr>
          <a:xfrm>
            <a:off x="11557000" y="33019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Explain how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creates a channel and how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pinches it off</a:t>
            </a:r>
          </a:p>
        </p:txBody>
      </p:sp>
      <p:sp>
        <p:nvSpPr>
          <p:cNvPr id="24" name="outcome">
            <a:extLst>
              <a:ext uri="{FF2B5EF4-FFF2-40B4-BE49-F238E27FC236}">
                <a16:creationId xmlns:a16="http://schemas.microsoft.com/office/drawing/2014/main" id="{C068848E-B1EB-FB5A-EADA-57C69244FB91}"/>
              </a:ext>
            </a:extLst>
          </p:cNvPr>
          <p:cNvSpPr txBox="1"/>
          <p:nvPr/>
        </p:nvSpPr>
        <p:spPr>
          <a:xfrm>
            <a:off x="11557000" y="48005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Pick the right region and use its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equation</a:t>
            </a:r>
          </a:p>
        </p:txBody>
      </p:sp>
      <p:sp>
        <p:nvSpPr>
          <p:cNvPr id="25" name="outcome">
            <a:extLst>
              <a:ext uri="{FF2B5EF4-FFF2-40B4-BE49-F238E27FC236}">
                <a16:creationId xmlns:a16="http://schemas.microsoft.com/office/drawing/2014/main" id="{D9936E3C-BDA5-B574-2DD8-A396C2A4C1DC}"/>
              </a:ext>
            </a:extLst>
          </p:cNvPr>
          <p:cNvSpPr txBox="1"/>
          <p:nvPr/>
        </p:nvSpPr>
        <p:spPr>
          <a:xfrm>
            <a:off x="11557000" y="62991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Find the DC operating point of a MOSFET circuit</a:t>
            </a:r>
          </a:p>
        </p:txBody>
      </p:sp>
      <p:sp>
        <p:nvSpPr>
          <p:cNvPr id="26" name="chrome page">
            <a:extLst>
              <a:ext uri="{FF2B5EF4-FFF2-40B4-BE49-F238E27FC236}">
                <a16:creationId xmlns:a16="http://schemas.microsoft.com/office/drawing/2014/main" id="{E00ADB23-7062-9407-0D80-B77CB496FC1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hrome page">
            <a:extLst>
              <a:ext uri="{FF2B5EF4-FFF2-40B4-BE49-F238E27FC236}">
                <a16:creationId xmlns:a16="http://schemas.microsoft.com/office/drawing/2014/main" id="{EFD2A18C-5649-1914-B96D-2562DDB8D41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5121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DC0D05D-CE18-E2CA-E4BD-C07B54EBD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I–V characteristics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85563797-97D7-C13E-7F26-9773A62B0A1F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AA7F1C49-C09C-CC92-2DF4-66FA93FA550B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555694D2-10C7-1A20-2FB7-C7CF51489657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6F9204B0-57AF-3075-B678-62A4D426B4A3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C367D01A-06E9-36DB-E43D-09C9B842A9F6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1DA8083D-98D4-32F8-91F5-9D581993DB99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8F3E8E9C-6D46-735D-FB71-2F35C4D256FC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1B4EAEF6-C832-CBD0-EDE5-0A5DC8735691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2DA85408-E8B1-26CC-7BEA-C1FDDE3C6401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02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707D4EBD-1A1B-41AC-E596-BFD7F753D1CE}"/>
              </a:ext>
            </a:extLst>
          </p:cNvPr>
          <p:cNvSpPr txBox="1"/>
          <p:nvPr/>
        </p:nvSpPr>
        <p:spPr>
          <a:xfrm>
            <a:off x="1016000" y="5841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Increasing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: pinch-off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403D6F69-28A8-78A0-2825-361337C231AA}"/>
              </a:ext>
            </a:extLst>
          </p:cNvPr>
          <p:cNvSpPr txBox="1"/>
          <p:nvPr/>
        </p:nvSpPr>
        <p:spPr>
          <a:xfrm>
            <a:off x="1016000" y="63753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Triode and saturation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EE89D55C-BB07-E5D6-27D8-2684A2E7E53E}"/>
              </a:ext>
            </a:extLst>
          </p:cNvPr>
          <p:cNvSpPr txBox="1"/>
          <p:nvPr/>
        </p:nvSpPr>
        <p:spPr>
          <a:xfrm>
            <a:off x="1016000" y="69087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–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family of curves</a:t>
            </a:r>
          </a:p>
        </p:txBody>
      </p:sp>
      <p:sp>
        <p:nvSpPr>
          <p:cNvPr id="15" name="map">
            <a:extLst>
              <a:ext uri="{FF2B5EF4-FFF2-40B4-BE49-F238E27FC236}">
                <a16:creationId xmlns:a16="http://schemas.microsoft.com/office/drawing/2014/main" id="{BFEB7E31-3826-1397-9FA5-39D4CD651DF4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5B99DD18-7A7B-19AA-9D60-F28E93133E8A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32CA9BA7-425D-9C13-D63A-89F416CFD539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7BDED6DB-2381-076E-86F1-A837CC0515E7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717600C3-2A7D-E9EF-EADC-184240D75E40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58297331-75A4-2DC1-4D08-9B8F59F71D92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72EF8C9B-E649-3FED-8B98-0497166E9F9F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5825BD31-1C61-3938-830C-757BA287ED8E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7B930D34-6D07-14F2-525C-7133BA77918C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5B4C3972-EED7-425B-C241-8AA647CEBD7A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3547788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A8136A6-42B2-11E0-9501-F82C9279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0E66099-5C79-53A4-A139-A29E7805CE10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8E2C6AF5-4E5F-9FE2-EF6B-D89AB132232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658A07E-774F-04EE-D8F2-BBD94ADF792D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37B3149A-F7AC-BFE3-76B0-624B68C75F37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31E546BD-3391-F83C-CA30-BEB2B79EFCE3}"/>
              </a:ext>
            </a:extLst>
          </p:cNvPr>
          <p:cNvSpPr/>
          <p:nvPr/>
        </p:nvSpPr>
        <p:spPr>
          <a:xfrm>
            <a:off x="8890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58B1C00-1A86-057D-4360-C6B48790FA5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3277965E-2CFE-1C17-6998-B9FE50CF71A1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ara @1">
            <a:extLst>
              <a:ext uri="{FF2B5EF4-FFF2-40B4-BE49-F238E27FC236}">
                <a16:creationId xmlns:a16="http://schemas.microsoft.com/office/drawing/2014/main" id="{5B2CB4FC-3265-E4CE-0799-C476BFEDF152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A positive </a:t>
            </a:r>
            <a:r>
              <a:rPr lang="en-US" sz="26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6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A5114B20-2DEF-0391-A76A-76F17011330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F24AB0B5-0EA2-0275-F714-F6F886750E7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89978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A8136A6-42B2-11E0-9501-F82C9279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0E66099-5C79-53A4-A139-A29E7805CE10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8E2C6AF5-4E5F-9FE2-EF6B-D89AB132232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658A07E-774F-04EE-D8F2-BBD94ADF792D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37B3149A-F7AC-BFE3-76B0-624B68C75F37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31E546BD-3391-F83C-CA30-BEB2B79EFCE3}"/>
              </a:ext>
            </a:extLst>
          </p:cNvPr>
          <p:cNvSpPr/>
          <p:nvPr/>
        </p:nvSpPr>
        <p:spPr>
          <a:xfrm>
            <a:off x="8890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58B1C00-1A86-057D-4360-C6B48790FA5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3277965E-2CFE-1C17-6998-B9FE50CF71A1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ara @1">
            <a:extLst>
              <a:ext uri="{FF2B5EF4-FFF2-40B4-BE49-F238E27FC236}">
                <a16:creationId xmlns:a16="http://schemas.microsoft.com/office/drawing/2014/main" id="{5B2CB4FC-3265-E4CE-0799-C476BFEDF152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A positive </a:t>
            </a:r>
            <a:r>
              <a:rPr lang="en-US" sz="26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6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2" name="para @2">
            <a:extLst>
              <a:ext uri="{FF2B5EF4-FFF2-40B4-BE49-F238E27FC236}">
                <a16:creationId xmlns:a16="http://schemas.microsoft.com/office/drawing/2014/main" id="{F9ED04A0-AFF7-4D5A-30B5-F50574CBFAFA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Once enough electrons gather, they form an n-type </a:t>
            </a:r>
            <a:r>
              <a:rPr lang="en-US" sz="2600" b="1">
                <a:solidFill>
                  <a:srgbClr val="15241D"/>
                </a:solidFill>
                <a:latin typeface="DM Sans" pitchFamily="2" charset="0"/>
              </a:rPr>
              <a:t>inversion layer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: the channel that links source to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D1707443-B6D5-E654-4546-DB53F503F4A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4D14737E-ED3A-6D6B-207F-B2B2B5D3D2C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68693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A8136A6-42B2-11E0-9501-F82C9279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0E66099-5C79-53A4-A139-A29E7805CE10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8E2C6AF5-4E5F-9FE2-EF6B-D89AB132232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658A07E-774F-04EE-D8F2-BBD94ADF792D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37B3149A-F7AC-BFE3-76B0-624B68C75F37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31E546BD-3391-F83C-CA30-BEB2B79EFCE3}"/>
              </a:ext>
            </a:extLst>
          </p:cNvPr>
          <p:cNvSpPr/>
          <p:nvPr/>
        </p:nvSpPr>
        <p:spPr>
          <a:xfrm>
            <a:off x="8890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58B1C00-1A86-057D-4360-C6B48790FA5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3277965E-2CFE-1C17-6998-B9FE50CF71A1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ara @1">
            <a:extLst>
              <a:ext uri="{FF2B5EF4-FFF2-40B4-BE49-F238E27FC236}">
                <a16:creationId xmlns:a16="http://schemas.microsoft.com/office/drawing/2014/main" id="{5B2CB4FC-3265-E4CE-0799-C476BFEDF152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A positive </a:t>
            </a:r>
            <a:r>
              <a:rPr lang="en-US" sz="26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6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2" name="para @2">
            <a:extLst>
              <a:ext uri="{FF2B5EF4-FFF2-40B4-BE49-F238E27FC236}">
                <a16:creationId xmlns:a16="http://schemas.microsoft.com/office/drawing/2014/main" id="{F9ED04A0-AFF7-4D5A-30B5-F50574CBFAFA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Once enough electrons gather, they form an n-type </a:t>
            </a:r>
            <a:r>
              <a:rPr lang="en-US" sz="2600" b="1">
                <a:solidFill>
                  <a:srgbClr val="15241D"/>
                </a:solidFill>
                <a:latin typeface="DM Sans" pitchFamily="2" charset="0"/>
              </a:rPr>
              <a:t>inversion layer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: the channel that links source to drain.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AE3D123B-7C45-6D1F-15FE-D3383522DEF7}"/>
              </a:ext>
            </a:extLst>
          </p:cNvPr>
          <p:cNvSpPr/>
          <p:nvPr/>
        </p:nvSpPr>
        <p:spPr>
          <a:xfrm>
            <a:off x="914400" y="6223000"/>
            <a:ext cx="7366000" cy="2159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99010400-5AB6-1889-833F-3C05D094D255}"/>
              </a:ext>
            </a:extLst>
          </p:cNvPr>
          <p:cNvSpPr/>
          <p:nvPr/>
        </p:nvSpPr>
        <p:spPr>
          <a:xfrm>
            <a:off x="914400" y="6210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ef @3">
            <a:extLst>
              <a:ext uri="{FF2B5EF4-FFF2-40B4-BE49-F238E27FC236}">
                <a16:creationId xmlns:a16="http://schemas.microsoft.com/office/drawing/2014/main" id="{0694C52A-2672-A283-18F5-BD0C39FC3592}"/>
              </a:ext>
            </a:extLst>
          </p:cNvPr>
          <p:cNvSpPr/>
          <p:nvPr/>
        </p:nvSpPr>
        <p:spPr>
          <a:xfrm>
            <a:off x="1244600" y="650240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DEFINITION</a:t>
            </a:r>
          </a:p>
        </p:txBody>
      </p:sp>
      <p:sp>
        <p:nvSpPr>
          <p:cNvPr id="16" name="def @3">
            <a:extLst>
              <a:ext uri="{FF2B5EF4-FFF2-40B4-BE49-F238E27FC236}">
                <a16:creationId xmlns:a16="http://schemas.microsoft.com/office/drawing/2014/main" id="{D59D712B-57A9-0B9D-E2D4-754987E8AD54}"/>
              </a:ext>
            </a:extLst>
          </p:cNvPr>
          <p:cNvSpPr txBox="1"/>
          <p:nvPr/>
        </p:nvSpPr>
        <p:spPr>
          <a:xfrm>
            <a:off x="1244600" y="7061199"/>
            <a:ext cx="67056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5241D"/>
                </a:solidFill>
                <a:latin typeface="DM Sans" pitchFamily="2" charset="0"/>
              </a:rPr>
              <a:t>Threshold voltage </a:t>
            </a:r>
            <a:r>
              <a:rPr lang="en-US" sz="26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600" b="1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: the value of </a:t>
            </a:r>
            <a:r>
              <a:rPr lang="en-US" sz="26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6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 at which the channel just forms.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22EAD772-9124-7D0D-5C4E-56A9FD8F801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9104469D-CAAD-6909-0EDE-0AAB0AFF844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09678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5FCE922-EBBB-3D91-7BE4-D2FF6C81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772CCE4A-5DEF-E35C-60F2-47CF928C3AEA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EAB2C7C-8DCF-5463-B9FD-49567FBC73D6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7E068B-0E04-306E-E474-FAE56904BB04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D850BAF-E0C1-B9C2-E516-10A023A0F84D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A4A181E-240B-68E0-0C25-D9D1BF702CD5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ABE5F014-B12F-6E96-3E72-1030ABD36B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F5BB662-7148-9863-67D4-021DE609BDA5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1DC6FC43-7414-A0E1-FB4C-5CB2D57652C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14CBEFBF-21CA-30DC-88AC-A322BAB171E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6302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5FCE922-EBBB-3D91-7BE4-D2FF6C81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772CCE4A-5DEF-E35C-60F2-47CF928C3AEA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EAB2C7C-8DCF-5463-B9FD-49567FBC73D6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7E068B-0E04-306E-E474-FAE56904BB04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D850BAF-E0C1-B9C2-E516-10A023A0F84D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A4A181E-240B-68E0-0C25-D9D1BF702CD5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ABE5F014-B12F-6E96-3E72-1030ABD36B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F5BB662-7148-9863-67D4-021DE609BDA5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8E5A16F3-62E6-1818-D08F-4567E364FDD9}"/>
              </a:ext>
            </a:extLst>
          </p:cNvPr>
          <p:cNvSpPr/>
          <p:nvPr/>
        </p:nvSpPr>
        <p:spPr>
          <a:xfrm>
            <a:off x="10287000" y="2349500"/>
            <a:ext cx="116179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TRIODE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C5D24594-1D36-1FD6-CC39-D1BEB238D395}"/>
              </a:ext>
            </a:extLst>
          </p:cNvPr>
          <p:cNvSpPr txBox="1"/>
          <p:nvPr/>
        </p:nvSpPr>
        <p:spPr>
          <a:xfrm>
            <a:off x="11651996" y="2324099"/>
            <a:ext cx="5721604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20D713E0-5AE8-E0F9-CB9C-B8EEA0194057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20D713E0-5AE8-E0F9-CB9C-B8EEA0194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2432C9CA-580D-99DB-A345-93AE13A107F1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84C6D065-F4DB-7273-8DFB-1981433EBAF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65090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5FCE922-EBBB-3D91-7BE4-D2FF6C81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772CCE4A-5DEF-E35C-60F2-47CF928C3AEA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EAB2C7C-8DCF-5463-B9FD-49567FBC73D6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7E068B-0E04-306E-E474-FAE56904BB04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D850BAF-E0C1-B9C2-E516-10A023A0F84D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A4A181E-240B-68E0-0C25-D9D1BF702CD5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ABE5F014-B12F-6E96-3E72-1030ABD36B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F5BB662-7148-9863-67D4-021DE609BDA5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8E5A16F3-62E6-1818-D08F-4567E364FDD9}"/>
              </a:ext>
            </a:extLst>
          </p:cNvPr>
          <p:cNvSpPr/>
          <p:nvPr/>
        </p:nvSpPr>
        <p:spPr>
          <a:xfrm>
            <a:off x="10287000" y="2349500"/>
            <a:ext cx="116179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TRIODE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C5D24594-1D36-1FD6-CC39-D1BEB238D395}"/>
              </a:ext>
            </a:extLst>
          </p:cNvPr>
          <p:cNvSpPr txBox="1"/>
          <p:nvPr/>
        </p:nvSpPr>
        <p:spPr>
          <a:xfrm>
            <a:off x="11651996" y="2324099"/>
            <a:ext cx="5721604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20D713E0-5AE8-E0F9-CB9C-B8EEA0194057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20D713E0-5AE8-E0F9-CB9C-B8EEA0194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ab @3">
            <a:extLst>
              <a:ext uri="{FF2B5EF4-FFF2-40B4-BE49-F238E27FC236}">
                <a16:creationId xmlns:a16="http://schemas.microsoft.com/office/drawing/2014/main" id="{57E5EF42-36D2-442A-1A6A-20A5211A13F5}"/>
              </a:ext>
            </a:extLst>
          </p:cNvPr>
          <p:cNvSpPr/>
          <p:nvPr/>
        </p:nvSpPr>
        <p:spPr>
          <a:xfrm>
            <a:off x="10287000" y="476250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SATURATION</a:t>
            </a:r>
          </a:p>
        </p:txBody>
      </p:sp>
      <p:sp>
        <p:nvSpPr>
          <p:cNvPr id="15" name="lab @3">
            <a:extLst>
              <a:ext uri="{FF2B5EF4-FFF2-40B4-BE49-F238E27FC236}">
                <a16:creationId xmlns:a16="http://schemas.microsoft.com/office/drawing/2014/main" id="{695376DA-E97C-62F4-51DC-06CA957CD9E8}"/>
              </a:ext>
            </a:extLst>
          </p:cNvPr>
          <p:cNvSpPr txBox="1"/>
          <p:nvPr/>
        </p:nvSpPr>
        <p:spPr>
          <a:xfrm>
            <a:off x="12087860" y="4737099"/>
            <a:ext cx="528574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AB91C5F-A33B-D90E-E07F-17485F6A34C1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AB91C5F-A33B-D90E-E07F-17485F6A3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7A6D41AB-6558-80DE-276A-2169188D467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DE040A3B-B0D4-130D-BED5-4183459CF4C1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71144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5FCE922-EBBB-3D91-7BE4-D2FF6C81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772CCE4A-5DEF-E35C-60F2-47CF928C3AEA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EAB2C7C-8DCF-5463-B9FD-49567FBC73D6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7E068B-0E04-306E-E474-FAE56904BB04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D850BAF-E0C1-B9C2-E516-10A023A0F84D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A4A181E-240B-68E0-0C25-D9D1BF702CD5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ABE5F014-B12F-6E96-3E72-1030ABD36B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F5BB662-7148-9863-67D4-021DE609BDA5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8E5A16F3-62E6-1818-D08F-4567E364FDD9}"/>
              </a:ext>
            </a:extLst>
          </p:cNvPr>
          <p:cNvSpPr/>
          <p:nvPr/>
        </p:nvSpPr>
        <p:spPr>
          <a:xfrm>
            <a:off x="10287000" y="2349500"/>
            <a:ext cx="116179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TRIODE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C5D24594-1D36-1FD6-CC39-D1BEB238D395}"/>
              </a:ext>
            </a:extLst>
          </p:cNvPr>
          <p:cNvSpPr txBox="1"/>
          <p:nvPr/>
        </p:nvSpPr>
        <p:spPr>
          <a:xfrm>
            <a:off x="11651996" y="2324099"/>
            <a:ext cx="5721604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20D713E0-5AE8-E0F9-CB9C-B8EEA0194057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20D713E0-5AE8-E0F9-CB9C-B8EEA0194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ab @3">
            <a:extLst>
              <a:ext uri="{FF2B5EF4-FFF2-40B4-BE49-F238E27FC236}">
                <a16:creationId xmlns:a16="http://schemas.microsoft.com/office/drawing/2014/main" id="{57E5EF42-36D2-442A-1A6A-20A5211A13F5}"/>
              </a:ext>
            </a:extLst>
          </p:cNvPr>
          <p:cNvSpPr/>
          <p:nvPr/>
        </p:nvSpPr>
        <p:spPr>
          <a:xfrm>
            <a:off x="10287000" y="476250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SATURATION</a:t>
            </a:r>
          </a:p>
        </p:txBody>
      </p:sp>
      <p:sp>
        <p:nvSpPr>
          <p:cNvPr id="15" name="lab @3">
            <a:extLst>
              <a:ext uri="{FF2B5EF4-FFF2-40B4-BE49-F238E27FC236}">
                <a16:creationId xmlns:a16="http://schemas.microsoft.com/office/drawing/2014/main" id="{695376DA-E97C-62F4-51DC-06CA957CD9E8}"/>
              </a:ext>
            </a:extLst>
          </p:cNvPr>
          <p:cNvSpPr txBox="1"/>
          <p:nvPr/>
        </p:nvSpPr>
        <p:spPr>
          <a:xfrm>
            <a:off x="12087860" y="4737099"/>
            <a:ext cx="528574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AB91C5F-A33B-D90E-E07F-17485F6A34C1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AB91C5F-A33B-D90E-E07F-17485F6A3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note @4">
            <a:extLst>
              <a:ext uri="{FF2B5EF4-FFF2-40B4-BE49-F238E27FC236}">
                <a16:creationId xmlns:a16="http://schemas.microsoft.com/office/drawing/2014/main" id="{61B22138-AB99-ABAA-6CB9-23E6EE790859}"/>
              </a:ext>
            </a:extLst>
          </p:cNvPr>
          <p:cNvSpPr txBox="1"/>
          <p:nvPr/>
        </p:nvSpPr>
        <p:spPr>
          <a:xfrm>
            <a:off x="10287000" y="7175499"/>
            <a:ext cx="7086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Both require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: without a channel,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0 (cutoff).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C1F7EADE-B189-FE60-E7A7-3F4B2350674B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FFE601A5-E34B-C541-CCCE-3AFAAFC8789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11141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E17716-A211-499F-73B5-3E7090B1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DE1DE1A2-D927-FA97-2E3D-675D66646328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E0C6087-A815-08E3-33D2-84C30479BC1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B9750F3-7021-0AC5-7363-AE28B111D738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DE18EC03-8CD2-CCE1-06F8-4FA0C2E269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EDAEE4CF-16F9-B71C-723E-0F005592C6D8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C0454A3A-1B79-66D4-9095-DFF28C9F692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A768233-55D7-187D-F0BA-F1967C845B21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15A09368-ADBF-62B6-0F79-052691FEC7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74EA-1046-F6BC-C15B-5FED5044C721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A420CCF-9F18-F98D-BE5A-DD740D42808C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778C10CC-BC9E-7462-9BC4-B709446646D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2BBD61F4-20FC-4068-5EAF-104E9FC6743E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AE40D383-925E-EA49-2187-05A0D6FB491D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A42570D8-1AF2-F035-2B33-9C12AA324CAA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194A68DC-9333-0CD1-2075-10B8E9804C1D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A7E7BBE1-7DE7-2C0D-B26D-5AF932DCFE89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5CB7304B-9D29-0E5F-AC54-E95137DD15B3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60FC2C47-ED3A-EC99-179A-718EF0A786F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D3E7BD18-4661-BACD-FED5-1CB32669E20D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BFD648CE-A40A-C357-F2FC-24447BA517FF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57E8F0-9142-62AB-3A8C-5F9EEFA62B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662957-30F3-D176-2344-5C92D7792F88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0D73D5B0-FBA1-6E8A-2E8A-549202EC673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D000CB04-BB79-49D6-8EDB-0C85BA7D0158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E44F580-D6A5-5045-9A9A-D1D0202A55AE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71C2B3EE-3733-29EF-1971-ECFE04AD5584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B190D513-B665-6D7A-9BED-68E462075B66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48EE1D64-5685-E930-364D-9A8541D3D996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5332349-32B7-EA66-F8D9-214DFE9050F8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ADAEFF13-0554-B851-01F8-16ADAF7215FB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A65BED45-D0FC-3469-B070-0BF35AD13CCE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F82AAD3A-A232-CF3E-53CB-4CCDB3EB93B1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86AB24-3C24-C690-C9E1-D86556141AE3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C7E906-D248-A8AF-B19E-47D12C7A5DD4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56" name="chrome page">
            <a:extLst>
              <a:ext uri="{FF2B5EF4-FFF2-40B4-BE49-F238E27FC236}">
                <a16:creationId xmlns:a16="http://schemas.microsoft.com/office/drawing/2014/main" id="{4D47BA36-378A-6FAB-E244-00C64B808CC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hrome page">
            <a:extLst>
              <a:ext uri="{FF2B5EF4-FFF2-40B4-BE49-F238E27FC236}">
                <a16:creationId xmlns:a16="http://schemas.microsoft.com/office/drawing/2014/main" id="{1388EC12-DC65-DF31-B1E0-EBC9E054C1E8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17226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E17716-A211-499F-73B5-3E7090B1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DE1DE1A2-D927-FA97-2E3D-675D66646328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E0C6087-A815-08E3-33D2-84C30479BC1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B9750F3-7021-0AC5-7363-AE28B111D738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DE18EC03-8CD2-CCE1-06F8-4FA0C2E269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EDAEE4CF-16F9-B71C-723E-0F005592C6D8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C0454A3A-1B79-66D4-9095-DFF28C9F692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A768233-55D7-187D-F0BA-F1967C845B21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15A09368-ADBF-62B6-0F79-052691FEC7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74EA-1046-F6BC-C15B-5FED5044C721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A420CCF-9F18-F98D-BE5A-DD740D42808C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778C10CC-BC9E-7462-9BC4-B709446646D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2BBD61F4-20FC-4068-5EAF-104E9FC6743E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AE40D383-925E-EA49-2187-05A0D6FB491D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A42570D8-1AF2-F035-2B33-9C12AA324CAA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194A68DC-9333-0CD1-2075-10B8E9804C1D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A7E7BBE1-7DE7-2C0D-B26D-5AF932DCFE89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5CB7304B-9D29-0E5F-AC54-E95137DD15B3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60FC2C47-ED3A-EC99-179A-718EF0A786F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D3E7BD18-4661-BACD-FED5-1CB32669E20D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BFD648CE-A40A-C357-F2FC-24447BA517FF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57E8F0-9142-62AB-3A8C-5F9EEFA62B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662957-30F3-D176-2344-5C92D7792F88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0D73D5B0-FBA1-6E8A-2E8A-549202EC673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D000CB04-BB79-49D6-8EDB-0C85BA7D0158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E44F580-D6A5-5045-9A9A-D1D0202A55AE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71C2B3EE-3733-29EF-1971-ECFE04AD5584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B190D513-B665-6D7A-9BED-68E462075B66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48EE1D64-5685-E930-364D-9A8541D3D996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5332349-32B7-EA66-F8D9-214DFE9050F8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ADAEFF13-0554-B851-01F8-16ADAF7215FB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A65BED45-D0FC-3469-B070-0BF35AD13CCE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F82AAD3A-A232-CF3E-53CB-4CCDB3EB93B1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86AB24-3C24-C690-C9E1-D86556141AE3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C7E906-D248-A8AF-B19E-47D12C7A5DD4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7" name="node @2">
            <a:extLst>
              <a:ext uri="{FF2B5EF4-FFF2-40B4-BE49-F238E27FC236}">
                <a16:creationId xmlns:a16="http://schemas.microsoft.com/office/drawing/2014/main" id="{6539A8D9-876C-8C53-DF7F-65788C620E7A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40" name="badge @2">
            <a:extLst>
              <a:ext uri="{FF2B5EF4-FFF2-40B4-BE49-F238E27FC236}">
                <a16:creationId xmlns:a16="http://schemas.microsoft.com/office/drawing/2014/main" id="{3B001AF5-BD75-7387-F1EA-A006A618DD86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1" name="lab @2">
            <a:extLst>
              <a:ext uri="{FF2B5EF4-FFF2-40B4-BE49-F238E27FC236}">
                <a16:creationId xmlns:a16="http://schemas.microsoft.com/office/drawing/2014/main" id="{39B07E9B-DF45-AA27-B7B3-40C4154F568D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blipFill>
                <a:blip r:embed="rId2"/>
                <a:stretch>
                  <a:fillRect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chrome page">
            <a:extLst>
              <a:ext uri="{FF2B5EF4-FFF2-40B4-BE49-F238E27FC236}">
                <a16:creationId xmlns:a16="http://schemas.microsoft.com/office/drawing/2014/main" id="{25F950C4-93C9-AD0D-35D0-02FBA84FC63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hrome page">
            <a:extLst>
              <a:ext uri="{FF2B5EF4-FFF2-40B4-BE49-F238E27FC236}">
                <a16:creationId xmlns:a16="http://schemas.microsoft.com/office/drawing/2014/main" id="{E32F28E1-06AB-185E-5671-1A7D741A933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23471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E17716-A211-499F-73B5-3E7090B1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DE1DE1A2-D927-FA97-2E3D-675D66646328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E0C6087-A815-08E3-33D2-84C30479BC1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B9750F3-7021-0AC5-7363-AE28B111D738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DE18EC03-8CD2-CCE1-06F8-4FA0C2E269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EDAEE4CF-16F9-B71C-723E-0F005592C6D8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C0454A3A-1B79-66D4-9095-DFF28C9F692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A768233-55D7-187D-F0BA-F1967C845B21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15A09368-ADBF-62B6-0F79-052691FEC7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74EA-1046-F6BC-C15B-5FED5044C721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A420CCF-9F18-F98D-BE5A-DD740D42808C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778C10CC-BC9E-7462-9BC4-B709446646D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2BBD61F4-20FC-4068-5EAF-104E9FC6743E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AE40D383-925E-EA49-2187-05A0D6FB491D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A42570D8-1AF2-F035-2B33-9C12AA324CAA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194A68DC-9333-0CD1-2075-10B8E9804C1D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A7E7BBE1-7DE7-2C0D-B26D-5AF932DCFE89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5CB7304B-9D29-0E5F-AC54-E95137DD15B3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60FC2C47-ED3A-EC99-179A-718EF0A786F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D3E7BD18-4661-BACD-FED5-1CB32669E20D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BFD648CE-A40A-C357-F2FC-24447BA517FF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57E8F0-9142-62AB-3A8C-5F9EEFA62B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662957-30F3-D176-2344-5C92D7792F88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0D73D5B0-FBA1-6E8A-2E8A-549202EC673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D000CB04-BB79-49D6-8EDB-0C85BA7D0158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E44F580-D6A5-5045-9A9A-D1D0202A55AE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71C2B3EE-3733-29EF-1971-ECFE04AD5584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B190D513-B665-6D7A-9BED-68E462075B66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48EE1D64-5685-E930-364D-9A8541D3D996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5332349-32B7-EA66-F8D9-214DFE9050F8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ADAEFF13-0554-B851-01F8-16ADAF7215FB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A65BED45-D0FC-3469-B070-0BF35AD13CCE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F82AAD3A-A232-CF3E-53CB-4CCDB3EB93B1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86AB24-3C24-C690-C9E1-D86556141AE3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C7E906-D248-A8AF-B19E-47D12C7A5DD4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7" name="node @2">
            <a:extLst>
              <a:ext uri="{FF2B5EF4-FFF2-40B4-BE49-F238E27FC236}">
                <a16:creationId xmlns:a16="http://schemas.microsoft.com/office/drawing/2014/main" id="{6539A8D9-876C-8C53-DF7F-65788C620E7A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40" name="badge @2">
            <a:extLst>
              <a:ext uri="{FF2B5EF4-FFF2-40B4-BE49-F238E27FC236}">
                <a16:creationId xmlns:a16="http://schemas.microsoft.com/office/drawing/2014/main" id="{3B001AF5-BD75-7387-F1EA-A006A618DD86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1" name="lab @2">
            <a:extLst>
              <a:ext uri="{FF2B5EF4-FFF2-40B4-BE49-F238E27FC236}">
                <a16:creationId xmlns:a16="http://schemas.microsoft.com/office/drawing/2014/main" id="{39B07E9B-DF45-AA27-B7B3-40C4154F568D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blipFill>
                <a:blip r:embed="rId2"/>
                <a:stretch>
                  <a:fillRect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badge @3">
            <a:extLst>
              <a:ext uri="{FF2B5EF4-FFF2-40B4-BE49-F238E27FC236}">
                <a16:creationId xmlns:a16="http://schemas.microsoft.com/office/drawing/2014/main" id="{9280DAC6-A444-C343-658F-13FA950BFD45}"/>
              </a:ext>
            </a:extLst>
          </p:cNvPr>
          <p:cNvSpPr/>
          <p:nvPr/>
        </p:nvSpPr>
        <p:spPr>
          <a:xfrm>
            <a:off x="8128000" y="41529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6896F3A0-EB42-E495-9D92-DA36A68ED5C3}"/>
              </a:ext>
            </a:extLst>
          </p:cNvPr>
          <p:cNvSpPr txBox="1"/>
          <p:nvPr/>
        </p:nvSpPr>
        <p:spPr>
          <a:xfrm>
            <a:off x="8737600" y="41401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Assume saturation, with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  (I in mA, R in k</a:t>
            </a:r>
            <a:r>
              <a:rPr lang="el-GR" sz="2100">
                <a:solidFill>
                  <a:srgbClr val="4D5B54"/>
                </a:solidFill>
              </a:rPr>
              <a:t>Ω)</a:t>
            </a:r>
            <a:endParaRPr lang="en-US" sz="21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1FA1744F-1E7C-AC74-6054-68C05BF9689A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1FA1744F-1E7C-AC74-6054-68C05BF96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chrome page">
            <a:extLst>
              <a:ext uri="{FF2B5EF4-FFF2-40B4-BE49-F238E27FC236}">
                <a16:creationId xmlns:a16="http://schemas.microsoft.com/office/drawing/2014/main" id="{C71D474B-C907-B6BB-1B84-34F3FBE964F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hrome page">
            <a:extLst>
              <a:ext uri="{FF2B5EF4-FFF2-40B4-BE49-F238E27FC236}">
                <a16:creationId xmlns:a16="http://schemas.microsoft.com/office/drawing/2014/main" id="{3E07BF12-7199-D20A-61B0-F05831F3372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46104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E17716-A211-499F-73B5-3E7090B1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DE1DE1A2-D927-FA97-2E3D-675D66646328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E0C6087-A815-08E3-33D2-84C30479BC1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B9750F3-7021-0AC5-7363-AE28B111D738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DE18EC03-8CD2-CCE1-06F8-4FA0C2E269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EDAEE4CF-16F9-B71C-723E-0F005592C6D8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C0454A3A-1B79-66D4-9095-DFF28C9F692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A768233-55D7-187D-F0BA-F1967C845B21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15A09368-ADBF-62B6-0F79-052691FEC7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74EA-1046-F6BC-C15B-5FED5044C721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A420CCF-9F18-F98D-BE5A-DD740D42808C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778C10CC-BC9E-7462-9BC4-B709446646D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2BBD61F4-20FC-4068-5EAF-104E9FC6743E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AE40D383-925E-EA49-2187-05A0D6FB491D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A42570D8-1AF2-F035-2B33-9C12AA324CAA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194A68DC-9333-0CD1-2075-10B8E9804C1D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A7E7BBE1-7DE7-2C0D-B26D-5AF932DCFE89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5CB7304B-9D29-0E5F-AC54-E95137DD15B3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60FC2C47-ED3A-EC99-179A-718EF0A786F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D3E7BD18-4661-BACD-FED5-1CB32669E20D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BFD648CE-A40A-C357-F2FC-24447BA517FF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57E8F0-9142-62AB-3A8C-5F9EEFA62B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662957-30F3-D176-2344-5C92D7792F88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0D73D5B0-FBA1-6E8A-2E8A-549202EC673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D000CB04-BB79-49D6-8EDB-0C85BA7D0158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E44F580-D6A5-5045-9A9A-D1D0202A55AE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71C2B3EE-3733-29EF-1971-ECFE04AD5584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B190D513-B665-6D7A-9BED-68E462075B66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48EE1D64-5685-E930-364D-9A8541D3D996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5332349-32B7-EA66-F8D9-214DFE9050F8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ADAEFF13-0554-B851-01F8-16ADAF7215FB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A65BED45-D0FC-3469-B070-0BF35AD13CCE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F82AAD3A-A232-CF3E-53CB-4CCDB3EB93B1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86AB24-3C24-C690-C9E1-D86556141AE3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C7E906-D248-A8AF-B19E-47D12C7A5DD4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7" name="node @2">
            <a:extLst>
              <a:ext uri="{FF2B5EF4-FFF2-40B4-BE49-F238E27FC236}">
                <a16:creationId xmlns:a16="http://schemas.microsoft.com/office/drawing/2014/main" id="{6539A8D9-876C-8C53-DF7F-65788C620E7A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40" name="badge @2">
            <a:extLst>
              <a:ext uri="{FF2B5EF4-FFF2-40B4-BE49-F238E27FC236}">
                <a16:creationId xmlns:a16="http://schemas.microsoft.com/office/drawing/2014/main" id="{3B001AF5-BD75-7387-F1EA-A006A618DD86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1" name="lab @2">
            <a:extLst>
              <a:ext uri="{FF2B5EF4-FFF2-40B4-BE49-F238E27FC236}">
                <a16:creationId xmlns:a16="http://schemas.microsoft.com/office/drawing/2014/main" id="{39B07E9B-DF45-AA27-B7B3-40C4154F568D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blipFill>
                <a:blip r:embed="rId2"/>
                <a:stretch>
                  <a:fillRect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badge @3">
            <a:extLst>
              <a:ext uri="{FF2B5EF4-FFF2-40B4-BE49-F238E27FC236}">
                <a16:creationId xmlns:a16="http://schemas.microsoft.com/office/drawing/2014/main" id="{9280DAC6-A444-C343-658F-13FA950BFD45}"/>
              </a:ext>
            </a:extLst>
          </p:cNvPr>
          <p:cNvSpPr/>
          <p:nvPr/>
        </p:nvSpPr>
        <p:spPr>
          <a:xfrm>
            <a:off x="8128000" y="41529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6896F3A0-EB42-E495-9D92-DA36A68ED5C3}"/>
              </a:ext>
            </a:extLst>
          </p:cNvPr>
          <p:cNvSpPr txBox="1"/>
          <p:nvPr/>
        </p:nvSpPr>
        <p:spPr>
          <a:xfrm>
            <a:off x="8737600" y="41401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Assume saturation, with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  (I in mA, R in k</a:t>
            </a:r>
            <a:r>
              <a:rPr lang="el-GR" sz="2100">
                <a:solidFill>
                  <a:srgbClr val="4D5B54"/>
                </a:solidFill>
              </a:rPr>
              <a:t>Ω)</a:t>
            </a:r>
            <a:endParaRPr lang="en-US" sz="21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1FA1744F-1E7C-AC74-6054-68C05BF9689A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1FA1744F-1E7C-AC74-6054-68C05BF96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CB981205-A094-7916-AFDD-B74A2771D133}"/>
              </a:ext>
            </a:extLst>
          </p:cNvPr>
          <p:cNvSpPr/>
          <p:nvPr/>
        </p:nvSpPr>
        <p:spPr>
          <a:xfrm>
            <a:off x="8128000" y="57531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EC77921C-976C-FE18-579F-4E87A24665E2}"/>
              </a:ext>
            </a:extLst>
          </p:cNvPr>
          <p:cNvSpPr txBox="1"/>
          <p:nvPr/>
        </p:nvSpPr>
        <p:spPr>
          <a:xfrm>
            <a:off x="8737600" y="57403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07277E7E-595C-6D54-22A9-AFBE50EACF0A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07277E7E-595C-6D54-22A9-AFBE50EAC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chrome page">
            <a:extLst>
              <a:ext uri="{FF2B5EF4-FFF2-40B4-BE49-F238E27FC236}">
                <a16:creationId xmlns:a16="http://schemas.microsoft.com/office/drawing/2014/main" id="{C1CDCFFC-721D-4692-5503-E0EFC3AA0CDB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hrome page">
            <a:extLst>
              <a:ext uri="{FF2B5EF4-FFF2-40B4-BE49-F238E27FC236}">
                <a16:creationId xmlns:a16="http://schemas.microsoft.com/office/drawing/2014/main" id="{26326A24-0977-3047-56A9-52D871E8BE0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96048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E17716-A211-499F-73B5-3E7090B1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DE1DE1A2-D927-FA97-2E3D-675D66646328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E0C6087-A815-08E3-33D2-84C30479BC1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B9750F3-7021-0AC5-7363-AE28B111D738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DE18EC03-8CD2-CCE1-06F8-4FA0C2E269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EDAEE4CF-16F9-B71C-723E-0F005592C6D8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C0454A3A-1B79-66D4-9095-DFF28C9F692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A768233-55D7-187D-F0BA-F1967C845B21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15A09368-ADBF-62B6-0F79-052691FEC7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74EA-1046-F6BC-C15B-5FED5044C721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A420CCF-9F18-F98D-BE5A-DD740D42808C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778C10CC-BC9E-7462-9BC4-B709446646D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2BBD61F4-20FC-4068-5EAF-104E9FC6743E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AE40D383-925E-EA49-2187-05A0D6FB491D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A42570D8-1AF2-F035-2B33-9C12AA324CAA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194A68DC-9333-0CD1-2075-10B8E9804C1D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A7E7BBE1-7DE7-2C0D-B26D-5AF932DCFE89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5CB7304B-9D29-0E5F-AC54-E95137DD15B3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60FC2C47-ED3A-EC99-179A-718EF0A786F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D3E7BD18-4661-BACD-FED5-1CB32669E20D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BFD648CE-A40A-C357-F2FC-24447BA517FF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57E8F0-9142-62AB-3A8C-5F9EEFA62B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662957-30F3-D176-2344-5C92D7792F88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0D73D5B0-FBA1-6E8A-2E8A-549202EC673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D000CB04-BB79-49D6-8EDB-0C85BA7D0158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E44F580-D6A5-5045-9A9A-D1D0202A55AE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71C2B3EE-3733-29EF-1971-ECFE04AD5584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B190D513-B665-6D7A-9BED-68E462075B66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48EE1D64-5685-E930-364D-9A8541D3D996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5332349-32B7-EA66-F8D9-214DFE9050F8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ADAEFF13-0554-B851-01F8-16ADAF7215FB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A65BED45-D0FC-3469-B070-0BF35AD13CCE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F82AAD3A-A232-CF3E-53CB-4CCDB3EB93B1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86AB24-3C24-C690-C9E1-D86556141AE3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C7E906-D248-A8AF-B19E-47D12C7A5DD4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7" name="node @2">
            <a:extLst>
              <a:ext uri="{FF2B5EF4-FFF2-40B4-BE49-F238E27FC236}">
                <a16:creationId xmlns:a16="http://schemas.microsoft.com/office/drawing/2014/main" id="{6539A8D9-876C-8C53-DF7F-65788C620E7A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40" name="badge @2">
            <a:extLst>
              <a:ext uri="{FF2B5EF4-FFF2-40B4-BE49-F238E27FC236}">
                <a16:creationId xmlns:a16="http://schemas.microsoft.com/office/drawing/2014/main" id="{3B001AF5-BD75-7387-F1EA-A006A618DD86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1" name="lab @2">
            <a:extLst>
              <a:ext uri="{FF2B5EF4-FFF2-40B4-BE49-F238E27FC236}">
                <a16:creationId xmlns:a16="http://schemas.microsoft.com/office/drawing/2014/main" id="{39B07E9B-DF45-AA27-B7B3-40C4154F568D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blipFill>
                <a:blip r:embed="rId2"/>
                <a:stretch>
                  <a:fillRect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badge @3">
            <a:extLst>
              <a:ext uri="{FF2B5EF4-FFF2-40B4-BE49-F238E27FC236}">
                <a16:creationId xmlns:a16="http://schemas.microsoft.com/office/drawing/2014/main" id="{9280DAC6-A444-C343-658F-13FA950BFD45}"/>
              </a:ext>
            </a:extLst>
          </p:cNvPr>
          <p:cNvSpPr/>
          <p:nvPr/>
        </p:nvSpPr>
        <p:spPr>
          <a:xfrm>
            <a:off x="8128000" y="41529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6896F3A0-EB42-E495-9D92-DA36A68ED5C3}"/>
              </a:ext>
            </a:extLst>
          </p:cNvPr>
          <p:cNvSpPr txBox="1"/>
          <p:nvPr/>
        </p:nvSpPr>
        <p:spPr>
          <a:xfrm>
            <a:off x="8737600" y="41401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Assume saturation, with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  (I in mA, R in k</a:t>
            </a:r>
            <a:r>
              <a:rPr lang="el-GR" sz="2100">
                <a:solidFill>
                  <a:srgbClr val="4D5B54"/>
                </a:solidFill>
              </a:rPr>
              <a:t>Ω)</a:t>
            </a:r>
            <a:endParaRPr lang="en-US" sz="21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1FA1744F-1E7C-AC74-6054-68C05BF9689A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1FA1744F-1E7C-AC74-6054-68C05BF96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CB981205-A094-7916-AFDD-B74A2771D133}"/>
              </a:ext>
            </a:extLst>
          </p:cNvPr>
          <p:cNvSpPr/>
          <p:nvPr/>
        </p:nvSpPr>
        <p:spPr>
          <a:xfrm>
            <a:off x="8128000" y="57531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EC77921C-976C-FE18-579F-4E87A24665E2}"/>
              </a:ext>
            </a:extLst>
          </p:cNvPr>
          <p:cNvSpPr txBox="1"/>
          <p:nvPr/>
        </p:nvSpPr>
        <p:spPr>
          <a:xfrm>
            <a:off x="8737600" y="57403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07277E7E-595C-6D54-22A9-AFBE50EACF0A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07277E7E-595C-6D54-22A9-AFBE50EAC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B97ECE13-12AB-5126-C76F-E363FD61D2FA}"/>
              </a:ext>
            </a:extLst>
          </p:cNvPr>
          <p:cNvSpPr/>
          <p:nvPr/>
        </p:nvSpPr>
        <p:spPr>
          <a:xfrm>
            <a:off x="8128000" y="70739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50" name="lab @5">
            <a:extLst>
              <a:ext uri="{FF2B5EF4-FFF2-40B4-BE49-F238E27FC236}">
                <a16:creationId xmlns:a16="http://schemas.microsoft.com/office/drawing/2014/main" id="{A8CB4BBD-6ED7-B45B-684F-75A7D178813E}"/>
              </a:ext>
            </a:extLst>
          </p:cNvPr>
          <p:cNvSpPr txBox="1"/>
          <p:nvPr/>
        </p:nvSpPr>
        <p:spPr>
          <a:xfrm>
            <a:off x="8737600" y="7061199"/>
            <a:ext cx="8636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0.89 mA would give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−0.33 V &lt;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(no channel): reject.  So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0.5 mA and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2 V.</a:t>
            </a:r>
          </a:p>
        </p:txBody>
      </p:sp>
      <p:sp>
        <p:nvSpPr>
          <p:cNvPr id="56" name="chrome page">
            <a:extLst>
              <a:ext uri="{FF2B5EF4-FFF2-40B4-BE49-F238E27FC236}">
                <a16:creationId xmlns:a16="http://schemas.microsoft.com/office/drawing/2014/main" id="{94002E5F-C296-E9BC-9860-1BAAD8F86F5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hrome page">
            <a:extLst>
              <a:ext uri="{FF2B5EF4-FFF2-40B4-BE49-F238E27FC236}">
                <a16:creationId xmlns:a16="http://schemas.microsoft.com/office/drawing/2014/main" id="{379444A3-B616-01F6-CAFC-4EDBFC7B927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83956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E17716-A211-499F-73B5-3E7090B1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DE1DE1A2-D927-FA97-2E3D-675D66646328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E0C6087-A815-08E3-33D2-84C30479BC1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B9750F3-7021-0AC5-7363-AE28B111D738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DE18EC03-8CD2-CCE1-06F8-4FA0C2E269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EDAEE4CF-16F9-B71C-723E-0F005592C6D8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C0454A3A-1B79-66D4-9095-DFF28C9F692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A768233-55D7-187D-F0BA-F1967C845B21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15A09368-ADBF-62B6-0F79-052691FEC7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74EA-1046-F6BC-C15B-5FED5044C721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A420CCF-9F18-F98D-BE5A-DD740D42808C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778C10CC-BC9E-7462-9BC4-B709446646D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2BBD61F4-20FC-4068-5EAF-104E9FC6743E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AE40D383-925E-EA49-2187-05A0D6FB491D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A42570D8-1AF2-F035-2B33-9C12AA324CAA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194A68DC-9333-0CD1-2075-10B8E9804C1D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A7E7BBE1-7DE7-2C0D-B26D-5AF932DCFE89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5CB7304B-9D29-0E5F-AC54-E95137DD15B3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60FC2C47-ED3A-EC99-179A-718EF0A786F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D3E7BD18-4661-BACD-FED5-1CB32669E20D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BFD648CE-A40A-C357-F2FC-24447BA517FF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57E8F0-9142-62AB-3A8C-5F9EEFA62B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662957-30F3-D176-2344-5C92D7792F88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0D73D5B0-FBA1-6E8A-2E8A-549202EC673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D000CB04-BB79-49D6-8EDB-0C85BA7D0158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E44F580-D6A5-5045-9A9A-D1D0202A55AE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71C2B3EE-3733-29EF-1971-ECFE04AD5584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B190D513-B665-6D7A-9BED-68E462075B66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48EE1D64-5685-E930-364D-9A8541D3D996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5332349-32B7-EA66-F8D9-214DFE9050F8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ADAEFF13-0554-B851-01F8-16ADAF7215FB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A65BED45-D0FC-3469-B070-0BF35AD13CCE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F82AAD3A-A232-CF3E-53CB-4CCDB3EB93B1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86AB24-3C24-C690-C9E1-D86556141AE3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C7E906-D248-A8AF-B19E-47D12C7A5DD4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7" name="node @2">
            <a:extLst>
              <a:ext uri="{FF2B5EF4-FFF2-40B4-BE49-F238E27FC236}">
                <a16:creationId xmlns:a16="http://schemas.microsoft.com/office/drawing/2014/main" id="{6539A8D9-876C-8C53-DF7F-65788C620E7A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38" name="node @6">
            <a:extLst>
              <a:ext uri="{FF2B5EF4-FFF2-40B4-BE49-F238E27FC236}">
                <a16:creationId xmlns:a16="http://schemas.microsoft.com/office/drawing/2014/main" id="{BF2FCD4C-A80A-4FE8-BE15-845B952D47C6}"/>
              </a:ext>
            </a:extLst>
          </p:cNvPr>
          <p:cNvSpPr txBox="1"/>
          <p:nvPr/>
        </p:nvSpPr>
        <p:spPr>
          <a:xfrm>
            <a:off x="6197600" y="6515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S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3 V</a:t>
            </a:r>
          </a:p>
        </p:txBody>
      </p:sp>
      <p:sp>
        <p:nvSpPr>
          <p:cNvPr id="39" name="node @6">
            <a:extLst>
              <a:ext uri="{FF2B5EF4-FFF2-40B4-BE49-F238E27FC236}">
                <a16:creationId xmlns:a16="http://schemas.microsoft.com/office/drawing/2014/main" id="{8D915B48-2126-5A00-A8BF-FB5F0796D84E}"/>
              </a:ext>
            </a:extLst>
          </p:cNvPr>
          <p:cNvSpPr txBox="1"/>
          <p:nvPr/>
        </p:nvSpPr>
        <p:spPr>
          <a:xfrm>
            <a:off x="6197600" y="5372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B8581A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B8581A"/>
                </a:solidFill>
                <a:latin typeface="DM Sans" pitchFamily="2" charset="0"/>
              </a:rPr>
              <a:t>D</a:t>
            </a:r>
            <a:r>
              <a:rPr lang="en-US" sz="1900" b="1">
                <a:solidFill>
                  <a:srgbClr val="B8581A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40" name="badge @2">
            <a:extLst>
              <a:ext uri="{FF2B5EF4-FFF2-40B4-BE49-F238E27FC236}">
                <a16:creationId xmlns:a16="http://schemas.microsoft.com/office/drawing/2014/main" id="{3B001AF5-BD75-7387-F1EA-A006A618DD86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1" name="lab @2">
            <a:extLst>
              <a:ext uri="{FF2B5EF4-FFF2-40B4-BE49-F238E27FC236}">
                <a16:creationId xmlns:a16="http://schemas.microsoft.com/office/drawing/2014/main" id="{39B07E9B-DF45-AA27-B7B3-40C4154F568D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blipFill>
                <a:blip r:embed="rId2"/>
                <a:stretch>
                  <a:fillRect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badge @3">
            <a:extLst>
              <a:ext uri="{FF2B5EF4-FFF2-40B4-BE49-F238E27FC236}">
                <a16:creationId xmlns:a16="http://schemas.microsoft.com/office/drawing/2014/main" id="{9280DAC6-A444-C343-658F-13FA950BFD45}"/>
              </a:ext>
            </a:extLst>
          </p:cNvPr>
          <p:cNvSpPr/>
          <p:nvPr/>
        </p:nvSpPr>
        <p:spPr>
          <a:xfrm>
            <a:off x="8128000" y="41529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6896F3A0-EB42-E495-9D92-DA36A68ED5C3}"/>
              </a:ext>
            </a:extLst>
          </p:cNvPr>
          <p:cNvSpPr txBox="1"/>
          <p:nvPr/>
        </p:nvSpPr>
        <p:spPr>
          <a:xfrm>
            <a:off x="8737600" y="41401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Assume saturation, with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  (I in mA, R in k</a:t>
            </a:r>
            <a:r>
              <a:rPr lang="el-GR" sz="2100">
                <a:solidFill>
                  <a:srgbClr val="4D5B54"/>
                </a:solidFill>
              </a:rPr>
              <a:t>Ω)</a:t>
            </a:r>
            <a:endParaRPr lang="en-US" sz="21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1FA1744F-1E7C-AC74-6054-68C05BF9689A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1FA1744F-1E7C-AC74-6054-68C05BF96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CB981205-A094-7916-AFDD-B74A2771D133}"/>
              </a:ext>
            </a:extLst>
          </p:cNvPr>
          <p:cNvSpPr/>
          <p:nvPr/>
        </p:nvSpPr>
        <p:spPr>
          <a:xfrm>
            <a:off x="8128000" y="57531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EC77921C-976C-FE18-579F-4E87A24665E2}"/>
              </a:ext>
            </a:extLst>
          </p:cNvPr>
          <p:cNvSpPr txBox="1"/>
          <p:nvPr/>
        </p:nvSpPr>
        <p:spPr>
          <a:xfrm>
            <a:off x="8737600" y="57403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07277E7E-595C-6D54-22A9-AFBE50EACF0A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07277E7E-595C-6D54-22A9-AFBE50EAC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B97ECE13-12AB-5126-C76F-E363FD61D2FA}"/>
              </a:ext>
            </a:extLst>
          </p:cNvPr>
          <p:cNvSpPr/>
          <p:nvPr/>
        </p:nvSpPr>
        <p:spPr>
          <a:xfrm>
            <a:off x="8128000" y="70739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50" name="lab @5">
            <a:extLst>
              <a:ext uri="{FF2B5EF4-FFF2-40B4-BE49-F238E27FC236}">
                <a16:creationId xmlns:a16="http://schemas.microsoft.com/office/drawing/2014/main" id="{A8CB4BBD-6ED7-B45B-684F-75A7D178813E}"/>
              </a:ext>
            </a:extLst>
          </p:cNvPr>
          <p:cNvSpPr txBox="1"/>
          <p:nvPr/>
        </p:nvSpPr>
        <p:spPr>
          <a:xfrm>
            <a:off x="8737600" y="7061199"/>
            <a:ext cx="8636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0.89 mA would give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−0.33 V &lt;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(no channel): reject.  So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0.5 mA and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2 V.</a:t>
            </a:r>
          </a:p>
        </p:txBody>
      </p:sp>
      <p:sp>
        <p:nvSpPr>
          <p:cNvPr id="51" name="badge @6">
            <a:extLst>
              <a:ext uri="{FF2B5EF4-FFF2-40B4-BE49-F238E27FC236}">
                <a16:creationId xmlns:a16="http://schemas.microsoft.com/office/drawing/2014/main" id="{A2EB2B80-DAD1-6E30-92BA-F6E737D8C219}"/>
              </a:ext>
            </a:extLst>
          </p:cNvPr>
          <p:cNvSpPr/>
          <p:nvPr/>
        </p:nvSpPr>
        <p:spPr>
          <a:xfrm>
            <a:off x="8128000" y="81661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eq @6">
                <a:extLst>
                  <a:ext uri="{FF2B5EF4-FFF2-40B4-BE49-F238E27FC236}">
                    <a16:creationId xmlns:a16="http://schemas.microsoft.com/office/drawing/2014/main" id="{0791105A-06D1-3EFC-22B0-E915C05D9108}"/>
                  </a:ext>
                </a:extLst>
              </p:cNvPr>
              <p:cNvSpPr txBox="1"/>
              <p:nvPr/>
            </p:nvSpPr>
            <p:spPr>
              <a:xfrm>
                <a:off x="8737600" y="80771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=10−0.5(6)=7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2" name="eq @6">
                <a:extLst>
                  <a:ext uri="{FF2B5EF4-FFF2-40B4-BE49-F238E27FC236}">
                    <a16:creationId xmlns:a16="http://schemas.microsoft.com/office/drawing/2014/main" id="{0791105A-06D1-3EFC-22B0-E915C05D9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8077199"/>
                <a:ext cx="8636000" cy="495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answer @6">
            <a:extLst>
              <a:ext uri="{FF2B5EF4-FFF2-40B4-BE49-F238E27FC236}">
                <a16:creationId xmlns:a16="http://schemas.microsoft.com/office/drawing/2014/main" id="{04EDC6FF-FCE9-72A8-E465-903A0B021015}"/>
              </a:ext>
            </a:extLst>
          </p:cNvPr>
          <p:cNvSpPr/>
          <p:nvPr/>
        </p:nvSpPr>
        <p:spPr>
          <a:xfrm>
            <a:off x="8737600" y="8839200"/>
            <a:ext cx="2174240" cy="579120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nswer @6">
            <a:extLst>
              <a:ext uri="{FF2B5EF4-FFF2-40B4-BE49-F238E27FC236}">
                <a16:creationId xmlns:a16="http://schemas.microsoft.com/office/drawing/2014/main" id="{70FDD8DF-B974-E04A-621F-EEFC6A8C0FDB}"/>
              </a:ext>
            </a:extLst>
          </p:cNvPr>
          <p:cNvSpPr txBox="1"/>
          <p:nvPr/>
        </p:nvSpPr>
        <p:spPr>
          <a:xfrm>
            <a:off x="8737600" y="8839199"/>
            <a:ext cx="2174240" cy="5791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 i="1">
                <a:solidFill>
                  <a:srgbClr val="FFFFFF"/>
                </a:solidFill>
                <a:latin typeface="DM Sans" pitchFamily="2" charset="0"/>
              </a:rPr>
              <a:t>V</a:t>
            </a:r>
            <a:r>
              <a:rPr lang="en-US" sz="2400" b="1" i="1" baseline="-25000">
                <a:solidFill>
                  <a:srgbClr val="FFFFFF"/>
                </a:solidFill>
                <a:latin typeface="DM Sans" pitchFamily="2" charset="0"/>
              </a:rPr>
              <a:t>D</a:t>
            </a:r>
            <a:r>
              <a:rPr lang="en-US" sz="2400" b="1">
                <a:solidFill>
                  <a:srgbClr val="FFFFFF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55" name="check @6">
            <a:extLst>
              <a:ext uri="{FF2B5EF4-FFF2-40B4-BE49-F238E27FC236}">
                <a16:creationId xmlns:a16="http://schemas.microsoft.com/office/drawing/2014/main" id="{BDA20F4B-665F-2D50-285E-CA5074A6AB83}"/>
              </a:ext>
            </a:extLst>
          </p:cNvPr>
          <p:cNvSpPr txBox="1"/>
          <p:nvPr/>
        </p:nvSpPr>
        <p:spPr>
          <a:xfrm>
            <a:off x="11216640" y="8864599"/>
            <a:ext cx="605536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✓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DS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= 4 V ≥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−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t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= 1 V: saturation holds.</a:t>
            </a:r>
          </a:p>
        </p:txBody>
      </p:sp>
      <p:sp>
        <p:nvSpPr>
          <p:cNvPr id="56" name="chrome page">
            <a:extLst>
              <a:ext uri="{FF2B5EF4-FFF2-40B4-BE49-F238E27FC236}">
                <a16:creationId xmlns:a16="http://schemas.microsoft.com/office/drawing/2014/main" id="{057D3879-CC61-C5A1-16AD-02512332C96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hrome page">
            <a:extLst>
              <a:ext uri="{FF2B5EF4-FFF2-40B4-BE49-F238E27FC236}">
                <a16:creationId xmlns:a16="http://schemas.microsoft.com/office/drawing/2014/main" id="{91EEFF56-A784-76E1-80AA-A269F0CB66A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28727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7AAEE5D-6844-ED57-6901-B91E30859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Summary: three regions of operation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BE75827-B9FF-0A3A-14C1-40B0C3429CA3}"/>
              </a:ext>
            </a:extLst>
          </p:cNvPr>
          <p:cNvSpPr/>
          <p:nvPr/>
        </p:nvSpPr>
        <p:spPr>
          <a:xfrm>
            <a:off x="914400" y="279400"/>
            <a:ext cx="257835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1211B4E-8D65-6BD3-5F57-D7D7416483AB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17FDE59-E676-D26C-AE60-F92126EF6CAA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C9D15E41-14FA-E7F8-FD10-DB12A146377D}"/>
              </a:ext>
            </a:extLst>
          </p:cNvPr>
          <p:cNvSpPr/>
          <p:nvPr/>
        </p:nvSpPr>
        <p:spPr>
          <a:xfrm>
            <a:off x="914400" y="2286000"/>
            <a:ext cx="164592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40B5AE2B-AC65-6FFE-604F-FDCB36D53F71}"/>
              </a:ext>
            </a:extLst>
          </p:cNvPr>
          <p:cNvSpPr txBox="1"/>
          <p:nvPr/>
        </p:nvSpPr>
        <p:spPr>
          <a:xfrm>
            <a:off x="12192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REGION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70F8DF77-0F18-47E8-B464-7F998331BAF0}"/>
              </a:ext>
            </a:extLst>
          </p:cNvPr>
          <p:cNvSpPr txBox="1"/>
          <p:nvPr/>
        </p:nvSpPr>
        <p:spPr>
          <a:xfrm>
            <a:off x="43434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CONDITION</a:t>
            </a:r>
          </a:p>
        </p:txBody>
      </p:sp>
      <p:sp>
        <p:nvSpPr>
          <p:cNvPr id="9" name="th">
            <a:extLst>
              <a:ext uri="{FF2B5EF4-FFF2-40B4-BE49-F238E27FC236}">
                <a16:creationId xmlns:a16="http://schemas.microsoft.com/office/drawing/2014/main" id="{6BBBB1EA-7206-5018-4026-85635F89D7C1}"/>
              </a:ext>
            </a:extLst>
          </p:cNvPr>
          <p:cNvSpPr txBox="1"/>
          <p:nvPr/>
        </p:nvSpPr>
        <p:spPr>
          <a:xfrm>
            <a:off x="98044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DRAIN CURRENT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98484E86-84A8-8A14-4A2A-D4F234FD5EB0}"/>
              </a:ext>
            </a:extLst>
          </p:cNvPr>
          <p:cNvSpPr txBox="1"/>
          <p:nvPr/>
        </p:nvSpPr>
        <p:spPr>
          <a:xfrm>
            <a:off x="1219200" y="29717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0B19A6ED-8D41-C5F1-1053-11329ADBF577}"/>
              </a:ext>
            </a:extLst>
          </p:cNvPr>
          <p:cNvSpPr txBox="1"/>
          <p:nvPr/>
        </p:nvSpPr>
        <p:spPr>
          <a:xfrm>
            <a:off x="4343400" y="29717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≤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FFEDEE86-C38A-D39B-586C-0D3495C3BBEE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FFEDEE86-C38A-D39B-586C-0D3495C3BBEE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A4334979-A7F1-E199-9725-D7BF259E278B}"/>
              </a:ext>
            </a:extLst>
          </p:cNvPr>
          <p:cNvCxnSpPr/>
          <p:nvPr/>
        </p:nvCxnSpPr>
        <p:spPr>
          <a:xfrm>
            <a:off x="914400" y="40894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6D8A97A9-371F-2D24-CE52-6F2F13236B29}"/>
              </a:ext>
            </a:extLst>
          </p:cNvPr>
          <p:cNvSpPr txBox="1"/>
          <p:nvPr/>
        </p:nvSpPr>
        <p:spPr>
          <a:xfrm>
            <a:off x="1219200" y="419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9BEFC4F5-DA4F-1A28-D9A4-A5C745C98EBE}"/>
              </a:ext>
            </a:extLst>
          </p:cNvPr>
          <p:cNvSpPr txBox="1"/>
          <p:nvPr/>
        </p:nvSpPr>
        <p:spPr>
          <a:xfrm>
            <a:off x="4343400" y="419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BE391E36-67FC-E2BF-8595-B5665CBEC6C8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BE391E36-67FC-E2BF-8595-B5665CBEC6C8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59ADA028-4D3A-1372-D9FA-C6BD1784E93B}"/>
              </a:ext>
            </a:extLst>
          </p:cNvPr>
          <p:cNvCxnSpPr/>
          <p:nvPr/>
        </p:nvCxnSpPr>
        <p:spPr>
          <a:xfrm>
            <a:off x="914400" y="53086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8C454642-2151-44AC-3786-0F4E2EA416CF}"/>
              </a:ext>
            </a:extLst>
          </p:cNvPr>
          <p:cNvSpPr txBox="1"/>
          <p:nvPr/>
        </p:nvSpPr>
        <p:spPr>
          <a:xfrm>
            <a:off x="1219200" y="541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93CBA4CF-EB93-77DF-372A-74186BBDDEDD}"/>
              </a:ext>
            </a:extLst>
          </p:cNvPr>
          <p:cNvSpPr txBox="1"/>
          <p:nvPr/>
        </p:nvSpPr>
        <p:spPr>
          <a:xfrm>
            <a:off x="4343400" y="541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643FEA36-AED7-EB4E-4BA9-93028014414E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643FEA36-AED7-EB4E-4BA9-93028014414E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012A2C51-714A-BBE0-4DB6-13D6BCA755FB}"/>
              </a:ext>
            </a:extLst>
          </p:cNvPr>
          <p:cNvCxnSpPr/>
          <p:nvPr/>
        </p:nvCxnSpPr>
        <p:spPr>
          <a:xfrm>
            <a:off x="914400" y="65278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akeaway">
            <a:extLst>
              <a:ext uri="{FF2B5EF4-FFF2-40B4-BE49-F238E27FC236}">
                <a16:creationId xmlns:a16="http://schemas.microsoft.com/office/drawing/2014/main" id="{BBCEE585-954C-FA9E-AD8F-881E331E10D9}"/>
              </a:ext>
            </a:extLst>
          </p:cNvPr>
          <p:cNvSpPr txBox="1"/>
          <p:nvPr/>
        </p:nvSpPr>
        <p:spPr>
          <a:xfrm>
            <a:off x="914400" y="69341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In a DC problem: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assume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a region,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solve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then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check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the assumption.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2531179D-0329-FBD7-1F59-AD3CCF2B74A5}"/>
              </a:ext>
            </a:extLst>
          </p:cNvPr>
          <p:cNvSpPr txBox="1"/>
          <p:nvPr/>
        </p:nvSpPr>
        <p:spPr>
          <a:xfrm>
            <a:off x="914400" y="75691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Current saturates because the channel is pinched off at the drain end.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8CCE5F10-B5A1-644D-DA89-40904308F81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hrome page">
            <a:extLst>
              <a:ext uri="{FF2B5EF4-FFF2-40B4-BE49-F238E27FC236}">
                <a16:creationId xmlns:a16="http://schemas.microsoft.com/office/drawing/2014/main" id="{6B6EA17D-B8C2-62D8-01F6-EEE124A1651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05405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1478</Words>
  <Application>Microsoft Office PowerPoint</Application>
  <PresentationFormat>Custom</PresentationFormat>
  <Paragraphs>232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Bebas Neue</vt:lpstr>
      <vt:lpstr>Cambria Math</vt:lpstr>
      <vt:lpstr>DM Sans</vt:lpstr>
      <vt:lpstr>Office Theme</vt:lpstr>
      <vt:lpstr>MOSFETs</vt:lpstr>
      <vt:lpstr>Lecture map</vt:lpstr>
      <vt:lpstr>I–V characteristics</vt:lpstr>
      <vt:lpstr>Creating a channel: the threshold voltage</vt:lpstr>
      <vt:lpstr>Creating a channel: the threshold voltage</vt:lpstr>
      <vt:lpstr>Creating a channel: the threshold voltage</vt:lpstr>
      <vt:lpstr>Triode and saturation: one curve, two equations</vt:lpstr>
      <vt:lpstr>Triode and saturation: one curve, two equations</vt:lpstr>
      <vt:lpstr>Triode and saturation: one curve, two equations</vt:lpstr>
      <vt:lpstr>Triode and saturation: one curve, two equations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2026-10-01T00:34:34Z</dcterms:created>
  <dcterms:modified xsi:type="dcterms:W3CDTF">2026-10-01T00:34:41Z</dcterms:modified>
</cp:coreProperties>
</file>