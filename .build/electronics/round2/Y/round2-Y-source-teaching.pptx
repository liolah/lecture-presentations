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72" r:id="rId7"/>
    <p:sldId id="260" r:id="rId8"/>
    <p:sldId id="268" r:id="rId9"/>
    <p:sldId id="269" r:id="rId10"/>
    <p:sldId id="270" r:id="rId11"/>
    <p:sldId id="261" r:id="rId12"/>
    <p:sldId id="263" r:id="rId13"/>
    <p:sldId id="264" r:id="rId14"/>
    <p:sldId id="265" r:id="rId15"/>
    <p:sldId id="266" r:id="rId16"/>
    <p:sldId id="267" r:id="rId17"/>
    <p:sldId id="262" r:id="rId1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B9467-2D7D-9F8B-6D6C-2AC3DCD80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250665-5C92-21F2-AF30-5C22D8A50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07B83-1793-6432-2445-483CDED63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33F8D-2E96-98AC-4E22-F5C6CC8B8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07EB4-FA7D-6387-8B31-DEB0E4483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28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015B2-58EC-4297-BE08-203B21E1D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528F4-5A95-2D7B-0BB8-7A0ED05BA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86AF-B6E9-5705-0449-3726915CD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514EC-41C6-7F82-3211-0F2E48F95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741F4-1E64-C05E-E5FD-67541623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02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969B1-1A75-6424-0F46-A6170CAA1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FF4E5-9B75-BC8A-0D6A-AAACD4286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0B017-656C-1B1C-CC49-04C518F7D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0DA58-AF4C-DF90-B1FB-783EEF977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1833F-C1EC-2F77-FB3F-86C7A95DF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825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7D783-6F9C-B67D-8B5A-C889AA6DD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83AFA-8E67-79E0-9B5B-B6300CD44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74722-4C26-07DB-90BA-AAE297A83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7EC0F-321B-73E5-46D2-0FA3DC55D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36432-31BC-CDBD-FFB3-A352C4FCA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93960-35B3-3A99-C1B5-F0DCA9B0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152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CC3EE-47F2-16A6-E353-ABA64F753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2DD44-7AD9-F16A-2149-62CAD6DF9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0ED6A-027B-FF07-4973-F2C91B9A3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0AF671-DE72-515E-751F-3D3DDBCEDA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554C79-5C2A-8FF7-6BE3-84C8F2373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979952-58AF-F88A-412B-06C51DC11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B06C95-E0D1-E1E6-E2C4-F8F70786C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79924-82EB-D373-2EBE-0EF5452C3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21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D34B8-6F1D-F968-E57B-B68EA8EAA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6B4EA7-85C0-04C0-A791-59084ADE5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305AE-42DE-2961-33E1-CE046C55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D669B-3058-F60E-2760-1AFC5CCF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15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E60CC5-1392-16CB-5F6A-9CF50BCD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81773B-5FF2-1DC7-9DC4-E13334B32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22DD9-0A7B-C256-2BEA-158354728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89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31CA-3A04-1391-AFDA-E7AD77E62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46E04-95A8-F181-99B1-ACC87E6A3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82A56-B4C0-A836-1407-AEC817EC7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C09D7-FC76-ACF2-F756-28DA2CC06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106FA-6E9C-EE31-42B4-DEECD0198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6D372-40E2-9D73-00DC-5E9BEC9E2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07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4BCBC-0AB8-AD50-7667-6BFE44A87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290D10-44AF-0333-0AC2-16049428A19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CCB60-D009-69D6-7C54-304629DB3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06083-0C4E-B079-91D7-E8125A176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E64B4-0FFF-238E-7B48-C2F30239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6533A-0F55-8D59-6D9F-7B827C323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27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B368E-5C01-3CBD-57AC-22495557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E4091-749D-5E05-E0D2-EF191521C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6E3FF-60EA-0419-E9FC-44E446CD5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2744B-2150-DE3C-50B7-8AAF4A9AC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175F4-30CC-C7DC-7237-E716663CA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47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51505D-D1C5-CC19-E34B-E632F2BD6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1A223-7467-F85C-9301-8413B1EA7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9E40B-95BC-C0DB-18BB-93922F7F8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60D69-53A3-D127-9219-62B797F07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7F472-A9EB-97A5-A16C-64468CCDD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0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BC7E97-5213-5FD0-067F-C01C17D85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5BA76-8642-6A1D-BFCD-A3A43E3D8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4125D-5309-2994-9DED-10D0F28870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15761-E937-A91A-AF41-942D255B0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B32BB-C85C-F9FC-A35F-F8218EF2F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8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53C35EF1-44DA-03FF-A4F4-944B74B8B3C4}"/>
              </a:ext>
            </a:extLst>
          </p:cNvPr>
          <p:cNvSpPr/>
          <p:nvPr/>
        </p:nvSpPr>
        <p:spPr>
          <a:xfrm>
            <a:off x="914400" y="1143000"/>
            <a:ext cx="9144000" cy="787400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9E61D4B-8135-0707-3B76-45C3C8B30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0" y="3175000"/>
            <a:ext cx="8890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7600" b="1">
                <a:solidFill>
                  <a:srgbClr val="17262E"/>
                </a:solidFill>
                <a:latin typeface="Poppins" panose="00000500000000000000" pitchFamily="2" charset="0"/>
              </a:rPr>
              <a:t>MOSFETs</a:t>
            </a:r>
          </a:p>
        </p:txBody>
      </p:sp>
      <p:sp>
        <p:nvSpPr>
          <p:cNvPr id="4" name="tag">
            <a:extLst>
              <a:ext uri="{FF2B5EF4-FFF2-40B4-BE49-F238E27FC236}">
                <a16:creationId xmlns:a16="http://schemas.microsoft.com/office/drawing/2014/main" id="{71B18C66-009D-5867-E851-16C54EA13A40}"/>
              </a:ext>
            </a:extLst>
          </p:cNvPr>
          <p:cNvSpPr/>
          <p:nvPr/>
        </p:nvSpPr>
        <p:spPr>
          <a:xfrm>
            <a:off x="1422400" y="1778000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25CPES102</a:t>
            </a:r>
          </a:p>
        </p:txBody>
      </p:sp>
      <p:sp>
        <p:nvSpPr>
          <p:cNvPr id="5" name="tag">
            <a:extLst>
              <a:ext uri="{FF2B5EF4-FFF2-40B4-BE49-F238E27FC236}">
                <a16:creationId xmlns:a16="http://schemas.microsoft.com/office/drawing/2014/main" id="{66BC7896-9DB9-090A-25A5-D4E01F6D5B91}"/>
              </a:ext>
            </a:extLst>
          </p:cNvPr>
          <p:cNvSpPr/>
          <p:nvPr/>
        </p:nvSpPr>
        <p:spPr>
          <a:xfrm>
            <a:off x="2985516" y="1778000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Lecture 3</a:t>
            </a:r>
          </a:p>
        </p:txBody>
      </p:sp>
      <p:sp>
        <p:nvSpPr>
          <p:cNvPr id="6" name="course">
            <a:extLst>
              <a:ext uri="{FF2B5EF4-FFF2-40B4-BE49-F238E27FC236}">
                <a16:creationId xmlns:a16="http://schemas.microsoft.com/office/drawing/2014/main" id="{CC25CA33-D050-9319-F44C-4284D99C24DE}"/>
              </a:ext>
            </a:extLst>
          </p:cNvPr>
          <p:cNvSpPr txBox="1"/>
          <p:nvPr/>
        </p:nvSpPr>
        <p:spPr>
          <a:xfrm>
            <a:off x="1422400" y="26034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F6170"/>
                </a:solidFill>
                <a:latin typeface="Poppins" panose="00000500000000000000" pitchFamily="2" charset="0"/>
              </a:rPr>
              <a:t>Electronic Materials and Devices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BCF0D0C0-E45D-78FC-B0F0-B5F3D90865A1}"/>
              </a:ext>
            </a:extLst>
          </p:cNvPr>
          <p:cNvSpPr txBox="1"/>
          <p:nvPr/>
        </p:nvSpPr>
        <p:spPr>
          <a:xfrm>
            <a:off x="1422400" y="4698999"/>
            <a:ext cx="812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4F5E66"/>
                </a:solidFill>
                <a:latin typeface="Nunito" pitchFamily="2" charset="0"/>
              </a:rPr>
              <a:t>Metal-oxide-semiconductor</a:t>
            </a:r>
          </a:p>
          <a:p>
            <a:r>
              <a:rPr lang="en-US" sz="2800">
                <a:solidFill>
                  <a:srgbClr val="4F5E66"/>
                </a:solidFill>
                <a:latin typeface="Nunito" pitchFamily="2" charset="0"/>
              </a:rPr>
              <a:t>field-effect transistors</a:t>
            </a: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BA6AB1BD-AA4A-FA34-C88E-6B9D78C4F733}"/>
              </a:ext>
            </a:extLst>
          </p:cNvPr>
          <p:cNvSpPr txBox="1"/>
          <p:nvPr/>
        </p:nvSpPr>
        <p:spPr>
          <a:xfrm>
            <a:off x="1422400" y="74929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17262E"/>
                </a:solidFill>
                <a:latin typeface="Poppins" panose="00000500000000000000" pitchFamily="2" charset="0"/>
              </a:rPr>
              <a:t>Dr. Zahraa Ismail</a:t>
            </a:r>
          </a:p>
        </p:txBody>
      </p:sp>
      <p:sp>
        <p:nvSpPr>
          <p:cNvPr id="9" name="meta">
            <a:extLst>
              <a:ext uri="{FF2B5EF4-FFF2-40B4-BE49-F238E27FC236}">
                <a16:creationId xmlns:a16="http://schemas.microsoft.com/office/drawing/2014/main" id="{7428BDA8-7BC0-4BB2-4E0C-47E1D6466793}"/>
              </a:ext>
            </a:extLst>
          </p:cNvPr>
          <p:cNvSpPr txBox="1"/>
          <p:nvPr/>
        </p:nvSpPr>
        <p:spPr>
          <a:xfrm>
            <a:off x="1422400" y="7924799"/>
            <a:ext cx="8382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F5E66"/>
                </a:solidFill>
                <a:latin typeface="Nunito" pitchFamily="2" charset="0"/>
              </a:rPr>
              <a:t>Computer Engineering  ·  Academic Year 2025/2026 · Semester One</a:t>
            </a:r>
          </a:p>
        </p:txBody>
      </p:sp>
      <p:cxnSp>
        <p:nvCxnSpPr>
          <p:cNvPr id="10" name="motif">
            <a:extLst>
              <a:ext uri="{FF2B5EF4-FFF2-40B4-BE49-F238E27FC236}">
                <a16:creationId xmlns:a16="http://schemas.microsoft.com/office/drawing/2014/main" id="{303C7080-2EFF-DF00-6940-12E212CF7BE4}"/>
              </a:ext>
            </a:extLst>
          </p:cNvPr>
          <p:cNvCxnSpPr/>
          <p:nvPr/>
        </p:nvCxnSpPr>
        <p:spPr>
          <a:xfrm>
            <a:off x="10922000" y="1524000"/>
            <a:ext cx="19812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5B674F51-FFA5-95ED-6210-AD63986053AA}"/>
              </a:ext>
            </a:extLst>
          </p:cNvPr>
          <p:cNvCxnSpPr/>
          <p:nvPr/>
        </p:nvCxnSpPr>
        <p:spPr>
          <a:xfrm>
            <a:off x="12903200" y="1524000"/>
            <a:ext cx="0" cy="14859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6449905E-F8D3-0B3E-8207-2B10CFADFC50}"/>
              </a:ext>
            </a:extLst>
          </p:cNvPr>
          <p:cNvCxnSpPr/>
          <p:nvPr/>
        </p:nvCxnSpPr>
        <p:spPr>
          <a:xfrm>
            <a:off x="12903200" y="3009900"/>
            <a:ext cx="19812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otif">
            <a:extLst>
              <a:ext uri="{FF2B5EF4-FFF2-40B4-BE49-F238E27FC236}">
                <a16:creationId xmlns:a16="http://schemas.microsoft.com/office/drawing/2014/main" id="{2255E666-BB64-8722-12F7-8600A5DB50E7}"/>
              </a:ext>
            </a:extLst>
          </p:cNvPr>
          <p:cNvCxnSpPr/>
          <p:nvPr/>
        </p:nvCxnSpPr>
        <p:spPr>
          <a:xfrm flipV="1">
            <a:off x="14884400" y="1854200"/>
            <a:ext cx="0" cy="11557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otif">
            <a:extLst>
              <a:ext uri="{FF2B5EF4-FFF2-40B4-BE49-F238E27FC236}">
                <a16:creationId xmlns:a16="http://schemas.microsoft.com/office/drawing/2014/main" id="{BFC790A8-3D33-77AE-2010-D673C299A6AD}"/>
              </a:ext>
            </a:extLst>
          </p:cNvPr>
          <p:cNvCxnSpPr/>
          <p:nvPr/>
        </p:nvCxnSpPr>
        <p:spPr>
          <a:xfrm>
            <a:off x="14884400" y="1854200"/>
            <a:ext cx="14859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otif">
            <a:extLst>
              <a:ext uri="{FF2B5EF4-FFF2-40B4-BE49-F238E27FC236}">
                <a16:creationId xmlns:a16="http://schemas.microsoft.com/office/drawing/2014/main" id="{19B4C1EB-F174-FE9D-1F5E-F2F5673E0C78}"/>
              </a:ext>
            </a:extLst>
          </p:cNvPr>
          <p:cNvSpPr/>
          <p:nvPr/>
        </p:nvSpPr>
        <p:spPr>
          <a:xfrm>
            <a:off x="10807700" y="140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78225D84-09A0-D3DA-AA12-22377BC4473F}"/>
              </a:ext>
            </a:extLst>
          </p:cNvPr>
          <p:cNvSpPr/>
          <p:nvPr/>
        </p:nvSpPr>
        <p:spPr>
          <a:xfrm>
            <a:off x="12788900" y="28956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tif">
            <a:extLst>
              <a:ext uri="{FF2B5EF4-FFF2-40B4-BE49-F238E27FC236}">
                <a16:creationId xmlns:a16="http://schemas.microsoft.com/office/drawing/2014/main" id="{C4CBF53E-B1E3-5181-F12D-F1A3ABDD8F1F}"/>
              </a:ext>
            </a:extLst>
          </p:cNvPr>
          <p:cNvSpPr/>
          <p:nvPr/>
        </p:nvSpPr>
        <p:spPr>
          <a:xfrm>
            <a:off x="16256000" y="17399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otif">
            <a:extLst>
              <a:ext uri="{FF2B5EF4-FFF2-40B4-BE49-F238E27FC236}">
                <a16:creationId xmlns:a16="http://schemas.microsoft.com/office/drawing/2014/main" id="{42864DAB-DB13-C4E1-4FD1-A5F12258DCE3}"/>
              </a:ext>
            </a:extLst>
          </p:cNvPr>
          <p:cNvSpPr/>
          <p:nvPr/>
        </p:nvSpPr>
        <p:spPr>
          <a:xfrm>
            <a:off x="14795500" y="29210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igure card">
            <a:extLst>
              <a:ext uri="{FF2B5EF4-FFF2-40B4-BE49-F238E27FC236}">
                <a16:creationId xmlns:a16="http://schemas.microsoft.com/office/drawing/2014/main" id="{754692D6-6876-5F46-5710-C33640E369EE}"/>
              </a:ext>
            </a:extLst>
          </p:cNvPr>
          <p:cNvSpPr/>
          <p:nvPr/>
        </p:nvSpPr>
        <p:spPr>
          <a:xfrm>
            <a:off x="10541000" y="4191000"/>
            <a:ext cx="6858000" cy="3150486"/>
          </a:xfrm>
          <a:prstGeom prst="roundRect">
            <a:avLst>
              <a:gd name="adj" fmla="val 725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figure">
            <a:extLst>
              <a:ext uri="{FF2B5EF4-FFF2-40B4-BE49-F238E27FC236}">
                <a16:creationId xmlns:a16="http://schemas.microsoft.com/office/drawing/2014/main" id="{A3FA00C5-7C3A-5325-36FC-76FC5888654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0" y="4445000"/>
            <a:ext cx="6350000" cy="2413886"/>
          </a:xfrm>
          <a:prstGeom prst="rect">
            <a:avLst/>
          </a:prstGeom>
        </p:spPr>
      </p:pic>
      <p:sp>
        <p:nvSpPr>
          <p:cNvPr id="22" name="credit">
            <a:extLst>
              <a:ext uri="{FF2B5EF4-FFF2-40B4-BE49-F238E27FC236}">
                <a16:creationId xmlns:a16="http://schemas.microsoft.com/office/drawing/2014/main" id="{81C8C792-11AE-A078-9FC1-E6CABD29AFE1}"/>
              </a:ext>
            </a:extLst>
          </p:cNvPr>
          <p:cNvSpPr txBox="1"/>
          <p:nvPr/>
        </p:nvSpPr>
        <p:spPr>
          <a:xfrm>
            <a:off x="10795000" y="6985886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75552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B7ABB81-6E92-B2A7-3B92-7BF74E781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Lecture map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4F4E710E-D31F-54F0-14DE-6D96D79D01B2}"/>
              </a:ext>
            </a:extLst>
          </p:cNvPr>
          <p:cNvSpPr/>
          <p:nvPr/>
        </p:nvSpPr>
        <p:spPr>
          <a:xfrm>
            <a:off x="914400" y="279400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Lecture 3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5B080510-B3BF-83B6-9157-0E3864B34A38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B1778E4-98FB-CDC0-468F-386DFF9C32EB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map pill">
            <a:extLst>
              <a:ext uri="{FF2B5EF4-FFF2-40B4-BE49-F238E27FC236}">
                <a16:creationId xmlns:a16="http://schemas.microsoft.com/office/drawing/2014/main" id="{563C890D-012F-F0EC-9854-77663F0BF9B0}"/>
              </a:ext>
            </a:extLst>
          </p:cNvPr>
          <p:cNvSpPr/>
          <p:nvPr/>
        </p:nvSpPr>
        <p:spPr>
          <a:xfrm>
            <a:off x="914400" y="22860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p n">
            <a:extLst>
              <a:ext uri="{FF2B5EF4-FFF2-40B4-BE49-F238E27FC236}">
                <a16:creationId xmlns:a16="http://schemas.microsoft.com/office/drawing/2014/main" id="{8152DEE2-659F-65F1-6973-58C9487666CC}"/>
              </a:ext>
            </a:extLst>
          </p:cNvPr>
          <p:cNvSpPr txBox="1"/>
          <p:nvPr/>
        </p:nvSpPr>
        <p:spPr>
          <a:xfrm>
            <a:off x="1270000" y="22859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01</a:t>
            </a:r>
          </a:p>
        </p:txBody>
      </p:sp>
      <p:sp>
        <p:nvSpPr>
          <p:cNvPr id="8" name="map t">
            <a:extLst>
              <a:ext uri="{FF2B5EF4-FFF2-40B4-BE49-F238E27FC236}">
                <a16:creationId xmlns:a16="http://schemas.microsoft.com/office/drawing/2014/main" id="{7CB2B87F-800A-A492-F4FF-70B5D37FEB77}"/>
              </a:ext>
            </a:extLst>
          </p:cNvPr>
          <p:cNvSpPr txBox="1"/>
          <p:nvPr/>
        </p:nvSpPr>
        <p:spPr>
          <a:xfrm>
            <a:off x="2082800" y="23875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Structure and operation</a:t>
            </a:r>
          </a:p>
        </p:txBody>
      </p:sp>
      <p:sp>
        <p:nvSpPr>
          <p:cNvPr id="9" name="map s">
            <a:extLst>
              <a:ext uri="{FF2B5EF4-FFF2-40B4-BE49-F238E27FC236}">
                <a16:creationId xmlns:a16="http://schemas.microsoft.com/office/drawing/2014/main" id="{BC5AE70B-7DAC-5903-4072-B7B9D7683124}"/>
              </a:ext>
            </a:extLst>
          </p:cNvPr>
          <p:cNvSpPr txBox="1"/>
          <p:nvPr/>
        </p:nvSpPr>
        <p:spPr>
          <a:xfrm>
            <a:off x="2082800" y="27685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how a channel forms; the threshold voltage</a:t>
            </a:r>
          </a:p>
        </p:txBody>
      </p:sp>
      <p:sp>
        <p:nvSpPr>
          <p:cNvPr id="10" name="arrow">
            <a:extLst>
              <a:ext uri="{FF2B5EF4-FFF2-40B4-BE49-F238E27FC236}">
                <a16:creationId xmlns:a16="http://schemas.microsoft.com/office/drawing/2014/main" id="{53C52E86-C8E1-71EF-AD9B-B7EBCD088C7A}"/>
              </a:ext>
            </a:extLst>
          </p:cNvPr>
          <p:cNvSpPr/>
          <p:nvPr/>
        </p:nvSpPr>
        <p:spPr>
          <a:xfrm>
            <a:off x="9321800" y="24765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11" name="map pill">
            <a:extLst>
              <a:ext uri="{FF2B5EF4-FFF2-40B4-BE49-F238E27FC236}">
                <a16:creationId xmlns:a16="http://schemas.microsoft.com/office/drawing/2014/main" id="{77AF924E-B6A7-A875-7C07-6783C8CFAAF2}"/>
              </a:ext>
            </a:extLst>
          </p:cNvPr>
          <p:cNvSpPr/>
          <p:nvPr/>
        </p:nvSpPr>
        <p:spPr>
          <a:xfrm>
            <a:off x="914400" y="34544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ap n">
            <a:extLst>
              <a:ext uri="{FF2B5EF4-FFF2-40B4-BE49-F238E27FC236}">
                <a16:creationId xmlns:a16="http://schemas.microsoft.com/office/drawing/2014/main" id="{1DE3F465-AD2B-12FD-33BA-58251672442E}"/>
              </a:ext>
            </a:extLst>
          </p:cNvPr>
          <p:cNvSpPr txBox="1"/>
          <p:nvPr/>
        </p:nvSpPr>
        <p:spPr>
          <a:xfrm>
            <a:off x="1270000" y="34543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02</a:t>
            </a:r>
          </a:p>
        </p:txBody>
      </p:sp>
      <p:sp>
        <p:nvSpPr>
          <p:cNvPr id="13" name="map t">
            <a:extLst>
              <a:ext uri="{FF2B5EF4-FFF2-40B4-BE49-F238E27FC236}">
                <a16:creationId xmlns:a16="http://schemas.microsoft.com/office/drawing/2014/main" id="{A0F11707-42AA-8AE8-D4DC-A6857C8E5069}"/>
              </a:ext>
            </a:extLst>
          </p:cNvPr>
          <p:cNvSpPr txBox="1"/>
          <p:nvPr/>
        </p:nvSpPr>
        <p:spPr>
          <a:xfrm>
            <a:off x="2082800" y="35559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I–V characteristics</a:t>
            </a:r>
          </a:p>
        </p:txBody>
      </p:sp>
      <p:sp>
        <p:nvSpPr>
          <p:cNvPr id="14" name="map s">
            <a:extLst>
              <a:ext uri="{FF2B5EF4-FFF2-40B4-BE49-F238E27FC236}">
                <a16:creationId xmlns:a16="http://schemas.microsoft.com/office/drawing/2014/main" id="{F6012D41-E981-BE6E-5ACE-08F775AE56AF}"/>
              </a:ext>
            </a:extLst>
          </p:cNvPr>
          <p:cNvSpPr txBox="1"/>
          <p:nvPr/>
        </p:nvSpPr>
        <p:spPr>
          <a:xfrm>
            <a:off x="2082800" y="39369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cutoff, triode and saturation</a:t>
            </a:r>
          </a:p>
        </p:txBody>
      </p:sp>
      <p:sp>
        <p:nvSpPr>
          <p:cNvPr id="15" name="arrow">
            <a:extLst>
              <a:ext uri="{FF2B5EF4-FFF2-40B4-BE49-F238E27FC236}">
                <a16:creationId xmlns:a16="http://schemas.microsoft.com/office/drawing/2014/main" id="{001067A5-FE66-D7D8-8726-102E0DF126DB}"/>
              </a:ext>
            </a:extLst>
          </p:cNvPr>
          <p:cNvSpPr/>
          <p:nvPr/>
        </p:nvSpPr>
        <p:spPr>
          <a:xfrm>
            <a:off x="9321800" y="36449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16" name="map pill">
            <a:extLst>
              <a:ext uri="{FF2B5EF4-FFF2-40B4-BE49-F238E27FC236}">
                <a16:creationId xmlns:a16="http://schemas.microsoft.com/office/drawing/2014/main" id="{B5497467-A901-2873-FDF9-AD171C667B5C}"/>
              </a:ext>
            </a:extLst>
          </p:cNvPr>
          <p:cNvSpPr/>
          <p:nvPr/>
        </p:nvSpPr>
        <p:spPr>
          <a:xfrm>
            <a:off x="914400" y="46228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ap n">
            <a:extLst>
              <a:ext uri="{FF2B5EF4-FFF2-40B4-BE49-F238E27FC236}">
                <a16:creationId xmlns:a16="http://schemas.microsoft.com/office/drawing/2014/main" id="{BB44AAF1-6C54-1AC4-CC86-17DE017C3DA6}"/>
              </a:ext>
            </a:extLst>
          </p:cNvPr>
          <p:cNvSpPr txBox="1"/>
          <p:nvPr/>
        </p:nvSpPr>
        <p:spPr>
          <a:xfrm>
            <a:off x="1270000" y="46227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03</a:t>
            </a:r>
          </a:p>
        </p:txBody>
      </p:sp>
      <p:sp>
        <p:nvSpPr>
          <p:cNvPr id="18" name="map t">
            <a:extLst>
              <a:ext uri="{FF2B5EF4-FFF2-40B4-BE49-F238E27FC236}">
                <a16:creationId xmlns:a16="http://schemas.microsoft.com/office/drawing/2014/main" id="{C1ABB1BA-2A23-6522-90C6-F49FFADAF3B7}"/>
              </a:ext>
            </a:extLst>
          </p:cNvPr>
          <p:cNvSpPr txBox="1"/>
          <p:nvPr/>
        </p:nvSpPr>
        <p:spPr>
          <a:xfrm>
            <a:off x="2082800" y="47243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MOSFETs in DC circuits</a:t>
            </a:r>
          </a:p>
        </p:txBody>
      </p:sp>
      <p:sp>
        <p:nvSpPr>
          <p:cNvPr id="19" name="map s">
            <a:extLst>
              <a:ext uri="{FF2B5EF4-FFF2-40B4-BE49-F238E27FC236}">
                <a16:creationId xmlns:a16="http://schemas.microsoft.com/office/drawing/2014/main" id="{E633DEDC-37E6-8A86-8B38-36289C76DC25}"/>
              </a:ext>
            </a:extLst>
          </p:cNvPr>
          <p:cNvSpPr txBox="1"/>
          <p:nvPr/>
        </p:nvSpPr>
        <p:spPr>
          <a:xfrm>
            <a:off x="2082800" y="51053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finding the operating point</a:t>
            </a:r>
          </a:p>
        </p:txBody>
      </p:sp>
      <p:sp>
        <p:nvSpPr>
          <p:cNvPr id="20" name="arrow">
            <a:extLst>
              <a:ext uri="{FF2B5EF4-FFF2-40B4-BE49-F238E27FC236}">
                <a16:creationId xmlns:a16="http://schemas.microsoft.com/office/drawing/2014/main" id="{9ECE17AA-3958-A339-F539-D34AF298D5F2}"/>
              </a:ext>
            </a:extLst>
          </p:cNvPr>
          <p:cNvSpPr/>
          <p:nvPr/>
        </p:nvSpPr>
        <p:spPr>
          <a:xfrm>
            <a:off x="9321800" y="48133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21" name="map pill">
            <a:extLst>
              <a:ext uri="{FF2B5EF4-FFF2-40B4-BE49-F238E27FC236}">
                <a16:creationId xmlns:a16="http://schemas.microsoft.com/office/drawing/2014/main" id="{8BA36532-2C8C-3A27-CCAC-B11B8C545BA9}"/>
              </a:ext>
            </a:extLst>
          </p:cNvPr>
          <p:cNvSpPr/>
          <p:nvPr/>
        </p:nvSpPr>
        <p:spPr>
          <a:xfrm>
            <a:off x="914400" y="57912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ap n">
            <a:extLst>
              <a:ext uri="{FF2B5EF4-FFF2-40B4-BE49-F238E27FC236}">
                <a16:creationId xmlns:a16="http://schemas.microsoft.com/office/drawing/2014/main" id="{D9BF9B23-7FF6-8728-62CB-87776B441983}"/>
              </a:ext>
            </a:extLst>
          </p:cNvPr>
          <p:cNvSpPr txBox="1"/>
          <p:nvPr/>
        </p:nvSpPr>
        <p:spPr>
          <a:xfrm>
            <a:off x="1270000" y="57911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04</a:t>
            </a:r>
          </a:p>
        </p:txBody>
      </p:sp>
      <p:sp>
        <p:nvSpPr>
          <p:cNvPr id="23" name="map t">
            <a:extLst>
              <a:ext uri="{FF2B5EF4-FFF2-40B4-BE49-F238E27FC236}">
                <a16:creationId xmlns:a16="http://schemas.microsoft.com/office/drawing/2014/main" id="{807D6554-58F4-BD13-9877-F2C40C16CEC0}"/>
              </a:ext>
            </a:extLst>
          </p:cNvPr>
          <p:cNvSpPr txBox="1"/>
          <p:nvPr/>
        </p:nvSpPr>
        <p:spPr>
          <a:xfrm>
            <a:off x="2082800" y="58927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The MOSFET as an amplifier</a:t>
            </a:r>
          </a:p>
        </p:txBody>
      </p:sp>
      <p:sp>
        <p:nvSpPr>
          <p:cNvPr id="24" name="map s">
            <a:extLst>
              <a:ext uri="{FF2B5EF4-FFF2-40B4-BE49-F238E27FC236}">
                <a16:creationId xmlns:a16="http://schemas.microsoft.com/office/drawing/2014/main" id="{5393299A-E60E-18DB-B1A3-B0F73C7B5273}"/>
              </a:ext>
            </a:extLst>
          </p:cNvPr>
          <p:cNvSpPr txBox="1"/>
          <p:nvPr/>
        </p:nvSpPr>
        <p:spPr>
          <a:xfrm>
            <a:off x="2082800" y="62737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transconductance, small-signal model</a:t>
            </a:r>
          </a:p>
        </p:txBody>
      </p:sp>
      <p:sp>
        <p:nvSpPr>
          <p:cNvPr id="25" name="arrow">
            <a:extLst>
              <a:ext uri="{FF2B5EF4-FFF2-40B4-BE49-F238E27FC236}">
                <a16:creationId xmlns:a16="http://schemas.microsoft.com/office/drawing/2014/main" id="{F30E01A3-399C-37BA-07B8-AADE94E1F124}"/>
              </a:ext>
            </a:extLst>
          </p:cNvPr>
          <p:cNvSpPr/>
          <p:nvPr/>
        </p:nvSpPr>
        <p:spPr>
          <a:xfrm>
            <a:off x="9321800" y="59817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26" name="map pill">
            <a:extLst>
              <a:ext uri="{FF2B5EF4-FFF2-40B4-BE49-F238E27FC236}">
                <a16:creationId xmlns:a16="http://schemas.microsoft.com/office/drawing/2014/main" id="{1025C4BD-0F2B-8F16-DB6D-78E2CBB417EC}"/>
              </a:ext>
            </a:extLst>
          </p:cNvPr>
          <p:cNvSpPr/>
          <p:nvPr/>
        </p:nvSpPr>
        <p:spPr>
          <a:xfrm>
            <a:off x="914400" y="69596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ap n">
            <a:extLst>
              <a:ext uri="{FF2B5EF4-FFF2-40B4-BE49-F238E27FC236}">
                <a16:creationId xmlns:a16="http://schemas.microsoft.com/office/drawing/2014/main" id="{74CAD459-2877-5115-AF2C-934FBA9E3B19}"/>
              </a:ext>
            </a:extLst>
          </p:cNvPr>
          <p:cNvSpPr txBox="1"/>
          <p:nvPr/>
        </p:nvSpPr>
        <p:spPr>
          <a:xfrm>
            <a:off x="1270000" y="69595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05</a:t>
            </a:r>
          </a:p>
        </p:txBody>
      </p:sp>
      <p:sp>
        <p:nvSpPr>
          <p:cNvPr id="28" name="map t">
            <a:extLst>
              <a:ext uri="{FF2B5EF4-FFF2-40B4-BE49-F238E27FC236}">
                <a16:creationId xmlns:a16="http://schemas.microsoft.com/office/drawing/2014/main" id="{BEDA9BBC-1E9C-7079-3B8C-AEAF0158BD25}"/>
              </a:ext>
            </a:extLst>
          </p:cNvPr>
          <p:cNvSpPr txBox="1"/>
          <p:nvPr/>
        </p:nvSpPr>
        <p:spPr>
          <a:xfrm>
            <a:off x="2082800" y="70611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The MOSFET as a switch</a:t>
            </a:r>
          </a:p>
        </p:txBody>
      </p:sp>
      <p:sp>
        <p:nvSpPr>
          <p:cNvPr id="29" name="arrow">
            <a:extLst>
              <a:ext uri="{FF2B5EF4-FFF2-40B4-BE49-F238E27FC236}">
                <a16:creationId xmlns:a16="http://schemas.microsoft.com/office/drawing/2014/main" id="{1830D9A1-7ADF-235B-9E87-688CD0E95B1B}"/>
              </a:ext>
            </a:extLst>
          </p:cNvPr>
          <p:cNvSpPr/>
          <p:nvPr/>
        </p:nvSpPr>
        <p:spPr>
          <a:xfrm>
            <a:off x="9321800" y="71501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30" name="outcomes">
            <a:extLst>
              <a:ext uri="{FF2B5EF4-FFF2-40B4-BE49-F238E27FC236}">
                <a16:creationId xmlns:a16="http://schemas.microsoft.com/office/drawing/2014/main" id="{9275D1FB-CC32-36B0-5D27-6EC9428ABEE0}"/>
              </a:ext>
            </a:extLst>
          </p:cNvPr>
          <p:cNvSpPr/>
          <p:nvPr/>
        </p:nvSpPr>
        <p:spPr>
          <a:xfrm>
            <a:off x="11176000" y="2286000"/>
            <a:ext cx="6197600" cy="5715000"/>
          </a:xfrm>
          <a:prstGeom prst="roundRect">
            <a:avLst>
              <a:gd name="adj" fmla="val 6222"/>
            </a:avLst>
          </a:prstGeom>
          <a:solidFill>
            <a:srgbClr val="E2F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ag">
            <a:extLst>
              <a:ext uri="{FF2B5EF4-FFF2-40B4-BE49-F238E27FC236}">
                <a16:creationId xmlns:a16="http://schemas.microsoft.com/office/drawing/2014/main" id="{4D41BA2F-F0E2-2766-1B27-6979FD3F6E20}"/>
              </a:ext>
            </a:extLst>
          </p:cNvPr>
          <p:cNvSpPr/>
          <p:nvPr/>
        </p:nvSpPr>
        <p:spPr>
          <a:xfrm>
            <a:off x="11557000" y="2616200"/>
            <a:ext cx="231343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By the end you can</a:t>
            </a:r>
          </a:p>
        </p:txBody>
      </p:sp>
      <p:sp>
        <p:nvSpPr>
          <p:cNvPr id="32" name="outcome">
            <a:extLst>
              <a:ext uri="{FF2B5EF4-FFF2-40B4-BE49-F238E27FC236}">
                <a16:creationId xmlns:a16="http://schemas.microsoft.com/office/drawing/2014/main" id="{E6ABB752-BD78-72BD-B725-9A103EB5DFB5}"/>
              </a:ext>
            </a:extLst>
          </p:cNvPr>
          <p:cNvSpPr txBox="1"/>
          <p:nvPr/>
        </p:nvSpPr>
        <p:spPr>
          <a:xfrm>
            <a:off x="11557000" y="3301999"/>
            <a:ext cx="5435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Explain how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creates a channel and how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pinches it off</a:t>
            </a:r>
          </a:p>
        </p:txBody>
      </p:sp>
      <p:sp>
        <p:nvSpPr>
          <p:cNvPr id="33" name="outcome">
            <a:extLst>
              <a:ext uri="{FF2B5EF4-FFF2-40B4-BE49-F238E27FC236}">
                <a16:creationId xmlns:a16="http://schemas.microsoft.com/office/drawing/2014/main" id="{743DB922-7A94-9AB6-6D99-FC9E4558828D}"/>
              </a:ext>
            </a:extLst>
          </p:cNvPr>
          <p:cNvSpPr txBox="1"/>
          <p:nvPr/>
        </p:nvSpPr>
        <p:spPr>
          <a:xfrm>
            <a:off x="11557000" y="4800599"/>
            <a:ext cx="5435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Pick the right region and use its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equation</a:t>
            </a:r>
          </a:p>
        </p:txBody>
      </p:sp>
      <p:sp>
        <p:nvSpPr>
          <p:cNvPr id="34" name="outcome">
            <a:extLst>
              <a:ext uri="{FF2B5EF4-FFF2-40B4-BE49-F238E27FC236}">
                <a16:creationId xmlns:a16="http://schemas.microsoft.com/office/drawing/2014/main" id="{3A0E3440-BA70-854E-E9E4-5A434C3B85AC}"/>
              </a:ext>
            </a:extLst>
          </p:cNvPr>
          <p:cNvSpPr txBox="1"/>
          <p:nvPr/>
        </p:nvSpPr>
        <p:spPr>
          <a:xfrm>
            <a:off x="11557000" y="6299199"/>
            <a:ext cx="5435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Find the DC operating point of a MOSFET circuit</a:t>
            </a:r>
          </a:p>
        </p:txBody>
      </p:sp>
      <p:sp>
        <p:nvSpPr>
          <p:cNvPr id="35" name="chrome page">
            <a:extLst>
              <a:ext uri="{FF2B5EF4-FFF2-40B4-BE49-F238E27FC236}">
                <a16:creationId xmlns:a16="http://schemas.microsoft.com/office/drawing/2014/main" id="{69FD7E8A-85C0-2084-E927-5950CD6379B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hrome page">
            <a:extLst>
              <a:ext uri="{FF2B5EF4-FFF2-40B4-BE49-F238E27FC236}">
                <a16:creationId xmlns:a16="http://schemas.microsoft.com/office/drawing/2014/main" id="{1E77D9A1-C66E-E45B-CC0B-B82966BDC5B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08898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0A0F2A1E-381F-955A-5C5B-CA0AF7615B41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9B805D-E9A7-5536-9C7E-4E54608F6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3174999"/>
            <a:ext cx="7112000" cy="203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I–V characteristics</a:t>
            </a:r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EA5A3ECA-AEAD-76E8-E2FD-D39AB2318338}"/>
              </a:ext>
            </a:extLst>
          </p:cNvPr>
          <p:cNvSpPr/>
          <p:nvPr/>
        </p:nvSpPr>
        <p:spPr>
          <a:xfrm>
            <a:off x="1549400" y="2921000"/>
            <a:ext cx="2667000" cy="266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6FCF8955-03AB-283F-11F1-32ED96D71061}"/>
              </a:ext>
            </a:extLst>
          </p:cNvPr>
          <p:cNvSpPr txBox="1"/>
          <p:nvPr/>
        </p:nvSpPr>
        <p:spPr>
          <a:xfrm>
            <a:off x="4724400" y="5968999"/>
            <a:ext cx="660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Increasing </a:t>
            </a:r>
            <a:r>
              <a:rPr lang="en-US" sz="22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4F5E66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: pinch-off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D12EAC18-FC4A-DE4D-35DE-3014BE8C2F34}"/>
              </a:ext>
            </a:extLst>
          </p:cNvPr>
          <p:cNvSpPr txBox="1"/>
          <p:nvPr/>
        </p:nvSpPr>
        <p:spPr>
          <a:xfrm>
            <a:off x="4724400" y="6502399"/>
            <a:ext cx="660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Triode and saturation</a:t>
            </a: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F3BA4BD6-5885-EF03-67F1-71C2A85DA575}"/>
              </a:ext>
            </a:extLst>
          </p:cNvPr>
          <p:cNvSpPr txBox="1"/>
          <p:nvPr/>
        </p:nvSpPr>
        <p:spPr>
          <a:xfrm>
            <a:off x="4724400" y="7035799"/>
            <a:ext cx="660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The </a:t>
            </a:r>
            <a:r>
              <a:rPr lang="en-US" sz="22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2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–</a:t>
            </a:r>
            <a:r>
              <a:rPr lang="en-US" sz="22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4F5E66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 family of curves</a:t>
            </a:r>
          </a:p>
        </p:txBody>
      </p:sp>
      <p:cxnSp>
        <p:nvCxnSpPr>
          <p:cNvPr id="8" name="motif">
            <a:extLst>
              <a:ext uri="{FF2B5EF4-FFF2-40B4-BE49-F238E27FC236}">
                <a16:creationId xmlns:a16="http://schemas.microsoft.com/office/drawing/2014/main" id="{D5ED4D95-54FB-0EEF-41AC-F9563D69ABD3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motif">
            <a:extLst>
              <a:ext uri="{FF2B5EF4-FFF2-40B4-BE49-F238E27FC236}">
                <a16:creationId xmlns:a16="http://schemas.microsoft.com/office/drawing/2014/main" id="{83EF1301-5252-6C0F-0D5F-6F178E464AC5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otif">
            <a:extLst>
              <a:ext uri="{FF2B5EF4-FFF2-40B4-BE49-F238E27FC236}">
                <a16:creationId xmlns:a16="http://schemas.microsoft.com/office/drawing/2014/main" id="{BFA9C3C3-1268-C4BD-F375-9334AF17865D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95935E4D-E63B-E317-3F21-4DBC38899566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14C4865C-2308-CA2D-BBF9-AAA02FF1C85F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otif">
            <a:extLst>
              <a:ext uri="{FF2B5EF4-FFF2-40B4-BE49-F238E27FC236}">
                <a16:creationId xmlns:a16="http://schemas.microsoft.com/office/drawing/2014/main" id="{D267C8C3-37F1-EEFE-501F-80BFE8AC4A4F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otif">
            <a:extLst>
              <a:ext uri="{FF2B5EF4-FFF2-40B4-BE49-F238E27FC236}">
                <a16:creationId xmlns:a16="http://schemas.microsoft.com/office/drawing/2014/main" id="{EDC4F087-D886-DD7C-2D57-FE039743463E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tif">
            <a:extLst>
              <a:ext uri="{FF2B5EF4-FFF2-40B4-BE49-F238E27FC236}">
                <a16:creationId xmlns:a16="http://schemas.microsoft.com/office/drawing/2014/main" id="{0D26FA8B-BD38-21DC-1ECA-CC91CC631DE7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EFC9CAD6-3CD9-F45B-AEBC-05AD42014D80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9F46F982-6DFF-6F79-7AD6-53FB641F708B}"/>
              </a:ext>
            </a:extLst>
          </p:cNvPr>
          <p:cNvSpPr/>
          <p:nvPr/>
        </p:nvSpPr>
        <p:spPr>
          <a:xfrm>
            <a:off x="12700000" y="38100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7489B7CB-4BB3-F06D-53B1-88EFACA05841}"/>
              </a:ext>
            </a:extLst>
          </p:cNvPr>
          <p:cNvSpPr txBox="1"/>
          <p:nvPr/>
        </p:nvSpPr>
        <p:spPr>
          <a:xfrm>
            <a:off x="12979400" y="38099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1   Structure and operation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82848BB9-FABB-3631-C582-4C5B274FF6B8}"/>
              </a:ext>
            </a:extLst>
          </p:cNvPr>
          <p:cNvSpPr/>
          <p:nvPr/>
        </p:nvSpPr>
        <p:spPr>
          <a:xfrm>
            <a:off x="12700000" y="45974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DFABAC40-2D55-3FD9-5E73-66875663E255}"/>
              </a:ext>
            </a:extLst>
          </p:cNvPr>
          <p:cNvSpPr txBox="1"/>
          <p:nvPr/>
        </p:nvSpPr>
        <p:spPr>
          <a:xfrm>
            <a:off x="12979400" y="45973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   I–V characteristics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FC1CE73C-9F02-CDBD-71C8-96C532A72F24}"/>
              </a:ext>
            </a:extLst>
          </p:cNvPr>
          <p:cNvSpPr/>
          <p:nvPr/>
        </p:nvSpPr>
        <p:spPr>
          <a:xfrm>
            <a:off x="12700000" y="53848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52C16A13-3AF1-33B8-60ED-F94B2743AF56}"/>
              </a:ext>
            </a:extLst>
          </p:cNvPr>
          <p:cNvSpPr txBox="1"/>
          <p:nvPr/>
        </p:nvSpPr>
        <p:spPr>
          <a:xfrm>
            <a:off x="12979400" y="53847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3   MOSFETs in DC circuits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526BF5D7-B6F5-F098-1AFE-EC48E8CED623}"/>
              </a:ext>
            </a:extLst>
          </p:cNvPr>
          <p:cNvSpPr/>
          <p:nvPr/>
        </p:nvSpPr>
        <p:spPr>
          <a:xfrm>
            <a:off x="12700000" y="61722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A69B5F27-1C36-B171-3442-54919FC664FC}"/>
              </a:ext>
            </a:extLst>
          </p:cNvPr>
          <p:cNvSpPr txBox="1"/>
          <p:nvPr/>
        </p:nvSpPr>
        <p:spPr>
          <a:xfrm>
            <a:off x="12979400" y="61721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4   The MOSFET as an amplifier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2F6B36E1-A071-2E9C-1861-B6804284AE79}"/>
              </a:ext>
            </a:extLst>
          </p:cNvPr>
          <p:cNvSpPr/>
          <p:nvPr/>
        </p:nvSpPr>
        <p:spPr>
          <a:xfrm>
            <a:off x="12700000" y="69596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ap">
            <a:extLst>
              <a:ext uri="{FF2B5EF4-FFF2-40B4-BE49-F238E27FC236}">
                <a16:creationId xmlns:a16="http://schemas.microsoft.com/office/drawing/2014/main" id="{B627DFD8-9B2E-7299-6B23-319B57EC0395}"/>
              </a:ext>
            </a:extLst>
          </p:cNvPr>
          <p:cNvSpPr txBox="1"/>
          <p:nvPr/>
        </p:nvSpPr>
        <p:spPr>
          <a:xfrm>
            <a:off x="12979400" y="69595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5 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4283820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449BB93-165A-CFD2-B0A6-65978C083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44CB751-1E52-E1B0-85DD-F32BC1048B38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AB41A81-3193-865C-08A2-1FB68C3175DC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3C17DAD-4D4B-B560-BF2B-B7B710D34DCF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72C28D13-79BE-78D3-94AB-2217EAFCB71A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ADB41B90-960E-9649-C135-23A728AAC22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E68F70DC-5F55-6780-8BE8-B5ACE1C27693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ara @1">
            <a:extLst>
              <a:ext uri="{FF2B5EF4-FFF2-40B4-BE49-F238E27FC236}">
                <a16:creationId xmlns:a16="http://schemas.microsoft.com/office/drawing/2014/main" id="{A4932062-642D-3CFD-1BA0-CFB81FCDEE1B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A positive </a:t>
            </a:r>
            <a:r>
              <a:rPr lang="en-US" sz="26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6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D1FB28C0-CC60-DA9A-A030-EF649653EA7F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34445D18-900A-E139-27D5-87469ECC954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09619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449BB93-165A-CFD2-B0A6-65978C083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44CB751-1E52-E1B0-85DD-F32BC1048B38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AB41A81-3193-865C-08A2-1FB68C3175DC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3C17DAD-4D4B-B560-BF2B-B7B710D34DCF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72C28D13-79BE-78D3-94AB-2217EAFCB71A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ADB41B90-960E-9649-C135-23A728AAC22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E68F70DC-5F55-6780-8BE8-B5ACE1C27693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ara @1">
            <a:extLst>
              <a:ext uri="{FF2B5EF4-FFF2-40B4-BE49-F238E27FC236}">
                <a16:creationId xmlns:a16="http://schemas.microsoft.com/office/drawing/2014/main" id="{A4932062-642D-3CFD-1BA0-CFB81FCDEE1B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A positive </a:t>
            </a:r>
            <a:r>
              <a:rPr lang="en-US" sz="26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6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1" name="para @2">
            <a:extLst>
              <a:ext uri="{FF2B5EF4-FFF2-40B4-BE49-F238E27FC236}">
                <a16:creationId xmlns:a16="http://schemas.microsoft.com/office/drawing/2014/main" id="{EEB07527-37C7-8FEB-A4D9-746D2D76D1E4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Once enough electrons gather, they form an n-type </a:t>
            </a:r>
            <a:r>
              <a:rPr lang="en-US" sz="2600" b="1">
                <a:solidFill>
                  <a:srgbClr val="17262E"/>
                </a:solidFill>
                <a:latin typeface="Nunito" pitchFamily="2" charset="0"/>
              </a:rPr>
              <a:t>inversion layer</a:t>
            </a: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: the channel that links source to drain.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AC858112-6D05-85DC-F62D-7ED6A9EA35E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F70EDD49-441C-6CF9-1814-4AE6BEE59EE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28496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449BB93-165A-CFD2-B0A6-65978C083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44CB751-1E52-E1B0-85DD-F32BC1048B38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AB41A81-3193-865C-08A2-1FB68C3175DC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3C17DAD-4D4B-B560-BF2B-B7B710D34DCF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72C28D13-79BE-78D3-94AB-2217EAFCB71A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ADB41B90-960E-9649-C135-23A728AAC22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E68F70DC-5F55-6780-8BE8-B5ACE1C27693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ara @1">
            <a:extLst>
              <a:ext uri="{FF2B5EF4-FFF2-40B4-BE49-F238E27FC236}">
                <a16:creationId xmlns:a16="http://schemas.microsoft.com/office/drawing/2014/main" id="{A4932062-642D-3CFD-1BA0-CFB81FCDEE1B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A positive </a:t>
            </a:r>
            <a:r>
              <a:rPr lang="en-US" sz="26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6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1" name="para @2">
            <a:extLst>
              <a:ext uri="{FF2B5EF4-FFF2-40B4-BE49-F238E27FC236}">
                <a16:creationId xmlns:a16="http://schemas.microsoft.com/office/drawing/2014/main" id="{EEB07527-37C7-8FEB-A4D9-746D2D76D1E4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Once enough electrons gather, they form an n-type </a:t>
            </a:r>
            <a:r>
              <a:rPr lang="en-US" sz="2600" b="1">
                <a:solidFill>
                  <a:srgbClr val="17262E"/>
                </a:solidFill>
                <a:latin typeface="Nunito" pitchFamily="2" charset="0"/>
              </a:rPr>
              <a:t>inversion layer</a:t>
            </a: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: the channel that links source to drain.</a:t>
            </a:r>
          </a:p>
        </p:txBody>
      </p:sp>
      <p:sp>
        <p:nvSpPr>
          <p:cNvPr id="12" name="def @3">
            <a:extLst>
              <a:ext uri="{FF2B5EF4-FFF2-40B4-BE49-F238E27FC236}">
                <a16:creationId xmlns:a16="http://schemas.microsoft.com/office/drawing/2014/main" id="{E8A92C88-6ED1-812B-7FE1-A7D6CB93C0A3}"/>
              </a:ext>
            </a:extLst>
          </p:cNvPr>
          <p:cNvSpPr/>
          <p:nvPr/>
        </p:nvSpPr>
        <p:spPr>
          <a:xfrm>
            <a:off x="914400" y="6223000"/>
            <a:ext cx="7366000" cy="2159000"/>
          </a:xfrm>
          <a:prstGeom prst="roundRect">
            <a:avLst>
              <a:gd name="adj" fmla="val 14118"/>
            </a:avLst>
          </a:prstGeom>
          <a:solidFill>
            <a:srgbClr val="E2F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DB2E0B43-F8C5-9354-2A30-A6A0209AB94F}"/>
              </a:ext>
            </a:extLst>
          </p:cNvPr>
          <p:cNvSpPr/>
          <p:nvPr/>
        </p:nvSpPr>
        <p:spPr>
          <a:xfrm>
            <a:off x="1244600" y="6502400"/>
            <a:ext cx="148844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Definition</a:t>
            </a:r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0254D455-F6CA-9E6B-2909-E4BC54517A46}"/>
              </a:ext>
            </a:extLst>
          </p:cNvPr>
          <p:cNvSpPr txBox="1"/>
          <p:nvPr/>
        </p:nvSpPr>
        <p:spPr>
          <a:xfrm>
            <a:off x="1244600" y="7061199"/>
            <a:ext cx="67056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17262E"/>
                </a:solidFill>
                <a:latin typeface="Nunito" pitchFamily="2" charset="0"/>
              </a:rPr>
              <a:t>Threshold voltage </a:t>
            </a:r>
            <a:r>
              <a:rPr lang="en-US" sz="2600" b="1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600" b="1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: the value of </a:t>
            </a:r>
            <a:r>
              <a:rPr lang="en-US" sz="26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6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 at which the channel just forms.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3828344B-2702-905E-A461-53B86805670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B6D983C4-D754-5A86-DB25-20BEB7CA0155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50003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E952B16-CEDF-5621-8D95-3E572326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B6583D40-2646-505F-44E3-66C64BBC08B3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61DCD3C-B190-2E98-A987-1195C3DFF1C3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23B6926-DB0F-9065-97AC-A2F96B06FAF3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DE459FB9-5711-F247-6D77-21A5B8EFE9D5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B3CC447C-CE75-758C-A506-8E8A6B98ED2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F334D70F-B411-87C0-2B7E-5CE64FD9F1B4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3DE87139-09D5-1551-E877-9A8F7620C54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FEFBDBEA-616A-6B76-9CF5-5EFE2E2DE66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96995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E952B16-CEDF-5621-8D95-3E572326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B6583D40-2646-505F-44E3-66C64BBC08B3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61DCD3C-B190-2E98-A987-1195C3DFF1C3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23B6926-DB0F-9065-97AC-A2F96B06FAF3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DE459FB9-5711-F247-6D77-21A5B8EFE9D5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B3CC447C-CE75-758C-A506-8E8A6B98ED2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F334D70F-B411-87C0-2B7E-5CE64FD9F1B4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84AB117E-5437-600F-1F1C-E536B522CC09}"/>
              </a:ext>
            </a:extLst>
          </p:cNvPr>
          <p:cNvSpPr/>
          <p:nvPr/>
        </p:nvSpPr>
        <p:spPr>
          <a:xfrm>
            <a:off x="10287000" y="2349500"/>
            <a:ext cx="107594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Triode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F90BFC69-9C1B-3E95-F676-98B305B11F1A}"/>
              </a:ext>
            </a:extLst>
          </p:cNvPr>
          <p:cNvSpPr txBox="1"/>
          <p:nvPr/>
        </p:nvSpPr>
        <p:spPr>
          <a:xfrm>
            <a:off x="11566144" y="2324099"/>
            <a:ext cx="5807456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A645CE50-9988-B8D5-B524-232BB89EEFF1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A645CE50-9988-B8D5-B524-232BB89EE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blipFill>
                <a:blip r:embed="rId3"/>
                <a:stretch>
                  <a:fillRect t="-16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hrome page">
            <a:extLst>
              <a:ext uri="{FF2B5EF4-FFF2-40B4-BE49-F238E27FC236}">
                <a16:creationId xmlns:a16="http://schemas.microsoft.com/office/drawing/2014/main" id="{9BCA978C-F4D8-CD7D-25DF-C87125E21E31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540E3B04-6621-FFF4-74B7-2D86FE3947E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06619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E952B16-CEDF-5621-8D95-3E572326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B6583D40-2646-505F-44E3-66C64BBC08B3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61DCD3C-B190-2E98-A987-1195C3DFF1C3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23B6926-DB0F-9065-97AC-A2F96B06FAF3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DE459FB9-5711-F247-6D77-21A5B8EFE9D5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B3CC447C-CE75-758C-A506-8E8A6B98ED2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F334D70F-B411-87C0-2B7E-5CE64FD9F1B4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84AB117E-5437-600F-1F1C-E536B522CC09}"/>
              </a:ext>
            </a:extLst>
          </p:cNvPr>
          <p:cNvSpPr/>
          <p:nvPr/>
        </p:nvSpPr>
        <p:spPr>
          <a:xfrm>
            <a:off x="10287000" y="2349500"/>
            <a:ext cx="107594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Triode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F90BFC69-9C1B-3E95-F676-98B305B11F1A}"/>
              </a:ext>
            </a:extLst>
          </p:cNvPr>
          <p:cNvSpPr txBox="1"/>
          <p:nvPr/>
        </p:nvSpPr>
        <p:spPr>
          <a:xfrm>
            <a:off x="11566144" y="2324099"/>
            <a:ext cx="5807456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A645CE50-9988-B8D5-B524-232BB89EEFF1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A645CE50-9988-B8D5-B524-232BB89EE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blipFill>
                <a:blip r:embed="rId3"/>
                <a:stretch>
                  <a:fillRect t="-16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ab @3">
            <a:extLst>
              <a:ext uri="{FF2B5EF4-FFF2-40B4-BE49-F238E27FC236}">
                <a16:creationId xmlns:a16="http://schemas.microsoft.com/office/drawing/2014/main" id="{E6E77212-B58B-655E-5210-E7A801B52EA4}"/>
              </a:ext>
            </a:extLst>
          </p:cNvPr>
          <p:cNvSpPr/>
          <p:nvPr/>
        </p:nvSpPr>
        <p:spPr>
          <a:xfrm>
            <a:off x="10287000" y="4762500"/>
            <a:ext cx="148844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Saturation</a:t>
            </a:r>
          </a:p>
        </p:txBody>
      </p:sp>
      <p:sp>
        <p:nvSpPr>
          <p:cNvPr id="14" name="lab @3">
            <a:extLst>
              <a:ext uri="{FF2B5EF4-FFF2-40B4-BE49-F238E27FC236}">
                <a16:creationId xmlns:a16="http://schemas.microsoft.com/office/drawing/2014/main" id="{98CF7747-9D51-095F-AA4F-CBAE2011A704}"/>
              </a:ext>
            </a:extLst>
          </p:cNvPr>
          <p:cNvSpPr txBox="1"/>
          <p:nvPr/>
        </p:nvSpPr>
        <p:spPr>
          <a:xfrm>
            <a:off x="11978640" y="4737099"/>
            <a:ext cx="539496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≥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q @3">
                <a:extLst>
                  <a:ext uri="{FF2B5EF4-FFF2-40B4-BE49-F238E27FC236}">
                    <a16:creationId xmlns:a16="http://schemas.microsoft.com/office/drawing/2014/main" id="{DF57A37D-98E6-B9C1-A2B9-2381B35D18E5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5" name="eq @3">
                <a:extLst>
                  <a:ext uri="{FF2B5EF4-FFF2-40B4-BE49-F238E27FC236}">
                    <a16:creationId xmlns:a16="http://schemas.microsoft.com/office/drawing/2014/main" id="{DF57A37D-98E6-B9C1-A2B9-2381B35D1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hrome page">
            <a:extLst>
              <a:ext uri="{FF2B5EF4-FFF2-40B4-BE49-F238E27FC236}">
                <a16:creationId xmlns:a16="http://schemas.microsoft.com/office/drawing/2014/main" id="{3BB61CB3-6E40-E4E0-C1A0-74A572CB1FE3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D2D10260-00AC-419A-9FFD-276DDEE240D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38642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E952B16-CEDF-5621-8D95-3E572326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B6583D40-2646-505F-44E3-66C64BBC08B3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61DCD3C-B190-2E98-A987-1195C3DFF1C3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23B6926-DB0F-9065-97AC-A2F96B06FAF3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DE459FB9-5711-F247-6D77-21A5B8EFE9D5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B3CC447C-CE75-758C-A506-8E8A6B98ED2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F334D70F-B411-87C0-2B7E-5CE64FD9F1B4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84AB117E-5437-600F-1F1C-E536B522CC09}"/>
              </a:ext>
            </a:extLst>
          </p:cNvPr>
          <p:cNvSpPr/>
          <p:nvPr/>
        </p:nvSpPr>
        <p:spPr>
          <a:xfrm>
            <a:off x="10287000" y="2349500"/>
            <a:ext cx="107594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Triode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F90BFC69-9C1B-3E95-F676-98B305B11F1A}"/>
              </a:ext>
            </a:extLst>
          </p:cNvPr>
          <p:cNvSpPr txBox="1"/>
          <p:nvPr/>
        </p:nvSpPr>
        <p:spPr>
          <a:xfrm>
            <a:off x="11566144" y="2324099"/>
            <a:ext cx="5807456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A645CE50-9988-B8D5-B524-232BB89EEFF1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A645CE50-9988-B8D5-B524-232BB89EE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blipFill>
                <a:blip r:embed="rId3"/>
                <a:stretch>
                  <a:fillRect t="-16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ab @3">
            <a:extLst>
              <a:ext uri="{FF2B5EF4-FFF2-40B4-BE49-F238E27FC236}">
                <a16:creationId xmlns:a16="http://schemas.microsoft.com/office/drawing/2014/main" id="{E6E77212-B58B-655E-5210-E7A801B52EA4}"/>
              </a:ext>
            </a:extLst>
          </p:cNvPr>
          <p:cNvSpPr/>
          <p:nvPr/>
        </p:nvSpPr>
        <p:spPr>
          <a:xfrm>
            <a:off x="10287000" y="4762500"/>
            <a:ext cx="148844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Saturation</a:t>
            </a:r>
          </a:p>
        </p:txBody>
      </p:sp>
      <p:sp>
        <p:nvSpPr>
          <p:cNvPr id="14" name="lab @3">
            <a:extLst>
              <a:ext uri="{FF2B5EF4-FFF2-40B4-BE49-F238E27FC236}">
                <a16:creationId xmlns:a16="http://schemas.microsoft.com/office/drawing/2014/main" id="{98CF7747-9D51-095F-AA4F-CBAE2011A704}"/>
              </a:ext>
            </a:extLst>
          </p:cNvPr>
          <p:cNvSpPr txBox="1"/>
          <p:nvPr/>
        </p:nvSpPr>
        <p:spPr>
          <a:xfrm>
            <a:off x="11978640" y="4737099"/>
            <a:ext cx="539496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≥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q @3">
                <a:extLst>
                  <a:ext uri="{FF2B5EF4-FFF2-40B4-BE49-F238E27FC236}">
                    <a16:creationId xmlns:a16="http://schemas.microsoft.com/office/drawing/2014/main" id="{DF57A37D-98E6-B9C1-A2B9-2381B35D18E5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5" name="eq @3">
                <a:extLst>
                  <a:ext uri="{FF2B5EF4-FFF2-40B4-BE49-F238E27FC236}">
                    <a16:creationId xmlns:a16="http://schemas.microsoft.com/office/drawing/2014/main" id="{DF57A37D-98E6-B9C1-A2B9-2381B35D1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note @4">
            <a:extLst>
              <a:ext uri="{FF2B5EF4-FFF2-40B4-BE49-F238E27FC236}">
                <a16:creationId xmlns:a16="http://schemas.microsoft.com/office/drawing/2014/main" id="{4E1C340F-33C3-24AD-F4EC-FDE5E1661A40}"/>
              </a:ext>
            </a:extLst>
          </p:cNvPr>
          <p:cNvSpPr txBox="1"/>
          <p:nvPr/>
        </p:nvSpPr>
        <p:spPr>
          <a:xfrm>
            <a:off x="10287000" y="7175499"/>
            <a:ext cx="7086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Both require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&gt;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: without a channel,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0 (cutoff).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3734433F-3738-A08C-F820-F175C659E89A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50C7BCA5-3B52-EAB6-A2E7-7E04B6C10E27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16497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10403F3-0085-EFFA-331E-327003F65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2573B71-46AE-50FA-980B-56FF7DF319F3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1EA726-FA57-5014-EDD9-4119CBCD7F1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00515701-509A-5BEB-905B-D9463597A7DA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3DF89C28-42F4-FE20-1D5E-894AD262EB98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Given </a:t>
            </a:r>
            <a:r>
              <a:rPr lang="en-US" sz="23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 = 1 V and k′</a:t>
            </a:r>
            <a:r>
              <a:rPr lang="en-US" sz="23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0E8779E8-F7E6-53D5-ACD1-86AD6194CE09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EA45EDF6-4479-7A40-321F-455444D3799A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26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238221E1-0DF5-A8C0-7F23-EC179CA4C295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302FC-E39D-2C6D-EFB6-4DEC8E77FFCA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+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V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726FCD15-6212-6C92-CF83-43B85F89D002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EBCDCD5E-FECB-C407-1597-2637D9C38F2A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37FBE732-77BB-133F-BF4A-AB26CEF9DC13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B390FE0F-DC3F-D49A-5C51-6112CD1285C5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8FCAC8C5-7943-0D6F-1CE3-59D7A1E7BFC6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6DF6C120-8F32-1EF0-C0F6-E05445DA5834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57BE4849-0596-4A87-6FDF-A3E7A0E1423F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385DC4A8-DC72-E910-16B4-56AA820D64B4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985FB64C-72F5-C491-E3E9-08BB723C65BF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ECA79EAF-8092-FD01-6EDB-D27466B0DF0B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769ED693-C53F-416A-475A-3B89CCDED7BC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5E4C46-419B-0CAF-A58E-F8805D32C14C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G1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CFBA61-CDA4-904E-799A-CEFA1AC17D06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G2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99D14216-F1D4-F080-90CA-4A51ABC60434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3E866BF8-791B-7CC4-2271-4F42F213E649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F879C532-546B-9BAA-93E7-1794F2F5B118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9EFDB919-48CC-8F12-961F-4456F95919F1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7262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12DCE9EB-B482-B34B-CB3E-06D8EA560B31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kt">
            <a:extLst>
              <a:ext uri="{FF2B5EF4-FFF2-40B4-BE49-F238E27FC236}">
                <a16:creationId xmlns:a16="http://schemas.microsoft.com/office/drawing/2014/main" id="{85995E86-50B2-2841-8E5E-E00B4C6ACC91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34AB24B7-A1AA-F669-A328-09CEF86BC047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2F3661E4-33F5-1158-3B05-30E003D409B9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F3406D3B-1B64-219A-1FD9-28263939D3A4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99902F88-F907-7605-5A7B-3C5FED379C77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368A22-0CF0-78E4-D230-35E9C28181B5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376167-72A1-3923-A743-09A71FD02BED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55" name="chrome page">
            <a:extLst>
              <a:ext uri="{FF2B5EF4-FFF2-40B4-BE49-F238E27FC236}">
                <a16:creationId xmlns:a16="http://schemas.microsoft.com/office/drawing/2014/main" id="{6845CCF8-3A31-EF1A-C6E6-E1AF20A0339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hrome page">
            <a:extLst>
              <a:ext uri="{FF2B5EF4-FFF2-40B4-BE49-F238E27FC236}">
                <a16:creationId xmlns:a16="http://schemas.microsoft.com/office/drawing/2014/main" id="{B658C1C7-0015-9B18-27A0-199D0CBCB01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68354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10403F3-0085-EFFA-331E-327003F65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2573B71-46AE-50FA-980B-56FF7DF319F3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1EA726-FA57-5014-EDD9-4119CBCD7F1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00515701-509A-5BEB-905B-D9463597A7DA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3DF89C28-42F4-FE20-1D5E-894AD262EB98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Given </a:t>
            </a:r>
            <a:r>
              <a:rPr lang="en-US" sz="23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 = 1 V and k′</a:t>
            </a:r>
            <a:r>
              <a:rPr lang="en-US" sz="23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0E8779E8-F7E6-53D5-ACD1-86AD6194CE09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EA45EDF6-4479-7A40-321F-455444D3799A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26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238221E1-0DF5-A8C0-7F23-EC179CA4C295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302FC-E39D-2C6D-EFB6-4DEC8E77FFCA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+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V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726FCD15-6212-6C92-CF83-43B85F89D002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EBCDCD5E-FECB-C407-1597-2637D9C38F2A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37FBE732-77BB-133F-BF4A-AB26CEF9DC13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B390FE0F-DC3F-D49A-5C51-6112CD1285C5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8FCAC8C5-7943-0D6F-1CE3-59D7A1E7BFC6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6DF6C120-8F32-1EF0-C0F6-E05445DA5834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57BE4849-0596-4A87-6FDF-A3E7A0E1423F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385DC4A8-DC72-E910-16B4-56AA820D64B4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985FB64C-72F5-C491-E3E9-08BB723C65BF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ECA79EAF-8092-FD01-6EDB-D27466B0DF0B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769ED693-C53F-416A-475A-3B89CCDED7BC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5E4C46-419B-0CAF-A58E-F8805D32C14C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G1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CFBA61-CDA4-904E-799A-CEFA1AC17D06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G2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99D14216-F1D4-F080-90CA-4A51ABC60434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3E866BF8-791B-7CC4-2271-4F42F213E649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F879C532-546B-9BAA-93E7-1794F2F5B118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9EFDB919-48CC-8F12-961F-4456F95919F1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7262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12DCE9EB-B482-B34B-CB3E-06D8EA560B31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kt">
            <a:extLst>
              <a:ext uri="{FF2B5EF4-FFF2-40B4-BE49-F238E27FC236}">
                <a16:creationId xmlns:a16="http://schemas.microsoft.com/office/drawing/2014/main" id="{85995E86-50B2-2841-8E5E-E00B4C6ACC91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34AB24B7-A1AA-F669-A328-09CEF86BC047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2F3661E4-33F5-1158-3B05-30E003D409B9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F3406D3B-1B64-219A-1FD9-28263939D3A4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99902F88-F907-7605-5A7B-3C5FED379C77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368A22-0CF0-78E4-D230-35E9C28181B5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376167-72A1-3923-A743-09A71FD02BED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6" name="node @2">
            <a:extLst>
              <a:ext uri="{FF2B5EF4-FFF2-40B4-BE49-F238E27FC236}">
                <a16:creationId xmlns:a16="http://schemas.microsoft.com/office/drawing/2014/main" id="{E09C5D2E-BA59-3A51-6D1F-4690064A3585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G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5 V</a:t>
            </a:r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7751182E-67F8-49F6-C8C9-D9C07DC6D184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395A21B6-0B95-AA44-C591-BBB4B7C66D88}"/>
              </a:ext>
            </a:extLst>
          </p:cNvPr>
          <p:cNvSpPr txBox="1"/>
          <p:nvPr/>
        </p:nvSpPr>
        <p:spPr>
          <a:xfrm>
            <a:off x="8737600" y="25399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74EEE8EE-9AC1-2388-53C9-687E5F6368C8}"/>
                  </a:ext>
                </a:extLst>
              </p:cNvPr>
              <p:cNvSpPr txBox="1"/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74EEE8EE-9AC1-2388-53C9-687E5F636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blipFill>
                <a:blip r:embed="rId2"/>
                <a:stretch>
                  <a:fillRect b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chrome page">
            <a:extLst>
              <a:ext uri="{FF2B5EF4-FFF2-40B4-BE49-F238E27FC236}">
                <a16:creationId xmlns:a16="http://schemas.microsoft.com/office/drawing/2014/main" id="{87E8E51F-525B-ED6A-06EB-E41DD749FC33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hrome page">
            <a:extLst>
              <a:ext uri="{FF2B5EF4-FFF2-40B4-BE49-F238E27FC236}">
                <a16:creationId xmlns:a16="http://schemas.microsoft.com/office/drawing/2014/main" id="{A4C945FE-999C-138C-B7D9-C498C1987791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101528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10403F3-0085-EFFA-331E-327003F65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2573B71-46AE-50FA-980B-56FF7DF319F3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1EA726-FA57-5014-EDD9-4119CBCD7F1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00515701-509A-5BEB-905B-D9463597A7DA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3DF89C28-42F4-FE20-1D5E-894AD262EB98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Given </a:t>
            </a:r>
            <a:r>
              <a:rPr lang="en-US" sz="23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 = 1 V and k′</a:t>
            </a:r>
            <a:r>
              <a:rPr lang="en-US" sz="23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0E8779E8-F7E6-53D5-ACD1-86AD6194CE09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EA45EDF6-4479-7A40-321F-455444D3799A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26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238221E1-0DF5-A8C0-7F23-EC179CA4C295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302FC-E39D-2C6D-EFB6-4DEC8E77FFCA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+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V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726FCD15-6212-6C92-CF83-43B85F89D002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EBCDCD5E-FECB-C407-1597-2637D9C38F2A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37FBE732-77BB-133F-BF4A-AB26CEF9DC13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B390FE0F-DC3F-D49A-5C51-6112CD1285C5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8FCAC8C5-7943-0D6F-1CE3-59D7A1E7BFC6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6DF6C120-8F32-1EF0-C0F6-E05445DA5834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57BE4849-0596-4A87-6FDF-A3E7A0E1423F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385DC4A8-DC72-E910-16B4-56AA820D64B4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985FB64C-72F5-C491-E3E9-08BB723C65BF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ECA79EAF-8092-FD01-6EDB-D27466B0DF0B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769ED693-C53F-416A-475A-3B89CCDED7BC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5E4C46-419B-0CAF-A58E-F8805D32C14C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G1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CFBA61-CDA4-904E-799A-CEFA1AC17D06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G2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99D14216-F1D4-F080-90CA-4A51ABC60434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3E866BF8-791B-7CC4-2271-4F42F213E649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F879C532-546B-9BAA-93E7-1794F2F5B118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9EFDB919-48CC-8F12-961F-4456F95919F1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7262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12DCE9EB-B482-B34B-CB3E-06D8EA560B31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kt">
            <a:extLst>
              <a:ext uri="{FF2B5EF4-FFF2-40B4-BE49-F238E27FC236}">
                <a16:creationId xmlns:a16="http://schemas.microsoft.com/office/drawing/2014/main" id="{85995E86-50B2-2841-8E5E-E00B4C6ACC91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34AB24B7-A1AA-F669-A328-09CEF86BC047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2F3661E4-33F5-1158-3B05-30E003D409B9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F3406D3B-1B64-219A-1FD9-28263939D3A4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99902F88-F907-7605-5A7B-3C5FED379C77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368A22-0CF0-78E4-D230-35E9C28181B5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376167-72A1-3923-A743-09A71FD02BED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6" name="node @2">
            <a:extLst>
              <a:ext uri="{FF2B5EF4-FFF2-40B4-BE49-F238E27FC236}">
                <a16:creationId xmlns:a16="http://schemas.microsoft.com/office/drawing/2014/main" id="{E09C5D2E-BA59-3A51-6D1F-4690064A3585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G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5 V</a:t>
            </a:r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7751182E-67F8-49F6-C8C9-D9C07DC6D184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395A21B6-0B95-AA44-C591-BBB4B7C66D88}"/>
              </a:ext>
            </a:extLst>
          </p:cNvPr>
          <p:cNvSpPr txBox="1"/>
          <p:nvPr/>
        </p:nvSpPr>
        <p:spPr>
          <a:xfrm>
            <a:off x="8737600" y="25399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74EEE8EE-9AC1-2388-53C9-687E5F6368C8}"/>
                  </a:ext>
                </a:extLst>
              </p:cNvPr>
              <p:cNvSpPr txBox="1"/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74EEE8EE-9AC1-2388-53C9-687E5F636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blipFill>
                <a:blip r:embed="rId2"/>
                <a:stretch>
                  <a:fillRect b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badge @3">
            <a:extLst>
              <a:ext uri="{FF2B5EF4-FFF2-40B4-BE49-F238E27FC236}">
                <a16:creationId xmlns:a16="http://schemas.microsoft.com/office/drawing/2014/main" id="{FD7DCD64-33D5-E343-E683-4D38D7E24997}"/>
              </a:ext>
            </a:extLst>
          </p:cNvPr>
          <p:cNvSpPr/>
          <p:nvPr/>
        </p:nvSpPr>
        <p:spPr>
          <a:xfrm>
            <a:off x="8128000" y="41529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CDF3B927-D41E-4A65-15AF-5A02DADAFF74}"/>
              </a:ext>
            </a:extLst>
          </p:cNvPr>
          <p:cNvSpPr txBox="1"/>
          <p:nvPr/>
        </p:nvSpPr>
        <p:spPr>
          <a:xfrm>
            <a:off x="8737600" y="41401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Assume saturation, with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100" baseline="-25000">
                <a:solidFill>
                  <a:srgbClr val="4F5E66"/>
                </a:solidFill>
                <a:latin typeface="Nunito" pitchFamily="2" charset="0"/>
              </a:rPr>
              <a:t>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  (I in mA, R in k</a:t>
            </a:r>
            <a:r>
              <a:rPr lang="el-GR" sz="2100">
                <a:solidFill>
                  <a:srgbClr val="4F5E66"/>
                </a:solidFill>
                <a:latin typeface="Nunito" pitchFamily="2" charset="0"/>
              </a:rPr>
              <a:t>Ω)</a:t>
            </a:r>
            <a:endParaRPr lang="en-US" sz="2100">
              <a:solidFill>
                <a:srgbClr val="4F5E66"/>
              </a:solidFill>
              <a:latin typeface="Nunito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2BA8C7A9-8A27-ADA8-1F8B-761DD2361DA0}"/>
                  </a:ext>
                </a:extLst>
              </p:cNvPr>
              <p:cNvSpPr txBox="1"/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2BA8C7A9-8A27-ADA8-1F8B-761DD2361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chrome page">
            <a:extLst>
              <a:ext uri="{FF2B5EF4-FFF2-40B4-BE49-F238E27FC236}">
                <a16:creationId xmlns:a16="http://schemas.microsoft.com/office/drawing/2014/main" id="{978F0DBF-F48D-21E1-8202-C70C523DE67F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hrome page">
            <a:extLst>
              <a:ext uri="{FF2B5EF4-FFF2-40B4-BE49-F238E27FC236}">
                <a16:creationId xmlns:a16="http://schemas.microsoft.com/office/drawing/2014/main" id="{005630C9-D401-8330-1BB4-5237EF58D02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57993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10403F3-0085-EFFA-331E-327003F65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2573B71-46AE-50FA-980B-56FF7DF319F3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1EA726-FA57-5014-EDD9-4119CBCD7F1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00515701-509A-5BEB-905B-D9463597A7DA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3DF89C28-42F4-FE20-1D5E-894AD262EB98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Given </a:t>
            </a:r>
            <a:r>
              <a:rPr lang="en-US" sz="23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 = 1 V and k′</a:t>
            </a:r>
            <a:r>
              <a:rPr lang="en-US" sz="23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0E8779E8-F7E6-53D5-ACD1-86AD6194CE09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EA45EDF6-4479-7A40-321F-455444D3799A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26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238221E1-0DF5-A8C0-7F23-EC179CA4C295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302FC-E39D-2C6D-EFB6-4DEC8E77FFCA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+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V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726FCD15-6212-6C92-CF83-43B85F89D002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EBCDCD5E-FECB-C407-1597-2637D9C38F2A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37FBE732-77BB-133F-BF4A-AB26CEF9DC13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B390FE0F-DC3F-D49A-5C51-6112CD1285C5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8FCAC8C5-7943-0D6F-1CE3-59D7A1E7BFC6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6DF6C120-8F32-1EF0-C0F6-E05445DA5834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57BE4849-0596-4A87-6FDF-A3E7A0E1423F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385DC4A8-DC72-E910-16B4-56AA820D64B4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985FB64C-72F5-C491-E3E9-08BB723C65BF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ECA79EAF-8092-FD01-6EDB-D27466B0DF0B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769ED693-C53F-416A-475A-3B89CCDED7BC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5E4C46-419B-0CAF-A58E-F8805D32C14C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G1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CFBA61-CDA4-904E-799A-CEFA1AC17D06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G2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99D14216-F1D4-F080-90CA-4A51ABC60434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3E866BF8-791B-7CC4-2271-4F42F213E649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F879C532-546B-9BAA-93E7-1794F2F5B118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9EFDB919-48CC-8F12-961F-4456F95919F1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7262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12DCE9EB-B482-B34B-CB3E-06D8EA560B31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kt">
            <a:extLst>
              <a:ext uri="{FF2B5EF4-FFF2-40B4-BE49-F238E27FC236}">
                <a16:creationId xmlns:a16="http://schemas.microsoft.com/office/drawing/2014/main" id="{85995E86-50B2-2841-8E5E-E00B4C6ACC91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34AB24B7-A1AA-F669-A328-09CEF86BC047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2F3661E4-33F5-1158-3B05-30E003D409B9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F3406D3B-1B64-219A-1FD9-28263939D3A4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99902F88-F907-7605-5A7B-3C5FED379C77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368A22-0CF0-78E4-D230-35E9C28181B5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376167-72A1-3923-A743-09A71FD02BED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6" name="node @2">
            <a:extLst>
              <a:ext uri="{FF2B5EF4-FFF2-40B4-BE49-F238E27FC236}">
                <a16:creationId xmlns:a16="http://schemas.microsoft.com/office/drawing/2014/main" id="{E09C5D2E-BA59-3A51-6D1F-4690064A3585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G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5 V</a:t>
            </a:r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7751182E-67F8-49F6-C8C9-D9C07DC6D184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395A21B6-0B95-AA44-C591-BBB4B7C66D88}"/>
              </a:ext>
            </a:extLst>
          </p:cNvPr>
          <p:cNvSpPr txBox="1"/>
          <p:nvPr/>
        </p:nvSpPr>
        <p:spPr>
          <a:xfrm>
            <a:off x="8737600" y="25399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74EEE8EE-9AC1-2388-53C9-687E5F6368C8}"/>
                  </a:ext>
                </a:extLst>
              </p:cNvPr>
              <p:cNvSpPr txBox="1"/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74EEE8EE-9AC1-2388-53C9-687E5F636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blipFill>
                <a:blip r:embed="rId2"/>
                <a:stretch>
                  <a:fillRect b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badge @3">
            <a:extLst>
              <a:ext uri="{FF2B5EF4-FFF2-40B4-BE49-F238E27FC236}">
                <a16:creationId xmlns:a16="http://schemas.microsoft.com/office/drawing/2014/main" id="{FD7DCD64-33D5-E343-E683-4D38D7E24997}"/>
              </a:ext>
            </a:extLst>
          </p:cNvPr>
          <p:cNvSpPr/>
          <p:nvPr/>
        </p:nvSpPr>
        <p:spPr>
          <a:xfrm>
            <a:off x="8128000" y="41529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CDF3B927-D41E-4A65-15AF-5A02DADAFF74}"/>
              </a:ext>
            </a:extLst>
          </p:cNvPr>
          <p:cNvSpPr txBox="1"/>
          <p:nvPr/>
        </p:nvSpPr>
        <p:spPr>
          <a:xfrm>
            <a:off x="8737600" y="41401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Assume saturation, with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100" baseline="-25000">
                <a:solidFill>
                  <a:srgbClr val="4F5E66"/>
                </a:solidFill>
                <a:latin typeface="Nunito" pitchFamily="2" charset="0"/>
              </a:rPr>
              <a:t>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  (I in mA, R in k</a:t>
            </a:r>
            <a:r>
              <a:rPr lang="el-GR" sz="2100">
                <a:solidFill>
                  <a:srgbClr val="4F5E66"/>
                </a:solidFill>
                <a:latin typeface="Nunito" pitchFamily="2" charset="0"/>
              </a:rPr>
              <a:t>Ω)</a:t>
            </a:r>
            <a:endParaRPr lang="en-US" sz="2100">
              <a:solidFill>
                <a:srgbClr val="4F5E66"/>
              </a:solidFill>
              <a:latin typeface="Nunito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2BA8C7A9-8A27-ADA8-1F8B-761DD2361DA0}"/>
                  </a:ext>
                </a:extLst>
              </p:cNvPr>
              <p:cNvSpPr txBox="1"/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2BA8C7A9-8A27-ADA8-1F8B-761DD2361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8F0C6FCE-4BF4-9D35-966C-1BEEA5A108F7}"/>
              </a:ext>
            </a:extLst>
          </p:cNvPr>
          <p:cNvSpPr/>
          <p:nvPr/>
        </p:nvSpPr>
        <p:spPr>
          <a:xfrm>
            <a:off x="8128000" y="57531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46" name="lab @4">
            <a:extLst>
              <a:ext uri="{FF2B5EF4-FFF2-40B4-BE49-F238E27FC236}">
                <a16:creationId xmlns:a16="http://schemas.microsoft.com/office/drawing/2014/main" id="{CA6F8522-0897-2BFC-2841-13A78A50A52D}"/>
              </a:ext>
            </a:extLst>
          </p:cNvPr>
          <p:cNvSpPr txBox="1"/>
          <p:nvPr/>
        </p:nvSpPr>
        <p:spPr>
          <a:xfrm>
            <a:off x="8737600" y="57403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ECC339D8-51D5-2729-77E5-C6DA44DD8F3E}"/>
                  </a:ext>
                </a:extLst>
              </p:cNvPr>
              <p:cNvSpPr txBox="1"/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ECC339D8-51D5-2729-77E5-C6DA44DD8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chrome page">
            <a:extLst>
              <a:ext uri="{FF2B5EF4-FFF2-40B4-BE49-F238E27FC236}">
                <a16:creationId xmlns:a16="http://schemas.microsoft.com/office/drawing/2014/main" id="{FE3FC71E-489D-0492-84E5-DA108DDF298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hrome page">
            <a:extLst>
              <a:ext uri="{FF2B5EF4-FFF2-40B4-BE49-F238E27FC236}">
                <a16:creationId xmlns:a16="http://schemas.microsoft.com/office/drawing/2014/main" id="{E91B1C0F-C5DD-A3D2-7DCB-A5E935D2130F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27713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10403F3-0085-EFFA-331E-327003F65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2573B71-46AE-50FA-980B-56FF7DF319F3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1EA726-FA57-5014-EDD9-4119CBCD7F1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00515701-509A-5BEB-905B-D9463597A7DA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3DF89C28-42F4-FE20-1D5E-894AD262EB98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Given </a:t>
            </a:r>
            <a:r>
              <a:rPr lang="en-US" sz="23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 = 1 V and k′</a:t>
            </a:r>
            <a:r>
              <a:rPr lang="en-US" sz="23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0E8779E8-F7E6-53D5-ACD1-86AD6194CE09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EA45EDF6-4479-7A40-321F-455444D3799A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26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238221E1-0DF5-A8C0-7F23-EC179CA4C295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302FC-E39D-2C6D-EFB6-4DEC8E77FFCA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+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V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726FCD15-6212-6C92-CF83-43B85F89D002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EBCDCD5E-FECB-C407-1597-2637D9C38F2A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37FBE732-77BB-133F-BF4A-AB26CEF9DC13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B390FE0F-DC3F-D49A-5C51-6112CD1285C5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8FCAC8C5-7943-0D6F-1CE3-59D7A1E7BFC6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6DF6C120-8F32-1EF0-C0F6-E05445DA5834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57BE4849-0596-4A87-6FDF-A3E7A0E1423F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385DC4A8-DC72-E910-16B4-56AA820D64B4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985FB64C-72F5-C491-E3E9-08BB723C65BF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ECA79EAF-8092-FD01-6EDB-D27466B0DF0B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769ED693-C53F-416A-475A-3B89CCDED7BC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5E4C46-419B-0CAF-A58E-F8805D32C14C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G1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CFBA61-CDA4-904E-799A-CEFA1AC17D06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G2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99D14216-F1D4-F080-90CA-4A51ABC60434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3E866BF8-791B-7CC4-2271-4F42F213E649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F879C532-546B-9BAA-93E7-1794F2F5B118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9EFDB919-48CC-8F12-961F-4456F95919F1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7262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12DCE9EB-B482-B34B-CB3E-06D8EA560B31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kt">
            <a:extLst>
              <a:ext uri="{FF2B5EF4-FFF2-40B4-BE49-F238E27FC236}">
                <a16:creationId xmlns:a16="http://schemas.microsoft.com/office/drawing/2014/main" id="{85995E86-50B2-2841-8E5E-E00B4C6ACC91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34AB24B7-A1AA-F669-A328-09CEF86BC047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2F3661E4-33F5-1158-3B05-30E003D409B9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F3406D3B-1B64-219A-1FD9-28263939D3A4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99902F88-F907-7605-5A7B-3C5FED379C77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368A22-0CF0-78E4-D230-35E9C28181B5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376167-72A1-3923-A743-09A71FD02BED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6" name="node @2">
            <a:extLst>
              <a:ext uri="{FF2B5EF4-FFF2-40B4-BE49-F238E27FC236}">
                <a16:creationId xmlns:a16="http://schemas.microsoft.com/office/drawing/2014/main" id="{E09C5D2E-BA59-3A51-6D1F-4690064A3585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G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5 V</a:t>
            </a:r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7751182E-67F8-49F6-C8C9-D9C07DC6D184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395A21B6-0B95-AA44-C591-BBB4B7C66D88}"/>
              </a:ext>
            </a:extLst>
          </p:cNvPr>
          <p:cNvSpPr txBox="1"/>
          <p:nvPr/>
        </p:nvSpPr>
        <p:spPr>
          <a:xfrm>
            <a:off x="8737600" y="25399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74EEE8EE-9AC1-2388-53C9-687E5F6368C8}"/>
                  </a:ext>
                </a:extLst>
              </p:cNvPr>
              <p:cNvSpPr txBox="1"/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74EEE8EE-9AC1-2388-53C9-687E5F636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blipFill>
                <a:blip r:embed="rId2"/>
                <a:stretch>
                  <a:fillRect b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badge @3">
            <a:extLst>
              <a:ext uri="{FF2B5EF4-FFF2-40B4-BE49-F238E27FC236}">
                <a16:creationId xmlns:a16="http://schemas.microsoft.com/office/drawing/2014/main" id="{FD7DCD64-33D5-E343-E683-4D38D7E24997}"/>
              </a:ext>
            </a:extLst>
          </p:cNvPr>
          <p:cNvSpPr/>
          <p:nvPr/>
        </p:nvSpPr>
        <p:spPr>
          <a:xfrm>
            <a:off x="8128000" y="41529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CDF3B927-D41E-4A65-15AF-5A02DADAFF74}"/>
              </a:ext>
            </a:extLst>
          </p:cNvPr>
          <p:cNvSpPr txBox="1"/>
          <p:nvPr/>
        </p:nvSpPr>
        <p:spPr>
          <a:xfrm>
            <a:off x="8737600" y="41401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Assume saturation, with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100" baseline="-25000">
                <a:solidFill>
                  <a:srgbClr val="4F5E66"/>
                </a:solidFill>
                <a:latin typeface="Nunito" pitchFamily="2" charset="0"/>
              </a:rPr>
              <a:t>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  (I in mA, R in k</a:t>
            </a:r>
            <a:r>
              <a:rPr lang="el-GR" sz="2100">
                <a:solidFill>
                  <a:srgbClr val="4F5E66"/>
                </a:solidFill>
                <a:latin typeface="Nunito" pitchFamily="2" charset="0"/>
              </a:rPr>
              <a:t>Ω)</a:t>
            </a:r>
            <a:endParaRPr lang="en-US" sz="2100">
              <a:solidFill>
                <a:srgbClr val="4F5E66"/>
              </a:solidFill>
              <a:latin typeface="Nunito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2BA8C7A9-8A27-ADA8-1F8B-761DD2361DA0}"/>
                  </a:ext>
                </a:extLst>
              </p:cNvPr>
              <p:cNvSpPr txBox="1"/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2BA8C7A9-8A27-ADA8-1F8B-761DD2361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8F0C6FCE-4BF4-9D35-966C-1BEEA5A108F7}"/>
              </a:ext>
            </a:extLst>
          </p:cNvPr>
          <p:cNvSpPr/>
          <p:nvPr/>
        </p:nvSpPr>
        <p:spPr>
          <a:xfrm>
            <a:off x="8128000" y="57531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46" name="lab @4">
            <a:extLst>
              <a:ext uri="{FF2B5EF4-FFF2-40B4-BE49-F238E27FC236}">
                <a16:creationId xmlns:a16="http://schemas.microsoft.com/office/drawing/2014/main" id="{CA6F8522-0897-2BFC-2841-13A78A50A52D}"/>
              </a:ext>
            </a:extLst>
          </p:cNvPr>
          <p:cNvSpPr txBox="1"/>
          <p:nvPr/>
        </p:nvSpPr>
        <p:spPr>
          <a:xfrm>
            <a:off x="8737600" y="57403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ECC339D8-51D5-2729-77E5-C6DA44DD8F3E}"/>
                  </a:ext>
                </a:extLst>
              </p:cNvPr>
              <p:cNvSpPr txBox="1"/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ECC339D8-51D5-2729-77E5-C6DA44DD8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badge @5">
            <a:extLst>
              <a:ext uri="{FF2B5EF4-FFF2-40B4-BE49-F238E27FC236}">
                <a16:creationId xmlns:a16="http://schemas.microsoft.com/office/drawing/2014/main" id="{A3049B84-3F79-AE36-2313-B0303306C380}"/>
              </a:ext>
            </a:extLst>
          </p:cNvPr>
          <p:cNvSpPr/>
          <p:nvPr/>
        </p:nvSpPr>
        <p:spPr>
          <a:xfrm>
            <a:off x="8128000" y="70739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  <p:sp>
        <p:nvSpPr>
          <p:cNvPr id="49" name="lab @5">
            <a:extLst>
              <a:ext uri="{FF2B5EF4-FFF2-40B4-BE49-F238E27FC236}">
                <a16:creationId xmlns:a16="http://schemas.microsoft.com/office/drawing/2014/main" id="{0A991FE9-BFB0-5F7A-76D5-5B415A9FD53D}"/>
              </a:ext>
            </a:extLst>
          </p:cNvPr>
          <p:cNvSpPr txBox="1"/>
          <p:nvPr/>
        </p:nvSpPr>
        <p:spPr>
          <a:xfrm>
            <a:off x="8737600" y="7061199"/>
            <a:ext cx="8636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= 0.89 mA would give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= −0.33 V &lt;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(no channel): reject.  So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= 0.5 mA and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= 2 V.</a:t>
            </a:r>
          </a:p>
        </p:txBody>
      </p:sp>
      <p:sp>
        <p:nvSpPr>
          <p:cNvPr id="55" name="chrome page">
            <a:extLst>
              <a:ext uri="{FF2B5EF4-FFF2-40B4-BE49-F238E27FC236}">
                <a16:creationId xmlns:a16="http://schemas.microsoft.com/office/drawing/2014/main" id="{B7BE3502-A15D-B81D-1EEC-3A306A4E69C6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hrome page">
            <a:extLst>
              <a:ext uri="{FF2B5EF4-FFF2-40B4-BE49-F238E27FC236}">
                <a16:creationId xmlns:a16="http://schemas.microsoft.com/office/drawing/2014/main" id="{9177DAFF-9F67-EF0D-F7B9-370B76AC12D2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667135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10403F3-0085-EFFA-331E-327003F65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2573B71-46AE-50FA-980B-56FF7DF319F3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1EA726-FA57-5014-EDD9-4119CBCD7F1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00515701-509A-5BEB-905B-D9463597A7DA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3DF89C28-42F4-FE20-1D5E-894AD262EB98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Given </a:t>
            </a:r>
            <a:r>
              <a:rPr lang="en-US" sz="23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 = 1 V and k′</a:t>
            </a:r>
            <a:r>
              <a:rPr lang="en-US" sz="23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0E8779E8-F7E6-53D5-ACD1-86AD6194CE09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EA45EDF6-4479-7A40-321F-455444D3799A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26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238221E1-0DF5-A8C0-7F23-EC179CA4C295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302FC-E39D-2C6D-EFB6-4DEC8E77FFCA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+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V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726FCD15-6212-6C92-CF83-43B85F89D002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EBCDCD5E-FECB-C407-1597-2637D9C38F2A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37FBE732-77BB-133F-BF4A-AB26CEF9DC13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B390FE0F-DC3F-D49A-5C51-6112CD1285C5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8FCAC8C5-7943-0D6F-1CE3-59D7A1E7BFC6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6DF6C120-8F32-1EF0-C0F6-E05445DA5834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57BE4849-0596-4A87-6FDF-A3E7A0E1423F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385DC4A8-DC72-E910-16B4-56AA820D64B4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985FB64C-72F5-C491-E3E9-08BB723C65BF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ECA79EAF-8092-FD01-6EDB-D27466B0DF0B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769ED693-C53F-416A-475A-3B89CCDED7BC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5E4C46-419B-0CAF-A58E-F8805D32C14C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G1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CFBA61-CDA4-904E-799A-CEFA1AC17D06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G2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99D14216-F1D4-F080-90CA-4A51ABC60434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3E866BF8-791B-7CC4-2271-4F42F213E649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F879C532-546B-9BAA-93E7-1794F2F5B118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9EFDB919-48CC-8F12-961F-4456F95919F1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7262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12DCE9EB-B482-B34B-CB3E-06D8EA560B31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kt">
            <a:extLst>
              <a:ext uri="{FF2B5EF4-FFF2-40B4-BE49-F238E27FC236}">
                <a16:creationId xmlns:a16="http://schemas.microsoft.com/office/drawing/2014/main" id="{85995E86-50B2-2841-8E5E-E00B4C6ACC91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34AB24B7-A1AA-F669-A328-09CEF86BC047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2F3661E4-33F5-1158-3B05-30E003D409B9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F3406D3B-1B64-219A-1FD9-28263939D3A4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99902F88-F907-7605-5A7B-3C5FED379C77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368A22-0CF0-78E4-D230-35E9C28181B5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376167-72A1-3923-A743-09A71FD02BED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6" name="node @2">
            <a:extLst>
              <a:ext uri="{FF2B5EF4-FFF2-40B4-BE49-F238E27FC236}">
                <a16:creationId xmlns:a16="http://schemas.microsoft.com/office/drawing/2014/main" id="{E09C5D2E-BA59-3A51-6D1F-4690064A3585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G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5 V</a:t>
            </a:r>
          </a:p>
        </p:txBody>
      </p:sp>
      <p:sp>
        <p:nvSpPr>
          <p:cNvPr id="37" name="node @6">
            <a:extLst>
              <a:ext uri="{FF2B5EF4-FFF2-40B4-BE49-F238E27FC236}">
                <a16:creationId xmlns:a16="http://schemas.microsoft.com/office/drawing/2014/main" id="{76EC3071-5D83-399C-6935-4664517DC974}"/>
              </a:ext>
            </a:extLst>
          </p:cNvPr>
          <p:cNvSpPr txBox="1"/>
          <p:nvPr/>
        </p:nvSpPr>
        <p:spPr>
          <a:xfrm>
            <a:off x="6197600" y="6515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S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3 V</a:t>
            </a:r>
          </a:p>
        </p:txBody>
      </p:sp>
      <p:sp>
        <p:nvSpPr>
          <p:cNvPr id="38" name="node @6">
            <a:extLst>
              <a:ext uri="{FF2B5EF4-FFF2-40B4-BE49-F238E27FC236}">
                <a16:creationId xmlns:a16="http://schemas.microsoft.com/office/drawing/2014/main" id="{22467313-8536-282A-BAD4-E9AD69812CE7}"/>
              </a:ext>
            </a:extLst>
          </p:cNvPr>
          <p:cNvSpPr txBox="1"/>
          <p:nvPr/>
        </p:nvSpPr>
        <p:spPr>
          <a:xfrm>
            <a:off x="6197600" y="5372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C24E26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C24E26"/>
                </a:solidFill>
                <a:latin typeface="Poppins" panose="00000500000000000000" pitchFamily="2" charset="0"/>
              </a:rPr>
              <a:t>D</a:t>
            </a:r>
            <a:r>
              <a:rPr lang="en-US" sz="1900" b="1">
                <a:solidFill>
                  <a:srgbClr val="C24E26"/>
                </a:solidFill>
                <a:latin typeface="Poppins" panose="00000500000000000000" pitchFamily="2" charset="0"/>
              </a:rPr>
              <a:t> = 7 V</a:t>
            </a:r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7751182E-67F8-49F6-C8C9-D9C07DC6D184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395A21B6-0B95-AA44-C591-BBB4B7C66D88}"/>
              </a:ext>
            </a:extLst>
          </p:cNvPr>
          <p:cNvSpPr txBox="1"/>
          <p:nvPr/>
        </p:nvSpPr>
        <p:spPr>
          <a:xfrm>
            <a:off x="8737600" y="25399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74EEE8EE-9AC1-2388-53C9-687E5F6368C8}"/>
                  </a:ext>
                </a:extLst>
              </p:cNvPr>
              <p:cNvSpPr txBox="1"/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74EEE8EE-9AC1-2388-53C9-687E5F636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blipFill>
                <a:blip r:embed="rId2"/>
                <a:stretch>
                  <a:fillRect b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badge @3">
            <a:extLst>
              <a:ext uri="{FF2B5EF4-FFF2-40B4-BE49-F238E27FC236}">
                <a16:creationId xmlns:a16="http://schemas.microsoft.com/office/drawing/2014/main" id="{FD7DCD64-33D5-E343-E683-4D38D7E24997}"/>
              </a:ext>
            </a:extLst>
          </p:cNvPr>
          <p:cNvSpPr/>
          <p:nvPr/>
        </p:nvSpPr>
        <p:spPr>
          <a:xfrm>
            <a:off x="8128000" y="41529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CDF3B927-D41E-4A65-15AF-5A02DADAFF74}"/>
              </a:ext>
            </a:extLst>
          </p:cNvPr>
          <p:cNvSpPr txBox="1"/>
          <p:nvPr/>
        </p:nvSpPr>
        <p:spPr>
          <a:xfrm>
            <a:off x="8737600" y="41401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Assume saturation, with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100" baseline="-25000">
                <a:solidFill>
                  <a:srgbClr val="4F5E66"/>
                </a:solidFill>
                <a:latin typeface="Nunito" pitchFamily="2" charset="0"/>
              </a:rPr>
              <a:t>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  (I in mA, R in k</a:t>
            </a:r>
            <a:r>
              <a:rPr lang="el-GR" sz="2100">
                <a:solidFill>
                  <a:srgbClr val="4F5E66"/>
                </a:solidFill>
                <a:latin typeface="Nunito" pitchFamily="2" charset="0"/>
              </a:rPr>
              <a:t>Ω)</a:t>
            </a:r>
            <a:endParaRPr lang="en-US" sz="2100">
              <a:solidFill>
                <a:srgbClr val="4F5E66"/>
              </a:solidFill>
              <a:latin typeface="Nunito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2BA8C7A9-8A27-ADA8-1F8B-761DD2361DA0}"/>
                  </a:ext>
                </a:extLst>
              </p:cNvPr>
              <p:cNvSpPr txBox="1"/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2BA8C7A9-8A27-ADA8-1F8B-761DD2361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8F0C6FCE-4BF4-9D35-966C-1BEEA5A108F7}"/>
              </a:ext>
            </a:extLst>
          </p:cNvPr>
          <p:cNvSpPr/>
          <p:nvPr/>
        </p:nvSpPr>
        <p:spPr>
          <a:xfrm>
            <a:off x="8128000" y="57531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46" name="lab @4">
            <a:extLst>
              <a:ext uri="{FF2B5EF4-FFF2-40B4-BE49-F238E27FC236}">
                <a16:creationId xmlns:a16="http://schemas.microsoft.com/office/drawing/2014/main" id="{CA6F8522-0897-2BFC-2841-13A78A50A52D}"/>
              </a:ext>
            </a:extLst>
          </p:cNvPr>
          <p:cNvSpPr txBox="1"/>
          <p:nvPr/>
        </p:nvSpPr>
        <p:spPr>
          <a:xfrm>
            <a:off x="8737600" y="57403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ECC339D8-51D5-2729-77E5-C6DA44DD8F3E}"/>
                  </a:ext>
                </a:extLst>
              </p:cNvPr>
              <p:cNvSpPr txBox="1"/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ECC339D8-51D5-2729-77E5-C6DA44DD8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badge @5">
            <a:extLst>
              <a:ext uri="{FF2B5EF4-FFF2-40B4-BE49-F238E27FC236}">
                <a16:creationId xmlns:a16="http://schemas.microsoft.com/office/drawing/2014/main" id="{A3049B84-3F79-AE36-2313-B0303306C380}"/>
              </a:ext>
            </a:extLst>
          </p:cNvPr>
          <p:cNvSpPr/>
          <p:nvPr/>
        </p:nvSpPr>
        <p:spPr>
          <a:xfrm>
            <a:off x="8128000" y="70739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  <p:sp>
        <p:nvSpPr>
          <p:cNvPr id="49" name="lab @5">
            <a:extLst>
              <a:ext uri="{FF2B5EF4-FFF2-40B4-BE49-F238E27FC236}">
                <a16:creationId xmlns:a16="http://schemas.microsoft.com/office/drawing/2014/main" id="{0A991FE9-BFB0-5F7A-76D5-5B415A9FD53D}"/>
              </a:ext>
            </a:extLst>
          </p:cNvPr>
          <p:cNvSpPr txBox="1"/>
          <p:nvPr/>
        </p:nvSpPr>
        <p:spPr>
          <a:xfrm>
            <a:off x="8737600" y="7061199"/>
            <a:ext cx="8636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= 0.89 mA would give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= −0.33 V &lt;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(no channel): reject.  So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= 0.5 mA and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= 2 V.</a:t>
            </a:r>
          </a:p>
        </p:txBody>
      </p:sp>
      <p:sp>
        <p:nvSpPr>
          <p:cNvPr id="50" name="badge @6">
            <a:extLst>
              <a:ext uri="{FF2B5EF4-FFF2-40B4-BE49-F238E27FC236}">
                <a16:creationId xmlns:a16="http://schemas.microsoft.com/office/drawing/2014/main" id="{34797583-4F0C-AC54-97FD-6C9C2808BC90}"/>
              </a:ext>
            </a:extLst>
          </p:cNvPr>
          <p:cNvSpPr/>
          <p:nvPr/>
        </p:nvSpPr>
        <p:spPr>
          <a:xfrm>
            <a:off x="8128000" y="81661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eq @6">
                <a:extLst>
                  <a:ext uri="{FF2B5EF4-FFF2-40B4-BE49-F238E27FC236}">
                    <a16:creationId xmlns:a16="http://schemas.microsoft.com/office/drawing/2014/main" id="{DA6B5A2E-65F8-231B-610D-BEB94022F31A}"/>
                  </a:ext>
                </a:extLst>
              </p:cNvPr>
              <p:cNvSpPr txBox="1"/>
              <p:nvPr/>
            </p:nvSpPr>
            <p:spPr>
              <a:xfrm>
                <a:off x="8737600" y="80771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=10−0.5(6)=7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1" name="eq @6">
                <a:extLst>
                  <a:ext uri="{FF2B5EF4-FFF2-40B4-BE49-F238E27FC236}">
                    <a16:creationId xmlns:a16="http://schemas.microsoft.com/office/drawing/2014/main" id="{DA6B5A2E-65F8-231B-610D-BEB94022F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8077199"/>
                <a:ext cx="8636000" cy="495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answer @6">
            <a:extLst>
              <a:ext uri="{FF2B5EF4-FFF2-40B4-BE49-F238E27FC236}">
                <a16:creationId xmlns:a16="http://schemas.microsoft.com/office/drawing/2014/main" id="{BB2F0312-923F-F91C-46DA-BB85306FC936}"/>
              </a:ext>
            </a:extLst>
          </p:cNvPr>
          <p:cNvSpPr/>
          <p:nvPr/>
        </p:nvSpPr>
        <p:spPr>
          <a:xfrm>
            <a:off x="8737600" y="8839200"/>
            <a:ext cx="2174240" cy="579120"/>
          </a:xfrm>
          <a:prstGeom prst="roundRect">
            <a:avLst>
              <a:gd name="adj" fmla="val 50000"/>
            </a:avLst>
          </a:prstGeom>
          <a:solidFill>
            <a:srgbClr val="C24E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nswer @6">
            <a:extLst>
              <a:ext uri="{FF2B5EF4-FFF2-40B4-BE49-F238E27FC236}">
                <a16:creationId xmlns:a16="http://schemas.microsoft.com/office/drawing/2014/main" id="{0BB3D588-B565-C11B-5DE1-E4C1A2C1B3FA}"/>
              </a:ext>
            </a:extLst>
          </p:cNvPr>
          <p:cNvSpPr txBox="1"/>
          <p:nvPr/>
        </p:nvSpPr>
        <p:spPr>
          <a:xfrm>
            <a:off x="8737600" y="8839199"/>
            <a:ext cx="2174240" cy="5791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 i="1">
                <a:solidFill>
                  <a:srgbClr val="FFFFFF"/>
                </a:solidFill>
                <a:latin typeface="Poppins" panose="00000500000000000000" pitchFamily="2" charset="0"/>
              </a:rPr>
              <a:t>V</a:t>
            </a:r>
            <a:r>
              <a:rPr lang="en-US" sz="2400" b="1" i="1" baseline="-25000">
                <a:solidFill>
                  <a:srgbClr val="FFFFFF"/>
                </a:solidFill>
                <a:latin typeface="Poppins" panose="00000500000000000000" pitchFamily="2" charset="0"/>
              </a:rPr>
              <a:t>D</a:t>
            </a:r>
            <a:r>
              <a:rPr lang="en-US" sz="2400" b="1">
                <a:solidFill>
                  <a:srgbClr val="FFFFFF"/>
                </a:solidFill>
                <a:latin typeface="Poppins" panose="00000500000000000000" pitchFamily="2" charset="0"/>
              </a:rPr>
              <a:t> = 7 V</a:t>
            </a:r>
          </a:p>
        </p:txBody>
      </p:sp>
      <p:sp>
        <p:nvSpPr>
          <p:cNvPr id="54" name="check @6">
            <a:extLst>
              <a:ext uri="{FF2B5EF4-FFF2-40B4-BE49-F238E27FC236}">
                <a16:creationId xmlns:a16="http://schemas.microsoft.com/office/drawing/2014/main" id="{D9CD3098-93F9-9620-DAEC-5FDB0908DB6B}"/>
              </a:ext>
            </a:extLst>
          </p:cNvPr>
          <p:cNvSpPr txBox="1"/>
          <p:nvPr/>
        </p:nvSpPr>
        <p:spPr>
          <a:xfrm>
            <a:off x="11216640" y="8864599"/>
            <a:ext cx="605536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✓ </a:t>
            </a:r>
            <a:r>
              <a:rPr lang="en-US" sz="1900" i="1">
                <a:solidFill>
                  <a:srgbClr val="1E7A46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Nunito" pitchFamily="2" charset="0"/>
              </a:rPr>
              <a:t>DS</a:t>
            </a:r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 = 4 V ≥ </a:t>
            </a:r>
            <a:r>
              <a:rPr lang="en-US" sz="1900" i="1">
                <a:solidFill>
                  <a:srgbClr val="1E7A46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Nunito" pitchFamily="2" charset="0"/>
              </a:rPr>
              <a:t>GS</a:t>
            </a:r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 − </a:t>
            </a:r>
            <a:r>
              <a:rPr lang="en-US" sz="1900" i="1">
                <a:solidFill>
                  <a:srgbClr val="1E7A46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Nunito" pitchFamily="2" charset="0"/>
              </a:rPr>
              <a:t>t</a:t>
            </a:r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 = 1 V: saturation holds.</a:t>
            </a:r>
          </a:p>
        </p:txBody>
      </p:sp>
      <p:sp>
        <p:nvSpPr>
          <p:cNvPr id="55" name="chrome page">
            <a:extLst>
              <a:ext uri="{FF2B5EF4-FFF2-40B4-BE49-F238E27FC236}">
                <a16:creationId xmlns:a16="http://schemas.microsoft.com/office/drawing/2014/main" id="{F4EEDD5D-4D92-244C-9DA8-6AD972122A6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hrome page">
            <a:extLst>
              <a:ext uri="{FF2B5EF4-FFF2-40B4-BE49-F238E27FC236}">
                <a16:creationId xmlns:a16="http://schemas.microsoft.com/office/drawing/2014/main" id="{146CE031-D187-32FE-3F93-37E516DEB8A2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90425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47DCFA4-CFBD-D199-6A3C-375931D8D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Summary: three regions of operation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915A111-9C62-15B9-D57C-77CA722E8DAB}"/>
              </a:ext>
            </a:extLst>
          </p:cNvPr>
          <p:cNvSpPr/>
          <p:nvPr/>
        </p:nvSpPr>
        <p:spPr>
          <a:xfrm>
            <a:off x="914400" y="279400"/>
            <a:ext cx="241655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Lecture 3 · summary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D9CDC6F-33CB-0A2C-85CC-54134F504578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ABF5793-E37A-0293-669B-CFDF767DE739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4C17900B-C605-15A6-B1C2-9617B1748B8F}"/>
              </a:ext>
            </a:extLst>
          </p:cNvPr>
          <p:cNvSpPr/>
          <p:nvPr/>
        </p:nvSpPr>
        <p:spPr>
          <a:xfrm>
            <a:off x="914400" y="2286000"/>
            <a:ext cx="16459200" cy="5588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6CB5EF51-8DBC-0873-3D29-3F56377DD062}"/>
              </a:ext>
            </a:extLst>
          </p:cNvPr>
          <p:cNvSpPr txBox="1"/>
          <p:nvPr/>
        </p:nvSpPr>
        <p:spPr>
          <a:xfrm>
            <a:off x="1219200" y="22859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Poppins" panose="00000500000000000000" pitchFamily="2" charset="0"/>
              </a:rPr>
              <a:t>Region</a:t>
            </a:r>
          </a:p>
        </p:txBody>
      </p:sp>
      <p:sp>
        <p:nvSpPr>
          <p:cNvPr id="8" name="th">
            <a:extLst>
              <a:ext uri="{FF2B5EF4-FFF2-40B4-BE49-F238E27FC236}">
                <a16:creationId xmlns:a16="http://schemas.microsoft.com/office/drawing/2014/main" id="{75529521-91C8-8538-633F-F7C05991C5EC}"/>
              </a:ext>
            </a:extLst>
          </p:cNvPr>
          <p:cNvSpPr txBox="1"/>
          <p:nvPr/>
        </p:nvSpPr>
        <p:spPr>
          <a:xfrm>
            <a:off x="4343400" y="22859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Poppins" panose="00000500000000000000" pitchFamily="2" charset="0"/>
              </a:rPr>
              <a:t>Condition</a:t>
            </a:r>
          </a:p>
        </p:txBody>
      </p:sp>
      <p:sp>
        <p:nvSpPr>
          <p:cNvPr id="9" name="th">
            <a:extLst>
              <a:ext uri="{FF2B5EF4-FFF2-40B4-BE49-F238E27FC236}">
                <a16:creationId xmlns:a16="http://schemas.microsoft.com/office/drawing/2014/main" id="{10F97DC1-1AD2-4DCF-61EF-B3ACAC8AC41F}"/>
              </a:ext>
            </a:extLst>
          </p:cNvPr>
          <p:cNvSpPr txBox="1"/>
          <p:nvPr/>
        </p:nvSpPr>
        <p:spPr>
          <a:xfrm>
            <a:off x="9804400" y="22859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Poppins" panose="00000500000000000000" pitchFamily="2" charset="0"/>
              </a:rPr>
              <a:t>Drain current</a:t>
            </a:r>
          </a:p>
        </p:txBody>
      </p:sp>
      <p:sp>
        <p:nvSpPr>
          <p:cNvPr id="10" name="td">
            <a:extLst>
              <a:ext uri="{FF2B5EF4-FFF2-40B4-BE49-F238E27FC236}">
                <a16:creationId xmlns:a16="http://schemas.microsoft.com/office/drawing/2014/main" id="{4D28A162-4678-D090-5BD7-82B0DCA0FBFE}"/>
              </a:ext>
            </a:extLst>
          </p:cNvPr>
          <p:cNvSpPr txBox="1"/>
          <p:nvPr/>
        </p:nvSpPr>
        <p:spPr>
          <a:xfrm>
            <a:off x="1219200" y="29717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Poppins" panose="00000500000000000000" pitchFamily="2" charset="0"/>
              </a:rPr>
              <a:t>Cutoff</a:t>
            </a:r>
          </a:p>
        </p:txBody>
      </p:sp>
      <p:sp>
        <p:nvSpPr>
          <p:cNvPr id="11" name="td">
            <a:extLst>
              <a:ext uri="{FF2B5EF4-FFF2-40B4-BE49-F238E27FC236}">
                <a16:creationId xmlns:a16="http://schemas.microsoft.com/office/drawing/2014/main" id="{7944032C-DE6F-4128-AB0B-37F9B8C4A247}"/>
              </a:ext>
            </a:extLst>
          </p:cNvPr>
          <p:cNvSpPr txBox="1"/>
          <p:nvPr/>
        </p:nvSpPr>
        <p:spPr>
          <a:xfrm>
            <a:off x="4343400" y="29717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≤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D0D59F52-1015-CBD3-7B42-1A33F378C44C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D0D59F52-1015-CBD3-7B42-1A33F378C44C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3" name="rule">
            <a:extLst>
              <a:ext uri="{FF2B5EF4-FFF2-40B4-BE49-F238E27FC236}">
                <a16:creationId xmlns:a16="http://schemas.microsoft.com/office/drawing/2014/main" id="{8A74EA16-BCA8-1186-9EBE-AED92D477011}"/>
              </a:ext>
            </a:extLst>
          </p:cNvPr>
          <p:cNvCxnSpPr/>
          <p:nvPr/>
        </p:nvCxnSpPr>
        <p:spPr>
          <a:xfrm>
            <a:off x="914400" y="4089400"/>
            <a:ext cx="16459200" cy="0"/>
          </a:xfrm>
          <a:prstGeom prst="line">
            <a:avLst/>
          </a:prstGeom>
          <a:ln w="12700">
            <a:solidFill>
              <a:srgbClr val="D3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d">
            <a:extLst>
              <a:ext uri="{FF2B5EF4-FFF2-40B4-BE49-F238E27FC236}">
                <a16:creationId xmlns:a16="http://schemas.microsoft.com/office/drawing/2014/main" id="{087F0702-8C4E-FF9E-F404-D8BD51B281BD}"/>
              </a:ext>
            </a:extLst>
          </p:cNvPr>
          <p:cNvSpPr txBox="1"/>
          <p:nvPr/>
        </p:nvSpPr>
        <p:spPr>
          <a:xfrm>
            <a:off x="1219200" y="41909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Poppins" panose="00000500000000000000" pitchFamily="2" charset="0"/>
              </a:rPr>
              <a:t>Triode</a:t>
            </a:r>
          </a:p>
        </p:txBody>
      </p:sp>
      <p:sp>
        <p:nvSpPr>
          <p:cNvPr id="15" name="td">
            <a:extLst>
              <a:ext uri="{FF2B5EF4-FFF2-40B4-BE49-F238E27FC236}">
                <a16:creationId xmlns:a16="http://schemas.microsoft.com/office/drawing/2014/main" id="{239ADB62-AE21-DB84-DAA3-4C9FAC9B277E}"/>
              </a:ext>
            </a:extLst>
          </p:cNvPr>
          <p:cNvSpPr txBox="1"/>
          <p:nvPr/>
        </p:nvSpPr>
        <p:spPr>
          <a:xfrm>
            <a:off x="4343400" y="41909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, 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C376221B-7CDF-7021-2279-01DC54B1A6F8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C376221B-7CDF-7021-2279-01DC54B1A6F8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7" name="rule">
            <a:extLst>
              <a:ext uri="{FF2B5EF4-FFF2-40B4-BE49-F238E27FC236}">
                <a16:creationId xmlns:a16="http://schemas.microsoft.com/office/drawing/2014/main" id="{650A8410-AA70-0C0B-74D6-9E17DB5377EC}"/>
              </a:ext>
            </a:extLst>
          </p:cNvPr>
          <p:cNvCxnSpPr/>
          <p:nvPr/>
        </p:nvCxnSpPr>
        <p:spPr>
          <a:xfrm>
            <a:off x="914400" y="5308600"/>
            <a:ext cx="16459200" cy="0"/>
          </a:xfrm>
          <a:prstGeom prst="line">
            <a:avLst/>
          </a:prstGeom>
          <a:ln w="12700">
            <a:solidFill>
              <a:srgbClr val="D3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d">
            <a:extLst>
              <a:ext uri="{FF2B5EF4-FFF2-40B4-BE49-F238E27FC236}">
                <a16:creationId xmlns:a16="http://schemas.microsoft.com/office/drawing/2014/main" id="{A3082B79-5BBC-D626-3747-C3E64FECE040}"/>
              </a:ext>
            </a:extLst>
          </p:cNvPr>
          <p:cNvSpPr txBox="1"/>
          <p:nvPr/>
        </p:nvSpPr>
        <p:spPr>
          <a:xfrm>
            <a:off x="1219200" y="54101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Poppins" panose="00000500000000000000" pitchFamily="2" charset="0"/>
              </a:rPr>
              <a:t>Saturation</a:t>
            </a:r>
          </a:p>
        </p:txBody>
      </p:sp>
      <p:sp>
        <p:nvSpPr>
          <p:cNvPr id="19" name="td">
            <a:extLst>
              <a:ext uri="{FF2B5EF4-FFF2-40B4-BE49-F238E27FC236}">
                <a16:creationId xmlns:a16="http://schemas.microsoft.com/office/drawing/2014/main" id="{7749058C-7282-309F-12A0-100C37BA8209}"/>
              </a:ext>
            </a:extLst>
          </p:cNvPr>
          <p:cNvSpPr txBox="1"/>
          <p:nvPr/>
        </p:nvSpPr>
        <p:spPr>
          <a:xfrm>
            <a:off x="4343400" y="54101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, 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≥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3AB2DE75-B9A3-6FF3-68A5-CC4A750A0DFC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3AB2DE75-B9A3-6FF3-68A5-CC4A750A0DFC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1" name="rule">
            <a:extLst>
              <a:ext uri="{FF2B5EF4-FFF2-40B4-BE49-F238E27FC236}">
                <a16:creationId xmlns:a16="http://schemas.microsoft.com/office/drawing/2014/main" id="{A5169D88-364C-418B-CB88-B387BEBF5D56}"/>
              </a:ext>
            </a:extLst>
          </p:cNvPr>
          <p:cNvCxnSpPr/>
          <p:nvPr/>
        </p:nvCxnSpPr>
        <p:spPr>
          <a:xfrm>
            <a:off x="914400" y="6527800"/>
            <a:ext cx="16459200" cy="0"/>
          </a:xfrm>
          <a:prstGeom prst="line">
            <a:avLst/>
          </a:prstGeom>
          <a:ln w="12700">
            <a:solidFill>
              <a:srgbClr val="D3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akeaway">
            <a:extLst>
              <a:ext uri="{FF2B5EF4-FFF2-40B4-BE49-F238E27FC236}">
                <a16:creationId xmlns:a16="http://schemas.microsoft.com/office/drawing/2014/main" id="{2621E1B0-8788-D43D-153C-DF3782E010C0}"/>
              </a:ext>
            </a:extLst>
          </p:cNvPr>
          <p:cNvSpPr txBox="1"/>
          <p:nvPr/>
        </p:nvSpPr>
        <p:spPr>
          <a:xfrm>
            <a:off x="914400" y="69341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In a DC problem: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assume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a region,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solve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, then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check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the assumption.</a:t>
            </a:r>
          </a:p>
        </p:txBody>
      </p:sp>
      <p:sp>
        <p:nvSpPr>
          <p:cNvPr id="23" name="takeaway">
            <a:extLst>
              <a:ext uri="{FF2B5EF4-FFF2-40B4-BE49-F238E27FC236}">
                <a16:creationId xmlns:a16="http://schemas.microsoft.com/office/drawing/2014/main" id="{3EB2EA88-DC69-4E67-C707-C6551C3CC9F7}"/>
              </a:ext>
            </a:extLst>
          </p:cNvPr>
          <p:cNvSpPr txBox="1"/>
          <p:nvPr/>
        </p:nvSpPr>
        <p:spPr>
          <a:xfrm>
            <a:off x="914400" y="75691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Current saturates because the channel is pinched off at the drain end.</a:t>
            </a:r>
          </a:p>
        </p:txBody>
      </p:sp>
      <p:sp>
        <p:nvSpPr>
          <p:cNvPr id="24" name="chrome page">
            <a:extLst>
              <a:ext uri="{FF2B5EF4-FFF2-40B4-BE49-F238E27FC236}">
                <a16:creationId xmlns:a16="http://schemas.microsoft.com/office/drawing/2014/main" id="{3A8D60FA-F3C1-2BBD-173B-5D47DB119666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hrome page">
            <a:extLst>
              <a:ext uri="{FF2B5EF4-FFF2-40B4-BE49-F238E27FC236}">
                <a16:creationId xmlns:a16="http://schemas.microsoft.com/office/drawing/2014/main" id="{79436AC7-9F0D-A301-B8DB-2E87A585C72E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369227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1482</Words>
  <Application>Microsoft Office PowerPoint</Application>
  <PresentationFormat>Custom</PresentationFormat>
  <Paragraphs>233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Nunito</vt:lpstr>
      <vt:lpstr>Poppins</vt:lpstr>
      <vt:lpstr>Office Theme</vt:lpstr>
      <vt:lpstr>MOSFETs</vt:lpstr>
      <vt:lpstr>Lecture map</vt:lpstr>
      <vt:lpstr>I–V characteristics</vt:lpstr>
      <vt:lpstr>Creating a channel: the threshold voltage</vt:lpstr>
      <vt:lpstr>Creating a channel: the threshold voltage</vt:lpstr>
      <vt:lpstr>Creating a channel: the threshold voltage</vt:lpstr>
      <vt:lpstr>Triode and saturation: one curve, two equations</vt:lpstr>
      <vt:lpstr>Triode and saturation: one curve, two equations</vt:lpstr>
      <vt:lpstr>Triode and saturation: one curve, two equations</vt:lpstr>
      <vt:lpstr>Triode and saturation: one curve, two equations</vt:lpstr>
      <vt:lpstr>Example: find the drain voltage</vt:lpstr>
      <vt:lpstr>Example: find the drain voltage</vt:lpstr>
      <vt:lpstr>Example: find the drain voltage</vt:lpstr>
      <vt:lpstr>Example: find the drain voltage</vt:lpstr>
      <vt:lpstr>Example: find the drain voltage</vt:lpstr>
      <vt:lpstr>Example: find the drain voltage</vt:lpstr>
      <vt:lpstr>Summary: three regions of operation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2</cp:revision>
  <dcterms:created xsi:type="dcterms:W3CDTF">2026-10-01T00:37:09Z</dcterms:created>
  <dcterms:modified xsi:type="dcterms:W3CDTF">2026-10-01T00:37:22Z</dcterms:modified>
</cp:coreProperties>
</file>