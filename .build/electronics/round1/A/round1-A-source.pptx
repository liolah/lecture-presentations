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3026-7B96-316C-CE41-EB1B8D394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B70C1-56B0-A49A-8287-8C0BF5AD8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52578-6BB0-1FFF-3EF7-E81B70A0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2A0AF-F5C5-918C-70BC-46D1B7CD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B5700-35DF-DF69-3111-AA7FAADC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7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926A-5CBE-39F0-230D-1E71B14A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E9363-9982-9484-ED0F-B44B9C5D9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36B5F-4688-8C1E-8355-11B5C552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53B2F-7B0F-7202-3959-A6DCDE3F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A22A0-207E-CA25-FAF5-9162D61B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6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2E30-789D-D6EA-01A6-E86B022A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2ABE7-2127-B8C8-792D-011CA9D20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6106D-0E0F-2C61-FF1A-04BB687F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F2CA9-C6E9-5842-67D0-7D279746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ED8F6-564D-EFA7-FE18-5B32C322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DC16-03F8-F6F3-52EE-4A009CEB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3E18-13D0-4FB3-FEB8-2A7EB3CB6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F130D-1A9F-A925-9A13-9A7DC56C4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5E97E-0495-9AE7-414F-32B191B5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739FB-C90D-0565-172B-40D6632A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C80A6-54F0-48B5-C493-955EBAE4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4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8FBC-CCB8-1B69-AD67-E59BC437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509DA-8B1E-92D0-5E7E-8920CF3CB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9A7CD-A6FA-78A2-1A0F-E0A2CE34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D5608-6210-D52B-D8B0-BBA1452CD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85828-0503-79DF-9F28-867620828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D1AEF5-DF1F-7BF6-1EAF-FF75B674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C8C6D-4798-1168-348A-CD162A28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EC574E-6B13-8FA4-D587-614992A3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1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1B56-1791-FFE9-CFD9-1CC6C2F40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5ADAF-3340-9A7D-57E7-99A8BF13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7555A-569B-F10B-4374-4112E9BE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D507E-B3BF-8FAA-F120-D38A9476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9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36C52-7C6F-EBF1-2BB5-F77D7310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1F630-56F4-4720-7F28-D4674924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792B8-FDFA-7955-5263-8E8E1310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C9EE-6FC3-CEC8-8682-998C5CD6F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7BC3-98F6-FEB4-2D5A-99D638224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B66F1-73BF-68E9-6841-83602B3C0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6866-40DC-99CC-8BED-F7AB53C1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150B6-5C94-451F-C411-1D113BB0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0F020-B14A-98FA-01A0-2516FBFD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54D4-4725-A9C9-142B-17EDC9A4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86D266-C4DD-64A4-9428-2FC0805463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A109B-408D-A1D1-57C4-0397EA02E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1E1F3-D957-4D2B-F435-9821165D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974F9-B185-1217-734E-F75609DF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1B209-B126-850F-D201-6FA34C51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9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6DC2-0D05-15D0-C7B0-527A3073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B5CD8-5970-2BEE-35C5-6D04687A7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A3D91-AB48-B2A7-CB1F-46326FA13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A9C7-DAD5-510A-DFBC-BF4C887B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39E7F-221C-0CD0-0793-BB35CE57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2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E98B0-B037-7C74-B39B-B9116FC8B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EF126-3002-05D4-5C92-4FEB506E5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EB0A9-90C4-3A76-BB80-EE1426D5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9AA6D-E6F2-9A12-D743-74F73D54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352F-F30E-0620-8644-8D6AC387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9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C0032-BCA6-0E56-3258-200920DA4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01AC8-3D83-DC17-C3A5-3981F0DE0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DD200-DBA3-E8DC-097E-C21D02825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94E02-A303-98D0-67F3-3D622441E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FB362-203A-9857-79FE-6E5FEDBC4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8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3F049EE-8568-FE11-434C-A12CB7C5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0"/>
            <a:ext cx="8128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600">
                <a:solidFill>
                  <a:srgbClr val="1F2A37"/>
                </a:solidFill>
                <a:latin typeface="Bahnschrift SemiBold" panose="020B0502040204020203" pitchFamily="34" charset="0"/>
              </a:rPr>
              <a:t>MOSFETs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E0E660B5-2696-A377-4963-2C6338E551F5}"/>
              </a:ext>
            </a:extLst>
          </p:cNvPr>
          <p:cNvSpPr txBox="1"/>
          <p:nvPr/>
        </p:nvSpPr>
        <p:spPr>
          <a:xfrm>
            <a:off x="914400" y="2412999"/>
            <a:ext cx="889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1F5F8B"/>
                </a:solidFill>
                <a:latin typeface="Bahnschrift SemiBold" panose="020B0502040204020203" pitchFamily="34" charset="0"/>
              </a:rPr>
              <a:t>25CPES102 · Electronic Materials and Devices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A8DAA05-E7C2-8749-E168-B59DE5213FE8}"/>
              </a:ext>
            </a:extLst>
          </p:cNvPr>
          <p:cNvSpPr txBox="1"/>
          <p:nvPr/>
        </p:nvSpPr>
        <p:spPr>
          <a:xfrm>
            <a:off x="914400" y="4444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>
                <a:solidFill>
                  <a:srgbClr val="4F5B66"/>
                </a:solidFill>
                <a:latin typeface="Segoe UI" panose="020B0502040204020203" pitchFamily="34" charset="0"/>
              </a:rPr>
              <a:t>Metal-oxide-semiconductor</a:t>
            </a:r>
          </a:p>
          <a:p>
            <a:pPr>
              <a:lnSpc>
                <a:spcPct val="105000"/>
              </a:lnSpc>
            </a:pPr>
            <a:r>
              <a:rPr lang="en-US" sz="2800">
                <a:solidFill>
                  <a:srgbClr val="4F5B66"/>
                </a:solidFill>
                <a:latin typeface="Segoe UI" panose="020B0502040204020203" pitchFamily="34" charset="0"/>
              </a:rPr>
              <a:t>field-effect transistors</a:t>
            </a:r>
          </a:p>
        </p:txBody>
      </p:sp>
      <p:cxnSp>
        <p:nvCxnSpPr>
          <p:cNvPr id="5" name="rule">
            <a:extLst>
              <a:ext uri="{FF2B5EF4-FFF2-40B4-BE49-F238E27FC236}">
                <a16:creationId xmlns:a16="http://schemas.microsoft.com/office/drawing/2014/main" id="{EC5D0B51-445A-9F8A-2D84-20F1C1F77341}"/>
              </a:ext>
            </a:extLst>
          </p:cNvPr>
          <p:cNvCxnSpPr/>
          <p:nvPr/>
        </p:nvCxnSpPr>
        <p:spPr>
          <a:xfrm>
            <a:off x="914400" y="5740400"/>
            <a:ext cx="1143000" cy="0"/>
          </a:xfrm>
          <a:prstGeom prst="line">
            <a:avLst/>
          </a:prstGeom>
          <a:ln w="38100">
            <a:solidFill>
              <a:srgbClr val="1F5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cture">
            <a:extLst>
              <a:ext uri="{FF2B5EF4-FFF2-40B4-BE49-F238E27FC236}">
                <a16:creationId xmlns:a16="http://schemas.microsoft.com/office/drawing/2014/main" id="{CFE1A5D9-9961-3B96-3957-C5A4564DA91B}"/>
              </a:ext>
            </a:extLst>
          </p:cNvPr>
          <p:cNvSpPr txBox="1"/>
          <p:nvPr/>
        </p:nvSpPr>
        <p:spPr>
          <a:xfrm>
            <a:off x="914400" y="5968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F2A37"/>
                </a:solidFill>
                <a:latin typeface="Bahnschrift SemiBold" panose="020B0502040204020203" pitchFamily="34" charset="0"/>
              </a:rPr>
              <a:t>Lecture 3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F0817F45-51F4-1437-E960-FC5FDFBC36C8}"/>
              </a:ext>
            </a:extLst>
          </p:cNvPr>
          <p:cNvSpPr txBox="1"/>
          <p:nvPr/>
        </p:nvSpPr>
        <p:spPr>
          <a:xfrm>
            <a:off x="914400" y="8127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F2A37"/>
                </a:solidFill>
                <a:latin typeface="Bahnschrift SemiBold" panose="020B0502040204020203" pitchFamily="34" charset="0"/>
              </a:rPr>
              <a:t>Dr. Zahraa Ismail</a:t>
            </a:r>
          </a:p>
        </p:txBody>
      </p:sp>
      <p:sp>
        <p:nvSpPr>
          <p:cNvPr id="8" name="meta">
            <a:extLst>
              <a:ext uri="{FF2B5EF4-FFF2-40B4-BE49-F238E27FC236}">
                <a16:creationId xmlns:a16="http://schemas.microsoft.com/office/drawing/2014/main" id="{B208061C-D793-F451-1ADF-06CA8B691648}"/>
              </a:ext>
            </a:extLst>
          </p:cNvPr>
          <p:cNvSpPr txBox="1"/>
          <p:nvPr/>
        </p:nvSpPr>
        <p:spPr>
          <a:xfrm>
            <a:off x="914400" y="8534399"/>
            <a:ext cx="889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Segoe UI" panose="020B0502040204020203" pitchFamily="34" charset="0"/>
              </a:rPr>
              <a:t>Computer Engineering · Academic Year 2025/2026 · Semester One</a:t>
            </a:r>
          </a:p>
        </p:txBody>
      </p:sp>
      <p:sp>
        <p:nvSpPr>
          <p:cNvPr id="9" name="figure frame">
            <a:extLst>
              <a:ext uri="{FF2B5EF4-FFF2-40B4-BE49-F238E27FC236}">
                <a16:creationId xmlns:a16="http://schemas.microsoft.com/office/drawing/2014/main" id="{25B6DD6D-4DF6-5525-BE1D-AF04565B6155}"/>
              </a:ext>
            </a:extLst>
          </p:cNvPr>
          <p:cNvSpPr/>
          <p:nvPr/>
        </p:nvSpPr>
        <p:spPr>
          <a:xfrm>
            <a:off x="9652000" y="3175000"/>
            <a:ext cx="7874000" cy="327661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figure">
            <a:extLst>
              <a:ext uri="{FF2B5EF4-FFF2-40B4-BE49-F238E27FC236}">
                <a16:creationId xmlns:a16="http://schemas.microsoft.com/office/drawing/2014/main" id="{35B5A5E0-9663-53A9-4D3E-1F69BA3D2B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0" y="3403600"/>
            <a:ext cx="7416800" cy="2819419"/>
          </a:xfrm>
          <a:prstGeom prst="rect">
            <a:avLst/>
          </a:prstGeom>
        </p:spPr>
      </p:pic>
      <p:sp>
        <p:nvSpPr>
          <p:cNvPr id="12" name="credit">
            <a:extLst>
              <a:ext uri="{FF2B5EF4-FFF2-40B4-BE49-F238E27FC236}">
                <a16:creationId xmlns:a16="http://schemas.microsoft.com/office/drawing/2014/main" id="{36195B53-40AB-EFDD-EEE1-A376D6BEFFF9}"/>
              </a:ext>
            </a:extLst>
          </p:cNvPr>
          <p:cNvSpPr txBox="1"/>
          <p:nvPr/>
        </p:nvSpPr>
        <p:spPr>
          <a:xfrm>
            <a:off x="9652000" y="6527819"/>
            <a:ext cx="787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295441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020C59-3D51-B3CE-10A8-12B47619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Lecture map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9E77B6B-2D60-B071-6C96-9057CBB4939B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LECTURE 3 · MOSFETS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3ED401B-A3AD-AA64-AB2A-F0084828AD03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map n">
            <a:extLst>
              <a:ext uri="{FF2B5EF4-FFF2-40B4-BE49-F238E27FC236}">
                <a16:creationId xmlns:a16="http://schemas.microsoft.com/office/drawing/2014/main" id="{3E354E68-2D76-0C9D-4A6A-8F4EFA54D6A1}"/>
              </a:ext>
            </a:extLst>
          </p:cNvPr>
          <p:cNvSpPr txBox="1"/>
          <p:nvPr/>
        </p:nvSpPr>
        <p:spPr>
          <a:xfrm>
            <a:off x="914400" y="226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6" name="map t">
            <a:extLst>
              <a:ext uri="{FF2B5EF4-FFF2-40B4-BE49-F238E27FC236}">
                <a16:creationId xmlns:a16="http://schemas.microsoft.com/office/drawing/2014/main" id="{34AA7AE5-F281-2B6F-4F04-A5F2E11367DC}"/>
              </a:ext>
            </a:extLst>
          </p:cNvPr>
          <p:cNvSpPr txBox="1"/>
          <p:nvPr/>
        </p:nvSpPr>
        <p:spPr>
          <a:xfrm>
            <a:off x="1803400" y="228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Structure and operation</a:t>
            </a:r>
          </a:p>
        </p:txBody>
      </p:sp>
      <p:sp>
        <p:nvSpPr>
          <p:cNvPr id="7" name="map s">
            <a:extLst>
              <a:ext uri="{FF2B5EF4-FFF2-40B4-BE49-F238E27FC236}">
                <a16:creationId xmlns:a16="http://schemas.microsoft.com/office/drawing/2014/main" id="{ECDA68A9-56D3-7542-6502-A090A449A099}"/>
              </a:ext>
            </a:extLst>
          </p:cNvPr>
          <p:cNvSpPr txBox="1"/>
          <p:nvPr/>
        </p:nvSpPr>
        <p:spPr>
          <a:xfrm>
            <a:off x="1803400" y="276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how a channel forms; the threshold voltage</a:t>
            </a:r>
          </a:p>
        </p:txBody>
      </p:sp>
      <p:sp>
        <p:nvSpPr>
          <p:cNvPr id="8" name="map n">
            <a:extLst>
              <a:ext uri="{FF2B5EF4-FFF2-40B4-BE49-F238E27FC236}">
                <a16:creationId xmlns:a16="http://schemas.microsoft.com/office/drawing/2014/main" id="{B9D609F7-BBDC-192E-D905-96E3E3F69765}"/>
              </a:ext>
            </a:extLst>
          </p:cNvPr>
          <p:cNvSpPr txBox="1"/>
          <p:nvPr/>
        </p:nvSpPr>
        <p:spPr>
          <a:xfrm>
            <a:off x="914400" y="353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9" name="map t">
            <a:extLst>
              <a:ext uri="{FF2B5EF4-FFF2-40B4-BE49-F238E27FC236}">
                <a16:creationId xmlns:a16="http://schemas.microsoft.com/office/drawing/2014/main" id="{1F43CF8E-8AA5-BEEE-3B51-D217086A8C3C}"/>
              </a:ext>
            </a:extLst>
          </p:cNvPr>
          <p:cNvSpPr txBox="1"/>
          <p:nvPr/>
        </p:nvSpPr>
        <p:spPr>
          <a:xfrm>
            <a:off x="1803400" y="355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I–V characteristics</a:t>
            </a:r>
          </a:p>
        </p:txBody>
      </p:sp>
      <p:sp>
        <p:nvSpPr>
          <p:cNvPr id="10" name="map s">
            <a:extLst>
              <a:ext uri="{FF2B5EF4-FFF2-40B4-BE49-F238E27FC236}">
                <a16:creationId xmlns:a16="http://schemas.microsoft.com/office/drawing/2014/main" id="{24AA95C0-27B6-ADBC-3D5A-C4DC086C37A1}"/>
              </a:ext>
            </a:extLst>
          </p:cNvPr>
          <p:cNvSpPr txBox="1"/>
          <p:nvPr/>
        </p:nvSpPr>
        <p:spPr>
          <a:xfrm>
            <a:off x="1803400" y="403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cutoff, triode and saturation</a:t>
            </a:r>
          </a:p>
        </p:txBody>
      </p:sp>
      <p:sp>
        <p:nvSpPr>
          <p:cNvPr id="11" name="map n">
            <a:extLst>
              <a:ext uri="{FF2B5EF4-FFF2-40B4-BE49-F238E27FC236}">
                <a16:creationId xmlns:a16="http://schemas.microsoft.com/office/drawing/2014/main" id="{DDA08DDD-48DF-D938-911B-8E795E84956D}"/>
              </a:ext>
            </a:extLst>
          </p:cNvPr>
          <p:cNvSpPr txBox="1"/>
          <p:nvPr/>
        </p:nvSpPr>
        <p:spPr>
          <a:xfrm>
            <a:off x="914400" y="480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2" name="map t">
            <a:extLst>
              <a:ext uri="{FF2B5EF4-FFF2-40B4-BE49-F238E27FC236}">
                <a16:creationId xmlns:a16="http://schemas.microsoft.com/office/drawing/2014/main" id="{0603F680-6C18-8247-2762-ADF754E66C11}"/>
              </a:ext>
            </a:extLst>
          </p:cNvPr>
          <p:cNvSpPr txBox="1"/>
          <p:nvPr/>
        </p:nvSpPr>
        <p:spPr>
          <a:xfrm>
            <a:off x="1803400" y="482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MOSFETs in DC circuits</a:t>
            </a:r>
          </a:p>
        </p:txBody>
      </p:sp>
      <p:sp>
        <p:nvSpPr>
          <p:cNvPr id="13" name="map s">
            <a:extLst>
              <a:ext uri="{FF2B5EF4-FFF2-40B4-BE49-F238E27FC236}">
                <a16:creationId xmlns:a16="http://schemas.microsoft.com/office/drawing/2014/main" id="{22F1B0C9-2B34-0AC3-E4AA-9F64623ECECA}"/>
              </a:ext>
            </a:extLst>
          </p:cNvPr>
          <p:cNvSpPr txBox="1"/>
          <p:nvPr/>
        </p:nvSpPr>
        <p:spPr>
          <a:xfrm>
            <a:off x="1803400" y="530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finding the operating point</a:t>
            </a:r>
          </a:p>
        </p:txBody>
      </p:sp>
      <p:sp>
        <p:nvSpPr>
          <p:cNvPr id="14" name="map n">
            <a:extLst>
              <a:ext uri="{FF2B5EF4-FFF2-40B4-BE49-F238E27FC236}">
                <a16:creationId xmlns:a16="http://schemas.microsoft.com/office/drawing/2014/main" id="{25F95444-5CCE-BDF9-AB0C-178863B1B771}"/>
              </a:ext>
            </a:extLst>
          </p:cNvPr>
          <p:cNvSpPr txBox="1"/>
          <p:nvPr/>
        </p:nvSpPr>
        <p:spPr>
          <a:xfrm>
            <a:off x="914400" y="607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5" name="map t">
            <a:extLst>
              <a:ext uri="{FF2B5EF4-FFF2-40B4-BE49-F238E27FC236}">
                <a16:creationId xmlns:a16="http://schemas.microsoft.com/office/drawing/2014/main" id="{97915181-539A-3032-4111-2194309B2965}"/>
              </a:ext>
            </a:extLst>
          </p:cNvPr>
          <p:cNvSpPr txBox="1"/>
          <p:nvPr/>
        </p:nvSpPr>
        <p:spPr>
          <a:xfrm>
            <a:off x="1803400" y="609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The MOSFET as an amplifier</a:t>
            </a:r>
          </a:p>
        </p:txBody>
      </p:sp>
      <p:sp>
        <p:nvSpPr>
          <p:cNvPr id="16" name="map s">
            <a:extLst>
              <a:ext uri="{FF2B5EF4-FFF2-40B4-BE49-F238E27FC236}">
                <a16:creationId xmlns:a16="http://schemas.microsoft.com/office/drawing/2014/main" id="{89B89752-A072-0A7A-9689-C149D48B01DF}"/>
              </a:ext>
            </a:extLst>
          </p:cNvPr>
          <p:cNvSpPr txBox="1"/>
          <p:nvPr/>
        </p:nvSpPr>
        <p:spPr>
          <a:xfrm>
            <a:off x="1803400" y="657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transconductance, small-signal model</a:t>
            </a:r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A3335A18-AF7A-0DEF-0322-A225F7904FC3}"/>
              </a:ext>
            </a:extLst>
          </p:cNvPr>
          <p:cNvSpPr txBox="1"/>
          <p:nvPr/>
        </p:nvSpPr>
        <p:spPr>
          <a:xfrm>
            <a:off x="914400" y="734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5BD112D0-C5E6-0093-08DD-C1EAEBF8F6A1}"/>
              </a:ext>
            </a:extLst>
          </p:cNvPr>
          <p:cNvSpPr txBox="1"/>
          <p:nvPr/>
        </p:nvSpPr>
        <p:spPr>
          <a:xfrm>
            <a:off x="1803400" y="736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The MOSFET as a switch</a:t>
            </a:r>
          </a:p>
        </p:txBody>
      </p:sp>
      <p:sp>
        <p:nvSpPr>
          <p:cNvPr id="19" name="panel">
            <a:extLst>
              <a:ext uri="{FF2B5EF4-FFF2-40B4-BE49-F238E27FC236}">
                <a16:creationId xmlns:a16="http://schemas.microsoft.com/office/drawing/2014/main" id="{525031E2-0846-4832-0FE7-0306F5077041}"/>
              </a:ext>
            </a:extLst>
          </p:cNvPr>
          <p:cNvSpPr/>
          <p:nvPr/>
        </p:nvSpPr>
        <p:spPr>
          <a:xfrm>
            <a:off x="10922000" y="2159000"/>
            <a:ext cx="6451600" cy="5969000"/>
          </a:xfrm>
          <a:prstGeom prst="rect">
            <a:avLst/>
          </a:prstGeom>
          <a:solidFill>
            <a:srgbClr val="E4ED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utcomes h">
            <a:extLst>
              <a:ext uri="{FF2B5EF4-FFF2-40B4-BE49-F238E27FC236}">
                <a16:creationId xmlns:a16="http://schemas.microsoft.com/office/drawing/2014/main" id="{6EF92858-1BC6-7F18-0C1B-5181C48A7931}"/>
              </a:ext>
            </a:extLst>
          </p:cNvPr>
          <p:cNvSpPr txBox="1"/>
          <p:nvPr/>
        </p:nvSpPr>
        <p:spPr>
          <a:xfrm>
            <a:off x="11328400" y="2489199"/>
            <a:ext cx="5638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BY THE END YOU CAN</a:t>
            </a:r>
          </a:p>
        </p:txBody>
      </p:sp>
      <p:sp>
        <p:nvSpPr>
          <p:cNvPr id="21" name="outcome">
            <a:extLst>
              <a:ext uri="{FF2B5EF4-FFF2-40B4-BE49-F238E27FC236}">
                <a16:creationId xmlns:a16="http://schemas.microsoft.com/office/drawing/2014/main" id="{DD8BDAE2-2B2D-AA66-9EDE-DD2A72B76408}"/>
              </a:ext>
            </a:extLst>
          </p:cNvPr>
          <p:cNvSpPr txBox="1"/>
          <p:nvPr/>
        </p:nvSpPr>
        <p:spPr>
          <a:xfrm>
            <a:off x="11328400" y="3047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Explain how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creates a channel and how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pinches it off</a:t>
            </a:r>
          </a:p>
        </p:txBody>
      </p:sp>
      <p:sp>
        <p:nvSpPr>
          <p:cNvPr id="22" name="outcome">
            <a:extLst>
              <a:ext uri="{FF2B5EF4-FFF2-40B4-BE49-F238E27FC236}">
                <a16:creationId xmlns:a16="http://schemas.microsoft.com/office/drawing/2014/main" id="{70A34CC8-567D-2484-383B-B1CE1835B84E}"/>
              </a:ext>
            </a:extLst>
          </p:cNvPr>
          <p:cNvSpPr txBox="1"/>
          <p:nvPr/>
        </p:nvSpPr>
        <p:spPr>
          <a:xfrm>
            <a:off x="11328400" y="46354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Pick the right region and use its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equation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5C30ACA6-482C-581C-402B-CABB06D3F62B}"/>
              </a:ext>
            </a:extLst>
          </p:cNvPr>
          <p:cNvSpPr txBox="1"/>
          <p:nvPr/>
        </p:nvSpPr>
        <p:spPr>
          <a:xfrm>
            <a:off x="11328400" y="6222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Find the DC operating point of a MOSFET circuit</a:t>
            </a:r>
          </a:p>
        </p:txBody>
      </p:sp>
    </p:spTree>
    <p:extLst>
      <p:ext uri="{BB962C8B-B14F-4D97-AF65-F5344CB8AC3E}">
        <p14:creationId xmlns:p14="http://schemas.microsoft.com/office/powerpoint/2010/main" val="186123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9E4B6F3-8117-B9AB-08FD-547AABFF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0"/>
            <a:ext cx="13970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400">
                <a:solidFill>
                  <a:srgbClr val="1F2A37"/>
                </a:solidFill>
                <a:latin typeface="Bahnschrift SemiBold" panose="020B0502040204020203" pitchFamily="34" charset="0"/>
              </a:rPr>
              <a:t>I–V characteristics</a:t>
            </a:r>
          </a:p>
        </p:txBody>
      </p:sp>
      <p:sp>
        <p:nvSpPr>
          <p:cNvPr id="3" name="numeral">
            <a:extLst>
              <a:ext uri="{FF2B5EF4-FFF2-40B4-BE49-F238E27FC236}">
                <a16:creationId xmlns:a16="http://schemas.microsoft.com/office/drawing/2014/main" id="{42D682BD-103C-4D7F-6BDB-64B8EA793D77}"/>
              </a:ext>
            </a:extLst>
          </p:cNvPr>
          <p:cNvSpPr txBox="1"/>
          <p:nvPr/>
        </p:nvSpPr>
        <p:spPr>
          <a:xfrm>
            <a:off x="838200" y="2158999"/>
            <a:ext cx="7620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9000">
                <a:solidFill>
                  <a:srgbClr val="1F5F8B"/>
                </a:solidFill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" name="item">
            <a:extLst>
              <a:ext uri="{FF2B5EF4-FFF2-40B4-BE49-F238E27FC236}">
                <a16:creationId xmlns:a16="http://schemas.microsoft.com/office/drawing/2014/main" id="{DF4D603D-A6A7-2D5E-6E5C-F8162033B161}"/>
              </a:ext>
            </a:extLst>
          </p:cNvPr>
          <p:cNvSpPr txBox="1"/>
          <p:nvPr/>
        </p:nvSpPr>
        <p:spPr>
          <a:xfrm>
            <a:off x="914400" y="6857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Increasing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: pinch-off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7C880CC3-7309-1FEE-23A2-8B8E6BBB8E60}"/>
              </a:ext>
            </a:extLst>
          </p:cNvPr>
          <p:cNvSpPr txBox="1"/>
          <p:nvPr/>
        </p:nvSpPr>
        <p:spPr>
          <a:xfrm>
            <a:off x="914400" y="7365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Triode and saturation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B016C3A2-0CF4-C889-ADE5-F64F3B633DEF}"/>
              </a:ext>
            </a:extLst>
          </p:cNvPr>
          <p:cNvSpPr txBox="1"/>
          <p:nvPr/>
        </p:nvSpPr>
        <p:spPr>
          <a:xfrm>
            <a:off x="914400" y="7873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The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–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family of curves</a:t>
            </a:r>
          </a:p>
        </p:txBody>
      </p:sp>
      <p:cxnSp>
        <p:nvCxnSpPr>
          <p:cNvPr id="7" name="map rule">
            <a:extLst>
              <a:ext uri="{FF2B5EF4-FFF2-40B4-BE49-F238E27FC236}">
                <a16:creationId xmlns:a16="http://schemas.microsoft.com/office/drawing/2014/main" id="{AAFAABCB-9387-1486-9232-84F3F1740C87}"/>
              </a:ext>
            </a:extLst>
          </p:cNvPr>
          <p:cNvCxnSpPr/>
          <p:nvPr/>
        </p:nvCxnSpPr>
        <p:spPr>
          <a:xfrm>
            <a:off x="11836400" y="2540000"/>
            <a:ext cx="0" cy="314960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p">
            <a:extLst>
              <a:ext uri="{FF2B5EF4-FFF2-40B4-BE49-F238E27FC236}">
                <a16:creationId xmlns:a16="http://schemas.microsoft.com/office/drawing/2014/main" id="{38F391D9-3220-C832-512F-33A5EC64D5A0}"/>
              </a:ext>
            </a:extLst>
          </p:cNvPr>
          <p:cNvSpPr txBox="1"/>
          <p:nvPr/>
        </p:nvSpPr>
        <p:spPr>
          <a:xfrm>
            <a:off x="12192000" y="25399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1  Structure and operation</a:t>
            </a:r>
          </a:p>
        </p:txBody>
      </p:sp>
      <p:sp>
        <p:nvSpPr>
          <p:cNvPr id="9" name="map">
            <a:extLst>
              <a:ext uri="{FF2B5EF4-FFF2-40B4-BE49-F238E27FC236}">
                <a16:creationId xmlns:a16="http://schemas.microsoft.com/office/drawing/2014/main" id="{C5FA08A8-9BBF-9230-07B8-94D66FFF7501}"/>
              </a:ext>
            </a:extLst>
          </p:cNvPr>
          <p:cNvSpPr txBox="1"/>
          <p:nvPr/>
        </p:nvSpPr>
        <p:spPr>
          <a:xfrm>
            <a:off x="12192000" y="32003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Bahnschrift SemiBold" panose="020B0502040204020203" pitchFamily="34" charset="0"/>
              </a:rPr>
              <a:t>2  I–V characteristics</a:t>
            </a:r>
          </a:p>
        </p:txBody>
      </p:sp>
      <p:sp>
        <p:nvSpPr>
          <p:cNvPr id="10" name="map">
            <a:extLst>
              <a:ext uri="{FF2B5EF4-FFF2-40B4-BE49-F238E27FC236}">
                <a16:creationId xmlns:a16="http://schemas.microsoft.com/office/drawing/2014/main" id="{531B6E5E-7269-9845-9336-3391D8556BF3}"/>
              </a:ext>
            </a:extLst>
          </p:cNvPr>
          <p:cNvSpPr txBox="1"/>
          <p:nvPr/>
        </p:nvSpPr>
        <p:spPr>
          <a:xfrm>
            <a:off x="12192000" y="38607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3  MOSFETs in DC circuits</a:t>
            </a:r>
          </a:p>
        </p:txBody>
      </p:sp>
      <p:sp>
        <p:nvSpPr>
          <p:cNvPr id="11" name="map">
            <a:extLst>
              <a:ext uri="{FF2B5EF4-FFF2-40B4-BE49-F238E27FC236}">
                <a16:creationId xmlns:a16="http://schemas.microsoft.com/office/drawing/2014/main" id="{06088CDB-A64B-027F-3FBE-17AB663B9363}"/>
              </a:ext>
            </a:extLst>
          </p:cNvPr>
          <p:cNvSpPr txBox="1"/>
          <p:nvPr/>
        </p:nvSpPr>
        <p:spPr>
          <a:xfrm>
            <a:off x="12192000" y="45211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4  The MOSFET as an amplifier</a:t>
            </a:r>
          </a:p>
        </p:txBody>
      </p:sp>
      <p:sp>
        <p:nvSpPr>
          <p:cNvPr id="12" name="map">
            <a:extLst>
              <a:ext uri="{FF2B5EF4-FFF2-40B4-BE49-F238E27FC236}">
                <a16:creationId xmlns:a16="http://schemas.microsoft.com/office/drawing/2014/main" id="{75398482-3F61-5EFB-8486-1E3A0DA12679}"/>
              </a:ext>
            </a:extLst>
          </p:cNvPr>
          <p:cNvSpPr txBox="1"/>
          <p:nvPr/>
        </p:nvSpPr>
        <p:spPr>
          <a:xfrm>
            <a:off x="12192000" y="51815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5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446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E181905-FDE0-E8ED-CF1F-46348590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9523421-78BC-191D-A5FA-8EB3479F8BFD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D13B77E-4705-61D7-1C5A-0A5E35E2FF95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B5BC2BA-DF83-A23E-5AD2-9D07B6D9A8C2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7FA74BF-3738-627A-7A66-F1D15980F4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93D044B8-4E3C-5C66-89F5-B9497507D0B7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10A319EC-1112-BC70-7D68-9380194A80BF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B25FB8A8-14AF-15DE-0BDB-52AE04142F3C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F2A37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sp>
        <p:nvSpPr>
          <p:cNvPr id="11" name="def @3">
            <a:extLst>
              <a:ext uri="{FF2B5EF4-FFF2-40B4-BE49-F238E27FC236}">
                <a16:creationId xmlns:a16="http://schemas.microsoft.com/office/drawing/2014/main" id="{CD179A47-84A2-4377-FCE7-0311839F60E1}"/>
              </a:ext>
            </a:extLst>
          </p:cNvPr>
          <p:cNvSpPr/>
          <p:nvPr/>
        </p:nvSpPr>
        <p:spPr>
          <a:xfrm>
            <a:off x="914400" y="6223000"/>
            <a:ext cx="7366000" cy="1905000"/>
          </a:xfrm>
          <a:prstGeom prst="rect">
            <a:avLst/>
          </a:prstGeom>
          <a:solidFill>
            <a:srgbClr val="E4ED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9CB5C77E-83FD-2A5D-417A-8D3FFF511D25}"/>
              </a:ext>
            </a:extLst>
          </p:cNvPr>
          <p:cNvSpPr txBox="1"/>
          <p:nvPr/>
        </p:nvSpPr>
        <p:spPr>
          <a:xfrm>
            <a:off x="1244600" y="6476999"/>
            <a:ext cx="6731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F2A37"/>
                </a:solidFill>
                <a:latin typeface="Segoe UI" panose="020B0502040204020203" pitchFamily="34" charset="0"/>
              </a:rPr>
              <a:t>Threshold voltage </a:t>
            </a:r>
            <a:r>
              <a:rPr lang="en-US" sz="2600" b="1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="1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: the value of </a:t>
            </a:r>
            <a:r>
              <a:rPr lang="en-US" sz="26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 at which the channel just forms.</a:t>
            </a:r>
          </a:p>
        </p:txBody>
      </p:sp>
    </p:spTree>
    <p:extLst>
      <p:ext uri="{BB962C8B-B14F-4D97-AF65-F5344CB8AC3E}">
        <p14:creationId xmlns:p14="http://schemas.microsoft.com/office/powerpoint/2010/main" val="73066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41E36E9-BDC3-96E6-ECC2-842E9EDC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793AC9E-AD11-46B5-BB6F-02D3165002F0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4E7D2E4-DF7A-F1CC-3DA7-710AC819BA1E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683B593B-EBF6-D913-81BB-8EDB359AA8FD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ABC8E8F-13BE-A1A7-BCC3-5AE005BC3F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140AA16D-D970-8C2B-E09C-FC1FEDDB491C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C0A325CC-109D-FDF5-E792-7D680C9A4C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32A8EEB4-D244-6B3B-C2A6-A885C6C2D911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b @3">
            <a:extLst>
              <a:ext uri="{FF2B5EF4-FFF2-40B4-BE49-F238E27FC236}">
                <a16:creationId xmlns:a16="http://schemas.microsoft.com/office/drawing/2014/main" id="{479402B9-8047-3C42-7187-9CD40402DBED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41AB1166-3A24-293E-DECC-3F474B9501F3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41AB1166-3A24-293E-DECC-3F474B9501F3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14" name="sep @3">
            <a:extLst>
              <a:ext uri="{FF2B5EF4-FFF2-40B4-BE49-F238E27FC236}">
                <a16:creationId xmlns:a16="http://schemas.microsoft.com/office/drawing/2014/main" id="{638DCC94-2B85-4946-85CC-7BF48BA1E71C}"/>
              </a:ext>
            </a:extLst>
          </p:cNvPr>
          <p:cNvCxnSpPr/>
          <p:nvPr/>
        </p:nvCxnSpPr>
        <p:spPr>
          <a:xfrm>
            <a:off x="10160000" y="6604000"/>
            <a:ext cx="7213600" cy="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ote @4">
            <a:extLst>
              <a:ext uri="{FF2B5EF4-FFF2-40B4-BE49-F238E27FC236}">
                <a16:creationId xmlns:a16="http://schemas.microsoft.com/office/drawing/2014/main" id="{C171134A-0ED2-7BA3-AE0E-7F213C7FE1DB}"/>
              </a:ext>
            </a:extLst>
          </p:cNvPr>
          <p:cNvSpPr txBox="1"/>
          <p:nvPr/>
        </p:nvSpPr>
        <p:spPr>
          <a:xfrm>
            <a:off x="10160000" y="6984999"/>
            <a:ext cx="7213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Both require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: without a channel,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= 0 (cutoff).</a:t>
            </a:r>
          </a:p>
        </p:txBody>
      </p:sp>
    </p:spTree>
    <p:extLst>
      <p:ext uri="{BB962C8B-B14F-4D97-AF65-F5344CB8AC3E}">
        <p14:creationId xmlns:p14="http://schemas.microsoft.com/office/powerpoint/2010/main" val="139905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B6A84B-0D3D-8BD8-710F-F318911A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917CC97-8D8A-BD3B-2CE8-4525DA64AFF1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EE01984-CB54-4E3F-B67C-F3E65CC0D469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57809178-7DB5-47AF-507F-3CFE1F7B6637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15C5BC2E-162C-BC61-46FB-D48D6C6CA2E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980C38CB-05AA-4543-01A6-24CE2EFFF26A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05742-5E0C-7673-EDD6-C3E379AA58A6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EE3FF10-02D0-A1DA-E527-18BBBAD67C88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294C9BAA-A4CE-26DA-6C26-91B614A4FEC3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A0298009-E223-1EE7-E96A-84B09C8726EF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65B9D686-77E9-FA8B-D7A4-D0249F0C50AE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7E71D10-3EB5-E5F0-8B2A-612F6E66ECFB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59020E73-F753-113F-86A8-542DEA05A9F3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C3906CC-7DBE-71B3-DBBA-EB57F977AEF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529EE4D0-0C44-4094-5E22-7E7A99E45DB3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B7758BC6-F561-E9DB-3A80-3637149FFA8D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0911994E-65E8-38C7-FC84-6DEBD87C250F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00521189-B1E0-1550-0FBC-A4EB436A7FC3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05CE-B371-3343-106C-97D3DC606F2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CC35-82D5-6E0E-A861-E81604E61E82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0499CE44-09C6-5EED-DA98-90346A002F77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30D8F04-2418-239F-ADB9-3B4F884C2D2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2D401600-AAEC-54EB-0A26-3D2FCABF8FC2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82D4C28C-DB19-4C01-5024-98DD17E09542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F2A3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7793C43-AB84-FB44-2D61-C9953C95B961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7D2E521E-F259-E238-9CCC-49E81CF24B3E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E98B89CA-38EE-272B-C09B-C98E06270FBC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BA3CCED9-807A-DEDB-9D42-8D517B269CF2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15503D20-DF8B-C633-298E-8205DE58F6A0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B95B5886-8163-E82B-1DC1-1D9F8119A565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72D40-EEB8-35FD-2A8D-0641362F8CE7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09AEA-6077-2DAD-D1B3-156982C051EF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DBF50F65-168A-FB99-5588-157AA9CC1788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5" name="node @6">
            <a:extLst>
              <a:ext uri="{FF2B5EF4-FFF2-40B4-BE49-F238E27FC236}">
                <a16:creationId xmlns:a16="http://schemas.microsoft.com/office/drawing/2014/main" id="{54EB582B-2DAB-6E30-41A6-9156E5296039}"/>
              </a:ext>
            </a:extLst>
          </p:cNvPr>
          <p:cNvSpPr txBox="1"/>
          <p:nvPr/>
        </p:nvSpPr>
        <p:spPr>
          <a:xfrm>
            <a:off x="5816600" y="6248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S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3 V</a:t>
            </a:r>
          </a:p>
        </p:txBody>
      </p:sp>
      <p:sp>
        <p:nvSpPr>
          <p:cNvPr id="36" name="node @6">
            <a:extLst>
              <a:ext uri="{FF2B5EF4-FFF2-40B4-BE49-F238E27FC236}">
                <a16:creationId xmlns:a16="http://schemas.microsoft.com/office/drawing/2014/main" id="{92036307-4A2F-4D2E-1CEC-4415143F1F97}"/>
              </a:ext>
            </a:extLst>
          </p:cNvPr>
          <p:cNvSpPr txBox="1"/>
          <p:nvPr/>
        </p:nvSpPr>
        <p:spPr>
          <a:xfrm>
            <a:off x="5816600" y="5105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A8481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A8481A"/>
                </a:solidFill>
                <a:latin typeface="Segoe UI" panose="020B0502040204020203" pitchFamily="34" charset="0"/>
              </a:rPr>
              <a:t>D</a:t>
            </a:r>
            <a:r>
              <a:rPr lang="en-US" sz="2000" b="1">
                <a:solidFill>
                  <a:srgbClr val="A8481A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5D5097BD-86F5-8F67-6039-0DC9203D7598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596DFDFE-649C-98C2-3B64-6DEFC8BAA95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3468FBC2-C72E-14CE-8542-C87134261793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EC0B4E94-02B4-C518-96E3-E91943CCD251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BC018351-60BC-8B50-2740-3558F2749041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0E6351B0-9C40-46C3-4829-0ABB3A418C5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F5B66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F5B66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(1)</m:t>
                      </m:r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(5−6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F919970C-3831-7E79-2D54-A9A756BE1291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2B3EF2D1-284B-5207-62F1-6C5F275985BB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D42EF61-0722-2199-77BA-D2673D2BFA3F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+8=0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=0.89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or </m:t>
                      </m:r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mA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CCCA5242-7132-E2C2-1993-1273300DB72C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badge @5">
            <a:extLst>
              <a:ext uri="{FF2B5EF4-FFF2-40B4-BE49-F238E27FC236}">
                <a16:creationId xmlns:a16="http://schemas.microsoft.com/office/drawing/2014/main" id="{22C7DCA2-20E8-D813-0B80-6D65C62CD96F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C233CD3B-B3FB-E249-CDDD-7DD5A8E21AA6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2" name="badge @6">
            <a:extLst>
              <a:ext uri="{FF2B5EF4-FFF2-40B4-BE49-F238E27FC236}">
                <a16:creationId xmlns:a16="http://schemas.microsoft.com/office/drawing/2014/main" id="{27FB47A8-DBDB-B16E-F606-B212C2F924E8}"/>
              </a:ext>
            </a:extLst>
          </p:cNvPr>
          <p:cNvSpPr/>
          <p:nvPr/>
        </p:nvSpPr>
        <p:spPr>
          <a:xfrm>
            <a:off x="8128000" y="8229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badge @6">
            <a:extLst>
              <a:ext uri="{FF2B5EF4-FFF2-40B4-BE49-F238E27FC236}">
                <a16:creationId xmlns:a16="http://schemas.microsoft.com/office/drawing/2014/main" id="{015E2C7A-294A-757C-D8D4-01473F9CE28F}"/>
              </a:ext>
            </a:extLst>
          </p:cNvPr>
          <p:cNvSpPr txBox="1"/>
          <p:nvPr/>
        </p:nvSpPr>
        <p:spPr>
          <a:xfrm>
            <a:off x="8128000" y="8229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F0531A9-B091-0EB2-F6B4-5BF8C5D319D7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=10−0.5(6)=7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F0531A9-B091-0EB2-F6B4-5BF8C5D319D7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5" name="answer @6 bg">
            <a:extLst>
              <a:ext uri="{FF2B5EF4-FFF2-40B4-BE49-F238E27FC236}">
                <a16:creationId xmlns:a16="http://schemas.microsoft.com/office/drawing/2014/main" id="{514DFCDE-000B-D08E-27F4-626503D2E418}"/>
              </a:ext>
            </a:extLst>
          </p:cNvPr>
          <p:cNvSpPr/>
          <p:nvPr/>
        </p:nvSpPr>
        <p:spPr>
          <a:xfrm>
            <a:off x="8686800" y="8915400"/>
            <a:ext cx="2334768" cy="568960"/>
          </a:xfrm>
          <a:prstGeom prst="roundRect">
            <a:avLst>
              <a:gd name="adj" fmla="val 25000"/>
            </a:avLst>
          </a:prstGeom>
          <a:solidFill>
            <a:srgbClr val="F6E6DA"/>
          </a:solidFill>
          <a:ln w="19050">
            <a:solidFill>
              <a:srgbClr val="A848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nswer @6">
            <a:extLst>
              <a:ext uri="{FF2B5EF4-FFF2-40B4-BE49-F238E27FC236}">
                <a16:creationId xmlns:a16="http://schemas.microsoft.com/office/drawing/2014/main" id="{334805CC-C2C9-35C8-3165-7AF13BC9F678}"/>
              </a:ext>
            </a:extLst>
          </p:cNvPr>
          <p:cNvSpPr txBox="1"/>
          <p:nvPr/>
        </p:nvSpPr>
        <p:spPr>
          <a:xfrm>
            <a:off x="8915400" y="9016999"/>
            <a:ext cx="1928368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2400" i="1">
                <a:solidFill>
                  <a:srgbClr val="A8481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A8481A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A8481A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57" name="check @6">
            <a:extLst>
              <a:ext uri="{FF2B5EF4-FFF2-40B4-BE49-F238E27FC236}">
                <a16:creationId xmlns:a16="http://schemas.microsoft.com/office/drawing/2014/main" id="{5D6C9DD6-9DDB-04FD-6E7A-9BE30E11E3F7}"/>
              </a:ext>
            </a:extLst>
          </p:cNvPr>
          <p:cNvSpPr txBox="1"/>
          <p:nvPr/>
        </p:nvSpPr>
        <p:spPr>
          <a:xfrm>
            <a:off x="11303000" y="8940799"/>
            <a:ext cx="6070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✓ Check: </a:t>
            </a:r>
            <a:r>
              <a:rPr lang="en-US" sz="2000" i="1">
                <a:solidFill>
                  <a:srgbClr val="2E7D4F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2E7D4F"/>
                </a:solidFill>
                <a:latin typeface="Segoe UI" panose="020B0502040204020203" pitchFamily="34" charset="0"/>
              </a:rPr>
              <a:t>DS</a:t>
            </a:r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 = 4 V ≥ </a:t>
            </a:r>
            <a:r>
              <a:rPr lang="en-US" sz="2000" i="1">
                <a:solidFill>
                  <a:srgbClr val="2E7D4F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2E7D4F"/>
                </a:solidFill>
                <a:latin typeface="Segoe UI" panose="020B0502040204020203" pitchFamily="34" charset="0"/>
              </a:rPr>
              <a:t>GS</a:t>
            </a:r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 − </a:t>
            </a:r>
            <a:r>
              <a:rPr lang="en-US" sz="2000" i="1">
                <a:solidFill>
                  <a:srgbClr val="2E7D4F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2E7D4F"/>
                </a:solidFill>
                <a:latin typeface="Segoe UI" panose="020B0502040204020203" pitchFamily="34" charset="0"/>
              </a:rPr>
              <a:t>t</a:t>
            </a:r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 = 1 V, so saturation holds.</a:t>
            </a:r>
          </a:p>
        </p:txBody>
      </p:sp>
    </p:spTree>
    <p:extLst>
      <p:ext uri="{BB962C8B-B14F-4D97-AF65-F5344CB8AC3E}">
        <p14:creationId xmlns:p14="http://schemas.microsoft.com/office/powerpoint/2010/main" val="2232520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8F083CB-AB0B-E9A4-22EC-CE41D14D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Summary: three regions of operation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36595BC-19B9-B9D3-C532-DAC7699B7629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6825986-5A2A-FC6D-8E9E-C7E7028EBA75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th">
            <a:extLst>
              <a:ext uri="{FF2B5EF4-FFF2-40B4-BE49-F238E27FC236}">
                <a16:creationId xmlns:a16="http://schemas.microsoft.com/office/drawing/2014/main" id="{6BA06A86-05D5-1BAC-ED1A-3830EF42D126}"/>
              </a:ext>
            </a:extLst>
          </p:cNvPr>
          <p:cNvSpPr txBox="1"/>
          <p:nvPr/>
        </p:nvSpPr>
        <p:spPr>
          <a:xfrm>
            <a:off x="914400" y="2285999"/>
            <a:ext cx="292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Bahnschrift SemiBold" panose="020B0502040204020203" pitchFamily="34" charset="0"/>
              </a:rPr>
              <a:t>REGION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8C4B74BA-B25A-0847-ABCC-F59A05D2CE2D}"/>
              </a:ext>
            </a:extLst>
          </p:cNvPr>
          <p:cNvSpPr txBox="1"/>
          <p:nvPr/>
        </p:nvSpPr>
        <p:spPr>
          <a:xfrm>
            <a:off x="4089400" y="2285999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Bahnschrift SemiBold" panose="020B0502040204020203" pitchFamily="34" charset="0"/>
              </a:rPr>
              <a:t>CONDITION</a:t>
            </a:r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FF72A332-012E-60BD-EA11-46320E514157}"/>
              </a:ext>
            </a:extLst>
          </p:cNvPr>
          <p:cNvSpPr txBox="1"/>
          <p:nvPr/>
        </p:nvSpPr>
        <p:spPr>
          <a:xfrm>
            <a:off x="9677400" y="2285999"/>
            <a:ext cx="7696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Bahnschrift SemiBold" panose="020B0502040204020203" pitchFamily="34" charset="0"/>
              </a:rPr>
              <a:t>DRAIN CURRENT</a:t>
            </a:r>
          </a:p>
        </p:txBody>
      </p:sp>
      <p:cxnSp>
        <p:nvCxnSpPr>
          <p:cNvPr id="8" name="rule">
            <a:extLst>
              <a:ext uri="{FF2B5EF4-FFF2-40B4-BE49-F238E27FC236}">
                <a16:creationId xmlns:a16="http://schemas.microsoft.com/office/drawing/2014/main" id="{9722677B-BD6F-7B97-ED12-BB5F0D33AF0B}"/>
              </a:ext>
            </a:extLst>
          </p:cNvPr>
          <p:cNvCxnSpPr/>
          <p:nvPr/>
        </p:nvCxnSpPr>
        <p:spPr>
          <a:xfrm>
            <a:off x="914400" y="2743200"/>
            <a:ext cx="16459200" cy="0"/>
          </a:xfrm>
          <a:prstGeom prst="line">
            <a:avLst/>
          </a:prstGeom>
          <a:ln w="1587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d">
            <a:extLst>
              <a:ext uri="{FF2B5EF4-FFF2-40B4-BE49-F238E27FC236}">
                <a16:creationId xmlns:a16="http://schemas.microsoft.com/office/drawing/2014/main" id="{4FD33C07-21C9-9687-8CBF-E2855D80A33F}"/>
              </a:ext>
            </a:extLst>
          </p:cNvPr>
          <p:cNvSpPr txBox="1"/>
          <p:nvPr/>
        </p:nvSpPr>
        <p:spPr>
          <a:xfrm>
            <a:off x="914400" y="292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F2A37"/>
                </a:solidFill>
                <a:latin typeface="Bahnschrift SemiBold" panose="020B0502040204020203" pitchFamily="34" charset="0"/>
              </a:rPr>
              <a:t>Cutoff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5691F254-374D-2D33-FFD2-A5B2FFD34076}"/>
              </a:ext>
            </a:extLst>
          </p:cNvPr>
          <p:cNvSpPr txBox="1"/>
          <p:nvPr/>
        </p:nvSpPr>
        <p:spPr>
          <a:xfrm>
            <a:off x="4089400" y="292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≤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CF6E2198-E481-37A2-A5D3-D3DF078675FC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CF6E2198-E481-37A2-A5D3-D3DF078675FC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2" name="rule">
            <a:extLst>
              <a:ext uri="{FF2B5EF4-FFF2-40B4-BE49-F238E27FC236}">
                <a16:creationId xmlns:a16="http://schemas.microsoft.com/office/drawing/2014/main" id="{7B8AF185-FC23-5AB7-F06C-28C713079A40}"/>
              </a:ext>
            </a:extLst>
          </p:cNvPr>
          <p:cNvCxnSpPr/>
          <p:nvPr/>
        </p:nvCxnSpPr>
        <p:spPr>
          <a:xfrm>
            <a:off x="914400" y="4038600"/>
            <a:ext cx="16459200" cy="0"/>
          </a:xfrm>
          <a:prstGeom prst="line">
            <a:avLst/>
          </a:prstGeom>
          <a:ln w="952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and">
            <a:extLst>
              <a:ext uri="{FF2B5EF4-FFF2-40B4-BE49-F238E27FC236}">
                <a16:creationId xmlns:a16="http://schemas.microsoft.com/office/drawing/2014/main" id="{84E4AB61-726B-CCD2-12EB-10F9D1A18150}"/>
              </a:ext>
            </a:extLst>
          </p:cNvPr>
          <p:cNvSpPr/>
          <p:nvPr/>
        </p:nvSpPr>
        <p:spPr>
          <a:xfrm>
            <a:off x="762000" y="4038600"/>
            <a:ext cx="16764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d">
            <a:extLst>
              <a:ext uri="{FF2B5EF4-FFF2-40B4-BE49-F238E27FC236}">
                <a16:creationId xmlns:a16="http://schemas.microsoft.com/office/drawing/2014/main" id="{AE278BCC-623D-269B-75EC-9BF576D569F6}"/>
              </a:ext>
            </a:extLst>
          </p:cNvPr>
          <p:cNvSpPr txBox="1"/>
          <p:nvPr/>
        </p:nvSpPr>
        <p:spPr>
          <a:xfrm>
            <a:off x="914400" y="414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F2A37"/>
                </a:solidFill>
                <a:latin typeface="Bahnschrift SemiBold" panose="020B0502040204020203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33B08006-03FB-E3B5-6B11-C60739FAE856}"/>
              </a:ext>
            </a:extLst>
          </p:cNvPr>
          <p:cNvSpPr txBox="1"/>
          <p:nvPr/>
        </p:nvSpPr>
        <p:spPr>
          <a:xfrm>
            <a:off x="4089400" y="414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&lt;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ED1400C3-1758-7E4F-1431-D36D900EB34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ED1400C3-1758-7E4F-1431-D36D900EB34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1AECB44A-F8A1-2287-7393-53F9710F59E6}"/>
              </a:ext>
            </a:extLst>
          </p:cNvPr>
          <p:cNvCxnSpPr/>
          <p:nvPr/>
        </p:nvCxnSpPr>
        <p:spPr>
          <a:xfrm>
            <a:off x="914400" y="5257800"/>
            <a:ext cx="16459200" cy="0"/>
          </a:xfrm>
          <a:prstGeom prst="line">
            <a:avLst/>
          </a:prstGeom>
          <a:ln w="952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295244F1-DB49-A167-3629-C77253FA8F1B}"/>
              </a:ext>
            </a:extLst>
          </p:cNvPr>
          <p:cNvSpPr txBox="1"/>
          <p:nvPr/>
        </p:nvSpPr>
        <p:spPr>
          <a:xfrm>
            <a:off x="914400" y="53593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F2A37"/>
                </a:solidFill>
                <a:latin typeface="Bahnschrift SemiBold" panose="020B0502040204020203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34A8F61F-3EE1-745B-5C0E-B4F31A4C1837}"/>
              </a:ext>
            </a:extLst>
          </p:cNvPr>
          <p:cNvSpPr txBox="1"/>
          <p:nvPr/>
        </p:nvSpPr>
        <p:spPr>
          <a:xfrm>
            <a:off x="4089400" y="53593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≥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F1908C69-AD1F-9ABD-23EE-F2373D29356F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F1908C69-AD1F-9ABD-23EE-F2373D29356F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AF0976B2-F3A9-1EDD-2222-77269B31B453}"/>
              </a:ext>
            </a:extLst>
          </p:cNvPr>
          <p:cNvCxnSpPr/>
          <p:nvPr/>
        </p:nvCxnSpPr>
        <p:spPr>
          <a:xfrm>
            <a:off x="914400" y="6477000"/>
            <a:ext cx="16459200" cy="0"/>
          </a:xfrm>
          <a:prstGeom prst="line">
            <a:avLst/>
          </a:prstGeom>
          <a:ln w="952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8B46D7F6-E734-C136-5C05-8407E5FBA62F}"/>
              </a:ext>
            </a:extLst>
          </p:cNvPr>
          <p:cNvSpPr txBox="1"/>
          <p:nvPr/>
        </p:nvSpPr>
        <p:spPr>
          <a:xfrm>
            <a:off x="914400" y="68325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In a DC problem: </a:t>
            </a:r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assume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a region, </a:t>
            </a:r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solve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, then </a:t>
            </a:r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check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290E09AA-41D2-A30D-9FE1-F132167BA801}"/>
              </a:ext>
            </a:extLst>
          </p:cNvPr>
          <p:cNvSpPr txBox="1"/>
          <p:nvPr/>
        </p:nvSpPr>
        <p:spPr>
          <a:xfrm>
            <a:off x="914400" y="7492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Current saturates because the channel is pinched off at the drain end.</a:t>
            </a:r>
          </a:p>
        </p:txBody>
      </p:sp>
    </p:spTree>
    <p:extLst>
      <p:ext uri="{BB962C8B-B14F-4D97-AF65-F5344CB8AC3E}">
        <p14:creationId xmlns:p14="http://schemas.microsoft.com/office/powerpoint/2010/main" val="245879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Microsoft Office PowerPoint</Application>
  <PresentationFormat>Custom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Bahnschrift</vt:lpstr>
      <vt:lpstr>Bahnschrift SemiBold</vt:lpstr>
      <vt:lpstr>Cambria Math</vt:lpstr>
      <vt:lpstr>Segoe UI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1</cp:revision>
  <dcterms:created xsi:type="dcterms:W3CDTF">2026-10-01T00:08:19Z</dcterms:created>
  <dcterms:modified xsi:type="dcterms:W3CDTF">2026-10-01T00:08:19Z</dcterms:modified>
</cp:coreProperties>
</file>