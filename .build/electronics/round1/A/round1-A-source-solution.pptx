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23026-7B96-316C-CE41-EB1B8D394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6B70C1-56B0-A49A-8287-8C0BF5AD8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52578-6BB0-1FFF-3EF7-E81B70A0A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2A0AF-F5C5-918C-70BC-46D1B7CD7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B5700-35DF-DF69-3111-AA7FAADC4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175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9926A-5CBE-39F0-230D-1E71B14AC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E9363-9982-9484-ED0F-B44B9C5D9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36B5F-4688-8C1E-8355-11B5C5521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53B2F-7B0F-7202-3959-A6DCDE3F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A22A0-207E-CA25-FAF5-9162D61B7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162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E2E30-789D-D6EA-01A6-E86B022AC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9"/>
            <a:ext cx="15773400" cy="427910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F2ABE7-2127-B8C8-792D-011CA9D20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7"/>
            <a:ext cx="15773400" cy="225028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6106D-0E0F-2C61-FF1A-04BB687FF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F2CA9-C6E9-5842-67D0-7D2797467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ED8F6-564D-EFA7-FE18-5B32C322D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050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5DC16-03F8-F6F3-52EE-4A009CEB0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C3E18-13D0-4FB3-FEB8-2A7EB3CB60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6F130D-1A9F-A925-9A13-9A7DC56C4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5E97E-0495-9AE7-414F-32B191B57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0739FB-C90D-0565-172B-40D6632A8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3C80A6-54F0-48B5-C493-955EBAE47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743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E8FBC-CCB8-1B69-AD67-E59BC437B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90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509DA-8B1E-92D0-5E7E-8920CF3CB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4" y="2521745"/>
            <a:ext cx="7736681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39A7CD-A6FA-78A2-1A0F-E0A2CE346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4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3D5608-6210-D52B-D8B0-BBA1452CD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185828-0503-79DF-9F28-8676208286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D1AEF5-DF1F-7BF6-1EAF-FF75B6745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8C8C6D-4798-1168-348A-CD162A28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EC574E-6B13-8FA4-D587-614992A36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512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B1B56-1791-FFE9-CFD9-1CC6C2F40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F5ADAF-3340-9A7D-57E7-99A8BF138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17555A-569B-F10B-4374-4112E9BE7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D507E-B3BF-8FAA-F120-D38A9476C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79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336C52-7C6F-EBF1-2BB5-F77D7310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41F630-56F4-4720-7F28-D4674924D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2792B8-FDFA-7955-5263-8E8E1310B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586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0C9EE-6FC3-CEC8-8682-998C5CD6F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57BC3-98F6-FEB4-2D5A-99D638224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5B66F1-73BF-68E9-6841-83602B3C0D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706866-40DC-99CC-8BED-F7AB53C12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0150B6-5C94-451F-C411-1D113BB0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70F020-B14A-98FA-01A0-2516FBFD9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708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754D4-4725-A9C9-142B-17EDC9A43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86D266-C4DD-64A4-9428-2FC08054634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FA109B-408D-A1D1-57C4-0397EA02E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1E1F3-D957-4D2B-F435-9821165DC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974F9-B185-1217-734E-F75609DF3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1B209-B126-850F-D201-6FA34C516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90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E6DC2-0D05-15D0-C7B0-527A3073C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0B5CD8-5970-2BEE-35C5-6D04687A7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A3D91-AB48-B2A7-CB1F-46326FA13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EA9C7-DAD5-510A-DFBC-BF4C887BC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39E7F-221C-0CD0-0793-BB35CE57B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428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CE98B0-B037-7C74-B39B-B9116FC8B2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9EF126-3002-05D4-5C92-4FEB506E5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EB0A9-90C4-3A76-BB80-EE1426D54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9AA6D-E6F2-9A12-D743-74F73D547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F352F-F30E-0620-8644-8D6AC3872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991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0C0032-BCA6-0E56-3258-200920DA4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90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701AC8-3D83-DC17-C3A5-3981F0DE0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DD200-DBA3-E8DC-097E-C21D02825F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66D993-BF8E-459F-BF24-2956710CE0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94E02-A303-98D0-67F3-3D622441E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FB362-203A-9857-79FE-6E5FEDBC4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87F7A2-E5B9-42A1-A07B-B3B88452E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883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 #nochr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3F049EE-8568-FE11-434C-A12CB7C5D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75000"/>
            <a:ext cx="8128000" cy="1143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7600">
                <a:solidFill>
                  <a:srgbClr val="1F2A37"/>
                </a:solidFill>
                <a:latin typeface="Bahnschrift SemiBold" panose="020B0502040204020203" pitchFamily="34" charset="0"/>
              </a:rPr>
              <a:t>MOSFETs</a:t>
            </a:r>
          </a:p>
        </p:txBody>
      </p:sp>
      <p:sp>
        <p:nvSpPr>
          <p:cNvPr id="3" name="code">
            <a:extLst>
              <a:ext uri="{FF2B5EF4-FFF2-40B4-BE49-F238E27FC236}">
                <a16:creationId xmlns:a16="http://schemas.microsoft.com/office/drawing/2014/main" id="{E0E660B5-2696-A377-4963-2C6338E551F5}"/>
              </a:ext>
            </a:extLst>
          </p:cNvPr>
          <p:cNvSpPr txBox="1"/>
          <p:nvPr/>
        </p:nvSpPr>
        <p:spPr>
          <a:xfrm>
            <a:off x="914400" y="2412999"/>
            <a:ext cx="8890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1F5F8B"/>
                </a:solidFill>
                <a:latin typeface="Bahnschrift SemiBold" panose="020B0502040204020203" pitchFamily="34" charset="0"/>
              </a:rPr>
              <a:t>25CPES102 · Electronic Materials and Devices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9A8DAA05-E7C2-8749-E168-B59DE5213FE8}"/>
              </a:ext>
            </a:extLst>
          </p:cNvPr>
          <p:cNvSpPr txBox="1"/>
          <p:nvPr/>
        </p:nvSpPr>
        <p:spPr>
          <a:xfrm>
            <a:off x="914400" y="4444999"/>
            <a:ext cx="812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800">
                <a:solidFill>
                  <a:srgbClr val="4F5B66"/>
                </a:solidFill>
                <a:latin typeface="Segoe UI" panose="020B0502040204020203" pitchFamily="34" charset="0"/>
              </a:rPr>
              <a:t>Metal-oxide-semiconductor</a:t>
            </a:r>
          </a:p>
          <a:p>
            <a:pPr>
              <a:lnSpc>
                <a:spcPct val="105000"/>
              </a:lnSpc>
            </a:pPr>
            <a:r>
              <a:rPr lang="en-US" sz="2800">
                <a:solidFill>
                  <a:srgbClr val="4F5B66"/>
                </a:solidFill>
                <a:latin typeface="Segoe UI" panose="020B0502040204020203" pitchFamily="34" charset="0"/>
              </a:rPr>
              <a:t>field-effect transistors</a:t>
            </a:r>
          </a:p>
        </p:txBody>
      </p:sp>
      <p:cxnSp>
        <p:nvCxnSpPr>
          <p:cNvPr id="5" name="rule">
            <a:extLst>
              <a:ext uri="{FF2B5EF4-FFF2-40B4-BE49-F238E27FC236}">
                <a16:creationId xmlns:a16="http://schemas.microsoft.com/office/drawing/2014/main" id="{EC5D0B51-445A-9F8A-2D84-20F1C1F77341}"/>
              </a:ext>
            </a:extLst>
          </p:cNvPr>
          <p:cNvCxnSpPr/>
          <p:nvPr/>
        </p:nvCxnSpPr>
        <p:spPr>
          <a:xfrm>
            <a:off x="914400" y="5740400"/>
            <a:ext cx="1143000" cy="0"/>
          </a:xfrm>
          <a:prstGeom prst="line">
            <a:avLst/>
          </a:prstGeom>
          <a:ln w="38100">
            <a:solidFill>
              <a:srgbClr val="1F5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ecture">
            <a:extLst>
              <a:ext uri="{FF2B5EF4-FFF2-40B4-BE49-F238E27FC236}">
                <a16:creationId xmlns:a16="http://schemas.microsoft.com/office/drawing/2014/main" id="{CFE1A5D9-9961-3B96-3957-C5A4564DA91B}"/>
              </a:ext>
            </a:extLst>
          </p:cNvPr>
          <p:cNvSpPr txBox="1"/>
          <p:nvPr/>
        </p:nvSpPr>
        <p:spPr>
          <a:xfrm>
            <a:off x="914400" y="5968999"/>
            <a:ext cx="812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1F2A37"/>
                </a:solidFill>
                <a:latin typeface="Bahnschrift SemiBold" panose="020B0502040204020203" pitchFamily="34" charset="0"/>
              </a:rPr>
              <a:t>Lecture 3</a:t>
            </a:r>
          </a:p>
        </p:txBody>
      </p:sp>
      <p:sp>
        <p:nvSpPr>
          <p:cNvPr id="7" name="author">
            <a:extLst>
              <a:ext uri="{FF2B5EF4-FFF2-40B4-BE49-F238E27FC236}">
                <a16:creationId xmlns:a16="http://schemas.microsoft.com/office/drawing/2014/main" id="{F0817F45-51F4-1437-E960-FC5FDFBC36C8}"/>
              </a:ext>
            </a:extLst>
          </p:cNvPr>
          <p:cNvSpPr txBox="1"/>
          <p:nvPr/>
        </p:nvSpPr>
        <p:spPr>
          <a:xfrm>
            <a:off x="914400" y="8127999"/>
            <a:ext cx="889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1F2A37"/>
                </a:solidFill>
                <a:latin typeface="Bahnschrift SemiBold" panose="020B0502040204020203" pitchFamily="34" charset="0"/>
              </a:rPr>
              <a:t>Dr. Zahraa Ismail</a:t>
            </a:r>
          </a:p>
        </p:txBody>
      </p:sp>
      <p:sp>
        <p:nvSpPr>
          <p:cNvPr id="8" name="meta">
            <a:extLst>
              <a:ext uri="{FF2B5EF4-FFF2-40B4-BE49-F238E27FC236}">
                <a16:creationId xmlns:a16="http://schemas.microsoft.com/office/drawing/2014/main" id="{B208061C-D793-F451-1ADF-06CA8B691648}"/>
              </a:ext>
            </a:extLst>
          </p:cNvPr>
          <p:cNvSpPr txBox="1"/>
          <p:nvPr/>
        </p:nvSpPr>
        <p:spPr>
          <a:xfrm>
            <a:off x="914400" y="8534399"/>
            <a:ext cx="8890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4F5B66"/>
                </a:solidFill>
                <a:latin typeface="Segoe UI" panose="020B0502040204020203" pitchFamily="34" charset="0"/>
              </a:rPr>
              <a:t>Computer Engineering · Academic Year 2025/2026 · Semester One</a:t>
            </a:r>
          </a:p>
        </p:txBody>
      </p:sp>
      <p:sp>
        <p:nvSpPr>
          <p:cNvPr id="9" name="figure frame">
            <a:extLst>
              <a:ext uri="{FF2B5EF4-FFF2-40B4-BE49-F238E27FC236}">
                <a16:creationId xmlns:a16="http://schemas.microsoft.com/office/drawing/2014/main" id="{25B6DD6D-4DF6-5525-BE1D-AF04565B6155}"/>
              </a:ext>
            </a:extLst>
          </p:cNvPr>
          <p:cNvSpPr/>
          <p:nvPr/>
        </p:nvSpPr>
        <p:spPr>
          <a:xfrm>
            <a:off x="9652000" y="3175000"/>
            <a:ext cx="7874000" cy="3276619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figure">
            <a:extLst>
              <a:ext uri="{FF2B5EF4-FFF2-40B4-BE49-F238E27FC236}">
                <a16:creationId xmlns:a16="http://schemas.microsoft.com/office/drawing/2014/main" id="{35B5A5E0-9663-53A9-4D3E-1F69BA3D2BF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0600" y="3403600"/>
            <a:ext cx="7416800" cy="2819419"/>
          </a:xfrm>
          <a:prstGeom prst="rect">
            <a:avLst/>
          </a:prstGeom>
        </p:spPr>
      </p:pic>
      <p:sp>
        <p:nvSpPr>
          <p:cNvPr id="12" name="credit">
            <a:extLst>
              <a:ext uri="{FF2B5EF4-FFF2-40B4-BE49-F238E27FC236}">
                <a16:creationId xmlns:a16="http://schemas.microsoft.com/office/drawing/2014/main" id="{36195B53-40AB-EFDD-EEE1-A376D6BEFFF9}"/>
              </a:ext>
            </a:extLst>
          </p:cNvPr>
          <p:cNvSpPr txBox="1"/>
          <p:nvPr/>
        </p:nvSpPr>
        <p:spPr>
          <a:xfrm>
            <a:off x="9652000" y="6527819"/>
            <a:ext cx="787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</p:spTree>
    <p:extLst>
      <p:ext uri="{BB962C8B-B14F-4D97-AF65-F5344CB8AC3E}">
        <p14:creationId xmlns:p14="http://schemas.microsoft.com/office/powerpoint/2010/main" val="2954412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9020C59-3D51-B3CE-10A8-12B476192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6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F2A37"/>
                </a:solidFill>
                <a:latin typeface="Bahnschrift SemiBold" panose="020B0502040204020203" pitchFamily="34" charset="0"/>
              </a:rPr>
              <a:t>Lecture map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49E77B6B-2D60-B071-6C96-9057CBB4939B}"/>
              </a:ext>
            </a:extLst>
          </p:cNvPr>
          <p:cNvSpPr txBox="1"/>
          <p:nvPr/>
        </p:nvSpPr>
        <p:spPr>
          <a:xfrm>
            <a:off x="914400" y="355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1F5F8B"/>
                </a:solidFill>
                <a:latin typeface="Bahnschrift SemiBold" panose="020B0502040204020203" pitchFamily="34" charset="0"/>
              </a:rPr>
              <a:t>LECTURE 3 · MOSFETS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B3ED401B-A3AD-AA64-AB2A-F0084828AD03}"/>
              </a:ext>
            </a:extLst>
          </p:cNvPr>
          <p:cNvSpPr txBox="1"/>
          <p:nvPr/>
        </p:nvSpPr>
        <p:spPr>
          <a:xfrm>
            <a:off x="914400" y="97535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map n">
            <a:extLst>
              <a:ext uri="{FF2B5EF4-FFF2-40B4-BE49-F238E27FC236}">
                <a16:creationId xmlns:a16="http://schemas.microsoft.com/office/drawing/2014/main" id="{3E354E68-2D76-0C9D-4A6A-8F4EFA54D6A1}"/>
              </a:ext>
            </a:extLst>
          </p:cNvPr>
          <p:cNvSpPr txBox="1"/>
          <p:nvPr/>
        </p:nvSpPr>
        <p:spPr>
          <a:xfrm>
            <a:off x="914400" y="226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1F5F8B"/>
                </a:solidFill>
                <a:latin typeface="Bahnschrift SemiBold" panose="020B0502040204020203" pitchFamily="34" charset="0"/>
              </a:rPr>
              <a:t>1</a:t>
            </a:r>
          </a:p>
        </p:txBody>
      </p:sp>
      <p:sp>
        <p:nvSpPr>
          <p:cNvPr id="6" name="map t">
            <a:extLst>
              <a:ext uri="{FF2B5EF4-FFF2-40B4-BE49-F238E27FC236}">
                <a16:creationId xmlns:a16="http://schemas.microsoft.com/office/drawing/2014/main" id="{34AA7AE5-F281-2B6F-4F04-A5F2E11367DC}"/>
              </a:ext>
            </a:extLst>
          </p:cNvPr>
          <p:cNvSpPr txBox="1"/>
          <p:nvPr/>
        </p:nvSpPr>
        <p:spPr>
          <a:xfrm>
            <a:off x="1803400" y="228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F2A37"/>
                </a:solidFill>
                <a:latin typeface="Bahnschrift SemiBold" panose="020B0502040204020203" pitchFamily="34" charset="0"/>
              </a:rPr>
              <a:t>Structure and operation</a:t>
            </a:r>
          </a:p>
        </p:txBody>
      </p:sp>
      <p:sp>
        <p:nvSpPr>
          <p:cNvPr id="7" name="map s">
            <a:extLst>
              <a:ext uri="{FF2B5EF4-FFF2-40B4-BE49-F238E27FC236}">
                <a16:creationId xmlns:a16="http://schemas.microsoft.com/office/drawing/2014/main" id="{ECDA68A9-56D3-7542-6502-A090A449A099}"/>
              </a:ext>
            </a:extLst>
          </p:cNvPr>
          <p:cNvSpPr txBox="1"/>
          <p:nvPr/>
        </p:nvSpPr>
        <p:spPr>
          <a:xfrm>
            <a:off x="1803400" y="276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F5B66"/>
                </a:solidFill>
                <a:latin typeface="Segoe UI" panose="020B0502040204020203" pitchFamily="34" charset="0"/>
              </a:rPr>
              <a:t>how a channel forms; the threshold voltage</a:t>
            </a:r>
          </a:p>
        </p:txBody>
      </p:sp>
      <p:sp>
        <p:nvSpPr>
          <p:cNvPr id="8" name="map n">
            <a:extLst>
              <a:ext uri="{FF2B5EF4-FFF2-40B4-BE49-F238E27FC236}">
                <a16:creationId xmlns:a16="http://schemas.microsoft.com/office/drawing/2014/main" id="{B9D609F7-BBDC-192E-D905-96E3E3F69765}"/>
              </a:ext>
            </a:extLst>
          </p:cNvPr>
          <p:cNvSpPr txBox="1"/>
          <p:nvPr/>
        </p:nvSpPr>
        <p:spPr>
          <a:xfrm>
            <a:off x="914400" y="353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1F5F8B"/>
                </a:solidFill>
                <a:latin typeface="Bahnschrift SemiBold" panose="020B0502040204020203" pitchFamily="34" charset="0"/>
              </a:rPr>
              <a:t>2</a:t>
            </a:r>
          </a:p>
        </p:txBody>
      </p:sp>
      <p:sp>
        <p:nvSpPr>
          <p:cNvPr id="9" name="map t">
            <a:extLst>
              <a:ext uri="{FF2B5EF4-FFF2-40B4-BE49-F238E27FC236}">
                <a16:creationId xmlns:a16="http://schemas.microsoft.com/office/drawing/2014/main" id="{1F43CF8E-8AA5-BEEE-3B51-D217086A8C3C}"/>
              </a:ext>
            </a:extLst>
          </p:cNvPr>
          <p:cNvSpPr txBox="1"/>
          <p:nvPr/>
        </p:nvSpPr>
        <p:spPr>
          <a:xfrm>
            <a:off x="1803400" y="355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F2A37"/>
                </a:solidFill>
                <a:latin typeface="Bahnschrift SemiBold" panose="020B0502040204020203" pitchFamily="34" charset="0"/>
              </a:rPr>
              <a:t>I–V characteristics</a:t>
            </a:r>
          </a:p>
        </p:txBody>
      </p:sp>
      <p:sp>
        <p:nvSpPr>
          <p:cNvPr id="10" name="map s">
            <a:extLst>
              <a:ext uri="{FF2B5EF4-FFF2-40B4-BE49-F238E27FC236}">
                <a16:creationId xmlns:a16="http://schemas.microsoft.com/office/drawing/2014/main" id="{24AA95C0-27B6-ADBC-3D5A-C4DC086C37A1}"/>
              </a:ext>
            </a:extLst>
          </p:cNvPr>
          <p:cNvSpPr txBox="1"/>
          <p:nvPr/>
        </p:nvSpPr>
        <p:spPr>
          <a:xfrm>
            <a:off x="1803400" y="403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F5B66"/>
                </a:solidFill>
                <a:latin typeface="Segoe UI" panose="020B0502040204020203" pitchFamily="34" charset="0"/>
              </a:rPr>
              <a:t>cutoff, triode and saturation</a:t>
            </a:r>
          </a:p>
        </p:txBody>
      </p:sp>
      <p:sp>
        <p:nvSpPr>
          <p:cNvPr id="11" name="map n">
            <a:extLst>
              <a:ext uri="{FF2B5EF4-FFF2-40B4-BE49-F238E27FC236}">
                <a16:creationId xmlns:a16="http://schemas.microsoft.com/office/drawing/2014/main" id="{DDA08DDD-48DF-D938-911B-8E795E84956D}"/>
              </a:ext>
            </a:extLst>
          </p:cNvPr>
          <p:cNvSpPr txBox="1"/>
          <p:nvPr/>
        </p:nvSpPr>
        <p:spPr>
          <a:xfrm>
            <a:off x="914400" y="480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1F5F8B"/>
                </a:solidFill>
                <a:latin typeface="Bahnschrift SemiBold" panose="020B0502040204020203" pitchFamily="34" charset="0"/>
              </a:rPr>
              <a:t>3</a:t>
            </a:r>
          </a:p>
        </p:txBody>
      </p:sp>
      <p:sp>
        <p:nvSpPr>
          <p:cNvPr id="12" name="map t">
            <a:extLst>
              <a:ext uri="{FF2B5EF4-FFF2-40B4-BE49-F238E27FC236}">
                <a16:creationId xmlns:a16="http://schemas.microsoft.com/office/drawing/2014/main" id="{0603F680-6C18-8247-2762-ADF754E66C11}"/>
              </a:ext>
            </a:extLst>
          </p:cNvPr>
          <p:cNvSpPr txBox="1"/>
          <p:nvPr/>
        </p:nvSpPr>
        <p:spPr>
          <a:xfrm>
            <a:off x="1803400" y="482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F2A37"/>
                </a:solidFill>
                <a:latin typeface="Bahnschrift SemiBold" panose="020B0502040204020203" pitchFamily="34" charset="0"/>
              </a:rPr>
              <a:t>MOSFETs in DC circuits</a:t>
            </a:r>
          </a:p>
        </p:txBody>
      </p:sp>
      <p:sp>
        <p:nvSpPr>
          <p:cNvPr id="13" name="map s">
            <a:extLst>
              <a:ext uri="{FF2B5EF4-FFF2-40B4-BE49-F238E27FC236}">
                <a16:creationId xmlns:a16="http://schemas.microsoft.com/office/drawing/2014/main" id="{22F1B0C9-2B34-0AC3-E4AA-9F64623ECECA}"/>
              </a:ext>
            </a:extLst>
          </p:cNvPr>
          <p:cNvSpPr txBox="1"/>
          <p:nvPr/>
        </p:nvSpPr>
        <p:spPr>
          <a:xfrm>
            <a:off x="1803400" y="530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F5B66"/>
                </a:solidFill>
                <a:latin typeface="Segoe UI" panose="020B0502040204020203" pitchFamily="34" charset="0"/>
              </a:rPr>
              <a:t>finding the operating point</a:t>
            </a:r>
          </a:p>
        </p:txBody>
      </p:sp>
      <p:sp>
        <p:nvSpPr>
          <p:cNvPr id="14" name="map n">
            <a:extLst>
              <a:ext uri="{FF2B5EF4-FFF2-40B4-BE49-F238E27FC236}">
                <a16:creationId xmlns:a16="http://schemas.microsoft.com/office/drawing/2014/main" id="{25F95444-5CCE-BDF9-AB0C-178863B1B771}"/>
              </a:ext>
            </a:extLst>
          </p:cNvPr>
          <p:cNvSpPr txBox="1"/>
          <p:nvPr/>
        </p:nvSpPr>
        <p:spPr>
          <a:xfrm>
            <a:off x="914400" y="607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1F5F8B"/>
                </a:solidFill>
                <a:latin typeface="Bahnschrift SemiBold" panose="020B0502040204020203" pitchFamily="34" charset="0"/>
              </a:rPr>
              <a:t>4</a:t>
            </a:r>
          </a:p>
        </p:txBody>
      </p:sp>
      <p:sp>
        <p:nvSpPr>
          <p:cNvPr id="15" name="map t">
            <a:extLst>
              <a:ext uri="{FF2B5EF4-FFF2-40B4-BE49-F238E27FC236}">
                <a16:creationId xmlns:a16="http://schemas.microsoft.com/office/drawing/2014/main" id="{97915181-539A-3032-4111-2194309B2965}"/>
              </a:ext>
            </a:extLst>
          </p:cNvPr>
          <p:cNvSpPr txBox="1"/>
          <p:nvPr/>
        </p:nvSpPr>
        <p:spPr>
          <a:xfrm>
            <a:off x="1803400" y="609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F2A37"/>
                </a:solidFill>
                <a:latin typeface="Bahnschrift SemiBold" panose="020B0502040204020203" pitchFamily="34" charset="0"/>
              </a:rPr>
              <a:t>The MOSFET as an amplifier</a:t>
            </a:r>
          </a:p>
        </p:txBody>
      </p:sp>
      <p:sp>
        <p:nvSpPr>
          <p:cNvPr id="16" name="map s">
            <a:extLst>
              <a:ext uri="{FF2B5EF4-FFF2-40B4-BE49-F238E27FC236}">
                <a16:creationId xmlns:a16="http://schemas.microsoft.com/office/drawing/2014/main" id="{89B89752-A072-0A7A-9689-C149D48B01DF}"/>
              </a:ext>
            </a:extLst>
          </p:cNvPr>
          <p:cNvSpPr txBox="1"/>
          <p:nvPr/>
        </p:nvSpPr>
        <p:spPr>
          <a:xfrm>
            <a:off x="1803400" y="657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F5B66"/>
                </a:solidFill>
                <a:latin typeface="Segoe UI" panose="020B0502040204020203" pitchFamily="34" charset="0"/>
              </a:rPr>
              <a:t>transconductance, small-signal model</a:t>
            </a:r>
          </a:p>
        </p:txBody>
      </p:sp>
      <p:sp>
        <p:nvSpPr>
          <p:cNvPr id="17" name="map n">
            <a:extLst>
              <a:ext uri="{FF2B5EF4-FFF2-40B4-BE49-F238E27FC236}">
                <a16:creationId xmlns:a16="http://schemas.microsoft.com/office/drawing/2014/main" id="{A3335A18-AF7A-0DEF-0322-A225F7904FC3}"/>
              </a:ext>
            </a:extLst>
          </p:cNvPr>
          <p:cNvSpPr txBox="1"/>
          <p:nvPr/>
        </p:nvSpPr>
        <p:spPr>
          <a:xfrm>
            <a:off x="914400" y="734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1F5F8B"/>
                </a:solidFill>
                <a:latin typeface="Bahnschrift SemiBold" panose="020B0502040204020203" pitchFamily="34" charset="0"/>
              </a:rPr>
              <a:t>5</a:t>
            </a:r>
          </a:p>
        </p:txBody>
      </p:sp>
      <p:sp>
        <p:nvSpPr>
          <p:cNvPr id="18" name="map t">
            <a:extLst>
              <a:ext uri="{FF2B5EF4-FFF2-40B4-BE49-F238E27FC236}">
                <a16:creationId xmlns:a16="http://schemas.microsoft.com/office/drawing/2014/main" id="{5BD112D0-C5E6-0093-08DD-C1EAEBF8F6A1}"/>
              </a:ext>
            </a:extLst>
          </p:cNvPr>
          <p:cNvSpPr txBox="1"/>
          <p:nvPr/>
        </p:nvSpPr>
        <p:spPr>
          <a:xfrm>
            <a:off x="1803400" y="736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F2A37"/>
                </a:solidFill>
                <a:latin typeface="Bahnschrift SemiBold" panose="020B0502040204020203" pitchFamily="34" charset="0"/>
              </a:rPr>
              <a:t>The MOSFET as a switch</a:t>
            </a:r>
          </a:p>
        </p:txBody>
      </p:sp>
      <p:sp>
        <p:nvSpPr>
          <p:cNvPr id="19" name="panel">
            <a:extLst>
              <a:ext uri="{FF2B5EF4-FFF2-40B4-BE49-F238E27FC236}">
                <a16:creationId xmlns:a16="http://schemas.microsoft.com/office/drawing/2014/main" id="{525031E2-0846-4832-0FE7-0306F5077041}"/>
              </a:ext>
            </a:extLst>
          </p:cNvPr>
          <p:cNvSpPr/>
          <p:nvPr/>
        </p:nvSpPr>
        <p:spPr>
          <a:xfrm>
            <a:off x="10922000" y="2159000"/>
            <a:ext cx="6451600" cy="5969000"/>
          </a:xfrm>
          <a:prstGeom prst="rect">
            <a:avLst/>
          </a:prstGeom>
          <a:solidFill>
            <a:srgbClr val="E4ED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utcomes h">
            <a:extLst>
              <a:ext uri="{FF2B5EF4-FFF2-40B4-BE49-F238E27FC236}">
                <a16:creationId xmlns:a16="http://schemas.microsoft.com/office/drawing/2014/main" id="{6EF92858-1BC6-7F18-0C1B-5181C48A7931}"/>
              </a:ext>
            </a:extLst>
          </p:cNvPr>
          <p:cNvSpPr txBox="1"/>
          <p:nvPr/>
        </p:nvSpPr>
        <p:spPr>
          <a:xfrm>
            <a:off x="11328400" y="2489199"/>
            <a:ext cx="56388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1F5F8B"/>
                </a:solidFill>
                <a:latin typeface="Bahnschrift SemiBold" panose="020B0502040204020203" pitchFamily="34" charset="0"/>
              </a:rPr>
              <a:t>BY THE END YOU CAN</a:t>
            </a:r>
          </a:p>
        </p:txBody>
      </p:sp>
      <p:sp>
        <p:nvSpPr>
          <p:cNvPr id="21" name="outcome">
            <a:extLst>
              <a:ext uri="{FF2B5EF4-FFF2-40B4-BE49-F238E27FC236}">
                <a16:creationId xmlns:a16="http://schemas.microsoft.com/office/drawing/2014/main" id="{DD8BDAE2-2B2D-AA66-9EDE-DD2A72B76408}"/>
              </a:ext>
            </a:extLst>
          </p:cNvPr>
          <p:cNvSpPr txBox="1"/>
          <p:nvPr/>
        </p:nvSpPr>
        <p:spPr>
          <a:xfrm>
            <a:off x="11328400" y="3047999"/>
            <a:ext cx="56388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1F5F8B"/>
              </a:buClr>
              <a:buFont typeface="+mj-lt"/>
              <a:buChar char="•"/>
            </a:pP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Explain how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creates a channel and how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pinches it off</a:t>
            </a:r>
          </a:p>
        </p:txBody>
      </p:sp>
      <p:sp>
        <p:nvSpPr>
          <p:cNvPr id="22" name="outcome">
            <a:extLst>
              <a:ext uri="{FF2B5EF4-FFF2-40B4-BE49-F238E27FC236}">
                <a16:creationId xmlns:a16="http://schemas.microsoft.com/office/drawing/2014/main" id="{70A34CC8-567D-2484-383B-B1CE1835B84E}"/>
              </a:ext>
            </a:extLst>
          </p:cNvPr>
          <p:cNvSpPr txBox="1"/>
          <p:nvPr/>
        </p:nvSpPr>
        <p:spPr>
          <a:xfrm>
            <a:off x="11328400" y="4635499"/>
            <a:ext cx="56388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1F5F8B"/>
              </a:buClr>
              <a:buFont typeface="+mj-lt"/>
              <a:buChar char="•"/>
            </a:pP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Pick the right region and use its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i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D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equation</a:t>
            </a:r>
          </a:p>
        </p:txBody>
      </p:sp>
      <p:sp>
        <p:nvSpPr>
          <p:cNvPr id="23" name="outcome">
            <a:extLst>
              <a:ext uri="{FF2B5EF4-FFF2-40B4-BE49-F238E27FC236}">
                <a16:creationId xmlns:a16="http://schemas.microsoft.com/office/drawing/2014/main" id="{5C30ACA6-482C-581C-402B-CABB06D3F62B}"/>
              </a:ext>
            </a:extLst>
          </p:cNvPr>
          <p:cNvSpPr txBox="1"/>
          <p:nvPr/>
        </p:nvSpPr>
        <p:spPr>
          <a:xfrm>
            <a:off x="11328400" y="6222999"/>
            <a:ext cx="56388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1F5F8B"/>
              </a:buClr>
              <a:buFont typeface="+mj-lt"/>
              <a:buChar char="•"/>
            </a:pP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Find the DC operating point of a MOSFET circuit</a:t>
            </a:r>
          </a:p>
        </p:txBody>
      </p:sp>
      <p:sp>
        <p:nvSpPr>
          <p:cNvPr id="24" name="chrome page">
            <a:extLst>
              <a:ext uri="{FF2B5EF4-FFF2-40B4-BE49-F238E27FC236}">
                <a16:creationId xmlns:a16="http://schemas.microsoft.com/office/drawing/2014/main" id="{0A73C20B-64A2-DA80-F45E-48E88E1C4362}"/>
              </a:ext>
            </a:extLst>
          </p:cNvPr>
          <p:cNvSpPr txBox="1"/>
          <p:nvPr/>
        </p:nvSpPr>
        <p:spPr>
          <a:xfrm>
            <a:off x="16611600" y="97535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61232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9E4B6F3-8117-B9AB-08FD-547AABFF6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334000"/>
            <a:ext cx="13970000" cy="1143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400">
                <a:solidFill>
                  <a:srgbClr val="1F2A37"/>
                </a:solidFill>
                <a:latin typeface="Bahnschrift SemiBold" panose="020B0502040204020203" pitchFamily="34" charset="0"/>
              </a:rPr>
              <a:t>I–V characteristics</a:t>
            </a:r>
          </a:p>
        </p:txBody>
      </p:sp>
      <p:sp>
        <p:nvSpPr>
          <p:cNvPr id="3" name="numeral">
            <a:extLst>
              <a:ext uri="{FF2B5EF4-FFF2-40B4-BE49-F238E27FC236}">
                <a16:creationId xmlns:a16="http://schemas.microsoft.com/office/drawing/2014/main" id="{42D682BD-103C-4D7F-6BDB-64B8EA793D77}"/>
              </a:ext>
            </a:extLst>
          </p:cNvPr>
          <p:cNvSpPr txBox="1"/>
          <p:nvPr/>
        </p:nvSpPr>
        <p:spPr>
          <a:xfrm>
            <a:off x="838200" y="2158999"/>
            <a:ext cx="7620000" cy="3048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19000">
                <a:solidFill>
                  <a:srgbClr val="1F5F8B"/>
                </a:solidFill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4" name="item">
            <a:extLst>
              <a:ext uri="{FF2B5EF4-FFF2-40B4-BE49-F238E27FC236}">
                <a16:creationId xmlns:a16="http://schemas.microsoft.com/office/drawing/2014/main" id="{DF4D603D-A6A7-2D5E-6E5C-F8162033B161}"/>
              </a:ext>
            </a:extLst>
          </p:cNvPr>
          <p:cNvSpPr txBox="1"/>
          <p:nvPr/>
        </p:nvSpPr>
        <p:spPr>
          <a:xfrm>
            <a:off x="914400" y="68579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Increasing </a:t>
            </a:r>
            <a:r>
              <a:rPr lang="en-US" sz="2400" i="1">
                <a:solidFill>
                  <a:srgbClr val="4F5B66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F5B66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: pinch-off</a:t>
            </a:r>
          </a:p>
        </p:txBody>
      </p:sp>
      <p:sp>
        <p:nvSpPr>
          <p:cNvPr id="5" name="item">
            <a:extLst>
              <a:ext uri="{FF2B5EF4-FFF2-40B4-BE49-F238E27FC236}">
                <a16:creationId xmlns:a16="http://schemas.microsoft.com/office/drawing/2014/main" id="{7C880CC3-7309-1FEE-23A2-8B8E6BBB8E60}"/>
              </a:ext>
            </a:extLst>
          </p:cNvPr>
          <p:cNvSpPr txBox="1"/>
          <p:nvPr/>
        </p:nvSpPr>
        <p:spPr>
          <a:xfrm>
            <a:off x="914400" y="73659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Triode and saturation</a:t>
            </a:r>
          </a:p>
        </p:txBody>
      </p:sp>
      <p:sp>
        <p:nvSpPr>
          <p:cNvPr id="6" name="item">
            <a:extLst>
              <a:ext uri="{FF2B5EF4-FFF2-40B4-BE49-F238E27FC236}">
                <a16:creationId xmlns:a16="http://schemas.microsoft.com/office/drawing/2014/main" id="{B016C3A2-0CF4-C889-ADE5-F64F3B633DEF}"/>
              </a:ext>
            </a:extLst>
          </p:cNvPr>
          <p:cNvSpPr txBox="1"/>
          <p:nvPr/>
        </p:nvSpPr>
        <p:spPr>
          <a:xfrm>
            <a:off x="914400" y="78739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The </a:t>
            </a:r>
            <a:r>
              <a:rPr lang="en-US" sz="2400" i="1">
                <a:solidFill>
                  <a:srgbClr val="4F5B66"/>
                </a:solidFill>
                <a:latin typeface="Segoe UI" panose="020B0502040204020203" pitchFamily="34" charset="0"/>
              </a:rPr>
              <a:t>i</a:t>
            </a:r>
            <a:r>
              <a:rPr lang="en-US" sz="2400" baseline="-25000">
                <a:solidFill>
                  <a:srgbClr val="4F5B66"/>
                </a:solidFill>
                <a:latin typeface="Segoe UI" panose="020B0502040204020203" pitchFamily="34" charset="0"/>
              </a:rPr>
              <a:t>D</a:t>
            </a:r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–</a:t>
            </a:r>
            <a:r>
              <a:rPr lang="en-US" sz="2400" i="1">
                <a:solidFill>
                  <a:srgbClr val="4F5B66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F5B66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 family of curves</a:t>
            </a:r>
          </a:p>
        </p:txBody>
      </p:sp>
      <p:cxnSp>
        <p:nvCxnSpPr>
          <p:cNvPr id="7" name="map rule">
            <a:extLst>
              <a:ext uri="{FF2B5EF4-FFF2-40B4-BE49-F238E27FC236}">
                <a16:creationId xmlns:a16="http://schemas.microsoft.com/office/drawing/2014/main" id="{AAFAABCB-9387-1486-9232-84F3F1740C87}"/>
              </a:ext>
            </a:extLst>
          </p:cNvPr>
          <p:cNvCxnSpPr/>
          <p:nvPr/>
        </p:nvCxnSpPr>
        <p:spPr>
          <a:xfrm>
            <a:off x="11836400" y="2540000"/>
            <a:ext cx="0" cy="3149600"/>
          </a:xfrm>
          <a:prstGeom prst="line">
            <a:avLst/>
          </a:prstGeom>
          <a:ln w="12700">
            <a:solidFill>
              <a:srgbClr val="DDD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map">
            <a:extLst>
              <a:ext uri="{FF2B5EF4-FFF2-40B4-BE49-F238E27FC236}">
                <a16:creationId xmlns:a16="http://schemas.microsoft.com/office/drawing/2014/main" id="{38F391D9-3220-C832-512F-33A5EC64D5A0}"/>
              </a:ext>
            </a:extLst>
          </p:cNvPr>
          <p:cNvSpPr txBox="1"/>
          <p:nvPr/>
        </p:nvSpPr>
        <p:spPr>
          <a:xfrm>
            <a:off x="12192000" y="2539999"/>
            <a:ext cx="533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A6A29A"/>
                </a:solidFill>
                <a:latin typeface="Segoe UI" panose="020B0502040204020203" pitchFamily="34" charset="0"/>
              </a:rPr>
              <a:t>1  Structure and operation</a:t>
            </a:r>
          </a:p>
        </p:txBody>
      </p:sp>
      <p:sp>
        <p:nvSpPr>
          <p:cNvPr id="9" name="map">
            <a:extLst>
              <a:ext uri="{FF2B5EF4-FFF2-40B4-BE49-F238E27FC236}">
                <a16:creationId xmlns:a16="http://schemas.microsoft.com/office/drawing/2014/main" id="{C5FA08A8-9BBF-9230-07B8-94D66FFF7501}"/>
              </a:ext>
            </a:extLst>
          </p:cNvPr>
          <p:cNvSpPr txBox="1"/>
          <p:nvPr/>
        </p:nvSpPr>
        <p:spPr>
          <a:xfrm>
            <a:off x="12192000" y="3200399"/>
            <a:ext cx="533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F2A37"/>
                </a:solidFill>
                <a:latin typeface="Bahnschrift SemiBold" panose="020B0502040204020203" pitchFamily="34" charset="0"/>
              </a:rPr>
              <a:t>2  I–V characteristics</a:t>
            </a:r>
          </a:p>
        </p:txBody>
      </p:sp>
      <p:sp>
        <p:nvSpPr>
          <p:cNvPr id="10" name="map">
            <a:extLst>
              <a:ext uri="{FF2B5EF4-FFF2-40B4-BE49-F238E27FC236}">
                <a16:creationId xmlns:a16="http://schemas.microsoft.com/office/drawing/2014/main" id="{531B6E5E-7269-9845-9336-3391D8556BF3}"/>
              </a:ext>
            </a:extLst>
          </p:cNvPr>
          <p:cNvSpPr txBox="1"/>
          <p:nvPr/>
        </p:nvSpPr>
        <p:spPr>
          <a:xfrm>
            <a:off x="12192000" y="3860799"/>
            <a:ext cx="533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A6A29A"/>
                </a:solidFill>
                <a:latin typeface="Segoe UI" panose="020B0502040204020203" pitchFamily="34" charset="0"/>
              </a:rPr>
              <a:t>3  MOSFETs in DC circuits</a:t>
            </a:r>
          </a:p>
        </p:txBody>
      </p:sp>
      <p:sp>
        <p:nvSpPr>
          <p:cNvPr id="11" name="map">
            <a:extLst>
              <a:ext uri="{FF2B5EF4-FFF2-40B4-BE49-F238E27FC236}">
                <a16:creationId xmlns:a16="http://schemas.microsoft.com/office/drawing/2014/main" id="{06088CDB-A64B-027F-3FBE-17AB663B9363}"/>
              </a:ext>
            </a:extLst>
          </p:cNvPr>
          <p:cNvSpPr txBox="1"/>
          <p:nvPr/>
        </p:nvSpPr>
        <p:spPr>
          <a:xfrm>
            <a:off x="12192000" y="4521199"/>
            <a:ext cx="533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A6A29A"/>
                </a:solidFill>
                <a:latin typeface="Segoe UI" panose="020B0502040204020203" pitchFamily="34" charset="0"/>
              </a:rPr>
              <a:t>4  The MOSFET as an amplifier</a:t>
            </a:r>
          </a:p>
        </p:txBody>
      </p:sp>
      <p:sp>
        <p:nvSpPr>
          <p:cNvPr id="12" name="map">
            <a:extLst>
              <a:ext uri="{FF2B5EF4-FFF2-40B4-BE49-F238E27FC236}">
                <a16:creationId xmlns:a16="http://schemas.microsoft.com/office/drawing/2014/main" id="{75398482-3F61-5EFB-8486-1E3A0DA12679}"/>
              </a:ext>
            </a:extLst>
          </p:cNvPr>
          <p:cNvSpPr txBox="1"/>
          <p:nvPr/>
        </p:nvSpPr>
        <p:spPr>
          <a:xfrm>
            <a:off x="12192000" y="5181599"/>
            <a:ext cx="533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A6A29A"/>
                </a:solidFill>
                <a:latin typeface="Segoe UI" panose="020B0502040204020203" pitchFamily="34" charset="0"/>
              </a:rPr>
              <a:t>5  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14461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n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E181905-FDE0-E8ED-CF1F-463485902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6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F2A37"/>
                </a:solidFill>
                <a:latin typeface="Bahnschrift SemiBold" panose="020B0502040204020203" pitchFamily="34" charset="0"/>
              </a:rPr>
              <a:t>Creating a channel: the threshold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9523421-78BC-191D-A5FA-8EB3479F8BFD}"/>
              </a:ext>
            </a:extLst>
          </p:cNvPr>
          <p:cNvSpPr txBox="1"/>
          <p:nvPr/>
        </p:nvSpPr>
        <p:spPr>
          <a:xfrm>
            <a:off x="914400" y="355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1F5F8B"/>
                </a:solidFill>
                <a:latin typeface="Bahnschrift SemiBold" panose="020B0502040204020203" pitchFamily="34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D13B77E-4705-61D7-1C5A-0A5E35E2FF95}"/>
              </a:ext>
            </a:extLst>
          </p:cNvPr>
          <p:cNvSpPr txBox="1"/>
          <p:nvPr/>
        </p:nvSpPr>
        <p:spPr>
          <a:xfrm>
            <a:off x="914400" y="97535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figure frame">
            <a:extLst>
              <a:ext uri="{FF2B5EF4-FFF2-40B4-BE49-F238E27FC236}">
                <a16:creationId xmlns:a16="http://schemas.microsoft.com/office/drawing/2014/main" id="{7B5BC2BA-DF83-A23E-5AD2-9D07B6D9A8C2}"/>
              </a:ext>
            </a:extLst>
          </p:cNvPr>
          <p:cNvSpPr/>
          <p:nvPr/>
        </p:nvSpPr>
        <p:spPr>
          <a:xfrm>
            <a:off x="8890000" y="2032000"/>
            <a:ext cx="8483600" cy="654777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figure">
            <a:extLst>
              <a:ext uri="{FF2B5EF4-FFF2-40B4-BE49-F238E27FC236}">
                <a16:creationId xmlns:a16="http://schemas.microsoft.com/office/drawing/2014/main" id="{A7FA74BF-3738-627A-7A66-F1D15980F48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8600" y="2260600"/>
            <a:ext cx="8026400" cy="6090574"/>
          </a:xfrm>
          <a:prstGeom prst="rect">
            <a:avLst/>
          </a:prstGeom>
        </p:spPr>
      </p:pic>
      <p:sp>
        <p:nvSpPr>
          <p:cNvPr id="8" name="credit">
            <a:extLst>
              <a:ext uri="{FF2B5EF4-FFF2-40B4-BE49-F238E27FC236}">
                <a16:creationId xmlns:a16="http://schemas.microsoft.com/office/drawing/2014/main" id="{93D044B8-4E3C-5C66-89F5-B9497507D0B7}"/>
              </a:ext>
            </a:extLst>
          </p:cNvPr>
          <p:cNvSpPr txBox="1"/>
          <p:nvPr/>
        </p:nvSpPr>
        <p:spPr>
          <a:xfrm>
            <a:off x="8890000" y="8655974"/>
            <a:ext cx="84836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  <p:sp>
        <p:nvSpPr>
          <p:cNvPr id="9" name="para @1">
            <a:extLst>
              <a:ext uri="{FF2B5EF4-FFF2-40B4-BE49-F238E27FC236}">
                <a16:creationId xmlns:a16="http://schemas.microsoft.com/office/drawing/2014/main" id="{10A319EC-1112-BC70-7D68-9380194A80BF}"/>
              </a:ext>
            </a:extLst>
          </p:cNvPr>
          <p:cNvSpPr txBox="1"/>
          <p:nvPr/>
        </p:nvSpPr>
        <p:spPr>
          <a:xfrm>
            <a:off x="914400" y="2412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F2A37"/>
                </a:solidFill>
                <a:latin typeface="Segoe UI" panose="020B0502040204020203" pitchFamily="34" charset="0"/>
              </a:rPr>
              <a:t>A positive </a:t>
            </a:r>
            <a:r>
              <a:rPr lang="en-US" sz="26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6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600">
                <a:solidFill>
                  <a:srgbClr val="1F2A37"/>
                </a:solidFill>
                <a:latin typeface="Segoe UI" panose="020B0502040204020203" pitchFamily="34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10" name="para @2">
            <a:extLst>
              <a:ext uri="{FF2B5EF4-FFF2-40B4-BE49-F238E27FC236}">
                <a16:creationId xmlns:a16="http://schemas.microsoft.com/office/drawing/2014/main" id="{B25FB8A8-14AF-15DE-0BDB-52AE04142F3C}"/>
              </a:ext>
            </a:extLst>
          </p:cNvPr>
          <p:cNvSpPr txBox="1"/>
          <p:nvPr/>
        </p:nvSpPr>
        <p:spPr>
          <a:xfrm>
            <a:off x="914400" y="4317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F2A37"/>
                </a:solidFill>
                <a:latin typeface="Segoe UI" panose="020B0502040204020203" pitchFamily="34" charset="0"/>
              </a:rPr>
              <a:t>Once enough electrons gather, they form an n-type </a:t>
            </a:r>
            <a:r>
              <a:rPr lang="en-US" sz="2600" b="1">
                <a:solidFill>
                  <a:srgbClr val="1F2A37"/>
                </a:solidFill>
                <a:latin typeface="Segoe UI" panose="020B0502040204020203" pitchFamily="34" charset="0"/>
              </a:rPr>
              <a:t>inversion layer</a:t>
            </a:r>
            <a:r>
              <a:rPr lang="en-US" sz="2600">
                <a:solidFill>
                  <a:srgbClr val="1F2A37"/>
                </a:solidFill>
                <a:latin typeface="Segoe UI" panose="020B0502040204020203" pitchFamily="34" charset="0"/>
              </a:rPr>
              <a:t>: the channel that links source to drain.</a:t>
            </a:r>
          </a:p>
        </p:txBody>
      </p:sp>
      <p:sp>
        <p:nvSpPr>
          <p:cNvPr id="11" name="def @3">
            <a:extLst>
              <a:ext uri="{FF2B5EF4-FFF2-40B4-BE49-F238E27FC236}">
                <a16:creationId xmlns:a16="http://schemas.microsoft.com/office/drawing/2014/main" id="{CD179A47-84A2-4377-FCE7-0311839F60E1}"/>
              </a:ext>
            </a:extLst>
          </p:cNvPr>
          <p:cNvSpPr/>
          <p:nvPr/>
        </p:nvSpPr>
        <p:spPr>
          <a:xfrm>
            <a:off x="914400" y="6223000"/>
            <a:ext cx="7366000" cy="1905000"/>
          </a:xfrm>
          <a:prstGeom prst="rect">
            <a:avLst/>
          </a:prstGeom>
          <a:solidFill>
            <a:srgbClr val="E4ED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ef @3">
            <a:extLst>
              <a:ext uri="{FF2B5EF4-FFF2-40B4-BE49-F238E27FC236}">
                <a16:creationId xmlns:a16="http://schemas.microsoft.com/office/drawing/2014/main" id="{9CB5C77E-83FD-2A5D-417A-8D3FFF511D25}"/>
              </a:ext>
            </a:extLst>
          </p:cNvPr>
          <p:cNvSpPr txBox="1"/>
          <p:nvPr/>
        </p:nvSpPr>
        <p:spPr>
          <a:xfrm>
            <a:off x="1244600" y="6476999"/>
            <a:ext cx="67310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 b="1">
                <a:solidFill>
                  <a:srgbClr val="1F2A37"/>
                </a:solidFill>
                <a:latin typeface="Segoe UI" panose="020B0502040204020203" pitchFamily="34" charset="0"/>
              </a:rPr>
              <a:t>Threshold voltage </a:t>
            </a:r>
            <a:r>
              <a:rPr lang="en-US" sz="2600" b="1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600" b="1" baseline="-25000">
                <a:solidFill>
                  <a:srgbClr val="1F2A37"/>
                </a:solidFill>
                <a:latin typeface="Segoe UI" panose="020B0502040204020203" pitchFamily="34" charset="0"/>
              </a:rPr>
              <a:t>t</a:t>
            </a:r>
            <a:r>
              <a:rPr lang="en-US" sz="2600">
                <a:solidFill>
                  <a:srgbClr val="1F2A37"/>
                </a:solidFill>
                <a:latin typeface="Segoe UI" panose="020B0502040204020203" pitchFamily="34" charset="0"/>
              </a:rPr>
              <a:t>: the value of </a:t>
            </a:r>
            <a:r>
              <a:rPr lang="en-US" sz="26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6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600">
                <a:solidFill>
                  <a:srgbClr val="1F2A37"/>
                </a:solidFill>
                <a:latin typeface="Segoe UI" panose="020B0502040204020203" pitchFamily="34" charset="0"/>
              </a:rPr>
              <a:t> at which the channel just forms.</a:t>
            </a:r>
          </a:p>
        </p:txBody>
      </p:sp>
      <p:sp>
        <p:nvSpPr>
          <p:cNvPr id="6" name="chrome page">
            <a:extLst>
              <a:ext uri="{FF2B5EF4-FFF2-40B4-BE49-F238E27FC236}">
                <a16:creationId xmlns:a16="http://schemas.microsoft.com/office/drawing/2014/main" id="{FB23AE52-1244-D6B4-5EDE-76EC932242A4}"/>
              </a:ext>
            </a:extLst>
          </p:cNvPr>
          <p:cNvSpPr txBox="1"/>
          <p:nvPr/>
        </p:nvSpPr>
        <p:spPr>
          <a:xfrm>
            <a:off x="16611600" y="97535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30665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41E36E9-BDC3-96E6-ECC2-842E9EDCC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6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F2A37"/>
                </a:solidFill>
                <a:latin typeface="Bahnschrift SemiBold" panose="020B0502040204020203" pitchFamily="34" charset="0"/>
              </a:rPr>
              <a:t>Triode and saturation: one curve, two equations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3793AC9E-AD11-46B5-BB6F-02D3165002F0}"/>
              </a:ext>
            </a:extLst>
          </p:cNvPr>
          <p:cNvSpPr txBox="1"/>
          <p:nvPr/>
        </p:nvSpPr>
        <p:spPr>
          <a:xfrm>
            <a:off x="914400" y="355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1F5F8B"/>
                </a:solidFill>
                <a:latin typeface="Bahnschrift SemiBold" panose="020B0502040204020203" pitchFamily="34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24E7D2E4-DF7A-F1CC-3DA7-710AC819BA1E}"/>
              </a:ext>
            </a:extLst>
          </p:cNvPr>
          <p:cNvSpPr txBox="1"/>
          <p:nvPr/>
        </p:nvSpPr>
        <p:spPr>
          <a:xfrm>
            <a:off x="914400" y="97535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figure frame">
            <a:extLst>
              <a:ext uri="{FF2B5EF4-FFF2-40B4-BE49-F238E27FC236}">
                <a16:creationId xmlns:a16="http://schemas.microsoft.com/office/drawing/2014/main" id="{683B593B-EBF6-D913-81BB-8EDB359AA8FD}"/>
              </a:ext>
            </a:extLst>
          </p:cNvPr>
          <p:cNvSpPr/>
          <p:nvPr/>
        </p:nvSpPr>
        <p:spPr>
          <a:xfrm>
            <a:off x="914400" y="2095500"/>
            <a:ext cx="8636000" cy="5264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figure">
            <a:extLst>
              <a:ext uri="{FF2B5EF4-FFF2-40B4-BE49-F238E27FC236}">
                <a16:creationId xmlns:a16="http://schemas.microsoft.com/office/drawing/2014/main" id="{AABC8E8F-13BE-A1A7-BCC3-5AE005BC3F0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324100"/>
            <a:ext cx="8178800" cy="4807064"/>
          </a:xfrm>
          <a:prstGeom prst="rect">
            <a:avLst/>
          </a:prstGeom>
        </p:spPr>
      </p:pic>
      <p:sp>
        <p:nvSpPr>
          <p:cNvPr id="8" name="credit">
            <a:extLst>
              <a:ext uri="{FF2B5EF4-FFF2-40B4-BE49-F238E27FC236}">
                <a16:creationId xmlns:a16="http://schemas.microsoft.com/office/drawing/2014/main" id="{140AA16D-D970-8C2B-E09C-FC1FEDDB491C}"/>
              </a:ext>
            </a:extLst>
          </p:cNvPr>
          <p:cNvSpPr txBox="1"/>
          <p:nvPr/>
        </p:nvSpPr>
        <p:spPr>
          <a:xfrm>
            <a:off x="914400" y="7435964"/>
            <a:ext cx="863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  <p:sp>
        <p:nvSpPr>
          <p:cNvPr id="9" name="lab @2">
            <a:extLst>
              <a:ext uri="{FF2B5EF4-FFF2-40B4-BE49-F238E27FC236}">
                <a16:creationId xmlns:a16="http://schemas.microsoft.com/office/drawing/2014/main" id="{C0A325CC-109D-FDF5-E792-7D680C9A4C5B}"/>
              </a:ext>
            </a:extLst>
          </p:cNvPr>
          <p:cNvSpPr txBox="1"/>
          <p:nvPr/>
        </p:nvSpPr>
        <p:spPr>
          <a:xfrm>
            <a:off x="10160000" y="2412999"/>
            <a:ext cx="7213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F2A37"/>
                </a:solidFill>
                <a:latin typeface="Segoe UI" panose="020B0502040204020203" pitchFamily="34" charset="0"/>
              </a:rPr>
              <a:t>Triode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 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&lt;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−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eq @2">
                <a:extLst>
                  <a:ext uri="{FF2B5EF4-FFF2-40B4-BE49-F238E27FC236}">
                    <a16:creationId xmlns:a16="http://schemas.microsoft.com/office/drawing/2014/main" id="{67E6C007-9C16-7217-933A-6CE066983246}"/>
                  </a:ext>
                </a:extLst>
              </p:cNvPr>
              <p:cNvSpPr txBox="1"/>
              <p:nvPr/>
            </p:nvSpPr>
            <p:spPr>
              <a:xfrm>
                <a:off x="10160000" y="2971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GS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eq @2">
                <a:extLst>
                  <a:ext uri="{FF2B5EF4-FFF2-40B4-BE49-F238E27FC236}">
                    <a16:creationId xmlns:a16="http://schemas.microsoft.com/office/drawing/2014/main" id="{67E6C007-9C16-7217-933A-6CE066983246}"/>
                  </a:ext>
                </a:extLst>
              </p:cNvPr>
              <p:cNvSpPr txBox="1"/>
              <p:nvPr/>
            </p:nvSpPr>
            <p:spPr>
              <a:xfrm>
                <a:off x="10160000" y="2971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cxnSp>
        <p:nvCxnSpPr>
          <p:cNvPr id="11" name="sep @2">
            <a:extLst>
              <a:ext uri="{FF2B5EF4-FFF2-40B4-BE49-F238E27FC236}">
                <a16:creationId xmlns:a16="http://schemas.microsoft.com/office/drawing/2014/main" id="{32A8EEB4-D244-6B3B-C2A6-A885C6C2D911}"/>
              </a:ext>
            </a:extLst>
          </p:cNvPr>
          <p:cNvCxnSpPr/>
          <p:nvPr/>
        </p:nvCxnSpPr>
        <p:spPr>
          <a:xfrm>
            <a:off x="10160000" y="4318000"/>
            <a:ext cx="7213600" cy="0"/>
          </a:xfrm>
          <a:prstGeom prst="line">
            <a:avLst/>
          </a:prstGeom>
          <a:ln w="12700">
            <a:solidFill>
              <a:srgbClr val="DDD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ab @3">
            <a:extLst>
              <a:ext uri="{FF2B5EF4-FFF2-40B4-BE49-F238E27FC236}">
                <a16:creationId xmlns:a16="http://schemas.microsoft.com/office/drawing/2014/main" id="{479402B9-8047-3C42-7187-9CD40402DBED}"/>
              </a:ext>
            </a:extLst>
          </p:cNvPr>
          <p:cNvSpPr txBox="1"/>
          <p:nvPr/>
        </p:nvSpPr>
        <p:spPr>
          <a:xfrm>
            <a:off x="10160000" y="4698999"/>
            <a:ext cx="7213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F2A37"/>
                </a:solidFill>
                <a:latin typeface="Segoe UI" panose="020B0502040204020203" pitchFamily="34" charset="0"/>
              </a:rPr>
              <a:t>Saturation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 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≥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− </a:t>
            </a:r>
            <a:r>
              <a:rPr lang="en-US" sz="24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F2A37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 @3">
                <a:extLst>
                  <a:ext uri="{FF2B5EF4-FFF2-40B4-BE49-F238E27FC236}">
                    <a16:creationId xmlns:a16="http://schemas.microsoft.com/office/drawing/2014/main" id="{41AB1166-3A24-293E-DECC-3F474B9501F3}"/>
                  </a:ext>
                </a:extLst>
              </p:cNvPr>
              <p:cNvSpPr txBox="1"/>
              <p:nvPr/>
            </p:nvSpPr>
            <p:spPr>
              <a:xfrm>
                <a:off x="10160000" y="5257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p>
                        <m:sSup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eq @3">
                <a:extLst>
                  <a:ext uri="{FF2B5EF4-FFF2-40B4-BE49-F238E27FC236}">
                    <a16:creationId xmlns:a16="http://schemas.microsoft.com/office/drawing/2014/main" id="{41AB1166-3A24-293E-DECC-3F474B9501F3}"/>
                  </a:ext>
                </a:extLst>
              </p:cNvPr>
              <p:cNvSpPr txBox="1"/>
              <p:nvPr/>
            </p:nvSpPr>
            <p:spPr>
              <a:xfrm>
                <a:off x="10160000" y="5257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cxnSp>
        <p:nvCxnSpPr>
          <p:cNvPr id="14" name="sep @3">
            <a:extLst>
              <a:ext uri="{FF2B5EF4-FFF2-40B4-BE49-F238E27FC236}">
                <a16:creationId xmlns:a16="http://schemas.microsoft.com/office/drawing/2014/main" id="{638DCC94-2B85-4946-85CC-7BF48BA1E71C}"/>
              </a:ext>
            </a:extLst>
          </p:cNvPr>
          <p:cNvCxnSpPr/>
          <p:nvPr/>
        </p:nvCxnSpPr>
        <p:spPr>
          <a:xfrm>
            <a:off x="10160000" y="6604000"/>
            <a:ext cx="7213600" cy="0"/>
          </a:xfrm>
          <a:prstGeom prst="line">
            <a:avLst/>
          </a:prstGeom>
          <a:ln w="12700">
            <a:solidFill>
              <a:srgbClr val="DDD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note @4">
            <a:extLst>
              <a:ext uri="{FF2B5EF4-FFF2-40B4-BE49-F238E27FC236}">
                <a16:creationId xmlns:a16="http://schemas.microsoft.com/office/drawing/2014/main" id="{C171134A-0ED2-7BA3-AE0E-7F213C7FE1DB}"/>
              </a:ext>
            </a:extLst>
          </p:cNvPr>
          <p:cNvSpPr txBox="1"/>
          <p:nvPr/>
        </p:nvSpPr>
        <p:spPr>
          <a:xfrm>
            <a:off x="10160000" y="6984999"/>
            <a:ext cx="72136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Both require </a:t>
            </a:r>
            <a:r>
              <a:rPr lang="en-US" sz="2200" i="1">
                <a:solidFill>
                  <a:srgbClr val="4F5B66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F5B66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 &gt; </a:t>
            </a:r>
            <a:r>
              <a:rPr lang="en-US" sz="2200" i="1">
                <a:solidFill>
                  <a:srgbClr val="4F5B66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F5B66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: without a channel, </a:t>
            </a:r>
            <a:r>
              <a:rPr lang="en-US" sz="2200" i="1">
                <a:solidFill>
                  <a:srgbClr val="4F5B66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4F5B66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 = 0 (cutoff).</a:t>
            </a:r>
          </a:p>
        </p:txBody>
      </p:sp>
      <p:sp>
        <p:nvSpPr>
          <p:cNvPr id="6" name="chrome page">
            <a:extLst>
              <a:ext uri="{FF2B5EF4-FFF2-40B4-BE49-F238E27FC236}">
                <a16:creationId xmlns:a16="http://schemas.microsoft.com/office/drawing/2014/main" id="{0FB62DCF-85EF-6FEF-045B-7BE71478AE1A}"/>
              </a:ext>
            </a:extLst>
          </p:cNvPr>
          <p:cNvSpPr txBox="1"/>
          <p:nvPr/>
        </p:nvSpPr>
        <p:spPr>
          <a:xfrm>
            <a:off x="16611600" y="97535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99058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CB6A84B-0D3D-8BD8-710F-F318911A7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6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F2A37"/>
                </a:solidFill>
                <a:latin typeface="Bahnschrift SemiBold" panose="020B0502040204020203" pitchFamily="34" charset="0"/>
              </a:rPr>
              <a:t>Example: find the drain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F917CC97-8D8A-BD3B-2CE8-4525DA64AFF1}"/>
              </a:ext>
            </a:extLst>
          </p:cNvPr>
          <p:cNvSpPr txBox="1"/>
          <p:nvPr/>
        </p:nvSpPr>
        <p:spPr>
          <a:xfrm>
            <a:off x="914400" y="355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1F5F8B"/>
                </a:solidFill>
                <a:latin typeface="Bahnschrift SemiBold" panose="020B0502040204020203" pitchFamily="34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0EE01984-CB54-4E3F-B67C-F3E65CC0D469}"/>
              </a:ext>
            </a:extLst>
          </p:cNvPr>
          <p:cNvSpPr txBox="1"/>
          <p:nvPr/>
        </p:nvSpPr>
        <p:spPr>
          <a:xfrm>
            <a:off x="914400" y="97535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question">
            <a:extLst>
              <a:ext uri="{FF2B5EF4-FFF2-40B4-BE49-F238E27FC236}">
                <a16:creationId xmlns:a16="http://schemas.microsoft.com/office/drawing/2014/main" id="{57809178-7DB5-47AF-507F-3CFE1F7B6637}"/>
              </a:ext>
            </a:extLst>
          </p:cNvPr>
          <p:cNvSpPr txBox="1"/>
          <p:nvPr/>
        </p:nvSpPr>
        <p:spPr>
          <a:xfrm>
            <a:off x="914400" y="16763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Given </a:t>
            </a:r>
            <a:r>
              <a:rPr lang="en-US" sz="2400" i="1">
                <a:solidFill>
                  <a:srgbClr val="4F5B66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F5B66"/>
                </a:solidFill>
                <a:latin typeface="Segoe UI" panose="020B0502040204020203" pitchFamily="34" charset="0"/>
              </a:rPr>
              <a:t>t</a:t>
            </a:r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 = 1 V and k′</a:t>
            </a:r>
            <a:r>
              <a:rPr lang="en-US" sz="2400" baseline="-25000">
                <a:solidFill>
                  <a:srgbClr val="4F5B66"/>
                </a:solidFill>
                <a:latin typeface="Segoe UI" panose="020B0502040204020203" pitchFamily="34" charset="0"/>
              </a:rPr>
              <a:t>n</a:t>
            </a:r>
            <a:r>
              <a:rPr lang="en-US" sz="2400">
                <a:solidFill>
                  <a:srgbClr val="4F5B66"/>
                </a:solidFill>
                <a:latin typeface="Segoe UI" panose="020B0502040204020203" pitchFamily="34" charset="0"/>
              </a:rPr>
              <a:t>(W/L) = 1 mA/V². Assume the gate draws no current.</a:t>
            </a:r>
          </a:p>
        </p:txBody>
      </p:sp>
      <p:sp>
        <p:nvSpPr>
          <p:cNvPr id="6" name="ckt">
            <a:extLst>
              <a:ext uri="{FF2B5EF4-FFF2-40B4-BE49-F238E27FC236}">
                <a16:creationId xmlns:a16="http://schemas.microsoft.com/office/drawing/2014/main" id="{15C5BC2E-162C-BC61-46FB-D48D6C6CA2E3}"/>
              </a:ext>
            </a:extLst>
          </p:cNvPr>
          <p:cNvSpPr/>
          <p:nvPr/>
        </p:nvSpPr>
        <p:spPr>
          <a:xfrm>
            <a:off x="4343400" y="28448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A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kt">
            <a:extLst>
              <a:ext uri="{FF2B5EF4-FFF2-40B4-BE49-F238E27FC236}">
                <a16:creationId xmlns:a16="http://schemas.microsoft.com/office/drawing/2014/main" id="{980C38CB-05AA-4543-01A6-24CE2EFFF26A}"/>
              </a:ext>
            </a:extLst>
          </p:cNvPr>
          <p:cNvSpPr/>
          <p:nvPr/>
        </p:nvSpPr>
        <p:spPr>
          <a:xfrm>
            <a:off x="4406900" y="29718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705742-5E0C-7673-EDD6-C3E379AA58A6}"/>
              </a:ext>
            </a:extLst>
          </p:cNvPr>
          <p:cNvSpPr txBox="1"/>
          <p:nvPr/>
        </p:nvSpPr>
        <p:spPr>
          <a:xfrm>
            <a:off x="4584700" y="26542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+</a:t>
            </a:r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DD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10 V</a:t>
            </a:r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FEE3FF10-02D0-A1DA-E527-18BBBAD67C88}"/>
              </a:ext>
            </a:extLst>
          </p:cNvPr>
          <p:cNvSpPr/>
          <p:nvPr/>
        </p:nvSpPr>
        <p:spPr>
          <a:xfrm>
            <a:off x="3200400" y="3492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294C9BAA-A4CE-26DA-6C26-91B614A4FEC3}"/>
              </a:ext>
            </a:extLst>
          </p:cNvPr>
          <p:cNvSpPr/>
          <p:nvPr/>
        </p:nvSpPr>
        <p:spPr>
          <a:xfrm>
            <a:off x="4349750" y="3435350"/>
            <a:ext cx="114300" cy="114300"/>
          </a:xfrm>
          <a:prstGeom prst="ellipse">
            <a:avLst/>
          </a:prstGeom>
          <a:solidFill>
            <a:srgbClr val="1F2A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A0298009-E223-1EE7-E96A-84B09C8726EF}"/>
              </a:ext>
            </a:extLst>
          </p:cNvPr>
          <p:cNvSpPr/>
          <p:nvPr/>
        </p:nvSpPr>
        <p:spPr>
          <a:xfrm>
            <a:off x="3200400" y="8699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65B9D686-77E9-FA8B-D7A4-D0249F0C50AE}"/>
              </a:ext>
            </a:extLst>
          </p:cNvPr>
          <p:cNvSpPr/>
          <p:nvPr/>
        </p:nvSpPr>
        <p:spPr>
          <a:xfrm>
            <a:off x="4349750" y="8642350"/>
            <a:ext cx="114300" cy="114300"/>
          </a:xfrm>
          <a:prstGeom prst="ellipse">
            <a:avLst/>
          </a:prstGeom>
          <a:solidFill>
            <a:srgbClr val="1F2A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kt">
            <a:extLst>
              <a:ext uri="{FF2B5EF4-FFF2-40B4-BE49-F238E27FC236}">
                <a16:creationId xmlns:a16="http://schemas.microsoft.com/office/drawing/2014/main" id="{D7E71D10-3EB5-E5F0-8B2A-612F6E66ECFB}"/>
              </a:ext>
            </a:extLst>
          </p:cNvPr>
          <p:cNvCxnSpPr/>
          <p:nvPr/>
        </p:nvCxnSpPr>
        <p:spPr>
          <a:xfrm>
            <a:off x="4406900" y="8699500"/>
            <a:ext cx="0" cy="17780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kt">
            <a:extLst>
              <a:ext uri="{FF2B5EF4-FFF2-40B4-BE49-F238E27FC236}">
                <a16:creationId xmlns:a16="http://schemas.microsoft.com/office/drawing/2014/main" id="{59020E73-F753-113F-86A8-542DEA05A9F3}"/>
              </a:ext>
            </a:extLst>
          </p:cNvPr>
          <p:cNvCxnSpPr/>
          <p:nvPr/>
        </p:nvCxnSpPr>
        <p:spPr>
          <a:xfrm>
            <a:off x="4203700" y="8877300"/>
            <a:ext cx="40640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kt">
            <a:extLst>
              <a:ext uri="{FF2B5EF4-FFF2-40B4-BE49-F238E27FC236}">
                <a16:creationId xmlns:a16="http://schemas.microsoft.com/office/drawing/2014/main" id="{6C3906CC-7DBE-71B3-DBBA-EB57F977AEFB}"/>
              </a:ext>
            </a:extLst>
          </p:cNvPr>
          <p:cNvCxnSpPr/>
          <p:nvPr/>
        </p:nvCxnSpPr>
        <p:spPr>
          <a:xfrm>
            <a:off x="4279900" y="8953500"/>
            <a:ext cx="25400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529EE4D0-0C44-4094-5E22-7E7A99E45DB3}"/>
              </a:ext>
            </a:extLst>
          </p:cNvPr>
          <p:cNvCxnSpPr/>
          <p:nvPr/>
        </p:nvCxnSpPr>
        <p:spPr>
          <a:xfrm>
            <a:off x="4356100" y="9029700"/>
            <a:ext cx="10160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kt">
            <a:extLst>
              <a:ext uri="{FF2B5EF4-FFF2-40B4-BE49-F238E27FC236}">
                <a16:creationId xmlns:a16="http://schemas.microsoft.com/office/drawing/2014/main" id="{B7758BC6-F561-E9DB-3A80-3637149FFA8D}"/>
              </a:ext>
            </a:extLst>
          </p:cNvPr>
          <p:cNvSpPr/>
          <p:nvPr/>
        </p:nvSpPr>
        <p:spPr>
          <a:xfrm>
            <a:off x="3060700" y="34925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kt">
            <a:extLst>
              <a:ext uri="{FF2B5EF4-FFF2-40B4-BE49-F238E27FC236}">
                <a16:creationId xmlns:a16="http://schemas.microsoft.com/office/drawing/2014/main" id="{0911994E-65E8-38C7-FC84-6DEBD87C250F}"/>
              </a:ext>
            </a:extLst>
          </p:cNvPr>
          <p:cNvSpPr/>
          <p:nvPr/>
        </p:nvSpPr>
        <p:spPr>
          <a:xfrm>
            <a:off x="3060700" y="60960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kt">
            <a:extLst>
              <a:ext uri="{FF2B5EF4-FFF2-40B4-BE49-F238E27FC236}">
                <a16:creationId xmlns:a16="http://schemas.microsoft.com/office/drawing/2014/main" id="{00521189-B1E0-1550-0FBC-A4EB436A7FC3}"/>
              </a:ext>
            </a:extLst>
          </p:cNvPr>
          <p:cNvSpPr/>
          <p:nvPr/>
        </p:nvSpPr>
        <p:spPr>
          <a:xfrm>
            <a:off x="3143250" y="6038850"/>
            <a:ext cx="114300" cy="114300"/>
          </a:xfrm>
          <a:prstGeom prst="ellipse">
            <a:avLst/>
          </a:prstGeom>
          <a:solidFill>
            <a:srgbClr val="1F2A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DB05CE-B371-3343-106C-97D3DC606F2D}"/>
              </a:ext>
            </a:extLst>
          </p:cNvPr>
          <p:cNvSpPr txBox="1"/>
          <p:nvPr/>
        </p:nvSpPr>
        <p:spPr>
          <a:xfrm>
            <a:off x="1041400" y="45910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G1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F2A37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F2A37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72CC35-82D5-6E0E-A861-E81604E61E82}"/>
              </a:ext>
            </a:extLst>
          </p:cNvPr>
          <p:cNvSpPr txBox="1"/>
          <p:nvPr/>
        </p:nvSpPr>
        <p:spPr>
          <a:xfrm>
            <a:off x="1041400" y="71945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G2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F2A37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F2A37"/>
              </a:solidFill>
              <a:latin typeface="Segoe UI" panose="020B0502040204020203" pitchFamily="34" charset="0"/>
            </a:endParaRPr>
          </a:p>
        </p:txBody>
      </p:sp>
      <p:cxnSp>
        <p:nvCxnSpPr>
          <p:cNvPr id="22" name="ckt">
            <a:extLst>
              <a:ext uri="{FF2B5EF4-FFF2-40B4-BE49-F238E27FC236}">
                <a16:creationId xmlns:a16="http://schemas.microsoft.com/office/drawing/2014/main" id="{0499CE44-09C6-5EED-DA98-90346A002F77}"/>
              </a:ext>
            </a:extLst>
          </p:cNvPr>
          <p:cNvCxnSpPr/>
          <p:nvPr/>
        </p:nvCxnSpPr>
        <p:spPr>
          <a:xfrm>
            <a:off x="5054600" y="5711952"/>
            <a:ext cx="0" cy="768096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kt">
            <a:extLst>
              <a:ext uri="{FF2B5EF4-FFF2-40B4-BE49-F238E27FC236}">
                <a16:creationId xmlns:a16="http://schemas.microsoft.com/office/drawing/2014/main" id="{330D8F04-2418-239F-ADB9-3B4F884C2D20}"/>
              </a:ext>
            </a:extLst>
          </p:cNvPr>
          <p:cNvCxnSpPr/>
          <p:nvPr/>
        </p:nvCxnSpPr>
        <p:spPr>
          <a:xfrm>
            <a:off x="5181600" y="5562600"/>
            <a:ext cx="0" cy="1066800"/>
          </a:xfrm>
          <a:prstGeom prst="line">
            <a:avLst/>
          </a:prstGeom>
          <a:ln w="3175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2D401600-AAEC-54EB-0A26-3D2FCABF8FC2}"/>
              </a:ext>
            </a:extLst>
          </p:cNvPr>
          <p:cNvCxnSpPr/>
          <p:nvPr/>
        </p:nvCxnSpPr>
        <p:spPr>
          <a:xfrm>
            <a:off x="5181600" y="5664200"/>
            <a:ext cx="43180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82D4C28C-DB19-4C01-5024-98DD17E09542}"/>
              </a:ext>
            </a:extLst>
          </p:cNvPr>
          <p:cNvCxnSpPr/>
          <p:nvPr/>
        </p:nvCxnSpPr>
        <p:spPr>
          <a:xfrm>
            <a:off x="5181600" y="6527800"/>
            <a:ext cx="310896" cy="0"/>
          </a:xfrm>
          <a:prstGeom prst="line">
            <a:avLst/>
          </a:prstGeom>
          <a:ln w="25400">
            <a:solidFill>
              <a:srgbClr val="1F2A37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37793C43-AB84-FB44-2D61-C9953C95B961}"/>
              </a:ext>
            </a:extLst>
          </p:cNvPr>
          <p:cNvCxnSpPr/>
          <p:nvPr/>
        </p:nvCxnSpPr>
        <p:spPr>
          <a:xfrm>
            <a:off x="5483860" y="6527800"/>
            <a:ext cx="129540" cy="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kt">
            <a:extLst>
              <a:ext uri="{FF2B5EF4-FFF2-40B4-BE49-F238E27FC236}">
                <a16:creationId xmlns:a16="http://schemas.microsoft.com/office/drawing/2014/main" id="{7D2E521E-F259-E238-9CCC-49E81CF24B3E}"/>
              </a:ext>
            </a:extLst>
          </p:cNvPr>
          <p:cNvSpPr/>
          <p:nvPr/>
        </p:nvSpPr>
        <p:spPr>
          <a:xfrm>
            <a:off x="3200400" y="60960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kt">
            <a:extLst>
              <a:ext uri="{FF2B5EF4-FFF2-40B4-BE49-F238E27FC236}">
                <a16:creationId xmlns:a16="http://schemas.microsoft.com/office/drawing/2014/main" id="{E98B89CA-38EE-272B-C09B-C98E06270FBC}"/>
              </a:ext>
            </a:extLst>
          </p:cNvPr>
          <p:cNvSpPr/>
          <p:nvPr/>
        </p:nvSpPr>
        <p:spPr>
          <a:xfrm>
            <a:off x="5473700" y="34925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kt">
            <a:extLst>
              <a:ext uri="{FF2B5EF4-FFF2-40B4-BE49-F238E27FC236}">
                <a16:creationId xmlns:a16="http://schemas.microsoft.com/office/drawing/2014/main" id="{BA3CCED9-807A-DEDB-9D42-8D517B269CF2}"/>
              </a:ext>
            </a:extLst>
          </p:cNvPr>
          <p:cNvSpPr/>
          <p:nvPr/>
        </p:nvSpPr>
        <p:spPr>
          <a:xfrm>
            <a:off x="5613400" y="52324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15503D20-DF8B-C633-298E-8205DE58F6A0}"/>
              </a:ext>
            </a:extLst>
          </p:cNvPr>
          <p:cNvSpPr/>
          <p:nvPr/>
        </p:nvSpPr>
        <p:spPr>
          <a:xfrm>
            <a:off x="5473700" y="69596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B95B5886-8163-E82B-1DC1-1D9F8119A565}"/>
              </a:ext>
            </a:extLst>
          </p:cNvPr>
          <p:cNvSpPr/>
          <p:nvPr/>
        </p:nvSpPr>
        <p:spPr>
          <a:xfrm>
            <a:off x="5613400" y="65278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872D40-EEB8-35FD-2A8D-0641362F8CE7}"/>
              </a:ext>
            </a:extLst>
          </p:cNvPr>
          <p:cNvSpPr txBox="1"/>
          <p:nvPr/>
        </p:nvSpPr>
        <p:spPr>
          <a:xfrm>
            <a:off x="5842000" y="41592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D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F2A37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F2A37"/>
              </a:solidFill>
              <a:latin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B09AEA-6077-2DAD-D1B3-156982C051EF}"/>
              </a:ext>
            </a:extLst>
          </p:cNvPr>
          <p:cNvSpPr txBox="1"/>
          <p:nvPr/>
        </p:nvSpPr>
        <p:spPr>
          <a:xfrm>
            <a:off x="5842000" y="76263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F2A37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F2A37"/>
                </a:solidFill>
                <a:latin typeface="Segoe UI" panose="020B0502040204020203" pitchFamily="34" charset="0"/>
              </a:rPr>
              <a:t>S</a:t>
            </a:r>
            <a:r>
              <a:rPr lang="en-US" sz="2000">
                <a:solidFill>
                  <a:srgbClr val="1F2A37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F2A37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F2A37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node @2">
            <a:extLst>
              <a:ext uri="{FF2B5EF4-FFF2-40B4-BE49-F238E27FC236}">
                <a16:creationId xmlns:a16="http://schemas.microsoft.com/office/drawing/2014/main" id="{DBF50F65-168A-FB99-5588-157AA9CC1788}"/>
              </a:ext>
            </a:extLst>
          </p:cNvPr>
          <p:cNvSpPr txBox="1"/>
          <p:nvPr/>
        </p:nvSpPr>
        <p:spPr>
          <a:xfrm>
            <a:off x="3403600" y="56641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1F5F8B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1F5F8B"/>
                </a:solidFill>
                <a:latin typeface="Segoe UI" panose="020B0502040204020203" pitchFamily="34" charset="0"/>
              </a:rPr>
              <a:t>G</a:t>
            </a:r>
            <a:r>
              <a:rPr lang="en-US" sz="2000" b="1">
                <a:solidFill>
                  <a:srgbClr val="1F5F8B"/>
                </a:solidFill>
                <a:latin typeface="Segoe UI" panose="020B0502040204020203" pitchFamily="34" charset="0"/>
              </a:rPr>
              <a:t> = 5 V</a:t>
            </a:r>
          </a:p>
        </p:txBody>
      </p:sp>
      <p:sp>
        <p:nvSpPr>
          <p:cNvPr id="35" name="node @6">
            <a:extLst>
              <a:ext uri="{FF2B5EF4-FFF2-40B4-BE49-F238E27FC236}">
                <a16:creationId xmlns:a16="http://schemas.microsoft.com/office/drawing/2014/main" id="{54EB582B-2DAB-6E30-41A6-9156E5296039}"/>
              </a:ext>
            </a:extLst>
          </p:cNvPr>
          <p:cNvSpPr txBox="1"/>
          <p:nvPr/>
        </p:nvSpPr>
        <p:spPr>
          <a:xfrm>
            <a:off x="5816600" y="62483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1F5F8B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1F5F8B"/>
                </a:solidFill>
                <a:latin typeface="Segoe UI" panose="020B0502040204020203" pitchFamily="34" charset="0"/>
              </a:rPr>
              <a:t>S</a:t>
            </a:r>
            <a:r>
              <a:rPr lang="en-US" sz="2000" b="1">
                <a:solidFill>
                  <a:srgbClr val="1F5F8B"/>
                </a:solidFill>
                <a:latin typeface="Segoe UI" panose="020B0502040204020203" pitchFamily="34" charset="0"/>
              </a:rPr>
              <a:t> = 3 V</a:t>
            </a:r>
          </a:p>
        </p:txBody>
      </p:sp>
      <p:sp>
        <p:nvSpPr>
          <p:cNvPr id="36" name="node @6">
            <a:extLst>
              <a:ext uri="{FF2B5EF4-FFF2-40B4-BE49-F238E27FC236}">
                <a16:creationId xmlns:a16="http://schemas.microsoft.com/office/drawing/2014/main" id="{92036307-4A2F-4D2E-1CEC-4415143F1F97}"/>
              </a:ext>
            </a:extLst>
          </p:cNvPr>
          <p:cNvSpPr txBox="1"/>
          <p:nvPr/>
        </p:nvSpPr>
        <p:spPr>
          <a:xfrm>
            <a:off x="5816600" y="51053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A8481A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A8481A"/>
                </a:solidFill>
                <a:latin typeface="Segoe UI" panose="020B0502040204020203" pitchFamily="34" charset="0"/>
              </a:rPr>
              <a:t>D</a:t>
            </a:r>
            <a:r>
              <a:rPr lang="en-US" sz="2000" b="1">
                <a:solidFill>
                  <a:srgbClr val="A8481A"/>
                </a:solidFill>
                <a:latin typeface="Segoe UI" panose="020B0502040204020203" pitchFamily="34" charset="0"/>
              </a:rPr>
              <a:t> = 7 V</a:t>
            </a:r>
          </a:p>
        </p:txBody>
      </p:sp>
      <p:sp>
        <p:nvSpPr>
          <p:cNvPr id="37" name="badge @2">
            <a:extLst>
              <a:ext uri="{FF2B5EF4-FFF2-40B4-BE49-F238E27FC236}">
                <a16:creationId xmlns:a16="http://schemas.microsoft.com/office/drawing/2014/main" id="{5D5097BD-86F5-8F67-6039-0DC9203D7598}"/>
              </a:ext>
            </a:extLst>
          </p:cNvPr>
          <p:cNvSpPr/>
          <p:nvPr/>
        </p:nvSpPr>
        <p:spPr>
          <a:xfrm>
            <a:off x="8128000" y="2514600"/>
            <a:ext cx="381000" cy="3810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badge @2">
            <a:extLst>
              <a:ext uri="{FF2B5EF4-FFF2-40B4-BE49-F238E27FC236}">
                <a16:creationId xmlns:a16="http://schemas.microsoft.com/office/drawing/2014/main" id="{596DFDFE-649C-98C2-3B64-6DEFC8BAA953}"/>
              </a:ext>
            </a:extLst>
          </p:cNvPr>
          <p:cNvSpPr txBox="1"/>
          <p:nvPr/>
        </p:nvSpPr>
        <p:spPr>
          <a:xfrm>
            <a:off x="8128000" y="25145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Bahnschrift SemiBold" panose="020B0502040204020203" pitchFamily="34" charset="0"/>
              </a:rPr>
              <a:t>1</a:t>
            </a:r>
          </a:p>
        </p:txBody>
      </p:sp>
      <p:sp>
        <p:nvSpPr>
          <p:cNvPr id="39" name="lab @2">
            <a:extLst>
              <a:ext uri="{FF2B5EF4-FFF2-40B4-BE49-F238E27FC236}">
                <a16:creationId xmlns:a16="http://schemas.microsoft.com/office/drawing/2014/main" id="{3468FBC2-C72E-14CE-8542-C87134261793}"/>
              </a:ext>
            </a:extLst>
          </p:cNvPr>
          <p:cNvSpPr txBox="1"/>
          <p:nvPr/>
        </p:nvSpPr>
        <p:spPr>
          <a:xfrm>
            <a:off x="8686800" y="24891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Gate voltage: the divider is unloaded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eq @2">
                <a:extLst>
                  <a:ext uri="{FF2B5EF4-FFF2-40B4-BE49-F238E27FC236}">
                    <a16:creationId xmlns:a16="http://schemas.microsoft.com/office/drawing/2014/main" id="{C727A073-0AE0-8C30-1B99-71156EB576B8}"/>
                  </a:ext>
                </a:extLst>
              </p:cNvPr>
              <p:cNvSpPr txBox="1"/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f>
                        <m:fPr>
                          <m:ctrlPr>
                            <a:rPr lang="en-US" sz="2600" b="0" i="1">
                              <a:solidFill>
                                <a:srgbClr val="1F2A37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G1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0" name="eq @2">
                <a:extLst>
                  <a:ext uri="{FF2B5EF4-FFF2-40B4-BE49-F238E27FC236}">
                    <a16:creationId xmlns:a16="http://schemas.microsoft.com/office/drawing/2014/main" id="{C727A073-0AE0-8C30-1B99-71156EB576B8}"/>
                  </a:ext>
                </a:extLst>
              </p:cNvPr>
              <p:cNvSpPr txBox="1"/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V_G = V_{DD}\,\frac{R_{G2}}{R_{G1}+R_{G2}} = 5\ \mathrm{V}</a:t>
                </a:r>
              </a:p>
            </p:txBody>
          </p:sp>
        </mc:Fallback>
      </mc:AlternateContent>
      <p:sp>
        <p:nvSpPr>
          <p:cNvPr id="41" name="badge @3">
            <a:extLst>
              <a:ext uri="{FF2B5EF4-FFF2-40B4-BE49-F238E27FC236}">
                <a16:creationId xmlns:a16="http://schemas.microsoft.com/office/drawing/2014/main" id="{EC0B4E94-02B4-C518-96E3-E91943CCD251}"/>
              </a:ext>
            </a:extLst>
          </p:cNvPr>
          <p:cNvSpPr/>
          <p:nvPr/>
        </p:nvSpPr>
        <p:spPr>
          <a:xfrm>
            <a:off x="8128000" y="4140200"/>
            <a:ext cx="381000" cy="3810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badge @3">
            <a:extLst>
              <a:ext uri="{FF2B5EF4-FFF2-40B4-BE49-F238E27FC236}">
                <a16:creationId xmlns:a16="http://schemas.microsoft.com/office/drawing/2014/main" id="{BC018351-60BC-8B50-2740-3558F2749041}"/>
              </a:ext>
            </a:extLst>
          </p:cNvPr>
          <p:cNvSpPr txBox="1"/>
          <p:nvPr/>
        </p:nvSpPr>
        <p:spPr>
          <a:xfrm>
            <a:off x="8128000" y="41401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Bahnschrift SemiBold" panose="020B0502040204020203" pitchFamily="34" charset="0"/>
              </a:rPr>
              <a:t>2</a:t>
            </a:r>
          </a:p>
        </p:txBody>
      </p:sp>
      <p:sp>
        <p:nvSpPr>
          <p:cNvPr id="43" name="lab @3">
            <a:extLst>
              <a:ext uri="{FF2B5EF4-FFF2-40B4-BE49-F238E27FC236}">
                <a16:creationId xmlns:a16="http://schemas.microsoft.com/office/drawing/2014/main" id="{0E6351B0-9C40-46C3-4829-0ABB3A418C56}"/>
              </a:ext>
            </a:extLst>
          </p:cNvPr>
          <p:cNvSpPr txBox="1"/>
          <p:nvPr/>
        </p:nvSpPr>
        <p:spPr>
          <a:xfrm>
            <a:off x="8686800" y="41147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Assume saturation, with </a:t>
            </a:r>
            <a:r>
              <a:rPr lang="en-US" sz="2200" i="1">
                <a:solidFill>
                  <a:srgbClr val="4F5B66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F5B66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 = </a:t>
            </a:r>
            <a:r>
              <a:rPr lang="en-US" sz="2200" i="1">
                <a:solidFill>
                  <a:srgbClr val="4F5B66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F5B66"/>
                </a:solidFill>
                <a:latin typeface="Segoe UI" panose="020B0502040204020203" pitchFamily="34" charset="0"/>
              </a:rPr>
              <a:t>G</a:t>
            </a:r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4F5B66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4F5B66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R</a:t>
            </a:r>
            <a:r>
              <a:rPr lang="en-US" sz="2200" baseline="-25000">
                <a:solidFill>
                  <a:srgbClr val="4F5B66"/>
                </a:solidFill>
                <a:latin typeface="Segoe UI" panose="020B0502040204020203" pitchFamily="34" charset="0"/>
              </a:rPr>
              <a:t>S</a:t>
            </a:r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  (I in mA, R in k</a:t>
            </a:r>
            <a:r>
              <a:rPr lang="el-GR" sz="2200">
                <a:solidFill>
                  <a:srgbClr val="4F5B66"/>
                </a:solidFill>
                <a:latin typeface="Segoe UI" panose="020B0502040204020203" pitchFamily="34" charset="0"/>
              </a:rPr>
              <a:t>Ω)</a:t>
            </a:r>
            <a:endParaRPr lang="en-US" sz="2200">
              <a:solidFill>
                <a:srgbClr val="4F5B66"/>
              </a:solidFill>
              <a:latin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C8C4EF58-7240-9BE5-EFEE-4FB5804F41C5}"/>
                  </a:ext>
                </a:extLst>
              </p:cNvPr>
              <p:cNvSpPr txBox="1"/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(1)(5−6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sSup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C8C4EF58-7240-9BE5-EFEE-4FB5804F41C5}"/>
                  </a:ext>
                </a:extLst>
              </p:cNvPr>
              <p:cNvSpPr txBox="1"/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\frac{1}{2}(1)\,(5-6I_D-1)^2</a:t>
                </a:r>
              </a:p>
            </p:txBody>
          </p:sp>
        </mc:Fallback>
      </mc:AlternateContent>
      <p:sp>
        <p:nvSpPr>
          <p:cNvPr id="45" name="badge @4">
            <a:extLst>
              <a:ext uri="{FF2B5EF4-FFF2-40B4-BE49-F238E27FC236}">
                <a16:creationId xmlns:a16="http://schemas.microsoft.com/office/drawing/2014/main" id="{F919970C-3831-7E79-2D54-A9A756BE1291}"/>
              </a:ext>
            </a:extLst>
          </p:cNvPr>
          <p:cNvSpPr/>
          <p:nvPr/>
        </p:nvSpPr>
        <p:spPr>
          <a:xfrm>
            <a:off x="8128000" y="5765800"/>
            <a:ext cx="381000" cy="3810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badge @4">
            <a:extLst>
              <a:ext uri="{FF2B5EF4-FFF2-40B4-BE49-F238E27FC236}">
                <a16:creationId xmlns:a16="http://schemas.microsoft.com/office/drawing/2014/main" id="{2B3EF2D1-284B-5207-62F1-6C5F275985BB}"/>
              </a:ext>
            </a:extLst>
          </p:cNvPr>
          <p:cNvSpPr txBox="1"/>
          <p:nvPr/>
        </p:nvSpPr>
        <p:spPr>
          <a:xfrm>
            <a:off x="8128000" y="57657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Bahnschrift SemiBold" panose="020B0502040204020203" pitchFamily="34" charset="0"/>
              </a:rPr>
              <a:t>3</a:t>
            </a:r>
          </a:p>
        </p:txBody>
      </p:sp>
      <p:sp>
        <p:nvSpPr>
          <p:cNvPr id="47" name="lab @4">
            <a:extLst>
              <a:ext uri="{FF2B5EF4-FFF2-40B4-BE49-F238E27FC236}">
                <a16:creationId xmlns:a16="http://schemas.microsoft.com/office/drawing/2014/main" id="{ED42EF61-0722-2199-77BA-D2673D2BFA3F}"/>
              </a:ext>
            </a:extLst>
          </p:cNvPr>
          <p:cNvSpPr txBox="1"/>
          <p:nvPr/>
        </p:nvSpPr>
        <p:spPr>
          <a:xfrm>
            <a:off x="8686800" y="57403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F5B66"/>
                </a:solidFill>
                <a:latin typeface="Segoe UI" panose="020B0502040204020203" pitchFamily="34" charset="0"/>
              </a:rPr>
              <a:t>Solve the quadratic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BA41BE10-6AF0-753E-DF31-17A36C2FE968}"/>
                  </a:ext>
                </a:extLst>
              </p:cNvPr>
              <p:cNvSpPr txBox="1"/>
              <p:nvPr/>
            </p:nvSpPr>
            <p:spPr>
              <a:xfrm>
                <a:off x="8686800" y="62229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+8=0 ⇒ 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=0.89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or</m:t>
                      </m:r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 0.5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BA41BE10-6AF0-753E-DF31-17A36C2FE968}"/>
                  </a:ext>
                </a:extLst>
              </p:cNvPr>
              <p:cNvSpPr txBox="1"/>
              <p:nvPr/>
            </p:nvSpPr>
            <p:spPr>
              <a:xfrm>
                <a:off x="8686800" y="62229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18I_D^2-25I_D+8=0\ \Rightarrow\ I_D=0.89\ \text{or}\ 0.5\ \mathrm{mA}</a:t>
                </a:r>
              </a:p>
            </p:txBody>
          </p:sp>
        </mc:Fallback>
      </mc:AlternateContent>
      <p:sp>
        <p:nvSpPr>
          <p:cNvPr id="49" name="badge @5">
            <a:extLst>
              <a:ext uri="{FF2B5EF4-FFF2-40B4-BE49-F238E27FC236}">
                <a16:creationId xmlns:a16="http://schemas.microsoft.com/office/drawing/2014/main" id="{CCCA5242-7132-E2C2-1993-1273300DB72C}"/>
              </a:ext>
            </a:extLst>
          </p:cNvPr>
          <p:cNvSpPr/>
          <p:nvPr/>
        </p:nvSpPr>
        <p:spPr>
          <a:xfrm>
            <a:off x="8128000" y="7112000"/>
            <a:ext cx="381000" cy="3810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badge @5">
            <a:extLst>
              <a:ext uri="{FF2B5EF4-FFF2-40B4-BE49-F238E27FC236}">
                <a16:creationId xmlns:a16="http://schemas.microsoft.com/office/drawing/2014/main" id="{22C7DCA2-20E8-D813-0B80-6D65C62CD96F}"/>
              </a:ext>
            </a:extLst>
          </p:cNvPr>
          <p:cNvSpPr txBox="1"/>
          <p:nvPr/>
        </p:nvSpPr>
        <p:spPr>
          <a:xfrm>
            <a:off x="8128000" y="71119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Bahnschrift SemiBold" panose="020B0502040204020203" pitchFamily="34" charset="0"/>
              </a:rPr>
              <a:t>4</a:t>
            </a:r>
          </a:p>
        </p:txBody>
      </p:sp>
      <p:sp>
        <p:nvSpPr>
          <p:cNvPr id="51" name="lab @5">
            <a:extLst>
              <a:ext uri="{FF2B5EF4-FFF2-40B4-BE49-F238E27FC236}">
                <a16:creationId xmlns:a16="http://schemas.microsoft.com/office/drawing/2014/main" id="{C233CD3B-B3FB-E249-CDDD-7DD5A8E21AA6}"/>
              </a:ext>
            </a:extLst>
          </p:cNvPr>
          <p:cNvSpPr txBox="1"/>
          <p:nvPr/>
        </p:nvSpPr>
        <p:spPr>
          <a:xfrm>
            <a:off x="8686800" y="7086599"/>
            <a:ext cx="86868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= 0.89 mA would give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= −0.33 V &lt;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(no channel): reject it.  So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= 0.5 mA,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= 2 V.</a:t>
            </a:r>
          </a:p>
        </p:txBody>
      </p:sp>
      <p:sp>
        <p:nvSpPr>
          <p:cNvPr id="52" name="badge @6">
            <a:extLst>
              <a:ext uri="{FF2B5EF4-FFF2-40B4-BE49-F238E27FC236}">
                <a16:creationId xmlns:a16="http://schemas.microsoft.com/office/drawing/2014/main" id="{27FB47A8-DBDB-B16E-F606-B212C2F924E8}"/>
              </a:ext>
            </a:extLst>
          </p:cNvPr>
          <p:cNvSpPr/>
          <p:nvPr/>
        </p:nvSpPr>
        <p:spPr>
          <a:xfrm>
            <a:off x="8128000" y="8229600"/>
            <a:ext cx="381000" cy="381000"/>
          </a:xfrm>
          <a:prstGeom prst="ellipse">
            <a:avLst/>
          </a:prstGeom>
          <a:solidFill>
            <a:srgbClr val="1F5F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badge @6">
            <a:extLst>
              <a:ext uri="{FF2B5EF4-FFF2-40B4-BE49-F238E27FC236}">
                <a16:creationId xmlns:a16="http://schemas.microsoft.com/office/drawing/2014/main" id="{015E2C7A-294A-757C-D8D4-01473F9CE28F}"/>
              </a:ext>
            </a:extLst>
          </p:cNvPr>
          <p:cNvSpPr txBox="1"/>
          <p:nvPr/>
        </p:nvSpPr>
        <p:spPr>
          <a:xfrm>
            <a:off x="8128000" y="82295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Bahnschrift SemiBold" panose="020B0502040204020203" pitchFamily="34" charset="0"/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eq @6">
                <a:extLst>
                  <a:ext uri="{FF2B5EF4-FFF2-40B4-BE49-F238E27FC236}">
                    <a16:creationId xmlns:a16="http://schemas.microsoft.com/office/drawing/2014/main" id="{DF0531A9-B091-0EB2-F6B4-5BF8C5D319D7}"/>
                  </a:ext>
                </a:extLst>
              </p:cNvPr>
              <p:cNvSpPr txBox="1"/>
              <p:nvPr/>
            </p:nvSpPr>
            <p:spPr>
              <a:xfrm>
                <a:off x="8686800" y="81533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sSub>
                        <m:sSubPr>
                          <m:ctrlP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=10−0.5(6)=7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4" name="eq @6">
                <a:extLst>
                  <a:ext uri="{FF2B5EF4-FFF2-40B4-BE49-F238E27FC236}">
                    <a16:creationId xmlns:a16="http://schemas.microsoft.com/office/drawing/2014/main" id="{DF0531A9-B091-0EB2-F6B4-5BF8C5D319D7}"/>
                  </a:ext>
                </a:extLst>
              </p:cNvPr>
              <p:cNvSpPr txBox="1"/>
              <p:nvPr/>
            </p:nvSpPr>
            <p:spPr>
              <a:xfrm>
                <a:off x="8686800" y="81533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V_D = V_{DD} - I_DR_D = 10 - 0.5(6) = 7\ \mathrm{V}</a:t>
                </a:r>
              </a:p>
            </p:txBody>
          </p:sp>
        </mc:Fallback>
      </mc:AlternateContent>
      <p:sp>
        <p:nvSpPr>
          <p:cNvPr id="55" name="answer @6 bg">
            <a:extLst>
              <a:ext uri="{FF2B5EF4-FFF2-40B4-BE49-F238E27FC236}">
                <a16:creationId xmlns:a16="http://schemas.microsoft.com/office/drawing/2014/main" id="{514DFCDE-000B-D08E-27F4-626503D2E418}"/>
              </a:ext>
            </a:extLst>
          </p:cNvPr>
          <p:cNvSpPr/>
          <p:nvPr/>
        </p:nvSpPr>
        <p:spPr>
          <a:xfrm>
            <a:off x="8686800" y="8915400"/>
            <a:ext cx="2334768" cy="568960"/>
          </a:xfrm>
          <a:prstGeom prst="roundRect">
            <a:avLst>
              <a:gd name="adj" fmla="val 25000"/>
            </a:avLst>
          </a:prstGeom>
          <a:solidFill>
            <a:srgbClr val="F6E6DA"/>
          </a:solidFill>
          <a:ln w="19050">
            <a:solidFill>
              <a:srgbClr val="A848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nswer @6">
            <a:extLst>
              <a:ext uri="{FF2B5EF4-FFF2-40B4-BE49-F238E27FC236}">
                <a16:creationId xmlns:a16="http://schemas.microsoft.com/office/drawing/2014/main" id="{334805CC-C2C9-35C8-3165-7AF13BC9F678}"/>
              </a:ext>
            </a:extLst>
          </p:cNvPr>
          <p:cNvSpPr txBox="1"/>
          <p:nvPr/>
        </p:nvSpPr>
        <p:spPr>
          <a:xfrm>
            <a:off x="8915400" y="9016999"/>
            <a:ext cx="1928368" cy="36576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sz="2400" i="1">
                <a:solidFill>
                  <a:srgbClr val="A8481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A8481A"/>
                </a:solidFill>
                <a:latin typeface="Segoe UI" panose="020B0502040204020203" pitchFamily="34" charset="0"/>
              </a:rPr>
              <a:t>D</a:t>
            </a:r>
            <a:r>
              <a:rPr lang="en-US" sz="2400">
                <a:solidFill>
                  <a:srgbClr val="A8481A"/>
                </a:solidFill>
                <a:latin typeface="Segoe UI" panose="020B0502040204020203" pitchFamily="34" charset="0"/>
              </a:rPr>
              <a:t> = 7 V</a:t>
            </a:r>
          </a:p>
        </p:txBody>
      </p:sp>
      <p:sp>
        <p:nvSpPr>
          <p:cNvPr id="57" name="check @6">
            <a:extLst>
              <a:ext uri="{FF2B5EF4-FFF2-40B4-BE49-F238E27FC236}">
                <a16:creationId xmlns:a16="http://schemas.microsoft.com/office/drawing/2014/main" id="{5D6C9DD6-9DDB-04FD-6E7A-9BE30E11E3F7}"/>
              </a:ext>
            </a:extLst>
          </p:cNvPr>
          <p:cNvSpPr txBox="1"/>
          <p:nvPr/>
        </p:nvSpPr>
        <p:spPr>
          <a:xfrm>
            <a:off x="11303000" y="8940799"/>
            <a:ext cx="6070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2E7D4F"/>
                </a:solidFill>
                <a:latin typeface="Segoe UI" panose="020B0502040204020203" pitchFamily="34" charset="0"/>
              </a:rPr>
              <a:t>✓ Check: </a:t>
            </a:r>
            <a:r>
              <a:rPr lang="en-US" sz="2000" i="1">
                <a:solidFill>
                  <a:srgbClr val="2E7D4F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2E7D4F"/>
                </a:solidFill>
                <a:latin typeface="Segoe UI" panose="020B0502040204020203" pitchFamily="34" charset="0"/>
              </a:rPr>
              <a:t>DS</a:t>
            </a:r>
            <a:r>
              <a:rPr lang="en-US" sz="2000">
                <a:solidFill>
                  <a:srgbClr val="2E7D4F"/>
                </a:solidFill>
                <a:latin typeface="Segoe UI" panose="020B0502040204020203" pitchFamily="34" charset="0"/>
              </a:rPr>
              <a:t> = 4 V ≥ </a:t>
            </a:r>
            <a:r>
              <a:rPr lang="en-US" sz="2000" i="1">
                <a:solidFill>
                  <a:srgbClr val="2E7D4F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2E7D4F"/>
                </a:solidFill>
                <a:latin typeface="Segoe UI" panose="020B0502040204020203" pitchFamily="34" charset="0"/>
              </a:rPr>
              <a:t>GS</a:t>
            </a:r>
            <a:r>
              <a:rPr lang="en-US" sz="2000">
                <a:solidFill>
                  <a:srgbClr val="2E7D4F"/>
                </a:solidFill>
                <a:latin typeface="Segoe UI" panose="020B0502040204020203" pitchFamily="34" charset="0"/>
              </a:rPr>
              <a:t> − </a:t>
            </a:r>
            <a:r>
              <a:rPr lang="en-US" sz="2000" i="1">
                <a:solidFill>
                  <a:srgbClr val="2E7D4F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2E7D4F"/>
                </a:solidFill>
                <a:latin typeface="Segoe UI" panose="020B0502040204020203" pitchFamily="34" charset="0"/>
              </a:rPr>
              <a:t>t</a:t>
            </a:r>
            <a:r>
              <a:rPr lang="en-US" sz="2000">
                <a:solidFill>
                  <a:srgbClr val="2E7D4F"/>
                </a:solidFill>
                <a:latin typeface="Segoe UI" panose="020B0502040204020203" pitchFamily="34" charset="0"/>
              </a:rPr>
              <a:t> = 1 V, so saturation holds.</a:t>
            </a:r>
          </a:p>
        </p:txBody>
      </p:sp>
      <p:sp>
        <p:nvSpPr>
          <p:cNvPr id="58" name="chrome page">
            <a:extLst>
              <a:ext uri="{FF2B5EF4-FFF2-40B4-BE49-F238E27FC236}">
                <a16:creationId xmlns:a16="http://schemas.microsoft.com/office/drawing/2014/main" id="{A8B7A5DD-2FF2-2C8E-1161-87CF0F47729B}"/>
              </a:ext>
            </a:extLst>
          </p:cNvPr>
          <p:cNvSpPr txBox="1"/>
          <p:nvPr/>
        </p:nvSpPr>
        <p:spPr>
          <a:xfrm>
            <a:off x="16611600" y="97535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232520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8F083CB-AB0B-E9A4-22EC-CE41D14D7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66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F2A37"/>
                </a:solidFill>
                <a:latin typeface="Bahnschrift SemiBold" panose="020B0502040204020203" pitchFamily="34" charset="0"/>
              </a:rPr>
              <a:t>Summary: three regions of operation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A36595BC-19B9-B9D3-C532-DAC7699B7629}"/>
              </a:ext>
            </a:extLst>
          </p:cNvPr>
          <p:cNvSpPr txBox="1"/>
          <p:nvPr/>
        </p:nvSpPr>
        <p:spPr>
          <a:xfrm>
            <a:off x="914400" y="3555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1F5F8B"/>
                </a:solidFill>
                <a:latin typeface="Bahnschrift SemiBold" panose="020B0502040204020203" pitchFamily="34" charset="0"/>
              </a:rPr>
              <a:t>LECTURE 3 · SUMMARY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E6825986-5A2A-FC6D-8E9E-C7E7028EBA75}"/>
              </a:ext>
            </a:extLst>
          </p:cNvPr>
          <p:cNvSpPr txBox="1"/>
          <p:nvPr/>
        </p:nvSpPr>
        <p:spPr>
          <a:xfrm>
            <a:off x="914400" y="97535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th">
            <a:extLst>
              <a:ext uri="{FF2B5EF4-FFF2-40B4-BE49-F238E27FC236}">
                <a16:creationId xmlns:a16="http://schemas.microsoft.com/office/drawing/2014/main" id="{6BA06A86-05D5-1BAC-ED1A-3830EF42D126}"/>
              </a:ext>
            </a:extLst>
          </p:cNvPr>
          <p:cNvSpPr txBox="1"/>
          <p:nvPr/>
        </p:nvSpPr>
        <p:spPr>
          <a:xfrm>
            <a:off x="914400" y="2285999"/>
            <a:ext cx="2921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4F5B66"/>
                </a:solidFill>
                <a:latin typeface="Bahnschrift SemiBold" panose="020B0502040204020203" pitchFamily="34" charset="0"/>
              </a:rPr>
              <a:t>REGION</a:t>
            </a:r>
          </a:p>
        </p:txBody>
      </p:sp>
      <p:sp>
        <p:nvSpPr>
          <p:cNvPr id="6" name="th">
            <a:extLst>
              <a:ext uri="{FF2B5EF4-FFF2-40B4-BE49-F238E27FC236}">
                <a16:creationId xmlns:a16="http://schemas.microsoft.com/office/drawing/2014/main" id="{8C4B74BA-B25A-0847-ABCC-F59A05D2CE2D}"/>
              </a:ext>
            </a:extLst>
          </p:cNvPr>
          <p:cNvSpPr txBox="1"/>
          <p:nvPr/>
        </p:nvSpPr>
        <p:spPr>
          <a:xfrm>
            <a:off x="4089400" y="2285999"/>
            <a:ext cx="5334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4F5B66"/>
                </a:solidFill>
                <a:latin typeface="Bahnschrift SemiBold" panose="020B0502040204020203" pitchFamily="34" charset="0"/>
              </a:rPr>
              <a:t>CONDITION</a:t>
            </a:r>
          </a:p>
        </p:txBody>
      </p:sp>
      <p:sp>
        <p:nvSpPr>
          <p:cNvPr id="7" name="th">
            <a:extLst>
              <a:ext uri="{FF2B5EF4-FFF2-40B4-BE49-F238E27FC236}">
                <a16:creationId xmlns:a16="http://schemas.microsoft.com/office/drawing/2014/main" id="{FF72A332-012E-60BD-EA11-46320E514157}"/>
              </a:ext>
            </a:extLst>
          </p:cNvPr>
          <p:cNvSpPr txBox="1"/>
          <p:nvPr/>
        </p:nvSpPr>
        <p:spPr>
          <a:xfrm>
            <a:off x="9677400" y="2285999"/>
            <a:ext cx="76962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4F5B66"/>
                </a:solidFill>
                <a:latin typeface="Bahnschrift SemiBold" panose="020B0502040204020203" pitchFamily="34" charset="0"/>
              </a:rPr>
              <a:t>DRAIN CURRENT</a:t>
            </a:r>
          </a:p>
        </p:txBody>
      </p:sp>
      <p:cxnSp>
        <p:nvCxnSpPr>
          <p:cNvPr id="8" name="rule">
            <a:extLst>
              <a:ext uri="{FF2B5EF4-FFF2-40B4-BE49-F238E27FC236}">
                <a16:creationId xmlns:a16="http://schemas.microsoft.com/office/drawing/2014/main" id="{9722677B-BD6F-7B97-ED12-BB5F0D33AF0B}"/>
              </a:ext>
            </a:extLst>
          </p:cNvPr>
          <p:cNvCxnSpPr/>
          <p:nvPr/>
        </p:nvCxnSpPr>
        <p:spPr>
          <a:xfrm>
            <a:off x="914400" y="2743200"/>
            <a:ext cx="16459200" cy="0"/>
          </a:xfrm>
          <a:prstGeom prst="line">
            <a:avLst/>
          </a:prstGeom>
          <a:ln w="15875">
            <a:solidFill>
              <a:srgbClr val="DDD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d">
            <a:extLst>
              <a:ext uri="{FF2B5EF4-FFF2-40B4-BE49-F238E27FC236}">
                <a16:creationId xmlns:a16="http://schemas.microsoft.com/office/drawing/2014/main" id="{4FD33C07-21C9-9687-8CBF-E2855D80A33F}"/>
              </a:ext>
            </a:extLst>
          </p:cNvPr>
          <p:cNvSpPr txBox="1"/>
          <p:nvPr/>
        </p:nvSpPr>
        <p:spPr>
          <a:xfrm>
            <a:off x="914400" y="29209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600">
                <a:solidFill>
                  <a:srgbClr val="1F2A37"/>
                </a:solidFill>
                <a:latin typeface="Bahnschrift SemiBold" panose="020B0502040204020203" pitchFamily="34" charset="0"/>
              </a:rPr>
              <a:t>Cutoff</a:t>
            </a:r>
          </a:p>
        </p:txBody>
      </p:sp>
      <p:sp>
        <p:nvSpPr>
          <p:cNvPr id="10" name="td">
            <a:extLst>
              <a:ext uri="{FF2B5EF4-FFF2-40B4-BE49-F238E27FC236}">
                <a16:creationId xmlns:a16="http://schemas.microsoft.com/office/drawing/2014/main" id="{5691F254-374D-2D33-FFD2-A5B2FFD34076}"/>
              </a:ext>
            </a:extLst>
          </p:cNvPr>
          <p:cNvSpPr txBox="1"/>
          <p:nvPr/>
        </p:nvSpPr>
        <p:spPr>
          <a:xfrm>
            <a:off x="4089400" y="29209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≤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eq">
                <a:extLst>
                  <a:ext uri="{FF2B5EF4-FFF2-40B4-BE49-F238E27FC236}">
                    <a16:creationId xmlns:a16="http://schemas.microsoft.com/office/drawing/2014/main" id="{CF6E2198-E481-37A2-A5D3-D3DF078675FC}"/>
                  </a:ext>
                </a:extLst>
              </p:cNvPr>
              <p:cNvSpPr txBox="1"/>
              <p:nvPr/>
            </p:nvSpPr>
            <p:spPr>
              <a:xfrm>
                <a:off x="9677400" y="29717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eq">
                <a:extLst>
                  <a:ext uri="{FF2B5EF4-FFF2-40B4-BE49-F238E27FC236}">
                    <a16:creationId xmlns:a16="http://schemas.microsoft.com/office/drawing/2014/main" id="{CF6E2198-E481-37A2-A5D3-D3DF078675FC}"/>
                  </a:ext>
                </a:extLst>
              </p:cNvPr>
              <p:cNvSpPr txBox="1"/>
              <p:nvPr/>
            </p:nvSpPr>
            <p:spPr>
              <a:xfrm>
                <a:off x="9677400" y="29717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0</a:t>
                </a:r>
              </a:p>
            </p:txBody>
          </p:sp>
        </mc:Fallback>
      </mc:AlternateContent>
      <p:cxnSp>
        <p:nvCxnSpPr>
          <p:cNvPr id="12" name="rule">
            <a:extLst>
              <a:ext uri="{FF2B5EF4-FFF2-40B4-BE49-F238E27FC236}">
                <a16:creationId xmlns:a16="http://schemas.microsoft.com/office/drawing/2014/main" id="{7B8AF185-FC23-5AB7-F06C-28C713079A40}"/>
              </a:ext>
            </a:extLst>
          </p:cNvPr>
          <p:cNvCxnSpPr/>
          <p:nvPr/>
        </p:nvCxnSpPr>
        <p:spPr>
          <a:xfrm>
            <a:off x="914400" y="4038600"/>
            <a:ext cx="16459200" cy="0"/>
          </a:xfrm>
          <a:prstGeom prst="line">
            <a:avLst/>
          </a:prstGeom>
          <a:ln w="9525">
            <a:solidFill>
              <a:srgbClr val="DDD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band">
            <a:extLst>
              <a:ext uri="{FF2B5EF4-FFF2-40B4-BE49-F238E27FC236}">
                <a16:creationId xmlns:a16="http://schemas.microsoft.com/office/drawing/2014/main" id="{84E4AB61-726B-CCD2-12EB-10F9D1A18150}"/>
              </a:ext>
            </a:extLst>
          </p:cNvPr>
          <p:cNvSpPr/>
          <p:nvPr/>
        </p:nvSpPr>
        <p:spPr>
          <a:xfrm>
            <a:off x="762000" y="4038600"/>
            <a:ext cx="16764000" cy="1219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d">
            <a:extLst>
              <a:ext uri="{FF2B5EF4-FFF2-40B4-BE49-F238E27FC236}">
                <a16:creationId xmlns:a16="http://schemas.microsoft.com/office/drawing/2014/main" id="{AE278BCC-623D-269B-75EC-9BF576D569F6}"/>
              </a:ext>
            </a:extLst>
          </p:cNvPr>
          <p:cNvSpPr txBox="1"/>
          <p:nvPr/>
        </p:nvSpPr>
        <p:spPr>
          <a:xfrm>
            <a:off x="914400" y="41401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600">
                <a:solidFill>
                  <a:srgbClr val="1F2A37"/>
                </a:solidFill>
                <a:latin typeface="Bahnschrift SemiBold" panose="020B0502040204020203" pitchFamily="34" charset="0"/>
              </a:rPr>
              <a:t>Triode</a:t>
            </a:r>
          </a:p>
        </p:txBody>
      </p:sp>
      <p:sp>
        <p:nvSpPr>
          <p:cNvPr id="15" name="td">
            <a:extLst>
              <a:ext uri="{FF2B5EF4-FFF2-40B4-BE49-F238E27FC236}">
                <a16:creationId xmlns:a16="http://schemas.microsoft.com/office/drawing/2014/main" id="{33B08006-03FB-E3B5-6B11-C60739FAE856}"/>
              </a:ext>
            </a:extLst>
          </p:cNvPr>
          <p:cNvSpPr txBox="1"/>
          <p:nvPr/>
        </p:nvSpPr>
        <p:spPr>
          <a:xfrm>
            <a:off x="4089400" y="41401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&gt;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, 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DS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&lt;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ED1400C3-1758-7E4F-1431-D36D900EB34A}"/>
                  </a:ext>
                </a:extLst>
              </p:cNvPr>
              <p:cNvSpPr txBox="1"/>
              <p:nvPr/>
            </p:nvSpPr>
            <p:spPr>
              <a:xfrm>
                <a:off x="9677400" y="41909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GS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4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4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4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 i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  <m:sup>
                              <m:r>
                                <a:rPr lang="en-US" sz="2400" b="0">
                                  <a:solidFill>
                                    <a:srgbClr val="1F2A37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ED1400C3-1758-7E4F-1431-D36D900EB34A}"/>
                  </a:ext>
                </a:extLst>
              </p:cNvPr>
              <p:cNvSpPr txBox="1"/>
              <p:nvPr/>
            </p:nvSpPr>
            <p:spPr>
              <a:xfrm>
                <a:off x="9677400" y="41909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cxnSp>
        <p:nvCxnSpPr>
          <p:cNvPr id="17" name="rule">
            <a:extLst>
              <a:ext uri="{FF2B5EF4-FFF2-40B4-BE49-F238E27FC236}">
                <a16:creationId xmlns:a16="http://schemas.microsoft.com/office/drawing/2014/main" id="{1AECB44A-F8A1-2287-7393-53F9710F59E6}"/>
              </a:ext>
            </a:extLst>
          </p:cNvPr>
          <p:cNvCxnSpPr/>
          <p:nvPr/>
        </p:nvCxnSpPr>
        <p:spPr>
          <a:xfrm>
            <a:off x="914400" y="5257800"/>
            <a:ext cx="16459200" cy="0"/>
          </a:xfrm>
          <a:prstGeom prst="line">
            <a:avLst/>
          </a:prstGeom>
          <a:ln w="9525">
            <a:solidFill>
              <a:srgbClr val="DDD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d">
            <a:extLst>
              <a:ext uri="{FF2B5EF4-FFF2-40B4-BE49-F238E27FC236}">
                <a16:creationId xmlns:a16="http://schemas.microsoft.com/office/drawing/2014/main" id="{295244F1-DB49-A167-3629-C77253FA8F1B}"/>
              </a:ext>
            </a:extLst>
          </p:cNvPr>
          <p:cNvSpPr txBox="1"/>
          <p:nvPr/>
        </p:nvSpPr>
        <p:spPr>
          <a:xfrm>
            <a:off x="914400" y="53593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600">
                <a:solidFill>
                  <a:srgbClr val="1F2A37"/>
                </a:solidFill>
                <a:latin typeface="Bahnschrift SemiBold" panose="020B0502040204020203" pitchFamily="34" charset="0"/>
              </a:rPr>
              <a:t>Saturation</a:t>
            </a:r>
          </a:p>
        </p:txBody>
      </p:sp>
      <p:sp>
        <p:nvSpPr>
          <p:cNvPr id="19" name="td">
            <a:extLst>
              <a:ext uri="{FF2B5EF4-FFF2-40B4-BE49-F238E27FC236}">
                <a16:creationId xmlns:a16="http://schemas.microsoft.com/office/drawing/2014/main" id="{34A8F61F-3EE1-745B-5C0E-B4F31A4C1837}"/>
              </a:ext>
            </a:extLst>
          </p:cNvPr>
          <p:cNvSpPr txBox="1"/>
          <p:nvPr/>
        </p:nvSpPr>
        <p:spPr>
          <a:xfrm>
            <a:off x="4089400" y="53593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&gt;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, 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DS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≥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F2A37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1F2A37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F2A37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F1908C69-AD1F-9ABD-23EE-F2373D29356F}"/>
                  </a:ext>
                </a:extLst>
              </p:cNvPr>
              <p:cNvSpPr txBox="1"/>
              <p:nvPr/>
            </p:nvSpPr>
            <p:spPr>
              <a:xfrm>
                <a:off x="9677400" y="54101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4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400" b="0">
                          <a:solidFill>
                            <a:srgbClr val="1F2A37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p>
                        <m:sSupPr>
                          <m:ctrlP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b="0">
                              <a:solidFill>
                                <a:srgbClr val="1F2A37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F1908C69-AD1F-9ABD-23EE-F2373D29356F}"/>
                  </a:ext>
                </a:extLst>
              </p:cNvPr>
              <p:cNvSpPr txBox="1"/>
              <p:nvPr/>
            </p:nvSpPr>
            <p:spPr>
              <a:xfrm>
                <a:off x="9677400" y="54101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cxnSp>
        <p:nvCxnSpPr>
          <p:cNvPr id="21" name="rule">
            <a:extLst>
              <a:ext uri="{FF2B5EF4-FFF2-40B4-BE49-F238E27FC236}">
                <a16:creationId xmlns:a16="http://schemas.microsoft.com/office/drawing/2014/main" id="{AF0976B2-F3A9-1EDD-2222-77269B31B453}"/>
              </a:ext>
            </a:extLst>
          </p:cNvPr>
          <p:cNvCxnSpPr/>
          <p:nvPr/>
        </p:nvCxnSpPr>
        <p:spPr>
          <a:xfrm>
            <a:off x="914400" y="6477000"/>
            <a:ext cx="16459200" cy="0"/>
          </a:xfrm>
          <a:prstGeom prst="line">
            <a:avLst/>
          </a:prstGeom>
          <a:ln w="9525">
            <a:solidFill>
              <a:srgbClr val="DDD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akeaway">
            <a:extLst>
              <a:ext uri="{FF2B5EF4-FFF2-40B4-BE49-F238E27FC236}">
                <a16:creationId xmlns:a16="http://schemas.microsoft.com/office/drawing/2014/main" id="{8B46D7F6-E734-C136-5C05-8407E5FBA62F}"/>
              </a:ext>
            </a:extLst>
          </p:cNvPr>
          <p:cNvSpPr txBox="1"/>
          <p:nvPr/>
        </p:nvSpPr>
        <p:spPr>
          <a:xfrm>
            <a:off x="914400" y="68325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1F5F8B"/>
              </a:buClr>
              <a:buFont typeface="+mj-lt"/>
              <a:buChar char="•"/>
            </a:pP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In a DC problem: </a:t>
            </a:r>
            <a:r>
              <a:rPr lang="en-US" sz="2400" b="1">
                <a:solidFill>
                  <a:srgbClr val="1F2A37"/>
                </a:solidFill>
                <a:latin typeface="Segoe UI" panose="020B0502040204020203" pitchFamily="34" charset="0"/>
              </a:rPr>
              <a:t>assume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a region, </a:t>
            </a:r>
            <a:r>
              <a:rPr lang="en-US" sz="2400" b="1">
                <a:solidFill>
                  <a:srgbClr val="1F2A37"/>
                </a:solidFill>
                <a:latin typeface="Segoe UI" panose="020B0502040204020203" pitchFamily="34" charset="0"/>
              </a:rPr>
              <a:t>solve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, then </a:t>
            </a:r>
            <a:r>
              <a:rPr lang="en-US" sz="2400" b="1">
                <a:solidFill>
                  <a:srgbClr val="1F2A37"/>
                </a:solidFill>
                <a:latin typeface="Segoe UI" panose="020B0502040204020203" pitchFamily="34" charset="0"/>
              </a:rPr>
              <a:t>check</a:t>
            </a: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 the assumption.</a:t>
            </a:r>
          </a:p>
        </p:txBody>
      </p:sp>
      <p:sp>
        <p:nvSpPr>
          <p:cNvPr id="23" name="takeaway">
            <a:extLst>
              <a:ext uri="{FF2B5EF4-FFF2-40B4-BE49-F238E27FC236}">
                <a16:creationId xmlns:a16="http://schemas.microsoft.com/office/drawing/2014/main" id="{290E09AA-41D2-A30D-9FE1-F132167BA801}"/>
              </a:ext>
            </a:extLst>
          </p:cNvPr>
          <p:cNvSpPr txBox="1"/>
          <p:nvPr/>
        </p:nvSpPr>
        <p:spPr>
          <a:xfrm>
            <a:off x="914400" y="74929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1F5F8B"/>
              </a:buClr>
              <a:buFont typeface="+mj-lt"/>
              <a:buChar char="•"/>
            </a:pPr>
            <a:r>
              <a:rPr lang="en-US" sz="2400">
                <a:solidFill>
                  <a:srgbClr val="1F2A37"/>
                </a:solidFill>
                <a:latin typeface="Segoe UI" panose="020B0502040204020203" pitchFamily="34" charset="0"/>
              </a:rPr>
              <a:t>Current saturates because the channel is pinched off at the drain end.</a:t>
            </a:r>
          </a:p>
        </p:txBody>
      </p:sp>
      <p:sp>
        <p:nvSpPr>
          <p:cNvPr id="24" name="chrome page">
            <a:extLst>
              <a:ext uri="{FF2B5EF4-FFF2-40B4-BE49-F238E27FC236}">
                <a16:creationId xmlns:a16="http://schemas.microsoft.com/office/drawing/2014/main" id="{478AD8B8-4385-EB03-462F-85460DF17EDA}"/>
              </a:ext>
            </a:extLst>
          </p:cNvPr>
          <p:cNvSpPr txBox="1"/>
          <p:nvPr/>
        </p:nvSpPr>
        <p:spPr>
          <a:xfrm>
            <a:off x="16611600" y="97535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F5B66"/>
                </a:solidFill>
                <a:latin typeface="Segoe UI" panose="020B0502040204020203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458796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642</Words>
  <Application>Microsoft Office PowerPoint</Application>
  <PresentationFormat>Custom</PresentationFormat>
  <Paragraphs>104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Aptos Display</vt:lpstr>
      <vt:lpstr>Arial</vt:lpstr>
      <vt:lpstr>Bahnschrift</vt:lpstr>
      <vt:lpstr>Bahnschrift SemiBold</vt:lpstr>
      <vt:lpstr>Cambria Math</vt:lpstr>
      <vt:lpstr>Segoe UI</vt:lpstr>
      <vt:lpstr>Office Theme</vt:lpstr>
      <vt:lpstr>MOSFETs</vt:lpstr>
      <vt:lpstr>Lecture map</vt:lpstr>
      <vt:lpstr>I–V characteristics</vt:lpstr>
      <vt:lpstr>Creating a channel: the threshold voltage</vt:lpstr>
      <vt:lpstr>Triode and saturation: one curve, two equations</vt:lpstr>
      <vt:lpstr>Example: find the drain voltage</vt:lpstr>
      <vt:lpstr>Summary: three regions of operation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Hesham.Hany</dc:creator>
  <cp:lastModifiedBy>Hesham.Hany</cp:lastModifiedBy>
  <cp:revision>2</cp:revision>
  <dcterms:created xsi:type="dcterms:W3CDTF">2026-10-01T00:08:19Z</dcterms:created>
  <dcterms:modified xsi:type="dcterms:W3CDTF">2026-10-01T00:08:35Z</dcterms:modified>
</cp:coreProperties>
</file>