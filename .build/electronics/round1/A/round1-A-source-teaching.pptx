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8" r:id="rId9"/>
    <p:sldId id="269" r:id="rId10"/>
    <p:sldId id="270" r:id="rId11"/>
    <p:sldId id="261" r:id="rId12"/>
    <p:sldId id="263" r:id="rId13"/>
    <p:sldId id="264" r:id="rId14"/>
    <p:sldId id="265" r:id="rId15"/>
    <p:sldId id="266" r:id="rId16"/>
    <p:sldId id="267" r:id="rId17"/>
    <p:sldId id="262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3026-7B96-316C-CE41-EB1B8D394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B70C1-56B0-A49A-8287-8C0BF5AD8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2578-6BB0-1FFF-3EF7-E81B70A0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A0AF-F5C5-918C-70BC-46D1B7CD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5700-35DF-DF69-3111-AA7FAADC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7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926A-5CBE-39F0-230D-1E71B14A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9363-9982-9484-ED0F-B44B9C5D9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36B5F-4688-8C1E-8355-11B5C552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53B2F-7B0F-7202-3959-A6DCDE3F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A22A0-207E-CA25-FAF5-9162D61B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2E30-789D-D6EA-01A6-E86B022A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2ABE7-2127-B8C8-792D-011CA9D20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6106D-0E0F-2C61-FF1A-04BB687F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2CA9-C6E9-5842-67D0-7D279746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D8F6-564D-EFA7-FE18-5B32C322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DC16-03F8-F6F3-52EE-4A009CEB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3E18-13D0-4FB3-FEB8-2A7EB3CB6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F130D-1A9F-A925-9A13-9A7DC56C4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5E97E-0495-9AE7-414F-32B191B5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739FB-C90D-0565-172B-40D6632A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C80A6-54F0-48B5-C493-955EBAE4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8FBC-CCB8-1B69-AD67-E59BC437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509DA-8B1E-92D0-5E7E-8920CF3C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9A7CD-A6FA-78A2-1A0F-E0A2CE34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D5608-6210-D52B-D8B0-BBA1452CD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85828-0503-79DF-9F28-867620828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1AEF5-DF1F-7BF6-1EAF-FF75B674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C8C6D-4798-1168-348A-CD162A28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C574E-6B13-8FA4-D587-614992A3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1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1B56-1791-FFE9-CFD9-1CC6C2F40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5ADAF-3340-9A7D-57E7-99A8BF13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7555A-569B-F10B-4374-4112E9BE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D507E-B3BF-8FAA-F120-D38A9476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36C52-7C6F-EBF1-2BB5-F77D7310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1F630-56F4-4720-7F28-D4674924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792B8-FDFA-7955-5263-8E8E1310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C9EE-6FC3-CEC8-8682-998C5CD6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7BC3-98F6-FEB4-2D5A-99D63822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B66F1-73BF-68E9-6841-83602B3C0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6866-40DC-99CC-8BED-F7AB53C1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150B6-5C94-451F-C411-1D113BB0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0F020-B14A-98FA-01A0-2516FBFD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54D4-4725-A9C9-142B-17EDC9A4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86D266-C4DD-64A4-9428-2FC0805463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109B-408D-A1D1-57C4-0397EA02E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1E1F3-D957-4D2B-F435-9821165D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974F9-B185-1217-734E-F75609DF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1B209-B126-850F-D201-6FA34C51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6DC2-0D05-15D0-C7B0-527A3073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B5CD8-5970-2BEE-35C5-6D04687A7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3D91-AB48-B2A7-CB1F-46326FA1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A9C7-DAD5-510A-DFBC-BF4C887B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39E7F-221C-0CD0-0793-BB35CE57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2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E98B0-B037-7C74-B39B-B9116FC8B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EF126-3002-05D4-5C92-4FEB506E5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B0A9-90C4-3A76-BB80-EE1426D5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9AA6D-E6F2-9A12-D743-74F73D54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352F-F30E-0620-8644-8D6AC387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9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C0032-BCA6-0E56-3258-200920DA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01AC8-3D83-DC17-C3A5-3981F0DE0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DD200-DBA3-E8DC-097E-C21D02825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4E02-A303-98D0-67F3-3D622441E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FB362-203A-9857-79FE-6E5FEDBC4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8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F049EE-8568-FE11-434C-A12CB7C5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>
                <a:solidFill>
                  <a:srgbClr val="1F2A37"/>
                </a:solidFill>
                <a:latin typeface="Bahnschrift SemiBold" panose="020B0502040204020203" pitchFamily="34" charset="0"/>
              </a:rPr>
              <a:t>MOSFETs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E0E660B5-2696-A377-4963-2C6338E551F5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F5F8B"/>
                </a:solidFill>
                <a:latin typeface="Bahnschrift SemiBold" panose="020B0502040204020203" pitchFamily="34" charset="0"/>
              </a:rPr>
              <a:t>25CPES102 · Electronic Materials and Devices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A8DAA05-E7C2-8749-E168-B59DE5213FE8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F5B66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F5B66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cxnSp>
        <p:nvCxnSpPr>
          <p:cNvPr id="5" name="rule">
            <a:extLst>
              <a:ext uri="{FF2B5EF4-FFF2-40B4-BE49-F238E27FC236}">
                <a16:creationId xmlns:a16="http://schemas.microsoft.com/office/drawing/2014/main" id="{EC5D0B51-445A-9F8A-2D84-20F1C1F77341}"/>
              </a:ext>
            </a:extLst>
          </p:cNvPr>
          <p:cNvCxnSpPr/>
          <p:nvPr/>
        </p:nvCxnSpPr>
        <p:spPr>
          <a:xfrm>
            <a:off x="914400" y="5740400"/>
            <a:ext cx="1143000" cy="0"/>
          </a:xfrm>
          <a:prstGeom prst="line">
            <a:avLst/>
          </a:prstGeom>
          <a:ln w="38100">
            <a:solidFill>
              <a:srgbClr val="1F5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cture">
            <a:extLst>
              <a:ext uri="{FF2B5EF4-FFF2-40B4-BE49-F238E27FC236}">
                <a16:creationId xmlns:a16="http://schemas.microsoft.com/office/drawing/2014/main" id="{CFE1A5D9-9961-3B96-3957-C5A4564DA91B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F2A37"/>
                </a:solidFill>
                <a:latin typeface="Bahnschrift SemiBold" panose="020B0502040204020203" pitchFamily="34" charset="0"/>
              </a:rPr>
              <a:t>Lecture 3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F0817F45-51F4-1437-E960-FC5FDFBC36C8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F2A37"/>
                </a:solidFill>
                <a:latin typeface="Bahnschrift SemiBold" panose="020B0502040204020203" pitchFamily="34" charset="0"/>
              </a:rPr>
              <a:t>Dr. Zahraa Ismail</a:t>
            </a:r>
          </a:p>
        </p:txBody>
      </p:sp>
      <p:sp>
        <p:nvSpPr>
          <p:cNvPr id="8" name="meta">
            <a:extLst>
              <a:ext uri="{FF2B5EF4-FFF2-40B4-BE49-F238E27FC236}">
                <a16:creationId xmlns:a16="http://schemas.microsoft.com/office/drawing/2014/main" id="{B208061C-D793-F451-1ADF-06CA8B691648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sp>
        <p:nvSpPr>
          <p:cNvPr id="9" name="figure frame">
            <a:extLst>
              <a:ext uri="{FF2B5EF4-FFF2-40B4-BE49-F238E27FC236}">
                <a16:creationId xmlns:a16="http://schemas.microsoft.com/office/drawing/2014/main" id="{25B6DD6D-4DF6-5525-BE1D-AF04565B6155}"/>
              </a:ext>
            </a:extLst>
          </p:cNvPr>
          <p:cNvSpPr/>
          <p:nvPr/>
        </p:nvSpPr>
        <p:spPr>
          <a:xfrm>
            <a:off x="9652000" y="3175000"/>
            <a:ext cx="7874000" cy="327661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figure">
            <a:extLst>
              <a:ext uri="{FF2B5EF4-FFF2-40B4-BE49-F238E27FC236}">
                <a16:creationId xmlns:a16="http://schemas.microsoft.com/office/drawing/2014/main" id="{35B5A5E0-9663-53A9-4D3E-1F69BA3D2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403600"/>
            <a:ext cx="7416800" cy="2819419"/>
          </a:xfrm>
          <a:prstGeom prst="rect">
            <a:avLst/>
          </a:prstGeom>
        </p:spPr>
      </p:pic>
      <p:sp>
        <p:nvSpPr>
          <p:cNvPr id="12" name="credit">
            <a:extLst>
              <a:ext uri="{FF2B5EF4-FFF2-40B4-BE49-F238E27FC236}">
                <a16:creationId xmlns:a16="http://schemas.microsoft.com/office/drawing/2014/main" id="{36195B53-40AB-EFDD-EEE1-A376D6BEFFF9}"/>
              </a:ext>
            </a:extLst>
          </p:cNvPr>
          <p:cNvSpPr txBox="1"/>
          <p:nvPr/>
        </p:nvSpPr>
        <p:spPr>
          <a:xfrm>
            <a:off x="9652000" y="6527819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295441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020C59-3D51-B3CE-10A8-12B47619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9E77B6B-2D60-B071-6C96-9057CBB4939B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LECTURE 3 · MOSFETS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3ED401B-A3AD-AA64-AB2A-F0084828AD03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map n">
            <a:extLst>
              <a:ext uri="{FF2B5EF4-FFF2-40B4-BE49-F238E27FC236}">
                <a16:creationId xmlns:a16="http://schemas.microsoft.com/office/drawing/2014/main" id="{3E354E68-2D76-0C9D-4A6A-8F4EFA54D6A1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6" name="map t">
            <a:extLst>
              <a:ext uri="{FF2B5EF4-FFF2-40B4-BE49-F238E27FC236}">
                <a16:creationId xmlns:a16="http://schemas.microsoft.com/office/drawing/2014/main" id="{34AA7AE5-F281-2B6F-4F04-A5F2E11367DC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Structure and operation</a:t>
            </a:r>
          </a:p>
        </p:txBody>
      </p:sp>
      <p:sp>
        <p:nvSpPr>
          <p:cNvPr id="7" name="map s">
            <a:extLst>
              <a:ext uri="{FF2B5EF4-FFF2-40B4-BE49-F238E27FC236}">
                <a16:creationId xmlns:a16="http://schemas.microsoft.com/office/drawing/2014/main" id="{ECDA68A9-56D3-7542-6502-A090A449A099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8" name="map n">
            <a:extLst>
              <a:ext uri="{FF2B5EF4-FFF2-40B4-BE49-F238E27FC236}">
                <a16:creationId xmlns:a16="http://schemas.microsoft.com/office/drawing/2014/main" id="{B9D609F7-BBDC-192E-D905-96E3E3F69765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9" name="map t">
            <a:extLst>
              <a:ext uri="{FF2B5EF4-FFF2-40B4-BE49-F238E27FC236}">
                <a16:creationId xmlns:a16="http://schemas.microsoft.com/office/drawing/2014/main" id="{1F43CF8E-8AA5-BEEE-3B51-D217086A8C3C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I–V characteristics</a:t>
            </a:r>
          </a:p>
        </p:txBody>
      </p:sp>
      <p:sp>
        <p:nvSpPr>
          <p:cNvPr id="10" name="map s">
            <a:extLst>
              <a:ext uri="{FF2B5EF4-FFF2-40B4-BE49-F238E27FC236}">
                <a16:creationId xmlns:a16="http://schemas.microsoft.com/office/drawing/2014/main" id="{24AA95C0-27B6-ADBC-3D5A-C4DC086C37A1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1" name="map n">
            <a:extLst>
              <a:ext uri="{FF2B5EF4-FFF2-40B4-BE49-F238E27FC236}">
                <a16:creationId xmlns:a16="http://schemas.microsoft.com/office/drawing/2014/main" id="{DDA08DDD-48DF-D938-911B-8E795E84956D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2" name="map t">
            <a:extLst>
              <a:ext uri="{FF2B5EF4-FFF2-40B4-BE49-F238E27FC236}">
                <a16:creationId xmlns:a16="http://schemas.microsoft.com/office/drawing/2014/main" id="{0603F680-6C18-8247-2762-ADF754E66C11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MOSFETs in DC circuits</a:t>
            </a:r>
          </a:p>
        </p:txBody>
      </p:sp>
      <p:sp>
        <p:nvSpPr>
          <p:cNvPr id="13" name="map s">
            <a:extLst>
              <a:ext uri="{FF2B5EF4-FFF2-40B4-BE49-F238E27FC236}">
                <a16:creationId xmlns:a16="http://schemas.microsoft.com/office/drawing/2014/main" id="{22F1B0C9-2B34-0AC3-E4AA-9F64623ECECA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4" name="map n">
            <a:extLst>
              <a:ext uri="{FF2B5EF4-FFF2-40B4-BE49-F238E27FC236}">
                <a16:creationId xmlns:a16="http://schemas.microsoft.com/office/drawing/2014/main" id="{25F95444-5CCE-BDF9-AB0C-178863B1B771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5" name="map t">
            <a:extLst>
              <a:ext uri="{FF2B5EF4-FFF2-40B4-BE49-F238E27FC236}">
                <a16:creationId xmlns:a16="http://schemas.microsoft.com/office/drawing/2014/main" id="{97915181-539A-3032-4111-2194309B2965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The MOSFET as an amplifier</a:t>
            </a:r>
          </a:p>
        </p:txBody>
      </p:sp>
      <p:sp>
        <p:nvSpPr>
          <p:cNvPr id="16" name="map s">
            <a:extLst>
              <a:ext uri="{FF2B5EF4-FFF2-40B4-BE49-F238E27FC236}">
                <a16:creationId xmlns:a16="http://schemas.microsoft.com/office/drawing/2014/main" id="{89B89752-A072-0A7A-9689-C149D48B01DF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A3335A18-AF7A-0DEF-0322-A225F7904FC3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5BD112D0-C5E6-0093-08DD-C1EAEBF8F6A1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The MOSFET as a switch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525031E2-0846-4832-0FE7-0306F5077041}"/>
              </a:ext>
            </a:extLst>
          </p:cNvPr>
          <p:cNvSpPr/>
          <p:nvPr/>
        </p:nvSpPr>
        <p:spPr>
          <a:xfrm>
            <a:off x="10922000" y="2159000"/>
            <a:ext cx="6451600" cy="5969000"/>
          </a:xfrm>
          <a:prstGeom prst="rect">
            <a:avLst/>
          </a:prstGeom>
          <a:solidFill>
            <a:srgbClr val="E4E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comes h">
            <a:extLst>
              <a:ext uri="{FF2B5EF4-FFF2-40B4-BE49-F238E27FC236}">
                <a16:creationId xmlns:a16="http://schemas.microsoft.com/office/drawing/2014/main" id="{6EF92858-1BC6-7F18-0C1B-5181C48A7931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BY THE END YOU CAN</a:t>
            </a:r>
          </a:p>
        </p:txBody>
      </p:sp>
      <p:sp>
        <p:nvSpPr>
          <p:cNvPr id="21" name="outcome">
            <a:extLst>
              <a:ext uri="{FF2B5EF4-FFF2-40B4-BE49-F238E27FC236}">
                <a16:creationId xmlns:a16="http://schemas.microsoft.com/office/drawing/2014/main" id="{DD8BDAE2-2B2D-AA66-9EDE-DD2A72B76408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70A34CC8-567D-2484-383B-B1CE1835B84E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5C30ACA6-482C-581C-402B-CABB06D3F62B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E4F19DAB-5A06-33EF-B2BD-9F94A35A77A9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123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9E4B6F3-8117-B9AB-08FD-547AABFF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0"/>
            <a:ext cx="1397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400">
                <a:solidFill>
                  <a:srgbClr val="1F2A37"/>
                </a:solidFill>
                <a:latin typeface="Bahnschrift SemiBold" panose="020B0502040204020203" pitchFamily="34" charset="0"/>
              </a:rPr>
              <a:t>I–V characteristics</a:t>
            </a:r>
          </a:p>
        </p:txBody>
      </p:sp>
      <p:sp>
        <p:nvSpPr>
          <p:cNvPr id="3" name="numeral">
            <a:extLst>
              <a:ext uri="{FF2B5EF4-FFF2-40B4-BE49-F238E27FC236}">
                <a16:creationId xmlns:a16="http://schemas.microsoft.com/office/drawing/2014/main" id="{42D682BD-103C-4D7F-6BDB-64B8EA793D77}"/>
              </a:ext>
            </a:extLst>
          </p:cNvPr>
          <p:cNvSpPr txBox="1"/>
          <p:nvPr/>
        </p:nvSpPr>
        <p:spPr>
          <a:xfrm>
            <a:off x="838200" y="2158999"/>
            <a:ext cx="7620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9000">
                <a:solidFill>
                  <a:srgbClr val="1F5F8B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" name="item">
            <a:extLst>
              <a:ext uri="{FF2B5EF4-FFF2-40B4-BE49-F238E27FC236}">
                <a16:creationId xmlns:a16="http://schemas.microsoft.com/office/drawing/2014/main" id="{DF4D603D-A6A7-2D5E-6E5C-F8162033B161}"/>
              </a:ext>
            </a:extLst>
          </p:cNvPr>
          <p:cNvSpPr txBox="1"/>
          <p:nvPr/>
        </p:nvSpPr>
        <p:spPr>
          <a:xfrm>
            <a:off x="914400" y="6857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7C880CC3-7309-1FEE-23A2-8B8E6BBB8E60}"/>
              </a:ext>
            </a:extLst>
          </p:cNvPr>
          <p:cNvSpPr txBox="1"/>
          <p:nvPr/>
        </p:nvSpPr>
        <p:spPr>
          <a:xfrm>
            <a:off x="914400" y="7365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B016C3A2-0CF4-C889-ADE5-F64F3B633DEF}"/>
              </a:ext>
            </a:extLst>
          </p:cNvPr>
          <p:cNvSpPr txBox="1"/>
          <p:nvPr/>
        </p:nvSpPr>
        <p:spPr>
          <a:xfrm>
            <a:off x="914400" y="787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  <p:cxnSp>
        <p:nvCxnSpPr>
          <p:cNvPr id="7" name="map rule">
            <a:extLst>
              <a:ext uri="{FF2B5EF4-FFF2-40B4-BE49-F238E27FC236}">
                <a16:creationId xmlns:a16="http://schemas.microsoft.com/office/drawing/2014/main" id="{AAFAABCB-9387-1486-9232-84F3F1740C87}"/>
              </a:ext>
            </a:extLst>
          </p:cNvPr>
          <p:cNvCxnSpPr/>
          <p:nvPr/>
        </p:nvCxnSpPr>
        <p:spPr>
          <a:xfrm>
            <a:off x="11836400" y="2540000"/>
            <a:ext cx="0" cy="314960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p">
            <a:extLst>
              <a:ext uri="{FF2B5EF4-FFF2-40B4-BE49-F238E27FC236}">
                <a16:creationId xmlns:a16="http://schemas.microsoft.com/office/drawing/2014/main" id="{38F391D9-3220-C832-512F-33A5EC64D5A0}"/>
              </a:ext>
            </a:extLst>
          </p:cNvPr>
          <p:cNvSpPr txBox="1"/>
          <p:nvPr/>
        </p:nvSpPr>
        <p:spPr>
          <a:xfrm>
            <a:off x="12192000" y="25399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1  Structure and operation</a:t>
            </a:r>
          </a:p>
        </p:txBody>
      </p:sp>
      <p:sp>
        <p:nvSpPr>
          <p:cNvPr id="9" name="map">
            <a:extLst>
              <a:ext uri="{FF2B5EF4-FFF2-40B4-BE49-F238E27FC236}">
                <a16:creationId xmlns:a16="http://schemas.microsoft.com/office/drawing/2014/main" id="{C5FA08A8-9BBF-9230-07B8-94D66FFF7501}"/>
              </a:ext>
            </a:extLst>
          </p:cNvPr>
          <p:cNvSpPr txBox="1"/>
          <p:nvPr/>
        </p:nvSpPr>
        <p:spPr>
          <a:xfrm>
            <a:off x="12192000" y="32003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Bahnschrift SemiBold" panose="020B0502040204020203" pitchFamily="34" charset="0"/>
              </a:rPr>
              <a:t>2  I–V characteristics</a:t>
            </a:r>
          </a:p>
        </p:txBody>
      </p:sp>
      <p:sp>
        <p:nvSpPr>
          <p:cNvPr id="10" name="map">
            <a:extLst>
              <a:ext uri="{FF2B5EF4-FFF2-40B4-BE49-F238E27FC236}">
                <a16:creationId xmlns:a16="http://schemas.microsoft.com/office/drawing/2014/main" id="{531B6E5E-7269-9845-9336-3391D8556BF3}"/>
              </a:ext>
            </a:extLst>
          </p:cNvPr>
          <p:cNvSpPr txBox="1"/>
          <p:nvPr/>
        </p:nvSpPr>
        <p:spPr>
          <a:xfrm>
            <a:off x="12192000" y="38607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3  MOSFETs in DC circuits</a:t>
            </a:r>
          </a:p>
        </p:txBody>
      </p:sp>
      <p:sp>
        <p:nvSpPr>
          <p:cNvPr id="11" name="map">
            <a:extLst>
              <a:ext uri="{FF2B5EF4-FFF2-40B4-BE49-F238E27FC236}">
                <a16:creationId xmlns:a16="http://schemas.microsoft.com/office/drawing/2014/main" id="{06088CDB-A64B-027F-3FBE-17AB663B9363}"/>
              </a:ext>
            </a:extLst>
          </p:cNvPr>
          <p:cNvSpPr txBox="1"/>
          <p:nvPr/>
        </p:nvSpPr>
        <p:spPr>
          <a:xfrm>
            <a:off x="12192000" y="45211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4  The MOSFET as an amplifier</a:t>
            </a:r>
          </a:p>
        </p:txBody>
      </p:sp>
      <p:sp>
        <p:nvSpPr>
          <p:cNvPr id="12" name="map">
            <a:extLst>
              <a:ext uri="{FF2B5EF4-FFF2-40B4-BE49-F238E27FC236}">
                <a16:creationId xmlns:a16="http://schemas.microsoft.com/office/drawing/2014/main" id="{75398482-3F61-5EFB-8486-1E3A0DA12679}"/>
              </a:ext>
            </a:extLst>
          </p:cNvPr>
          <p:cNvSpPr txBox="1"/>
          <p:nvPr/>
        </p:nvSpPr>
        <p:spPr>
          <a:xfrm>
            <a:off x="12192000" y="51815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5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44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181905-FDE0-E8ED-CF1F-46348590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523421-78BC-191D-A5FA-8EB3479F8BFD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D13B77E-4705-61D7-1C5A-0A5E35E2FF9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B5BC2BA-DF83-A23E-5AD2-9D07B6D9A8C2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7FA74BF-3738-627A-7A66-F1D15980F4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93D044B8-4E3C-5C66-89F5-B9497507D0B7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10A319EC-1112-BC70-7D68-9380194A80BF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3A07C4A8-28DA-9321-D515-843086E11FE6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rogress">
            <a:extLst>
              <a:ext uri="{FF2B5EF4-FFF2-40B4-BE49-F238E27FC236}">
                <a16:creationId xmlns:a16="http://schemas.microsoft.com/office/drawing/2014/main" id="{7A4D102E-DA64-984B-E923-8E0FA8BA28E8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F9475843-C59D-C4EC-20B6-775A141A593C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7C56FE94-54E6-577D-7F7C-D6D7A78F38B8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7C17539B-C4A6-5324-87C0-879EB45C0C71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 label">
            <a:extLst>
              <a:ext uri="{FF2B5EF4-FFF2-40B4-BE49-F238E27FC236}">
                <a16:creationId xmlns:a16="http://schemas.microsoft.com/office/drawing/2014/main" id="{8F4134D4-11BE-F141-D679-04CDFA5AE19A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1/3</a:t>
            </a:r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54D851CA-6545-1C3E-6AA9-C777F8A62326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066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181905-FDE0-E8ED-CF1F-46348590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523421-78BC-191D-A5FA-8EB3479F8BFD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D13B77E-4705-61D7-1C5A-0A5E35E2FF9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B5BC2BA-DF83-A23E-5AD2-9D07B6D9A8C2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7FA74BF-3738-627A-7A66-F1D15980F4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93D044B8-4E3C-5C66-89F5-B9497507D0B7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10A319EC-1112-BC70-7D68-9380194A80BF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B25FB8A8-14AF-15DE-0BDB-52AE04142F3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B7AE6352-9CBB-88CB-2C4D-89E4C578CE76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rogress">
            <a:extLst>
              <a:ext uri="{FF2B5EF4-FFF2-40B4-BE49-F238E27FC236}">
                <a16:creationId xmlns:a16="http://schemas.microsoft.com/office/drawing/2014/main" id="{9B269940-031E-DF0A-AE8F-91CD0B905861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F67BAB43-7104-A170-E989-C7452236A395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46B72BF1-AA67-C88B-6722-982C6562C35C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73467D8C-7F0F-6126-758A-42AAD7F84867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 label">
            <a:extLst>
              <a:ext uri="{FF2B5EF4-FFF2-40B4-BE49-F238E27FC236}">
                <a16:creationId xmlns:a16="http://schemas.microsoft.com/office/drawing/2014/main" id="{F08FB0F5-B976-0317-6DAF-D69AB96AA384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2/3</a:t>
            </a:r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D8A187EF-430D-989F-2517-19E53A38D449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7932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181905-FDE0-E8ED-CF1F-46348590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523421-78BC-191D-A5FA-8EB3479F8BFD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D13B77E-4705-61D7-1C5A-0A5E35E2FF9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B5BC2BA-DF83-A23E-5AD2-9D07B6D9A8C2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7FA74BF-3738-627A-7A66-F1D15980F4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93D044B8-4E3C-5C66-89F5-B9497507D0B7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10A319EC-1112-BC70-7D68-9380194A80BF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B25FB8A8-14AF-15DE-0BDB-52AE04142F3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11" name="def @3">
            <a:extLst>
              <a:ext uri="{FF2B5EF4-FFF2-40B4-BE49-F238E27FC236}">
                <a16:creationId xmlns:a16="http://schemas.microsoft.com/office/drawing/2014/main" id="{CD179A47-84A2-4377-FCE7-0311839F60E1}"/>
              </a:ext>
            </a:extLst>
          </p:cNvPr>
          <p:cNvSpPr/>
          <p:nvPr/>
        </p:nvSpPr>
        <p:spPr>
          <a:xfrm>
            <a:off x="914400" y="6223000"/>
            <a:ext cx="7366000" cy="1905000"/>
          </a:xfrm>
          <a:prstGeom prst="rect">
            <a:avLst/>
          </a:prstGeom>
          <a:solidFill>
            <a:srgbClr val="E4E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9CB5C77E-83FD-2A5D-417A-8D3FFF511D25}"/>
              </a:ext>
            </a:extLst>
          </p:cNvPr>
          <p:cNvSpPr txBox="1"/>
          <p:nvPr/>
        </p:nvSpPr>
        <p:spPr>
          <a:xfrm>
            <a:off x="1244600" y="6476999"/>
            <a:ext cx="673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0F650EB3-A1D3-37BB-B2BA-765773ED1B6F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rogress">
            <a:extLst>
              <a:ext uri="{FF2B5EF4-FFF2-40B4-BE49-F238E27FC236}">
                <a16:creationId xmlns:a16="http://schemas.microsoft.com/office/drawing/2014/main" id="{2E1BDFF4-3070-06CD-D5A4-23885B83AFE4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D24061A9-8AF6-359C-A69F-E4B9C323ED12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BB9F51FE-18D8-8970-7DAF-779474EB2270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CB22F754-AF79-7CD9-44A5-ACF235F9CD00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A84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 label">
            <a:extLst>
              <a:ext uri="{FF2B5EF4-FFF2-40B4-BE49-F238E27FC236}">
                <a16:creationId xmlns:a16="http://schemas.microsoft.com/office/drawing/2014/main" id="{70CCA8A3-B1EC-E2D2-C09B-F8E7AEBFA664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3/3</a:t>
            </a:r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720D6ECB-0E30-3599-CCB6-EC89DB27E051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1909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1E36E9-BDC3-96E6-ECC2-842E9ED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93AC9E-AD11-46B5-BB6F-02D3165002F0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4E7D2E4-DF7A-F1CC-3DA7-710AC819BA1E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683B593B-EBF6-D913-81BB-8EDB359AA8FD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ABC8E8F-13BE-A1A7-BCC3-5AE005BC3F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140AA16D-D970-8C2B-E09C-FC1FEDDB491C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4BCC2648-8EBD-8AA0-7BAD-875C691A943A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827BF8A1-1957-88F8-0AB9-E17DCBE9BF2A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A20B5C76-E386-3F56-F9A6-49328FFE6026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0D19DC42-D07D-3687-05D9-D139C2C5439D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0B00E249-7C22-7353-A019-5D298BF6A823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488C16F5-E018-0E63-8894-90BE88F15B9A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C632A1B0-4FB0-69CC-CCD0-084028888964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9905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1E36E9-BDC3-96E6-ECC2-842E9ED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93AC9E-AD11-46B5-BB6F-02D3165002F0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4E7D2E4-DF7A-F1CC-3DA7-710AC819BA1E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683B593B-EBF6-D913-81BB-8EDB359AA8FD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ABC8E8F-13BE-A1A7-BCC3-5AE005BC3F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140AA16D-D970-8C2B-E09C-FC1FEDDB491C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C0A325CC-109D-FDF5-E792-7D680C9A4C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32A8EEB4-D244-6B3B-C2A6-A885C6C2D911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rome progress">
            <a:extLst>
              <a:ext uri="{FF2B5EF4-FFF2-40B4-BE49-F238E27FC236}">
                <a16:creationId xmlns:a16="http://schemas.microsoft.com/office/drawing/2014/main" id="{2DB15DF6-16D2-F613-F47D-64718FCDD396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613AC6CC-7CFB-FFAE-F82D-21031B7B3D2A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FC8763D2-D17F-B537-4E56-6CED6401C324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E36C3C1A-AEC1-2D69-B43D-AEB8AB6AD6E3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D32A89C7-7938-2244-3F82-21881B66BFF6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DFC32E57-A547-3A33-E9C3-437A0E1E80CD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2/4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F758853F-B1D5-87B9-F963-21336C225946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2401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1E36E9-BDC3-96E6-ECC2-842E9ED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93AC9E-AD11-46B5-BB6F-02D3165002F0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4E7D2E4-DF7A-F1CC-3DA7-710AC819BA1E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683B593B-EBF6-D913-81BB-8EDB359AA8FD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ABC8E8F-13BE-A1A7-BCC3-5AE005BC3F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140AA16D-D970-8C2B-E09C-FC1FEDDB491C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C0A325CC-109D-FDF5-E792-7D680C9A4C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32A8EEB4-D244-6B3B-C2A6-A885C6C2D911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479402B9-8047-3C42-7187-9CD40402DBED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638DCC94-2B85-4946-85CC-7BF48BA1E71C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rome progress">
            <a:extLst>
              <a:ext uri="{FF2B5EF4-FFF2-40B4-BE49-F238E27FC236}">
                <a16:creationId xmlns:a16="http://schemas.microsoft.com/office/drawing/2014/main" id="{32D567B6-DE7A-349A-0B38-C34CCFBFEE49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B4EE6AFC-8A78-8813-0848-63360C32E4F5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0DFFFA01-9061-D93B-F4BD-8AC314E06ACC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5A78E893-8D5A-EEAA-AE41-41F8DECB1FD0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AD8765E8-0E83-2CF6-88C6-699467AD63F4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9A86C147-B105-4F14-6D68-F04F864748A1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3/4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D2670D75-F324-8817-41BA-6E52FBB21792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5668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1E36E9-BDC3-96E6-ECC2-842E9ED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93AC9E-AD11-46B5-BB6F-02D3165002F0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4E7D2E4-DF7A-F1CC-3DA7-710AC819BA1E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683B593B-EBF6-D913-81BB-8EDB359AA8FD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ABC8E8F-13BE-A1A7-BCC3-5AE005BC3F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140AA16D-D970-8C2B-E09C-FC1FEDDB491C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C0A325CC-109D-FDF5-E792-7D680C9A4C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32A8EEB4-D244-6B3B-C2A6-A885C6C2D911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479402B9-8047-3C42-7187-9CD40402DBED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638DCC94-2B85-4946-85CC-7BF48BA1E71C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te @4">
            <a:extLst>
              <a:ext uri="{FF2B5EF4-FFF2-40B4-BE49-F238E27FC236}">
                <a16:creationId xmlns:a16="http://schemas.microsoft.com/office/drawing/2014/main" id="{C171134A-0ED2-7BA3-AE0E-7F213C7FE1DB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0 (cutoff).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69927304-871D-84AA-9B2A-F9CC3648C1D7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460B3B5A-8991-C877-D4E1-1964B2A986F8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A0ABC346-92B0-31F9-AE6D-DC11E07E5B39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84EE4D7E-587A-73B4-27B0-B80E70D1719C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411B25B6-DFD4-D0CC-5E04-70AE36D4F42E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A84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3010ECE8-6F5D-DCE9-7938-BD9E698ADD59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4/4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17A2E461-CA11-4355-A626-8ACB8B3406B6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2717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58" name="chrome progress">
            <a:extLst>
              <a:ext uri="{FF2B5EF4-FFF2-40B4-BE49-F238E27FC236}">
                <a16:creationId xmlns:a16="http://schemas.microsoft.com/office/drawing/2014/main" id="{E880E427-075D-568F-2683-B62176DDA1FE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9E46093E-EE05-2510-EB23-37CC10AF12E9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208249E0-5867-137F-C926-4AAFA5DCA183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AD7C66FD-625A-9F67-41B7-FC3BB740377D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19829702-E50F-5ADD-D664-D0DF5D63138B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86F1341E-A205-7222-3F6C-35A25BDFB352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FA5A367F-A2DA-7538-F27B-640B46774BEC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3252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F2A37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rogress">
            <a:extLst>
              <a:ext uri="{FF2B5EF4-FFF2-40B4-BE49-F238E27FC236}">
                <a16:creationId xmlns:a16="http://schemas.microsoft.com/office/drawing/2014/main" id="{B2427ECD-874E-B02A-45AC-1246F6496762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7FE8DDBB-ADF4-C591-F49E-DFBFF47204C9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9872A775-0582-72A9-1285-E5C224BF5AC7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AD2D6012-2653-84E8-B834-D0A7EB8768BD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E5428E21-25DE-1B9A-7069-6D5438779E13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3151BFE2-42C7-CF86-47C0-EE48D5667921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2/6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9122F926-007A-6DB5-A75A-358777B6508C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5730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F2A37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EC0B4E94-02B4-C518-96E3-E91943CCD251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BC018351-60BC-8B50-2740-3558F2749041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0E6351B0-9C40-46C3-4829-0ABB3A418C5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F5B66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F5B66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rogress">
            <a:extLst>
              <a:ext uri="{FF2B5EF4-FFF2-40B4-BE49-F238E27FC236}">
                <a16:creationId xmlns:a16="http://schemas.microsoft.com/office/drawing/2014/main" id="{01EC940E-3967-9764-D41D-AF232E5FC980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245C9D3D-D055-5EC2-BC0D-967DF7B3748A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5983B938-D3B9-4978-488D-02F49DC7A937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7DB86261-26E5-3592-1965-1DD41BFD8AF9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2362148E-6197-BC6F-83B8-C5307B450BCB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8BE4347D-05A6-09E5-B186-AFC01031AC2A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3/6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A730C7CB-CCF1-0E74-2364-1224AC6A5C57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44838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F2A37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EC0B4E94-02B4-C518-96E3-E91943CCD251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BC018351-60BC-8B50-2740-3558F2749041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0E6351B0-9C40-46C3-4829-0ABB3A418C5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F5B66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F5B66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F919970C-3831-7E79-2D54-A9A756BE1291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2B3EF2D1-284B-5207-62F1-6C5F275985BB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D42EF61-0722-2199-77BA-D2673D2BFA3F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rogress">
            <a:extLst>
              <a:ext uri="{FF2B5EF4-FFF2-40B4-BE49-F238E27FC236}">
                <a16:creationId xmlns:a16="http://schemas.microsoft.com/office/drawing/2014/main" id="{374B70E6-0ADD-4B2E-5AC7-58A6B07FD2BD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09EB22E3-EFBA-D5E5-7C4A-152A55E90C44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B7953F0B-276A-2D7D-A86D-BDDDB390738D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B07449C6-D1AD-566D-3A5E-FD2F95D1C77E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BDF27B2C-EBD3-E6DE-5626-B77AA78493BB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DDD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E724A109-679D-9377-E29A-07D4145B6A68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4/6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597DB7F8-50AD-8447-3D6C-AF2DDD5728B4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7124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F2A37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EC0B4E94-02B4-C518-96E3-E91943CCD251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BC018351-60BC-8B50-2740-3558F2749041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0E6351B0-9C40-46C3-4829-0ABB3A418C5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F5B66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F5B66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F919970C-3831-7E79-2D54-A9A756BE1291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2B3EF2D1-284B-5207-62F1-6C5F275985BB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D42EF61-0722-2199-77BA-D2673D2BFA3F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CCCA5242-7132-E2C2-1993-1273300DB72C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22C7DCA2-20E8-D813-0B80-6D65C62CD96F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C233CD3B-B3FB-E249-CDDD-7DD5A8E21AA6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8" name="chrome progress">
            <a:extLst>
              <a:ext uri="{FF2B5EF4-FFF2-40B4-BE49-F238E27FC236}">
                <a16:creationId xmlns:a16="http://schemas.microsoft.com/office/drawing/2014/main" id="{F5993204-20DF-66E9-0F7B-6F25D524B8F5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80D62976-0EF7-7C4C-9C37-537490A5A539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EFD953A7-521E-8154-4A11-240A17D00390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AA790DA2-BC20-C201-7EA2-2B01841DAE35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386EBA56-93E3-50BD-562D-2BB6FC3B4E5D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A84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83A06A96-9108-A375-C4C1-FF2AE99B31E1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5/6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0D70A386-0C4A-A9F4-226C-B70BED2C3DD9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53653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5" name="node @6">
            <a:extLst>
              <a:ext uri="{FF2B5EF4-FFF2-40B4-BE49-F238E27FC236}">
                <a16:creationId xmlns:a16="http://schemas.microsoft.com/office/drawing/2014/main" id="{54EB582B-2DAB-6E30-41A6-9156E5296039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92036307-4A2F-4D2E-1CEC-4415143F1F97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A8481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A8481A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A8481A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F2A37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EC0B4E94-02B4-C518-96E3-E91943CCD251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BC018351-60BC-8B50-2740-3558F2749041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0E6351B0-9C40-46C3-4829-0ABB3A418C5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F5B66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F5B66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F919970C-3831-7E79-2D54-A9A756BE1291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2B3EF2D1-284B-5207-62F1-6C5F275985BB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D42EF61-0722-2199-77BA-D2673D2BFA3F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CCCA5242-7132-E2C2-1993-1273300DB72C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22C7DCA2-20E8-D813-0B80-6D65C62CD96F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C233CD3B-B3FB-E249-CDDD-7DD5A8E21AA6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27FB47A8-DBDB-B16E-F606-B212C2F924E8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015E2C7A-294A-757C-D8D4-01473F9CE28F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F0531A9-B091-0EB2-F6B4-5BF8C5D319D7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F0531A9-B091-0EB2-F6B4-5BF8C5D31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answer @6 bg">
            <a:extLst>
              <a:ext uri="{FF2B5EF4-FFF2-40B4-BE49-F238E27FC236}">
                <a16:creationId xmlns:a16="http://schemas.microsoft.com/office/drawing/2014/main" id="{514DFCDE-000B-D08E-27F4-626503D2E418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6E6DA"/>
          </a:solidFill>
          <a:ln w="19050">
            <a:solidFill>
              <a:srgbClr val="A848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334805CC-C2C9-35C8-3165-7AF13BC9F678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A8481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A8481A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A8481A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5D6C9DD6-9DDB-04FD-6E7A-9BE30E11E3F7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  <p:sp>
        <p:nvSpPr>
          <p:cNvPr id="58" name="chrome progress">
            <a:extLst>
              <a:ext uri="{FF2B5EF4-FFF2-40B4-BE49-F238E27FC236}">
                <a16:creationId xmlns:a16="http://schemas.microsoft.com/office/drawing/2014/main" id="{15B6706E-6DC7-1F43-B902-86F6A8BC7DD9}"/>
              </a:ext>
            </a:extLst>
          </p:cNvPr>
          <p:cNvSpPr/>
          <p:nvPr/>
        </p:nvSpPr>
        <p:spPr>
          <a:xfrm>
            <a:off x="14605000" y="9804400"/>
            <a:ext cx="114300" cy="1143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CA2EC9CB-BAE5-83D6-8A55-400DFDE2478E}"/>
              </a:ext>
            </a:extLst>
          </p:cNvPr>
          <p:cNvSpPr/>
          <p:nvPr/>
        </p:nvSpPr>
        <p:spPr>
          <a:xfrm>
            <a:off x="14782800" y="9804400"/>
            <a:ext cx="114300" cy="114300"/>
          </a:xfrm>
          <a:prstGeom prst="ellipse">
            <a:avLst/>
          </a:prstGeom>
          <a:solidFill>
            <a:srgbClr val="4159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0A965FAD-DFC6-CE73-065A-DBE212538396}"/>
              </a:ext>
            </a:extLst>
          </p:cNvPr>
          <p:cNvSpPr/>
          <p:nvPr/>
        </p:nvSpPr>
        <p:spPr>
          <a:xfrm>
            <a:off x="14960600" y="9804400"/>
            <a:ext cx="114300" cy="114300"/>
          </a:xfrm>
          <a:prstGeom prst="ellipse">
            <a:avLst/>
          </a:prstGeom>
          <a:solidFill>
            <a:srgbClr val="6454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D57485D9-79C1-AF79-47AC-938EAEEAC7AE}"/>
              </a:ext>
            </a:extLst>
          </p:cNvPr>
          <p:cNvSpPr/>
          <p:nvPr/>
        </p:nvSpPr>
        <p:spPr>
          <a:xfrm>
            <a:off x="15138400" y="9804400"/>
            <a:ext cx="114300" cy="114300"/>
          </a:xfrm>
          <a:prstGeom prst="ellipse">
            <a:avLst/>
          </a:prstGeom>
          <a:solidFill>
            <a:srgbClr val="864E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CA061827-07AC-20D2-A739-E6A091C34150}"/>
              </a:ext>
            </a:extLst>
          </p:cNvPr>
          <p:cNvSpPr/>
          <p:nvPr/>
        </p:nvSpPr>
        <p:spPr>
          <a:xfrm>
            <a:off x="15316200" y="9804400"/>
            <a:ext cx="114300" cy="114300"/>
          </a:xfrm>
          <a:prstGeom prst="ellipse">
            <a:avLst/>
          </a:prstGeom>
          <a:solidFill>
            <a:srgbClr val="A84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0639668E-1663-FE06-18AB-F42EB36772A1}"/>
              </a:ext>
            </a:extLst>
          </p:cNvPr>
          <p:cNvSpPr txBox="1"/>
          <p:nvPr/>
        </p:nvSpPr>
        <p:spPr>
          <a:xfrm>
            <a:off x="15570200" y="97536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6/6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E303C42D-2EBF-B5D9-81AD-F05C9DCD59DB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14962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8F083CB-AB0B-E9A4-22EC-CE41D14D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36595BC-19B9-B9D3-C532-DAC7699B7629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6825986-5A2A-FC6D-8E9E-C7E7028EBA7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th">
            <a:extLst>
              <a:ext uri="{FF2B5EF4-FFF2-40B4-BE49-F238E27FC236}">
                <a16:creationId xmlns:a16="http://schemas.microsoft.com/office/drawing/2014/main" id="{6BA06A86-05D5-1BAC-ED1A-3830EF42D126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REGION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8C4B74BA-B25A-0847-ABCC-F59A05D2CE2D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CONDITION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FF72A332-012E-60BD-EA11-46320E514157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DRAIN CURRENT</a:t>
            </a:r>
          </a:p>
        </p:txBody>
      </p:sp>
      <p:cxnSp>
        <p:nvCxnSpPr>
          <p:cNvPr id="8" name="rule">
            <a:extLst>
              <a:ext uri="{FF2B5EF4-FFF2-40B4-BE49-F238E27FC236}">
                <a16:creationId xmlns:a16="http://schemas.microsoft.com/office/drawing/2014/main" id="{9722677B-BD6F-7B97-ED12-BB5F0D33AF0B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">
            <a:extLst>
              <a:ext uri="{FF2B5EF4-FFF2-40B4-BE49-F238E27FC236}">
                <a16:creationId xmlns:a16="http://schemas.microsoft.com/office/drawing/2014/main" id="{4FD33C07-21C9-9687-8CBF-E2855D80A33F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Cutoff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5691F254-374D-2D33-FFD2-A5B2FFD34076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CF6E2198-E481-37A2-A5D3-D3DF078675FC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CF6E2198-E481-37A2-A5D3-D3DF078675FC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2" name="rule">
            <a:extLst>
              <a:ext uri="{FF2B5EF4-FFF2-40B4-BE49-F238E27FC236}">
                <a16:creationId xmlns:a16="http://schemas.microsoft.com/office/drawing/2014/main" id="{7B8AF185-FC23-5AB7-F06C-28C713079A40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and">
            <a:extLst>
              <a:ext uri="{FF2B5EF4-FFF2-40B4-BE49-F238E27FC236}">
                <a16:creationId xmlns:a16="http://schemas.microsoft.com/office/drawing/2014/main" id="{84E4AB61-726B-CCD2-12EB-10F9D1A18150}"/>
              </a:ext>
            </a:extLst>
          </p:cNvPr>
          <p:cNvSpPr/>
          <p:nvPr/>
        </p:nvSpPr>
        <p:spPr>
          <a:xfrm>
            <a:off x="762000" y="4038600"/>
            <a:ext cx="16764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d">
            <a:extLst>
              <a:ext uri="{FF2B5EF4-FFF2-40B4-BE49-F238E27FC236}">
                <a16:creationId xmlns:a16="http://schemas.microsoft.com/office/drawing/2014/main" id="{AE278BCC-623D-269B-75EC-9BF576D569F6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33B08006-03FB-E3B5-6B11-C60739FAE856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ED1400C3-1758-7E4F-1431-D36D900EB34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ED1400C3-1758-7E4F-1431-D36D900EB34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1AECB44A-F8A1-2287-7393-53F9710F59E6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295244F1-DB49-A167-3629-C77253FA8F1B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34A8F61F-3EE1-745B-5C0E-B4F31A4C1837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F1908C69-AD1F-9ABD-23EE-F2373D29356F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F1908C69-AD1F-9ABD-23EE-F2373D29356F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AF0976B2-F3A9-1EDD-2222-77269B31B453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8B46D7F6-E734-C136-5C05-8407E5FBA62F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290E09AA-41D2-A30D-9FE1-F132167BA801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A2FA341B-D8EA-4B03-FE6C-AAEE78145BD9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45879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Office PowerPoint</Application>
  <PresentationFormat>Custom</PresentationFormat>
  <Paragraphs>234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Bahnschrift SemiBold</vt:lpstr>
      <vt:lpstr>Cambria Math</vt:lpstr>
      <vt:lpstr>Segoe UI</vt:lpstr>
      <vt:lpstr>Office Theme</vt:lpstr>
      <vt:lpstr>MOSFETs</vt:lpstr>
      <vt:lpstr>Lecture map</vt:lpstr>
      <vt:lpstr>I–V characteristics</vt:lpstr>
      <vt:lpstr>Creating a channel: the threshold voltage</vt:lpstr>
      <vt:lpstr>Creating a channel: the threshold voltage</vt:lpstr>
      <vt:lpstr>Creating a channel: the threshold voltage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2026-10-01T00:08:19Z</dcterms:created>
  <dcterms:modified xsi:type="dcterms:W3CDTF">2026-10-01T00:08:30Z</dcterms:modified>
</cp:coreProperties>
</file>