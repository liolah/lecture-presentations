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100-F01D-DD2B-0852-43F09B7D5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80427-85A6-009A-1DBD-7A5E404A2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1465A-9477-9B07-F727-68EF7698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A8FE-3A1B-B25F-BD0E-A27EA5EF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A7DD-5F4C-8667-CB7E-AF21B54A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6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33EA-E7BD-8EA5-A03F-F96C87DE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9F47-D340-36DB-31E4-02E12C410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7BE1-4310-DC9B-9A1D-67A3E6B1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B57A-ED8F-16A9-50CF-6A6ECC70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0B05-78CD-0636-20F1-BB32C219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0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0C3-AE6C-F800-534F-B5EB5D6B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44B59-EC02-DD2F-1507-5DF80A9E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DA1B8-FD6A-7CA6-4E7E-ACFB83CE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FCD2-9460-8156-527C-4BD2E2AB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EB6FA-C80F-A55A-C722-DDC68F72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9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42ED-5755-626E-74C4-B13EFCBC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E2AB-3183-D169-AE34-FBA523877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BAF80-320F-E33D-BB67-B51B55F0B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0CCCE-D7CD-F00E-3899-F79210CB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3917D-923A-6D26-1B77-56421399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66357-91A0-B27B-C5AE-5152B764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1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EBA0-9F92-F93B-5EF1-986BF464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FFF64-1C98-782A-0522-37B6D8241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AB0E1-0D5D-6C4B-0843-7B17BD228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47C1B-E95E-0959-2582-39FB96612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D7A43-CDA1-A484-17F8-2D20D94E0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1FDF5-C7BD-A0FF-B64C-46DA2D0D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143C8-66E8-EE3F-CEE8-A467317C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4DA9D-B07F-4E43-CA4D-FCEF5472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0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4B5C-3157-34F6-4308-839120ED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7A90F-7580-83DA-2943-6A43E4EE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48598-BC06-080A-234D-D2EE3061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C0978-2118-8F3C-1252-A9DB819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4B03D-45FA-04C7-40E9-7E4FE48E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02D8D-2C16-918F-50B1-CD19990A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564F6-9A4C-CDCB-E748-A9577C83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0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17E4-5C22-B1A7-8843-10BC1C3E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50B9-5C11-753C-3102-15DD0E64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ECC88-5A93-A37F-EC70-5390FBE25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E8DC9-507A-279A-3909-52C70336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36532-7874-C2BF-7F94-258AB86D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C19A6-0978-A02E-297D-7703890A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CC74-4A5C-DE23-5703-CD0D98EE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A4000-2E65-F9E3-ED9E-DB18E80E88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D7F84-B366-9F7D-D435-D8E6EE866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7C30E-E048-D0D2-6C7F-234BD5B8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F13DD-7904-05B1-944E-0E668355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2C7C1-6BA8-9BB9-3192-5CAE9B0F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1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5EB7-C48C-A259-F6B7-81AE1948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04654-4C51-BE43-A69D-920A1AFD0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A663C-50DD-3712-A8E1-1FB707EA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1D18-3116-24B5-E89A-585BEE60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34F4-3E99-67D7-5393-153B68ED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D0B32-4950-4307-4340-FA4B0505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BA83B-2421-1F38-7C18-075E4FEA2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17612-1905-AA2F-D77F-B276D2C0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8CC08-AEE4-5BD8-03ED-E14DBDAB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1E251-A530-1A59-0E95-6B54ADFE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F8FFA-2C34-A867-3B70-09245817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E3200-8CE8-F30B-0F0F-B9AFBC55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FD70-750E-075B-6F3B-8A460073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3545-8EAA-4B3E-A261-9BD5112C889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0102-C6F1-3EF4-6344-1A73724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A24B-4B33-9C40-88C1-CD42C1FCB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E84A2-D441-448C-803A-4A1B52527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4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7ED95-77F1-C491-FA33-8FFDB9FE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400">
                <a:solidFill>
                  <a:srgbClr val="15181D"/>
                </a:solidFill>
                <a:latin typeface="Segoe UI Semibold" panose="020B07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DF084B65-9362-23CB-C449-F5482FF67CD3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C2410C"/>
                </a:solidFill>
                <a:latin typeface="Consolas" panose="020B0609020204030204" pitchFamily="49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318D2B1-7854-54CA-5C94-B19B421DCFDD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B5260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E044C806-D7DD-89EC-3E8D-8AED88596AB9}"/>
              </a:ext>
            </a:extLst>
          </p:cNvPr>
          <p:cNvSpPr/>
          <p:nvPr/>
        </p:nvSpPr>
        <p:spPr>
          <a:xfrm>
            <a:off x="914400" y="5715000"/>
            <a:ext cx="1143000" cy="50800"/>
          </a:xfrm>
          <a:prstGeom prst="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cture">
            <a:extLst>
              <a:ext uri="{FF2B5EF4-FFF2-40B4-BE49-F238E27FC236}">
                <a16:creationId xmlns:a16="http://schemas.microsoft.com/office/drawing/2014/main" id="{5C8C035F-6E30-0A88-9CD5-1CD51CF0A104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5181D"/>
                </a:solidFill>
                <a:latin typeface="Segoe UI Semibold" panose="020B07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092A757C-2C1F-92C9-E9F4-0D179A305D8D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181D"/>
                </a:solidFill>
                <a:latin typeface="Segoe UI Semibold" panose="020B07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EDC8EFAD-CB4D-C455-C853-000AE2ACB359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B5260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C706A0DC-9E2D-00ED-AD07-50AA7DD24D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175000"/>
            <a:ext cx="7874000" cy="2993218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465B6D4A-1532-293B-7D14-B9F19C00F9F6}"/>
              </a:ext>
            </a:extLst>
          </p:cNvPr>
          <p:cNvSpPr txBox="1"/>
          <p:nvPr/>
        </p:nvSpPr>
        <p:spPr>
          <a:xfrm>
            <a:off x="9652000" y="6244418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29715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DDFB4ED-C897-287A-5C46-B4ED0C97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2A51236-56C0-34E2-FEE8-F4BE99703424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MOSFETS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BD87A4FD-2974-78B3-9B16-414E6925FCD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1A30E591-B24A-BD66-682A-91996F19B05F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A8BEA916-F98A-CCC9-C30D-FBCE6C4BE2A8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ED289F9D-A3BA-59A4-5662-A82B261805C2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2AA45CD9-1630-A849-E59B-0D1AA5AC4E0A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1DBB0F3-01A7-82C8-142F-166519E44F3C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943A375C-77AC-AA2D-8DA7-3C2B35DD9893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8436DF6C-3DA8-9E20-BEB6-92C931E62272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340786A2-D8A9-8150-0B24-9D8DCC241690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35BF7F09-7902-1E51-4F21-9214DF9D5F5C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EC17FF89-B5AA-BAF4-D1E9-1FCD31204EC8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86F0C849-4929-E23F-D24C-713BFD49AF2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4DAF1A7-B443-FE4D-15EE-575FD8EAD8A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5EB88075-AB20-338D-78CC-2F3A14174EE2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B5260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8E60A612-BAFC-C798-19F1-D1BEAA02DBB5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C2410C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C403D4F5-F1AA-E758-2471-E98A65DFFDC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181D"/>
                </a:solidFill>
                <a:latin typeface="Segoe UI" panose="020B0502040204020203" pitchFamily="34" charset="0"/>
              </a:rPr>
              <a:t>The MOSFET as a switch</a:t>
            </a:r>
          </a:p>
        </p:txBody>
      </p:sp>
      <p:cxnSp>
        <p:nvCxnSpPr>
          <p:cNvPr id="20" name="panel">
            <a:extLst>
              <a:ext uri="{FF2B5EF4-FFF2-40B4-BE49-F238E27FC236}">
                <a16:creationId xmlns:a16="http://schemas.microsoft.com/office/drawing/2014/main" id="{AE3FAD2F-7E2B-8DCE-A440-131EFBF658A6}"/>
              </a:ext>
            </a:extLst>
          </p:cNvPr>
          <p:cNvCxnSpPr/>
          <p:nvPr/>
        </p:nvCxnSpPr>
        <p:spPr>
          <a:xfrm>
            <a:off x="10922000" y="2159000"/>
            <a:ext cx="0" cy="59690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utcomes h">
            <a:extLst>
              <a:ext uri="{FF2B5EF4-FFF2-40B4-BE49-F238E27FC236}">
                <a16:creationId xmlns:a16="http://schemas.microsoft.com/office/drawing/2014/main" id="{9DAB39EC-236E-32EF-252A-CCAFFDBAFCF2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BY THE END YOU CAN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48D5E10D-A61D-B785-3ADA-96D3711C19C2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95F67C6A-DBBA-684D-7278-4DF63159E127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1FF908BE-2195-B3F6-327C-61D71F56B111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—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C97264A3-5D15-2E0E-A910-5A6FB245CA9D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665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CCE71-0057-27F9-EFEF-2CA485B6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5181D"/>
                </a:solidFill>
                <a:latin typeface="Segoe UI Semibold" panose="020B07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2CD5B6E0-0612-765A-9513-280A86D5DD3F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C2410C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E05E1B6A-4801-6D5D-63C1-8D920FFD2A38}"/>
              </a:ext>
            </a:extLst>
          </p:cNvPr>
          <p:cNvCxnSpPr/>
          <p:nvPr/>
        </p:nvCxnSpPr>
        <p:spPr>
          <a:xfrm>
            <a:off x="914400" y="67310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tem">
            <a:extLst>
              <a:ext uri="{FF2B5EF4-FFF2-40B4-BE49-F238E27FC236}">
                <a16:creationId xmlns:a16="http://schemas.microsoft.com/office/drawing/2014/main" id="{8DE8F361-36B2-3527-F4F9-EBB2CAA2C792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13617337-4159-A347-406A-AAAD48BA47FA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A767479B-ACD0-D9F8-04AE-6FCF39B562EA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8" name="map rule">
            <a:extLst>
              <a:ext uri="{FF2B5EF4-FFF2-40B4-BE49-F238E27FC236}">
                <a16:creationId xmlns:a16="http://schemas.microsoft.com/office/drawing/2014/main" id="{6760B308-C7A0-CAC6-80EC-3AD88979E638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p">
            <a:extLst>
              <a:ext uri="{FF2B5EF4-FFF2-40B4-BE49-F238E27FC236}">
                <a16:creationId xmlns:a16="http://schemas.microsoft.com/office/drawing/2014/main" id="{07137716-51D5-02E6-9801-83C9D6291706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EAAC3A77-0614-EBF4-7965-5484765F7382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 Semibold" panose="020B0702040204020203" pitchFamily="34" charset="0"/>
              </a:rPr>
              <a:t>2  I–V characteristics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AE2F3863-197B-BCE2-9E28-B0B7984AFE79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31E1CB68-B18F-45A9-E45B-BE80FAE8277A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3" name="map">
            <a:extLst>
              <a:ext uri="{FF2B5EF4-FFF2-40B4-BE49-F238E27FC236}">
                <a16:creationId xmlns:a16="http://schemas.microsoft.com/office/drawing/2014/main" id="{5300CB65-571D-5A06-B5F4-EFBCB89CAC61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3A8B0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51823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BF7A62-FADE-E259-7579-445E2C87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BFBCB7-C172-687E-F250-1C4A8FF1AA90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1 · STRUCTURE AND OPERATION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8FF09E02-2B13-DA44-8EAA-0DFABF59340A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9D0E01E6-91E6-397A-89C3-2EA0930F5BF0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8B0D9072-A99A-A426-5A03-2E0DBB7A0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2032000"/>
            <a:ext cx="8483600" cy="6437505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27B30EBC-4AEB-2A5C-DF03-72458D882F29}"/>
              </a:ext>
            </a:extLst>
          </p:cNvPr>
          <p:cNvSpPr txBox="1"/>
          <p:nvPr/>
        </p:nvSpPr>
        <p:spPr>
          <a:xfrm>
            <a:off x="8890000" y="8545705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51E8B639-8EC5-55CD-CC96-D5569F5B61B6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89B1565E-6ACE-0E2D-3A09-A570DC92B8A5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cxnSp>
        <p:nvCxnSpPr>
          <p:cNvPr id="11" name="def @3">
            <a:extLst>
              <a:ext uri="{FF2B5EF4-FFF2-40B4-BE49-F238E27FC236}">
                <a16:creationId xmlns:a16="http://schemas.microsoft.com/office/drawing/2014/main" id="{AECF5DE2-5A78-597F-D6E0-7FFFE6129087}"/>
              </a:ext>
            </a:extLst>
          </p:cNvPr>
          <p:cNvCxnSpPr/>
          <p:nvPr/>
        </p:nvCxnSpPr>
        <p:spPr>
          <a:xfrm>
            <a:off x="914400" y="6273800"/>
            <a:ext cx="0" cy="1676400"/>
          </a:xfrm>
          <a:prstGeom prst="line">
            <a:avLst/>
          </a:prstGeom>
          <a:ln w="381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f @3">
            <a:extLst>
              <a:ext uri="{FF2B5EF4-FFF2-40B4-BE49-F238E27FC236}">
                <a16:creationId xmlns:a16="http://schemas.microsoft.com/office/drawing/2014/main" id="{4213FA66-B44C-749D-AFED-9C571E66338D}"/>
              </a:ext>
            </a:extLst>
          </p:cNvPr>
          <p:cNvSpPr txBox="1"/>
          <p:nvPr/>
        </p:nvSpPr>
        <p:spPr>
          <a:xfrm>
            <a:off x="1193800" y="6222999"/>
            <a:ext cx="7086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DEFINITION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E7D2939-E28F-E8C8-879E-AE7B15114F2C}"/>
              </a:ext>
            </a:extLst>
          </p:cNvPr>
          <p:cNvSpPr txBox="1"/>
          <p:nvPr/>
        </p:nvSpPr>
        <p:spPr>
          <a:xfrm>
            <a:off x="1193800" y="6603999"/>
            <a:ext cx="7086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181D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5181D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33701641-F9B4-7376-C519-C07193AD112F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836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EC8C437-A9CD-FE03-7A64-46E89A64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0201B0-A86A-6B72-8F42-99DD88B96A8F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2 · I–V CHARACTERISTICS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F282B11-1145-5A4F-0CF6-F8C0232B171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757AE758-7018-3D22-B365-138612522701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CFE4AE5-5C50-11E2-33C5-F2DCDEA71E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95500"/>
            <a:ext cx="8636000" cy="5075782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5CF20AD9-E943-B29C-0824-674CCF8D52E9}"/>
              </a:ext>
            </a:extLst>
          </p:cNvPr>
          <p:cNvSpPr txBox="1"/>
          <p:nvPr/>
        </p:nvSpPr>
        <p:spPr>
          <a:xfrm>
            <a:off x="914400" y="7247482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B5260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A1D76737-3325-C9A0-4179-F8C8058D1A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21A4DBE0-D4BD-BB00-4F61-6D5B4023907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1" name="lab @3">
            <a:extLst>
              <a:ext uri="{FF2B5EF4-FFF2-40B4-BE49-F238E27FC236}">
                <a16:creationId xmlns:a16="http://schemas.microsoft.com/office/drawing/2014/main" id="{8A114333-951A-EDBE-3D57-9BFAE6290AF3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93203B4A-433F-6E9A-A978-CF5C4327A7FA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3" name="note @4">
            <a:extLst>
              <a:ext uri="{FF2B5EF4-FFF2-40B4-BE49-F238E27FC236}">
                <a16:creationId xmlns:a16="http://schemas.microsoft.com/office/drawing/2014/main" id="{F05640E6-BB9B-ED95-557D-1092F6D9519A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CBC9CCC0-7D75-7B1E-2050-FBB8A6B74A47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2172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BE28747-9EF3-4BCD-9712-FA99481E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40F08B-390D-5F48-0D33-257657BBE818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3 · MOSFETS IN DC CIRCUITS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01FC2291-D8F3-F350-75C1-C60CA4E18BB7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F3B1026F-1C02-3C8D-5D5F-77D5B594E9E7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85A77E60-3FF5-9E75-25C3-5E88BEFFB3EA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B5260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B5260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F1B472E7-8651-092F-1B7C-852D97140374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18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0CAFAD68-3CDC-787F-E94E-FC7951D898F9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70C63-3535-BB30-D93C-940A0C81A507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51365CBC-00E9-5EA4-D96B-7DFFB2992C12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323E8B4F-FF0E-B6A0-2F8A-15B824826E8D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C7BEB326-EFE7-3B2A-AA17-1301DCF001D0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AC8A1493-4D72-804E-564C-721AA92F04E2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kt">
            <a:extLst>
              <a:ext uri="{FF2B5EF4-FFF2-40B4-BE49-F238E27FC236}">
                <a16:creationId xmlns:a16="http://schemas.microsoft.com/office/drawing/2014/main" id="{46FF6402-EFF9-094E-D019-81C9E0996942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98479D2-382A-1A18-1C21-72994DB7523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E49576A3-5684-9E2C-2442-5CEEB9159906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CBE38803-48F4-D5BA-5DFB-2C9EB75420A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83EDC0D0-1E28-CC7C-9574-A95ACF58C7C9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F93B2D5E-6A11-F10C-F74E-198A12F001BE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79435506-5A89-A42D-4468-B705F8B4DD7B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518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BB7F-912C-2D39-86C0-D4C3750A22CB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CC63-ADF3-33C0-1DDB-949459E9EC40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C119A231-8DA1-3946-1F3A-06039085E581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D57695CA-D90B-947C-8D38-39106340AF37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C49F601A-310A-A4C5-6D5B-6E888B520D28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B65EAFD-2187-1E08-1F1F-B940AF559A5D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518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367F51E5-9A12-25C8-2012-5A5729D0A39D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9EC5F291-A208-D26C-9180-8881189D9125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FB7A20F-9C2E-17D5-D185-7FF3F6D0F328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8BA0B4A-6DF6-AF6A-168F-D0F94456755D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6A86C1BF-8708-5064-368A-4545BF687F44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B65C9BD9-F8C3-BD64-5686-F2F35BAF902D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EA0C7F-2B94-F815-3812-3AABA2ECF5FE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45287-DA37-EA5A-4896-6A71ADE475D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181D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5181D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5181D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5181D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5181D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node @2">
            <a:extLst>
              <a:ext uri="{FF2B5EF4-FFF2-40B4-BE49-F238E27FC236}">
                <a16:creationId xmlns:a16="http://schemas.microsoft.com/office/drawing/2014/main" id="{0523FEEE-18D9-09C4-D2B9-95902D2A12E5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A46227AC-5BE7-4880-DDB9-4F5B2CB58992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6F59C287-7749-BE9E-B617-31F26E781543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9DF1AD3-2EFB-AAF9-015F-7FA708884EE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B6EB0037-FE2A-AB6B-5CC0-E2B97041766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A01D038A-0B6D-0B9F-55B5-BF15FF97F58D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18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6A8B6472-7EFB-5F5E-C134-7B3C223105DA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3D5EE2FC-9FFE-13B9-B3B5-4289D3C23B55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badge @3">
            <a:extLst>
              <a:ext uri="{FF2B5EF4-FFF2-40B4-BE49-F238E27FC236}">
                <a16:creationId xmlns:a16="http://schemas.microsoft.com/office/drawing/2014/main" id="{827D5414-D8DE-9A99-3CC3-1C1F0C737D87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33F3E48B-FF01-E86E-9167-BE556A90D83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B5260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B5260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B5260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B5260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CD0BD93-06B1-2A79-7150-E74CF0EEC06E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96D48DDE-BD67-BCCF-70ED-535CA80A8C2C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adge @4">
            <a:extLst>
              <a:ext uri="{FF2B5EF4-FFF2-40B4-BE49-F238E27FC236}">
                <a16:creationId xmlns:a16="http://schemas.microsoft.com/office/drawing/2014/main" id="{0D7768FC-1B16-0794-EE05-A9B874D13E7E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48" name="lab @4">
            <a:extLst>
              <a:ext uri="{FF2B5EF4-FFF2-40B4-BE49-F238E27FC236}">
                <a16:creationId xmlns:a16="http://schemas.microsoft.com/office/drawing/2014/main" id="{77832AE0-77D8-AF48-5AB8-0F2432D25C3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B5260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eq @4">
                <a:extLst>
                  <a:ext uri="{FF2B5EF4-FFF2-40B4-BE49-F238E27FC236}">
                    <a16:creationId xmlns:a16="http://schemas.microsoft.com/office/drawing/2014/main" id="{DF2EC1B1-D7C7-5813-5907-54A53328C5A7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50" name="badge @5">
            <a:extLst>
              <a:ext uri="{FF2B5EF4-FFF2-40B4-BE49-F238E27FC236}">
                <a16:creationId xmlns:a16="http://schemas.microsoft.com/office/drawing/2014/main" id="{D391C8C3-44AF-515A-26E4-E6D7BAB3C4D2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badge @5">
            <a:extLst>
              <a:ext uri="{FF2B5EF4-FFF2-40B4-BE49-F238E27FC236}">
                <a16:creationId xmlns:a16="http://schemas.microsoft.com/office/drawing/2014/main" id="{924DFDD0-BBE5-F3CB-5B94-A88C348AF42C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52" name="lab @5">
            <a:extLst>
              <a:ext uri="{FF2B5EF4-FFF2-40B4-BE49-F238E27FC236}">
                <a16:creationId xmlns:a16="http://schemas.microsoft.com/office/drawing/2014/main" id="{59244B5D-2E92-C428-7B3B-16B73C16EFE4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E0719266-1DF3-0E27-CEC2-AE6D0FBF858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badge @6">
            <a:extLst>
              <a:ext uri="{FF2B5EF4-FFF2-40B4-BE49-F238E27FC236}">
                <a16:creationId xmlns:a16="http://schemas.microsoft.com/office/drawing/2014/main" id="{1C29928D-7E16-2736-2AD1-C17D2EF2809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eq @6">
                <a:extLst>
                  <a:ext uri="{FF2B5EF4-FFF2-40B4-BE49-F238E27FC236}">
                    <a16:creationId xmlns:a16="http://schemas.microsoft.com/office/drawing/2014/main" id="{99278722-C5B6-B9F0-3AB1-5549A6923DEA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6" name="answer @6 bg">
            <a:extLst>
              <a:ext uri="{FF2B5EF4-FFF2-40B4-BE49-F238E27FC236}">
                <a16:creationId xmlns:a16="http://schemas.microsoft.com/office/drawing/2014/main" id="{7323F67A-A734-7234-7DFD-32C56FFA6189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CEDE5"/>
          </a:solidFill>
          <a:ln w="1905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nswer @6">
            <a:extLst>
              <a:ext uri="{FF2B5EF4-FFF2-40B4-BE49-F238E27FC236}">
                <a16:creationId xmlns:a16="http://schemas.microsoft.com/office/drawing/2014/main" id="{831662E5-FCB4-EF63-39A0-F7668EA2DBDE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C2410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C2410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C2410C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8" name="check @6">
            <a:extLst>
              <a:ext uri="{FF2B5EF4-FFF2-40B4-BE49-F238E27FC236}">
                <a16:creationId xmlns:a16="http://schemas.microsoft.com/office/drawing/2014/main" id="{CE560F2A-D983-4C22-701B-59F6837C5CD6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E7A46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E7A46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E7A46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1140D155-C23F-7431-D37D-7C8385D3B453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9564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5C77D2-DCB8-BD21-8D38-912AE8C8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>
                <a:solidFill>
                  <a:srgbClr val="15181D"/>
                </a:solidFill>
                <a:latin typeface="Segoe UI Semibold" panose="020B07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5C7DBDB-06C1-D5E9-3FB7-6E1BFEC447C7}"/>
              </a:ext>
            </a:extLst>
          </p:cNvPr>
          <p:cNvSpPr txBox="1"/>
          <p:nvPr/>
        </p:nvSpPr>
        <p:spPr>
          <a:xfrm>
            <a:off x="914400" y="228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C2410C"/>
                </a:solidFill>
                <a:latin typeface="Consolas" panose="020B0609020204030204" pitchFamily="49" charset="0"/>
              </a:rPr>
              <a:t>LECTURE 3 · SUMMARY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F56BBC8A-AD40-3BCA-BD7E-82BDF048310B}"/>
              </a:ext>
            </a:extLst>
          </p:cNvPr>
          <p:cNvCxnSpPr/>
          <p:nvPr/>
        </p:nvCxnSpPr>
        <p:spPr>
          <a:xfrm>
            <a:off x="914400" y="1549400"/>
            <a:ext cx="16459200" cy="0"/>
          </a:xfrm>
          <a:prstGeom prst="line">
            <a:avLst/>
          </a:prstGeom>
          <a:ln w="12700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 footer">
            <a:extLst>
              <a:ext uri="{FF2B5EF4-FFF2-40B4-BE49-F238E27FC236}">
                <a16:creationId xmlns:a16="http://schemas.microsoft.com/office/drawing/2014/main" id="{D59BB786-1215-D1FA-C438-9E7F452C6B06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B5260"/>
                </a:solidFill>
                <a:latin typeface="Consolas" panose="020B0609020204030204" pitchFamily="49" charset="0"/>
              </a:rPr>
              <a:t>ELEC1 · Lecture 3 ·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BEAC8AC3-54E0-D8FE-C917-D5E776CA6AA8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REGION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CAB06022-D506-1856-3CE3-424227093DF9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CONDITION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C3DC21-1B9C-E135-6882-F067FEF33C66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B5260"/>
                </a:solidFill>
                <a:latin typeface="Consolas" panose="020B0609020204030204" pitchFamily="49" charset="0"/>
              </a:rPr>
              <a:t>DRAIN CURRENT</a:t>
            </a:r>
          </a:p>
        </p:txBody>
      </p:sp>
      <p:cxnSp>
        <p:nvCxnSpPr>
          <p:cNvPr id="9" name="rule">
            <a:extLst>
              <a:ext uri="{FF2B5EF4-FFF2-40B4-BE49-F238E27FC236}">
                <a16:creationId xmlns:a16="http://schemas.microsoft.com/office/drawing/2014/main" id="{6655FD99-06EE-B626-8D09-CF7AEB0E9C82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1518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d">
            <a:extLst>
              <a:ext uri="{FF2B5EF4-FFF2-40B4-BE49-F238E27FC236}">
                <a16:creationId xmlns:a16="http://schemas.microsoft.com/office/drawing/2014/main" id="{582DF4DC-E92F-CB91-E76C-4246EF9AA83B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539EF32A-94FD-3490-2341-C8D6BD34D2FA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A0510ED-C327-3825-F3DC-4B3F1AF2BE1E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F036D68D-436D-615B-FDEE-3AF7DE3BC4E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53CE9419-65EF-E3AE-6F84-6AC4704E36EB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7662122C-F7AB-12AE-302C-C107E764F604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18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2385099A-2A1B-FD89-E3B0-1604E811CDF9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B2ED1225-58D8-2230-43EF-4ED2C1EED0E0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69EA7A1-151B-5155-7409-816DCCA060DC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5181D"/>
                </a:solidFill>
                <a:latin typeface="Segoe UI Semibold" panose="020B07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413C561E-3DBE-446B-0E27-E17BDF1E904E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5181D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5181D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5181D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18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18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ED81351-8989-3B4C-7187-C672726130A1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55CBBF61-1FBE-2A6F-E648-6D352B557095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3D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7533E4-D699-BF60-89BC-8081FC6C0EE4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5181D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1EDA349C-1518-1102-4057-C82A28597507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C2410C"/>
              </a:buClr>
              <a:buFont typeface="+mj-lt"/>
              <a:buChar char="•"/>
            </a:pPr>
            <a:r>
              <a:rPr lang="en-US" sz="2400">
                <a:solidFill>
                  <a:srgbClr val="15181D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F34FCE98-B104-E447-D992-33F871A13CB2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B5260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921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Custom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Consolas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2026-10-01T00:08:53Z</dcterms:created>
  <dcterms:modified xsi:type="dcterms:W3CDTF">2026-10-01T00:09:11Z</dcterms:modified>
</cp:coreProperties>
</file>