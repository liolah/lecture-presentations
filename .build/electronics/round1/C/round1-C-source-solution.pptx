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017AA-03EC-E89F-B417-1C20DD7AC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0CFC7-28AB-3DDF-197D-80F8AAA06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6CAF3-00E2-00A6-DA43-5A890738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F5662-CAF6-917A-CE75-2406EE2C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C1A89-BA97-565C-B615-1C2FDC6B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6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DC15-A838-F01A-88C0-E13C7EBE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3678-951A-56CF-96BF-03A121C3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C45C9-5F73-AC82-6588-58D96F601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EF461-DA4B-0478-C36B-4D065632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DCEDB-1ED8-3DFF-E01A-C174A602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4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9DAA-D4AF-5E73-BB66-E924710F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B3998-68CE-B096-DDB5-80F004CB2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00D1E-AB25-7D46-3CE9-61B78D7D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A6057-E57D-173D-E684-754B26F15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2CF64-39FD-809C-5472-EA64B35D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4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062D6-229A-BC25-8A86-F3D5732B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2CCB3-46C7-AAF4-5097-37AAD8BC9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7F290-856D-97ED-2B2A-7D09DB953B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97672-E91D-1E72-57E1-8609421E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E1223-A80F-F71E-1422-7969BD6D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D1CDB-0DD9-C1EF-EB4B-D714A8FC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0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0547F-1D81-4C51-0672-3E6D98119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4214-7C6F-9CC8-C1B6-E0CAC4E1A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97C74-2F91-4334-5ACA-2A4C9D874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6F617-3E58-302A-67B1-AF272CAB7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A42DD-81B6-0143-27E8-966117E1B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65B50-0928-2FB9-2AC3-312CDC722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24362-74DD-C203-E2AB-A808A0A0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DD8433-78EC-9863-996F-7C43DD16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6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5405-8A06-8BDE-FBAD-E31CA6DD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17091-798C-53C7-E491-18E9DA3A2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B62AE-32F6-1E48-1F4A-7EE64FA0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A907A-6144-0598-E44B-F04291E9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1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5671A3-5D22-6FFD-699F-6A92F221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3F3F9-BF42-5F51-26D9-B5CB5DB4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9A71F-7F4E-35F1-9676-D3E73754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1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9E46-D846-A071-262C-6F383A6C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EE95-2A0F-820E-1ECA-957BECD5C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9EFA-F6DF-07DB-D32A-9B624B93D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8D1B8-36E0-472A-E664-75BA201DC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BA0B4-EBF6-4052-4D8D-8B123610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9B9A7-856D-A1F0-AE0E-F2F12D53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F3175-4C17-3286-2314-F012DC2F0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638CE-6B0B-66B0-087B-743232C3AB9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B913E-6AC3-F674-AA61-BBBC2DE5C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E0267-40FD-66B6-DD6D-C7570A379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F532C-D005-4D02-EA03-739921163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9091-D4F4-DA30-2B63-8F74EB2B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7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10FC-F5BE-E796-320C-413CDD63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43CD3E-2F21-A3F6-CF07-14D13E188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44A37-351A-0C66-AD61-0F9AFF74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22300-FFF4-CC12-312D-11C70817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68717-5561-1156-A1AF-1F8D4C44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8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35C98C-3B0B-0CB6-5B92-7EE7947458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9D7BC-F4D0-FAE1-9EB7-165F8F6AD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4514D-1FE2-BB4E-28E7-6F4E98DA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BFEE-67F8-A758-AB80-0DB61EC5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D61A0-6A31-A947-7F94-C99A8982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54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7A506-6532-C856-D361-601696CA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E742F-27CD-304B-0553-C72FCF8C6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03D15-9EB5-9C3A-6D48-C6B11E7FD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D5CC9-1AC0-4C16-B1C6-ABD32E34AC4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90635-11C3-761A-D375-F8623BD91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DC2D3-5124-2B00-1C00-D72D7DAD9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ECFD6-78E8-4530-8BA2-D9B463AC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9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87A91CF-9A38-5582-401E-D2AC01D8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75000"/>
            <a:ext cx="8128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7200">
                <a:solidFill>
                  <a:srgbClr val="14263A"/>
                </a:solidFill>
                <a:latin typeface="Georgia" panose="02040502050405020303" pitchFamily="18" charset="0"/>
              </a:rPr>
              <a:t>MOSFETs</a:t>
            </a:r>
          </a:p>
        </p:txBody>
      </p:sp>
      <p:sp>
        <p:nvSpPr>
          <p:cNvPr id="3" name="band">
            <a:extLst>
              <a:ext uri="{FF2B5EF4-FFF2-40B4-BE49-F238E27FC236}">
                <a16:creationId xmlns:a16="http://schemas.microsoft.com/office/drawing/2014/main" id="{07E8D343-C675-E58D-837E-9B5DAFC95692}"/>
              </a:ext>
            </a:extLst>
          </p:cNvPr>
          <p:cNvSpPr/>
          <p:nvPr/>
        </p:nvSpPr>
        <p:spPr>
          <a:xfrm>
            <a:off x="0" y="0"/>
            <a:ext cx="18288000" cy="127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de">
            <a:extLst>
              <a:ext uri="{FF2B5EF4-FFF2-40B4-BE49-F238E27FC236}">
                <a16:creationId xmlns:a16="http://schemas.microsoft.com/office/drawing/2014/main" id="{A04F9021-5101-C100-DCC4-DB92D6D53B3A}"/>
              </a:ext>
            </a:extLst>
          </p:cNvPr>
          <p:cNvSpPr txBox="1"/>
          <p:nvPr/>
        </p:nvSpPr>
        <p:spPr>
          <a:xfrm>
            <a:off x="914400" y="2412999"/>
            <a:ext cx="8890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2B5C8A"/>
                </a:solidFill>
                <a:latin typeface="Segoe UI Semibold" panose="020B0702040204020203" pitchFamily="34" charset="0"/>
              </a:rPr>
              <a:t>25CPES102 · Electronic Materials and Devices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E4A4F132-9B42-9F56-3D9A-71E64B28C320}"/>
              </a:ext>
            </a:extLst>
          </p:cNvPr>
          <p:cNvSpPr txBox="1"/>
          <p:nvPr/>
        </p:nvSpPr>
        <p:spPr>
          <a:xfrm>
            <a:off x="914400" y="4444999"/>
            <a:ext cx="812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800">
                <a:solidFill>
                  <a:srgbClr val="4E5D6C"/>
                </a:solidFill>
                <a:latin typeface="Segoe UI" panose="020B0502040204020203" pitchFamily="34" charset="0"/>
              </a:rPr>
              <a:t>Metal-oxide-semiconductor</a:t>
            </a:r>
          </a:p>
          <a:p>
            <a:pPr>
              <a:lnSpc>
                <a:spcPct val="105000"/>
              </a:lnSpc>
            </a:pPr>
            <a:r>
              <a:rPr lang="en-US" sz="2800">
                <a:solidFill>
                  <a:srgbClr val="4E5D6C"/>
                </a:solidFill>
                <a:latin typeface="Segoe UI" panose="020B0502040204020203" pitchFamily="34" charset="0"/>
              </a:rPr>
              <a:t>field-effect transistors</a:t>
            </a:r>
          </a:p>
        </p:txBody>
      </p:sp>
      <p:cxnSp>
        <p:nvCxnSpPr>
          <p:cNvPr id="6" name="rule">
            <a:extLst>
              <a:ext uri="{FF2B5EF4-FFF2-40B4-BE49-F238E27FC236}">
                <a16:creationId xmlns:a16="http://schemas.microsoft.com/office/drawing/2014/main" id="{FCBECB3C-7784-25CC-AF65-017D56904B41}"/>
              </a:ext>
            </a:extLst>
          </p:cNvPr>
          <p:cNvCxnSpPr/>
          <p:nvPr/>
        </p:nvCxnSpPr>
        <p:spPr>
          <a:xfrm>
            <a:off x="914400" y="5740400"/>
            <a:ext cx="1143000" cy="0"/>
          </a:xfrm>
          <a:prstGeom prst="line">
            <a:avLst/>
          </a:prstGeom>
          <a:ln w="38100">
            <a:solidFill>
              <a:srgbClr val="2B5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lecture">
            <a:extLst>
              <a:ext uri="{FF2B5EF4-FFF2-40B4-BE49-F238E27FC236}">
                <a16:creationId xmlns:a16="http://schemas.microsoft.com/office/drawing/2014/main" id="{ABC92E98-4754-B219-6449-56797B84D566}"/>
              </a:ext>
            </a:extLst>
          </p:cNvPr>
          <p:cNvSpPr txBox="1"/>
          <p:nvPr/>
        </p:nvSpPr>
        <p:spPr>
          <a:xfrm>
            <a:off x="914400" y="5968999"/>
            <a:ext cx="812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4263A"/>
                </a:solidFill>
                <a:latin typeface="Georgia" panose="02040502050405020303" pitchFamily="18" charset="0"/>
              </a:rPr>
              <a:t>Lecture 3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BDDE51D6-B7E8-E971-230F-65BF9B9A7A90}"/>
              </a:ext>
            </a:extLst>
          </p:cNvPr>
          <p:cNvSpPr txBox="1"/>
          <p:nvPr/>
        </p:nvSpPr>
        <p:spPr>
          <a:xfrm>
            <a:off x="914400" y="8127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4263A"/>
                </a:solidFill>
                <a:latin typeface="Georgia" panose="02040502050405020303" pitchFamily="18" charset="0"/>
              </a:rPr>
              <a:t>Dr. Zahraa Ismail</a:t>
            </a:r>
          </a:p>
        </p:txBody>
      </p:sp>
      <p:sp>
        <p:nvSpPr>
          <p:cNvPr id="9" name="meta">
            <a:extLst>
              <a:ext uri="{FF2B5EF4-FFF2-40B4-BE49-F238E27FC236}">
                <a16:creationId xmlns:a16="http://schemas.microsoft.com/office/drawing/2014/main" id="{0F0E705E-3661-78F3-C148-BC8AFCD10E27}"/>
              </a:ext>
            </a:extLst>
          </p:cNvPr>
          <p:cNvSpPr txBox="1"/>
          <p:nvPr/>
        </p:nvSpPr>
        <p:spPr>
          <a:xfrm>
            <a:off x="914400" y="8534399"/>
            <a:ext cx="889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4E5D6C"/>
                </a:solidFill>
                <a:latin typeface="Segoe UI" panose="020B0502040204020203" pitchFamily="34" charset="0"/>
              </a:rPr>
              <a:t>Computer Engineering · Academic Year 2025/2026 · Semester One</a:t>
            </a:r>
          </a:p>
        </p:txBody>
      </p:sp>
      <p:sp>
        <p:nvSpPr>
          <p:cNvPr id="10" name="figure frame">
            <a:extLst>
              <a:ext uri="{FF2B5EF4-FFF2-40B4-BE49-F238E27FC236}">
                <a16:creationId xmlns:a16="http://schemas.microsoft.com/office/drawing/2014/main" id="{CD27A8A8-4E99-F88D-8EB1-F094B68B8906}"/>
              </a:ext>
            </a:extLst>
          </p:cNvPr>
          <p:cNvSpPr/>
          <p:nvPr/>
        </p:nvSpPr>
        <p:spPr>
          <a:xfrm>
            <a:off x="9652000" y="3175000"/>
            <a:ext cx="7874000" cy="327661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figure">
            <a:extLst>
              <a:ext uri="{FF2B5EF4-FFF2-40B4-BE49-F238E27FC236}">
                <a16:creationId xmlns:a16="http://schemas.microsoft.com/office/drawing/2014/main" id="{2F12EA25-2548-CC73-3D63-7F8A438FA5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600" y="3403600"/>
            <a:ext cx="7416800" cy="2819419"/>
          </a:xfrm>
          <a:prstGeom prst="rect">
            <a:avLst/>
          </a:prstGeom>
        </p:spPr>
      </p:pic>
      <p:sp>
        <p:nvSpPr>
          <p:cNvPr id="13" name="credit">
            <a:extLst>
              <a:ext uri="{FF2B5EF4-FFF2-40B4-BE49-F238E27FC236}">
                <a16:creationId xmlns:a16="http://schemas.microsoft.com/office/drawing/2014/main" id="{1B7B8736-278F-65BD-68B2-E08EABB447BA}"/>
              </a:ext>
            </a:extLst>
          </p:cNvPr>
          <p:cNvSpPr txBox="1"/>
          <p:nvPr/>
        </p:nvSpPr>
        <p:spPr>
          <a:xfrm>
            <a:off x="9652000" y="6527819"/>
            <a:ext cx="7874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339626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E00E44-4CF4-9382-EF97-3A830763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Lecture map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CC93C6DD-B20B-B828-E7BE-82A04081713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LECTURE 3 · MOSFETS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66FC8084-4B07-78AA-AE01-217F217D48D3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map n">
            <a:extLst>
              <a:ext uri="{FF2B5EF4-FFF2-40B4-BE49-F238E27FC236}">
                <a16:creationId xmlns:a16="http://schemas.microsoft.com/office/drawing/2014/main" id="{CC5F173A-C7B6-0D2D-08A8-57247398D042}"/>
              </a:ext>
            </a:extLst>
          </p:cNvPr>
          <p:cNvSpPr txBox="1"/>
          <p:nvPr/>
        </p:nvSpPr>
        <p:spPr>
          <a:xfrm>
            <a:off x="914400" y="226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6" name="map t">
            <a:extLst>
              <a:ext uri="{FF2B5EF4-FFF2-40B4-BE49-F238E27FC236}">
                <a16:creationId xmlns:a16="http://schemas.microsoft.com/office/drawing/2014/main" id="{4405441F-5F0B-D5A9-2D19-663C6E53D9EC}"/>
              </a:ext>
            </a:extLst>
          </p:cNvPr>
          <p:cNvSpPr txBox="1"/>
          <p:nvPr/>
        </p:nvSpPr>
        <p:spPr>
          <a:xfrm>
            <a:off x="1803400" y="228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Structure and operation</a:t>
            </a:r>
          </a:p>
        </p:txBody>
      </p:sp>
      <p:sp>
        <p:nvSpPr>
          <p:cNvPr id="7" name="map s">
            <a:extLst>
              <a:ext uri="{FF2B5EF4-FFF2-40B4-BE49-F238E27FC236}">
                <a16:creationId xmlns:a16="http://schemas.microsoft.com/office/drawing/2014/main" id="{41E20B36-290C-D993-5EB0-A5FDDA8CED61}"/>
              </a:ext>
            </a:extLst>
          </p:cNvPr>
          <p:cNvSpPr txBox="1"/>
          <p:nvPr/>
        </p:nvSpPr>
        <p:spPr>
          <a:xfrm>
            <a:off x="1803400" y="276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how a channel forms; the threshold voltage</a:t>
            </a:r>
          </a:p>
        </p:txBody>
      </p:sp>
      <p:sp>
        <p:nvSpPr>
          <p:cNvPr id="8" name="map n">
            <a:extLst>
              <a:ext uri="{FF2B5EF4-FFF2-40B4-BE49-F238E27FC236}">
                <a16:creationId xmlns:a16="http://schemas.microsoft.com/office/drawing/2014/main" id="{5A415DB6-05C5-EB17-D5B3-BC85874AEE26}"/>
              </a:ext>
            </a:extLst>
          </p:cNvPr>
          <p:cNvSpPr txBox="1"/>
          <p:nvPr/>
        </p:nvSpPr>
        <p:spPr>
          <a:xfrm>
            <a:off x="914400" y="353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9" name="map t">
            <a:extLst>
              <a:ext uri="{FF2B5EF4-FFF2-40B4-BE49-F238E27FC236}">
                <a16:creationId xmlns:a16="http://schemas.microsoft.com/office/drawing/2014/main" id="{40759BE1-F8F0-B3F8-F84A-7A18748A0F34}"/>
              </a:ext>
            </a:extLst>
          </p:cNvPr>
          <p:cNvSpPr txBox="1"/>
          <p:nvPr/>
        </p:nvSpPr>
        <p:spPr>
          <a:xfrm>
            <a:off x="1803400" y="355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I–V characteristics</a:t>
            </a:r>
          </a:p>
        </p:txBody>
      </p:sp>
      <p:sp>
        <p:nvSpPr>
          <p:cNvPr id="10" name="map s">
            <a:extLst>
              <a:ext uri="{FF2B5EF4-FFF2-40B4-BE49-F238E27FC236}">
                <a16:creationId xmlns:a16="http://schemas.microsoft.com/office/drawing/2014/main" id="{DCAF1577-B770-5E9D-111B-CAEA804C0D8E}"/>
              </a:ext>
            </a:extLst>
          </p:cNvPr>
          <p:cNvSpPr txBox="1"/>
          <p:nvPr/>
        </p:nvSpPr>
        <p:spPr>
          <a:xfrm>
            <a:off x="1803400" y="403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cutoff, triode and saturation</a:t>
            </a:r>
          </a:p>
        </p:txBody>
      </p:sp>
      <p:sp>
        <p:nvSpPr>
          <p:cNvPr id="11" name="map n">
            <a:extLst>
              <a:ext uri="{FF2B5EF4-FFF2-40B4-BE49-F238E27FC236}">
                <a16:creationId xmlns:a16="http://schemas.microsoft.com/office/drawing/2014/main" id="{AFE102D3-93EA-E490-C1B3-AC036A5456C8}"/>
              </a:ext>
            </a:extLst>
          </p:cNvPr>
          <p:cNvSpPr txBox="1"/>
          <p:nvPr/>
        </p:nvSpPr>
        <p:spPr>
          <a:xfrm>
            <a:off x="914400" y="480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12" name="map t">
            <a:extLst>
              <a:ext uri="{FF2B5EF4-FFF2-40B4-BE49-F238E27FC236}">
                <a16:creationId xmlns:a16="http://schemas.microsoft.com/office/drawing/2014/main" id="{175054B6-736C-D384-CDA5-6BF1E1BD7A89}"/>
              </a:ext>
            </a:extLst>
          </p:cNvPr>
          <p:cNvSpPr txBox="1"/>
          <p:nvPr/>
        </p:nvSpPr>
        <p:spPr>
          <a:xfrm>
            <a:off x="1803400" y="482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MOSFETs in DC circuits</a:t>
            </a:r>
          </a:p>
        </p:txBody>
      </p:sp>
      <p:sp>
        <p:nvSpPr>
          <p:cNvPr id="13" name="map s">
            <a:extLst>
              <a:ext uri="{FF2B5EF4-FFF2-40B4-BE49-F238E27FC236}">
                <a16:creationId xmlns:a16="http://schemas.microsoft.com/office/drawing/2014/main" id="{81CA939F-5629-6958-41C5-5B5DDB282DED}"/>
              </a:ext>
            </a:extLst>
          </p:cNvPr>
          <p:cNvSpPr txBox="1"/>
          <p:nvPr/>
        </p:nvSpPr>
        <p:spPr>
          <a:xfrm>
            <a:off x="1803400" y="530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finding the operating point</a:t>
            </a:r>
          </a:p>
        </p:txBody>
      </p:sp>
      <p:sp>
        <p:nvSpPr>
          <p:cNvPr id="14" name="map n">
            <a:extLst>
              <a:ext uri="{FF2B5EF4-FFF2-40B4-BE49-F238E27FC236}">
                <a16:creationId xmlns:a16="http://schemas.microsoft.com/office/drawing/2014/main" id="{2495A8E3-3A7F-B487-BCDC-AAA27329271B}"/>
              </a:ext>
            </a:extLst>
          </p:cNvPr>
          <p:cNvSpPr txBox="1"/>
          <p:nvPr/>
        </p:nvSpPr>
        <p:spPr>
          <a:xfrm>
            <a:off x="914400" y="607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15" name="map t">
            <a:extLst>
              <a:ext uri="{FF2B5EF4-FFF2-40B4-BE49-F238E27FC236}">
                <a16:creationId xmlns:a16="http://schemas.microsoft.com/office/drawing/2014/main" id="{E4D0882C-6196-6E89-0CCE-0900C41E7269}"/>
              </a:ext>
            </a:extLst>
          </p:cNvPr>
          <p:cNvSpPr txBox="1"/>
          <p:nvPr/>
        </p:nvSpPr>
        <p:spPr>
          <a:xfrm>
            <a:off x="1803400" y="609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The MOSFET as an amplifier</a:t>
            </a:r>
          </a:p>
        </p:txBody>
      </p:sp>
      <p:sp>
        <p:nvSpPr>
          <p:cNvPr id="16" name="map s">
            <a:extLst>
              <a:ext uri="{FF2B5EF4-FFF2-40B4-BE49-F238E27FC236}">
                <a16:creationId xmlns:a16="http://schemas.microsoft.com/office/drawing/2014/main" id="{B9839121-2B66-FDD4-A1A0-BE4AA834E70F}"/>
              </a:ext>
            </a:extLst>
          </p:cNvPr>
          <p:cNvSpPr txBox="1"/>
          <p:nvPr/>
        </p:nvSpPr>
        <p:spPr>
          <a:xfrm>
            <a:off x="1803400" y="6578599"/>
            <a:ext cx="812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E5D6C"/>
                </a:solidFill>
                <a:latin typeface="Segoe UI" panose="020B0502040204020203" pitchFamily="34" charset="0"/>
              </a:rPr>
              <a:t>transconductance, small-signal model</a:t>
            </a:r>
          </a:p>
        </p:txBody>
      </p:sp>
      <p:sp>
        <p:nvSpPr>
          <p:cNvPr id="17" name="map n">
            <a:extLst>
              <a:ext uri="{FF2B5EF4-FFF2-40B4-BE49-F238E27FC236}">
                <a16:creationId xmlns:a16="http://schemas.microsoft.com/office/drawing/2014/main" id="{D9275DFC-ECEC-C571-EA3D-3D579732E62B}"/>
              </a:ext>
            </a:extLst>
          </p:cNvPr>
          <p:cNvSpPr txBox="1"/>
          <p:nvPr/>
        </p:nvSpPr>
        <p:spPr>
          <a:xfrm>
            <a:off x="914400" y="7340599"/>
            <a:ext cx="7620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200">
                <a:solidFill>
                  <a:srgbClr val="2B5C8A"/>
                </a:solidFill>
                <a:latin typeface="Georgia" panose="02040502050405020303" pitchFamily="18" charset="0"/>
              </a:rPr>
              <a:t>5</a:t>
            </a:r>
          </a:p>
        </p:txBody>
      </p:sp>
      <p:sp>
        <p:nvSpPr>
          <p:cNvPr id="18" name="map t">
            <a:extLst>
              <a:ext uri="{FF2B5EF4-FFF2-40B4-BE49-F238E27FC236}">
                <a16:creationId xmlns:a16="http://schemas.microsoft.com/office/drawing/2014/main" id="{4243F8AC-D9C8-98E5-77A5-55C00A877759}"/>
              </a:ext>
            </a:extLst>
          </p:cNvPr>
          <p:cNvSpPr txBox="1"/>
          <p:nvPr/>
        </p:nvSpPr>
        <p:spPr>
          <a:xfrm>
            <a:off x="1803400" y="7365999"/>
            <a:ext cx="8128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4263A"/>
                </a:solidFill>
                <a:latin typeface="Georgia" panose="02040502050405020303" pitchFamily="18" charset="0"/>
              </a:rPr>
              <a:t>The MOSFET as a switch</a:t>
            </a:r>
          </a:p>
        </p:txBody>
      </p:sp>
      <p:sp>
        <p:nvSpPr>
          <p:cNvPr id="19" name="panel">
            <a:extLst>
              <a:ext uri="{FF2B5EF4-FFF2-40B4-BE49-F238E27FC236}">
                <a16:creationId xmlns:a16="http://schemas.microsoft.com/office/drawing/2014/main" id="{D7D55736-4034-1201-96E8-1BF946E5225B}"/>
              </a:ext>
            </a:extLst>
          </p:cNvPr>
          <p:cNvSpPr/>
          <p:nvPr/>
        </p:nvSpPr>
        <p:spPr>
          <a:xfrm>
            <a:off x="10922000" y="2159000"/>
            <a:ext cx="6451600" cy="5969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utcomes h">
            <a:extLst>
              <a:ext uri="{FF2B5EF4-FFF2-40B4-BE49-F238E27FC236}">
                <a16:creationId xmlns:a16="http://schemas.microsoft.com/office/drawing/2014/main" id="{8ADC28C9-8CE7-1C7D-3382-EE4CD5F3FF36}"/>
              </a:ext>
            </a:extLst>
          </p:cNvPr>
          <p:cNvSpPr txBox="1"/>
          <p:nvPr/>
        </p:nvSpPr>
        <p:spPr>
          <a:xfrm>
            <a:off x="11328400" y="2489199"/>
            <a:ext cx="56388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BY THE END YOU CAN</a:t>
            </a:r>
          </a:p>
        </p:txBody>
      </p:sp>
      <p:sp>
        <p:nvSpPr>
          <p:cNvPr id="21" name="outcome">
            <a:extLst>
              <a:ext uri="{FF2B5EF4-FFF2-40B4-BE49-F238E27FC236}">
                <a16:creationId xmlns:a16="http://schemas.microsoft.com/office/drawing/2014/main" id="{636BD3E0-5786-7D0A-DF13-D4AA30B886CF}"/>
              </a:ext>
            </a:extLst>
          </p:cNvPr>
          <p:cNvSpPr txBox="1"/>
          <p:nvPr/>
        </p:nvSpPr>
        <p:spPr>
          <a:xfrm>
            <a:off x="11328400" y="3047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Explain how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creates a channel and how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pinches it off</a:t>
            </a:r>
          </a:p>
        </p:txBody>
      </p:sp>
      <p:sp>
        <p:nvSpPr>
          <p:cNvPr id="22" name="outcome">
            <a:extLst>
              <a:ext uri="{FF2B5EF4-FFF2-40B4-BE49-F238E27FC236}">
                <a16:creationId xmlns:a16="http://schemas.microsoft.com/office/drawing/2014/main" id="{1CA8D886-157C-95B7-4D17-3BB4D331015E}"/>
              </a:ext>
            </a:extLst>
          </p:cNvPr>
          <p:cNvSpPr txBox="1"/>
          <p:nvPr/>
        </p:nvSpPr>
        <p:spPr>
          <a:xfrm>
            <a:off x="11328400" y="46354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Pick the right region and use its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equation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8CE411FE-8487-E7DE-8A0D-B6DB17DA4038}"/>
              </a:ext>
            </a:extLst>
          </p:cNvPr>
          <p:cNvSpPr txBox="1"/>
          <p:nvPr/>
        </p:nvSpPr>
        <p:spPr>
          <a:xfrm>
            <a:off x="11328400" y="6222999"/>
            <a:ext cx="56388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Find the DC operating point of a MOSFET circuit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D12A21A8-BEE7-2979-0D4D-35E4E217D037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5987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3AF53B-1836-7A00-AD9A-BEA98893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0" y="3810000"/>
            <a:ext cx="10160000" cy="1143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000">
                <a:solidFill>
                  <a:srgbClr val="14263A"/>
                </a:solidFill>
                <a:latin typeface="Georgia" panose="02040502050405020303" pitchFamily="18" charset="0"/>
              </a:rPr>
              <a:t>I–V characteristics</a:t>
            </a:r>
          </a:p>
        </p:txBody>
      </p:sp>
      <p:sp>
        <p:nvSpPr>
          <p:cNvPr id="3" name="band">
            <a:extLst>
              <a:ext uri="{FF2B5EF4-FFF2-40B4-BE49-F238E27FC236}">
                <a16:creationId xmlns:a16="http://schemas.microsoft.com/office/drawing/2014/main" id="{B87A818E-911D-5C52-8B0B-39B81087AA63}"/>
              </a:ext>
            </a:extLst>
          </p:cNvPr>
          <p:cNvSpPr/>
          <p:nvPr/>
        </p:nvSpPr>
        <p:spPr>
          <a:xfrm>
            <a:off x="0" y="0"/>
            <a:ext cx="5588000" cy="10287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numeral">
            <a:extLst>
              <a:ext uri="{FF2B5EF4-FFF2-40B4-BE49-F238E27FC236}">
                <a16:creationId xmlns:a16="http://schemas.microsoft.com/office/drawing/2014/main" id="{2891B271-BE18-08B0-FB07-F86D919FF0F2}"/>
              </a:ext>
            </a:extLst>
          </p:cNvPr>
          <p:cNvSpPr txBox="1"/>
          <p:nvPr/>
        </p:nvSpPr>
        <p:spPr>
          <a:xfrm>
            <a:off x="0" y="3174999"/>
            <a:ext cx="5588000" cy="304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5" name="item">
            <a:extLst>
              <a:ext uri="{FF2B5EF4-FFF2-40B4-BE49-F238E27FC236}">
                <a16:creationId xmlns:a16="http://schemas.microsoft.com/office/drawing/2014/main" id="{137E0C2D-7AFA-41C5-75CD-B300530A6A59}"/>
              </a:ext>
            </a:extLst>
          </p:cNvPr>
          <p:cNvSpPr txBox="1"/>
          <p:nvPr/>
        </p:nvSpPr>
        <p:spPr>
          <a:xfrm>
            <a:off x="7112000" y="5333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Increasing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: pinch-off</a:t>
            </a:r>
          </a:p>
        </p:txBody>
      </p:sp>
      <p:sp>
        <p:nvSpPr>
          <p:cNvPr id="6" name="item">
            <a:extLst>
              <a:ext uri="{FF2B5EF4-FFF2-40B4-BE49-F238E27FC236}">
                <a16:creationId xmlns:a16="http://schemas.microsoft.com/office/drawing/2014/main" id="{68BEA7C0-6F39-B14C-E122-61C3BC6E3A63}"/>
              </a:ext>
            </a:extLst>
          </p:cNvPr>
          <p:cNvSpPr txBox="1"/>
          <p:nvPr/>
        </p:nvSpPr>
        <p:spPr>
          <a:xfrm>
            <a:off x="7112000" y="5841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Triode and saturation</a:t>
            </a:r>
          </a:p>
        </p:txBody>
      </p:sp>
      <p:sp>
        <p:nvSpPr>
          <p:cNvPr id="7" name="item">
            <a:extLst>
              <a:ext uri="{FF2B5EF4-FFF2-40B4-BE49-F238E27FC236}">
                <a16:creationId xmlns:a16="http://schemas.microsoft.com/office/drawing/2014/main" id="{831A4418-E504-9923-F8A0-5AF49BC48875}"/>
              </a:ext>
            </a:extLst>
          </p:cNvPr>
          <p:cNvSpPr txBox="1"/>
          <p:nvPr/>
        </p:nvSpPr>
        <p:spPr>
          <a:xfrm>
            <a:off x="7112000" y="6349999"/>
            <a:ext cx="812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The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–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family of curves</a:t>
            </a:r>
          </a:p>
        </p:txBody>
      </p:sp>
    </p:spTree>
    <p:extLst>
      <p:ext uri="{BB962C8B-B14F-4D97-AF65-F5344CB8AC3E}">
        <p14:creationId xmlns:p14="http://schemas.microsoft.com/office/powerpoint/2010/main" val="193901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B49E1D9-7D61-F2C1-2C4F-BFC5B9E5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Creating a channel: the threshold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705A5B-9943-8ED9-E753-BC72896BBF0D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34CA654-A414-FA1A-3C5B-53B56514BCF3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75963C28-1D70-F0F6-C762-5F559410879A}"/>
              </a:ext>
            </a:extLst>
          </p:cNvPr>
          <p:cNvSpPr/>
          <p:nvPr/>
        </p:nvSpPr>
        <p:spPr>
          <a:xfrm>
            <a:off x="8890000" y="2032000"/>
            <a:ext cx="8483600" cy="654777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0677CA02-CA36-B486-E997-4C3F9337FA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600" y="2260600"/>
            <a:ext cx="8026400" cy="609057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E2EF8D7E-57CD-0765-D25E-ABA0CF1404C3}"/>
              </a:ext>
            </a:extLst>
          </p:cNvPr>
          <p:cNvSpPr txBox="1"/>
          <p:nvPr/>
        </p:nvSpPr>
        <p:spPr>
          <a:xfrm>
            <a:off x="8890000" y="8655974"/>
            <a:ext cx="84836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para @1">
            <a:extLst>
              <a:ext uri="{FF2B5EF4-FFF2-40B4-BE49-F238E27FC236}">
                <a16:creationId xmlns:a16="http://schemas.microsoft.com/office/drawing/2014/main" id="{8F34A43D-F90F-568F-BC99-AD223FF77BE5}"/>
              </a:ext>
            </a:extLst>
          </p:cNvPr>
          <p:cNvSpPr txBox="1"/>
          <p:nvPr/>
        </p:nvSpPr>
        <p:spPr>
          <a:xfrm>
            <a:off x="914400" y="2412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A positive </a:t>
            </a:r>
            <a:r>
              <a:rPr lang="en-US" sz="26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0" name="para @2">
            <a:extLst>
              <a:ext uri="{FF2B5EF4-FFF2-40B4-BE49-F238E27FC236}">
                <a16:creationId xmlns:a16="http://schemas.microsoft.com/office/drawing/2014/main" id="{F4A9AC96-79EF-96DD-CF74-CD233BB5881C}"/>
              </a:ext>
            </a:extLst>
          </p:cNvPr>
          <p:cNvSpPr txBox="1"/>
          <p:nvPr/>
        </p:nvSpPr>
        <p:spPr>
          <a:xfrm>
            <a:off x="914400" y="4317999"/>
            <a:ext cx="73660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Once enough electrons gather, they form an n-type </a:t>
            </a:r>
            <a:r>
              <a:rPr lang="en-US" sz="2600" b="1">
                <a:solidFill>
                  <a:srgbClr val="14263A"/>
                </a:solidFill>
                <a:latin typeface="Segoe UI" panose="020B0502040204020203" pitchFamily="34" charset="0"/>
              </a:rPr>
              <a:t>inversion layer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: the channel that links source to drain.</a:t>
            </a:r>
          </a:p>
        </p:txBody>
      </p:sp>
      <p:sp>
        <p:nvSpPr>
          <p:cNvPr id="11" name="def @3">
            <a:extLst>
              <a:ext uri="{FF2B5EF4-FFF2-40B4-BE49-F238E27FC236}">
                <a16:creationId xmlns:a16="http://schemas.microsoft.com/office/drawing/2014/main" id="{51DE1371-AF13-03F6-DCCB-4E5B8B14831D}"/>
              </a:ext>
            </a:extLst>
          </p:cNvPr>
          <p:cNvSpPr/>
          <p:nvPr/>
        </p:nvSpPr>
        <p:spPr>
          <a:xfrm>
            <a:off x="914400" y="6223000"/>
            <a:ext cx="7366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f @3">
            <a:extLst>
              <a:ext uri="{FF2B5EF4-FFF2-40B4-BE49-F238E27FC236}">
                <a16:creationId xmlns:a16="http://schemas.microsoft.com/office/drawing/2014/main" id="{B3963953-AC55-163E-C5B9-9D1D446BAA61}"/>
              </a:ext>
            </a:extLst>
          </p:cNvPr>
          <p:cNvSpPr/>
          <p:nvPr/>
        </p:nvSpPr>
        <p:spPr>
          <a:xfrm>
            <a:off x="914400" y="6223000"/>
            <a:ext cx="76200" cy="1905000"/>
          </a:xfrm>
          <a:prstGeom prst="rect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E7FDD22F-5A62-E1F7-4740-C679217FA6E5}"/>
              </a:ext>
            </a:extLst>
          </p:cNvPr>
          <p:cNvSpPr txBox="1"/>
          <p:nvPr/>
        </p:nvSpPr>
        <p:spPr>
          <a:xfrm>
            <a:off x="1244600" y="6476999"/>
            <a:ext cx="6731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 b="1">
                <a:solidFill>
                  <a:srgbClr val="14263A"/>
                </a:solidFill>
                <a:latin typeface="Segoe UI" panose="020B0502040204020203" pitchFamily="34" charset="0"/>
              </a:rPr>
              <a:t>Threshold voltage </a:t>
            </a:r>
            <a:r>
              <a:rPr lang="en-US" sz="2600" b="1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="1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: the value of </a:t>
            </a:r>
            <a:r>
              <a:rPr lang="en-US" sz="26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6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600">
                <a:solidFill>
                  <a:srgbClr val="14263A"/>
                </a:solidFill>
                <a:latin typeface="Segoe UI" panose="020B0502040204020203" pitchFamily="34" charset="0"/>
              </a:rPr>
              <a:t> at which the channel just forms.</a:t>
            </a:r>
          </a:p>
        </p:txBody>
      </p:sp>
      <p:sp>
        <p:nvSpPr>
          <p:cNvPr id="6" name="chrome page">
            <a:extLst>
              <a:ext uri="{FF2B5EF4-FFF2-40B4-BE49-F238E27FC236}">
                <a16:creationId xmlns:a16="http://schemas.microsoft.com/office/drawing/2014/main" id="{5911C8B7-AEFF-7404-422A-F1673C073185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69074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6A16BA-1B6B-0AD1-18BD-E548BABE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Triode and saturation: one curve, two equations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9A0469A5-A08B-8D3C-833B-1BD7E3136D69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2B4930-278A-E4C4-C509-C492B7B1B9F2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figure frame">
            <a:extLst>
              <a:ext uri="{FF2B5EF4-FFF2-40B4-BE49-F238E27FC236}">
                <a16:creationId xmlns:a16="http://schemas.microsoft.com/office/drawing/2014/main" id="{FAF914D8-16A7-9A81-2AE4-502B97934AA2}"/>
              </a:ext>
            </a:extLst>
          </p:cNvPr>
          <p:cNvSpPr/>
          <p:nvPr/>
        </p:nvSpPr>
        <p:spPr>
          <a:xfrm>
            <a:off x="914400" y="2095500"/>
            <a:ext cx="8636000" cy="5264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4D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figure">
            <a:extLst>
              <a:ext uri="{FF2B5EF4-FFF2-40B4-BE49-F238E27FC236}">
                <a16:creationId xmlns:a16="http://schemas.microsoft.com/office/drawing/2014/main" id="{4BC5212E-2BF7-90A3-2BC0-FA35C3C53FF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324100"/>
            <a:ext cx="8178800" cy="4807064"/>
          </a:xfrm>
          <a:prstGeom prst="rect">
            <a:avLst/>
          </a:prstGeom>
        </p:spPr>
      </p:pic>
      <p:sp>
        <p:nvSpPr>
          <p:cNvPr id="8" name="credit">
            <a:extLst>
              <a:ext uri="{FF2B5EF4-FFF2-40B4-BE49-F238E27FC236}">
                <a16:creationId xmlns:a16="http://schemas.microsoft.com/office/drawing/2014/main" id="{41C36342-1C93-8950-23A1-FE07F0E77980}"/>
              </a:ext>
            </a:extLst>
          </p:cNvPr>
          <p:cNvSpPr txBox="1"/>
          <p:nvPr/>
        </p:nvSpPr>
        <p:spPr>
          <a:xfrm>
            <a:off x="914400" y="7435964"/>
            <a:ext cx="8636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Figure: Sedra &amp; Smith, Microelectronic Circuits</a:t>
            </a:r>
          </a:p>
        </p:txBody>
      </p:sp>
      <p:sp>
        <p:nvSpPr>
          <p:cNvPr id="9" name="lab @2">
            <a:extLst>
              <a:ext uri="{FF2B5EF4-FFF2-40B4-BE49-F238E27FC236}">
                <a16:creationId xmlns:a16="http://schemas.microsoft.com/office/drawing/2014/main" id="{3196E322-101C-F72A-F175-483B78E18CE9}"/>
              </a:ext>
            </a:extLst>
          </p:cNvPr>
          <p:cNvSpPr txBox="1"/>
          <p:nvPr/>
        </p:nvSpPr>
        <p:spPr>
          <a:xfrm>
            <a:off x="10160000" y="2412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Triode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&lt;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eq @2">
                <a:extLst>
                  <a:ext uri="{FF2B5EF4-FFF2-40B4-BE49-F238E27FC236}">
                    <a16:creationId xmlns:a16="http://schemas.microsoft.com/office/drawing/2014/main" id="{E37A2F18-D9E6-02D0-4C44-21A6D4EDFF42}"/>
                  </a:ext>
                </a:extLst>
              </p:cNvPr>
              <p:cNvSpPr txBox="1"/>
              <p:nvPr/>
            </p:nvSpPr>
            <p:spPr>
              <a:xfrm>
                <a:off x="10160000" y="2971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1" name="sep @2">
            <a:extLst>
              <a:ext uri="{FF2B5EF4-FFF2-40B4-BE49-F238E27FC236}">
                <a16:creationId xmlns:a16="http://schemas.microsoft.com/office/drawing/2014/main" id="{A7FD96A6-3E02-E095-B8B6-A8FC10A8A8E3}"/>
              </a:ext>
            </a:extLst>
          </p:cNvPr>
          <p:cNvCxnSpPr/>
          <p:nvPr/>
        </p:nvCxnSpPr>
        <p:spPr>
          <a:xfrm>
            <a:off x="10160000" y="4318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 @3">
            <a:extLst>
              <a:ext uri="{FF2B5EF4-FFF2-40B4-BE49-F238E27FC236}">
                <a16:creationId xmlns:a16="http://schemas.microsoft.com/office/drawing/2014/main" id="{6CEBA5B7-7D76-5D19-7081-AC666ED8927E}"/>
              </a:ext>
            </a:extLst>
          </p:cNvPr>
          <p:cNvSpPr txBox="1"/>
          <p:nvPr/>
        </p:nvSpPr>
        <p:spPr>
          <a:xfrm>
            <a:off x="10160000" y="4698999"/>
            <a:ext cx="7213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Saturation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 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≥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4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D7475282-E3FD-BB46-8F39-6BD540E05C80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eq @3">
                <a:extLst>
                  <a:ext uri="{FF2B5EF4-FFF2-40B4-BE49-F238E27FC236}">
                    <a16:creationId xmlns:a16="http://schemas.microsoft.com/office/drawing/2014/main" id="{D7475282-E3FD-BB46-8F39-6BD540E05C80}"/>
                  </a:ext>
                </a:extLst>
              </p:cNvPr>
              <p:cNvSpPr txBox="1"/>
              <p:nvPr/>
            </p:nvSpPr>
            <p:spPr>
              <a:xfrm>
                <a:off x="10160000" y="5257799"/>
                <a:ext cx="7213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14" name="sep @3">
            <a:extLst>
              <a:ext uri="{FF2B5EF4-FFF2-40B4-BE49-F238E27FC236}">
                <a16:creationId xmlns:a16="http://schemas.microsoft.com/office/drawing/2014/main" id="{24FFC60B-16CD-950A-0A1A-3C0AF0D7FFC4}"/>
              </a:ext>
            </a:extLst>
          </p:cNvPr>
          <p:cNvCxnSpPr/>
          <p:nvPr/>
        </p:nvCxnSpPr>
        <p:spPr>
          <a:xfrm>
            <a:off x="10160000" y="6604000"/>
            <a:ext cx="7213600" cy="0"/>
          </a:xfrm>
          <a:prstGeom prst="line">
            <a:avLst/>
          </a:prstGeom>
          <a:ln w="12700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ote @4">
            <a:extLst>
              <a:ext uri="{FF2B5EF4-FFF2-40B4-BE49-F238E27FC236}">
                <a16:creationId xmlns:a16="http://schemas.microsoft.com/office/drawing/2014/main" id="{F0F52B14-29F4-614A-E6D9-7C05767DA622}"/>
              </a:ext>
            </a:extLst>
          </p:cNvPr>
          <p:cNvSpPr txBox="1"/>
          <p:nvPr/>
        </p:nvSpPr>
        <p:spPr>
          <a:xfrm>
            <a:off x="10160000" y="6984999"/>
            <a:ext cx="7213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Both require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: without a channel,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0 (cutoff).</a:t>
            </a:r>
          </a:p>
        </p:txBody>
      </p:sp>
      <p:sp>
        <p:nvSpPr>
          <p:cNvPr id="6" name="chrome page">
            <a:extLst>
              <a:ext uri="{FF2B5EF4-FFF2-40B4-BE49-F238E27FC236}">
                <a16:creationId xmlns:a16="http://schemas.microsoft.com/office/drawing/2014/main" id="{D327CD09-AFA1-99D2-8345-47CA3AFD1F98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9270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081DE37-2549-274E-0CE6-5D0BFFAF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Example: find the drain voltage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EED30207-FF2C-B5C0-F60C-7CD4A5FDDBFC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34B2E3E-39C7-C1A3-2A53-3CB5806A344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ABBD77E8-F9A4-A2AF-F619-32FDA4358518}"/>
              </a:ext>
            </a:extLst>
          </p:cNvPr>
          <p:cNvSpPr txBox="1"/>
          <p:nvPr/>
        </p:nvSpPr>
        <p:spPr>
          <a:xfrm>
            <a:off x="914400" y="1676399"/>
            <a:ext cx="16459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Given </a:t>
            </a:r>
            <a:r>
              <a:rPr lang="en-US" sz="24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t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 = 1 V and k′</a:t>
            </a:r>
            <a:r>
              <a:rPr lang="en-US" sz="2400" baseline="-25000">
                <a:solidFill>
                  <a:srgbClr val="4E5D6C"/>
                </a:solidFill>
                <a:latin typeface="Segoe UI" panose="020B0502040204020203" pitchFamily="34" charset="0"/>
              </a:rPr>
              <a:t>n</a:t>
            </a:r>
            <a:r>
              <a:rPr lang="en-US" sz="2400">
                <a:solidFill>
                  <a:srgbClr val="4E5D6C"/>
                </a:solidFill>
                <a:latin typeface="Segoe UI" panose="020B0502040204020203" pitchFamily="34" charset="0"/>
              </a:rPr>
              <a:t>(W/L) = 1 mA/V². Assume the gate draws no current.</a:t>
            </a:r>
          </a:p>
        </p:txBody>
      </p:sp>
      <p:sp>
        <p:nvSpPr>
          <p:cNvPr id="6" name="ckt">
            <a:extLst>
              <a:ext uri="{FF2B5EF4-FFF2-40B4-BE49-F238E27FC236}">
                <a16:creationId xmlns:a16="http://schemas.microsoft.com/office/drawing/2014/main" id="{01366D0A-A590-F725-E53C-43CC865A00C3}"/>
              </a:ext>
            </a:extLst>
          </p:cNvPr>
          <p:cNvSpPr/>
          <p:nvPr/>
        </p:nvSpPr>
        <p:spPr>
          <a:xfrm>
            <a:off x="4343400" y="2844800"/>
            <a:ext cx="127000" cy="127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426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kt">
            <a:extLst>
              <a:ext uri="{FF2B5EF4-FFF2-40B4-BE49-F238E27FC236}">
                <a16:creationId xmlns:a16="http://schemas.microsoft.com/office/drawing/2014/main" id="{027C171D-9437-E67C-9903-175139C3A732}"/>
              </a:ext>
            </a:extLst>
          </p:cNvPr>
          <p:cNvSpPr/>
          <p:nvPr/>
        </p:nvSpPr>
        <p:spPr>
          <a:xfrm>
            <a:off x="4406900" y="2971800"/>
            <a:ext cx="1" cy="520701"/>
          </a:xfrm>
          <a:custGeom>
            <a:avLst/>
            <a:gdLst/>
            <a:ahLst/>
            <a:cxnLst/>
            <a:rect l="0" t="0" r="0" b="0"/>
            <a:pathLst>
              <a:path w="1" h="520701">
                <a:moveTo>
                  <a:pt x="0" y="0"/>
                </a:moveTo>
                <a:lnTo>
                  <a:pt x="0" y="5207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617B7-05DE-3A89-06CD-D2A34FE1DA4B}"/>
              </a:ext>
            </a:extLst>
          </p:cNvPr>
          <p:cNvSpPr txBox="1"/>
          <p:nvPr/>
        </p:nvSpPr>
        <p:spPr>
          <a:xfrm>
            <a:off x="4584700" y="2654299"/>
            <a:ext cx="279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+</a:t>
            </a:r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V</a:t>
            </a:r>
          </a:p>
        </p:txBody>
      </p:sp>
      <p:sp>
        <p:nvSpPr>
          <p:cNvPr id="9" name="ckt">
            <a:extLst>
              <a:ext uri="{FF2B5EF4-FFF2-40B4-BE49-F238E27FC236}">
                <a16:creationId xmlns:a16="http://schemas.microsoft.com/office/drawing/2014/main" id="{F839D854-181C-260C-46A2-1370C81C35FA}"/>
              </a:ext>
            </a:extLst>
          </p:cNvPr>
          <p:cNvSpPr/>
          <p:nvPr/>
        </p:nvSpPr>
        <p:spPr>
          <a:xfrm>
            <a:off x="3200400" y="3492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C80225FD-2C53-6E1E-6580-090B33C87DF0}"/>
              </a:ext>
            </a:extLst>
          </p:cNvPr>
          <p:cNvSpPr/>
          <p:nvPr/>
        </p:nvSpPr>
        <p:spPr>
          <a:xfrm>
            <a:off x="4349750" y="3435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B62BA13D-A0E4-5229-3568-812CB906FD0B}"/>
              </a:ext>
            </a:extLst>
          </p:cNvPr>
          <p:cNvSpPr/>
          <p:nvPr/>
        </p:nvSpPr>
        <p:spPr>
          <a:xfrm>
            <a:off x="3200400" y="8699500"/>
            <a:ext cx="2413001" cy="1"/>
          </a:xfrm>
          <a:custGeom>
            <a:avLst/>
            <a:gdLst/>
            <a:ahLst/>
            <a:cxnLst/>
            <a:rect l="0" t="0" r="0" b="0"/>
            <a:pathLst>
              <a:path w="2413001" h="1">
                <a:moveTo>
                  <a:pt x="0" y="0"/>
                </a:moveTo>
                <a:lnTo>
                  <a:pt x="24130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">
            <a:extLst>
              <a:ext uri="{FF2B5EF4-FFF2-40B4-BE49-F238E27FC236}">
                <a16:creationId xmlns:a16="http://schemas.microsoft.com/office/drawing/2014/main" id="{4628AC5B-1166-CA24-BB5A-751D42486D31}"/>
              </a:ext>
            </a:extLst>
          </p:cNvPr>
          <p:cNvSpPr/>
          <p:nvPr/>
        </p:nvSpPr>
        <p:spPr>
          <a:xfrm>
            <a:off x="4349750" y="86423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797C841E-06C0-8529-AA21-0A35147318CA}"/>
              </a:ext>
            </a:extLst>
          </p:cNvPr>
          <p:cNvCxnSpPr/>
          <p:nvPr/>
        </p:nvCxnSpPr>
        <p:spPr>
          <a:xfrm>
            <a:off x="4406900" y="8699500"/>
            <a:ext cx="0" cy="17780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C9B8159-447A-5913-342E-09FDD5A5AE21}"/>
              </a:ext>
            </a:extLst>
          </p:cNvPr>
          <p:cNvCxnSpPr/>
          <p:nvPr/>
        </p:nvCxnSpPr>
        <p:spPr>
          <a:xfrm>
            <a:off x="4203700" y="8877300"/>
            <a:ext cx="4064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6B4984C1-1685-39DA-1B31-E2E4E951500B}"/>
              </a:ext>
            </a:extLst>
          </p:cNvPr>
          <p:cNvCxnSpPr/>
          <p:nvPr/>
        </p:nvCxnSpPr>
        <p:spPr>
          <a:xfrm>
            <a:off x="4279900" y="8953500"/>
            <a:ext cx="2540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46739148-2CF7-F12F-509C-C872AEE8BA17}"/>
              </a:ext>
            </a:extLst>
          </p:cNvPr>
          <p:cNvCxnSpPr/>
          <p:nvPr/>
        </p:nvCxnSpPr>
        <p:spPr>
          <a:xfrm>
            <a:off x="4356100" y="9029700"/>
            <a:ext cx="1016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C84D4F10-95C4-C6E0-A61A-830C950F9020}"/>
              </a:ext>
            </a:extLst>
          </p:cNvPr>
          <p:cNvSpPr/>
          <p:nvPr/>
        </p:nvSpPr>
        <p:spPr>
          <a:xfrm>
            <a:off x="3060700" y="34925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kt">
            <a:extLst>
              <a:ext uri="{FF2B5EF4-FFF2-40B4-BE49-F238E27FC236}">
                <a16:creationId xmlns:a16="http://schemas.microsoft.com/office/drawing/2014/main" id="{9FAC8750-C414-F5A9-1887-5B1F38C52A1D}"/>
              </a:ext>
            </a:extLst>
          </p:cNvPr>
          <p:cNvSpPr/>
          <p:nvPr/>
        </p:nvSpPr>
        <p:spPr>
          <a:xfrm>
            <a:off x="3060700" y="6096000"/>
            <a:ext cx="279401" cy="2603501"/>
          </a:xfrm>
          <a:custGeom>
            <a:avLst/>
            <a:gdLst/>
            <a:ahLst/>
            <a:cxnLst/>
            <a:rect l="0" t="0" r="0" b="0"/>
            <a:pathLst>
              <a:path w="279401" h="2603501">
                <a:moveTo>
                  <a:pt x="139700" y="0"/>
                </a:moveTo>
                <a:lnTo>
                  <a:pt x="139700" y="895350"/>
                </a:lnTo>
                <a:lnTo>
                  <a:pt x="279400" y="963083"/>
                </a:lnTo>
                <a:lnTo>
                  <a:pt x="0" y="1098550"/>
                </a:lnTo>
                <a:lnTo>
                  <a:pt x="279400" y="1234017"/>
                </a:lnTo>
                <a:lnTo>
                  <a:pt x="0" y="1369483"/>
                </a:lnTo>
                <a:lnTo>
                  <a:pt x="279400" y="1504950"/>
                </a:lnTo>
                <a:lnTo>
                  <a:pt x="0" y="1640417"/>
                </a:lnTo>
                <a:lnTo>
                  <a:pt x="139700" y="1708150"/>
                </a:lnTo>
                <a:lnTo>
                  <a:pt x="139700" y="26035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">
            <a:extLst>
              <a:ext uri="{FF2B5EF4-FFF2-40B4-BE49-F238E27FC236}">
                <a16:creationId xmlns:a16="http://schemas.microsoft.com/office/drawing/2014/main" id="{4EB61ED3-032E-FDAB-2EFC-7C2B49C44095}"/>
              </a:ext>
            </a:extLst>
          </p:cNvPr>
          <p:cNvSpPr/>
          <p:nvPr/>
        </p:nvSpPr>
        <p:spPr>
          <a:xfrm>
            <a:off x="3143250" y="6038850"/>
            <a:ext cx="114300" cy="114300"/>
          </a:xfrm>
          <a:prstGeom prst="ellipse">
            <a:avLst/>
          </a:prstGeom>
          <a:solidFill>
            <a:srgbClr val="1426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82C10-81D1-0392-289B-2696F6B37E0D}"/>
              </a:ext>
            </a:extLst>
          </p:cNvPr>
          <p:cNvSpPr txBox="1"/>
          <p:nvPr/>
        </p:nvSpPr>
        <p:spPr>
          <a:xfrm>
            <a:off x="1041400" y="45910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G1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41D80E-B9A3-DC22-5249-6F1F12F9072E}"/>
              </a:ext>
            </a:extLst>
          </p:cNvPr>
          <p:cNvSpPr txBox="1"/>
          <p:nvPr/>
        </p:nvSpPr>
        <p:spPr>
          <a:xfrm>
            <a:off x="1041400" y="7194549"/>
            <a:ext cx="1905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G2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10 M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96EEB682-C913-25E0-4D7B-75DCB81B04EF}"/>
              </a:ext>
            </a:extLst>
          </p:cNvPr>
          <p:cNvCxnSpPr/>
          <p:nvPr/>
        </p:nvCxnSpPr>
        <p:spPr>
          <a:xfrm>
            <a:off x="5054600" y="5711952"/>
            <a:ext cx="0" cy="768096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BB4BF84B-9B75-EDD9-2C87-E70AABA75A90}"/>
              </a:ext>
            </a:extLst>
          </p:cNvPr>
          <p:cNvCxnSpPr/>
          <p:nvPr/>
        </p:nvCxnSpPr>
        <p:spPr>
          <a:xfrm>
            <a:off x="5181600" y="5562600"/>
            <a:ext cx="0" cy="1066800"/>
          </a:xfrm>
          <a:prstGeom prst="line">
            <a:avLst/>
          </a:prstGeom>
          <a:ln w="3175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F83CB0B1-650A-CBBF-CDCF-FA302036E5D1}"/>
              </a:ext>
            </a:extLst>
          </p:cNvPr>
          <p:cNvCxnSpPr/>
          <p:nvPr/>
        </p:nvCxnSpPr>
        <p:spPr>
          <a:xfrm>
            <a:off x="5181600" y="5664200"/>
            <a:ext cx="43180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6F29E52D-B2FB-515B-9388-0FC6190345BF}"/>
              </a:ext>
            </a:extLst>
          </p:cNvPr>
          <p:cNvCxnSpPr/>
          <p:nvPr/>
        </p:nvCxnSpPr>
        <p:spPr>
          <a:xfrm>
            <a:off x="5181600" y="6527800"/>
            <a:ext cx="310896" cy="0"/>
          </a:xfrm>
          <a:prstGeom prst="line">
            <a:avLst/>
          </a:prstGeom>
          <a:ln w="25400">
            <a:solidFill>
              <a:srgbClr val="14263A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2FA241EE-139E-3E5E-7BE1-15CB89577BE2}"/>
              </a:ext>
            </a:extLst>
          </p:cNvPr>
          <p:cNvCxnSpPr/>
          <p:nvPr/>
        </p:nvCxnSpPr>
        <p:spPr>
          <a:xfrm>
            <a:off x="5483860" y="6527800"/>
            <a:ext cx="129540" cy="0"/>
          </a:xfrm>
          <a:prstGeom prst="line">
            <a:avLst/>
          </a:pr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kt">
            <a:extLst>
              <a:ext uri="{FF2B5EF4-FFF2-40B4-BE49-F238E27FC236}">
                <a16:creationId xmlns:a16="http://schemas.microsoft.com/office/drawing/2014/main" id="{20480DE9-4F7F-8ADF-5712-78F42074219B}"/>
              </a:ext>
            </a:extLst>
          </p:cNvPr>
          <p:cNvSpPr/>
          <p:nvPr/>
        </p:nvSpPr>
        <p:spPr>
          <a:xfrm>
            <a:off x="3200400" y="6096000"/>
            <a:ext cx="1854201" cy="1"/>
          </a:xfrm>
          <a:custGeom>
            <a:avLst/>
            <a:gdLst/>
            <a:ahLst/>
            <a:cxnLst/>
            <a:rect l="0" t="0" r="0" b="0"/>
            <a:pathLst>
              <a:path w="1854201" h="1">
                <a:moveTo>
                  <a:pt x="0" y="0"/>
                </a:moveTo>
                <a:lnTo>
                  <a:pt x="1854200" y="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">
            <a:extLst>
              <a:ext uri="{FF2B5EF4-FFF2-40B4-BE49-F238E27FC236}">
                <a16:creationId xmlns:a16="http://schemas.microsoft.com/office/drawing/2014/main" id="{03ACCE33-65B8-0733-2FC1-C8B4A91D52B4}"/>
              </a:ext>
            </a:extLst>
          </p:cNvPr>
          <p:cNvSpPr/>
          <p:nvPr/>
        </p:nvSpPr>
        <p:spPr>
          <a:xfrm>
            <a:off x="5473700" y="34925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7C65C387-430F-BBB6-3038-F233839F6616}"/>
              </a:ext>
            </a:extLst>
          </p:cNvPr>
          <p:cNvSpPr/>
          <p:nvPr/>
        </p:nvSpPr>
        <p:spPr>
          <a:xfrm>
            <a:off x="5613400" y="52324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">
            <a:extLst>
              <a:ext uri="{FF2B5EF4-FFF2-40B4-BE49-F238E27FC236}">
                <a16:creationId xmlns:a16="http://schemas.microsoft.com/office/drawing/2014/main" id="{F8A631D0-7454-F28B-7B4B-32EE86A6EA86}"/>
              </a:ext>
            </a:extLst>
          </p:cNvPr>
          <p:cNvSpPr/>
          <p:nvPr/>
        </p:nvSpPr>
        <p:spPr>
          <a:xfrm>
            <a:off x="5473700" y="6959600"/>
            <a:ext cx="279401" cy="1739901"/>
          </a:xfrm>
          <a:custGeom>
            <a:avLst/>
            <a:gdLst/>
            <a:ahLst/>
            <a:cxnLst/>
            <a:rect l="0" t="0" r="0" b="0"/>
            <a:pathLst>
              <a:path w="279401" h="1739901">
                <a:moveTo>
                  <a:pt x="139700" y="0"/>
                </a:moveTo>
                <a:lnTo>
                  <a:pt x="139700" y="463550"/>
                </a:lnTo>
                <a:lnTo>
                  <a:pt x="279400" y="531283"/>
                </a:lnTo>
                <a:lnTo>
                  <a:pt x="0" y="666750"/>
                </a:lnTo>
                <a:lnTo>
                  <a:pt x="279400" y="802217"/>
                </a:lnTo>
                <a:lnTo>
                  <a:pt x="0" y="937683"/>
                </a:lnTo>
                <a:lnTo>
                  <a:pt x="279400" y="1073150"/>
                </a:lnTo>
                <a:lnTo>
                  <a:pt x="0" y="1208617"/>
                </a:lnTo>
                <a:lnTo>
                  <a:pt x="139700" y="1276350"/>
                </a:lnTo>
                <a:lnTo>
                  <a:pt x="139700" y="17399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E1E803F2-5FEA-C3A3-3772-586B81524EBE}"/>
              </a:ext>
            </a:extLst>
          </p:cNvPr>
          <p:cNvSpPr/>
          <p:nvPr/>
        </p:nvSpPr>
        <p:spPr>
          <a:xfrm>
            <a:off x="5613400" y="6527800"/>
            <a:ext cx="1" cy="431801"/>
          </a:xfrm>
          <a:custGeom>
            <a:avLst/>
            <a:gdLst/>
            <a:ahLst/>
            <a:cxnLst/>
            <a:rect l="0" t="0" r="0" b="0"/>
            <a:pathLst>
              <a:path w="1" h="431801">
                <a:moveTo>
                  <a:pt x="0" y="0"/>
                </a:moveTo>
                <a:lnTo>
                  <a:pt x="0" y="431800"/>
                </a:lnTo>
              </a:path>
            </a:pathLst>
          </a:custGeom>
          <a:ln w="25400">
            <a:solidFill>
              <a:srgbClr val="1426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0036AA-AD44-548C-9CB6-B942E22F13D3}"/>
              </a:ext>
            </a:extLst>
          </p:cNvPr>
          <p:cNvSpPr txBox="1"/>
          <p:nvPr/>
        </p:nvSpPr>
        <p:spPr>
          <a:xfrm>
            <a:off x="5842000" y="41592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05712C-9257-ADC2-7832-64B172EF8CE1}"/>
              </a:ext>
            </a:extLst>
          </p:cNvPr>
          <p:cNvSpPr txBox="1"/>
          <p:nvPr/>
        </p:nvSpPr>
        <p:spPr>
          <a:xfrm>
            <a:off x="5842000" y="7626349"/>
            <a:ext cx="2159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4263A"/>
                </a:solidFill>
                <a:latin typeface="Segoe UI" panose="020B0502040204020203" pitchFamily="34" charset="0"/>
              </a:rPr>
              <a:t>R</a:t>
            </a:r>
            <a:r>
              <a:rPr lang="en-US" sz="2000" baseline="-25000">
                <a:solidFill>
                  <a:srgbClr val="14263A"/>
                </a:solidFill>
                <a:latin typeface="Segoe UI" panose="020B0502040204020203" pitchFamily="34" charset="0"/>
              </a:rPr>
              <a:t>S</a:t>
            </a:r>
            <a:r>
              <a:rPr lang="en-US" sz="2000">
                <a:solidFill>
                  <a:srgbClr val="14263A"/>
                </a:solidFill>
                <a:latin typeface="Segoe UI" panose="020B0502040204020203" pitchFamily="34" charset="0"/>
              </a:rPr>
              <a:t> = 6 k</a:t>
            </a:r>
            <a:r>
              <a:rPr lang="el-GR" sz="2000">
                <a:solidFill>
                  <a:srgbClr val="14263A"/>
                </a:solidFill>
                <a:latin typeface="Segoe UI" panose="020B0502040204020203" pitchFamily="34" charset="0"/>
              </a:rPr>
              <a:t>Ω</a:t>
            </a:r>
            <a:endParaRPr lang="en-US" sz="2000">
              <a:solidFill>
                <a:srgbClr val="14263A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node @2">
            <a:extLst>
              <a:ext uri="{FF2B5EF4-FFF2-40B4-BE49-F238E27FC236}">
                <a16:creationId xmlns:a16="http://schemas.microsoft.com/office/drawing/2014/main" id="{E32FB19A-1E58-7F1F-1700-17C8AADFF801}"/>
              </a:ext>
            </a:extLst>
          </p:cNvPr>
          <p:cNvSpPr txBox="1"/>
          <p:nvPr/>
        </p:nvSpPr>
        <p:spPr>
          <a:xfrm>
            <a:off x="3403600" y="5664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G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5 V</a:t>
            </a:r>
          </a:p>
        </p:txBody>
      </p:sp>
      <p:sp>
        <p:nvSpPr>
          <p:cNvPr id="35" name="node @6">
            <a:extLst>
              <a:ext uri="{FF2B5EF4-FFF2-40B4-BE49-F238E27FC236}">
                <a16:creationId xmlns:a16="http://schemas.microsoft.com/office/drawing/2014/main" id="{2AD2717A-097B-CC5D-FC75-031634CAA6A6}"/>
              </a:ext>
            </a:extLst>
          </p:cNvPr>
          <p:cNvSpPr txBox="1"/>
          <p:nvPr/>
        </p:nvSpPr>
        <p:spPr>
          <a:xfrm>
            <a:off x="5816600" y="6248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2B5C8A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2B5C8A"/>
                </a:solidFill>
                <a:latin typeface="Segoe UI" panose="020B0502040204020203" pitchFamily="34" charset="0"/>
              </a:rPr>
              <a:t>S</a:t>
            </a:r>
            <a:r>
              <a:rPr lang="en-US" sz="2000" b="1">
                <a:solidFill>
                  <a:srgbClr val="2B5C8A"/>
                </a:solidFill>
                <a:latin typeface="Segoe UI" panose="020B0502040204020203" pitchFamily="34" charset="0"/>
              </a:rPr>
              <a:t> = 3 V</a:t>
            </a:r>
          </a:p>
        </p:txBody>
      </p:sp>
      <p:sp>
        <p:nvSpPr>
          <p:cNvPr id="36" name="node @6">
            <a:extLst>
              <a:ext uri="{FF2B5EF4-FFF2-40B4-BE49-F238E27FC236}">
                <a16:creationId xmlns:a16="http://schemas.microsoft.com/office/drawing/2014/main" id="{D26D0780-8C8D-3CBD-9174-7DA59755D18C}"/>
              </a:ext>
            </a:extLst>
          </p:cNvPr>
          <p:cNvSpPr txBox="1"/>
          <p:nvPr/>
        </p:nvSpPr>
        <p:spPr>
          <a:xfrm>
            <a:off x="5816600" y="51053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 i="1">
                <a:solidFill>
                  <a:srgbClr val="A61B1B"/>
                </a:solidFill>
                <a:latin typeface="Segoe UI" panose="020B0502040204020203" pitchFamily="34" charset="0"/>
              </a:rPr>
              <a:t>V</a:t>
            </a:r>
            <a:r>
              <a:rPr lang="en-US" sz="2000" b="1" baseline="-25000">
                <a:solidFill>
                  <a:srgbClr val="A61B1B"/>
                </a:solidFill>
                <a:latin typeface="Segoe UI" panose="020B0502040204020203" pitchFamily="34" charset="0"/>
              </a:rPr>
              <a:t>D</a:t>
            </a:r>
            <a:r>
              <a:rPr lang="en-US" sz="2000" b="1">
                <a:solidFill>
                  <a:srgbClr val="A61B1B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37" name="badge @2">
            <a:extLst>
              <a:ext uri="{FF2B5EF4-FFF2-40B4-BE49-F238E27FC236}">
                <a16:creationId xmlns:a16="http://schemas.microsoft.com/office/drawing/2014/main" id="{DD3F730B-5A2C-33E8-BE30-E11B28714FD1}"/>
              </a:ext>
            </a:extLst>
          </p:cNvPr>
          <p:cNvSpPr/>
          <p:nvPr/>
        </p:nvSpPr>
        <p:spPr>
          <a:xfrm>
            <a:off x="8128000" y="2514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adge @2">
            <a:extLst>
              <a:ext uri="{FF2B5EF4-FFF2-40B4-BE49-F238E27FC236}">
                <a16:creationId xmlns:a16="http://schemas.microsoft.com/office/drawing/2014/main" id="{4A946107-E60D-EDB5-8A34-68BA3C37ED6B}"/>
              </a:ext>
            </a:extLst>
          </p:cNvPr>
          <p:cNvSpPr txBox="1"/>
          <p:nvPr/>
        </p:nvSpPr>
        <p:spPr>
          <a:xfrm>
            <a:off x="8128000" y="2514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39" name="lab @2">
            <a:extLst>
              <a:ext uri="{FF2B5EF4-FFF2-40B4-BE49-F238E27FC236}">
                <a16:creationId xmlns:a16="http://schemas.microsoft.com/office/drawing/2014/main" id="{A03521FA-76F0-387D-328E-ED44C48E1B2C}"/>
              </a:ext>
            </a:extLst>
          </p:cNvPr>
          <p:cNvSpPr txBox="1"/>
          <p:nvPr/>
        </p:nvSpPr>
        <p:spPr>
          <a:xfrm>
            <a:off x="8686800" y="24891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Gate voltage: the divider is unloaded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f>
                        <m:fPr>
                          <m:ctrlPr>
                            <a:rPr lang="en-US" sz="2600" b="0" i="1">
                              <a:solidFill>
                                <a:srgbClr val="14263A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G1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6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G2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0" name="eq @2">
                <a:extLst>
                  <a:ext uri="{FF2B5EF4-FFF2-40B4-BE49-F238E27FC236}">
                    <a16:creationId xmlns:a16="http://schemas.microsoft.com/office/drawing/2014/main" id="{20CC3340-B7C5-E2F8-1AE5-1932C9C1B2D0}"/>
                  </a:ext>
                </a:extLst>
              </p:cNvPr>
              <p:cNvSpPr txBox="1"/>
              <p:nvPr/>
            </p:nvSpPr>
            <p:spPr>
              <a:xfrm>
                <a:off x="8686800" y="29717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V_{DD}\,\frac{R_{G2}}{R_{G1}+R_{G2}} = 5\ \mathrm{V}</a:t>
                </a:r>
              </a:p>
            </p:txBody>
          </p:sp>
        </mc:Fallback>
      </mc:AlternateContent>
      <p:sp>
        <p:nvSpPr>
          <p:cNvPr id="41" name="badge @3">
            <a:extLst>
              <a:ext uri="{FF2B5EF4-FFF2-40B4-BE49-F238E27FC236}">
                <a16:creationId xmlns:a16="http://schemas.microsoft.com/office/drawing/2014/main" id="{30A0E292-322F-9C9A-5C3A-35960E0BAAE3}"/>
              </a:ext>
            </a:extLst>
          </p:cNvPr>
          <p:cNvSpPr/>
          <p:nvPr/>
        </p:nvSpPr>
        <p:spPr>
          <a:xfrm>
            <a:off x="8128000" y="41402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badge @3">
            <a:extLst>
              <a:ext uri="{FF2B5EF4-FFF2-40B4-BE49-F238E27FC236}">
                <a16:creationId xmlns:a16="http://schemas.microsoft.com/office/drawing/2014/main" id="{C1B4CEFE-6E49-2029-B94E-A827EC55060F}"/>
              </a:ext>
            </a:extLst>
          </p:cNvPr>
          <p:cNvSpPr txBox="1"/>
          <p:nvPr/>
        </p:nvSpPr>
        <p:spPr>
          <a:xfrm>
            <a:off x="8128000" y="41401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43" name="lab @3">
            <a:extLst>
              <a:ext uri="{FF2B5EF4-FFF2-40B4-BE49-F238E27FC236}">
                <a16:creationId xmlns:a16="http://schemas.microsoft.com/office/drawing/2014/main" id="{49A6516D-F918-AC1D-1A81-AED58CC42D1C}"/>
              </a:ext>
            </a:extLst>
          </p:cNvPr>
          <p:cNvSpPr txBox="1"/>
          <p:nvPr/>
        </p:nvSpPr>
        <p:spPr>
          <a:xfrm>
            <a:off x="8686800" y="41147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Assume saturation, with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=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G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4E5D6C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R</a:t>
            </a:r>
            <a:r>
              <a:rPr lang="en-US" sz="2200" baseline="-25000">
                <a:solidFill>
                  <a:srgbClr val="4E5D6C"/>
                </a:solidFill>
                <a:latin typeface="Segoe UI" panose="020B0502040204020203" pitchFamily="34" charset="0"/>
              </a:rPr>
              <a:t>S</a:t>
            </a:r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  (I in mA, R in k</a:t>
            </a:r>
            <a:r>
              <a:rPr lang="el-GR" sz="2200">
                <a:solidFill>
                  <a:srgbClr val="4E5D6C"/>
                </a:solidFill>
                <a:latin typeface="Segoe UI" panose="020B0502040204020203" pitchFamily="34" charset="0"/>
              </a:rPr>
              <a:t>Ω)</a:t>
            </a:r>
            <a:endParaRPr lang="en-US" sz="2200">
              <a:solidFill>
                <a:srgbClr val="4E5D6C"/>
              </a:solidFill>
              <a:latin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(1)(5−6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−1</m:t>
                      </m:r>
                      <m:sSup>
                        <m:s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eq @3">
                <a:extLst>
                  <a:ext uri="{FF2B5EF4-FFF2-40B4-BE49-F238E27FC236}">
                    <a16:creationId xmlns:a16="http://schemas.microsoft.com/office/drawing/2014/main" id="{F5BB84A1-F990-B3D1-5F8A-8DAB10E2B770}"/>
                  </a:ext>
                </a:extLst>
              </p:cNvPr>
              <p:cNvSpPr txBox="1"/>
              <p:nvPr/>
            </p:nvSpPr>
            <p:spPr>
              <a:xfrm>
                <a:off x="8686800" y="4597399"/>
                <a:ext cx="86868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\frac{1}{2}(1)\,(5-6I_D-1)^2</a:t>
                </a:r>
              </a:p>
            </p:txBody>
          </p:sp>
        </mc:Fallback>
      </mc:AlternateContent>
      <p:sp>
        <p:nvSpPr>
          <p:cNvPr id="45" name="badge @4">
            <a:extLst>
              <a:ext uri="{FF2B5EF4-FFF2-40B4-BE49-F238E27FC236}">
                <a16:creationId xmlns:a16="http://schemas.microsoft.com/office/drawing/2014/main" id="{4ADFAA6E-A6D6-0EF7-A7BB-1613540F6B4F}"/>
              </a:ext>
            </a:extLst>
          </p:cNvPr>
          <p:cNvSpPr/>
          <p:nvPr/>
        </p:nvSpPr>
        <p:spPr>
          <a:xfrm>
            <a:off x="8128000" y="57658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badge @4">
            <a:extLst>
              <a:ext uri="{FF2B5EF4-FFF2-40B4-BE49-F238E27FC236}">
                <a16:creationId xmlns:a16="http://schemas.microsoft.com/office/drawing/2014/main" id="{0C696409-284D-216C-6DDD-2C5AF61432C6}"/>
              </a:ext>
            </a:extLst>
          </p:cNvPr>
          <p:cNvSpPr txBox="1"/>
          <p:nvPr/>
        </p:nvSpPr>
        <p:spPr>
          <a:xfrm>
            <a:off x="8128000" y="57657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3</a:t>
            </a:r>
          </a:p>
        </p:txBody>
      </p:sp>
      <p:sp>
        <p:nvSpPr>
          <p:cNvPr id="47" name="lab @4">
            <a:extLst>
              <a:ext uri="{FF2B5EF4-FFF2-40B4-BE49-F238E27FC236}">
                <a16:creationId xmlns:a16="http://schemas.microsoft.com/office/drawing/2014/main" id="{9FB396CD-F4A3-372F-7E49-986ED079FF07}"/>
              </a:ext>
            </a:extLst>
          </p:cNvPr>
          <p:cNvSpPr txBox="1"/>
          <p:nvPr/>
        </p:nvSpPr>
        <p:spPr>
          <a:xfrm>
            <a:off x="8686800" y="5740399"/>
            <a:ext cx="8686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4E5D6C"/>
                </a:solidFill>
                <a:latin typeface="Segoe UI" panose="020B0502040204020203" pitchFamily="34" charset="0"/>
              </a:rPr>
              <a:t>Solve the quadratic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eq @4">
                <a:extLst>
                  <a:ext uri="{FF2B5EF4-FFF2-40B4-BE49-F238E27FC236}">
                    <a16:creationId xmlns:a16="http://schemas.microsoft.com/office/drawing/2014/main" id="{9EE7FF49-D56D-D0EE-0CA9-8CF35EB5A009}"/>
                  </a:ext>
                </a:extLst>
              </p:cNvPr>
              <p:cNvSpPr txBox="1"/>
              <p:nvPr/>
            </p:nvSpPr>
            <p:spPr>
              <a:xfrm>
                <a:off x="8686800" y="62229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I_D=0.89\ \text{or}\ 0.5\ \mathrm{mA}</a:t>
                </a:r>
              </a:p>
            </p:txBody>
          </p:sp>
        </mc:Fallback>
      </mc:AlternateContent>
      <p:sp>
        <p:nvSpPr>
          <p:cNvPr id="49" name="badge @5">
            <a:extLst>
              <a:ext uri="{FF2B5EF4-FFF2-40B4-BE49-F238E27FC236}">
                <a16:creationId xmlns:a16="http://schemas.microsoft.com/office/drawing/2014/main" id="{BAE2068A-E2F2-6AA6-C311-4BC9F529C9E6}"/>
              </a:ext>
            </a:extLst>
          </p:cNvPr>
          <p:cNvSpPr/>
          <p:nvPr/>
        </p:nvSpPr>
        <p:spPr>
          <a:xfrm>
            <a:off x="8128000" y="71120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badge @5">
            <a:extLst>
              <a:ext uri="{FF2B5EF4-FFF2-40B4-BE49-F238E27FC236}">
                <a16:creationId xmlns:a16="http://schemas.microsoft.com/office/drawing/2014/main" id="{423B365C-1738-BA15-9202-5616CB1B5A73}"/>
              </a:ext>
            </a:extLst>
          </p:cNvPr>
          <p:cNvSpPr txBox="1"/>
          <p:nvPr/>
        </p:nvSpPr>
        <p:spPr>
          <a:xfrm>
            <a:off x="8128000" y="71119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4</a:t>
            </a:r>
          </a:p>
        </p:txBody>
      </p:sp>
      <p:sp>
        <p:nvSpPr>
          <p:cNvPr id="51" name="lab @5">
            <a:extLst>
              <a:ext uri="{FF2B5EF4-FFF2-40B4-BE49-F238E27FC236}">
                <a16:creationId xmlns:a16="http://schemas.microsoft.com/office/drawing/2014/main" id="{85A58E10-6A61-1F04-08A1-A755C671E9AE}"/>
              </a:ext>
            </a:extLst>
          </p:cNvPr>
          <p:cNvSpPr txBox="1"/>
          <p:nvPr/>
        </p:nvSpPr>
        <p:spPr>
          <a:xfrm>
            <a:off x="8686800" y="7086599"/>
            <a:ext cx="8686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0.89 mA would give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−0.33 V &lt;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(no channel): reject it.  So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I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0.5 mA,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= 2 V.</a:t>
            </a:r>
          </a:p>
        </p:txBody>
      </p:sp>
      <p:sp>
        <p:nvSpPr>
          <p:cNvPr id="52" name="badge @6">
            <a:extLst>
              <a:ext uri="{FF2B5EF4-FFF2-40B4-BE49-F238E27FC236}">
                <a16:creationId xmlns:a16="http://schemas.microsoft.com/office/drawing/2014/main" id="{4094F540-0460-B604-C478-1351E2203EA4}"/>
              </a:ext>
            </a:extLst>
          </p:cNvPr>
          <p:cNvSpPr/>
          <p:nvPr/>
        </p:nvSpPr>
        <p:spPr>
          <a:xfrm>
            <a:off x="8128000" y="8229600"/>
            <a:ext cx="381000" cy="381000"/>
          </a:xfrm>
          <a:prstGeom prst="ellipse">
            <a:avLst/>
          </a:prstGeom>
          <a:solidFill>
            <a:srgbClr val="2B5C8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adge @6">
            <a:extLst>
              <a:ext uri="{FF2B5EF4-FFF2-40B4-BE49-F238E27FC236}">
                <a16:creationId xmlns:a16="http://schemas.microsoft.com/office/drawing/2014/main" id="{965F63E0-9F63-B7F7-EBBD-1335F0960CE8}"/>
              </a:ext>
            </a:extLst>
          </p:cNvPr>
          <p:cNvSpPr txBox="1"/>
          <p:nvPr/>
        </p:nvSpPr>
        <p:spPr>
          <a:xfrm>
            <a:off x="8128000" y="82295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Georgia" panose="02040502050405020303" pitchFamily="18" charset="0"/>
              </a:rPr>
              <a:t>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8F0FCFD6-70C1-54EB-C831-F7B8FA6DC36F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6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=10−0.5(6)=7 </m:t>
                      </m:r>
                      <m:r>
                        <m:rPr>
                          <m:sty m:val="p"/>
                        </m:rPr>
                        <a:rPr lang="en-US" sz="26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4" name="eq @6">
                <a:extLst>
                  <a:ext uri="{FF2B5EF4-FFF2-40B4-BE49-F238E27FC236}">
                    <a16:creationId xmlns:a16="http://schemas.microsoft.com/office/drawing/2014/main" id="{8F0FCFD6-70C1-54EB-C831-F7B8FA6DC36F}"/>
                  </a:ext>
                </a:extLst>
              </p:cNvPr>
              <p:cNvSpPr txBox="1"/>
              <p:nvPr/>
            </p:nvSpPr>
            <p:spPr>
              <a:xfrm>
                <a:off x="8686800" y="8153399"/>
                <a:ext cx="86868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V_D = V_{DD} - I_DR_D = 10 - 0.5(6) = 7\ \mathrm{V}</a:t>
                </a:r>
              </a:p>
            </p:txBody>
          </p:sp>
        </mc:Fallback>
      </mc:AlternateContent>
      <p:sp>
        <p:nvSpPr>
          <p:cNvPr id="55" name="answer @6 bg">
            <a:extLst>
              <a:ext uri="{FF2B5EF4-FFF2-40B4-BE49-F238E27FC236}">
                <a16:creationId xmlns:a16="http://schemas.microsoft.com/office/drawing/2014/main" id="{1FB43E78-5BD7-CA1D-FDD8-BCCE60D93C3E}"/>
              </a:ext>
            </a:extLst>
          </p:cNvPr>
          <p:cNvSpPr/>
          <p:nvPr/>
        </p:nvSpPr>
        <p:spPr>
          <a:xfrm>
            <a:off x="8686800" y="8915400"/>
            <a:ext cx="2334768" cy="568960"/>
          </a:xfrm>
          <a:prstGeom prst="roundRect">
            <a:avLst>
              <a:gd name="adj" fmla="val 25000"/>
            </a:avLst>
          </a:prstGeom>
          <a:solidFill>
            <a:srgbClr val="F8E6E6"/>
          </a:solidFill>
          <a:ln w="19050">
            <a:solidFill>
              <a:srgbClr val="A61B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nswer @6">
            <a:extLst>
              <a:ext uri="{FF2B5EF4-FFF2-40B4-BE49-F238E27FC236}">
                <a16:creationId xmlns:a16="http://schemas.microsoft.com/office/drawing/2014/main" id="{B920426F-32C5-697B-970D-961AB2B823A2}"/>
              </a:ext>
            </a:extLst>
          </p:cNvPr>
          <p:cNvSpPr txBox="1"/>
          <p:nvPr/>
        </p:nvSpPr>
        <p:spPr>
          <a:xfrm>
            <a:off x="8915400" y="9016999"/>
            <a:ext cx="1928368" cy="36576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sz="2400" i="1">
                <a:solidFill>
                  <a:srgbClr val="A61B1B"/>
                </a:solidFill>
                <a:latin typeface="Segoe UI" panose="020B0502040204020203" pitchFamily="34" charset="0"/>
              </a:rPr>
              <a:t>V</a:t>
            </a:r>
            <a:r>
              <a:rPr lang="en-US" sz="2400" baseline="-25000">
                <a:solidFill>
                  <a:srgbClr val="A61B1B"/>
                </a:solidFill>
                <a:latin typeface="Segoe UI" panose="020B0502040204020203" pitchFamily="34" charset="0"/>
              </a:rPr>
              <a:t>D</a:t>
            </a:r>
            <a:r>
              <a:rPr lang="en-US" sz="2400">
                <a:solidFill>
                  <a:srgbClr val="A61B1B"/>
                </a:solidFill>
                <a:latin typeface="Segoe UI" panose="020B0502040204020203" pitchFamily="34" charset="0"/>
              </a:rPr>
              <a:t> = 7 V</a:t>
            </a:r>
          </a:p>
        </p:txBody>
      </p:sp>
      <p:sp>
        <p:nvSpPr>
          <p:cNvPr id="57" name="check @6">
            <a:extLst>
              <a:ext uri="{FF2B5EF4-FFF2-40B4-BE49-F238E27FC236}">
                <a16:creationId xmlns:a16="http://schemas.microsoft.com/office/drawing/2014/main" id="{30B2C5CA-279E-DB7E-9D86-61073AD2A13E}"/>
              </a:ext>
            </a:extLst>
          </p:cNvPr>
          <p:cNvSpPr txBox="1"/>
          <p:nvPr/>
        </p:nvSpPr>
        <p:spPr>
          <a:xfrm>
            <a:off x="11303000" y="8940799"/>
            <a:ext cx="6070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✓ Check: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DS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= 4 V ≥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GS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− </a:t>
            </a:r>
            <a:r>
              <a:rPr lang="en-US" sz="2000" i="1">
                <a:solidFill>
                  <a:srgbClr val="1F7A4D"/>
                </a:solidFill>
                <a:latin typeface="Segoe UI" panose="020B0502040204020203" pitchFamily="34" charset="0"/>
              </a:rPr>
              <a:t>V</a:t>
            </a:r>
            <a:r>
              <a:rPr lang="en-US" sz="2000" baseline="-25000">
                <a:solidFill>
                  <a:srgbClr val="1F7A4D"/>
                </a:solidFill>
                <a:latin typeface="Segoe UI" panose="020B0502040204020203" pitchFamily="34" charset="0"/>
              </a:rPr>
              <a:t>t</a:t>
            </a:r>
            <a:r>
              <a:rPr lang="en-US" sz="2000">
                <a:solidFill>
                  <a:srgbClr val="1F7A4D"/>
                </a:solidFill>
                <a:latin typeface="Segoe UI" panose="020B0502040204020203" pitchFamily="34" charset="0"/>
              </a:rPr>
              <a:t> = 1 V, so saturation holds.</a:t>
            </a:r>
          </a:p>
        </p:txBody>
      </p:sp>
      <p:sp>
        <p:nvSpPr>
          <p:cNvPr id="58" name="chrome page">
            <a:extLst>
              <a:ext uri="{FF2B5EF4-FFF2-40B4-BE49-F238E27FC236}">
                <a16:creationId xmlns:a16="http://schemas.microsoft.com/office/drawing/2014/main" id="{41FE2874-C237-29A4-7FD9-BE14744253FD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33387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B225655-F086-C38A-DB68-5A0A0FE0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0400"/>
            <a:ext cx="16459200" cy="8128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4000">
                <a:solidFill>
                  <a:srgbClr val="14263A"/>
                </a:solidFill>
                <a:latin typeface="Georgia" panose="02040502050405020303" pitchFamily="18" charset="0"/>
              </a:rPr>
              <a:t>Summary: three regions of operation</a:t>
            </a:r>
          </a:p>
        </p:txBody>
      </p:sp>
      <p:sp>
        <p:nvSpPr>
          <p:cNvPr id="3" name="eyebrow">
            <a:extLst>
              <a:ext uri="{FF2B5EF4-FFF2-40B4-BE49-F238E27FC236}">
                <a16:creationId xmlns:a16="http://schemas.microsoft.com/office/drawing/2014/main" id="{47013E60-6BF3-A169-56BD-D6AA475A56B8}"/>
              </a:ext>
            </a:extLst>
          </p:cNvPr>
          <p:cNvSpPr txBox="1"/>
          <p:nvPr/>
        </p:nvSpPr>
        <p:spPr>
          <a:xfrm>
            <a:off x="914400" y="279399"/>
            <a:ext cx="16459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2B5C8A"/>
                </a:solidFill>
                <a:latin typeface="Segoe UI Semibold" panose="020B0702040204020203" pitchFamily="34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EBFB027-3B12-28A2-B4C0-82B4BE5DC6E4}"/>
              </a:ext>
            </a:extLst>
          </p:cNvPr>
          <p:cNvSpPr txBox="1"/>
          <p:nvPr/>
        </p:nvSpPr>
        <p:spPr>
          <a:xfrm>
            <a:off x="914400" y="9778999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E5D6C"/>
                </a:solidFill>
                <a:latin typeface="Segoe UI" panose="020B0502040204020203" pitchFamily="34" charset="0"/>
              </a:rPr>
              <a:t>ELEC1 · Lecture 3 · MOSFETs</a:t>
            </a:r>
          </a:p>
        </p:txBody>
      </p:sp>
      <p:sp>
        <p:nvSpPr>
          <p:cNvPr id="5" name="th">
            <a:extLst>
              <a:ext uri="{FF2B5EF4-FFF2-40B4-BE49-F238E27FC236}">
                <a16:creationId xmlns:a16="http://schemas.microsoft.com/office/drawing/2014/main" id="{1A09AEEB-610D-9261-1BE8-8476605B579C}"/>
              </a:ext>
            </a:extLst>
          </p:cNvPr>
          <p:cNvSpPr txBox="1"/>
          <p:nvPr/>
        </p:nvSpPr>
        <p:spPr>
          <a:xfrm>
            <a:off x="914400" y="2285999"/>
            <a:ext cx="2921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REGION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0A33320B-0315-1670-BD2B-6A0F5103F9B1}"/>
              </a:ext>
            </a:extLst>
          </p:cNvPr>
          <p:cNvSpPr txBox="1"/>
          <p:nvPr/>
        </p:nvSpPr>
        <p:spPr>
          <a:xfrm>
            <a:off x="4089400" y="2285999"/>
            <a:ext cx="5334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CONDITION</a:t>
            </a:r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82E91A40-5AA1-98B1-F3BB-335616CACD6A}"/>
              </a:ext>
            </a:extLst>
          </p:cNvPr>
          <p:cNvSpPr txBox="1"/>
          <p:nvPr/>
        </p:nvSpPr>
        <p:spPr>
          <a:xfrm>
            <a:off x="9677400" y="2285999"/>
            <a:ext cx="76962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E5D6C"/>
                </a:solidFill>
                <a:latin typeface="Segoe UI Semibold" panose="020B0702040204020203" pitchFamily="34" charset="0"/>
              </a:rPr>
              <a:t>DRAIN CURRENT</a:t>
            </a:r>
          </a:p>
        </p:txBody>
      </p:sp>
      <p:cxnSp>
        <p:nvCxnSpPr>
          <p:cNvPr id="8" name="rule">
            <a:extLst>
              <a:ext uri="{FF2B5EF4-FFF2-40B4-BE49-F238E27FC236}">
                <a16:creationId xmlns:a16="http://schemas.microsoft.com/office/drawing/2014/main" id="{C7E93EE2-6D50-A99A-49DA-B58903FD081E}"/>
              </a:ext>
            </a:extLst>
          </p:cNvPr>
          <p:cNvCxnSpPr/>
          <p:nvPr/>
        </p:nvCxnSpPr>
        <p:spPr>
          <a:xfrm>
            <a:off x="914400" y="2743200"/>
            <a:ext cx="16459200" cy="0"/>
          </a:xfrm>
          <a:prstGeom prst="line">
            <a:avLst/>
          </a:prstGeom>
          <a:ln w="1587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d">
            <a:extLst>
              <a:ext uri="{FF2B5EF4-FFF2-40B4-BE49-F238E27FC236}">
                <a16:creationId xmlns:a16="http://schemas.microsoft.com/office/drawing/2014/main" id="{44C4E7C4-9C7C-288A-5858-81DCCFF059DF}"/>
              </a:ext>
            </a:extLst>
          </p:cNvPr>
          <p:cNvSpPr txBox="1"/>
          <p:nvPr/>
        </p:nvSpPr>
        <p:spPr>
          <a:xfrm>
            <a:off x="914400" y="29209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Cutoff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7C91A22E-94A0-2D42-97D1-1231BD22779C}"/>
              </a:ext>
            </a:extLst>
          </p:cNvPr>
          <p:cNvSpPr txBox="1"/>
          <p:nvPr/>
        </p:nvSpPr>
        <p:spPr>
          <a:xfrm>
            <a:off x="4089400" y="29209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≤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8E89653F-4108-2F3A-5362-598008AF2102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eq">
                <a:extLst>
                  <a:ext uri="{FF2B5EF4-FFF2-40B4-BE49-F238E27FC236}">
                    <a16:creationId xmlns:a16="http://schemas.microsoft.com/office/drawing/2014/main" id="{8E89653F-4108-2F3A-5362-598008AF2102}"/>
                  </a:ext>
                </a:extLst>
              </p:cNvPr>
              <p:cNvSpPr txBox="1"/>
              <p:nvPr/>
            </p:nvSpPr>
            <p:spPr>
              <a:xfrm>
                <a:off x="9677400" y="29717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2" name="rule">
            <a:extLst>
              <a:ext uri="{FF2B5EF4-FFF2-40B4-BE49-F238E27FC236}">
                <a16:creationId xmlns:a16="http://schemas.microsoft.com/office/drawing/2014/main" id="{7E554A17-BD2F-265F-E3A0-F7D46E6FE1C2}"/>
              </a:ext>
            </a:extLst>
          </p:cNvPr>
          <p:cNvCxnSpPr/>
          <p:nvPr/>
        </p:nvCxnSpPr>
        <p:spPr>
          <a:xfrm>
            <a:off x="914400" y="40386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d">
            <a:extLst>
              <a:ext uri="{FF2B5EF4-FFF2-40B4-BE49-F238E27FC236}">
                <a16:creationId xmlns:a16="http://schemas.microsoft.com/office/drawing/2014/main" id="{484678C7-DC1A-877B-569A-3A927F275B7A}"/>
              </a:ext>
            </a:extLst>
          </p:cNvPr>
          <p:cNvSpPr txBox="1"/>
          <p:nvPr/>
        </p:nvSpPr>
        <p:spPr>
          <a:xfrm>
            <a:off x="914400" y="41401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Triode</a:t>
            </a:r>
          </a:p>
        </p:txBody>
      </p:sp>
      <p:sp>
        <p:nvSpPr>
          <p:cNvPr id="14" name="td">
            <a:extLst>
              <a:ext uri="{FF2B5EF4-FFF2-40B4-BE49-F238E27FC236}">
                <a16:creationId xmlns:a16="http://schemas.microsoft.com/office/drawing/2014/main" id="{212A25DB-19FD-8857-12C3-93B64F7D95D2}"/>
              </a:ext>
            </a:extLst>
          </p:cNvPr>
          <p:cNvSpPr txBox="1"/>
          <p:nvPr/>
        </p:nvSpPr>
        <p:spPr>
          <a:xfrm>
            <a:off x="4089400" y="41401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&lt;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q">
                <a:extLst>
                  <a:ext uri="{FF2B5EF4-FFF2-40B4-BE49-F238E27FC236}">
                    <a16:creationId xmlns:a16="http://schemas.microsoft.com/office/drawing/2014/main" id="{CF3C1CFD-D2EC-7477-DE02-B61316B838B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GS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400" b="0" i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DS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4263A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eq">
                <a:extLst>
                  <a:ext uri="{FF2B5EF4-FFF2-40B4-BE49-F238E27FC236}">
                    <a16:creationId xmlns:a16="http://schemas.microsoft.com/office/drawing/2014/main" id="{CF3C1CFD-D2EC-7477-DE02-B61316B838BA}"/>
                  </a:ext>
                </a:extLst>
              </p:cNvPr>
              <p:cNvSpPr txBox="1"/>
              <p:nvPr/>
            </p:nvSpPr>
            <p:spPr>
              <a:xfrm>
                <a:off x="9677400" y="41909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6" name="rule">
            <a:extLst>
              <a:ext uri="{FF2B5EF4-FFF2-40B4-BE49-F238E27FC236}">
                <a16:creationId xmlns:a16="http://schemas.microsoft.com/office/drawing/2014/main" id="{CB3CA168-8E1B-90C3-6E10-7D038FD53F92}"/>
              </a:ext>
            </a:extLst>
          </p:cNvPr>
          <p:cNvCxnSpPr/>
          <p:nvPr/>
        </p:nvCxnSpPr>
        <p:spPr>
          <a:xfrm>
            <a:off x="914400" y="52578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d">
            <a:extLst>
              <a:ext uri="{FF2B5EF4-FFF2-40B4-BE49-F238E27FC236}">
                <a16:creationId xmlns:a16="http://schemas.microsoft.com/office/drawing/2014/main" id="{9EA7F25F-B313-8B13-E3A4-77369E1B6C5A}"/>
              </a:ext>
            </a:extLst>
          </p:cNvPr>
          <p:cNvSpPr txBox="1"/>
          <p:nvPr/>
        </p:nvSpPr>
        <p:spPr>
          <a:xfrm>
            <a:off x="914400" y="5359399"/>
            <a:ext cx="3048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600">
                <a:solidFill>
                  <a:srgbClr val="14263A"/>
                </a:solidFill>
                <a:latin typeface="Georgia" panose="02040502050405020303" pitchFamily="18" charset="0"/>
              </a:rPr>
              <a:t>Saturation</a:t>
            </a:r>
          </a:p>
        </p:txBody>
      </p:sp>
      <p:sp>
        <p:nvSpPr>
          <p:cNvPr id="18" name="td">
            <a:extLst>
              <a:ext uri="{FF2B5EF4-FFF2-40B4-BE49-F238E27FC236}">
                <a16:creationId xmlns:a16="http://schemas.microsoft.com/office/drawing/2014/main" id="{E8A68CF5-00E1-E1DD-592D-7CFD120004FD}"/>
              </a:ext>
            </a:extLst>
          </p:cNvPr>
          <p:cNvSpPr txBox="1"/>
          <p:nvPr/>
        </p:nvSpPr>
        <p:spPr>
          <a:xfrm>
            <a:off x="4089400" y="5359399"/>
            <a:ext cx="5334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&gt;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, 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DS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≥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GS</a:t>
            </a:r>
            <a:r>
              <a:rPr lang="en-US" sz="2200">
                <a:solidFill>
                  <a:srgbClr val="14263A"/>
                </a:solidFill>
                <a:latin typeface="Segoe UI" panose="020B0502040204020203" pitchFamily="34" charset="0"/>
              </a:rPr>
              <a:t> − </a:t>
            </a:r>
            <a:r>
              <a:rPr lang="en-US" sz="2200" i="1">
                <a:solidFill>
                  <a:srgbClr val="14263A"/>
                </a:solidFill>
                <a:latin typeface="Segoe UI" panose="020B0502040204020203" pitchFamily="34" charset="0"/>
              </a:rPr>
              <a:t>V</a:t>
            </a:r>
            <a:r>
              <a:rPr lang="en-US" sz="2200" baseline="-25000">
                <a:solidFill>
                  <a:srgbClr val="14263A"/>
                </a:solidFill>
                <a:latin typeface="Segoe UI" panose="020B0502040204020203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q">
                <a:extLst>
                  <a:ext uri="{FF2B5EF4-FFF2-40B4-BE49-F238E27FC236}">
                    <a16:creationId xmlns:a16="http://schemas.microsoft.com/office/drawing/2014/main" id="{232C9590-38CF-6430-46B1-DDF76339E5A5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GS</m:t>
                          </m:r>
                        </m:sub>
                      </m:sSub>
                      <m:r>
                        <a:rPr lang="en-US" sz="2400" b="0">
                          <a:solidFill>
                            <a:srgbClr val="14263A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4263A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eq">
                <a:extLst>
                  <a:ext uri="{FF2B5EF4-FFF2-40B4-BE49-F238E27FC236}">
                    <a16:creationId xmlns:a16="http://schemas.microsoft.com/office/drawing/2014/main" id="{232C9590-38CF-6430-46B1-DDF76339E5A5}"/>
                  </a:ext>
                </a:extLst>
              </p:cNvPr>
              <p:cNvSpPr txBox="1"/>
              <p:nvPr/>
            </p:nvSpPr>
            <p:spPr>
              <a:xfrm>
                <a:off x="9677400" y="5410199"/>
                <a:ext cx="7696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0" name="rule">
            <a:extLst>
              <a:ext uri="{FF2B5EF4-FFF2-40B4-BE49-F238E27FC236}">
                <a16:creationId xmlns:a16="http://schemas.microsoft.com/office/drawing/2014/main" id="{D8087129-392A-0382-9C70-1D543121D35B}"/>
              </a:ext>
            </a:extLst>
          </p:cNvPr>
          <p:cNvCxnSpPr/>
          <p:nvPr/>
        </p:nvCxnSpPr>
        <p:spPr>
          <a:xfrm>
            <a:off x="914400" y="6477000"/>
            <a:ext cx="16459200" cy="0"/>
          </a:xfrm>
          <a:prstGeom prst="line">
            <a:avLst/>
          </a:prstGeom>
          <a:ln w="9525">
            <a:solidFill>
              <a:srgbClr val="D4D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akeaway">
            <a:extLst>
              <a:ext uri="{FF2B5EF4-FFF2-40B4-BE49-F238E27FC236}">
                <a16:creationId xmlns:a16="http://schemas.microsoft.com/office/drawing/2014/main" id="{8B07CB35-77EE-6884-61C8-A56C8CD21A5B}"/>
              </a:ext>
            </a:extLst>
          </p:cNvPr>
          <p:cNvSpPr txBox="1"/>
          <p:nvPr/>
        </p:nvSpPr>
        <p:spPr>
          <a:xfrm>
            <a:off x="914400" y="68325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In a DC problem: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assume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a region,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solve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, then </a:t>
            </a:r>
            <a:r>
              <a:rPr lang="en-US" sz="2400" b="1">
                <a:solidFill>
                  <a:srgbClr val="14263A"/>
                </a:solidFill>
                <a:latin typeface="Segoe UI" panose="020B0502040204020203" pitchFamily="34" charset="0"/>
              </a:rPr>
              <a:t>check</a:t>
            </a: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 the assumption.</a:t>
            </a:r>
          </a:p>
        </p:txBody>
      </p:sp>
      <p:sp>
        <p:nvSpPr>
          <p:cNvPr id="22" name="takeaway">
            <a:extLst>
              <a:ext uri="{FF2B5EF4-FFF2-40B4-BE49-F238E27FC236}">
                <a16:creationId xmlns:a16="http://schemas.microsoft.com/office/drawing/2014/main" id="{F5F3BCDA-F936-0F8D-AF5C-57440C99FC9A}"/>
              </a:ext>
            </a:extLst>
          </p:cNvPr>
          <p:cNvSpPr txBox="1"/>
          <p:nvPr/>
        </p:nvSpPr>
        <p:spPr>
          <a:xfrm>
            <a:off x="914400" y="7492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04800" indent="-304800">
              <a:buClr>
                <a:srgbClr val="2B5C8A"/>
              </a:buClr>
              <a:buFont typeface="+mj-lt"/>
              <a:buChar char="•"/>
            </a:pPr>
            <a:r>
              <a:rPr lang="en-US" sz="2400">
                <a:solidFill>
                  <a:srgbClr val="14263A"/>
                </a:solidFill>
                <a:latin typeface="Segoe UI" panose="020B0502040204020203" pitchFamily="34" charset="0"/>
              </a:rPr>
              <a:t>Current saturates because the channel is pinched off at the drain end.</a:t>
            </a:r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4BD26938-FA13-9266-4BA7-53088553B7E8}"/>
              </a:ext>
            </a:extLst>
          </p:cNvPr>
          <p:cNvSpPr txBox="1"/>
          <p:nvPr/>
        </p:nvSpPr>
        <p:spPr>
          <a:xfrm>
            <a:off x="16611600" y="9778999"/>
            <a:ext cx="762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400">
                <a:solidFill>
                  <a:srgbClr val="4E5D6C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49151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616</Words>
  <Application>Microsoft Office PowerPoint</Application>
  <PresentationFormat>Custom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Georgia</vt:lpstr>
      <vt:lpstr>Segoe UI</vt:lpstr>
      <vt:lpstr>Segoe UI Semibold</vt:lpstr>
      <vt:lpstr>Office Theme</vt:lpstr>
      <vt:lpstr>MOSFETs</vt:lpstr>
      <vt:lpstr>Lecture map</vt:lpstr>
      <vt:lpstr>I–V characteristics</vt:lpstr>
      <vt:lpstr>Creating a channel: the threshold voltage</vt:lpstr>
      <vt:lpstr>Triode and saturation: one curve, two equations</vt:lpstr>
      <vt:lpstr>Example: find the drain voltage</vt:lpstr>
      <vt:lpstr>Summary: three regions of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2026-10-01T00:09:26Z</dcterms:created>
  <dcterms:modified xsi:type="dcterms:W3CDTF">2026-10-01T00:09:41Z</dcterms:modified>
</cp:coreProperties>
</file>