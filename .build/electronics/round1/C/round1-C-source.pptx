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17AA-03EC-E89F-B417-1C20DD7AC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0CFC7-28AB-3DDF-197D-80F8AAA06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6CAF3-00E2-00A6-DA43-5A890738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F5662-CAF6-917A-CE75-2406EE2C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C1A89-BA97-565C-B615-1C2FDC6B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DC15-A838-F01A-88C0-E13C7EBE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3678-951A-56CF-96BF-03A121C3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C45C9-5F73-AC82-6588-58D96F60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EF461-DA4B-0478-C36B-4D065632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CEDB-1ED8-3DFF-E01A-C174A602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4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9DAA-D4AF-5E73-BB66-E924710F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3998-68CE-B096-DDB5-80F004CB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00D1E-AB25-7D46-3CE9-61B78D7D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A6057-E57D-173D-E684-754B26F1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2CF64-39FD-809C-5472-EA64B35D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4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62D6-229A-BC25-8A86-F3D5732B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CCB3-46C7-AAF4-5097-37AAD8BC9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7F290-856D-97ED-2B2A-7D09DB953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97672-E91D-1E72-57E1-8609421E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E1223-A80F-F71E-1422-7969BD6D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1CDB-0DD9-C1EF-EB4B-D714A8FC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0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547F-1D81-4C51-0672-3E6D9811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4214-7C6F-9CC8-C1B6-E0CAC4E1A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97C74-2F91-4334-5ACA-2A4C9D874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6F617-3E58-302A-67B1-AF272CAB7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A42DD-81B6-0143-27E8-966117E1B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65B50-0928-2FB9-2AC3-312CDC72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24362-74DD-C203-E2AB-A808A0A0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D8433-78EC-9863-996F-7C43DD16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6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5405-8A06-8BDE-FBAD-E31CA6DD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17091-798C-53C7-E491-18E9DA3A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B62AE-32F6-1E48-1F4A-7EE64FA0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A907A-6144-0598-E44B-F04291E9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671A3-5D22-6FFD-699F-6A92F221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F3F9-BF42-5F51-26D9-B5CB5DB4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9A71F-7F4E-35F1-9676-D3E73754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1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9E46-D846-A071-262C-6F383A6C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EE95-2A0F-820E-1ECA-957BECD5C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9EFA-F6DF-07DB-D32A-9B624B93D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8D1B8-36E0-472A-E664-75BA201D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BA0B4-EBF6-4052-4D8D-8B123610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9B9A7-856D-A1F0-AE0E-F2F12D53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3175-4C17-3286-2314-F012DC2F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638CE-6B0B-66B0-087B-743232C3AB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B913E-6AC3-F674-AA61-BBBC2DE5C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0267-40FD-66B6-DD6D-C7570A37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F532C-D005-4D02-EA03-73992116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9091-D4F4-DA30-2B63-8F74EB2B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7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10FC-F5BE-E796-320C-413CDD63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3CD3E-2F21-A3F6-CF07-14D13E188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44A37-351A-0C66-AD61-0F9AFF74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22300-FFF4-CC12-312D-11C70817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68717-5561-1156-A1AF-1F8D4C44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8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5C98C-3B0B-0CB6-5B92-7EE794745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9D7BC-F4D0-FAE1-9EB7-165F8F6AD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4514D-1FE2-BB4E-28E7-6F4E98DA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BFEE-67F8-A758-AB80-0DB61EC5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61A0-6A31-A947-7F94-C99A8982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4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7A506-6532-C856-D361-601696CA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742F-27CD-304B-0553-C72FCF8C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3D15-9EB5-9C3A-6D48-C6B11E7FD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0635-11C3-761A-D375-F8623BD91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DC2D3-5124-2B00-1C00-D72D7DAD9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9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7A91CF-9A38-5582-401E-D2AC01D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200">
                <a:solidFill>
                  <a:srgbClr val="14263A"/>
                </a:solidFill>
                <a:latin typeface="Georgia" panose="02040502050405020303" pitchFamily="18" charset="0"/>
              </a:rPr>
              <a:t>MOSFETs</a:t>
            </a: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07E8D343-C675-E58D-837E-9B5DAFC95692}"/>
              </a:ext>
            </a:extLst>
          </p:cNvPr>
          <p:cNvSpPr/>
          <p:nvPr/>
        </p:nvSpPr>
        <p:spPr>
          <a:xfrm>
            <a:off x="0" y="0"/>
            <a:ext cx="18288000" cy="127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de">
            <a:extLst>
              <a:ext uri="{FF2B5EF4-FFF2-40B4-BE49-F238E27FC236}">
                <a16:creationId xmlns:a16="http://schemas.microsoft.com/office/drawing/2014/main" id="{A04F9021-5101-C100-DCC4-DB92D6D53B3A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2B5C8A"/>
                </a:solidFill>
                <a:latin typeface="Segoe UI Semibold" panose="020B0702040204020203" pitchFamily="34" charset="0"/>
              </a:rPr>
              <a:t>25CPES102 · Electronic Materials and Devices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4A4F132-9B42-9F56-3D9A-71E64B28C320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E5D6C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E5D6C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cxnSp>
        <p:nvCxnSpPr>
          <p:cNvPr id="6" name="rule">
            <a:extLst>
              <a:ext uri="{FF2B5EF4-FFF2-40B4-BE49-F238E27FC236}">
                <a16:creationId xmlns:a16="http://schemas.microsoft.com/office/drawing/2014/main" id="{FCBECB3C-7784-25CC-AF65-017D56904B41}"/>
              </a:ext>
            </a:extLst>
          </p:cNvPr>
          <p:cNvCxnSpPr/>
          <p:nvPr/>
        </p:nvCxnSpPr>
        <p:spPr>
          <a:xfrm>
            <a:off x="914400" y="5740400"/>
            <a:ext cx="1143000" cy="0"/>
          </a:xfrm>
          <a:prstGeom prst="line">
            <a:avLst/>
          </a:prstGeom>
          <a:ln w="38100">
            <a:solidFill>
              <a:srgbClr val="2B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ecture">
            <a:extLst>
              <a:ext uri="{FF2B5EF4-FFF2-40B4-BE49-F238E27FC236}">
                <a16:creationId xmlns:a16="http://schemas.microsoft.com/office/drawing/2014/main" id="{ABC92E98-4754-B219-6449-56797B84D566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4263A"/>
                </a:solidFill>
                <a:latin typeface="Georgia" panose="02040502050405020303" pitchFamily="18" charset="0"/>
              </a:rPr>
              <a:t>Lecture 3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BDDE51D6-B7E8-E971-230F-65BF9B9A7A90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4263A"/>
                </a:solidFill>
                <a:latin typeface="Georgia" panose="02040502050405020303" pitchFamily="18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0F0E705E-3661-78F3-C148-BC8AFCD10E27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E5D6C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sp>
        <p:nvSpPr>
          <p:cNvPr id="10" name="figure frame">
            <a:extLst>
              <a:ext uri="{FF2B5EF4-FFF2-40B4-BE49-F238E27FC236}">
                <a16:creationId xmlns:a16="http://schemas.microsoft.com/office/drawing/2014/main" id="{CD27A8A8-4E99-F88D-8EB1-F094B68B8906}"/>
              </a:ext>
            </a:extLst>
          </p:cNvPr>
          <p:cNvSpPr/>
          <p:nvPr/>
        </p:nvSpPr>
        <p:spPr>
          <a:xfrm>
            <a:off x="9652000" y="3175000"/>
            <a:ext cx="7874000" cy="32766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2F12EA25-2548-CC73-3D63-7F8A438FA5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403600"/>
            <a:ext cx="7416800" cy="2819419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1B7B8736-278F-65BD-68B2-E08EABB447BA}"/>
              </a:ext>
            </a:extLst>
          </p:cNvPr>
          <p:cNvSpPr txBox="1"/>
          <p:nvPr/>
        </p:nvSpPr>
        <p:spPr>
          <a:xfrm>
            <a:off x="9652000" y="6527819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339626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E00E44-4CF4-9382-EF97-3A830763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C93C6DD-B20B-B828-E7BE-82A04081713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LECTURE 3 · MOSFETS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6FC8084-4B07-78AA-AE01-217F217D48D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map n">
            <a:extLst>
              <a:ext uri="{FF2B5EF4-FFF2-40B4-BE49-F238E27FC236}">
                <a16:creationId xmlns:a16="http://schemas.microsoft.com/office/drawing/2014/main" id="{CC5F173A-C7B6-0D2D-08A8-57247398D042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6" name="map t">
            <a:extLst>
              <a:ext uri="{FF2B5EF4-FFF2-40B4-BE49-F238E27FC236}">
                <a16:creationId xmlns:a16="http://schemas.microsoft.com/office/drawing/2014/main" id="{4405441F-5F0B-D5A9-2D19-663C6E53D9EC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Structure and operation</a:t>
            </a:r>
          </a:p>
        </p:txBody>
      </p:sp>
      <p:sp>
        <p:nvSpPr>
          <p:cNvPr id="7" name="map s">
            <a:extLst>
              <a:ext uri="{FF2B5EF4-FFF2-40B4-BE49-F238E27FC236}">
                <a16:creationId xmlns:a16="http://schemas.microsoft.com/office/drawing/2014/main" id="{41E20B36-290C-D993-5EB0-A5FDDA8CED61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8" name="map n">
            <a:extLst>
              <a:ext uri="{FF2B5EF4-FFF2-40B4-BE49-F238E27FC236}">
                <a16:creationId xmlns:a16="http://schemas.microsoft.com/office/drawing/2014/main" id="{5A415DB6-05C5-EB17-D5B3-BC85874AEE26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9" name="map t">
            <a:extLst>
              <a:ext uri="{FF2B5EF4-FFF2-40B4-BE49-F238E27FC236}">
                <a16:creationId xmlns:a16="http://schemas.microsoft.com/office/drawing/2014/main" id="{40759BE1-F8F0-B3F8-F84A-7A18748A0F34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I–V characteristics</a:t>
            </a:r>
          </a:p>
        </p:txBody>
      </p:sp>
      <p:sp>
        <p:nvSpPr>
          <p:cNvPr id="10" name="map s">
            <a:extLst>
              <a:ext uri="{FF2B5EF4-FFF2-40B4-BE49-F238E27FC236}">
                <a16:creationId xmlns:a16="http://schemas.microsoft.com/office/drawing/2014/main" id="{DCAF1577-B770-5E9D-111B-CAEA804C0D8E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1" name="map n">
            <a:extLst>
              <a:ext uri="{FF2B5EF4-FFF2-40B4-BE49-F238E27FC236}">
                <a16:creationId xmlns:a16="http://schemas.microsoft.com/office/drawing/2014/main" id="{AFE102D3-93EA-E490-C1B3-AC036A5456C8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2" name="map t">
            <a:extLst>
              <a:ext uri="{FF2B5EF4-FFF2-40B4-BE49-F238E27FC236}">
                <a16:creationId xmlns:a16="http://schemas.microsoft.com/office/drawing/2014/main" id="{175054B6-736C-D384-CDA5-6BF1E1BD7A89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MOSFETs in DC circuits</a:t>
            </a:r>
          </a:p>
        </p:txBody>
      </p:sp>
      <p:sp>
        <p:nvSpPr>
          <p:cNvPr id="13" name="map s">
            <a:extLst>
              <a:ext uri="{FF2B5EF4-FFF2-40B4-BE49-F238E27FC236}">
                <a16:creationId xmlns:a16="http://schemas.microsoft.com/office/drawing/2014/main" id="{81CA939F-5629-6958-41C5-5B5DDB282DED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4" name="map n">
            <a:extLst>
              <a:ext uri="{FF2B5EF4-FFF2-40B4-BE49-F238E27FC236}">
                <a16:creationId xmlns:a16="http://schemas.microsoft.com/office/drawing/2014/main" id="{2495A8E3-3A7F-B487-BCDC-AAA27329271B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15" name="map t">
            <a:extLst>
              <a:ext uri="{FF2B5EF4-FFF2-40B4-BE49-F238E27FC236}">
                <a16:creationId xmlns:a16="http://schemas.microsoft.com/office/drawing/2014/main" id="{E4D0882C-6196-6E89-0CCE-0900C41E7269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The MOSFET as an amplifier</a:t>
            </a:r>
          </a:p>
        </p:txBody>
      </p:sp>
      <p:sp>
        <p:nvSpPr>
          <p:cNvPr id="16" name="map s">
            <a:extLst>
              <a:ext uri="{FF2B5EF4-FFF2-40B4-BE49-F238E27FC236}">
                <a16:creationId xmlns:a16="http://schemas.microsoft.com/office/drawing/2014/main" id="{B9839121-2B66-FDD4-A1A0-BE4AA834E70F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D9275DFC-ECEC-C571-EA3D-3D579732E62B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4243F8AC-D9C8-98E5-77A5-55C00A877759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The MOSFET as a switch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D7D55736-4034-1201-96E8-1BF946E5225B}"/>
              </a:ext>
            </a:extLst>
          </p:cNvPr>
          <p:cNvSpPr/>
          <p:nvPr/>
        </p:nvSpPr>
        <p:spPr>
          <a:xfrm>
            <a:off x="10922000" y="2159000"/>
            <a:ext cx="6451600" cy="596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comes h">
            <a:extLst>
              <a:ext uri="{FF2B5EF4-FFF2-40B4-BE49-F238E27FC236}">
                <a16:creationId xmlns:a16="http://schemas.microsoft.com/office/drawing/2014/main" id="{8ADC28C9-8CE7-1C7D-3382-EE4CD5F3FF36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BY THE END YOU CAN</a:t>
            </a:r>
          </a:p>
        </p:txBody>
      </p:sp>
      <p:sp>
        <p:nvSpPr>
          <p:cNvPr id="21" name="outcome">
            <a:extLst>
              <a:ext uri="{FF2B5EF4-FFF2-40B4-BE49-F238E27FC236}">
                <a16:creationId xmlns:a16="http://schemas.microsoft.com/office/drawing/2014/main" id="{636BD3E0-5786-7D0A-DF13-D4AA30B886CF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1CA8D886-157C-95B7-4D17-3BB4D331015E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8CE411FE-8487-E7DE-8A0D-B6DB17DA4038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</p:spTree>
    <p:extLst>
      <p:ext uri="{BB962C8B-B14F-4D97-AF65-F5344CB8AC3E}">
        <p14:creationId xmlns:p14="http://schemas.microsoft.com/office/powerpoint/2010/main" val="165987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3AF53B-1836-7A00-AD9A-BEA98893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0" y="3810000"/>
            <a:ext cx="1016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>
                <a:solidFill>
                  <a:srgbClr val="14263A"/>
                </a:solidFill>
                <a:latin typeface="Georgia" panose="02040502050405020303" pitchFamily="18" charset="0"/>
              </a:rPr>
              <a:t>I–V characteristics</a:t>
            </a: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B87A818E-911D-5C52-8B0B-39B81087AA63}"/>
              </a:ext>
            </a:extLst>
          </p:cNvPr>
          <p:cNvSpPr/>
          <p:nvPr/>
        </p:nvSpPr>
        <p:spPr>
          <a:xfrm>
            <a:off x="0" y="0"/>
            <a:ext cx="5588000" cy="10287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2891B271-BE18-08B0-FB07-F86D919FF0F2}"/>
              </a:ext>
            </a:extLst>
          </p:cNvPr>
          <p:cNvSpPr txBox="1"/>
          <p:nvPr/>
        </p:nvSpPr>
        <p:spPr>
          <a:xfrm>
            <a:off x="0" y="3174999"/>
            <a:ext cx="5588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137E0C2D-7AFA-41C5-75CD-B300530A6A59}"/>
              </a:ext>
            </a:extLst>
          </p:cNvPr>
          <p:cNvSpPr txBox="1"/>
          <p:nvPr/>
        </p:nvSpPr>
        <p:spPr>
          <a:xfrm>
            <a:off x="7112000" y="533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68BEA7C0-6F39-B14C-E122-61C3BC6E3A63}"/>
              </a:ext>
            </a:extLst>
          </p:cNvPr>
          <p:cNvSpPr txBox="1"/>
          <p:nvPr/>
        </p:nvSpPr>
        <p:spPr>
          <a:xfrm>
            <a:off x="7112000" y="5841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831A4418-E504-9923-F8A0-5AF49BC48875}"/>
              </a:ext>
            </a:extLst>
          </p:cNvPr>
          <p:cNvSpPr txBox="1"/>
          <p:nvPr/>
        </p:nvSpPr>
        <p:spPr>
          <a:xfrm>
            <a:off x="7112000" y="6349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</p:spTree>
    <p:extLst>
      <p:ext uri="{BB962C8B-B14F-4D97-AF65-F5344CB8AC3E}">
        <p14:creationId xmlns:p14="http://schemas.microsoft.com/office/powerpoint/2010/main" val="193901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B49E1D9-7D61-F2C1-2C4F-BFC5B9E5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705A5B-9943-8ED9-E753-BC72896BBF0D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34CA654-A414-FA1A-3C5B-53B56514BCF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5963C28-1D70-F0F6-C762-5F559410879A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0677CA02-CA36-B486-E997-4C3F9337FA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E2EF8D7E-57CD-0765-D25E-ABA0CF1404C3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8F34A43D-F90F-568F-BC99-AD223FF77BE5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F4A9AC96-79EF-96DD-CF74-CD233BB5881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11" name="def @3">
            <a:extLst>
              <a:ext uri="{FF2B5EF4-FFF2-40B4-BE49-F238E27FC236}">
                <a16:creationId xmlns:a16="http://schemas.microsoft.com/office/drawing/2014/main" id="{51DE1371-AF13-03F6-DCCB-4E5B8B14831D}"/>
              </a:ext>
            </a:extLst>
          </p:cNvPr>
          <p:cNvSpPr/>
          <p:nvPr/>
        </p:nvSpPr>
        <p:spPr>
          <a:xfrm>
            <a:off x="914400" y="6223000"/>
            <a:ext cx="7366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B3963953-AC55-163E-C5B9-9D1D446BAA61}"/>
              </a:ext>
            </a:extLst>
          </p:cNvPr>
          <p:cNvSpPr/>
          <p:nvPr/>
        </p:nvSpPr>
        <p:spPr>
          <a:xfrm>
            <a:off x="914400" y="6223000"/>
            <a:ext cx="76200" cy="1905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E7FDD22F-5A62-E1F7-4740-C679217FA6E5}"/>
              </a:ext>
            </a:extLst>
          </p:cNvPr>
          <p:cNvSpPr txBox="1"/>
          <p:nvPr/>
        </p:nvSpPr>
        <p:spPr>
          <a:xfrm>
            <a:off x="1244600" y="6476999"/>
            <a:ext cx="673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226907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6A16BA-1B6B-0AD1-18BD-E548BAB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A0469A5-A08B-8D3C-833B-1BD7E3136D69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2B4930-278A-E4C4-C509-C492B7B1B9F2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FAF914D8-16A7-9A81-2AE4-502B97934AA2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4BC5212E-2BF7-90A3-2BC0-FA35C3C5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41C36342-1C93-8950-23A1-FE07F0E77980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3196E322-101C-F72A-F175-483B78E18CE9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A7FD96A6-3E02-E095-B8B6-A8FC10A8A8E3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6CEBA5B7-7D76-5D19-7081-AC666ED8927E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24FFC60B-16CD-950A-0A1A-3C0AF0D7FFC4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te @4">
            <a:extLst>
              <a:ext uri="{FF2B5EF4-FFF2-40B4-BE49-F238E27FC236}">
                <a16:creationId xmlns:a16="http://schemas.microsoft.com/office/drawing/2014/main" id="{F0F52B14-29F4-614A-E6D9-7C05767DA622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69270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5" name="node @6">
            <a:extLst>
              <a:ext uri="{FF2B5EF4-FFF2-40B4-BE49-F238E27FC236}">
                <a16:creationId xmlns:a16="http://schemas.microsoft.com/office/drawing/2014/main" id="{2AD2717A-097B-CC5D-FC75-031634CAA6A6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D26D0780-8C8D-3CBD-9174-7DA59755D18C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A61B1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A61B1B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A61B1B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30A0E292-322F-9C9A-5C3A-35960E0BAAE3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C1B4CEFE-6E49-2029-B94E-A827EC55060F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49A6516D-F918-AC1D-1A81-AED58CC42D1C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E5D6C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E5D6C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4ADFAA6E-A6D6-0EF7-A7BB-1613540F6B4F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0C696409-284D-216C-6DDD-2C5AF61432C6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9FB396CD-F4A3-372F-7E49-986ED079FF0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AE2068A-E2F2-6AA6-C311-4BC9F529C9E6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423B365C-1738-BA15-9202-5616CB1B5A73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85A58E10-6A61-1F04-08A1-A755C671E9AE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4094F540-0460-B604-C478-1351E2203EA4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965F63E0-9F63-B7F7-EBBD-1335F0960CE8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8F0FCFD6-70C1-54EB-C831-F7B8FA6DC36F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8F0FCFD6-70C1-54EB-C831-F7B8FA6DC36F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5" name="answer @6 bg">
            <a:extLst>
              <a:ext uri="{FF2B5EF4-FFF2-40B4-BE49-F238E27FC236}">
                <a16:creationId xmlns:a16="http://schemas.microsoft.com/office/drawing/2014/main" id="{1FB43E78-5BD7-CA1D-FDD8-BCCE60D93C3E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8E6E6"/>
          </a:solidFill>
          <a:ln w="19050">
            <a:solidFill>
              <a:srgbClr val="A6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B920426F-32C5-697B-970D-961AB2B823A2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A61B1B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A61B1B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A61B1B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30B2C5CA-279E-DB7E-9D86-61073AD2A13E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113338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B225655-F086-C38A-DB68-5A0A0FE0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7013E60-6BF3-A169-56BD-D6AA475A56B8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EBFB027-3B12-28A2-B4C0-82B4BE5DC6E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th">
            <a:extLst>
              <a:ext uri="{FF2B5EF4-FFF2-40B4-BE49-F238E27FC236}">
                <a16:creationId xmlns:a16="http://schemas.microsoft.com/office/drawing/2014/main" id="{1A09AEEB-610D-9261-1BE8-8476605B579C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REGION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0A33320B-0315-1670-BD2B-6A0F5103F9B1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CONDITION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82E91A40-5AA1-98B1-F3BB-335616CACD6A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DRAIN CURRENT</a:t>
            </a:r>
          </a:p>
        </p:txBody>
      </p:sp>
      <p:cxnSp>
        <p:nvCxnSpPr>
          <p:cNvPr id="8" name="rule">
            <a:extLst>
              <a:ext uri="{FF2B5EF4-FFF2-40B4-BE49-F238E27FC236}">
                <a16:creationId xmlns:a16="http://schemas.microsoft.com/office/drawing/2014/main" id="{C7E93EE2-6D50-A99A-49DA-B58903FD081E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">
            <a:extLst>
              <a:ext uri="{FF2B5EF4-FFF2-40B4-BE49-F238E27FC236}">
                <a16:creationId xmlns:a16="http://schemas.microsoft.com/office/drawing/2014/main" id="{44C4E7C4-9C7C-288A-5858-81DCCFF059DF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Cutoff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7C91A22E-94A0-2D42-97D1-1231BD22779C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8E89653F-4108-2F3A-5362-598008AF2102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8E89653F-4108-2F3A-5362-598008AF2102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2" name="rule">
            <a:extLst>
              <a:ext uri="{FF2B5EF4-FFF2-40B4-BE49-F238E27FC236}">
                <a16:creationId xmlns:a16="http://schemas.microsoft.com/office/drawing/2014/main" id="{7E554A17-BD2F-265F-E3A0-F7D46E6FE1C2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d">
            <a:extLst>
              <a:ext uri="{FF2B5EF4-FFF2-40B4-BE49-F238E27FC236}">
                <a16:creationId xmlns:a16="http://schemas.microsoft.com/office/drawing/2014/main" id="{484678C7-DC1A-877B-569A-3A927F275B7A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Triode</a:t>
            </a:r>
          </a:p>
        </p:txBody>
      </p:sp>
      <p:sp>
        <p:nvSpPr>
          <p:cNvPr id="14" name="td">
            <a:extLst>
              <a:ext uri="{FF2B5EF4-FFF2-40B4-BE49-F238E27FC236}">
                <a16:creationId xmlns:a16="http://schemas.microsoft.com/office/drawing/2014/main" id="{212A25DB-19FD-8857-12C3-93B64F7D95D2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">
                <a:extLst>
                  <a:ext uri="{FF2B5EF4-FFF2-40B4-BE49-F238E27FC236}">
                    <a16:creationId xmlns:a16="http://schemas.microsoft.com/office/drawing/2014/main" id="{CF3C1CFD-D2EC-7477-DE02-B61316B838B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5" name="eq">
                <a:extLst>
                  <a:ext uri="{FF2B5EF4-FFF2-40B4-BE49-F238E27FC236}">
                    <a16:creationId xmlns:a16="http://schemas.microsoft.com/office/drawing/2014/main" id="{CF3C1CFD-D2EC-7477-DE02-B61316B838B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6" name="rule">
            <a:extLst>
              <a:ext uri="{FF2B5EF4-FFF2-40B4-BE49-F238E27FC236}">
                <a16:creationId xmlns:a16="http://schemas.microsoft.com/office/drawing/2014/main" id="{CB3CA168-8E1B-90C3-6E10-7D038FD53F92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d">
            <a:extLst>
              <a:ext uri="{FF2B5EF4-FFF2-40B4-BE49-F238E27FC236}">
                <a16:creationId xmlns:a16="http://schemas.microsoft.com/office/drawing/2014/main" id="{9EA7F25F-B313-8B13-E3A4-77369E1B6C5A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Saturation</a:t>
            </a:r>
          </a:p>
        </p:txBody>
      </p:sp>
      <p:sp>
        <p:nvSpPr>
          <p:cNvPr id="18" name="td">
            <a:extLst>
              <a:ext uri="{FF2B5EF4-FFF2-40B4-BE49-F238E27FC236}">
                <a16:creationId xmlns:a16="http://schemas.microsoft.com/office/drawing/2014/main" id="{E8A68CF5-00E1-E1DD-592D-7CFD120004FD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">
                <a:extLst>
                  <a:ext uri="{FF2B5EF4-FFF2-40B4-BE49-F238E27FC236}">
                    <a16:creationId xmlns:a16="http://schemas.microsoft.com/office/drawing/2014/main" id="{232C9590-38CF-6430-46B1-DDF76339E5A5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9" name="eq">
                <a:extLst>
                  <a:ext uri="{FF2B5EF4-FFF2-40B4-BE49-F238E27FC236}">
                    <a16:creationId xmlns:a16="http://schemas.microsoft.com/office/drawing/2014/main" id="{232C9590-38CF-6430-46B1-DDF76339E5A5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0" name="rule">
            <a:extLst>
              <a:ext uri="{FF2B5EF4-FFF2-40B4-BE49-F238E27FC236}">
                <a16:creationId xmlns:a16="http://schemas.microsoft.com/office/drawing/2014/main" id="{D8087129-392A-0382-9C70-1D543121D35B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akeaway">
            <a:extLst>
              <a:ext uri="{FF2B5EF4-FFF2-40B4-BE49-F238E27FC236}">
                <a16:creationId xmlns:a16="http://schemas.microsoft.com/office/drawing/2014/main" id="{8B07CB35-77EE-6884-61C8-A56C8CD21A5B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F5F3BCDA-F936-0F8D-AF5C-57440C99FC9A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</p:spTree>
    <p:extLst>
      <p:ext uri="{BB962C8B-B14F-4D97-AF65-F5344CB8AC3E}">
        <p14:creationId xmlns:p14="http://schemas.microsoft.com/office/powerpoint/2010/main" val="234915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Custom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Georgia</vt:lpstr>
      <vt:lpstr>Segoe UI</vt:lpstr>
      <vt:lpstr>Segoe UI Semibold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2026-10-01T00:09:26Z</dcterms:created>
  <dcterms:modified xsi:type="dcterms:W3CDTF">2026-10-01T00:09:26Z</dcterms:modified>
</cp:coreProperties>
</file>