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2" name="eq"/>
              <p:cNvSpPr txBox="1"/>
              <p:nvPr/>
            </p:nvSpPr>
            <p:spPr>
              <a:xfrm>
                <a:off x="1016000" y="1016000"/>
                <a:ext cx="15240000" cy="19050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4000" b="0">
                          <a:solidFill>
                            <a:srgbClr val="1B2A3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</m:dPr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(</m:t>
                          </m:r>
                          <m:sSub>
                            <m:e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GS</m:t>
                              </m:r>
                            </m:sub>
                          </m:s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  <m:sSub>
                            <m:e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DS</m:t>
                              </m:r>
                            </m:sub>
                          </m:s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  <m:sSubSup>
                            <m:e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DS</m:t>
                              </m:r>
                            </m:sub>
                            <m:sup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2" name="eq"/>
              <p:cNvSpPr txBox="1"/>
              <p:nvPr/>
            </p:nvSpPr>
            <p:spPr>
              <a:xfrm>
                <a:off x="1016000" y="1016000"/>
                <a:ext cx="15240000" cy="19050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t>i_D = k_n' \frac{W}{L}\left[(v_{GS}-V_t)\,v_{DS} - \frac{1}{2}v_{DS}^2\right]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q"/>
              <p:cNvSpPr txBox="1"/>
              <p:nvPr/>
            </p:nvSpPr>
            <p:spPr>
              <a:xfrm>
                <a:off x="1016000" y="3810000"/>
                <a:ext cx="15240000" cy="19050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4000" b="0">
                          <a:solidFill>
                            <a:srgbClr val="1B2A3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4000" b="0">
                          <a:solidFill>
                            <a:srgbClr val="1B2A3A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4000" b="0">
                          <a:solidFill>
                            <a:srgbClr val="1B2A3A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sSup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3" name="eq"/>
              <p:cNvSpPr txBox="1"/>
              <p:nvPr/>
            </p:nvSpPr>
            <p:spPr>
              <a:xfrm>
                <a:off x="1016000" y="3810000"/>
                <a:ext cx="15240000" cy="19050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t>i_D = \frac{1}{2} k_n' \frac{W}{L} (v_{GS}-V_t)^2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eq"/>
              <p:cNvSpPr txBox="1"/>
              <p:nvPr/>
            </p:nvSpPr>
            <p:spPr>
              <a:xfrm>
                <a:off x="1016000" y="6604000"/>
                <a:ext cx="15240000" cy="19050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a:rPr lang="en-US" sz="4000" b="0">
                          <a:solidFill>
                            <a:srgbClr val="1B2A3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/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∂</m:t>
                              </m:r>
                              <m:sSub>
                                <m:e>
                                  <m:r>
                                    <a:rPr lang="en-US" sz="4000" b="0">
                                      <a:solidFill>
                                        <a:srgbClr val="1B2A3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a:rPr lang="en-US" sz="4000" b="0">
                                      <a:solidFill>
                                        <a:srgbClr val="1B2A3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∂</m:t>
                              </m:r>
                              <m:sSub>
                                <m:e>
                                  <m:r>
                                    <a:rPr lang="en-US" sz="4000" b="0">
                                      <a:solidFill>
                                        <a:srgbClr val="1B2A3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en-US" sz="4000" b="0">
                                      <a:solidFill>
                                        <a:srgbClr val="1B2A3A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GS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|</m:t>
                          </m:r>
                        </m:e>
                        <m:sub>
                          <m:sSub>
                            <m:e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GS</m:t>
                              </m:r>
                            </m:sub>
                          </m:s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=</m:t>
                          </m:r>
                          <m:sSub>
                            <m:e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4000" b="0">
                                  <a:solidFill>
                                    <a:srgbClr val="1B2A3A"/>
                                  </a:solidFill>
                                  <a:latin typeface="Cambria Math"/>
                                  <a:cs typeface="Cambria Math"/>
                                </a:rPr>
                                <m:t>GS</m:t>
                              </m:r>
                            </m:sub>
                          </m:sSub>
                        </m:sub>
                      </m:sSub>
                      <m:r>
                        <a:rPr lang="en-US" sz="4000" b="0">
                          <a:solidFill>
                            <a:srgbClr val="1B2A3A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4000" b="0">
                          <a:solidFill>
                            <a:srgbClr val="1B2A3A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4000" b="0">
                          <a:solidFill>
                            <a:srgbClr val="1B2A3A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4000" b="0">
                              <a:solidFill>
                                <a:srgbClr val="1B2A3A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a:rPr lang="en-US" sz="4000" b="0">
                          <a:solidFill>
                            <a:srgbClr val="1B2A3A"/>
                          </a:solidFill>
                          <a:latin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" name="eq"/>
              <p:cNvSpPr txBox="1"/>
              <p:nvPr/>
            </p:nvSpPr>
            <p:spPr>
              <a:xfrm>
                <a:off x="1016000" y="6604000"/>
                <a:ext cx="15240000" cy="19050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t>g_m = \left.\frac{\partial i_D}{\partial v_{GS}}\right|_{v_{GS}=V_{GS}} = k_n'\frac{W}{L}(V_{GS}-V_t)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