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eq"/>
              <p:cNvSpPr txBox="1"/>
              <p:nvPr/>
            </p:nvSpPr>
            <p:spPr>
              <a:xfrm>
                <a:off x="1016000" y="1016000"/>
                <a:ext cx="15240000" cy="19050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40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40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  <m:r>
                            <a:rPr lang="en-US" sz="40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40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·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40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40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" name="eq"/>
              <p:cNvSpPr txBox="1"/>
              <p:nvPr/>
            </p:nvSpPr>
            <p:spPr>
              <a:xfrm>
                <a:off x="1016000" y="1016000"/>
                <a:ext cx="15240000" cy="19050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V_G = \textcolor{#1F6FA8}{V_{DD}}\,\frac{\textcolor{#7A3E9D}{R_{G2}}}{\textcolor{#7A3E9D}{R_{G1}}+\textcolor{#7A3E9D}{R_{G2}}} = \textcolor{#1F6FA8}{10}\cdot\frac{\textcolor{#7A3E9D}{10}}{\textcolor{#7A3E9D}{10}+\textcolor{#7A3E9D}{10}} = 5\ \mathrm{V}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q"/>
              <p:cNvSpPr txBox="1"/>
              <p:nvPr/>
            </p:nvSpPr>
            <p:spPr>
              <a:xfrm>
                <a:off x="1016000" y="3810000"/>
                <a:ext cx="15240000" cy="19050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4000" b="1">
                          <a:solidFill>
                            <a:srgbClr val="1E7A46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(5−</m:t>
                      </m:r>
                      <m:r>
                        <m:rPr>
                          <m:sty m:val="p"/>
                        </m:rPr>
                        <a:rPr lang="en-US" sz="4000" b="1">
                          <a:solidFill>
                            <a:srgbClr val="7A3E9D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e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4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000" b="1">
                          <a:solidFill>
                            <a:srgbClr val="1E7A46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e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40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" name="eq"/>
              <p:cNvSpPr txBox="1"/>
              <p:nvPr/>
            </p:nvSpPr>
            <p:spPr>
              <a:xfrm>
                <a:off x="1016000" y="3810000"/>
                <a:ext cx="15240000" cy="19050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I_D = \frac{1}{2}\,\textcolor{#1E7A46}{1}\,(5-\textcolor{#7A3E9D}{6}I_D-\textcolor{#1E7A46}{1})^2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