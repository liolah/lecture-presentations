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media/audio1.wav" ContentType="audio/wav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5"/>
  </p:notesMasterIdLst>
  <p:sldIdLst>
    <p:sldId id="345" r:id="rId2"/>
    <p:sldId id="486" r:id="rId3"/>
    <p:sldId id="487" r:id="rId4"/>
    <p:sldId id="488" r:id="rId5"/>
    <p:sldId id="517" r:id="rId6"/>
    <p:sldId id="491" r:id="rId7"/>
    <p:sldId id="492" r:id="rId8"/>
    <p:sldId id="496" r:id="rId9"/>
    <p:sldId id="506" r:id="rId10"/>
    <p:sldId id="494" r:id="rId11"/>
    <p:sldId id="499" r:id="rId12"/>
    <p:sldId id="498" r:id="rId13"/>
    <p:sldId id="500" r:id="rId14"/>
    <p:sldId id="501" r:id="rId15"/>
    <p:sldId id="503" r:id="rId16"/>
    <p:sldId id="508" r:id="rId17"/>
    <p:sldId id="509" r:id="rId18"/>
    <p:sldId id="510" r:id="rId19"/>
    <p:sldId id="513" r:id="rId20"/>
    <p:sldId id="516" r:id="rId21"/>
    <p:sldId id="514" r:id="rId22"/>
    <p:sldId id="511" r:id="rId23"/>
    <p:sldId id="299" r:id="rId2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meh Abdellatif" initials="SA" lastIdx="3" clrIdx="0"/>
  <p:cmAuthor id="1" name="sameh abdellatif" initials="sa" lastIdx="1" clrIdx="1">
    <p:extLst>
      <p:ext uri="{19B8F6BF-5375-455C-9EA6-DF929625EA0E}">
        <p15:presenceInfo xmlns:p15="http://schemas.microsoft.com/office/powerpoint/2012/main" userId="7d49f645c213de6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E3EE"/>
    <a:srgbClr val="3588B1"/>
    <a:srgbClr val="66FF66"/>
    <a:srgbClr val="99FF99"/>
    <a:srgbClr val="CCFF99"/>
    <a:srgbClr val="00CC66"/>
    <a:srgbClr val="00FF99"/>
    <a:srgbClr val="00FF00"/>
    <a:srgbClr val="322941"/>
    <a:srgbClr val="3865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34" autoAdjust="0"/>
    <p:restoredTop sz="94660"/>
  </p:normalViewPr>
  <p:slideViewPr>
    <p:cSldViewPr snapToGrid="0">
      <p:cViewPr>
        <p:scale>
          <a:sx n="32" d="100"/>
          <a:sy n="32" d="100"/>
        </p:scale>
        <p:origin x="416" y="424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49395976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>
            <a:spLocks noGrp="1"/>
          </p:cNvSpPr>
          <p:nvPr>
            <p:ph type="title"/>
          </p:nvPr>
        </p:nvSpPr>
        <p:spPr>
          <a:xfrm>
            <a:off x="4833937" y="4536281"/>
            <a:ext cx="14716126" cy="464343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sz="half" idx="13"/>
          </p:nvPr>
        </p:nvSpPr>
        <p:spPr>
          <a:xfrm>
            <a:off x="12495609" y="892968"/>
            <a:ext cx="7500938" cy="11572876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>
            <a:spLocks noGrp="1"/>
          </p:cNvSpPr>
          <p:nvPr>
            <p:ph type="title"/>
          </p:nvPr>
        </p:nvSpPr>
        <p:spPr>
          <a:xfrm>
            <a:off x="4387453" y="892968"/>
            <a:ext cx="7500938" cy="5607845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>
            <a:spLocks noGrp="1"/>
          </p:cNvSpPr>
          <p:nvPr>
            <p:ph type="body" sz="quarter" idx="1"/>
          </p:nvPr>
        </p:nvSpPr>
        <p:spPr>
          <a:xfrm>
            <a:off x="4387453" y="6697265"/>
            <a:ext cx="7500938" cy="5768579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400"/>
            </a:lvl1pPr>
            <a:lvl2pPr marL="0" indent="228600" algn="ctr">
              <a:spcBef>
                <a:spcPts val="0"/>
              </a:spcBef>
              <a:buSzTx/>
              <a:buNone/>
              <a:defRPr sz="4400"/>
            </a:lvl2pPr>
            <a:lvl3pPr marL="0" indent="457200" algn="ctr">
              <a:spcBef>
                <a:spcPts val="0"/>
              </a:spcBef>
              <a:buSzTx/>
              <a:buNone/>
              <a:defRPr sz="4400"/>
            </a:lvl3pPr>
            <a:lvl4pPr marL="0" indent="685800" algn="ctr">
              <a:spcBef>
                <a:spcPts val="0"/>
              </a:spcBef>
              <a:buSzTx/>
              <a:buNone/>
              <a:defRPr sz="4400"/>
            </a:lvl4pPr>
            <a:lvl5pPr marL="0" indent="914400" algn="ctr">
              <a:spcBef>
                <a:spcPts val="0"/>
              </a:spcBef>
              <a:buSzTx/>
              <a:buNone/>
              <a:defRPr sz="4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quarter" idx="13"/>
          </p:nvPr>
        </p:nvSpPr>
        <p:spPr>
          <a:xfrm>
            <a:off x="12495609" y="3661171"/>
            <a:ext cx="7500938" cy="884039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>
            <a:spLocks noGrp="1"/>
          </p:cNvSpPr>
          <p:nvPr>
            <p:ph type="body" sz="quarter" idx="1"/>
          </p:nvPr>
        </p:nvSpPr>
        <p:spPr>
          <a:xfrm>
            <a:off x="4387453" y="3661171"/>
            <a:ext cx="7500938" cy="8840392"/>
          </a:xfrm>
          <a:prstGeom prst="rect">
            <a:avLst/>
          </a:prstGeom>
        </p:spPr>
        <p:txBody>
          <a:bodyPr/>
          <a:lstStyle>
            <a:lvl1pPr marL="465364" indent="-465364">
              <a:spcBef>
                <a:spcPts val="4500"/>
              </a:spcBef>
              <a:defRPr sz="3800"/>
            </a:lvl1pPr>
            <a:lvl2pPr marL="808264" indent="-465364">
              <a:spcBef>
                <a:spcPts val="4500"/>
              </a:spcBef>
              <a:defRPr sz="3800"/>
            </a:lvl2pPr>
            <a:lvl3pPr marL="1151164" indent="-465364">
              <a:spcBef>
                <a:spcPts val="4500"/>
              </a:spcBef>
              <a:defRPr sz="3800"/>
            </a:lvl3pPr>
            <a:lvl4pPr marL="1494064" indent="-465364">
              <a:spcBef>
                <a:spcPts val="4500"/>
              </a:spcBef>
              <a:defRPr sz="3800"/>
            </a:lvl4pPr>
            <a:lvl5pPr marL="1836964" indent="-465364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>
            <a:spLocks noGrp="1"/>
          </p:cNvSpPr>
          <p:nvPr>
            <p:ph type="body" idx="1"/>
          </p:nvPr>
        </p:nvSpPr>
        <p:spPr>
          <a:xfrm>
            <a:off x="4387453" y="1785937"/>
            <a:ext cx="15609094" cy="10144126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quarter" idx="13"/>
          </p:nvPr>
        </p:nvSpPr>
        <p:spPr>
          <a:xfrm>
            <a:off x="12495609" y="7161609"/>
            <a:ext cx="7500938" cy="530423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12504353" y="1250156"/>
            <a:ext cx="7500939" cy="530423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sz="half" idx="15"/>
          </p:nvPr>
        </p:nvSpPr>
        <p:spPr>
          <a:xfrm>
            <a:off x="4387453" y="1250156"/>
            <a:ext cx="7500938" cy="1121568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>
            <a:spLocks noGrp="1"/>
          </p:cNvSpPr>
          <p:nvPr>
            <p:ph type="body" sz="quarter" idx="13"/>
          </p:nvPr>
        </p:nvSpPr>
        <p:spPr>
          <a:xfrm>
            <a:off x="4833937" y="8947546"/>
            <a:ext cx="14716126" cy="660798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>
            <a:spLocks noGrp="1"/>
          </p:cNvSpPr>
          <p:nvPr>
            <p:ph type="body" sz="quarter" idx="14"/>
          </p:nvPr>
        </p:nvSpPr>
        <p:spPr>
          <a:xfrm>
            <a:off x="4833937" y="6000353"/>
            <a:ext cx="14716126" cy="9652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5200"/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3048000" y="0"/>
            <a:ext cx="18288000" cy="13716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>
            <a:spLocks noGrp="1"/>
          </p:cNvSpPr>
          <p:nvPr>
            <p:ph type="title"/>
          </p:nvPr>
        </p:nvSpPr>
        <p:spPr>
          <a:xfrm>
            <a:off x="4387453" y="625078"/>
            <a:ext cx="15609094" cy="3036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>
            <a:spLocks noGrp="1"/>
          </p:cNvSpPr>
          <p:nvPr>
            <p:ph type="body" idx="1"/>
          </p:nvPr>
        </p:nvSpPr>
        <p:spPr>
          <a:xfrm>
            <a:off x="4387453" y="3661171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2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4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transition spd="med"/>
  <p:hf hdr="0" ftr="0" dt="0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6173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10618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15063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19508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23953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28398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32843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37288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41733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3.png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audio" Target="../media/audio1.wav"/><Relationship Id="rId9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wmf"/><Relationship Id="rId4" Type="http://schemas.openxmlformats.org/officeDocument/2006/relationships/oleObject" Target="../embeddings/oleObject1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0.gif"/><Relationship Id="rId4" Type="http://schemas.openxmlformats.org/officeDocument/2006/relationships/image" Target="../media/image29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oleObject" Target="../embeddings/oleObject9.bin"/><Relationship Id="rId18" Type="http://schemas.openxmlformats.org/officeDocument/2006/relationships/image" Target="../media/image38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35.wmf"/><Relationship Id="rId17" Type="http://schemas.openxmlformats.org/officeDocument/2006/relationships/oleObject" Target="../embeddings/oleObject11.bin"/><Relationship Id="rId2" Type="http://schemas.openxmlformats.org/officeDocument/2006/relationships/image" Target="../media/image28.jpeg"/><Relationship Id="rId16" Type="http://schemas.openxmlformats.org/officeDocument/2006/relationships/image" Target="../media/image37.w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0.bin"/><Relationship Id="rId10" Type="http://schemas.openxmlformats.org/officeDocument/2006/relationships/image" Target="../media/image34.wmf"/><Relationship Id="rId4" Type="http://schemas.openxmlformats.org/officeDocument/2006/relationships/image" Target="../media/image31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36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jpeg"/><Relationship Id="rId4" Type="http://schemas.openxmlformats.org/officeDocument/2006/relationships/image" Target="../media/image39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2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gif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70075" y="-27607"/>
            <a:ext cx="24407318" cy="237874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</a:t>
            </a:fld>
            <a:endParaRPr lang="en-US" dirty="0"/>
          </a:p>
        </p:txBody>
      </p:sp>
      <p:pic>
        <p:nvPicPr>
          <p:cNvPr id="1028" name="Picture 4" descr="14th Materials Science School for Young Scientists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0076" y="2372677"/>
            <a:ext cx="24407318" cy="12337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6"/>
          <p:cNvSpPr/>
          <p:nvPr/>
        </p:nvSpPr>
        <p:spPr>
          <a:xfrm>
            <a:off x="14342622" y="235608"/>
            <a:ext cx="10272279" cy="1898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71437" tIns="71437" rIns="71437" bIns="71437" anchor="ctr">
            <a:spAutoFit/>
          </a:bodyPr>
          <a:lstStyle/>
          <a:p>
            <a:pPr algn="l">
              <a:defRPr sz="3800">
                <a:solidFill>
                  <a:srgbClr val="FFFFFF"/>
                </a:solidFill>
              </a:defRPr>
            </a:pPr>
            <a:r>
              <a:rPr lang="en-GB" sz="3800" b="1" dirty="0">
                <a:solidFill>
                  <a:schemeClr val="bg1"/>
                </a:solidFill>
              </a:rPr>
              <a:t>Computer Engineering </a:t>
            </a:r>
          </a:p>
          <a:p>
            <a:pPr algn="l">
              <a:defRPr sz="3800">
                <a:solidFill>
                  <a:srgbClr val="FFFFFF"/>
                </a:solidFill>
              </a:defRPr>
            </a:pPr>
            <a:r>
              <a:rPr lang="en-GB" sz="3800" b="1" dirty="0">
                <a:solidFill>
                  <a:schemeClr val="bg1"/>
                </a:solidFill>
              </a:rPr>
              <a:t>Academic Year: 2025/2026</a:t>
            </a:r>
          </a:p>
          <a:p>
            <a:pPr algn="l">
              <a:defRPr sz="3800">
                <a:solidFill>
                  <a:srgbClr val="FFFFFF"/>
                </a:solidFill>
              </a:defRPr>
            </a:pPr>
            <a:r>
              <a:rPr lang="en-GB" sz="3800" b="1" dirty="0">
                <a:solidFill>
                  <a:schemeClr val="bg1"/>
                </a:solidFill>
              </a:rPr>
              <a:t>Semester: One </a:t>
            </a:r>
          </a:p>
        </p:txBody>
      </p:sp>
      <p:sp>
        <p:nvSpPr>
          <p:cNvPr id="10" name="‘‘Study of the Photovoltaic Behavior of Coaxial Nanowires’’"/>
          <p:cNvSpPr/>
          <p:nvPr/>
        </p:nvSpPr>
        <p:spPr>
          <a:xfrm>
            <a:off x="399357" y="474081"/>
            <a:ext cx="21261608" cy="137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71437" tIns="71437" rIns="71437" bIns="71437" anchor="ctr">
            <a:spAutoFit/>
          </a:bodyPr>
          <a:lstStyle>
            <a:lvl1pPr algn="r" defTabSz="914400">
              <a:spcBef>
                <a:spcPts val="600"/>
              </a:spcBef>
              <a:defRPr sz="4200" b="1">
                <a:solidFill>
                  <a:srgbClr val="FFFFFF"/>
                </a:solidFill>
                <a:latin typeface="Gabriola"/>
                <a:ea typeface="Gabriola"/>
                <a:cs typeface="Gabriola"/>
                <a:sym typeface="Gabriola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GB" sz="4000" dirty="0">
                <a:solidFill>
                  <a:schemeClr val="bg1"/>
                </a:solidFill>
                <a:latin typeface="Arial"/>
                <a:ea typeface="Times New Roman"/>
              </a:rPr>
              <a:t>25CPES102</a:t>
            </a:r>
            <a:endParaRPr lang="en-GB" sz="8800" dirty="0">
              <a:solidFill>
                <a:schemeClr val="bg1"/>
              </a:solidFill>
              <a:latin typeface="Arial"/>
              <a:ea typeface="Times New Roman"/>
            </a:endParaRPr>
          </a:p>
          <a:p>
            <a:pPr algn="l"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Arial"/>
                <a:ea typeface="Times New Roman"/>
              </a:rPr>
              <a:t>Electronics material and devices  </a:t>
            </a:r>
            <a:endParaRPr lang="en-GB" sz="4000" dirty="0">
              <a:solidFill>
                <a:schemeClr val="bg1"/>
              </a:solidFill>
              <a:latin typeface="Arial"/>
              <a:ea typeface="Times New Roman"/>
            </a:endParaRPr>
          </a:p>
        </p:txBody>
      </p:sp>
      <p:sp>
        <p:nvSpPr>
          <p:cNvPr id="11" name="Rectangle 6"/>
          <p:cNvSpPr/>
          <p:nvPr/>
        </p:nvSpPr>
        <p:spPr>
          <a:xfrm>
            <a:off x="16433080" y="10141925"/>
            <a:ext cx="9325576" cy="1744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algn="l">
              <a:spcBef>
                <a:spcPts val="1400"/>
              </a:spcBef>
              <a:defRPr sz="3800">
                <a:solidFill>
                  <a:srgbClr val="FFFFFF"/>
                </a:solidFill>
              </a:defRPr>
            </a:pPr>
            <a:r>
              <a:rPr lang="en-US" sz="2800" dirty="0">
                <a:solidFill>
                  <a:schemeClr val="bg1"/>
                </a:solidFill>
              </a:rPr>
              <a:t>Prepared by:</a:t>
            </a:r>
          </a:p>
          <a:p>
            <a:pPr algn="l">
              <a:defRPr sz="40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sz="2800" dirty="0">
                <a:solidFill>
                  <a:schemeClr val="bg1"/>
                </a:solidFill>
              </a:rPr>
              <a:t>Dr. Sameh Osama Ezzat Abdellatif</a:t>
            </a:r>
          </a:p>
          <a:p>
            <a:pPr algn="l">
              <a:defRPr sz="3200">
                <a:solidFill>
                  <a:srgbClr val="FFFFFF"/>
                </a:solidFill>
              </a:defRPr>
            </a:pPr>
            <a:r>
              <a:rPr lang="en-US" sz="2400" dirty="0">
                <a:solidFill>
                  <a:schemeClr val="bg1"/>
                </a:solidFill>
              </a:rPr>
              <a:t>PhD, Nano-semiconductor devices and photonics</a:t>
            </a:r>
          </a:p>
          <a:p>
            <a:pPr algn="l">
              <a:defRPr sz="3200">
                <a:solidFill>
                  <a:srgbClr val="FFFFFF"/>
                </a:solidFill>
              </a:defRPr>
            </a:pPr>
            <a:r>
              <a:rPr lang="en-US" sz="2400" dirty="0">
                <a:solidFill>
                  <a:schemeClr val="bg1"/>
                </a:solidFill>
              </a:rPr>
              <a:t>Lecturer @ BUE </a:t>
            </a:r>
          </a:p>
        </p:txBody>
      </p:sp>
      <p:sp>
        <p:nvSpPr>
          <p:cNvPr id="12" name="‘‘Study of the Photovoltaic Behavior of Coaxial Nanowires’’"/>
          <p:cNvSpPr/>
          <p:nvPr/>
        </p:nvSpPr>
        <p:spPr>
          <a:xfrm>
            <a:off x="1450401" y="4099706"/>
            <a:ext cx="21779713" cy="4196661"/>
          </a:xfrm>
          <a:prstGeom prst="rect">
            <a:avLst/>
          </a:prstGeom>
          <a:ln w="12700">
            <a:miter lim="400000"/>
          </a:ln>
          <a:effectLst>
            <a:outerShdw blurRad="279400" dist="952500" dir="8100000" sx="101000" sy="101000" algn="tr" rotWithShape="0">
              <a:prstClr val="black">
                <a:alpha val="54000"/>
              </a:prst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71437" tIns="71437" rIns="71437" bIns="71437" anchor="ctr">
            <a:spAutoFit/>
          </a:bodyPr>
          <a:lstStyle>
            <a:lvl1pPr algn="r" defTabSz="914400">
              <a:spcBef>
                <a:spcPts val="600"/>
              </a:spcBef>
              <a:defRPr sz="4200" b="1">
                <a:solidFill>
                  <a:srgbClr val="FFFFFF"/>
                </a:solidFill>
                <a:latin typeface="Gabriola"/>
                <a:ea typeface="Gabriola"/>
                <a:cs typeface="Gabriola"/>
                <a:sym typeface="Gabriola"/>
              </a:defRPr>
            </a:lvl1pPr>
          </a:lstStyle>
          <a:p>
            <a:pPr algn="ctr">
              <a:lnSpc>
                <a:spcPts val="4000"/>
              </a:lnSpc>
              <a:spcBef>
                <a:spcPts val="0"/>
              </a:spcBef>
            </a:pPr>
            <a:r>
              <a:rPr lang="en-GB" sz="8000" b="0" dirty="0">
                <a:ln w="0"/>
                <a:solidFill>
                  <a:schemeClr val="bg1"/>
                </a:solidFill>
                <a:effectLst/>
                <a:latin typeface="Arial"/>
                <a:ea typeface="Times New Roman"/>
              </a:rPr>
              <a:t>Lecture 2</a:t>
            </a:r>
          </a:p>
          <a:p>
            <a:pPr algn="ctr">
              <a:spcBef>
                <a:spcPts val="0"/>
              </a:spcBef>
            </a:pPr>
            <a:r>
              <a:rPr lang="en-GB" sz="11500" dirty="0">
                <a:ln w="0"/>
                <a:solidFill>
                  <a:schemeClr val="bg1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Metal-Oxide Semiconductor Field Effect Transistor  `</a:t>
            </a:r>
          </a:p>
        </p:txBody>
      </p:sp>
      <p:pic>
        <p:nvPicPr>
          <p:cNvPr id="14" name="MS900388269[1].wav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 cstate="print"/>
          <a:stretch>
            <a:fillRect/>
          </a:stretch>
        </p:blipFill>
        <p:spPr>
          <a:xfrm>
            <a:off x="11894166" y="12701592"/>
            <a:ext cx="384043" cy="288032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378523" y="10735523"/>
            <a:ext cx="15609094" cy="3036094"/>
          </a:xfrm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chemeClr val="bg1"/>
                </a:solidFill>
              </a:rPr>
              <a:t>Starting in 15 minutes </a:t>
            </a: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2582353" y="12620507"/>
            <a:ext cx="17758832" cy="504826"/>
          </a:xfrm>
          <a:prstGeom prst="rect">
            <a:avLst/>
          </a:prstGeom>
          <a:gradFill rotWithShape="1">
            <a:gsLst>
              <a:gs pos="0">
                <a:srgbClr val="FFFF66"/>
              </a:gs>
              <a:gs pos="100000">
                <a:srgbClr val="FF3300"/>
              </a:gs>
            </a:gsLst>
            <a:lin ang="0" scaled="1"/>
          </a:gradFill>
          <a:ln w="28575">
            <a:noFill/>
            <a:miter lim="800000"/>
            <a:headEnd/>
            <a:tailEnd/>
          </a:ln>
          <a:effectLst/>
        </p:spPr>
        <p:txBody>
          <a:bodyPr wrap="none" lIns="217709" tIns="108855" rIns="217709" bIns="108855" anchor="ctr"/>
          <a:lstStyle/>
          <a:p>
            <a:endParaRPr lang="en-GB" dirty="0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2582353" y="12620507"/>
            <a:ext cx="17758832" cy="504826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217709" tIns="108855" rIns="217709" bIns="108855" anchor="ctr"/>
          <a:lstStyle/>
          <a:p>
            <a:endParaRPr lang="en-GB" dirty="0"/>
          </a:p>
        </p:txBody>
      </p:sp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11281255" y="11276752"/>
            <a:ext cx="1609862" cy="8353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217709" tIns="108855" rIns="217709" bIns="108855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</a:rPr>
              <a:t>Start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9D56A23B-6B3E-905C-F9B6-A7E24466DC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-50000"/>
                    </a14:imgEffect>
                    <a14:imgEffect>
                      <a14:saturation sat="0"/>
                    </a14:imgEffect>
                    <a14:imgEffect>
                      <a14:brightnessContrast bright="10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4887" y="116192"/>
            <a:ext cx="4770547" cy="1982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372689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7048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15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  <p:bldLst>
      <p:bldP spid="15" grpId="0" animBg="1"/>
      <p:bldP spid="16" grpId="0" animBg="1"/>
      <p:bldP spid="1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07" y="4247554"/>
            <a:ext cx="23060526" cy="8763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532406" y="963643"/>
            <a:ext cx="1644139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9600" b="1" dirty="0">
                <a:ln w="0"/>
                <a:solidFill>
                  <a:srgbClr val="FF0000"/>
                </a:solidFill>
                <a:effectLst>
                  <a:glow rad="101600">
                    <a:schemeClr val="bg1">
                      <a:lumMod val="75000"/>
                      <a:alpha val="40000"/>
                    </a:schemeClr>
                  </a:glow>
                  <a:outerShdw blurRad="38100" dist="25400" dir="5400000" algn="ctr" rotWithShape="0">
                    <a:schemeClr val="bg1">
                      <a:alpha val="43000"/>
                    </a:schemeClr>
                  </a:outerShdw>
                </a:effectLst>
                <a:latin typeface="Arial"/>
                <a:ea typeface="Times New Roman"/>
              </a:rPr>
              <a:t>Metal-Oxide Semiconductor Field Effect Transistor  `</a:t>
            </a:r>
          </a:p>
        </p:txBody>
      </p:sp>
    </p:spTree>
    <p:extLst>
      <p:ext uri="{BB962C8B-B14F-4D97-AF65-F5344CB8AC3E}">
        <p14:creationId xmlns:p14="http://schemas.microsoft.com/office/powerpoint/2010/main" val="215000442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432033" y="826413"/>
            <a:ext cx="12394740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MOSFETs: Operation with no gate voltage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75" y="1963684"/>
            <a:ext cx="13131675" cy="613342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57474"/>
          <a:stretch/>
        </p:blipFill>
        <p:spPr>
          <a:xfrm>
            <a:off x="13906499" y="4247554"/>
            <a:ext cx="9806833" cy="8763000"/>
          </a:xfrm>
          <a:prstGeom prst="rect">
            <a:avLst/>
          </a:prstGeom>
        </p:spPr>
      </p:pic>
      <p:pic>
        <p:nvPicPr>
          <p:cNvPr id="2050" name="Picture 2" descr="What are the Different Regions of Operation for a FET? | CircuitBread">
            <a:extLst>
              <a:ext uri="{FF2B5EF4-FFF2-40B4-BE49-F238E27FC236}">
                <a16:creationId xmlns:a16="http://schemas.microsoft.com/office/drawing/2014/main" id="{F85F8BBB-9E1C-9044-136C-B8AFDDE3C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9964" y="8387643"/>
            <a:ext cx="9115624" cy="5134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0074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4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98076" y="364437"/>
            <a:ext cx="13497606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MOSFETs: Creating a channel for current flow </a:t>
            </a:r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7530" y="2743200"/>
            <a:ext cx="12597620" cy="960060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6153808" y="11942703"/>
            <a:ext cx="7223452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inversion layer. </a:t>
            </a:r>
            <a:endParaRPr lang="en-US" sz="7200" b="1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63509" y="10299680"/>
            <a:ext cx="1276674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5400" dirty="0">
                <a:latin typeface="Times New Roman" panose="02020603050405020304" pitchFamily="18" charset="0"/>
              </a:rPr>
              <a:t>The value of V</a:t>
            </a:r>
            <a:r>
              <a:rPr lang="en-US" sz="3200" dirty="0">
                <a:latin typeface="Times New Roman" panose="02020603050405020304" pitchFamily="18" charset="0"/>
              </a:rPr>
              <a:t>GS </a:t>
            </a:r>
            <a:r>
              <a:rPr lang="en-US" sz="5400" dirty="0">
                <a:latin typeface="Times New Roman" panose="02020603050405020304" pitchFamily="18" charset="0"/>
              </a:rPr>
              <a:t>at which a sufficient number of electrons accumulate in the channel region to form a conducting channel is called the </a:t>
            </a:r>
            <a:r>
              <a:rPr lang="en-US" sz="5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threshold voltage V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en-US" sz="5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. 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2" name="Picture 2" descr="What are the Different Regions of Operation for a FET? | CircuitBread">
            <a:extLst>
              <a:ext uri="{FF2B5EF4-FFF2-40B4-BE49-F238E27FC236}">
                <a16:creationId xmlns:a16="http://schemas.microsoft.com/office/drawing/2014/main" id="{250A94A1-F6EA-8D7E-C0A8-940393B9D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3509" y="1947052"/>
            <a:ext cx="8894021" cy="5009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802416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are the Different Regions of Operation for a FET? | CircuitBread">
            <a:extLst>
              <a:ext uri="{FF2B5EF4-FFF2-40B4-BE49-F238E27FC236}">
                <a16:creationId xmlns:a16="http://schemas.microsoft.com/office/drawing/2014/main" id="{09FA52F6-D655-0892-9AB3-6C10D6700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00514" y="1286932"/>
            <a:ext cx="19782972" cy="11142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723266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6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44407" y="364436"/>
            <a:ext cx="12290544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MOSFETs: Operation as V</a:t>
            </a:r>
            <a:r>
              <a:rPr lang="en-US" baseline="-25000" dirty="0"/>
              <a:t>DS</a:t>
            </a:r>
            <a:r>
              <a:rPr lang="en-US" dirty="0"/>
              <a:t> is increased</a:t>
            </a:r>
            <a:endParaRPr lang="en-US" baseline="-25000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0624" y="1995652"/>
            <a:ext cx="13522426" cy="1022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06932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7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44407" y="364436"/>
            <a:ext cx="12290544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MOSFETs: Operation as V</a:t>
            </a:r>
            <a:r>
              <a:rPr lang="en-US" baseline="-25000" dirty="0"/>
              <a:t>DS</a:t>
            </a:r>
            <a:r>
              <a:rPr lang="en-US" dirty="0"/>
              <a:t> is increased</a:t>
            </a:r>
            <a:endParaRPr lang="en-US" baseline="-25000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2300" y="1995653"/>
            <a:ext cx="9810750" cy="741886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57250" y="11126699"/>
            <a:ext cx="211455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5400" dirty="0">
                <a:latin typeface="Times New Roman" panose="02020603050405020304" pitchFamily="18" charset="0"/>
              </a:rPr>
              <a:t>When V</a:t>
            </a:r>
            <a:r>
              <a:rPr lang="en-US" sz="3200" dirty="0">
                <a:latin typeface="Times New Roman" panose="02020603050405020304" pitchFamily="18" charset="0"/>
              </a:rPr>
              <a:t>GS</a:t>
            </a:r>
            <a:r>
              <a:rPr lang="en-US" sz="5400" dirty="0">
                <a:latin typeface="Times New Roman" panose="02020603050405020304" pitchFamily="18" charset="0"/>
              </a:rPr>
              <a:t>-V</a:t>
            </a:r>
            <a:r>
              <a:rPr lang="en-US" sz="3200" dirty="0">
                <a:latin typeface="Times New Roman" panose="02020603050405020304" pitchFamily="18" charset="0"/>
              </a:rPr>
              <a:t>DS </a:t>
            </a:r>
            <a:r>
              <a:rPr lang="en-US" sz="5400" dirty="0">
                <a:latin typeface="Times New Roman" panose="02020603050405020304" pitchFamily="18" charset="0"/>
              </a:rPr>
              <a:t>= </a:t>
            </a:r>
            <a:r>
              <a:rPr lang="en-US" sz="5400" dirty="0" err="1">
                <a:latin typeface="Times New Roman" panose="02020603050405020304" pitchFamily="18" charset="0"/>
              </a:rPr>
              <a:t>V</a:t>
            </a:r>
            <a:r>
              <a:rPr lang="en-US" sz="3200" dirty="0" err="1">
                <a:latin typeface="Times New Roman" panose="02020603050405020304" pitchFamily="18" charset="0"/>
              </a:rPr>
              <a:t>t</a:t>
            </a:r>
            <a:r>
              <a:rPr lang="en-US" sz="3200" dirty="0">
                <a:latin typeface="Times New Roman" panose="02020603050405020304" pitchFamily="18" charset="0"/>
              </a:rPr>
              <a:t> </a:t>
            </a:r>
            <a:r>
              <a:rPr lang="en-US" sz="5400" dirty="0">
                <a:latin typeface="Times New Roman" panose="02020603050405020304" pitchFamily="18" charset="0"/>
              </a:rPr>
              <a:t>or V</a:t>
            </a:r>
            <a:r>
              <a:rPr lang="en-US" sz="3200" dirty="0">
                <a:latin typeface="Times New Roman" panose="02020603050405020304" pitchFamily="18" charset="0"/>
              </a:rPr>
              <a:t>DS </a:t>
            </a:r>
            <a:r>
              <a:rPr lang="en-US" sz="5400" dirty="0">
                <a:latin typeface="Times New Roman" panose="02020603050405020304" pitchFamily="18" charset="0"/>
              </a:rPr>
              <a:t>= V</a:t>
            </a:r>
            <a:r>
              <a:rPr lang="en-US" sz="3200" dirty="0">
                <a:latin typeface="Times New Roman" panose="02020603050405020304" pitchFamily="18" charset="0"/>
              </a:rPr>
              <a:t>GS</a:t>
            </a:r>
            <a:r>
              <a:rPr lang="en-US" sz="5400" dirty="0">
                <a:latin typeface="Times New Roman" panose="02020603050405020304" pitchFamily="18" charset="0"/>
              </a:rPr>
              <a:t>-</a:t>
            </a:r>
            <a:r>
              <a:rPr lang="en-US" sz="5400" dirty="0" err="1">
                <a:latin typeface="Times New Roman" panose="02020603050405020304" pitchFamily="18" charset="0"/>
              </a:rPr>
              <a:t>V</a:t>
            </a:r>
            <a:r>
              <a:rPr lang="en-US" sz="3200" dirty="0" err="1">
                <a:latin typeface="Times New Roman" panose="02020603050405020304" pitchFamily="18" charset="0"/>
              </a:rPr>
              <a:t>t</a:t>
            </a:r>
            <a:r>
              <a:rPr lang="en-US" sz="5400" dirty="0">
                <a:latin typeface="Times New Roman" panose="02020603050405020304" pitchFamily="18" charset="0"/>
              </a:rPr>
              <a:t>, the channel depth at the drain end decreases to almost zero and the channel is said to be </a:t>
            </a:r>
            <a:r>
              <a:rPr lang="en-US" sz="5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pinched off</a:t>
            </a:r>
            <a:r>
              <a:rPr lang="en-US" sz="5400" dirty="0">
                <a:latin typeface="Times New Roman" panose="02020603050405020304" pitchFamily="18" charset="0"/>
              </a:rPr>
              <a:t>. </a:t>
            </a:r>
            <a:endParaRPr lang="en-US" dirty="0"/>
          </a:p>
        </p:txBody>
      </p:sp>
      <p:pic>
        <p:nvPicPr>
          <p:cNvPr id="1026" name="Picture 2" descr="ÙØªÙØ¬Ø© Ø¨Ø­Ø« Ø§ÙØµÙØ± Ø¹Ù âªpinched off in MOSFETSâ¬â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00" y="1444625"/>
            <a:ext cx="10277449" cy="9660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369766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85680" y="712113"/>
            <a:ext cx="9191940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Complementary MOS or CMOS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5324" y="1992282"/>
            <a:ext cx="21667126" cy="943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91048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38326" y="494437"/>
            <a:ext cx="2117387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Low"/>
            <a:r>
              <a:rPr lang="en-US" sz="5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n-channel vs. p-channel MOSEFTs</a:t>
            </a:r>
            <a:endParaRPr 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026" name="Picture 2" descr="Bildergebnis für n-channel and p-channel mosfet circuit symbol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1574" y="2519362"/>
            <a:ext cx="15821025" cy="9224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016748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6975" y="1843426"/>
            <a:ext cx="13746253" cy="1142271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210669" y="628719"/>
            <a:ext cx="664797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</a:rPr>
              <a:t>MOSFETs I-V curves  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b="20208"/>
          <a:stretch/>
        </p:blipFill>
        <p:spPr>
          <a:xfrm>
            <a:off x="471869" y="4021293"/>
            <a:ext cx="9227302" cy="489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0299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11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210669" y="628719"/>
            <a:ext cx="664797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</a:rPr>
              <a:t>MOSFETs I-V curves  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20208"/>
          <a:stretch/>
        </p:blipFill>
        <p:spPr>
          <a:xfrm>
            <a:off x="471869" y="4021293"/>
            <a:ext cx="9227302" cy="4894107"/>
          </a:xfrm>
          <a:prstGeom prst="rect">
            <a:avLst/>
          </a:prstGeom>
        </p:spPr>
      </p:pic>
      <p:pic>
        <p:nvPicPr>
          <p:cNvPr id="8" name="Picture 3" descr="E:\Oxford PPT\CHP5\8212n05_1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314" y="1552049"/>
            <a:ext cx="14390916" cy="12090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931440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38326" y="494437"/>
            <a:ext cx="2117387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Low"/>
            <a:r>
              <a:rPr lang="en-US" sz="5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The  I</a:t>
            </a:r>
            <a:r>
              <a:rPr lang="en-US" sz="5400" b="1" u="sng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sz="5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-V</a:t>
            </a:r>
            <a:r>
              <a:rPr lang="en-US" sz="5400" b="1" u="sng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DS</a:t>
            </a:r>
            <a:r>
              <a:rPr lang="en-US" sz="5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characteristics: Triode region </a:t>
            </a:r>
            <a:endParaRPr 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2050" name="Picture 2" descr="8212n05_0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1106" y="1417767"/>
            <a:ext cx="18859118" cy="1119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519" y="2593551"/>
            <a:ext cx="8155061" cy="214173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19" y="10976085"/>
            <a:ext cx="8505924" cy="229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08840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38326" y="494437"/>
            <a:ext cx="2117387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Low"/>
            <a:r>
              <a:rPr lang="en-US" sz="5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The  I</a:t>
            </a:r>
            <a:r>
              <a:rPr lang="en-US" sz="5400" b="1" u="sng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sz="5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-V</a:t>
            </a:r>
            <a:r>
              <a:rPr lang="en-US" sz="5400" b="1" u="sng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DS</a:t>
            </a:r>
            <a:r>
              <a:rPr lang="en-US" sz="5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characteristics: Triode region </a:t>
            </a:r>
            <a:endParaRPr 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2050" name="Picture 2" descr="8212n05_0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1106" y="1417767"/>
            <a:ext cx="18859118" cy="1119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519" y="10976085"/>
            <a:ext cx="8505924" cy="229005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326" y="2070911"/>
            <a:ext cx="9422167" cy="247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83642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14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38326" y="494437"/>
            <a:ext cx="2117387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Low"/>
            <a:r>
              <a:rPr lang="en-US" sz="5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The  I</a:t>
            </a:r>
            <a:r>
              <a:rPr lang="en-US" sz="5400" b="1" u="sng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sz="5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-V</a:t>
            </a:r>
            <a:r>
              <a:rPr lang="en-US" sz="5400" b="1" u="sng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DS</a:t>
            </a:r>
            <a:r>
              <a:rPr lang="en-US" sz="5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characteristics: Saturation region </a:t>
            </a:r>
            <a:endParaRPr 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9" name="Picture 2" descr="8212n05_0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1106" y="1417767"/>
            <a:ext cx="18859118" cy="1119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7028" y="1161597"/>
            <a:ext cx="7414001" cy="23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92675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15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38326" y="494437"/>
            <a:ext cx="2117387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Low"/>
            <a:r>
              <a:rPr lang="en-US" sz="5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The  I</a:t>
            </a:r>
            <a:r>
              <a:rPr lang="en-US" sz="5400" b="1" u="sng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sz="5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-V</a:t>
            </a:r>
            <a:r>
              <a:rPr lang="en-US" sz="5400" b="1" u="sng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DS</a:t>
            </a:r>
            <a:r>
              <a:rPr lang="en-US" sz="5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characteristics: Saturation region </a:t>
            </a:r>
            <a:endParaRPr 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9" name="Picture 2" descr="8212n05_0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1106" y="1417767"/>
            <a:ext cx="18859118" cy="1119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7028" y="1161597"/>
            <a:ext cx="7414001" cy="2359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247" y="3033682"/>
            <a:ext cx="13658861" cy="586038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448800" y="4445000"/>
            <a:ext cx="1376462" cy="3192080"/>
          </a:xfrm>
          <a:prstGeom prst="rect">
            <a:avLst/>
          </a:prstGeom>
          <a:solidFill>
            <a:srgbClr val="DBE3EE"/>
          </a:solidFill>
          <a:ln w="12700" cap="flat">
            <a:noFill/>
            <a:miter lim="400000"/>
          </a:ln>
          <a:effectLst>
            <a:outerShdw blurRad="508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716802252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16</a:t>
            </a:fld>
            <a:endParaRPr lang="en-US"/>
          </a:p>
        </p:txBody>
      </p:sp>
      <p:pic>
        <p:nvPicPr>
          <p:cNvPr id="2050" name="Picture 2" descr="نتيجة بحث الصور عن MOSFET in DC circuit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35" t="21319" r="21701" b="11062"/>
          <a:stretch/>
        </p:blipFill>
        <p:spPr bwMode="auto">
          <a:xfrm>
            <a:off x="15414171" y="1877785"/>
            <a:ext cx="4131129" cy="8563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72" t="28841" r="59286" b="54956"/>
          <a:stretch/>
        </p:blipFill>
        <p:spPr bwMode="auto">
          <a:xfrm>
            <a:off x="19088100" y="3869871"/>
            <a:ext cx="587828" cy="1387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4352813" y="4563835"/>
            <a:ext cx="2122715" cy="821378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Helvetica Light"/>
              </a:rPr>
              <a:t>10 M</a:t>
            </a:r>
            <a:r>
              <a:rPr kumimoji="0" lang="el-GR" sz="44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  <a:sym typeface="Helvetica Light"/>
              </a:rPr>
              <a:t>Ω</a:t>
            </a:r>
            <a:endParaRPr kumimoji="0" lang="en-US" sz="44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Helvetica Ligh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505213" y="7410449"/>
            <a:ext cx="2122715" cy="821378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Helvetica Light"/>
              </a:rPr>
              <a:t>10 M</a:t>
            </a:r>
            <a:r>
              <a:rPr kumimoji="0" lang="el-GR" sz="44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  <a:sym typeface="Helvetica Light"/>
              </a:rPr>
              <a:t>Ω</a:t>
            </a:r>
            <a:endParaRPr kumimoji="0" lang="en-US" sz="44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Helvetica Ligh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675928" y="4163784"/>
            <a:ext cx="2122715" cy="821378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Helvetica Light"/>
              </a:rPr>
              <a:t>6 K</a:t>
            </a:r>
            <a:r>
              <a:rPr kumimoji="0" lang="el-GR" sz="44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  <a:sym typeface="Helvetica Light"/>
              </a:rPr>
              <a:t>Ω</a:t>
            </a:r>
            <a:endParaRPr kumimoji="0" lang="en-US" sz="44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Helvetica Ligh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030701" y="7874825"/>
            <a:ext cx="2122715" cy="821378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Helvetica Light"/>
              </a:rPr>
              <a:t>6 K</a:t>
            </a:r>
            <a:r>
              <a:rPr kumimoji="0" lang="el-GR" sz="44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  <a:sym typeface="Helvetica Light"/>
              </a:rPr>
              <a:t>Ω</a:t>
            </a:r>
            <a:endParaRPr kumimoji="0" lang="en-US" sz="44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Helvetica Light"/>
            </a:endParaRP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529812" y="1216065"/>
            <a:ext cx="1452513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Low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Ex: </a:t>
            </a:r>
            <a:endParaRPr kumimoji="0" 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For the shown circuit, calculate the drain voltage. Let </a:t>
            </a:r>
            <a:r>
              <a:rPr kumimoji="0" 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V</a:t>
            </a:r>
            <a:r>
              <a:rPr kumimoji="0" lang="en-US" sz="4000" b="0" i="0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</a:t>
            </a:r>
            <a:r>
              <a:rPr kumimoji="0" 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= 1 V,  </a:t>
            </a:r>
            <a:endParaRPr kumimoji="0" 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329925"/>
              </p:ext>
            </p:extLst>
          </p:nvPr>
        </p:nvGraphicFramePr>
        <p:xfrm>
          <a:off x="832757" y="2730023"/>
          <a:ext cx="1934423" cy="184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06048" imgH="393359" progId="Equation.DSMT4">
                  <p:embed/>
                </p:oleObj>
              </mc:Choice>
              <mc:Fallback>
                <p:oleObj r:id="rId4" imgW="406048" imgH="393359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757" y="2730023"/>
                        <a:ext cx="1934423" cy="18444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2480924" y="3226179"/>
            <a:ext cx="364875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Low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= 1 mA / V</a:t>
            </a:r>
            <a:r>
              <a:rPr kumimoji="0" lang="en-US" sz="48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2</a:t>
            </a:r>
            <a:r>
              <a:rPr kumimoji="0" 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. </a:t>
            </a:r>
            <a:endParaRPr kumimoji="0" 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38326" y="292735"/>
            <a:ext cx="2117387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Low"/>
            <a:r>
              <a:rPr lang="en-US" sz="5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MOSFETs in DC Circuits </a:t>
            </a:r>
            <a:endParaRPr 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94700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3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17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38326" y="292735"/>
            <a:ext cx="2117387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Low"/>
            <a:r>
              <a:rPr lang="en-US" sz="5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Current Mirror </a:t>
            </a:r>
            <a:endParaRPr 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128" y="1832882"/>
            <a:ext cx="12121243" cy="11272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9960429" y="4180114"/>
            <a:ext cx="2677885" cy="3494315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>
            <a:outerShdw blurRad="508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979243" y="3695699"/>
            <a:ext cx="2677885" cy="3494315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>
            <a:outerShdw blurRad="508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150943" y="5722102"/>
            <a:ext cx="2677885" cy="3494315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>
            <a:outerShdw blurRad="50800" dist="25400" dir="5400000" rotWithShape="0">
              <a:schemeClr val="bg1">
                <a:alpha val="5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6500874"/>
              </p:ext>
            </p:extLst>
          </p:nvPr>
        </p:nvGraphicFramePr>
        <p:xfrm>
          <a:off x="1371600" y="2750302"/>
          <a:ext cx="6800850" cy="297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129810" imgH="495085" progId="Equation.DSMT4">
                  <p:embed/>
                </p:oleObj>
              </mc:Choice>
              <mc:Fallback>
                <p:oleObj r:id="rId3" imgW="1129810" imgH="495085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750302"/>
                        <a:ext cx="6800850" cy="2971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0" y="4953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94700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18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38326" y="292735"/>
            <a:ext cx="2117387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Low"/>
            <a:r>
              <a:rPr lang="en-US" sz="5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MOSFET as amplifier </a:t>
            </a:r>
            <a:endParaRPr 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Picture 3" descr="E:\Oxford PPT\CHP5\8212n05_3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9318" y="2170922"/>
            <a:ext cx="6483220" cy="9224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6064897" y="2463282"/>
          <a:ext cx="5108615" cy="1810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206500" imgH="431800" progId="Equation.DSMT4">
                  <p:embed/>
                </p:oleObj>
              </mc:Choice>
              <mc:Fallback>
                <p:oleObj r:id="rId3" imgW="1206500" imgH="431800" progId="Equation.DSMT4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4897" y="2463282"/>
                        <a:ext cx="5108615" cy="181013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0" y="428625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8" name="Picture 3" descr="E:\Oxford PPT\CHP5\8212n05_31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19" t="67465" r="16760" b="7045"/>
          <a:stretch/>
        </p:blipFill>
        <p:spPr bwMode="auto">
          <a:xfrm>
            <a:off x="14334254" y="9591870"/>
            <a:ext cx="2516832" cy="1399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5" name="Picture 9" descr="نتيجة بحث الصور عن MOSFET load lin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011" y="4814596"/>
            <a:ext cx="12808732" cy="8604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557763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19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38326" y="292735"/>
            <a:ext cx="2117387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Low"/>
            <a:r>
              <a:rPr lang="en-US" sz="5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MOSFET as a </a:t>
            </a:r>
            <a:r>
              <a:rPr lang="en-US" sz="7200" b="1" u="sng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Linear</a:t>
            </a:r>
            <a:r>
              <a:rPr lang="en-US" sz="7200" b="1" u="sng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5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amplifier </a:t>
            </a:r>
            <a:endParaRPr 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Picture 3" descr="E:\Oxford PPT\CHP5\8212n05_3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9318" y="2170922"/>
            <a:ext cx="6483220" cy="9224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0165419"/>
              </p:ext>
            </p:extLst>
          </p:nvPr>
        </p:nvGraphicFramePr>
        <p:xfrm>
          <a:off x="541177" y="1956318"/>
          <a:ext cx="4105468" cy="10263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52087" imgH="241195" progId="Equation.DSMT4">
                  <p:embed/>
                </p:oleObj>
              </mc:Choice>
              <mc:Fallback>
                <p:oleObj r:id="rId3" imgW="952087" imgH="241195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177" y="1956318"/>
                        <a:ext cx="4105468" cy="102636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0" y="238125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0630550"/>
              </p:ext>
            </p:extLst>
          </p:nvPr>
        </p:nvGraphicFramePr>
        <p:xfrm>
          <a:off x="11476654" y="238125"/>
          <a:ext cx="3550382" cy="20340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914400" imgH="520700" progId="Equation.DSMT4">
                  <p:embed/>
                </p:oleObj>
              </mc:Choice>
              <mc:Fallback>
                <p:oleObj r:id="rId5" imgW="914400" imgH="5207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76654" y="238125"/>
                        <a:ext cx="3550382" cy="203407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0" y="523875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7235121"/>
              </p:ext>
            </p:extLst>
          </p:nvPr>
        </p:nvGraphicFramePr>
        <p:xfrm>
          <a:off x="671804" y="3079101"/>
          <a:ext cx="7062848" cy="1698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739900" imgH="419100" progId="Equation.DSMT4">
                  <p:embed/>
                </p:oleObj>
              </mc:Choice>
              <mc:Fallback>
                <p:oleObj r:id="rId7" imgW="1739900" imgH="4191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804" y="3079101"/>
                        <a:ext cx="7062848" cy="16981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0" y="4191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152400" y="1524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9514911"/>
              </p:ext>
            </p:extLst>
          </p:nvPr>
        </p:nvGraphicFramePr>
        <p:xfrm>
          <a:off x="488301" y="4911012"/>
          <a:ext cx="13559645" cy="16390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3467100" imgH="419100" progId="Equation.DSMT4">
                  <p:embed/>
                </p:oleObj>
              </mc:Choice>
              <mc:Fallback>
                <p:oleObj r:id="rId9" imgW="3467100" imgH="4191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301" y="4911012"/>
                        <a:ext cx="13559645" cy="163907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152400" y="5715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5781042"/>
              </p:ext>
            </p:extLst>
          </p:nvPr>
        </p:nvGraphicFramePr>
        <p:xfrm>
          <a:off x="970384" y="10039739"/>
          <a:ext cx="8452739" cy="2170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739900" imgH="444500" progId="Equation.DSMT4">
                  <p:embed/>
                </p:oleObj>
              </mc:Choice>
              <mc:Fallback>
                <p:oleObj r:id="rId11" imgW="1739900" imgH="4445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0384" y="10039739"/>
                        <a:ext cx="8452739" cy="21709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5"/>
          <p:cNvSpPr>
            <a:spLocks noChangeArrowheads="1"/>
          </p:cNvSpPr>
          <p:nvPr/>
        </p:nvSpPr>
        <p:spPr bwMode="auto">
          <a:xfrm>
            <a:off x="0" y="447675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17"/>
          <p:cNvSpPr>
            <a:spLocks noChangeArrowheads="1"/>
          </p:cNvSpPr>
          <p:nvPr/>
        </p:nvSpPr>
        <p:spPr bwMode="auto">
          <a:xfrm>
            <a:off x="152400" y="1524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152400" y="600075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3" name="Rectangle 20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1422310"/>
              </p:ext>
            </p:extLst>
          </p:nvPr>
        </p:nvGraphicFramePr>
        <p:xfrm>
          <a:off x="4889240" y="6783302"/>
          <a:ext cx="4934855" cy="11196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1129810" imgH="253890" progId="Equation.DSMT4">
                  <p:embed/>
                </p:oleObj>
              </mc:Choice>
              <mc:Fallback>
                <p:oleObj r:id="rId13" imgW="1129810" imgH="25389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9240" y="6783302"/>
                        <a:ext cx="4934855" cy="111967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0" y="257175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8024325" y="6955132"/>
            <a:ext cx="839756" cy="759822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&gt;&gt;</a:t>
            </a:r>
            <a:endParaRPr kumimoji="0" lang="en-US" sz="5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7" name="Rectangle 29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8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8065636"/>
              </p:ext>
            </p:extLst>
          </p:nvPr>
        </p:nvGraphicFramePr>
        <p:xfrm>
          <a:off x="989045" y="7912358"/>
          <a:ext cx="6961556" cy="1772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1536033" imgH="393529" progId="Equation.DSMT4">
                  <p:embed/>
                </p:oleObj>
              </mc:Choice>
              <mc:Fallback>
                <p:oleObj r:id="rId15" imgW="1536033" imgH="393529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9045" y="7912358"/>
                        <a:ext cx="6961556" cy="177281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30"/>
          <p:cNvSpPr>
            <a:spLocks noChangeArrowheads="1"/>
          </p:cNvSpPr>
          <p:nvPr/>
        </p:nvSpPr>
        <p:spPr bwMode="auto">
          <a:xfrm>
            <a:off x="0" y="390525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1315928" y="12324060"/>
            <a:ext cx="9863598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The MOSFET transconductance</a:t>
            </a:r>
          </a:p>
        </p:txBody>
      </p:sp>
      <p:sp>
        <p:nvSpPr>
          <p:cNvPr id="31" name="Rectangle 39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2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9247549"/>
              </p:ext>
            </p:extLst>
          </p:nvPr>
        </p:nvGraphicFramePr>
        <p:xfrm>
          <a:off x="10825262" y="10406638"/>
          <a:ext cx="3654437" cy="1978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1040948" imgH="558558" progId="Equation.DSMT4">
                  <p:embed/>
                </p:oleObj>
              </mc:Choice>
              <mc:Fallback>
                <p:oleObj r:id="rId17" imgW="1040948" imgH="558558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25262" y="10406638"/>
                        <a:ext cx="3654437" cy="19780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40"/>
          <p:cNvSpPr>
            <a:spLocks noChangeArrowheads="1"/>
          </p:cNvSpPr>
          <p:nvPr/>
        </p:nvSpPr>
        <p:spPr bwMode="auto">
          <a:xfrm>
            <a:off x="0" y="561975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99816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20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38326" y="292735"/>
            <a:ext cx="2117387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Low"/>
            <a:r>
              <a:rPr lang="en-US" sz="5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MOSFET as a </a:t>
            </a:r>
            <a:r>
              <a:rPr lang="en-US" sz="7200" b="1" u="sng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Linear</a:t>
            </a:r>
            <a:r>
              <a:rPr lang="en-US" sz="7200" b="1" u="sng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5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amplifier </a:t>
            </a:r>
            <a:endParaRPr 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0" y="238125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0" y="523875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0" y="4191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152400" y="1524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152400" y="5715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1330610"/>
              </p:ext>
            </p:extLst>
          </p:nvPr>
        </p:nvGraphicFramePr>
        <p:xfrm>
          <a:off x="970384" y="10039739"/>
          <a:ext cx="8452739" cy="2170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739900" imgH="444500" progId="Equation.DSMT4">
                  <p:embed/>
                </p:oleObj>
              </mc:Choice>
              <mc:Fallback>
                <p:oleObj r:id="rId2" imgW="17399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0384" y="10039739"/>
                        <a:ext cx="8452739" cy="21709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5"/>
          <p:cNvSpPr>
            <a:spLocks noChangeArrowheads="1"/>
          </p:cNvSpPr>
          <p:nvPr/>
        </p:nvSpPr>
        <p:spPr bwMode="auto">
          <a:xfrm>
            <a:off x="0" y="447675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17"/>
          <p:cNvSpPr>
            <a:spLocks noChangeArrowheads="1"/>
          </p:cNvSpPr>
          <p:nvPr/>
        </p:nvSpPr>
        <p:spPr bwMode="auto">
          <a:xfrm>
            <a:off x="152400" y="15240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152400" y="600075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3" name="Rectangle 20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0" y="257175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7" name="Rectangle 29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9" name="Rectangle 30"/>
          <p:cNvSpPr>
            <a:spLocks noChangeArrowheads="1"/>
          </p:cNvSpPr>
          <p:nvPr/>
        </p:nvSpPr>
        <p:spPr bwMode="auto">
          <a:xfrm>
            <a:off x="0" y="390525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1315928" y="12324060"/>
            <a:ext cx="9863598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The MOSFET transconductance</a:t>
            </a:r>
          </a:p>
        </p:txBody>
      </p:sp>
      <p:sp>
        <p:nvSpPr>
          <p:cNvPr id="31" name="Rectangle 39"/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" name="Rectangle 40"/>
          <p:cNvSpPr>
            <a:spLocks noChangeArrowheads="1"/>
          </p:cNvSpPr>
          <p:nvPr/>
        </p:nvSpPr>
        <p:spPr bwMode="auto">
          <a:xfrm>
            <a:off x="0" y="561975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4" name="Picture 3" descr="E:\Oxford PPT\CHP5\8212n05_34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2286000"/>
            <a:ext cx="10067731" cy="6797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4" descr="E:\Oxford PPT\CHP5\8212n05_34b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9526" y="2284412"/>
            <a:ext cx="12079198" cy="7046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67565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21</a:t>
            </a:fld>
            <a:endParaRPr 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35453" y="1649422"/>
            <a:ext cx="21836427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Low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Example:</a:t>
            </a:r>
            <a:endParaRPr kumimoji="0" 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For the shown amplifier, determine the small signal voltage gain and the input resistance. The transistor has </a:t>
            </a:r>
            <a:r>
              <a:rPr kumimoji="0" lang="en-US" sz="3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V</a:t>
            </a:r>
            <a:r>
              <a:rPr kumimoji="0" lang="en-US" sz="3200" b="0" i="0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= 1.5 V, </a:t>
            </a:r>
            <a:endParaRPr kumimoji="0" 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704248"/>
              </p:ext>
            </p:extLst>
          </p:nvPr>
        </p:nvGraphicFramePr>
        <p:xfrm>
          <a:off x="7069900" y="2619634"/>
          <a:ext cx="3983766" cy="1192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307532" imgH="393529" progId="Equation.DSMT4">
                  <p:embed/>
                </p:oleObj>
              </mc:Choice>
              <mc:Fallback>
                <p:oleObj r:id="rId2" imgW="1307532" imgH="393529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9900" y="2619634"/>
                        <a:ext cx="3983766" cy="11922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35453" y="3811856"/>
            <a:ext cx="1748074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Low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, </a:t>
            </a:r>
            <a:r>
              <a:rPr kumimoji="0" lang="en-US" sz="3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V</a:t>
            </a:r>
            <a:r>
              <a:rPr kumimoji="0" lang="en-US" sz="3600" b="0" i="1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A</a:t>
            </a:r>
            <a:r>
              <a:rPr kumimoji="0" 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= 50 V. Assume coupling capacitors to be sufficiently large so as to act as short circuits at the signal frequencies of interest. </a:t>
            </a:r>
            <a:endParaRPr kumimoji="0" 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8326" y="292735"/>
            <a:ext cx="2117387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Low"/>
            <a:r>
              <a:rPr lang="en-US" sz="5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MOSFET as a </a:t>
            </a:r>
            <a:r>
              <a:rPr lang="en-US" sz="7200" b="1" u="sng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Linear</a:t>
            </a:r>
            <a:r>
              <a:rPr lang="en-US" sz="7200" b="1" u="sng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5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amplifier </a:t>
            </a:r>
            <a:endParaRPr 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7103" y="5599534"/>
            <a:ext cx="11743061" cy="7416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4998168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22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38326" y="292735"/>
            <a:ext cx="2117387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Low"/>
            <a:r>
              <a:rPr lang="en-US" sz="5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MOSFET as switch</a:t>
            </a:r>
            <a:endParaRPr 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6146" name="Picture 2" descr="نتيجة بحث الصور عن MOSFET as a switc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2138" y="2566403"/>
            <a:ext cx="14622535" cy="7995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494700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927267" y="5686918"/>
            <a:ext cx="13977257" cy="245259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50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Gabriola" panose="04040605051002020D02" pitchFamily="82" charset="0"/>
                <a:sym typeface="Helvetica Light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798" y="8819114"/>
            <a:ext cx="22460194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b="1" dirty="0">
                <a:solidFill>
                  <a:schemeClr val="accent1">
                    <a:lumMod val="75000"/>
                  </a:schemeClr>
                </a:solidFill>
                <a:latin typeface="Franklin Gothic Book" panose="020B0503020102020204" pitchFamily="34" charset="0"/>
              </a:rPr>
              <a:t>See You Next Lecture:</a:t>
            </a:r>
          </a:p>
          <a:p>
            <a:r>
              <a:rPr lang="en-US" sz="13800" b="1" dirty="0">
                <a:solidFill>
                  <a:schemeClr val="accent1">
                    <a:lumMod val="75000"/>
                  </a:schemeClr>
                </a:solidFill>
                <a:latin typeface="Gabriola" panose="04040605051002020D02" pitchFamily="82" charset="0"/>
              </a:rPr>
              <a:t>BJTs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2642" y="1151595"/>
            <a:ext cx="3678999" cy="38557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17608" y="12561094"/>
            <a:ext cx="140679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18ELEC05H; Semiconductor devices, Dr. Sameh Osama </a:t>
            </a:r>
          </a:p>
        </p:txBody>
      </p:sp>
    </p:spTree>
    <p:extLst>
      <p:ext uri="{BB962C8B-B14F-4D97-AF65-F5344CB8AC3E}">
        <p14:creationId xmlns:p14="http://schemas.microsoft.com/office/powerpoint/2010/main" val="4162937906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5302</TotalTime>
  <Words>341</Words>
  <Application>Microsoft Macintosh PowerPoint</Application>
  <PresentationFormat>Custom</PresentationFormat>
  <Paragraphs>74</Paragraphs>
  <Slides>23</Slides>
  <Notes>0</Notes>
  <HiddenSlides>0</HiddenSlides>
  <MMClips>1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Franklin Gothic Book</vt:lpstr>
      <vt:lpstr>Gabriola</vt:lpstr>
      <vt:lpstr>Helvetica</vt:lpstr>
      <vt:lpstr>Helvetica Light</vt:lpstr>
      <vt:lpstr>Helvetica Neue</vt:lpstr>
      <vt:lpstr>Times New Roman</vt:lpstr>
      <vt:lpstr>White</vt:lpstr>
      <vt:lpstr>Equation.DSMT4</vt:lpstr>
      <vt:lpstr>Starting in 15 minutes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sameh</dc:creator>
  <cp:lastModifiedBy>Sameh Osama</cp:lastModifiedBy>
  <cp:revision>496</cp:revision>
  <dcterms:modified xsi:type="dcterms:W3CDTF">2025-10-24T14:15:25Z</dcterms:modified>
</cp:coreProperties>
</file>